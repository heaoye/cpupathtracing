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2.xml" ContentType="application/vnd.openxmlformats-officedocument.theme+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73"/>
  </p:notesMasterIdLst>
  <p:sldIdLst>
    <p:sldId id="257" r:id="rId2"/>
    <p:sldId id="354" r:id="rId3"/>
    <p:sldId id="366" r:id="rId4"/>
    <p:sldId id="357" r:id="rId5"/>
    <p:sldId id="377" r:id="rId6"/>
    <p:sldId id="403" r:id="rId7"/>
    <p:sldId id="360" r:id="rId8"/>
    <p:sldId id="359" r:id="rId9"/>
    <p:sldId id="367" r:id="rId10"/>
    <p:sldId id="369" r:id="rId11"/>
    <p:sldId id="395" r:id="rId12"/>
    <p:sldId id="396" r:id="rId13"/>
    <p:sldId id="370" r:id="rId14"/>
    <p:sldId id="380" r:id="rId15"/>
    <p:sldId id="362" r:id="rId16"/>
    <p:sldId id="371" r:id="rId17"/>
    <p:sldId id="373" r:id="rId18"/>
    <p:sldId id="374" r:id="rId19"/>
    <p:sldId id="378" r:id="rId20"/>
    <p:sldId id="379" r:id="rId21"/>
    <p:sldId id="397" r:id="rId22"/>
    <p:sldId id="385" r:id="rId23"/>
    <p:sldId id="389" r:id="rId24"/>
    <p:sldId id="390" r:id="rId25"/>
    <p:sldId id="391" r:id="rId26"/>
    <p:sldId id="386" r:id="rId27"/>
    <p:sldId id="392" r:id="rId28"/>
    <p:sldId id="388" r:id="rId29"/>
    <p:sldId id="393" r:id="rId30"/>
    <p:sldId id="399" r:id="rId31"/>
    <p:sldId id="400" r:id="rId32"/>
    <p:sldId id="401" r:id="rId33"/>
    <p:sldId id="402" r:id="rId34"/>
    <p:sldId id="404" r:id="rId35"/>
    <p:sldId id="405" r:id="rId36"/>
    <p:sldId id="406" r:id="rId37"/>
    <p:sldId id="407" r:id="rId38"/>
    <p:sldId id="408" r:id="rId39"/>
    <p:sldId id="409" r:id="rId40"/>
    <p:sldId id="410" r:id="rId41"/>
    <p:sldId id="411" r:id="rId42"/>
    <p:sldId id="412" r:id="rId43"/>
    <p:sldId id="415" r:id="rId44"/>
    <p:sldId id="414" r:id="rId45"/>
    <p:sldId id="417" r:id="rId46"/>
    <p:sldId id="419" r:id="rId47"/>
    <p:sldId id="420" r:id="rId48"/>
    <p:sldId id="422" r:id="rId49"/>
    <p:sldId id="423" r:id="rId50"/>
    <p:sldId id="424" r:id="rId51"/>
    <p:sldId id="425" r:id="rId52"/>
    <p:sldId id="426" r:id="rId53"/>
    <p:sldId id="427" r:id="rId54"/>
    <p:sldId id="398" r:id="rId55"/>
    <p:sldId id="429" r:id="rId56"/>
    <p:sldId id="436" r:id="rId57"/>
    <p:sldId id="430" r:id="rId58"/>
    <p:sldId id="437" r:id="rId59"/>
    <p:sldId id="439" r:id="rId60"/>
    <p:sldId id="440" r:id="rId61"/>
    <p:sldId id="441" r:id="rId62"/>
    <p:sldId id="442" r:id="rId63"/>
    <p:sldId id="443" r:id="rId64"/>
    <p:sldId id="444" r:id="rId65"/>
    <p:sldId id="445" r:id="rId66"/>
    <p:sldId id="446" r:id="rId67"/>
    <p:sldId id="447" r:id="rId68"/>
    <p:sldId id="448" r:id="rId69"/>
    <p:sldId id="449" r:id="rId70"/>
    <p:sldId id="361" r:id="rId71"/>
    <p:sldId id="372" r:id="rId72"/>
  </p:sldIdLst>
  <p:sldSz cx="12192000" cy="6858000"/>
  <p:notesSz cx="6858000" cy="9144000"/>
  <p:custDataLst>
    <p:tags r:id="rId7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BA0E3D-71FC-0593-AF5C-33516927B8D4}" name="骞深 姚" initials="骞姚" userId="a01dcfd778695c11"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熊仪_aYju7RJj" initials="熊" lastIdx="0" clrIdx="0"/>
  <p:cmAuthor id="1" name="哒哒 熊猫" initials="哒哒" lastIdx="1" clrIdx="0"/>
  <p:cmAuthor id="8" name="yifei" initials="y" lastIdx="1" clrIdx="7"/>
  <p:cmAuthor id="2" name="kingsoft" initials="k" lastIdx="1" clrIdx="1"/>
  <p:cmAuthor id="9" name="ADMIN" initials="A" lastIdx="1" clrIdx="8"/>
  <p:cmAuthor id="3" name="zhouzean" initials="z" lastIdx="1" clrIdx="2"/>
  <p:cmAuthor id="4" name="李鹏飞_6bQfzI3a" initials="李" lastIdx="0" clrIdx="0"/>
  <p:cmAuthor id="5" name="李晓菲_MZFnUzi6" initials="李" lastIdx="0" clrIdx="0"/>
  <p:cmAuthor id="6" name="小珞_QjMfU7FR" initials="小" lastIdx="0" clrIdx="0"/>
  <p:cmAuthor id="2001" name="骆倩怡_Znauj26B" initials="authorId_382814100" lastIdx="0"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76409"/>
    <a:srgbClr val="FFA401"/>
    <a:srgbClr val="165602"/>
    <a:srgbClr val="2697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414" autoAdjust="0"/>
    <p:restoredTop sz="94660"/>
  </p:normalViewPr>
  <p:slideViewPr>
    <p:cSldViewPr snapToGrid="0">
      <p:cViewPr varScale="1">
        <p:scale>
          <a:sx n="102" d="100"/>
          <a:sy n="102" d="100"/>
        </p:scale>
        <p:origin x="23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gs" Target="tags/tag1.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t>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tags" Target="../tags/tag22.xml"/><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tags" Target="../tags/tag21.xml"/><Relationship Id="rId17" Type="http://schemas.openxmlformats.org/officeDocument/2006/relationships/slideMaster" Target="../slideMasters/slideMaster1.xml"/><Relationship Id="rId2" Type="http://schemas.openxmlformats.org/officeDocument/2006/relationships/tags" Target="../tags/tag11.xml"/><Relationship Id="rId16" Type="http://schemas.openxmlformats.org/officeDocument/2006/relationships/tags" Target="../tags/tag25.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tags" Target="../tags/tag20.xml"/><Relationship Id="rId5" Type="http://schemas.openxmlformats.org/officeDocument/2006/relationships/tags" Target="../tags/tag14.xml"/><Relationship Id="rId15" Type="http://schemas.openxmlformats.org/officeDocument/2006/relationships/tags" Target="../tags/tag24.xml"/><Relationship Id="rId10" Type="http://schemas.openxmlformats.org/officeDocument/2006/relationships/tags" Target="../tags/tag19.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tags" Target="../tags/tag23.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8.xml"/><Relationship Id="rId7" Type="http://schemas.openxmlformats.org/officeDocument/2006/relationships/slideMaster" Target="../slideMasters/slideMaster1.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5" Type="http://schemas.openxmlformats.org/officeDocument/2006/relationships/tags" Target="../tags/tag30.xml"/><Relationship Id="rId4" Type="http://schemas.openxmlformats.org/officeDocument/2006/relationships/tags" Target="../tags/tag29.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34.xml"/><Relationship Id="rId7" Type="http://schemas.openxmlformats.org/officeDocument/2006/relationships/slideMaster" Target="../slideMasters/slideMaster1.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4" Type="http://schemas.openxmlformats.org/officeDocument/2006/relationships/tags" Target="../tags/tag35.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45.xml"/><Relationship Id="rId3" Type="http://schemas.openxmlformats.org/officeDocument/2006/relationships/tags" Target="../tags/tag40.xml"/><Relationship Id="rId7" Type="http://schemas.openxmlformats.org/officeDocument/2006/relationships/tags" Target="../tags/tag44.xml"/><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tags" Target="../tags/tag43.xml"/><Relationship Id="rId11" Type="http://schemas.openxmlformats.org/officeDocument/2006/relationships/slideMaster" Target="../slideMasters/slideMaster1.xml"/><Relationship Id="rId5" Type="http://schemas.openxmlformats.org/officeDocument/2006/relationships/tags" Target="../tags/tag42.xml"/><Relationship Id="rId10" Type="http://schemas.openxmlformats.org/officeDocument/2006/relationships/tags" Target="../tags/tag47.xml"/><Relationship Id="rId4" Type="http://schemas.openxmlformats.org/officeDocument/2006/relationships/tags" Target="../tags/tag41.xml"/><Relationship Id="rId9" Type="http://schemas.openxmlformats.org/officeDocument/2006/relationships/tags" Target="../tags/tag46.xml"/></Relationships>
</file>

<file path=ppt/slideLayouts/_rels/slideLayout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0.xml"/><Relationship Id="rId7" Type="http://schemas.openxmlformats.org/officeDocument/2006/relationships/tags" Target="../tags/tag54.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5" Type="http://schemas.openxmlformats.org/officeDocument/2006/relationships/tags" Target="../tags/tag59.xml"/><Relationship Id="rId10" Type="http://schemas.openxmlformats.org/officeDocument/2006/relationships/slideMaster" Target="../slideMasters/slideMaster1.xml"/><Relationship Id="rId4" Type="http://schemas.openxmlformats.org/officeDocument/2006/relationships/tags" Target="../tags/tag58.xml"/><Relationship Id="rId9" Type="http://schemas.openxmlformats.org/officeDocument/2006/relationships/tags" Target="../tags/tag63.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Master" Target="../slideMasters/slideMaster1.xml"/><Relationship Id="rId5" Type="http://schemas.openxmlformats.org/officeDocument/2006/relationships/tags" Target="../tags/tag68.xml"/><Relationship Id="rId4" Type="http://schemas.openxmlformats.org/officeDocument/2006/relationships/tags" Target="../tags/tag67.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slideMaster" Target="../slideMasters/slideMaster1.xml"/><Relationship Id="rId4" Type="http://schemas.openxmlformats.org/officeDocument/2006/relationships/tags" Target="../tags/tag72.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slideMaster" Target="../slideMasters/slideMaster1.xml"/><Relationship Id="rId5" Type="http://schemas.openxmlformats.org/officeDocument/2006/relationships/tags" Target="../tags/tag77.xml"/><Relationship Id="rId4" Type="http://schemas.openxmlformats.org/officeDocument/2006/relationships/tags" Target="../tags/tag76.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80.xml"/><Relationship Id="rId7" Type="http://schemas.openxmlformats.org/officeDocument/2006/relationships/slideMaster" Target="../slideMasters/slideMaster1.xml"/><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5" Type="http://schemas.openxmlformats.org/officeDocument/2006/relationships/tags" Target="../tags/tag82.xml"/><Relationship Id="rId4" Type="http://schemas.openxmlformats.org/officeDocument/2006/relationships/tags" Target="../tags/tag81.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91.xml"/><Relationship Id="rId13" Type="http://schemas.openxmlformats.org/officeDocument/2006/relationships/tags" Target="../tags/tag96.xml"/><Relationship Id="rId3" Type="http://schemas.openxmlformats.org/officeDocument/2006/relationships/tags" Target="../tags/tag86.xml"/><Relationship Id="rId7" Type="http://schemas.openxmlformats.org/officeDocument/2006/relationships/tags" Target="../tags/tag90.xml"/><Relationship Id="rId12" Type="http://schemas.openxmlformats.org/officeDocument/2006/relationships/tags" Target="../tags/tag95.xml"/><Relationship Id="rId17" Type="http://schemas.openxmlformats.org/officeDocument/2006/relationships/slideMaster" Target="../slideMasters/slideMaster1.xml"/><Relationship Id="rId2" Type="http://schemas.openxmlformats.org/officeDocument/2006/relationships/tags" Target="../tags/tag85.xml"/><Relationship Id="rId16" Type="http://schemas.openxmlformats.org/officeDocument/2006/relationships/tags" Target="../tags/tag99.xml"/><Relationship Id="rId1" Type="http://schemas.openxmlformats.org/officeDocument/2006/relationships/tags" Target="../tags/tag84.xml"/><Relationship Id="rId6" Type="http://schemas.openxmlformats.org/officeDocument/2006/relationships/tags" Target="../tags/tag89.xml"/><Relationship Id="rId11" Type="http://schemas.openxmlformats.org/officeDocument/2006/relationships/tags" Target="../tags/tag94.xml"/><Relationship Id="rId5" Type="http://schemas.openxmlformats.org/officeDocument/2006/relationships/tags" Target="../tags/tag88.xml"/><Relationship Id="rId15" Type="http://schemas.openxmlformats.org/officeDocument/2006/relationships/tags" Target="../tags/tag98.xml"/><Relationship Id="rId10" Type="http://schemas.openxmlformats.org/officeDocument/2006/relationships/tags" Target="../tags/tag93.xml"/><Relationship Id="rId4" Type="http://schemas.openxmlformats.org/officeDocument/2006/relationships/tags" Target="../tags/tag87.xml"/><Relationship Id="rId9" Type="http://schemas.openxmlformats.org/officeDocument/2006/relationships/tags" Target="../tags/tag92.xml"/><Relationship Id="rId14" Type="http://schemas.openxmlformats.org/officeDocument/2006/relationships/tags" Target="../tags/tag9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bg>
      <p:bgPr>
        <a:solidFill>
          <a:schemeClr val="bg2"/>
        </a:solidFill>
        <a:effectLst/>
      </p:bgPr>
    </p:bg>
    <p:spTree>
      <p:nvGrpSpPr>
        <p:cNvPr id="1" name=""/>
        <p:cNvGrpSpPr/>
        <p:nvPr/>
      </p:nvGrpSpPr>
      <p:grpSpPr>
        <a:xfrm>
          <a:off x="0" y="0"/>
          <a:ext cx="0" cy="0"/>
          <a:chOff x="0" y="0"/>
          <a:chExt cx="0" cy="0"/>
        </a:xfrm>
      </p:grpSpPr>
      <p:sp>
        <p:nvSpPr>
          <p:cNvPr id="15" name="任意多边形 14"/>
          <p:cNvSpPr/>
          <p:nvPr>
            <p:custDataLst>
              <p:tags r:id="rId1"/>
            </p:custDataLst>
          </p:nvPr>
        </p:nvSpPr>
        <p:spPr>
          <a:xfrm>
            <a:off x="-14605" y="0"/>
            <a:ext cx="6006465" cy="6858000"/>
          </a:xfrm>
          <a:custGeom>
            <a:avLst/>
            <a:gdLst/>
            <a:ahLst/>
            <a:cxnLst>
              <a:cxn ang="3">
                <a:pos x="hc" y="t"/>
              </a:cxn>
              <a:cxn ang="cd2">
                <a:pos x="l" y="vc"/>
              </a:cxn>
              <a:cxn ang="cd4">
                <a:pos x="hc" y="b"/>
              </a:cxn>
              <a:cxn ang="0">
                <a:pos x="r" y="vc"/>
              </a:cxn>
            </a:cxnLst>
            <a:rect l="l" t="t" r="r" b="b"/>
            <a:pathLst>
              <a:path w="9459" h="10862">
                <a:moveTo>
                  <a:pt x="0" y="0"/>
                </a:moveTo>
                <a:lnTo>
                  <a:pt x="7595" y="0"/>
                </a:lnTo>
                <a:lnTo>
                  <a:pt x="7612" y="22"/>
                </a:lnTo>
                <a:cubicBezTo>
                  <a:pt x="8770" y="1514"/>
                  <a:pt x="9459" y="3388"/>
                  <a:pt x="9459" y="5423"/>
                </a:cubicBezTo>
                <a:cubicBezTo>
                  <a:pt x="9459" y="7458"/>
                  <a:pt x="8770" y="9332"/>
                  <a:pt x="7612" y="10824"/>
                </a:cubicBezTo>
                <a:lnTo>
                  <a:pt x="7582" y="10862"/>
                </a:lnTo>
                <a:lnTo>
                  <a:pt x="0" y="10862"/>
                </a:lnTo>
                <a:lnTo>
                  <a:pt x="0" y="0"/>
                </a:lnTo>
                <a:close/>
              </a:path>
            </a:pathLst>
          </a:custGeom>
          <a:solidFill>
            <a:schemeClr val="bg2"/>
          </a:solidFill>
          <a:ln>
            <a:noFill/>
          </a:ln>
          <a:effectLst>
            <a:outerShdw blurRad="495300" dist="381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cs typeface="MiSans Normal" panose="00000500000000000000" charset="-122"/>
            </a:endParaRPr>
          </a:p>
        </p:txBody>
      </p:sp>
      <p:sp>
        <p:nvSpPr>
          <p:cNvPr id="12" name="任意多边形 11"/>
          <p:cNvSpPr/>
          <p:nvPr>
            <p:custDataLst>
              <p:tags r:id="rId2"/>
            </p:custDataLst>
          </p:nvPr>
        </p:nvSpPr>
        <p:spPr>
          <a:xfrm rot="16200000">
            <a:off x="-1383662" y="1369058"/>
            <a:ext cx="6857999" cy="41198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8" h="6488">
                <a:moveTo>
                  <a:pt x="0" y="0"/>
                </a:moveTo>
                <a:lnTo>
                  <a:pt x="10858" y="0"/>
                </a:lnTo>
                <a:lnTo>
                  <a:pt x="10858" y="2789"/>
                </a:lnTo>
                <a:lnTo>
                  <a:pt x="10834" y="2850"/>
                </a:lnTo>
                <a:cubicBezTo>
                  <a:pt x="9962" y="4984"/>
                  <a:pt x="7865" y="6488"/>
                  <a:pt x="5417" y="6488"/>
                </a:cubicBezTo>
                <a:cubicBezTo>
                  <a:pt x="2982" y="6488"/>
                  <a:pt x="895" y="5001"/>
                  <a:pt x="15" y="2885"/>
                </a:cubicBezTo>
                <a:lnTo>
                  <a:pt x="0" y="2849"/>
                </a:lnTo>
                <a:lnTo>
                  <a:pt x="0" y="0"/>
                </a:lnTo>
                <a:close/>
              </a:path>
            </a:pathLst>
          </a:custGeom>
          <a:solidFill>
            <a:schemeClr val="bg2"/>
          </a:solidFill>
          <a:ln>
            <a:noFill/>
          </a:ln>
          <a:effectLst>
            <a:outerShdw blurRad="495300" dist="152400" dir="270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dirty="0">
              <a:solidFill>
                <a:schemeClr val="lt1"/>
              </a:solidFill>
              <a:cs typeface="MiSans Normal" panose="00000500000000000000" charset="-122"/>
            </a:endParaRPr>
          </a:p>
        </p:txBody>
      </p:sp>
      <p:sp>
        <p:nvSpPr>
          <p:cNvPr id="11" name="任意多边形 10"/>
          <p:cNvSpPr/>
          <p:nvPr>
            <p:custDataLst>
              <p:tags r:id="rId3"/>
            </p:custDataLst>
          </p:nvPr>
        </p:nvSpPr>
        <p:spPr>
          <a:xfrm rot="16200000">
            <a:off x="-1331245" y="2313346"/>
            <a:ext cx="4864351" cy="223107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660" h="3514">
                <a:moveTo>
                  <a:pt x="0" y="0"/>
                </a:moveTo>
                <a:lnTo>
                  <a:pt x="7660" y="0"/>
                </a:lnTo>
                <a:lnTo>
                  <a:pt x="7659" y="14"/>
                </a:lnTo>
                <a:cubicBezTo>
                  <a:pt x="7485" y="1975"/>
                  <a:pt x="5837" y="3514"/>
                  <a:pt x="3830" y="3514"/>
                </a:cubicBezTo>
                <a:cubicBezTo>
                  <a:pt x="1822" y="3514"/>
                  <a:pt x="173" y="1974"/>
                  <a:pt x="1" y="10"/>
                </a:cubicBezTo>
                <a:lnTo>
                  <a:pt x="0" y="0"/>
                </a:lnTo>
                <a:close/>
              </a:path>
            </a:pathLst>
          </a:cu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25" name="圆角矩形 24"/>
          <p:cNvSpPr/>
          <p:nvPr>
            <p:custDataLst>
              <p:tags r:id="rId4"/>
            </p:custDataLst>
          </p:nvPr>
        </p:nvSpPr>
        <p:spPr>
          <a:xfrm rot="10800000">
            <a:off x="5155565" y="3855720"/>
            <a:ext cx="5383530" cy="1111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cxnSp>
        <p:nvCxnSpPr>
          <p:cNvPr id="10" name="直接连接符 9"/>
          <p:cNvCxnSpPr/>
          <p:nvPr>
            <p:custDataLst>
              <p:tags r:id="rId5"/>
            </p:custDataLst>
          </p:nvPr>
        </p:nvCxnSpPr>
        <p:spPr>
          <a:xfrm>
            <a:off x="11197590" y="3002915"/>
            <a:ext cx="21590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custDataLst>
              <p:tags r:id="rId6"/>
            </p:custDataLst>
          </p:nvPr>
        </p:nvCxnSpPr>
        <p:spPr>
          <a:xfrm>
            <a:off x="11305540" y="1934210"/>
            <a:ext cx="0" cy="59499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1305540" y="3476625"/>
            <a:ext cx="0" cy="63690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2" name="椭圆 21"/>
          <p:cNvSpPr/>
          <p:nvPr>
            <p:custDataLst>
              <p:tags r:id="rId8"/>
            </p:custDataLst>
          </p:nvPr>
        </p:nvSpPr>
        <p:spPr>
          <a:xfrm>
            <a:off x="10027285" y="4343400"/>
            <a:ext cx="538480" cy="53848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cs typeface="MiSans Normal" panose="00000500000000000000" charset="-122"/>
            </a:endParaRPr>
          </a:p>
        </p:txBody>
      </p:sp>
      <p:sp>
        <p:nvSpPr>
          <p:cNvPr id="21" name="椭圆 20"/>
          <p:cNvSpPr/>
          <p:nvPr>
            <p:custDataLst>
              <p:tags r:id="rId9"/>
            </p:custDataLst>
          </p:nvPr>
        </p:nvSpPr>
        <p:spPr>
          <a:xfrm>
            <a:off x="10133965" y="4450080"/>
            <a:ext cx="325120" cy="325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0000" lnSpcReduction="20000"/>
          </a:bodyPr>
          <a:lstStyle/>
          <a:p>
            <a:pPr algn="ctr"/>
            <a:endParaRPr lang="zh-CN" altLang="en-US">
              <a:cs typeface="MiSans Normal" panose="00000500000000000000" charset="-122"/>
            </a:endParaRPr>
          </a:p>
        </p:txBody>
      </p:sp>
      <p:sp>
        <p:nvSpPr>
          <p:cNvPr id="90" name="向下箭头"/>
          <p:cNvSpPr/>
          <p:nvPr>
            <p:custDataLst>
              <p:tags r:id="rId10"/>
            </p:custDataLst>
          </p:nvPr>
        </p:nvSpPr>
        <p:spPr>
          <a:xfrm>
            <a:off x="10238105" y="4542790"/>
            <a:ext cx="118745" cy="139700"/>
          </a:xfrm>
          <a:custGeom>
            <a:avLst/>
            <a:gdLst>
              <a:gd name="connsiteX0" fmla="*/ 222512 w 477622"/>
              <a:gd name="connsiteY0" fmla="*/ 0 h 559381"/>
              <a:gd name="connsiteX1" fmla="*/ 258512 w 477622"/>
              <a:gd name="connsiteY1" fmla="*/ 0 h 559381"/>
              <a:gd name="connsiteX2" fmla="*/ 258512 w 477622"/>
              <a:gd name="connsiteY2" fmla="*/ 488296 h 559381"/>
              <a:gd name="connsiteX3" fmla="*/ 452168 w 477622"/>
              <a:gd name="connsiteY3" fmla="*/ 294641 h 559381"/>
              <a:gd name="connsiteX4" fmla="*/ 477622 w 477622"/>
              <a:gd name="connsiteY4" fmla="*/ 320096 h 559381"/>
              <a:gd name="connsiteX5" fmla="*/ 264266 w 477622"/>
              <a:gd name="connsiteY5" fmla="*/ 533452 h 559381"/>
              <a:gd name="connsiteX6" fmla="*/ 264740 w 477622"/>
              <a:gd name="connsiteY6" fmla="*/ 533926 h 559381"/>
              <a:gd name="connsiteX7" fmla="*/ 239284 w 477622"/>
              <a:gd name="connsiteY7" fmla="*/ 559381 h 559381"/>
              <a:gd name="connsiteX8" fmla="*/ 238812 w 477622"/>
              <a:gd name="connsiteY8" fmla="*/ 558908 h 559381"/>
              <a:gd name="connsiteX9" fmla="*/ 238338 w 477622"/>
              <a:gd name="connsiteY9" fmla="*/ 559381 h 559381"/>
              <a:gd name="connsiteX10" fmla="*/ 212882 w 477622"/>
              <a:gd name="connsiteY10" fmla="*/ 533926 h 559381"/>
              <a:gd name="connsiteX11" fmla="*/ 213356 w 477622"/>
              <a:gd name="connsiteY11" fmla="*/ 533452 h 559381"/>
              <a:gd name="connsiteX12" fmla="*/ 0 w 477622"/>
              <a:gd name="connsiteY12" fmla="*/ 320096 h 559381"/>
              <a:gd name="connsiteX13" fmla="*/ 25456 w 477622"/>
              <a:gd name="connsiteY13" fmla="*/ 294641 h 559381"/>
              <a:gd name="connsiteX14" fmla="*/ 222512 w 477622"/>
              <a:gd name="connsiteY14" fmla="*/ 491698 h 559381"/>
              <a:gd name="connsiteX15" fmla="*/ 222512 w 477622"/>
              <a:gd name="connsiteY15" fmla="*/ 0 h 55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622" h="559381">
                <a:moveTo>
                  <a:pt x="222512" y="0"/>
                </a:moveTo>
                <a:lnTo>
                  <a:pt x="258512" y="0"/>
                </a:lnTo>
                <a:lnTo>
                  <a:pt x="258512" y="488296"/>
                </a:lnTo>
                <a:lnTo>
                  <a:pt x="452168" y="294641"/>
                </a:lnTo>
                <a:lnTo>
                  <a:pt x="477622" y="320096"/>
                </a:lnTo>
                <a:lnTo>
                  <a:pt x="264266" y="533452"/>
                </a:lnTo>
                <a:lnTo>
                  <a:pt x="264740" y="533926"/>
                </a:lnTo>
                <a:lnTo>
                  <a:pt x="239284" y="559381"/>
                </a:lnTo>
                <a:lnTo>
                  <a:pt x="238812" y="558908"/>
                </a:lnTo>
                <a:lnTo>
                  <a:pt x="238338" y="559381"/>
                </a:lnTo>
                <a:lnTo>
                  <a:pt x="212882" y="533926"/>
                </a:lnTo>
                <a:lnTo>
                  <a:pt x="213356" y="533452"/>
                </a:lnTo>
                <a:lnTo>
                  <a:pt x="0" y="320096"/>
                </a:lnTo>
                <a:lnTo>
                  <a:pt x="25456" y="294641"/>
                </a:lnTo>
                <a:lnTo>
                  <a:pt x="222512" y="491698"/>
                </a:lnTo>
                <a:lnTo>
                  <a:pt x="222512" y="0"/>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14" name="任意多边形 13"/>
          <p:cNvSpPr/>
          <p:nvPr>
            <p:custDataLst>
              <p:tags r:id="rId11"/>
            </p:custDataLst>
          </p:nvPr>
        </p:nvSpPr>
        <p:spPr>
          <a:xfrm>
            <a:off x="8945880" y="5997575"/>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标题"/>
          <p:cNvSpPr txBox="1">
            <a:spLocks noGrp="1"/>
          </p:cNvSpPr>
          <p:nvPr>
            <p:ph type="title" idx="1" hasCustomPrompt="1"/>
            <p:custDataLst>
              <p:tags r:id="rId12"/>
            </p:custDataLst>
          </p:nvPr>
        </p:nvSpPr>
        <p:spPr>
          <a:xfrm>
            <a:off x="2273300" y="1901190"/>
            <a:ext cx="8413750" cy="1709420"/>
          </a:xfrm>
          <a:prstGeom prst="rect">
            <a:avLst/>
          </a:prstGeom>
          <a:noFill/>
        </p:spPr>
        <p:txBody>
          <a:bodyPr wrap="square" lIns="91440" tIns="45720" rIns="91440" bIns="45720" rtlCol="0" anchor="b" anchorCtr="0">
            <a:normAutofit/>
          </a:bodyPr>
          <a:lstStyle>
            <a:lvl1pPr marL="0" marR="0" lvl="0" algn="r" defTabSz="914400" rtl="0" eaLnBrk="1" fontAlgn="auto" latinLnBrk="0" hangingPunct="1">
              <a:lnSpc>
                <a:spcPct val="100000"/>
              </a:lnSpc>
              <a:buClrTx/>
              <a:buSzTx/>
              <a:buFontTx/>
              <a:buNone/>
              <a:defRPr kumimoji="0" lang="zh-CN" altLang="en-US" sz="7200" b="0" i="0" u="none" strike="noStrike" kern="1200" cap="none" spc="0" normalizeH="0" baseline="0" noProof="1" dirty="0">
                <a:solidFill>
                  <a:schemeClr val="tx1">
                    <a:lumMod val="85000"/>
                    <a:lumOff val="15000"/>
                  </a:schemeClr>
                </a:solidFill>
                <a:latin typeface="+mj-ea"/>
                <a:ea typeface="+mj-ea"/>
                <a:cs typeface="MiSans Heavy" panose="00000A00000000000000" charset="-122"/>
                <a:sym typeface="+mn-ea"/>
              </a:defRPr>
            </a:lvl1pPr>
          </a:lstStyle>
          <a:p>
            <a:pPr lvl="0" algn="r">
              <a:buClrTx/>
              <a:buSzTx/>
              <a:buFontTx/>
            </a:pPr>
            <a:r>
              <a:rPr dirty="0">
                <a:sym typeface="+mn-ea"/>
              </a:rPr>
              <a:t>单击此处编辑标题</a:t>
            </a:r>
          </a:p>
        </p:txBody>
      </p:sp>
      <p:sp>
        <p:nvSpPr>
          <p:cNvPr id="4" name="日期占位符 3"/>
          <p:cNvSpPr>
            <a:spLocks noGrp="1"/>
          </p:cNvSpPr>
          <p:nvPr>
            <p:ph type="dt" sz="half" idx="10"/>
            <p:custDataLst>
              <p:tags r:id="rId13"/>
            </p:custDataLst>
          </p:nvPr>
        </p:nvSpPr>
        <p:spPr>
          <a:xfrm>
            <a:off x="612000" y="6314400"/>
            <a:ext cx="2700000" cy="316800"/>
          </a:xfrm>
        </p:spPr>
        <p:txBody>
          <a:bodyPr/>
          <a:lstStyle/>
          <a:p>
            <a:fld id="{760FBDFE-C587-4B4C-A407-44438C67B59E}" type="datetimeFigureOut">
              <a:rPr lang="zh-CN" altLang="en-US" smtClean="0"/>
              <a:t>2025/4/13</a:t>
            </a:fld>
            <a:endParaRPr lang="zh-CN" altLang="en-US"/>
          </a:p>
        </p:txBody>
      </p:sp>
      <p:sp>
        <p:nvSpPr>
          <p:cNvPr id="5" name="页脚占位符 4"/>
          <p:cNvSpPr>
            <a:spLocks noGrp="1"/>
          </p:cNvSpPr>
          <p:nvPr>
            <p:ph type="ftr" sz="quarter" idx="11"/>
            <p:custDataLst>
              <p:tags r:id="rId14"/>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5"/>
            </p:custDataLst>
          </p:nvPr>
        </p:nvSpPr>
        <p:spPr>
          <a:xfrm>
            <a:off x="8877600" y="6314400"/>
            <a:ext cx="2700000" cy="316800"/>
          </a:xfrm>
        </p:spPr>
        <p:txBody>
          <a:bodyPr/>
          <a:lstStyle/>
          <a:p>
            <a:fld id="{49AE70B2-8BF9-45C0-BB95-33D1B9D3A854}" type="slidenum">
              <a:rPr lang="zh-CN" altLang="en-US" smtClean="0"/>
              <a:t>‹#›</a:t>
            </a:fld>
            <a:endParaRPr lang="zh-CN" altLang="en-US" dirty="0"/>
          </a:p>
        </p:txBody>
      </p:sp>
      <p:sp>
        <p:nvSpPr>
          <p:cNvPr id="18" name="署名占位符 10"/>
          <p:cNvSpPr>
            <a:spLocks noGrp="1"/>
          </p:cNvSpPr>
          <p:nvPr>
            <p:ph type="body" sz="quarter" idx="17" hasCustomPrompt="1"/>
            <p:custDataLst>
              <p:tags r:id="rId16"/>
            </p:custDataLst>
          </p:nvPr>
        </p:nvSpPr>
        <p:spPr>
          <a:xfrm>
            <a:off x="2273299" y="4275976"/>
            <a:ext cx="7589519" cy="656600"/>
          </a:xfrm>
        </p:spPr>
        <p:txBody>
          <a:bodyPr wrap="square" anchor="ctr">
            <a:normAutofit/>
          </a:bodyPr>
          <a:lstStyle>
            <a:lvl1pPr marL="0" indent="0" algn="r">
              <a:lnSpc>
                <a:spcPct val="100000"/>
              </a:lnSpc>
              <a:buNone/>
              <a:defRPr sz="2000" b="0">
                <a:solidFill>
                  <a:schemeClr val="tx1"/>
                </a:solidFill>
                <a:latin typeface="+mj-ea"/>
                <a:ea typeface="+mj-ea"/>
              </a:defRPr>
            </a:lvl1pPr>
          </a:lstStyle>
          <a:p>
            <a:pPr lvl="0"/>
            <a:r>
              <a:rPr lang="zh-CN" altLang="en-US" dirty="0"/>
              <a:t>署名</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spTree>
      <p:nvGrpSpPr>
        <p:cNvPr id="1" name=""/>
        <p:cNvGrpSpPr/>
        <p:nvPr/>
      </p:nvGrpSpPr>
      <p:grpSpPr>
        <a:xfrm>
          <a:off x="0" y="0"/>
          <a:ext cx="0" cy="0"/>
          <a:chOff x="0" y="0"/>
          <a:chExt cx="0" cy="0"/>
        </a:xfrm>
      </p:grpSpPr>
      <p:sp>
        <p:nvSpPr>
          <p:cNvPr id="8" name="正文"/>
          <p:cNvSpPr txBox="1">
            <a:spLocks noGrp="1"/>
          </p:cNvSpPr>
          <p:nvPr>
            <p:ph idx="3"/>
            <p:custDataLst>
              <p:tags r:id="rId1"/>
            </p:custDataLst>
          </p:nvPr>
        </p:nvSpPr>
        <p:spPr>
          <a:xfrm>
            <a:off x="695960" y="1245235"/>
            <a:ext cx="10800080" cy="493141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75000"/>
                    <a:lumOff val="2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pPr>
            <a:r>
              <a:rPr>
                <a:sym typeface="+mn-ea"/>
              </a:rPr>
              <a:t>单击此处编辑母版文本样式</a:t>
            </a:r>
          </a:p>
          <a:p>
            <a:pPr lvl="1">
              <a:spcBef>
                <a:spcPts val="1200"/>
              </a:spcBef>
              <a:spcAft>
                <a:spcPts val="0"/>
              </a:spcAft>
            </a:pPr>
            <a:r>
              <a:rPr>
                <a:sym typeface="+mn-ea"/>
              </a:rPr>
              <a:t>第二级</a:t>
            </a:r>
          </a:p>
          <a:p>
            <a:pPr lvl="2">
              <a:spcBef>
                <a:spcPts val="1200"/>
              </a:spcBef>
              <a:spcAft>
                <a:spcPts val="0"/>
              </a:spcAft>
            </a:pPr>
            <a:r>
              <a:rPr>
                <a:sym typeface="+mn-ea"/>
              </a:rPr>
              <a:t>第三级</a:t>
            </a:r>
          </a:p>
          <a:p>
            <a:pPr lvl="3">
              <a:spcBef>
                <a:spcPts val="1200"/>
              </a:spcBef>
              <a:spcAft>
                <a:spcPts val="0"/>
              </a:spcAft>
            </a:pPr>
            <a:r>
              <a:rPr>
                <a:sym typeface="+mn-ea"/>
              </a:rPr>
              <a:t>第四级</a:t>
            </a:r>
          </a:p>
          <a:p>
            <a:pPr lvl="4">
              <a:spcBef>
                <a:spcPts val="1200"/>
              </a:spcBef>
              <a:spcAft>
                <a:spcPts val="0"/>
              </a:spcAft>
            </a:pPr>
            <a:r>
              <a:rPr>
                <a:sym typeface="+mn-ea"/>
              </a:rPr>
              <a:t>第五级</a:t>
            </a:r>
          </a:p>
        </p:txBody>
      </p:sp>
      <p:sp>
        <p:nvSpPr>
          <p:cNvPr id="14" name="任意多边形 13"/>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标题"/>
          <p:cNvSpPr>
            <a:spLocks noGrp="1"/>
          </p:cNvSpPr>
          <p:nvPr>
            <p:ph type="title" idx="1"/>
            <p:custDataLst>
              <p:tags r:id="rId3"/>
            </p:custDataLst>
          </p:nvPr>
        </p:nvSpPr>
        <p:spPr>
          <a:xfrm>
            <a:off x="695960" y="360000"/>
            <a:ext cx="10800080" cy="72000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chemeClr val="tx1">
                    <a:lumMod val="85000"/>
                    <a:lumOff val="15000"/>
                  </a:schemeClr>
                </a:solidFill>
                <a:uFillTx/>
                <a:latin typeface="+mj-lt"/>
                <a:ea typeface="+mj-lt"/>
                <a:cs typeface="MiSans Normal" panose="00000500000000000000" charset="-122"/>
                <a:sym typeface="+mn-ea"/>
              </a:defRPr>
            </a:lvl1pPr>
          </a:lstStyle>
          <a:p>
            <a:pPr lvl="0"/>
            <a:r>
              <a:rPr>
                <a:sym typeface="+mn-ea"/>
              </a:rPr>
              <a:t>单击此处编辑母版标题样式</a:t>
            </a:r>
          </a:p>
        </p:txBody>
      </p:sp>
      <p:sp>
        <p:nvSpPr>
          <p:cNvPr id="4" name="日期占位符 3"/>
          <p:cNvSpPr>
            <a:spLocks noGrp="1"/>
          </p:cNvSpPr>
          <p:nvPr>
            <p:ph type="dt" sz="half" idx="10"/>
            <p:custDataLst>
              <p:tags r:id="rId4"/>
            </p:custDataLst>
          </p:nvPr>
        </p:nvSpPr>
        <p:spPr>
          <a:xfrm>
            <a:off x="694055" y="6314440"/>
            <a:ext cx="2618105" cy="316865"/>
          </a:xfrm>
        </p:spPr>
        <p:txBody>
          <a:bodyPr/>
          <a:lstStyle/>
          <a:p>
            <a:fld id="{760FBDFE-C587-4B4C-A407-44438C67B59E}" type="datetimeFigureOut">
              <a:rPr lang="zh-CN" altLang="en-US" smtClean="0"/>
              <a:t>2025/4/13</a:t>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6"/>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cxnSp>
        <p:nvCxnSpPr>
          <p:cNvPr id="60" name="直接连接符 59"/>
          <p:cNvCxnSpPr/>
          <p:nvPr>
            <p:custDataLst>
              <p:tags r:id="rId1"/>
            </p:custDataLst>
          </p:nvPr>
        </p:nvCxnSpPr>
        <p:spPr>
          <a:xfrm>
            <a:off x="3509010" y="1475105"/>
            <a:ext cx="0" cy="4572000"/>
          </a:xfrm>
          <a:prstGeom prst="line">
            <a:avLst/>
          </a:prstGeom>
          <a:ln>
            <a:solidFill>
              <a:schemeClr val="bg2">
                <a:lumMod val="50000"/>
                <a:alpha val="20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8" name="任意多边形 7"/>
          <p:cNvSpPr/>
          <p:nvPr>
            <p:custDataLst>
              <p:tags r:id="rId2"/>
            </p:custDataLst>
          </p:nvPr>
        </p:nvSpPr>
        <p:spPr>
          <a:xfrm>
            <a:off x="-18415" y="0"/>
            <a:ext cx="2251075" cy="871855"/>
          </a:xfrm>
          <a:custGeom>
            <a:avLst/>
            <a:gdLst/>
            <a:ahLst/>
            <a:cxnLst>
              <a:cxn ang="3">
                <a:pos x="hc" y="t"/>
              </a:cxn>
              <a:cxn ang="cd2">
                <a:pos x="l" y="vc"/>
              </a:cxn>
              <a:cxn ang="cd4">
                <a:pos x="hc" y="b"/>
              </a:cxn>
              <a:cxn ang="0">
                <a:pos x="r" y="vc"/>
              </a:cxn>
            </a:cxnLst>
            <a:rect l="l" t="t" r="r" b="b"/>
            <a:pathLst>
              <a:path w="3545" h="1373">
                <a:moveTo>
                  <a:pt x="0" y="0"/>
                </a:moveTo>
                <a:lnTo>
                  <a:pt x="3545" y="0"/>
                </a:lnTo>
                <a:lnTo>
                  <a:pt x="3545" y="1023"/>
                </a:lnTo>
                <a:cubicBezTo>
                  <a:pt x="3545" y="1217"/>
                  <a:pt x="3389" y="1373"/>
                  <a:pt x="3195" y="1373"/>
                </a:cubicBezTo>
                <a:lnTo>
                  <a:pt x="9" y="1373"/>
                </a:lnTo>
                <a:lnTo>
                  <a:pt x="0" y="1373"/>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6" name="标题"/>
          <p:cNvSpPr txBox="1">
            <a:spLocks noGrp="1"/>
          </p:cNvSpPr>
          <p:nvPr>
            <p:ph type="title" idx="1" hasCustomPrompt="1"/>
            <p:custDataLst>
              <p:tags r:id="rId3"/>
            </p:custDataLst>
          </p:nvPr>
        </p:nvSpPr>
        <p:spPr>
          <a:xfrm>
            <a:off x="1166495" y="1793240"/>
            <a:ext cx="1375410" cy="3604895"/>
          </a:xfrm>
          <a:prstGeom prst="rect">
            <a:avLst/>
          </a:prstGeom>
          <a:noFill/>
        </p:spPr>
        <p:txBody>
          <a:bodyPr vert="eaVert" wrap="square" lIns="91440" tIns="45720" rIns="91440" bIns="45720" rtlCol="0" anchor="ctr" anchorCtr="0">
            <a:normAutofit/>
          </a:bodyPr>
          <a:lstStyle>
            <a:lvl1pPr marL="0" marR="0" lvl="0" algn="ctr" defTabSz="914400" rtl="0" eaLnBrk="1" fontAlgn="auto" latinLnBrk="0" hangingPunct="1">
              <a:lnSpc>
                <a:spcPct val="100000"/>
              </a:lnSpc>
              <a:buClrTx/>
              <a:buSzTx/>
              <a:buFontTx/>
              <a:buNone/>
              <a:defRPr kumimoji="0" lang="zh-CN" altLang="en-US" sz="6000" b="0" i="0" u="none" strike="noStrike" kern="1200" cap="none" spc="0" normalizeH="0" baseline="0" noProof="1">
                <a:solidFill>
                  <a:schemeClr val="tx1">
                    <a:lumMod val="85000"/>
                    <a:lumOff val="15000"/>
                  </a:schemeClr>
                </a:solidFill>
                <a:latin typeface="+mj-ea"/>
                <a:ea typeface="+mj-ea"/>
                <a:cs typeface="MiSans Normal" panose="00000500000000000000" charset="-122"/>
                <a:sym typeface="+mn-ea"/>
              </a:defRPr>
            </a:lvl1pPr>
          </a:lstStyle>
          <a:p>
            <a:pPr lvl="0" algn="l">
              <a:buClrTx/>
              <a:buSzTx/>
              <a:buFontTx/>
            </a:pPr>
            <a:r>
              <a:rPr dirty="0">
                <a:sym typeface="+mn-ea"/>
              </a:rPr>
              <a:t>标题</a:t>
            </a:r>
          </a:p>
        </p:txBody>
      </p:sp>
      <p:sp>
        <p:nvSpPr>
          <p:cNvPr id="3" name="日期占位符 2"/>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t>2025/4/13</a:t>
            </a:fld>
            <a:endParaRPr lang="zh-CN" altLang="en-US"/>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2" name="椭圆 11"/>
          <p:cNvSpPr/>
          <p:nvPr>
            <p:custDataLst>
              <p:tags r:id="rId1"/>
            </p:custDataLst>
          </p:nvPr>
        </p:nvSpPr>
        <p:spPr>
          <a:xfrm rot="16200000">
            <a:off x="977900" y="1336040"/>
            <a:ext cx="4351020" cy="4351020"/>
          </a:xfrm>
          <a:prstGeom prst="ellipse">
            <a:avLst/>
          </a:prstGeom>
          <a:solidFill>
            <a:schemeClr val="bg2"/>
          </a:solidFill>
          <a:ln>
            <a:noFill/>
          </a:ln>
          <a:effectLst>
            <a:outerShdw blurRad="495300" dist="38100" dir="2700000" algn="tl" rotWithShape="0">
              <a:schemeClr val="accent1">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cs typeface="MiSans Normal" panose="00000500000000000000" charset="-122"/>
            </a:endParaRPr>
          </a:p>
        </p:txBody>
      </p:sp>
      <p:sp>
        <p:nvSpPr>
          <p:cNvPr id="11" name="椭圆 10"/>
          <p:cNvSpPr/>
          <p:nvPr>
            <p:custDataLst>
              <p:tags r:id="rId2"/>
            </p:custDataLst>
          </p:nvPr>
        </p:nvSpPr>
        <p:spPr>
          <a:xfrm rot="16200000">
            <a:off x="1828800" y="2186940"/>
            <a:ext cx="2649220" cy="2649220"/>
          </a:xfrm>
          <a:prstGeom prst="ellipse">
            <a:avLst/>
          </a:pr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solidFill>
                <a:schemeClr val="lt1"/>
              </a:solidFill>
              <a:cs typeface="MiSans Normal" panose="00000500000000000000" charset="-122"/>
            </a:endParaRPr>
          </a:p>
        </p:txBody>
      </p:sp>
      <p:sp>
        <p:nvSpPr>
          <p:cNvPr id="9" name="弧形 8"/>
          <p:cNvSpPr/>
          <p:nvPr>
            <p:custDataLst>
              <p:tags r:id="rId3"/>
            </p:custDataLst>
          </p:nvPr>
        </p:nvSpPr>
        <p:spPr>
          <a:xfrm>
            <a:off x="301625" y="659765"/>
            <a:ext cx="5703570" cy="5703570"/>
          </a:xfrm>
          <a:prstGeom prst="arc">
            <a:avLst>
              <a:gd name="adj1" fmla="val 16200000"/>
              <a:gd name="adj2" fmla="val 5319923"/>
            </a:avLst>
          </a:prstGeom>
          <a:ln>
            <a:solidFill>
              <a:schemeClr val="bg2">
                <a:lumMod val="85000"/>
              </a:schemeClr>
            </a:solidFill>
            <a:headEnd type="oval"/>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MiSans Normal" panose="00000500000000000000" charset="-122"/>
            </a:endParaRPr>
          </a:p>
        </p:txBody>
      </p:sp>
      <p:sp>
        <p:nvSpPr>
          <p:cNvPr id="10" name="圆角矩形 9"/>
          <p:cNvSpPr/>
          <p:nvPr>
            <p:custDataLst>
              <p:tags r:id="rId4"/>
            </p:custDataLst>
          </p:nvPr>
        </p:nvSpPr>
        <p:spPr>
          <a:xfrm rot="10800000">
            <a:off x="6876415" y="3851910"/>
            <a:ext cx="2408555" cy="15938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sp>
        <p:nvSpPr>
          <p:cNvPr id="14" name="任意多边形 13"/>
          <p:cNvSpPr/>
          <p:nvPr>
            <p:custDataLst>
              <p:tags r:id="rId5"/>
            </p:custDataLst>
          </p:nvPr>
        </p:nvSpPr>
        <p:spPr>
          <a:xfrm flipV="1">
            <a:off x="8945880" y="0"/>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8" name="节编号"/>
          <p:cNvSpPr txBox="1">
            <a:spLocks noGrp="1"/>
          </p:cNvSpPr>
          <p:nvPr>
            <p:ph type="body" idx="2" hasCustomPrompt="1"/>
            <p:custDataLst>
              <p:tags r:id="rId6"/>
            </p:custDataLst>
          </p:nvPr>
        </p:nvSpPr>
        <p:spPr>
          <a:xfrm>
            <a:off x="1828800" y="3004185"/>
            <a:ext cx="2649220" cy="1208405"/>
          </a:xfrm>
          <a:prstGeom prst="rect">
            <a:avLst/>
          </a:prstGeom>
          <a:noFill/>
        </p:spPr>
        <p:txBody>
          <a:bodyPr wrap="square" lIns="91440" tIns="45720" rIns="91440" bIns="45720" rtlCol="0" anchor="t" anchorCtr="0">
            <a:normAutofit/>
          </a:bodyPr>
          <a:lstStyle>
            <a:lvl1pPr marL="0" marR="0" lvl="0" algn="ctr" defTabSz="914400" rtl="0" eaLnBrk="1" fontAlgn="auto" latinLnBrk="0" hangingPunct="1">
              <a:lnSpc>
                <a:spcPct val="100000"/>
              </a:lnSpc>
              <a:buClrTx/>
              <a:buSzTx/>
              <a:buFontTx/>
              <a:buNone/>
              <a:defRPr kumimoji="0" lang="en-US" altLang="zh-CN" sz="6000" b="0" i="0" u="none" strike="noStrike" kern="1200" cap="none" spc="200" normalizeH="0" baseline="0" noProof="1">
                <a:solidFill>
                  <a:schemeClr val="tx1">
                    <a:lumMod val="85000"/>
                    <a:lumOff val="15000"/>
                  </a:schemeClr>
                </a:solidFill>
                <a:uFillTx/>
                <a:latin typeface="MiSans Heavy" panose="00000A00000000000000" charset="-122"/>
                <a:ea typeface="MiSans Heavy" panose="00000A00000000000000" charset="-122"/>
                <a:cs typeface="MiSans Normal" panose="00000500000000000000" charset="-122"/>
                <a:sym typeface="+mn-ea"/>
              </a:defRPr>
            </a:lvl1pPr>
          </a:lstStyle>
          <a:p>
            <a:pPr lvl="0" algn="ctr">
              <a:buClrTx/>
              <a:buSzTx/>
              <a:buFontTx/>
            </a:pPr>
            <a:r>
              <a:rPr>
                <a:sym typeface="+mn-ea"/>
              </a:rPr>
              <a:t>节编号</a:t>
            </a:r>
          </a:p>
        </p:txBody>
      </p:sp>
      <p:sp>
        <p:nvSpPr>
          <p:cNvPr id="7" name="标题"/>
          <p:cNvSpPr txBox="1">
            <a:spLocks noGrp="1"/>
          </p:cNvSpPr>
          <p:nvPr>
            <p:ph type="title" idx="1" hasCustomPrompt="1"/>
            <p:custDataLst>
              <p:tags r:id="rId7"/>
            </p:custDataLst>
          </p:nvPr>
        </p:nvSpPr>
        <p:spPr>
          <a:xfrm>
            <a:off x="6732905" y="2092325"/>
            <a:ext cx="5005070" cy="1684020"/>
          </a:xfrm>
          <a:prstGeom prst="rect">
            <a:avLst/>
          </a:prstGeom>
          <a:noFill/>
        </p:spPr>
        <p:txBody>
          <a:bodyPr wrap="square" lIns="91440" tIns="45720" rIns="91440" bIns="45720" rtlCol="0" anchor="b" anchorCtr="0">
            <a:normAutofit/>
          </a:bodyPr>
          <a:lstStyle>
            <a:lvl1pPr marL="0" marR="0" lvl="0" algn="l" defTabSz="914400" rtl="0" eaLnBrk="1" fontAlgn="auto" latinLnBrk="0" hangingPunct="1">
              <a:lnSpc>
                <a:spcPct val="100000"/>
              </a:lnSpc>
              <a:buClrTx/>
              <a:buSzTx/>
              <a:buFontTx/>
              <a:buNone/>
              <a:defRPr kumimoji="0" lang="zh-CN" altLang="en-US" sz="4800" b="0" i="0" u="none" strike="noStrike" kern="1200" cap="none" spc="200" normalizeH="0" baseline="0" noProof="1">
                <a:solidFill>
                  <a:schemeClr val="tx1">
                    <a:lumMod val="85000"/>
                    <a:lumOff val="15000"/>
                  </a:schemeClr>
                </a:solidFill>
                <a:uFillTx/>
                <a:latin typeface="+mj-ea"/>
                <a:ea typeface="+mj-ea"/>
                <a:cs typeface="MiSans Normal" panose="00000500000000000000" charset="-122"/>
                <a:sym typeface="+mn-ea"/>
              </a:defRPr>
            </a:lvl1pPr>
          </a:lstStyle>
          <a:p>
            <a:pPr lvl="0" algn="l">
              <a:buClrTx/>
              <a:buSzTx/>
              <a:buFontTx/>
            </a:pPr>
            <a:r>
              <a:rPr>
                <a:sym typeface="+mn-ea"/>
              </a:rPr>
              <a:t>单击编辑标题</a:t>
            </a:r>
          </a:p>
        </p:txBody>
      </p:sp>
      <p:sp>
        <p:nvSpPr>
          <p:cNvPr id="4" name="日期占位符 3"/>
          <p:cNvSpPr>
            <a:spLocks noGrp="1"/>
          </p:cNvSpPr>
          <p:nvPr>
            <p:ph type="dt" sz="half" idx="10"/>
            <p:custDataLst>
              <p:tags r:id="rId8"/>
            </p:custDataLst>
          </p:nvPr>
        </p:nvSpPr>
        <p:spPr>
          <a:xfrm>
            <a:off x="612000" y="6314400"/>
            <a:ext cx="2700000" cy="316800"/>
          </a:xfrm>
        </p:spPr>
        <p:txBody>
          <a:bodyPr/>
          <a:lstStyle/>
          <a:p>
            <a:fld id="{760FBDFE-C587-4B4C-A407-44438C67B59E}" type="datetimeFigureOut">
              <a:rPr lang="zh-CN" altLang="en-US" smtClean="0"/>
              <a:t>2025/4/13</a:t>
            </a:fld>
            <a:endParaRPr lang="zh-CN" altLang="en-US"/>
          </a:p>
        </p:txBody>
      </p:sp>
      <p:sp>
        <p:nvSpPr>
          <p:cNvPr id="5" name="页脚占位符 4"/>
          <p:cNvSpPr>
            <a:spLocks noGrp="1"/>
          </p:cNvSpPr>
          <p:nvPr>
            <p:ph type="ftr" sz="quarter" idx="11"/>
            <p:custDataLst>
              <p:tags r:id="rId9"/>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0"/>
            </p:custDataLst>
          </p:nvPr>
        </p:nvSpPr>
        <p:spPr>
          <a:xfrm>
            <a:off x="8877600" y="6314400"/>
            <a:ext cx="2700000" cy="316800"/>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标题和两栏">
    <p:spTree>
      <p:nvGrpSpPr>
        <p:cNvPr id="1" name=""/>
        <p:cNvGrpSpPr/>
        <p:nvPr/>
      </p:nvGrpSpPr>
      <p:grpSpPr>
        <a:xfrm>
          <a:off x="0" y="0"/>
          <a:ext cx="0" cy="0"/>
          <a:chOff x="0" y="0"/>
          <a:chExt cx="0" cy="0"/>
        </a:xfrm>
      </p:grpSpPr>
      <p:sp>
        <p:nvSpPr>
          <p:cNvPr id="10" name="正文"/>
          <p:cNvSpPr txBox="1">
            <a:spLocks noGrp="1"/>
          </p:cNvSpPr>
          <p:nvPr>
            <p:ph idx="4"/>
            <p:custDataLst>
              <p:tags r:id="rId1"/>
            </p:custDataLst>
          </p:nvPr>
        </p:nvSpPr>
        <p:spPr>
          <a:xfrm>
            <a:off x="6400800" y="1245235"/>
            <a:ext cx="5095240" cy="4930775"/>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9" name="正文"/>
          <p:cNvSpPr txBox="1">
            <a:spLocks noGrp="1"/>
          </p:cNvSpPr>
          <p:nvPr>
            <p:ph idx="3"/>
            <p:custDataLst>
              <p:tags r:id="rId2"/>
            </p:custDataLst>
          </p:nvPr>
        </p:nvSpPr>
        <p:spPr>
          <a:xfrm>
            <a:off x="695960" y="1245235"/>
            <a:ext cx="5088890" cy="4930775"/>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65000"/>
                    <a:lumOff val="35000"/>
                  </a:schemeClr>
                </a:solidFill>
                <a:uFillTx/>
                <a:latin typeface="+mn-ea"/>
                <a:ea typeface="+mn-ea"/>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65000"/>
                    <a:lumOff val="35000"/>
                  </a:schemeClr>
                </a:solidFill>
                <a:uFillTx/>
                <a:latin typeface="+mn-ea"/>
                <a:ea typeface="+mn-ea"/>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65000"/>
                    <a:lumOff val="35000"/>
                  </a:schemeClr>
                </a:solidFill>
                <a:uFillTx/>
                <a:latin typeface="+mn-ea"/>
                <a:ea typeface="+mn-ea"/>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65000"/>
                    <a:lumOff val="35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800"/>
              </a:spcBef>
              <a:spcAft>
                <a:spcPts val="0"/>
              </a:spcAft>
            </a:pPr>
            <a:r>
              <a:rPr>
                <a:sym typeface="+mn-ea"/>
              </a:rPr>
              <a:t>单击此处编辑母版文本样式</a:t>
            </a:r>
          </a:p>
          <a:p>
            <a:pPr lvl="1">
              <a:spcBef>
                <a:spcPts val="1800"/>
              </a:spcBef>
              <a:spcAft>
                <a:spcPts val="0"/>
              </a:spcAft>
            </a:pPr>
            <a:r>
              <a:rPr>
                <a:sym typeface="+mn-ea"/>
              </a:rPr>
              <a:t>第二级</a:t>
            </a:r>
          </a:p>
          <a:p>
            <a:pPr lvl="2">
              <a:spcBef>
                <a:spcPts val="1800"/>
              </a:spcBef>
              <a:spcAft>
                <a:spcPts val="0"/>
              </a:spcAft>
            </a:pPr>
            <a:r>
              <a:rPr>
                <a:sym typeface="+mn-ea"/>
              </a:rPr>
              <a:t>第三级</a:t>
            </a:r>
          </a:p>
          <a:p>
            <a:pPr lvl="3">
              <a:spcBef>
                <a:spcPts val="1800"/>
              </a:spcBef>
              <a:spcAft>
                <a:spcPts val="0"/>
              </a:spcAft>
            </a:pPr>
            <a:r>
              <a:rPr>
                <a:sym typeface="+mn-ea"/>
              </a:rPr>
              <a:t>第四级</a:t>
            </a:r>
          </a:p>
          <a:p>
            <a:pPr lvl="4">
              <a:spcBef>
                <a:spcPts val="1800"/>
              </a:spcBef>
              <a:spcAft>
                <a:spcPts val="0"/>
              </a:spcAft>
            </a:pPr>
            <a:r>
              <a:rPr>
                <a:sym typeface="+mn-ea"/>
              </a:rPr>
              <a:t>第五级</a:t>
            </a:r>
          </a:p>
        </p:txBody>
      </p:sp>
      <p:sp>
        <p:nvSpPr>
          <p:cNvPr id="14" name="任意多边形 13"/>
          <p:cNvSpPr/>
          <p:nvPr userDrawn="1">
            <p:custDataLst>
              <p:tags r:id="rId3"/>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8" name="标题"/>
          <p:cNvSpPr>
            <a:spLocks noGrp="1"/>
          </p:cNvSpPr>
          <p:nvPr>
            <p:ph type="title" idx="1"/>
            <p:custDataLst>
              <p:tags r:id="rId4"/>
            </p:custDataLst>
          </p:nvPr>
        </p:nvSpPr>
        <p:spPr>
          <a:xfrm>
            <a:off x="695960" y="360000"/>
            <a:ext cx="10800080" cy="720000"/>
          </a:xfrm>
          <a:prstGeom prst="rect">
            <a:avLst/>
          </a:prstGeom>
          <a:noFill/>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600" b="0" i="0" u="none" strike="noStrike" kern="1200" cap="none" spc="300" normalizeH="0" baseline="0" noProof="1" dirty="0" smtClean="0">
                <a:ln>
                  <a:noFill/>
                  <a:prstDash val="sysDot"/>
                </a:ln>
                <a:solidFill>
                  <a:schemeClr val="tx1">
                    <a:lumMod val="85000"/>
                    <a:lumOff val="15000"/>
                  </a:schemeClr>
                </a:solidFill>
                <a:uFillTx/>
                <a:latin typeface="+mj-lt"/>
                <a:ea typeface="+mj-lt"/>
                <a:cs typeface="MiSans Normal" panose="00000500000000000000" charset="-122"/>
              </a:defRPr>
            </a:lvl1pPr>
          </a:lstStyle>
          <a:p>
            <a:pPr lvl="0"/>
            <a:r>
              <a:rPr>
                <a:sym typeface="+mn-ea"/>
              </a:rPr>
              <a:t>单击此处编辑母版标题样式</a:t>
            </a:r>
          </a:p>
        </p:txBody>
      </p:sp>
      <p:sp>
        <p:nvSpPr>
          <p:cNvPr id="5" name="日期占位符 4"/>
          <p:cNvSpPr>
            <a:spLocks noGrp="1"/>
          </p:cNvSpPr>
          <p:nvPr>
            <p:ph type="dt" sz="half" idx="10"/>
            <p:custDataLst>
              <p:tags r:id="rId5"/>
            </p:custDataLst>
          </p:nvPr>
        </p:nvSpPr>
        <p:spPr>
          <a:xfrm>
            <a:off x="694055" y="6314440"/>
            <a:ext cx="2618105" cy="316865"/>
          </a:xfrm>
        </p:spPr>
        <p:txBody>
          <a:bodyPr/>
          <a:lstStyle/>
          <a:p>
            <a:fld id="{760FBDFE-C587-4B4C-A407-44438C67B59E}" type="datetimeFigureOut">
              <a:rPr lang="zh-CN" altLang="en-US" smtClean="0"/>
              <a:t>2025/4/13</a:t>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p:spPr>
        <p:txBody>
          <a:bodyPr/>
          <a:lstStyle/>
          <a:p>
            <a:endParaRPr lang="zh-CN" altLang="en-US" dirty="0"/>
          </a:p>
        </p:txBody>
      </p:sp>
      <p:sp>
        <p:nvSpPr>
          <p:cNvPr id="7" name="灯片编号占位符 6"/>
          <p:cNvSpPr>
            <a:spLocks noGrp="1"/>
          </p:cNvSpPr>
          <p:nvPr>
            <p:ph type="sldNum" sz="quarter" idx="12"/>
            <p:custDataLst>
              <p:tags r:id="rId7"/>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标题和比较">
    <p:spTree>
      <p:nvGrpSpPr>
        <p:cNvPr id="1" name=""/>
        <p:cNvGrpSpPr/>
        <p:nvPr/>
      </p:nvGrpSpPr>
      <p:grpSpPr>
        <a:xfrm>
          <a:off x="0" y="0"/>
          <a:ext cx="0" cy="0"/>
          <a:chOff x="0" y="0"/>
          <a:chExt cx="0" cy="0"/>
        </a:xfrm>
      </p:grpSpPr>
      <p:sp>
        <p:nvSpPr>
          <p:cNvPr id="15" name="正文"/>
          <p:cNvSpPr txBox="1">
            <a:spLocks noGrp="1"/>
          </p:cNvSpPr>
          <p:nvPr>
            <p:ph idx="6"/>
            <p:custDataLst>
              <p:tags r:id="rId1"/>
            </p:custDataLst>
          </p:nvPr>
        </p:nvSpPr>
        <p:spPr>
          <a:xfrm>
            <a:off x="6235065" y="1671955"/>
            <a:ext cx="5260975" cy="450469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14" name="标题"/>
          <p:cNvSpPr txBox="1">
            <a:spLocks noGrp="1"/>
          </p:cNvSpPr>
          <p:nvPr>
            <p:ph type="title" idx="5"/>
            <p:custDataLst>
              <p:tags r:id="rId2"/>
            </p:custDataLst>
          </p:nvPr>
        </p:nvSpPr>
        <p:spPr>
          <a:xfrm>
            <a:off x="6235065" y="1247140"/>
            <a:ext cx="5260975" cy="4000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85000"/>
                    <a:lumOff val="15000"/>
                  </a:schemeClr>
                </a:solidFill>
                <a:latin typeface="+mj-ea"/>
                <a:ea typeface="+mj-ea"/>
                <a:cs typeface="MiSans Normal" panose="00000500000000000000" charset="-122"/>
              </a:defRPr>
            </a:lvl1pPr>
          </a:lstStyle>
          <a:p>
            <a:pPr lvl="0"/>
            <a:r>
              <a:rPr>
                <a:sym typeface="+mn-ea"/>
              </a:rPr>
              <a:t>单击此处编辑母版标题样式</a:t>
            </a:r>
          </a:p>
        </p:txBody>
      </p:sp>
      <p:sp>
        <p:nvSpPr>
          <p:cNvPr id="13" name="正文"/>
          <p:cNvSpPr txBox="1">
            <a:spLocks noGrp="1"/>
          </p:cNvSpPr>
          <p:nvPr>
            <p:ph idx="4"/>
            <p:custDataLst>
              <p:tags r:id="rId3"/>
            </p:custDataLst>
          </p:nvPr>
        </p:nvSpPr>
        <p:spPr>
          <a:xfrm>
            <a:off x="695325" y="1671955"/>
            <a:ext cx="5255260" cy="450469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12" name="标题"/>
          <p:cNvSpPr txBox="1">
            <a:spLocks noGrp="1"/>
          </p:cNvSpPr>
          <p:nvPr>
            <p:ph type="title" idx="3"/>
            <p:custDataLst>
              <p:tags r:id="rId4"/>
            </p:custDataLst>
          </p:nvPr>
        </p:nvSpPr>
        <p:spPr>
          <a:xfrm>
            <a:off x="695325" y="1247140"/>
            <a:ext cx="5255260" cy="40005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a:solidFill>
                  <a:schemeClr val="tx1">
                    <a:lumMod val="85000"/>
                    <a:lumOff val="15000"/>
                  </a:schemeClr>
                </a:solidFill>
                <a:latin typeface="+mj-ea"/>
                <a:ea typeface="+mj-ea"/>
                <a:cs typeface="MiSans Normal" panose="00000500000000000000" charset="-122"/>
              </a:defRPr>
            </a:lvl1pPr>
          </a:lstStyle>
          <a:p>
            <a:pPr lvl="0"/>
            <a:r>
              <a:rPr>
                <a:sym typeface="+mn-ea"/>
              </a:rPr>
              <a:t>单击此处编辑母版标题样式</a:t>
            </a:r>
          </a:p>
        </p:txBody>
      </p:sp>
      <p:sp>
        <p:nvSpPr>
          <p:cNvPr id="11" name="任意多边形 10"/>
          <p:cNvSpPr/>
          <p:nvPr userDrawn="1">
            <p:custDataLst>
              <p:tags r:id="rId5"/>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10" name="标题"/>
          <p:cNvSpPr txBox="1">
            <a:spLocks noGrp="1"/>
          </p:cNvSpPr>
          <p:nvPr>
            <p:ph type="title" idx="1"/>
            <p:custDataLst>
              <p:tags r:id="rId6"/>
            </p:custDataLst>
          </p:nvPr>
        </p:nvSpPr>
        <p:spPr>
          <a:xfrm>
            <a:off x="695960" y="360000"/>
            <a:ext cx="10800080" cy="720000"/>
          </a:xfrm>
          <a:prstGeom prst="rect">
            <a:avLst/>
          </a:prstGeom>
          <a:noFill/>
        </p:spPr>
        <p:txBody>
          <a:bodyPr wrap="square"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mj-lt"/>
                <a:ea typeface="+mj-lt"/>
                <a:cs typeface="MiSans Normal" panose="00000500000000000000" charset="-122"/>
                <a:sym typeface="+mn-ea"/>
              </a:defRPr>
            </a:lvl1pPr>
          </a:lstStyle>
          <a:p>
            <a:pPr lvl="0" algn="l">
              <a:buClrTx/>
              <a:buSzTx/>
              <a:buFontTx/>
            </a:pPr>
            <a:r>
              <a:rPr>
                <a:sym typeface="+mn-ea"/>
              </a:rPr>
              <a:t>单击此处编辑母版标题样式</a:t>
            </a:r>
          </a:p>
        </p:txBody>
      </p:sp>
      <p:sp>
        <p:nvSpPr>
          <p:cNvPr id="7" name="日期占位符 6"/>
          <p:cNvSpPr>
            <a:spLocks noGrp="1"/>
          </p:cNvSpPr>
          <p:nvPr>
            <p:ph type="dt" sz="half" idx="10"/>
            <p:custDataLst>
              <p:tags r:id="rId7"/>
            </p:custDataLst>
          </p:nvPr>
        </p:nvSpPr>
        <p:spPr>
          <a:xfrm>
            <a:off x="699135" y="6314440"/>
            <a:ext cx="2613025" cy="316865"/>
          </a:xfrm>
        </p:spPr>
        <p:txBody>
          <a:bodyPr/>
          <a:lstStyle/>
          <a:p>
            <a:fld id="{760FBDFE-C587-4B4C-A407-44438C67B59E}" type="datetimeFigureOut">
              <a:rPr lang="zh-CN" altLang="en-US" smtClean="0"/>
              <a:t>2025/4/13</a:t>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p:spPr>
        <p:txBody>
          <a:bodyPr/>
          <a:lstStyle/>
          <a:p>
            <a:endParaRPr lang="zh-CN" altLang="en-US" dirty="0"/>
          </a:p>
        </p:txBody>
      </p:sp>
      <p:sp>
        <p:nvSpPr>
          <p:cNvPr id="9" name="灯片编号占位符 8"/>
          <p:cNvSpPr>
            <a:spLocks noGrp="1"/>
          </p:cNvSpPr>
          <p:nvPr>
            <p:ph type="sldNum" sz="quarter" idx="12"/>
            <p:custDataLst>
              <p:tags r:id="rId9"/>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sp>
        <p:nvSpPr>
          <p:cNvPr id="7" name="任意多边形 6"/>
          <p:cNvSpPr/>
          <p:nvPr userDrawn="1">
            <p:custDataLst>
              <p:tags r:id="rId1"/>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6" name="标题"/>
          <p:cNvSpPr txBox="1">
            <a:spLocks noGrp="1"/>
          </p:cNvSpPr>
          <p:nvPr>
            <p:ph type="title" idx="1"/>
            <p:custDataLst>
              <p:tags r:id="rId2"/>
            </p:custDataLst>
          </p:nvPr>
        </p:nvSpPr>
        <p:spPr>
          <a:xfrm>
            <a:off x="695960" y="360000"/>
            <a:ext cx="10800080" cy="720000"/>
          </a:xfrm>
          <a:prstGeom prst="rect">
            <a:avLst/>
          </a:prstGeom>
          <a:noFill/>
        </p:spPr>
        <p:txBody>
          <a:bodyPr wrap="square"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mj-lt"/>
                <a:ea typeface="+mj-lt"/>
                <a:cs typeface="MiSans Normal" panose="00000500000000000000" charset="-122"/>
                <a:sym typeface="+mn-ea"/>
              </a:defRPr>
            </a:lvl1pPr>
          </a:lstStyle>
          <a:p>
            <a:pPr lvl="0" algn="l">
              <a:buClrTx/>
              <a:buSzTx/>
              <a:buFontTx/>
            </a:pPr>
            <a:r>
              <a:rPr>
                <a:sym typeface="+mn-ea"/>
              </a:rPr>
              <a:t>单击此处编辑母版标题样式</a:t>
            </a:r>
          </a:p>
        </p:txBody>
      </p:sp>
      <p:sp>
        <p:nvSpPr>
          <p:cNvPr id="3" name="日期占位符 2"/>
          <p:cNvSpPr>
            <a:spLocks noGrp="1"/>
          </p:cNvSpPr>
          <p:nvPr>
            <p:ph type="dt" sz="half" idx="10"/>
            <p:custDataLst>
              <p:tags r:id="rId3"/>
            </p:custDataLst>
          </p:nvPr>
        </p:nvSpPr>
        <p:spPr>
          <a:xfrm>
            <a:off x="699135" y="6314440"/>
            <a:ext cx="2613025" cy="316865"/>
          </a:xfrm>
        </p:spPr>
        <p:txBody>
          <a:bodyPr/>
          <a:lstStyle/>
          <a:p>
            <a:fld id="{760FBDFE-C587-4B4C-A407-44438C67B59E}" type="datetimeFigureOut">
              <a:rPr lang="zh-CN" altLang="en-US" smtClean="0"/>
              <a:t>2025/4/13</a:t>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5"/>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4" name="任意多边形 13"/>
          <p:cNvSpPr/>
          <p:nvPr>
            <p:custDataLst>
              <p:tags r:id="rId1"/>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t>2025/4/13</a:t>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dirty="0"/>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 preserve="1">
  <p:cSld name="仅内容">
    <p:spTree>
      <p:nvGrpSpPr>
        <p:cNvPr id="1" name=""/>
        <p:cNvGrpSpPr/>
        <p:nvPr/>
      </p:nvGrpSpPr>
      <p:grpSpPr>
        <a:xfrm>
          <a:off x="0" y="0"/>
          <a:ext cx="0" cy="0"/>
          <a:chOff x="0" y="0"/>
          <a:chExt cx="0" cy="0"/>
        </a:xfrm>
      </p:grpSpPr>
      <p:sp>
        <p:nvSpPr>
          <p:cNvPr id="7" name="正文"/>
          <p:cNvSpPr txBox="1">
            <a:spLocks noGrp="1"/>
          </p:cNvSpPr>
          <p:nvPr>
            <p:ph idx="2"/>
            <p:custDataLst>
              <p:tags r:id="rId1"/>
            </p:custDataLst>
          </p:nvPr>
        </p:nvSpPr>
        <p:spPr>
          <a:xfrm>
            <a:off x="695960" y="360045"/>
            <a:ext cx="10801985" cy="5817870"/>
          </a:xfrm>
          <a:prstGeom prst="rect">
            <a:avLst/>
          </a:prstGeom>
          <a:ln>
            <a:noFill/>
            <a:prstDash val="sysDash"/>
          </a:ln>
        </p:spPr>
        <p:txBody>
          <a:bodyPr vert="horz" lIns="90000" tIns="46800" rIns="90000" bIns="46800" rtlCol="0">
            <a:normAutofit/>
          </a:bodyPr>
          <a:lstStyle>
            <a:defPPr>
              <a:defRPr lang="zh-CN"/>
            </a:defPPr>
            <a:lvl1pPr marL="228600" marR="0" lvl="0" indent="-228600" algn="l" defTabSz="914400" rtl="0" eaLnBrk="1" fontAlgn="auto" latinLnBrk="0" hangingPunct="1">
              <a:lnSpc>
                <a:spcPct val="130000"/>
              </a:lnSpc>
              <a:spcBef>
                <a:spcPts val="1800"/>
              </a:spcBef>
              <a:spcAft>
                <a:spcPts val="0"/>
              </a:spcAft>
              <a:buClrTx/>
              <a:buSzTx/>
              <a:buFont typeface="Arial" panose="020B0604020202020204" pitchFamily="34" charset="0"/>
              <a:buChar char="●"/>
              <a:defRPr kumimoji="0" lang="zh-CN" altLang="en-US" sz="1800" b="0" i="0" u="none" strike="noStrike" kern="1200" cap="none" spc="150" normalizeH="0" baseline="0" noProof="1" dirty="0">
                <a:ln>
                  <a:noFill/>
                  <a:prstDash val="sysDot"/>
                </a:ln>
                <a:solidFill>
                  <a:schemeClr val="tx1">
                    <a:lumMod val="85000"/>
                    <a:lumOff val="15000"/>
                  </a:schemeClr>
                </a:solidFill>
                <a:uFillTx/>
                <a:latin typeface="+mn-ea"/>
                <a:ea typeface="+mn-ea"/>
                <a:cs typeface="MiSans Normal" panose="00000500000000000000" charset="-122"/>
                <a:sym typeface="+mn-ea"/>
              </a:defRPr>
            </a:lvl1pPr>
            <a:lvl2pPr marL="449580" marR="0" lvl="1" indent="-231775"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ln>
                  <a:noFill/>
                  <a:prstDash val="sysDot"/>
                </a:ln>
                <a:solidFill>
                  <a:schemeClr val="tx1">
                    <a:lumMod val="50000"/>
                    <a:lumOff val="50000"/>
                  </a:schemeClr>
                </a:solidFill>
                <a:uFillTx/>
                <a:latin typeface="+mn-ea"/>
                <a:ea typeface="+mn-ea"/>
              </a:defRPr>
            </a:lvl2pPr>
            <a:lvl3pPr marL="719455" marR="0" lvl="2" indent="-276225"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ln>
                  <a:noFill/>
                  <a:prstDash val="sysDot"/>
                </a:ln>
                <a:solidFill>
                  <a:schemeClr val="tx1">
                    <a:lumMod val="50000"/>
                    <a:lumOff val="50000"/>
                  </a:schemeClr>
                </a:solidFill>
                <a:uFillTx/>
                <a:latin typeface="+mn-ea"/>
                <a:ea typeface="+mn-ea"/>
              </a:defRPr>
            </a:lvl3pPr>
            <a:lvl4pPr marL="987425" marR="0" lvl="3" indent="-262255" fontAlgn="auto">
              <a:lnSpc>
                <a:spcPct val="120000"/>
              </a:lnSpc>
              <a:spcBef>
                <a:spcPts val="0"/>
              </a:spcBef>
              <a:spcAft>
                <a:spcPts val="300"/>
              </a:spcAft>
              <a:buFont typeface="Wingdings" panose="05000000000000000000" charset="0"/>
              <a:buChar char=""/>
              <a:tabLst>
                <a:tab pos="899795" algn="l"/>
              </a:tabLst>
              <a:defRPr kumimoji="0" sz="1400" b="0" i="0" u="none" strike="noStrike" cap="none" spc="150" normalizeH="0" baseline="0">
                <a:ln>
                  <a:noFill/>
                  <a:prstDash val="sysDot"/>
                </a:ln>
                <a:solidFill>
                  <a:schemeClr val="tx1">
                    <a:lumMod val="50000"/>
                    <a:lumOff val="50000"/>
                  </a:schemeClr>
                </a:solidFill>
                <a:uFillTx/>
                <a:latin typeface="+mn-ea"/>
                <a:ea typeface="+mn-ea"/>
              </a:defRPr>
            </a:lvl4pPr>
            <a:lvl5pPr marL="1256030" marR="0" lvl="4" indent="-262255"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ln>
                  <a:noFill/>
                  <a:prstDash val="sysDot"/>
                </a:ln>
                <a:solidFill>
                  <a:schemeClr val="tx1">
                    <a:lumMod val="50000"/>
                    <a:lumOff val="50000"/>
                  </a:schemeClr>
                </a:solidFill>
                <a:uFillTx/>
                <a:latin typeface="+mn-ea"/>
                <a:ea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14" name="任意多边形 13"/>
          <p:cNvSpPr/>
          <p:nvPr userDrawn="1">
            <p:custDataLst>
              <p:tags r:id="rId2"/>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4" name="日期占位符 3"/>
          <p:cNvSpPr>
            <a:spLocks noGrp="1"/>
          </p:cNvSpPr>
          <p:nvPr>
            <p:ph type="dt" sz="half" idx="10"/>
            <p:custDataLst>
              <p:tags r:id="rId3"/>
            </p:custDataLst>
          </p:nvPr>
        </p:nvSpPr>
        <p:spPr>
          <a:xfrm>
            <a:off x="699135" y="6314440"/>
            <a:ext cx="2613025" cy="316865"/>
          </a:xfrm>
        </p:spPr>
        <p:txBody>
          <a:bodyPr/>
          <a:lstStyle/>
          <a:p>
            <a:fld id="{760FBDFE-C587-4B4C-A407-44438C67B59E}" type="datetimeFigureOut">
              <a:rPr lang="zh-CN" altLang="en-US" smtClean="0"/>
              <a:t>2025/4/13</a:t>
            </a:fld>
            <a:endParaRPr lang="zh-CN" altLang="en-US"/>
          </a:p>
        </p:txBody>
      </p:sp>
      <p:sp>
        <p:nvSpPr>
          <p:cNvPr id="5" name="页脚占位符 4"/>
          <p:cNvSpPr>
            <a:spLocks noGrp="1"/>
          </p:cNvSpPr>
          <p:nvPr>
            <p:ph type="ftr" sz="quarter" idx="11"/>
            <p:custDataLst>
              <p:tags r:id="rId4"/>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5"/>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itleOnly" preserve="1">
  <p:cSld name="标题和副标题">
    <p:spTree>
      <p:nvGrpSpPr>
        <p:cNvPr id="1" name=""/>
        <p:cNvGrpSpPr/>
        <p:nvPr/>
      </p:nvGrpSpPr>
      <p:grpSpPr>
        <a:xfrm>
          <a:off x="0" y="0"/>
          <a:ext cx="0" cy="0"/>
          <a:chOff x="0" y="0"/>
          <a:chExt cx="0" cy="0"/>
        </a:xfrm>
      </p:grpSpPr>
      <p:sp>
        <p:nvSpPr>
          <p:cNvPr id="8" name="任意多边形 7"/>
          <p:cNvSpPr/>
          <p:nvPr userDrawn="1">
            <p:custDataLst>
              <p:tags r:id="rId1"/>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副标题"/>
          <p:cNvSpPr txBox="1">
            <a:spLocks noGrp="1"/>
          </p:cNvSpPr>
          <p:nvPr>
            <p:ph type="body" idx="2" hasCustomPrompt="1"/>
            <p:custDataLst>
              <p:tags r:id="rId2"/>
            </p:custDataLst>
          </p:nvPr>
        </p:nvSpPr>
        <p:spPr>
          <a:xfrm>
            <a:off x="695960" y="1301750"/>
            <a:ext cx="10799088" cy="405553"/>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zh-CN" altLang="en-US" sz="2000" b="0" i="0" u="none" strike="noStrike" kern="1200" cap="none" spc="300" normalizeH="0" baseline="0" noProof="1" dirty="0">
                <a:solidFill>
                  <a:schemeClr val="tx1">
                    <a:lumMod val="75000"/>
                    <a:lumOff val="25000"/>
                  </a:schemeClr>
                </a:solidFill>
                <a:latin typeface="+mn-lt"/>
                <a:ea typeface="+mn-lt"/>
                <a:cs typeface="MiSans Normal" panose="00000500000000000000" charset="-122"/>
              </a:defRPr>
            </a:lvl1pPr>
          </a:lstStyle>
          <a:p>
            <a:pPr lvl="0" algn="l"/>
            <a:r>
              <a:rPr>
                <a:sym typeface="+mn-ea"/>
              </a:rPr>
              <a:t>单击此处编辑母版副标题样式</a:t>
            </a:r>
          </a:p>
        </p:txBody>
      </p:sp>
      <p:sp>
        <p:nvSpPr>
          <p:cNvPr id="6" name="标题"/>
          <p:cNvSpPr txBox="1">
            <a:spLocks noGrp="1"/>
          </p:cNvSpPr>
          <p:nvPr>
            <p:ph type="title" idx="1"/>
            <p:custDataLst>
              <p:tags r:id="rId3"/>
            </p:custDataLst>
          </p:nvPr>
        </p:nvSpPr>
        <p:spPr>
          <a:xfrm>
            <a:off x="695960" y="360000"/>
            <a:ext cx="10800080" cy="720000"/>
          </a:xfrm>
          <a:prstGeom prst="rect">
            <a:avLst/>
          </a:prstGeom>
          <a:noFill/>
        </p:spPr>
        <p:txBody>
          <a:bodyPr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200" b="0" i="0" u="none" strike="noStrike" kern="1200" cap="none" spc="300" normalizeH="0" baseline="0" noProof="1" dirty="0">
                <a:ln>
                  <a:noFill/>
                  <a:prstDash val="sysDot"/>
                </a:ln>
                <a:solidFill>
                  <a:schemeClr val="tx1">
                    <a:lumMod val="85000"/>
                    <a:lumOff val="15000"/>
                  </a:schemeClr>
                </a:solidFill>
                <a:latin typeface="+mj-lt"/>
                <a:ea typeface="+mj-lt"/>
                <a:cs typeface="MiSans Normal" panose="00000500000000000000" charset="-122"/>
                <a:sym typeface="+mn-ea"/>
              </a:defRPr>
            </a:lvl1pPr>
          </a:lstStyle>
          <a:p>
            <a:pPr lvl="0" algn="l">
              <a:buClrTx/>
              <a:buSzTx/>
              <a:buFontTx/>
            </a:pPr>
            <a:r>
              <a:rPr>
                <a:sym typeface="+mn-ea"/>
              </a:rPr>
              <a:t>单击此处编辑母版标题样式</a:t>
            </a:r>
          </a:p>
        </p:txBody>
      </p:sp>
      <p:sp>
        <p:nvSpPr>
          <p:cNvPr id="3" name="日期占位符 2"/>
          <p:cNvSpPr>
            <a:spLocks noGrp="1"/>
          </p:cNvSpPr>
          <p:nvPr>
            <p:ph type="dt" sz="half" idx="10"/>
            <p:custDataLst>
              <p:tags r:id="rId4"/>
            </p:custDataLst>
          </p:nvPr>
        </p:nvSpPr>
        <p:spPr>
          <a:xfrm>
            <a:off x="694055" y="6314440"/>
            <a:ext cx="2618105" cy="316865"/>
          </a:xfrm>
        </p:spPr>
        <p:txBody>
          <a:bodyPr/>
          <a:lstStyle/>
          <a:p>
            <a:fld id="{760FBDFE-C587-4B4C-A407-44438C67B59E}" type="datetimeFigureOut">
              <a:rPr lang="zh-CN" altLang="en-US" smtClean="0"/>
              <a:t>2025/4/13</a:t>
            </a:fld>
            <a:endParaRPr lang="zh-CN" altLang="en-US"/>
          </a:p>
        </p:txBody>
      </p:sp>
      <p:sp>
        <p:nvSpPr>
          <p:cNvPr id="4" name="页脚占位符 3"/>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5" name="灯片编号占位符 4"/>
          <p:cNvSpPr>
            <a:spLocks noGrp="1"/>
          </p:cNvSpPr>
          <p:nvPr>
            <p:ph type="sldNum" sz="quarter" idx="12"/>
            <p:custDataLst>
              <p:tags r:id="rId6"/>
            </p:custDataLst>
          </p:nvPr>
        </p:nvSpPr>
        <p:spPr>
          <a:xfrm>
            <a:off x="8877300" y="6314440"/>
            <a:ext cx="2618740" cy="316865"/>
          </a:xfrm>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末尾幻灯片">
    <p:bg>
      <p:bgPr>
        <a:solidFill>
          <a:schemeClr val="bg2"/>
        </a:solidFill>
        <a:effectLst/>
      </p:bgPr>
    </p:bg>
    <p:spTree>
      <p:nvGrpSpPr>
        <p:cNvPr id="1" name=""/>
        <p:cNvGrpSpPr/>
        <p:nvPr/>
      </p:nvGrpSpPr>
      <p:grpSpPr>
        <a:xfrm>
          <a:off x="0" y="0"/>
          <a:ext cx="0" cy="0"/>
          <a:chOff x="0" y="0"/>
          <a:chExt cx="0" cy="0"/>
        </a:xfrm>
      </p:grpSpPr>
      <p:sp>
        <p:nvSpPr>
          <p:cNvPr id="23" name="任意多边形 22"/>
          <p:cNvSpPr/>
          <p:nvPr userDrawn="1">
            <p:custDataLst>
              <p:tags r:id="rId1"/>
            </p:custDataLst>
          </p:nvPr>
        </p:nvSpPr>
        <p:spPr>
          <a:xfrm>
            <a:off x="-14605" y="-1"/>
            <a:ext cx="6006465" cy="6858001"/>
          </a:xfrm>
          <a:custGeom>
            <a:avLst/>
            <a:gdLst/>
            <a:ahLst/>
            <a:cxnLst>
              <a:cxn ang="3">
                <a:pos x="hc" y="t"/>
              </a:cxn>
              <a:cxn ang="cd2">
                <a:pos x="l" y="vc"/>
              </a:cxn>
              <a:cxn ang="cd4">
                <a:pos x="hc" y="b"/>
              </a:cxn>
              <a:cxn ang="0">
                <a:pos x="r" y="vc"/>
              </a:cxn>
            </a:cxnLst>
            <a:rect l="l" t="t" r="r" b="b"/>
            <a:pathLst>
              <a:path w="9459" h="10862">
                <a:moveTo>
                  <a:pt x="0" y="0"/>
                </a:moveTo>
                <a:lnTo>
                  <a:pt x="7595" y="0"/>
                </a:lnTo>
                <a:lnTo>
                  <a:pt x="7612" y="22"/>
                </a:lnTo>
                <a:cubicBezTo>
                  <a:pt x="8770" y="1514"/>
                  <a:pt x="9459" y="3388"/>
                  <a:pt x="9459" y="5423"/>
                </a:cubicBezTo>
                <a:cubicBezTo>
                  <a:pt x="9459" y="7458"/>
                  <a:pt x="8770" y="9332"/>
                  <a:pt x="7612" y="10824"/>
                </a:cubicBezTo>
                <a:lnTo>
                  <a:pt x="7582" y="10862"/>
                </a:lnTo>
                <a:lnTo>
                  <a:pt x="0" y="10862"/>
                </a:lnTo>
                <a:lnTo>
                  <a:pt x="0" y="0"/>
                </a:lnTo>
                <a:close/>
              </a:path>
            </a:pathLst>
          </a:custGeom>
          <a:solidFill>
            <a:schemeClr val="bg2"/>
          </a:solidFill>
          <a:ln>
            <a:noFill/>
          </a:ln>
          <a:effectLst>
            <a:outerShdw blurRad="495300" dist="38100" dir="2700000" algn="tl" rotWithShape="0">
              <a:schemeClr val="accent1">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cs typeface="MiSans Normal" panose="00000500000000000000" charset="-122"/>
            </a:endParaRPr>
          </a:p>
        </p:txBody>
      </p:sp>
      <p:sp>
        <p:nvSpPr>
          <p:cNvPr id="24" name="任意多边形 23"/>
          <p:cNvSpPr/>
          <p:nvPr userDrawn="1">
            <p:custDataLst>
              <p:tags r:id="rId2"/>
            </p:custDataLst>
          </p:nvPr>
        </p:nvSpPr>
        <p:spPr>
          <a:xfrm rot="16200000">
            <a:off x="-1383664" y="1369058"/>
            <a:ext cx="6858000" cy="4119881"/>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0858" h="6488">
                <a:moveTo>
                  <a:pt x="0" y="0"/>
                </a:moveTo>
                <a:lnTo>
                  <a:pt x="10858" y="0"/>
                </a:lnTo>
                <a:lnTo>
                  <a:pt x="10858" y="2789"/>
                </a:lnTo>
                <a:lnTo>
                  <a:pt x="10834" y="2850"/>
                </a:lnTo>
                <a:cubicBezTo>
                  <a:pt x="9962" y="4984"/>
                  <a:pt x="7865" y="6488"/>
                  <a:pt x="5417" y="6488"/>
                </a:cubicBezTo>
                <a:cubicBezTo>
                  <a:pt x="2982" y="6488"/>
                  <a:pt x="895" y="5001"/>
                  <a:pt x="15" y="2885"/>
                </a:cubicBezTo>
                <a:lnTo>
                  <a:pt x="0" y="2849"/>
                </a:lnTo>
                <a:lnTo>
                  <a:pt x="0" y="0"/>
                </a:lnTo>
                <a:close/>
              </a:path>
            </a:pathLst>
          </a:custGeom>
          <a:solidFill>
            <a:schemeClr val="bg2"/>
          </a:solidFill>
          <a:ln>
            <a:noFill/>
          </a:ln>
          <a:effectLst>
            <a:outerShdw blurRad="495300" dist="152400" dir="2700000"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26" name="任意多边形 25"/>
          <p:cNvSpPr/>
          <p:nvPr userDrawn="1">
            <p:custDataLst>
              <p:tags r:id="rId3"/>
            </p:custDataLst>
          </p:nvPr>
        </p:nvSpPr>
        <p:spPr>
          <a:xfrm rot="16200000">
            <a:off x="-1336642" y="2318743"/>
            <a:ext cx="4864351" cy="222027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660" h="3514">
                <a:moveTo>
                  <a:pt x="0" y="0"/>
                </a:moveTo>
                <a:lnTo>
                  <a:pt x="7660" y="0"/>
                </a:lnTo>
                <a:lnTo>
                  <a:pt x="7659" y="14"/>
                </a:lnTo>
                <a:cubicBezTo>
                  <a:pt x="7485" y="1975"/>
                  <a:pt x="5837" y="3514"/>
                  <a:pt x="3830" y="3514"/>
                </a:cubicBezTo>
                <a:cubicBezTo>
                  <a:pt x="1822" y="3514"/>
                  <a:pt x="173" y="1974"/>
                  <a:pt x="1" y="10"/>
                </a:cubicBezTo>
                <a:lnTo>
                  <a:pt x="0" y="0"/>
                </a:lnTo>
                <a:close/>
              </a:path>
            </a:pathLst>
          </a:custGeom>
          <a:solidFill>
            <a:schemeClr val="bg2"/>
          </a:solidFill>
          <a:ln>
            <a:noFill/>
          </a:ln>
          <a:effectLst>
            <a:outerShdw blurRad="495300" dist="38100" dir="2700000" algn="tl"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cs typeface="MiSans Normal" panose="00000500000000000000" charset="-122"/>
            </a:endParaRPr>
          </a:p>
        </p:txBody>
      </p:sp>
      <p:sp>
        <p:nvSpPr>
          <p:cNvPr id="30" name="圆角矩形 29"/>
          <p:cNvSpPr/>
          <p:nvPr userDrawn="1">
            <p:custDataLst>
              <p:tags r:id="rId4"/>
            </p:custDataLst>
          </p:nvPr>
        </p:nvSpPr>
        <p:spPr>
          <a:xfrm rot="10800000">
            <a:off x="5155565" y="3855720"/>
            <a:ext cx="5383530" cy="111125"/>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zh-CN" altLang="en-US">
              <a:cs typeface="MiSans Normal" panose="00000500000000000000" charset="-122"/>
            </a:endParaRPr>
          </a:p>
        </p:txBody>
      </p:sp>
      <p:cxnSp>
        <p:nvCxnSpPr>
          <p:cNvPr id="32" name="直接连接符 31"/>
          <p:cNvCxnSpPr/>
          <p:nvPr userDrawn="1">
            <p:custDataLst>
              <p:tags r:id="rId5"/>
            </p:custDataLst>
          </p:nvPr>
        </p:nvCxnSpPr>
        <p:spPr>
          <a:xfrm>
            <a:off x="11197590" y="2981325"/>
            <a:ext cx="215900" cy="0"/>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userDrawn="1">
            <p:custDataLst>
              <p:tags r:id="rId6"/>
            </p:custDataLst>
          </p:nvPr>
        </p:nvCxnSpPr>
        <p:spPr>
          <a:xfrm>
            <a:off x="11305540" y="1912620"/>
            <a:ext cx="0" cy="59499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userDrawn="1">
            <p:custDataLst>
              <p:tags r:id="rId7"/>
            </p:custDataLst>
          </p:nvPr>
        </p:nvCxnSpPr>
        <p:spPr>
          <a:xfrm>
            <a:off x="11305540" y="3455035"/>
            <a:ext cx="0" cy="636905"/>
          </a:xfrm>
          <a:prstGeom prst="line">
            <a:avLst/>
          </a:prstGeom>
          <a:ln w="952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7" name="椭圆 36"/>
          <p:cNvSpPr/>
          <p:nvPr userDrawn="1">
            <p:custDataLst>
              <p:tags r:id="rId8"/>
            </p:custDataLst>
          </p:nvPr>
        </p:nvSpPr>
        <p:spPr>
          <a:xfrm>
            <a:off x="10016490" y="4434205"/>
            <a:ext cx="538480" cy="538480"/>
          </a:xfrm>
          <a:prstGeom prst="ellipse">
            <a:avLst/>
          </a:prstGeom>
          <a:solidFill>
            <a:schemeClr val="accent1">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a:bodyPr>
          <a:lstStyle/>
          <a:p>
            <a:pPr algn="ctr"/>
            <a:endParaRPr lang="zh-CN" altLang="en-US">
              <a:cs typeface="MiSans Normal" panose="00000500000000000000" charset="-122"/>
            </a:endParaRPr>
          </a:p>
        </p:txBody>
      </p:sp>
      <p:sp>
        <p:nvSpPr>
          <p:cNvPr id="38" name="椭圆 37"/>
          <p:cNvSpPr/>
          <p:nvPr userDrawn="1">
            <p:custDataLst>
              <p:tags r:id="rId9"/>
            </p:custDataLst>
          </p:nvPr>
        </p:nvSpPr>
        <p:spPr>
          <a:xfrm>
            <a:off x="10123170" y="4540885"/>
            <a:ext cx="325120" cy="32512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62500" lnSpcReduction="20000"/>
          </a:bodyPr>
          <a:lstStyle/>
          <a:p>
            <a:pPr algn="ctr"/>
            <a:endParaRPr lang="zh-CN" altLang="en-US">
              <a:cs typeface="MiSans Normal" panose="00000500000000000000" charset="-122"/>
            </a:endParaRPr>
          </a:p>
        </p:txBody>
      </p:sp>
      <p:sp>
        <p:nvSpPr>
          <p:cNvPr id="39" name="向下箭头"/>
          <p:cNvSpPr/>
          <p:nvPr userDrawn="1">
            <p:custDataLst>
              <p:tags r:id="rId10"/>
            </p:custDataLst>
          </p:nvPr>
        </p:nvSpPr>
        <p:spPr>
          <a:xfrm>
            <a:off x="10227310" y="4633595"/>
            <a:ext cx="118745" cy="139700"/>
          </a:xfrm>
          <a:custGeom>
            <a:avLst/>
            <a:gdLst>
              <a:gd name="connsiteX0" fmla="*/ 222512 w 477622"/>
              <a:gd name="connsiteY0" fmla="*/ 0 h 559381"/>
              <a:gd name="connsiteX1" fmla="*/ 258512 w 477622"/>
              <a:gd name="connsiteY1" fmla="*/ 0 h 559381"/>
              <a:gd name="connsiteX2" fmla="*/ 258512 w 477622"/>
              <a:gd name="connsiteY2" fmla="*/ 488296 h 559381"/>
              <a:gd name="connsiteX3" fmla="*/ 452168 w 477622"/>
              <a:gd name="connsiteY3" fmla="*/ 294641 h 559381"/>
              <a:gd name="connsiteX4" fmla="*/ 477622 w 477622"/>
              <a:gd name="connsiteY4" fmla="*/ 320096 h 559381"/>
              <a:gd name="connsiteX5" fmla="*/ 264266 w 477622"/>
              <a:gd name="connsiteY5" fmla="*/ 533452 h 559381"/>
              <a:gd name="connsiteX6" fmla="*/ 264740 w 477622"/>
              <a:gd name="connsiteY6" fmla="*/ 533926 h 559381"/>
              <a:gd name="connsiteX7" fmla="*/ 239284 w 477622"/>
              <a:gd name="connsiteY7" fmla="*/ 559381 h 559381"/>
              <a:gd name="connsiteX8" fmla="*/ 238812 w 477622"/>
              <a:gd name="connsiteY8" fmla="*/ 558908 h 559381"/>
              <a:gd name="connsiteX9" fmla="*/ 238338 w 477622"/>
              <a:gd name="connsiteY9" fmla="*/ 559381 h 559381"/>
              <a:gd name="connsiteX10" fmla="*/ 212882 w 477622"/>
              <a:gd name="connsiteY10" fmla="*/ 533926 h 559381"/>
              <a:gd name="connsiteX11" fmla="*/ 213356 w 477622"/>
              <a:gd name="connsiteY11" fmla="*/ 533452 h 559381"/>
              <a:gd name="connsiteX12" fmla="*/ 0 w 477622"/>
              <a:gd name="connsiteY12" fmla="*/ 320096 h 559381"/>
              <a:gd name="connsiteX13" fmla="*/ 25456 w 477622"/>
              <a:gd name="connsiteY13" fmla="*/ 294641 h 559381"/>
              <a:gd name="connsiteX14" fmla="*/ 222512 w 477622"/>
              <a:gd name="connsiteY14" fmla="*/ 491698 h 559381"/>
              <a:gd name="connsiteX15" fmla="*/ 222512 w 477622"/>
              <a:gd name="connsiteY15" fmla="*/ 0 h 5593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77622" h="559381">
                <a:moveTo>
                  <a:pt x="222512" y="0"/>
                </a:moveTo>
                <a:lnTo>
                  <a:pt x="258512" y="0"/>
                </a:lnTo>
                <a:lnTo>
                  <a:pt x="258512" y="488296"/>
                </a:lnTo>
                <a:lnTo>
                  <a:pt x="452168" y="294641"/>
                </a:lnTo>
                <a:lnTo>
                  <a:pt x="477622" y="320096"/>
                </a:lnTo>
                <a:lnTo>
                  <a:pt x="264266" y="533452"/>
                </a:lnTo>
                <a:lnTo>
                  <a:pt x="264740" y="533926"/>
                </a:lnTo>
                <a:lnTo>
                  <a:pt x="239284" y="559381"/>
                </a:lnTo>
                <a:lnTo>
                  <a:pt x="238812" y="558908"/>
                </a:lnTo>
                <a:lnTo>
                  <a:pt x="238338" y="559381"/>
                </a:lnTo>
                <a:lnTo>
                  <a:pt x="212882" y="533926"/>
                </a:lnTo>
                <a:lnTo>
                  <a:pt x="213356" y="533452"/>
                </a:lnTo>
                <a:lnTo>
                  <a:pt x="0" y="320096"/>
                </a:lnTo>
                <a:lnTo>
                  <a:pt x="25456" y="294641"/>
                </a:lnTo>
                <a:lnTo>
                  <a:pt x="222512" y="491698"/>
                </a:lnTo>
                <a:lnTo>
                  <a:pt x="222512" y="0"/>
                </a:lnTo>
                <a:close/>
              </a:path>
            </a:pathLst>
          </a:cu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fontScale="250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44" name="任意多边形 43"/>
          <p:cNvSpPr/>
          <p:nvPr userDrawn="1">
            <p:custDataLst>
              <p:tags r:id="rId11"/>
            </p:custDataLst>
          </p:nvPr>
        </p:nvSpPr>
        <p:spPr>
          <a:xfrm>
            <a:off x="8945880" y="5997575"/>
            <a:ext cx="3246120" cy="860425"/>
          </a:xfrm>
          <a:custGeom>
            <a:avLst/>
            <a:gdLst/>
            <a:ahLst/>
            <a:cxnLst>
              <a:cxn ang="3">
                <a:pos x="hc" y="t"/>
              </a:cxn>
              <a:cxn ang="cd2">
                <a:pos x="l" y="vc"/>
              </a:cxn>
              <a:cxn ang="cd4">
                <a:pos x="hc" y="b"/>
              </a:cxn>
              <a:cxn ang="0">
                <a:pos x="r" y="vc"/>
              </a:cxn>
            </a:cxnLst>
            <a:rect l="l" t="t" r="r" b="b"/>
            <a:pathLst>
              <a:path w="5112" h="1355">
                <a:moveTo>
                  <a:pt x="301" y="0"/>
                </a:moveTo>
                <a:lnTo>
                  <a:pt x="5112" y="0"/>
                </a:lnTo>
                <a:lnTo>
                  <a:pt x="5112" y="1355"/>
                </a:lnTo>
                <a:lnTo>
                  <a:pt x="0" y="1355"/>
                </a:lnTo>
                <a:lnTo>
                  <a:pt x="0" y="301"/>
                </a:lnTo>
                <a:cubicBezTo>
                  <a:pt x="0" y="135"/>
                  <a:pt x="135" y="0"/>
                  <a:pt x="301" y="0"/>
                </a:cubicBez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7" name="标题"/>
          <p:cNvSpPr txBox="1">
            <a:spLocks noGrp="1"/>
          </p:cNvSpPr>
          <p:nvPr>
            <p:ph type="title" idx="1" hasCustomPrompt="1"/>
            <p:custDataLst>
              <p:tags r:id="rId12"/>
            </p:custDataLst>
          </p:nvPr>
        </p:nvSpPr>
        <p:spPr>
          <a:xfrm>
            <a:off x="2418715" y="1901190"/>
            <a:ext cx="8250555" cy="1705610"/>
          </a:xfrm>
          <a:prstGeom prst="rect">
            <a:avLst/>
          </a:prstGeom>
          <a:noFill/>
        </p:spPr>
        <p:txBody>
          <a:bodyPr wrap="square" lIns="91440" tIns="45720" rIns="91440" bIns="45720" rtlCol="0" anchor="b" anchorCtr="0">
            <a:normAutofit/>
          </a:bodyPr>
          <a:lstStyle>
            <a:lvl1pPr marL="0" marR="0" lvl="0" algn="r" defTabSz="914400" rtl="0" eaLnBrk="1" fontAlgn="auto" latinLnBrk="0" hangingPunct="1">
              <a:lnSpc>
                <a:spcPct val="100000"/>
              </a:lnSpc>
              <a:buClrTx/>
              <a:buSzTx/>
              <a:buFontTx/>
              <a:buNone/>
              <a:defRPr kumimoji="0" lang="en-US" altLang="zh-CN" sz="7200" b="0" i="0" u="none" strike="noStrike" kern="1200" cap="none" spc="0" normalizeH="0" baseline="0" noProof="1">
                <a:solidFill>
                  <a:schemeClr val="tx1">
                    <a:lumMod val="85000"/>
                    <a:lumOff val="15000"/>
                  </a:schemeClr>
                </a:solidFill>
                <a:latin typeface="+mj-ea"/>
                <a:ea typeface="+mj-ea"/>
                <a:cs typeface="MiSans Heavy" panose="00000A00000000000000" charset="-122"/>
                <a:sym typeface="+mn-ea"/>
              </a:defRPr>
            </a:lvl1pPr>
          </a:lstStyle>
          <a:p>
            <a:pPr lvl="0" algn="r">
              <a:buClrTx/>
              <a:buSzTx/>
              <a:buFontTx/>
            </a:pPr>
            <a:r>
              <a:rPr>
                <a:sym typeface="+mn-ea"/>
              </a:rPr>
              <a:t>单击此处编辑标题</a:t>
            </a:r>
          </a:p>
        </p:txBody>
      </p:sp>
      <p:sp>
        <p:nvSpPr>
          <p:cNvPr id="4" name="日期占位符 3"/>
          <p:cNvSpPr>
            <a:spLocks noGrp="1"/>
          </p:cNvSpPr>
          <p:nvPr>
            <p:ph type="dt" sz="half" idx="10"/>
            <p:custDataLst>
              <p:tags r:id="rId13"/>
            </p:custDataLst>
          </p:nvPr>
        </p:nvSpPr>
        <p:spPr>
          <a:xfrm>
            <a:off x="612000" y="6314400"/>
            <a:ext cx="2700000" cy="316800"/>
          </a:xfrm>
        </p:spPr>
        <p:txBody>
          <a:bodyPr/>
          <a:lstStyle/>
          <a:p>
            <a:fld id="{760FBDFE-C587-4B4C-A407-44438C67B59E}" type="datetimeFigureOut">
              <a:rPr lang="zh-CN" altLang="en-US" smtClean="0"/>
              <a:t>2025/4/13</a:t>
            </a:fld>
            <a:endParaRPr lang="zh-CN" altLang="en-US"/>
          </a:p>
        </p:txBody>
      </p:sp>
      <p:sp>
        <p:nvSpPr>
          <p:cNvPr id="5" name="页脚占位符 4"/>
          <p:cNvSpPr>
            <a:spLocks noGrp="1"/>
          </p:cNvSpPr>
          <p:nvPr>
            <p:ph type="ftr" sz="quarter" idx="11"/>
            <p:custDataLst>
              <p:tags r:id="rId14"/>
            </p:custDataLst>
          </p:nvPr>
        </p:nvSpPr>
        <p:spPr>
          <a:xfrm>
            <a:off x="4116000" y="6314400"/>
            <a:ext cx="3960000" cy="316800"/>
          </a:xfrm>
        </p:spPr>
        <p:txBody>
          <a:bodyPr/>
          <a:lstStyle/>
          <a:p>
            <a:endParaRPr lang="zh-CN" altLang="en-US" dirty="0"/>
          </a:p>
        </p:txBody>
      </p:sp>
      <p:sp>
        <p:nvSpPr>
          <p:cNvPr id="6" name="灯片编号占位符 5"/>
          <p:cNvSpPr>
            <a:spLocks noGrp="1"/>
          </p:cNvSpPr>
          <p:nvPr>
            <p:ph type="sldNum" sz="quarter" idx="12"/>
            <p:custDataLst>
              <p:tags r:id="rId15"/>
            </p:custDataLst>
          </p:nvPr>
        </p:nvSpPr>
        <p:spPr>
          <a:xfrm>
            <a:off x="8877600" y="6314400"/>
            <a:ext cx="2700000" cy="316800"/>
          </a:xfrm>
        </p:spPr>
        <p:txBody>
          <a:bodyPr/>
          <a:lstStyle/>
          <a:p>
            <a:fld id="{49AE70B2-8BF9-45C0-BB95-33D1B9D3A854}" type="slidenum">
              <a:rPr lang="zh-CN" altLang="en-US" smtClean="0"/>
              <a:t>‹#›</a:t>
            </a:fld>
            <a:endParaRPr lang="zh-CN" altLang="en-US" dirty="0"/>
          </a:p>
        </p:txBody>
      </p:sp>
      <p:sp>
        <p:nvSpPr>
          <p:cNvPr id="18" name="署名占位符 10"/>
          <p:cNvSpPr>
            <a:spLocks noGrp="1"/>
          </p:cNvSpPr>
          <p:nvPr>
            <p:ph type="body" sz="quarter" idx="17" hasCustomPrompt="1"/>
            <p:custDataLst>
              <p:tags r:id="rId16"/>
            </p:custDataLst>
          </p:nvPr>
        </p:nvSpPr>
        <p:spPr>
          <a:xfrm>
            <a:off x="2418715" y="4375145"/>
            <a:ext cx="7444103" cy="656600"/>
          </a:xfrm>
        </p:spPr>
        <p:txBody>
          <a:bodyPr wrap="square" anchor="ctr">
            <a:normAutofit/>
          </a:bodyPr>
          <a:lstStyle>
            <a:lvl1pPr marL="0" indent="0" algn="r">
              <a:lnSpc>
                <a:spcPct val="100000"/>
              </a:lnSpc>
              <a:buNone/>
              <a:defRPr sz="2000" b="0">
                <a:solidFill>
                  <a:schemeClr val="tx1"/>
                </a:solidFill>
                <a:latin typeface="+mj-ea"/>
                <a:ea typeface="+mj-ea"/>
              </a:defRPr>
            </a:lvl1pPr>
          </a:lstStyle>
          <a:p>
            <a:pPr lvl="0"/>
            <a:r>
              <a:rPr lang="zh-CN" altLang="en-US" dirty="0"/>
              <a:t>署名</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任意多边形 6"/>
          <p:cNvSpPr/>
          <p:nvPr userDrawn="1">
            <p:custDataLst>
              <p:tags r:id="rId14"/>
            </p:custDataLst>
          </p:nvPr>
        </p:nvSpPr>
        <p:spPr>
          <a:xfrm rot="5400000" flipV="1">
            <a:off x="-300990" y="301625"/>
            <a:ext cx="987425" cy="384810"/>
          </a:xfrm>
          <a:custGeom>
            <a:avLst/>
            <a:gdLst/>
            <a:ahLst/>
            <a:cxnLst>
              <a:cxn ang="3">
                <a:pos x="hc" y="t"/>
              </a:cxn>
              <a:cxn ang="cd2">
                <a:pos x="l" y="vc"/>
              </a:cxn>
              <a:cxn ang="cd4">
                <a:pos x="hc" y="b"/>
              </a:cxn>
              <a:cxn ang="0">
                <a:pos x="r" y="vc"/>
              </a:cxn>
            </a:cxnLst>
            <a:rect l="l" t="t" r="r" b="b"/>
            <a:pathLst>
              <a:path w="2001" h="606">
                <a:moveTo>
                  <a:pt x="0" y="0"/>
                </a:moveTo>
                <a:lnTo>
                  <a:pt x="2001" y="0"/>
                </a:lnTo>
                <a:lnTo>
                  <a:pt x="2001" y="256"/>
                </a:lnTo>
                <a:cubicBezTo>
                  <a:pt x="2001" y="450"/>
                  <a:pt x="1845" y="606"/>
                  <a:pt x="1651" y="606"/>
                </a:cubicBezTo>
                <a:lnTo>
                  <a:pt x="0" y="606"/>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MiSans Normal" panose="00000500000000000000" charset="-122"/>
            </a:endParaRPr>
          </a:p>
        </p:txBody>
      </p:sp>
      <p:sp>
        <p:nvSpPr>
          <p:cNvPr id="9" name="日期占位符 8"/>
          <p:cNvSpPr>
            <a:spLocks noGrp="1"/>
          </p:cNvSpPr>
          <p:nvPr>
            <p:ph type="dt" sz="half" idx="10"/>
            <p:custDataLst>
              <p:tags r:id="rId15"/>
            </p:custDataLst>
          </p:nvPr>
        </p:nvSpPr>
        <p:spPr>
          <a:xfrm>
            <a:off x="695960" y="6356350"/>
            <a:ext cx="2743200" cy="365125"/>
          </a:xfrm>
        </p:spPr>
        <p:txBody>
          <a:bodyPr/>
          <a:lstStyle/>
          <a:p>
            <a:fld id="{760FBDFE-C587-4B4C-A407-44438C67B59E}" type="datetimeFigureOut">
              <a:rPr lang="zh-CN" altLang="en-US" smtClean="0"/>
              <a:t>2025/4/13</a:t>
            </a:fld>
            <a:endParaRPr lang="zh-CN" altLang="en-US"/>
          </a:p>
        </p:txBody>
      </p:sp>
      <p:sp>
        <p:nvSpPr>
          <p:cNvPr id="10" name="页脚占位符 9"/>
          <p:cNvSpPr>
            <a:spLocks noGrp="1"/>
          </p:cNvSpPr>
          <p:nvPr>
            <p:ph type="ftr" sz="quarter" idx="11"/>
            <p:custDataLst>
              <p:tags r:id="rId16"/>
            </p:custDataLst>
          </p:nvPr>
        </p:nvSpPr>
        <p:spPr>
          <a:xfrm>
            <a:off x="4038600" y="6356350"/>
            <a:ext cx="4114800" cy="365125"/>
          </a:xfrm>
        </p:spPr>
        <p:txBody>
          <a:bodyPr/>
          <a:lstStyle/>
          <a:p>
            <a:endParaRPr lang="zh-CN" altLang="en-US" dirty="0"/>
          </a:p>
        </p:txBody>
      </p:sp>
      <p:sp>
        <p:nvSpPr>
          <p:cNvPr id="11" name="灯片编号占位符 10"/>
          <p:cNvSpPr>
            <a:spLocks noGrp="1"/>
          </p:cNvSpPr>
          <p:nvPr>
            <p:ph type="sldNum" sz="quarter" idx="12"/>
            <p:custDataLst>
              <p:tags r:id="rId17"/>
            </p:custDataLst>
          </p:nvPr>
        </p:nvSpPr>
        <p:spPr>
          <a:xfrm>
            <a:off x="8753983" y="6356350"/>
            <a:ext cx="2743200" cy="365125"/>
          </a:xfrm>
        </p:spPr>
        <p:txBody>
          <a:bodyPr/>
          <a:lstStyle/>
          <a:p>
            <a:fld id="{49AE70B2-8BF9-45C0-BB95-33D1B9D3A854}" type="slidenum">
              <a:rPr lang="zh-CN" altLang="en-US" smtClean="0"/>
              <a:t>‹#›</a:t>
            </a:fld>
            <a:endParaRPr lang="zh-CN" altLang="en-US" dirty="0"/>
          </a:p>
        </p:txBody>
      </p:sp>
      <p:sp>
        <p:nvSpPr>
          <p:cNvPr id="2" name="标题占位符 1"/>
          <p:cNvSpPr>
            <a:spLocks noGrp="1"/>
          </p:cNvSpPr>
          <p:nvPr>
            <p:ph type="title"/>
            <p:custDataLst>
              <p:tags r:id="rId18"/>
            </p:custDataLst>
          </p:nvPr>
        </p:nvSpPr>
        <p:spPr>
          <a:xfrm>
            <a:off x="695960" y="360000"/>
            <a:ext cx="10800000" cy="720000"/>
          </a:xfrm>
          <a:prstGeom prst="rect">
            <a:avLst/>
          </a:prstGeom>
          <a:noFill/>
        </p:spPr>
        <p:txBody>
          <a:bodyPr vert="horz" wrap="square" lIns="0" tIns="0" rIns="0" bIns="0" rtlCol="0" anchor="b" anchorCtr="0">
            <a:normAutofit/>
          </a:bodyPr>
          <a:lstStyle/>
          <a:p>
            <a:pPr marL="0" marR="0" lvl="0">
              <a:buClrTx/>
              <a:buSzTx/>
              <a:buFontTx/>
            </a:pPr>
            <a:r>
              <a:rPr lang="zh-CN" altLang="en-US" dirty="0"/>
              <a:t>单击此处编辑母版标题样式</a:t>
            </a:r>
          </a:p>
        </p:txBody>
      </p:sp>
      <p:sp>
        <p:nvSpPr>
          <p:cNvPr id="3" name="文本占位符 2"/>
          <p:cNvSpPr>
            <a:spLocks noGrp="1"/>
          </p:cNvSpPr>
          <p:nvPr>
            <p:ph type="body" idx="1"/>
            <p:custDataLst>
              <p:tags r:id="rId19"/>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KSO_TEMPLATE" hidden="1"/>
          <p:cNvSpPr/>
          <p:nvPr userDrawn="1">
            <p:custDataLst>
              <p:tags r:id="rId20"/>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3"/>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ea"/>
          <a:ea typeface="+mn-ea"/>
          <a:cs typeface="MiSans Normal" panose="00000500000000000000"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ea"/>
          <a:ea typeface="+mn-ea"/>
          <a:cs typeface="MiSans Normal" panose="00000500000000000000"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ea"/>
          <a:ea typeface="+mn-ea"/>
          <a:cs typeface="MiSans Normal" panose="00000500000000000000"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ea"/>
          <a:ea typeface="+mn-ea"/>
          <a:cs typeface="MiSans Normal" panose="00000500000000000000"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ea"/>
          <a:ea typeface="+mn-ea"/>
          <a:cs typeface="MiSans Normal" panose="000005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1.pn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png"/></Relationships>
</file>

<file path=ppt/slides/_rels/slide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8.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9.png"/><Relationship Id="rId9" Type="http://schemas.openxmlformats.org/officeDocument/2006/relationships/image" Target="../media/image24.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 Target="slide70.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8.xml"/><Relationship Id="rId5" Type="http://schemas.openxmlformats.org/officeDocument/2006/relationships/image" Target="../media/image34.png"/><Relationship Id="rId4" Type="http://schemas.openxmlformats.org/officeDocument/2006/relationships/image" Target="../media/image33.png"/></Relationships>
</file>

<file path=ppt/slides/_rels/slide10.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8.xml"/><Relationship Id="rId6" Type="http://schemas.openxmlformats.org/officeDocument/2006/relationships/image" Target="../media/image40.png"/><Relationship Id="rId5" Type="http://schemas.openxmlformats.org/officeDocument/2006/relationships/image" Target="../media/image38.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4.png"/><Relationship Id="rId7" Type="http://schemas.openxmlformats.org/officeDocument/2006/relationships/image" Target="../media/image38.png"/><Relationship Id="rId2" Type="http://schemas.openxmlformats.org/officeDocument/2006/relationships/image" Target="../media/image43.png"/><Relationship Id="rId1" Type="http://schemas.openxmlformats.org/officeDocument/2006/relationships/slideLayout" Target="../slideLayouts/slideLayout8.xml"/><Relationship Id="rId6" Type="http://schemas.openxmlformats.org/officeDocument/2006/relationships/image" Target="../media/image46.png"/><Relationship Id="rId5" Type="http://schemas.openxmlformats.org/officeDocument/2006/relationships/image" Target="../media/image45.png"/><Relationship Id="rId10" Type="http://schemas.openxmlformats.org/officeDocument/2006/relationships/image" Target="../media/image49.png"/><Relationship Id="rId4" Type="http://schemas.openxmlformats.org/officeDocument/2006/relationships/image" Target="../media/image37.png"/><Relationship Id="rId9" Type="http://schemas.openxmlformats.org/officeDocument/2006/relationships/image" Target="../media/image48.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50.png"/><Relationship Id="rId1" Type="http://schemas.openxmlformats.org/officeDocument/2006/relationships/slideLayout" Target="../slideLayouts/slideLayout8.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8.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 Id="rId9" Type="http://schemas.openxmlformats.org/officeDocument/2006/relationships/image" Target="../media/image58.png"/></Relationships>
</file>

<file path=ppt/slides/_rels/slide15.xml.rels><?xml version="1.0" encoding="UTF-8" standalone="yes"?>
<Relationships xmlns="http://schemas.openxmlformats.org/package/2006/relationships"><Relationship Id="rId3" Type="http://schemas.openxmlformats.org/officeDocument/2006/relationships/slide" Target="slide70.xml"/><Relationship Id="rId2" Type="http://schemas.openxmlformats.org/officeDocument/2006/relationships/image" Target="../media/image59.png"/><Relationship Id="rId1" Type="http://schemas.openxmlformats.org/officeDocument/2006/relationships/slideLayout" Target="../slideLayouts/slideLayout8.xml"/><Relationship Id="rId4" Type="http://schemas.openxmlformats.org/officeDocument/2006/relationships/image" Target="../media/image60.png"/></Relationships>
</file>

<file path=ppt/slides/_rels/slide1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slide" Target="slide70.xml"/><Relationship Id="rId1" Type="http://schemas.openxmlformats.org/officeDocument/2006/relationships/slideLayout" Target="../slideLayouts/slideLayout8.xml"/><Relationship Id="rId4" Type="http://schemas.openxmlformats.org/officeDocument/2006/relationships/image" Target="../media/image62.png"/></Relationships>
</file>

<file path=ppt/slides/_rels/slide1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3.png"/><Relationship Id="rId1" Type="http://schemas.openxmlformats.org/officeDocument/2006/relationships/slideLayout" Target="../slideLayouts/slideLayout8.xml"/><Relationship Id="rId4" Type="http://schemas.openxmlformats.org/officeDocument/2006/relationships/slide" Target="slide70.xml"/></Relationships>
</file>

<file path=ppt/slides/_rels/slide18.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64.png"/><Relationship Id="rId1" Type="http://schemas.openxmlformats.org/officeDocument/2006/relationships/slideLayout" Target="../slideLayouts/slideLayout8.xml"/><Relationship Id="rId6" Type="http://schemas.openxmlformats.org/officeDocument/2006/relationships/image" Target="../media/image68.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19.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73.png"/><Relationship Id="rId1" Type="http://schemas.openxmlformats.org/officeDocument/2006/relationships/slideLayout" Target="../slideLayouts/slideLayout8.xml"/><Relationship Id="rId6" Type="http://schemas.openxmlformats.org/officeDocument/2006/relationships/image" Target="../media/image68.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20.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8.xml"/><Relationship Id="rId4" Type="http://schemas.openxmlformats.org/officeDocument/2006/relationships/slide" Target="slide70.xml"/></Relationships>
</file>

<file path=ppt/slides/_rels/slide22.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8" Type="http://schemas.openxmlformats.org/officeDocument/2006/relationships/image" Target="../media/image532.png"/><Relationship Id="rId13" Type="http://schemas.openxmlformats.org/officeDocument/2006/relationships/image" Target="../media/image791.png"/><Relationship Id="rId7" Type="http://schemas.openxmlformats.org/officeDocument/2006/relationships/image" Target="../media/image522.png"/><Relationship Id="rId12" Type="http://schemas.openxmlformats.org/officeDocument/2006/relationships/image" Target="../media/image80.png"/><Relationship Id="rId2" Type="http://schemas.openxmlformats.org/officeDocument/2006/relationships/image" Target="../media/image78.png"/><Relationship Id="rId1" Type="http://schemas.openxmlformats.org/officeDocument/2006/relationships/slideLayout" Target="../slideLayouts/slideLayout8.xml"/><Relationship Id="rId11" Type="http://schemas.openxmlformats.org/officeDocument/2006/relationships/image" Target="../media/image79.png"/><Relationship Id="rId6" Type="http://schemas.openxmlformats.org/officeDocument/2006/relationships/image" Target="../media/image511.png"/><Relationship Id="rId10" Type="http://schemas.openxmlformats.org/officeDocument/2006/relationships/image" Target="../media/image551.png"/><Relationship Id="rId9" Type="http://schemas.openxmlformats.org/officeDocument/2006/relationships/image" Target="../media/image541.png"/></Relationships>
</file>

<file path=ppt/slides/_rels/slide24.xml.rels><?xml version="1.0" encoding="UTF-8" standalone="yes"?>
<Relationships xmlns="http://schemas.openxmlformats.org/package/2006/relationships"><Relationship Id="rId8" Type="http://schemas.openxmlformats.org/officeDocument/2006/relationships/image" Target="../media/image541.png"/><Relationship Id="rId13" Type="http://schemas.openxmlformats.org/officeDocument/2006/relationships/image" Target="../media/image511.png"/><Relationship Id="rId7" Type="http://schemas.openxmlformats.org/officeDocument/2006/relationships/image" Target="../media/image532.png"/><Relationship Id="rId12" Type="http://schemas.openxmlformats.org/officeDocument/2006/relationships/image" Target="../media/image791.png"/><Relationship Id="rId2" Type="http://schemas.openxmlformats.org/officeDocument/2006/relationships/image" Target="../media/image81.png"/><Relationship Id="rId1" Type="http://schemas.openxmlformats.org/officeDocument/2006/relationships/slideLayout" Target="../slideLayouts/slideLayout8.xml"/><Relationship Id="rId6" Type="http://schemas.openxmlformats.org/officeDocument/2006/relationships/image" Target="../media/image522.png"/><Relationship Id="rId11" Type="http://schemas.openxmlformats.org/officeDocument/2006/relationships/image" Target="../media/image80.png"/><Relationship Id="rId10" Type="http://schemas.openxmlformats.org/officeDocument/2006/relationships/image" Target="../media/image79.png"/><Relationship Id="rId9" Type="http://schemas.openxmlformats.org/officeDocument/2006/relationships/image" Target="../media/image551.png"/></Relationships>
</file>

<file path=ppt/slides/_rels/slide25.xml.rels><?xml version="1.0" encoding="UTF-8" standalone="yes"?>
<Relationships xmlns="http://schemas.openxmlformats.org/package/2006/relationships"><Relationship Id="rId8" Type="http://schemas.openxmlformats.org/officeDocument/2006/relationships/image" Target="../media/image532.png"/><Relationship Id="rId3" Type="http://schemas.openxmlformats.org/officeDocument/2006/relationships/image" Target="../media/image79.png"/><Relationship Id="rId7" Type="http://schemas.openxmlformats.org/officeDocument/2006/relationships/image" Target="../media/image521.png"/><Relationship Id="rId2" Type="http://schemas.openxmlformats.org/officeDocument/2006/relationships/image" Target="../media/image82.png"/><Relationship Id="rId1" Type="http://schemas.openxmlformats.org/officeDocument/2006/relationships/slideLayout" Target="../slideLayouts/slideLayout8.xml"/><Relationship Id="rId6" Type="http://schemas.openxmlformats.org/officeDocument/2006/relationships/image" Target="../media/image511.png"/><Relationship Id="rId5" Type="http://schemas.openxmlformats.org/officeDocument/2006/relationships/image" Target="../media/image791.png"/><Relationship Id="rId10" Type="http://schemas.openxmlformats.org/officeDocument/2006/relationships/image" Target="../media/image551.png"/><Relationship Id="rId4" Type="http://schemas.openxmlformats.org/officeDocument/2006/relationships/image" Target="../media/image801.png"/><Relationship Id="rId9" Type="http://schemas.openxmlformats.org/officeDocument/2006/relationships/image" Target="../media/image541.png"/></Relationships>
</file>

<file path=ppt/slides/_rels/slide26.xml.rels><?xml version="1.0" encoding="UTF-8" standalone="yes"?>
<Relationships xmlns="http://schemas.openxmlformats.org/package/2006/relationships"><Relationship Id="rId8" Type="http://schemas.openxmlformats.org/officeDocument/2006/relationships/image" Target="../media/image520.png"/><Relationship Id="rId13" Type="http://schemas.openxmlformats.org/officeDocument/2006/relationships/image" Target="../media/image92.png"/><Relationship Id="rId3" Type="http://schemas.openxmlformats.org/officeDocument/2006/relationships/image" Target="../media/image83.png"/><Relationship Id="rId7" Type="http://schemas.openxmlformats.org/officeDocument/2006/relationships/image" Target="../media/image87.png"/><Relationship Id="rId12" Type="http://schemas.openxmlformats.org/officeDocument/2006/relationships/image" Target="../media/image91.png"/><Relationship Id="rId2" Type="http://schemas.openxmlformats.org/officeDocument/2006/relationships/image" Target="../media/image820.png"/><Relationship Id="rId1" Type="http://schemas.openxmlformats.org/officeDocument/2006/relationships/slideLayout" Target="../slideLayouts/slideLayout8.xml"/><Relationship Id="rId6" Type="http://schemas.openxmlformats.org/officeDocument/2006/relationships/image" Target="../media/image86.png"/><Relationship Id="rId11" Type="http://schemas.openxmlformats.org/officeDocument/2006/relationships/image" Target="../media/image90.png"/><Relationship Id="rId5" Type="http://schemas.openxmlformats.org/officeDocument/2006/relationships/image" Target="../media/image85.png"/><Relationship Id="rId10" Type="http://schemas.openxmlformats.org/officeDocument/2006/relationships/image" Target="../media/image89.png"/><Relationship Id="rId4" Type="http://schemas.openxmlformats.org/officeDocument/2006/relationships/image" Target="../media/image84.png"/><Relationship Id="rId9" Type="http://schemas.openxmlformats.org/officeDocument/2006/relationships/image" Target="../media/image88.png"/></Relationships>
</file>

<file path=ppt/slides/_rels/slide2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13" Type="http://schemas.openxmlformats.org/officeDocument/2006/relationships/image" Target="../media/image690.png"/><Relationship Id="rId18" Type="http://schemas.openxmlformats.org/officeDocument/2006/relationships/image" Target="../media/image630.png"/><Relationship Id="rId3" Type="http://schemas.openxmlformats.org/officeDocument/2006/relationships/image" Target="../media/image96.png"/><Relationship Id="rId17" Type="http://schemas.openxmlformats.org/officeDocument/2006/relationships/image" Target="../media/image103.png"/><Relationship Id="rId2" Type="http://schemas.openxmlformats.org/officeDocument/2006/relationships/image" Target="../media/image95.png"/><Relationship Id="rId16" Type="http://schemas.openxmlformats.org/officeDocument/2006/relationships/image" Target="../media/image102.png"/><Relationship Id="rId20" Type="http://schemas.openxmlformats.org/officeDocument/2006/relationships/image" Target="../media/image105.png"/><Relationship Id="rId1" Type="http://schemas.openxmlformats.org/officeDocument/2006/relationships/slideLayout" Target="../slideLayouts/slideLayout8.xml"/><Relationship Id="rId6" Type="http://schemas.openxmlformats.org/officeDocument/2006/relationships/image" Target="../media/image99.png"/><Relationship Id="rId5" Type="http://schemas.openxmlformats.org/officeDocument/2006/relationships/image" Target="../media/image98.png"/><Relationship Id="rId15" Type="http://schemas.openxmlformats.org/officeDocument/2006/relationships/image" Target="../media/image101.png"/><Relationship Id="rId19" Type="http://schemas.openxmlformats.org/officeDocument/2006/relationships/image" Target="../media/image104.png"/><Relationship Id="rId4" Type="http://schemas.openxmlformats.org/officeDocument/2006/relationships/image" Target="../media/image97.png"/><Relationship Id="rId14" Type="http://schemas.openxmlformats.org/officeDocument/2006/relationships/image" Target="../media/image100.png"/></Relationships>
</file>

<file path=ppt/slides/_rels/slide29.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106.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8" Type="http://schemas.openxmlformats.org/officeDocument/2006/relationships/image" Target="../media/image111.png"/><Relationship Id="rId3" Type="http://schemas.openxmlformats.org/officeDocument/2006/relationships/slide" Target="slide70.xml"/><Relationship Id="rId7" Type="http://schemas.openxmlformats.org/officeDocument/2006/relationships/image" Target="../media/image760.png"/><Relationship Id="rId2" Type="http://schemas.openxmlformats.org/officeDocument/2006/relationships/image" Target="../media/image108.png"/><Relationship Id="rId1" Type="http://schemas.openxmlformats.org/officeDocument/2006/relationships/slideLayout" Target="../slideLayouts/slideLayout8.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slide" Target="slide31.xml"/></Relationships>
</file>

<file path=ppt/slides/_rels/slide32.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00.png"/><Relationship Id="rId7" Type="http://schemas.openxmlformats.org/officeDocument/2006/relationships/image" Target="../media/image114.png"/><Relationship Id="rId12" Type="http://schemas.openxmlformats.org/officeDocument/2006/relationships/image" Target="../media/image119.png"/><Relationship Id="rId2" Type="http://schemas.openxmlformats.org/officeDocument/2006/relationships/image" Target="../media/image108.png"/><Relationship Id="rId1" Type="http://schemas.openxmlformats.org/officeDocument/2006/relationships/slideLayout" Target="../slideLayouts/slideLayout8.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12.png"/><Relationship Id="rId10" Type="http://schemas.openxmlformats.org/officeDocument/2006/relationships/image" Target="../media/image117.png"/><Relationship Id="rId4" Type="http://schemas.openxmlformats.org/officeDocument/2006/relationships/image" Target="../media/image1110.png"/><Relationship Id="rId9" Type="http://schemas.openxmlformats.org/officeDocument/2006/relationships/image" Target="../media/image116.png"/></Relationships>
</file>

<file path=ppt/slides/_rels/slide33.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30.png"/><Relationship Id="rId7" Type="http://schemas.openxmlformats.org/officeDocument/2006/relationships/image" Target="../media/image115.png"/><Relationship Id="rId2" Type="http://schemas.openxmlformats.org/officeDocument/2006/relationships/image" Target="../media/image120.png"/><Relationship Id="rId1" Type="http://schemas.openxmlformats.org/officeDocument/2006/relationships/slideLayout" Target="../slideLayouts/slideLayout8.xml"/><Relationship Id="rId6" Type="http://schemas.openxmlformats.org/officeDocument/2006/relationships/image" Target="../media/image114.png"/><Relationship Id="rId11" Type="http://schemas.openxmlformats.org/officeDocument/2006/relationships/image" Target="../media/image119.png"/><Relationship Id="rId5" Type="http://schemas.openxmlformats.org/officeDocument/2006/relationships/image" Target="../media/image112.png"/><Relationship Id="rId10" Type="http://schemas.openxmlformats.org/officeDocument/2006/relationships/image" Target="../media/image118.png"/><Relationship Id="rId4" Type="http://schemas.openxmlformats.org/officeDocument/2006/relationships/image" Target="../media/image1110.png"/><Relationship Id="rId9" Type="http://schemas.openxmlformats.org/officeDocument/2006/relationships/image" Target="../media/image117.png"/></Relationships>
</file>

<file path=ppt/slides/_rels/slide34.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21.png"/><Relationship Id="rId7" Type="http://schemas.openxmlformats.org/officeDocument/2006/relationships/image" Target="../media/image1140.png"/><Relationship Id="rId12" Type="http://schemas.openxmlformats.org/officeDocument/2006/relationships/image" Target="../media/image119.png"/><Relationship Id="rId2" Type="http://schemas.openxmlformats.org/officeDocument/2006/relationships/image" Target="../media/image108.png"/><Relationship Id="rId1" Type="http://schemas.openxmlformats.org/officeDocument/2006/relationships/slideLayout" Target="../slideLayouts/slideLayout8.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12.png"/><Relationship Id="rId10" Type="http://schemas.openxmlformats.org/officeDocument/2006/relationships/image" Target="../media/image117.png"/><Relationship Id="rId4" Type="http://schemas.openxmlformats.org/officeDocument/2006/relationships/image" Target="../media/image1110.png"/><Relationship Id="rId9" Type="http://schemas.openxmlformats.org/officeDocument/2006/relationships/image" Target="../media/image116.png"/></Relationships>
</file>

<file path=ppt/slides/_rels/slide35.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160.png"/><Relationship Id="rId7" Type="http://schemas.openxmlformats.org/officeDocument/2006/relationships/image" Target="../media/image114.png"/><Relationship Id="rId2" Type="http://schemas.openxmlformats.org/officeDocument/2006/relationships/image" Target="../media/image108.png"/><Relationship Id="rId1" Type="http://schemas.openxmlformats.org/officeDocument/2006/relationships/slideLayout" Target="../slideLayouts/slideLayout8.xml"/><Relationship Id="rId6" Type="http://schemas.openxmlformats.org/officeDocument/2006/relationships/image" Target="../media/image113.png"/><Relationship Id="rId11" Type="http://schemas.openxmlformats.org/officeDocument/2006/relationships/image" Target="../media/image119.png"/><Relationship Id="rId5" Type="http://schemas.openxmlformats.org/officeDocument/2006/relationships/image" Target="../media/image112.png"/><Relationship Id="rId10" Type="http://schemas.openxmlformats.org/officeDocument/2006/relationships/image" Target="../media/image118.png"/><Relationship Id="rId4" Type="http://schemas.openxmlformats.org/officeDocument/2006/relationships/image" Target="../media/image1110.png"/><Relationship Id="rId9" Type="http://schemas.openxmlformats.org/officeDocument/2006/relationships/image" Target="../media/image117.png"/></Relationships>
</file>

<file path=ppt/slides/_rels/slide36.xml.rels><?xml version="1.0" encoding="UTF-8" standalone="yes"?>
<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1210.png"/><Relationship Id="rId7" Type="http://schemas.openxmlformats.org/officeDocument/2006/relationships/image" Target="../media/image114.png"/><Relationship Id="rId12" Type="http://schemas.openxmlformats.org/officeDocument/2006/relationships/image" Target="../media/image119.png"/><Relationship Id="rId2" Type="http://schemas.openxmlformats.org/officeDocument/2006/relationships/image" Target="../media/image108.png"/><Relationship Id="rId1" Type="http://schemas.openxmlformats.org/officeDocument/2006/relationships/slideLayout" Target="../slideLayouts/slideLayout8.xml"/><Relationship Id="rId6" Type="http://schemas.openxmlformats.org/officeDocument/2006/relationships/image" Target="../media/image113.png"/><Relationship Id="rId11" Type="http://schemas.openxmlformats.org/officeDocument/2006/relationships/image" Target="../media/image118.png"/><Relationship Id="rId5" Type="http://schemas.openxmlformats.org/officeDocument/2006/relationships/image" Target="../media/image112.png"/><Relationship Id="rId10" Type="http://schemas.openxmlformats.org/officeDocument/2006/relationships/image" Target="../media/image117.png"/><Relationship Id="rId4" Type="http://schemas.openxmlformats.org/officeDocument/2006/relationships/image" Target="../media/image1110.png"/><Relationship Id="rId9" Type="http://schemas.openxmlformats.org/officeDocument/2006/relationships/image" Target="../media/image116.png"/></Relationships>
</file>

<file path=ppt/slides/_rels/slide37.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180.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180.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image" Target="../media/image11800.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image" Target="../media/image1180.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26.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6.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6.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6.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3" Type="http://schemas.openxmlformats.org/officeDocument/2006/relationships/image" Target="../media/image132.png"/><Relationship Id="rId7" Type="http://schemas.openxmlformats.org/officeDocument/2006/relationships/image" Target="../media/image131.png"/><Relationship Id="rId1" Type="http://schemas.openxmlformats.org/officeDocument/2006/relationships/slideLayout" Target="../slideLayouts/slideLayout8.xml"/><Relationship Id="rId6" Type="http://schemas.openxmlformats.org/officeDocument/2006/relationships/image" Target="../media/image135.png"/><Relationship Id="rId5" Type="http://schemas.openxmlformats.org/officeDocument/2006/relationships/image" Target="../media/image134.png"/><Relationship Id="rId4" Type="http://schemas.openxmlformats.org/officeDocument/2006/relationships/image" Target="../media/image133.png"/></Relationships>
</file>

<file path=ppt/slides/_rels/slide46.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slide" Target="slide45.xml"/><Relationship Id="rId7" Type="http://schemas.openxmlformats.org/officeDocument/2006/relationships/image" Target="../media/image134.png"/><Relationship Id="rId2" Type="http://schemas.openxmlformats.org/officeDocument/2006/relationships/slide" Target="slide71.xml"/><Relationship Id="rId1" Type="http://schemas.openxmlformats.org/officeDocument/2006/relationships/slideLayout" Target="../slideLayouts/slideLayout8.xml"/><Relationship Id="rId6" Type="http://schemas.openxmlformats.org/officeDocument/2006/relationships/image" Target="../media/image133.png"/><Relationship Id="rId4" Type="http://schemas.openxmlformats.org/officeDocument/2006/relationships/image" Target="../media/image136.png"/><Relationship Id="rId9" Type="http://schemas.openxmlformats.org/officeDocument/2006/relationships/image" Target="../media/image131.png"/></Relationships>
</file>

<file path=ppt/slides/_rels/slide47.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image" Target="../media/image1360.png"/><Relationship Id="rId1" Type="http://schemas.openxmlformats.org/officeDocument/2006/relationships/slideLayout" Target="../slideLayouts/slideLayout8.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slide" Target="slide31.xml"/></Relationships>
</file>

<file path=ppt/slides/_rels/slide48.xml.rels><?xml version="1.0" encoding="UTF-8" standalone="yes"?>
<Relationships xmlns="http://schemas.openxmlformats.org/package/2006/relationships"><Relationship Id="rId8" Type="http://schemas.openxmlformats.org/officeDocument/2006/relationships/image" Target="../media/image142.png"/><Relationship Id="rId3" Type="http://schemas.openxmlformats.org/officeDocument/2006/relationships/image" Target="../media/image140.png"/><Relationship Id="rId7" Type="http://schemas.openxmlformats.org/officeDocument/2006/relationships/image" Target="../media/image1420.png"/><Relationship Id="rId2" Type="http://schemas.openxmlformats.org/officeDocument/2006/relationships/image" Target="../media/image1360.png"/><Relationship Id="rId1" Type="http://schemas.openxmlformats.org/officeDocument/2006/relationships/slideLayout" Target="../slideLayouts/slideLayout8.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slide" Target="slide31.xml"/><Relationship Id="rId9" Type="http://schemas.openxmlformats.org/officeDocument/2006/relationships/image" Target="../media/image144.png"/></Relationships>
</file>

<file path=ppt/slides/_rels/slide49.xml.rels><?xml version="1.0" encoding="UTF-8" standalone="yes"?>
<Relationships xmlns="http://schemas.openxmlformats.org/package/2006/relationships"><Relationship Id="rId3" Type="http://schemas.openxmlformats.org/officeDocument/2006/relationships/image" Target="../media/image145.png"/><Relationship Id="rId7" Type="http://schemas.openxmlformats.org/officeDocument/2006/relationships/image" Target="../media/image143.png"/><Relationship Id="rId2" Type="http://schemas.openxmlformats.org/officeDocument/2006/relationships/image" Target="../media/image1360.png"/><Relationship Id="rId1" Type="http://schemas.openxmlformats.org/officeDocument/2006/relationships/slideLayout" Target="../slideLayouts/slideLayout8.xml"/><Relationship Id="rId6" Type="http://schemas.openxmlformats.org/officeDocument/2006/relationships/image" Target="../media/image139.png"/><Relationship Id="rId5" Type="http://schemas.openxmlformats.org/officeDocument/2006/relationships/image" Target="../media/image138.png"/><Relationship Id="rId4" Type="http://schemas.openxmlformats.org/officeDocument/2006/relationships/slide" Target="slide31.xml"/></Relationships>
</file>

<file path=ppt/slides/_rels/slide50.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360.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360.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360.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51.png"/><Relationship Id="rId1" Type="http://schemas.openxmlformats.org/officeDocument/2006/relationships/slideLayout" Target="../slideLayouts/slideLayout8.xml"/><Relationship Id="rId4" Type="http://schemas.openxmlformats.org/officeDocument/2006/relationships/slide" Target="slide70.xml"/></Relationships>
</file>

<file path=ppt/slides/_rels/slide55.xml.rels><?xml version="1.0" encoding="UTF-8" standalone="yes"?>
<Relationships xmlns="http://schemas.openxmlformats.org/package/2006/relationships"><Relationship Id="rId3" Type="http://schemas.openxmlformats.org/officeDocument/2006/relationships/image" Target="../media/image1520.png"/><Relationship Id="rId2" Type="http://schemas.openxmlformats.org/officeDocument/2006/relationships/image" Target="../media/image153.png"/><Relationship Id="rId1" Type="http://schemas.openxmlformats.org/officeDocument/2006/relationships/slideLayout" Target="../slideLayouts/slideLayout8.xml"/><Relationship Id="rId4" Type="http://schemas.openxmlformats.org/officeDocument/2006/relationships/image" Target="../media/image152.png"/></Relationships>
</file>

<file path=ppt/slides/_rels/slide56.xml.rels><?xml version="1.0" encoding="UTF-8" standalone="yes"?>
<Relationships xmlns="http://schemas.openxmlformats.org/package/2006/relationships"><Relationship Id="rId3" Type="http://schemas.openxmlformats.org/officeDocument/2006/relationships/image" Target="../media/image1540.png"/><Relationship Id="rId2" Type="http://schemas.openxmlformats.org/officeDocument/2006/relationships/image" Target="../media/image153.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image" Target="../media/image155.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7.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image" Target="../media/image157.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image" Target="../media/image1580.png"/><Relationship Id="rId2" Type="http://schemas.openxmlformats.org/officeDocument/2006/relationships/image" Target="../media/image160.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165.png"/><Relationship Id="rId1" Type="http://schemas.openxmlformats.org/officeDocument/2006/relationships/slideLayout" Target="../slideLayouts/slideLayout8.xml"/><Relationship Id="rId6" Type="http://schemas.openxmlformats.org/officeDocument/2006/relationships/image" Target="../media/image68.png"/><Relationship Id="rId5" Type="http://schemas.openxmlformats.org/officeDocument/2006/relationships/image" Target="../media/image6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s>
</file>

<file path=ppt/slides/_rels/slide65.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162.png"/><Relationship Id="rId3" Type="http://schemas.openxmlformats.org/officeDocument/2006/relationships/image" Target="../media/image167.png"/><Relationship Id="rId7" Type="http://schemas.openxmlformats.org/officeDocument/2006/relationships/image" Target="../media/image68.png"/><Relationship Id="rId12" Type="http://schemas.openxmlformats.org/officeDocument/2006/relationships/image" Target="../media/image159.png"/><Relationship Id="rId2" Type="http://schemas.openxmlformats.org/officeDocument/2006/relationships/image" Target="../media/image166.png"/><Relationship Id="rId1" Type="http://schemas.openxmlformats.org/officeDocument/2006/relationships/slideLayout" Target="../slideLayouts/slideLayout8.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66.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168.png"/><Relationship Id="rId3" Type="http://schemas.openxmlformats.org/officeDocument/2006/relationships/image" Target="../media/image170.png"/><Relationship Id="rId7" Type="http://schemas.openxmlformats.org/officeDocument/2006/relationships/image" Target="../media/image68.png"/><Relationship Id="rId12" Type="http://schemas.openxmlformats.org/officeDocument/2006/relationships/image" Target="../media/image162.png"/><Relationship Id="rId2" Type="http://schemas.openxmlformats.org/officeDocument/2006/relationships/image" Target="../media/image166.png"/><Relationship Id="rId1" Type="http://schemas.openxmlformats.org/officeDocument/2006/relationships/slideLayout" Target="../slideLayouts/slideLayout8.xml"/><Relationship Id="rId6" Type="http://schemas.openxmlformats.org/officeDocument/2006/relationships/image" Target="../media/image67.png"/><Relationship Id="rId11" Type="http://schemas.openxmlformats.org/officeDocument/2006/relationships/image" Target="../media/image72.png"/><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67.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6.png"/><Relationship Id="rId1" Type="http://schemas.openxmlformats.org/officeDocument/2006/relationships/slideLayout" Target="../slideLayouts/slideLayout8.xml"/><Relationship Id="rId4" Type="http://schemas.openxmlformats.org/officeDocument/2006/relationships/image" Target="../media/image162.png"/></Relationships>
</file>

<file path=ppt/slides/_rels/slide68.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image" Target="../media/image166.png"/><Relationship Id="rId1" Type="http://schemas.openxmlformats.org/officeDocument/2006/relationships/slideLayout" Target="../slideLayouts/slideLayout8.xml"/><Relationship Id="rId4" Type="http://schemas.openxmlformats.org/officeDocument/2006/relationships/image" Target="../media/image162.png"/></Relationships>
</file>

<file path=ppt/slides/_rels/slide69.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image" Target="../media/image166.png"/><Relationship Id="rId1" Type="http://schemas.openxmlformats.org/officeDocument/2006/relationships/slideLayout" Target="../slideLayouts/slideLayout8.xml"/><Relationship Id="rId4" Type="http://schemas.openxmlformats.org/officeDocument/2006/relationships/image" Target="../media/image162.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标题 7"/>
          <p:cNvSpPr>
            <a:spLocks noGrp="1"/>
          </p:cNvSpPr>
          <p:nvPr>
            <p:ph type="title" idx="1"/>
            <p:custDataLst>
              <p:tags r:id="rId2"/>
            </p:custDataLst>
          </p:nvPr>
        </p:nvSpPr>
        <p:spPr>
          <a:xfrm>
            <a:off x="2273300" y="1108075"/>
            <a:ext cx="8413750" cy="2502535"/>
          </a:xfrm>
        </p:spPr>
        <p:txBody>
          <a:bodyPr>
            <a:normAutofit/>
          </a:bodyPr>
          <a:lstStyle/>
          <a:p>
            <a:r>
              <a:rPr lang="en-US" altLang="zh-CN" dirty="0"/>
              <a:t>CPU</a:t>
            </a:r>
            <a:r>
              <a:rPr dirty="0"/>
              <a:t>软渲染</a:t>
            </a:r>
            <a:br>
              <a:rPr dirty="0"/>
            </a:br>
            <a:r>
              <a:rPr dirty="0"/>
              <a:t>路径追踪渲染器</a:t>
            </a:r>
          </a:p>
        </p:txBody>
      </p:sp>
      <p:sp>
        <p:nvSpPr>
          <p:cNvPr id="5" name="文本占位符 4"/>
          <p:cNvSpPr>
            <a:spLocks noGrp="1"/>
          </p:cNvSpPr>
          <p:nvPr>
            <p:ph type="body" sz="quarter" idx="17"/>
            <p:custDataLst>
              <p:tags r:id="rId3"/>
            </p:custDataLst>
          </p:nvPr>
        </p:nvSpPr>
        <p:spPr>
          <a:xfrm>
            <a:off x="2273299" y="4275976"/>
            <a:ext cx="7589519" cy="656600"/>
          </a:xfrm>
        </p:spPr>
        <p:txBody>
          <a:bodyPr>
            <a:normAutofit/>
          </a:bodyPr>
          <a:lstStyle/>
          <a:p>
            <a:r>
              <a:rPr lang="zh-CN" altLang="en-US" dirty="0"/>
              <a:t>微表面理论</a:t>
            </a:r>
            <a:r>
              <a:rPr lang="en-US" altLang="zh-CN" dirty="0"/>
              <a:t> </a:t>
            </a:r>
            <a:r>
              <a:rPr lang="zh-CN" altLang="en-US" dirty="0"/>
              <a:t>               </a:t>
            </a:r>
            <a:r>
              <a:rPr lang="en-US" altLang="zh-CN" dirty="0"/>
              <a:t>B</a:t>
            </a:r>
            <a:r>
              <a:rPr lang="zh-CN" altLang="en-US" dirty="0"/>
              <a:t>站：</a:t>
            </a:r>
            <a:r>
              <a:rPr lang="en-US" altLang="zh-CN" dirty="0"/>
              <a:t>HeaoYe</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矩形 58">
            <a:extLst>
              <a:ext uri="{FF2B5EF4-FFF2-40B4-BE49-F238E27FC236}">
                <a16:creationId xmlns:a16="http://schemas.microsoft.com/office/drawing/2014/main" id="{C6327A70-1F42-A2EE-D274-E6C564D97D3F}"/>
              </a:ext>
            </a:extLst>
          </p:cNvPr>
          <p:cNvSpPr/>
          <p:nvPr/>
        </p:nvSpPr>
        <p:spPr>
          <a:xfrm>
            <a:off x="631111" y="1419615"/>
            <a:ext cx="5430501" cy="5198437"/>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13" name="标题 2">
            <a:extLst>
              <a:ext uri="{FF2B5EF4-FFF2-40B4-BE49-F238E27FC236}">
                <a16:creationId xmlns:a16="http://schemas.microsoft.com/office/drawing/2014/main" id="{5DFA86CA-9B0C-9BEB-C05E-F378C6BFE573}"/>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微表面理论  </a:t>
            </a:r>
            <a:r>
              <a:rPr lang="en-US" altLang="zh-CN" dirty="0"/>
              <a:t>Microfacet Theory</a:t>
            </a:r>
            <a:endParaRPr lang="en-US" dirty="0"/>
          </a:p>
        </p:txBody>
      </p:sp>
      <p:sp>
        <p:nvSpPr>
          <p:cNvPr id="3" name="矩形 2">
            <a:extLst>
              <a:ext uri="{FF2B5EF4-FFF2-40B4-BE49-F238E27FC236}">
                <a16:creationId xmlns:a16="http://schemas.microsoft.com/office/drawing/2014/main" id="{876A0A46-1B99-5D05-1611-499FF6FF8C01}"/>
              </a:ext>
            </a:extLst>
          </p:cNvPr>
          <p:cNvSpPr/>
          <p:nvPr/>
        </p:nvSpPr>
        <p:spPr>
          <a:xfrm>
            <a:off x="478711" y="1267215"/>
            <a:ext cx="5430501" cy="519843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850" dirty="0">
                <a:solidFill>
                  <a:schemeClr val="tx1"/>
                </a:solidFill>
              </a:rPr>
              <a:t>        目前为止，我们只实现了 完美镜面反射</a:t>
            </a:r>
            <a:r>
              <a:rPr lang="en-US" altLang="zh-CN" sz="1850" dirty="0">
                <a:solidFill>
                  <a:schemeClr val="tx1"/>
                </a:solidFill>
              </a:rPr>
              <a:t>/</a:t>
            </a:r>
            <a:r>
              <a:rPr lang="zh-CN" altLang="en-US" sz="1850" dirty="0">
                <a:solidFill>
                  <a:schemeClr val="tx1"/>
                </a:solidFill>
              </a:rPr>
              <a:t>折射、均匀漫反射 这两类材质。但现实世界中，有许多材质并不是完全的完美镜面反射</a:t>
            </a:r>
            <a:r>
              <a:rPr lang="en-US" altLang="zh-CN" sz="1850" dirty="0">
                <a:solidFill>
                  <a:schemeClr val="tx1"/>
                </a:solidFill>
              </a:rPr>
              <a:t>/</a:t>
            </a:r>
            <a:r>
              <a:rPr lang="zh-CN" altLang="en-US" sz="1850" dirty="0">
                <a:solidFill>
                  <a:schemeClr val="tx1"/>
                </a:solidFill>
              </a:rPr>
              <a:t>折射或者均匀漫反射</a:t>
            </a:r>
            <a:r>
              <a:rPr lang="en-US" altLang="zh-CN" sz="1850" dirty="0">
                <a:solidFill>
                  <a:schemeClr val="tx1"/>
                </a:solidFill>
              </a:rPr>
              <a:t>/</a:t>
            </a:r>
            <a:r>
              <a:rPr lang="zh-CN" altLang="en-US" sz="1850" dirty="0">
                <a:solidFill>
                  <a:schemeClr val="tx1"/>
                </a:solidFill>
              </a:rPr>
              <a:t>折射。事实上，许多的物体表面看似平整，然而在微观尺度上却是粗糙的。正是这些微观尺度的结构，决定了这些材质效果。</a:t>
            </a:r>
            <a:endParaRPr lang="en-US" altLang="zh-CN" sz="1850" dirty="0">
              <a:solidFill>
                <a:schemeClr val="tx1"/>
              </a:solidFill>
            </a:endParaRPr>
          </a:p>
          <a:p>
            <a:pPr>
              <a:lnSpc>
                <a:spcPct val="150000"/>
              </a:lnSpc>
            </a:pPr>
            <a:r>
              <a:rPr lang="zh-CN" altLang="en-US" sz="1850" dirty="0">
                <a:solidFill>
                  <a:schemeClr val="tx1"/>
                </a:solidFill>
              </a:rPr>
              <a:t>        为了实现这类效果，微表面理论</a:t>
            </a:r>
            <a:r>
              <a:rPr lang="en-US" altLang="zh-CN" sz="1850" dirty="0">
                <a:solidFill>
                  <a:schemeClr val="tx1"/>
                </a:solidFill>
              </a:rPr>
              <a:t>(Microfacet Theory) </a:t>
            </a:r>
            <a:r>
              <a:rPr lang="zh-CN" altLang="en-US" sz="1850" dirty="0">
                <a:solidFill>
                  <a:schemeClr val="tx1"/>
                </a:solidFill>
              </a:rPr>
              <a:t>诞生了。它将物体表面建模为许多细小的微面</a:t>
            </a:r>
            <a:r>
              <a:rPr lang="en-US" altLang="zh-CN" sz="1850" dirty="0">
                <a:solidFill>
                  <a:schemeClr val="tx1"/>
                </a:solidFill>
              </a:rPr>
              <a:t>(Microfacet)</a:t>
            </a:r>
            <a:r>
              <a:rPr lang="zh-CN" altLang="en-US" sz="1850" dirty="0">
                <a:solidFill>
                  <a:schemeClr val="tx1"/>
                </a:solidFill>
              </a:rPr>
              <a:t>，光线会在微面上发生完美镜面反射</a:t>
            </a:r>
            <a:r>
              <a:rPr lang="en-US" altLang="zh-CN" sz="1850" dirty="0">
                <a:solidFill>
                  <a:schemeClr val="tx1"/>
                </a:solidFill>
              </a:rPr>
              <a:t>/</a:t>
            </a:r>
            <a:r>
              <a:rPr lang="zh-CN" altLang="en-US" sz="1850" dirty="0">
                <a:solidFill>
                  <a:schemeClr val="tx1"/>
                </a:solidFill>
              </a:rPr>
              <a:t>折射，由于这些微面可以有不同的粗糙度，因此就可以呈现出介于完美镜面反射</a:t>
            </a:r>
            <a:r>
              <a:rPr lang="en-US" altLang="zh-CN" sz="1850" dirty="0">
                <a:solidFill>
                  <a:schemeClr val="tx1"/>
                </a:solidFill>
              </a:rPr>
              <a:t>/</a:t>
            </a:r>
            <a:r>
              <a:rPr lang="zh-CN" altLang="en-US" sz="1850" dirty="0">
                <a:solidFill>
                  <a:schemeClr val="tx1"/>
                </a:solidFill>
              </a:rPr>
              <a:t>折射与均匀漫反射</a:t>
            </a:r>
            <a:r>
              <a:rPr lang="en-US" altLang="zh-CN" sz="1850" dirty="0">
                <a:solidFill>
                  <a:schemeClr val="tx1"/>
                </a:solidFill>
              </a:rPr>
              <a:t>/</a:t>
            </a:r>
            <a:r>
              <a:rPr lang="zh-CN" altLang="en-US" sz="1850" dirty="0">
                <a:solidFill>
                  <a:schemeClr val="tx1"/>
                </a:solidFill>
              </a:rPr>
              <a:t>折射之间的效果。</a:t>
            </a:r>
          </a:p>
        </p:txBody>
      </p:sp>
      <p:grpSp>
        <p:nvGrpSpPr>
          <p:cNvPr id="11" name="组合 10">
            <a:extLst>
              <a:ext uri="{FF2B5EF4-FFF2-40B4-BE49-F238E27FC236}">
                <a16:creationId xmlns:a16="http://schemas.microsoft.com/office/drawing/2014/main" id="{250B7245-5AC0-4F05-6E7D-A9BA6E3F26AF}"/>
              </a:ext>
            </a:extLst>
          </p:cNvPr>
          <p:cNvGrpSpPr/>
          <p:nvPr/>
        </p:nvGrpSpPr>
        <p:grpSpPr>
          <a:xfrm>
            <a:off x="6833894" y="1267215"/>
            <a:ext cx="3810196" cy="3199843"/>
            <a:chOff x="6833894" y="1267215"/>
            <a:chExt cx="3810196" cy="3199843"/>
          </a:xfrm>
        </p:grpSpPr>
        <p:pic>
          <p:nvPicPr>
            <p:cNvPr id="6" name="图片 5">
              <a:extLst>
                <a:ext uri="{FF2B5EF4-FFF2-40B4-BE49-F238E27FC236}">
                  <a16:creationId xmlns:a16="http://schemas.microsoft.com/office/drawing/2014/main" id="{59333C44-6EA7-B899-CB12-BDC269EC18C3}"/>
                </a:ext>
              </a:extLst>
            </p:cNvPr>
            <p:cNvPicPr>
              <a:picLocks noChangeAspect="1"/>
            </p:cNvPicPr>
            <p:nvPr/>
          </p:nvPicPr>
          <p:blipFill>
            <a:blip r:embed="rId2"/>
            <a:stretch>
              <a:fillRect/>
            </a:stretch>
          </p:blipFill>
          <p:spPr>
            <a:xfrm>
              <a:off x="6833894" y="1267215"/>
              <a:ext cx="3810196" cy="2857647"/>
            </a:xfrm>
            <a:prstGeom prst="rect">
              <a:avLst/>
            </a:prstGeom>
          </p:spPr>
        </p:pic>
        <p:sp>
          <p:nvSpPr>
            <p:cNvPr id="7" name="文本框 6">
              <a:extLst>
                <a:ext uri="{FF2B5EF4-FFF2-40B4-BE49-F238E27FC236}">
                  <a16:creationId xmlns:a16="http://schemas.microsoft.com/office/drawing/2014/main" id="{70E33EA8-1DF1-5E96-A7AB-96A0D6D36252}"/>
                </a:ext>
              </a:extLst>
            </p:cNvPr>
            <p:cNvSpPr txBox="1"/>
            <p:nvPr/>
          </p:nvSpPr>
          <p:spPr>
            <a:xfrm>
              <a:off x="7838745" y="4159281"/>
              <a:ext cx="1800493" cy="307777"/>
            </a:xfrm>
            <a:prstGeom prst="rect">
              <a:avLst/>
            </a:prstGeom>
            <a:noFill/>
          </p:spPr>
          <p:txBody>
            <a:bodyPr wrap="square" rtlCol="0">
              <a:spAutoFit/>
            </a:bodyPr>
            <a:lstStyle/>
            <a:p>
              <a:pPr algn="ctr"/>
              <a:r>
                <a:rPr lang="zh-CN" altLang="en-US" sz="1400" dirty="0"/>
                <a:t>放大后的头发丝</a:t>
              </a:r>
            </a:p>
          </p:txBody>
        </p:sp>
      </p:grpSp>
      <p:pic>
        <p:nvPicPr>
          <p:cNvPr id="16" name="图片 15">
            <a:extLst>
              <a:ext uri="{FF2B5EF4-FFF2-40B4-BE49-F238E27FC236}">
                <a16:creationId xmlns:a16="http://schemas.microsoft.com/office/drawing/2014/main" id="{3C9E0CBD-CC26-9D4A-D766-994B12460D18}"/>
              </a:ext>
            </a:extLst>
          </p:cNvPr>
          <p:cNvPicPr>
            <a:picLocks noChangeAspect="1"/>
          </p:cNvPicPr>
          <p:nvPr/>
        </p:nvPicPr>
        <p:blipFill>
          <a:blip r:embed="rId3"/>
          <a:stretch>
            <a:fillRect/>
          </a:stretch>
        </p:blipFill>
        <p:spPr>
          <a:xfrm>
            <a:off x="6096000" y="4439898"/>
            <a:ext cx="5690992" cy="2025754"/>
          </a:xfrm>
          <a:prstGeom prst="rect">
            <a:avLst/>
          </a:prstGeom>
        </p:spPr>
      </p:pic>
    </p:spTree>
    <p:extLst>
      <p:ext uri="{BB962C8B-B14F-4D97-AF65-F5344CB8AC3E}">
        <p14:creationId xmlns:p14="http://schemas.microsoft.com/office/powerpoint/2010/main" val="1360429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E0FB0-C735-0A6C-372B-B9D976780107}"/>
            </a:ext>
          </a:extLst>
        </p:cNvPr>
        <p:cNvGrpSpPr/>
        <p:nvPr/>
      </p:nvGrpSpPr>
      <p:grpSpPr>
        <a:xfrm>
          <a:off x="0" y="0"/>
          <a:ext cx="0" cy="0"/>
          <a:chOff x="0" y="0"/>
          <a:chExt cx="0" cy="0"/>
        </a:xfrm>
      </p:grpSpPr>
      <p:sp>
        <p:nvSpPr>
          <p:cNvPr id="59" name="矩形 58">
            <a:extLst>
              <a:ext uri="{FF2B5EF4-FFF2-40B4-BE49-F238E27FC236}">
                <a16:creationId xmlns:a16="http://schemas.microsoft.com/office/drawing/2014/main" id="{4AF680E8-BF6E-DF30-2E77-ACE45136EED0}"/>
              </a:ext>
            </a:extLst>
          </p:cNvPr>
          <p:cNvSpPr/>
          <p:nvPr/>
        </p:nvSpPr>
        <p:spPr>
          <a:xfrm>
            <a:off x="631111" y="1419615"/>
            <a:ext cx="5430501" cy="5198437"/>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56" name="矩形 55">
            <a:extLst>
              <a:ext uri="{FF2B5EF4-FFF2-40B4-BE49-F238E27FC236}">
                <a16:creationId xmlns:a16="http://schemas.microsoft.com/office/drawing/2014/main" id="{E2FC3223-3E6D-DC73-D521-6C4B1C2D59D4}"/>
              </a:ext>
            </a:extLst>
          </p:cNvPr>
          <p:cNvSpPr/>
          <p:nvPr/>
        </p:nvSpPr>
        <p:spPr>
          <a:xfrm>
            <a:off x="6461044" y="1863725"/>
            <a:ext cx="5559506" cy="313055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2859A06E-1C07-EE7E-9274-6EC3723C2AA8}"/>
              </a:ext>
            </a:extLst>
          </p:cNvPr>
          <p:cNvSpPr/>
          <p:nvPr/>
        </p:nvSpPr>
        <p:spPr>
          <a:xfrm>
            <a:off x="6308644" y="1711325"/>
            <a:ext cx="5559506" cy="313055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标题 2">
            <a:extLst>
              <a:ext uri="{FF2B5EF4-FFF2-40B4-BE49-F238E27FC236}">
                <a16:creationId xmlns:a16="http://schemas.microsoft.com/office/drawing/2014/main" id="{295EE9C8-2801-C407-192F-11659F1F6463}"/>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微表面理论  </a:t>
            </a:r>
            <a:r>
              <a:rPr lang="en-US" altLang="zh-CN" dirty="0"/>
              <a:t>Microfacet Theory</a:t>
            </a:r>
            <a:endParaRPr lang="en-US" dirty="0"/>
          </a:p>
        </p:txBody>
      </p:sp>
      <p:sp>
        <p:nvSpPr>
          <p:cNvPr id="3" name="矩形 2">
            <a:extLst>
              <a:ext uri="{FF2B5EF4-FFF2-40B4-BE49-F238E27FC236}">
                <a16:creationId xmlns:a16="http://schemas.microsoft.com/office/drawing/2014/main" id="{2BC87301-A698-5A25-D9DF-BAF84E6271F6}"/>
              </a:ext>
            </a:extLst>
          </p:cNvPr>
          <p:cNvSpPr/>
          <p:nvPr/>
        </p:nvSpPr>
        <p:spPr>
          <a:xfrm>
            <a:off x="478711" y="1267215"/>
            <a:ext cx="5430501" cy="519843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000" dirty="0">
                <a:solidFill>
                  <a:schemeClr val="tx1"/>
                </a:solidFill>
              </a:rPr>
              <a:t>        </a:t>
            </a:r>
            <a:r>
              <a:rPr lang="zh-CN" altLang="en-US" sz="2000" dirty="0">
                <a:solidFill>
                  <a:schemeClr val="tx1"/>
                </a:solidFill>
              </a:rPr>
              <a:t>目前课程中对几何的定义，包括三角形网络、球体等，都是在定义宏观表面</a:t>
            </a:r>
            <a:r>
              <a:rPr lang="en-US" altLang="zh-CN" sz="2000" dirty="0">
                <a:solidFill>
                  <a:schemeClr val="tx1"/>
                </a:solidFill>
              </a:rPr>
              <a:t>(Macro Surface)</a:t>
            </a:r>
            <a:r>
              <a:rPr lang="zh-CN" altLang="en-US" sz="2000" dirty="0">
                <a:solidFill>
                  <a:schemeClr val="tx1"/>
                </a:solidFill>
              </a:rPr>
              <a:t>。同时由于建模难度、计算精度</a:t>
            </a:r>
            <a:r>
              <a:rPr lang="en-US" altLang="zh-CN" sz="2000" dirty="0">
                <a:solidFill>
                  <a:schemeClr val="tx1"/>
                </a:solidFill>
              </a:rPr>
              <a:t>(</a:t>
            </a:r>
            <a:r>
              <a:rPr lang="zh-CN" altLang="en-US" sz="2000" dirty="0">
                <a:solidFill>
                  <a:schemeClr val="tx1"/>
                </a:solidFill>
              </a:rPr>
              <a:t>浮点误差</a:t>
            </a:r>
            <a:r>
              <a:rPr lang="en-US" altLang="zh-CN" sz="2000" dirty="0">
                <a:solidFill>
                  <a:schemeClr val="tx1"/>
                </a:solidFill>
              </a:rPr>
              <a:t>)</a:t>
            </a:r>
            <a:r>
              <a:rPr lang="zh-CN" altLang="en-US" sz="2000" dirty="0">
                <a:solidFill>
                  <a:schemeClr val="tx1"/>
                </a:solidFill>
              </a:rPr>
              <a:t>、数据精度</a:t>
            </a:r>
            <a:r>
              <a:rPr lang="en-US" altLang="zh-CN" sz="2000" dirty="0">
                <a:solidFill>
                  <a:schemeClr val="tx1"/>
                </a:solidFill>
              </a:rPr>
              <a:t>(</a:t>
            </a:r>
            <a:r>
              <a:rPr lang="zh-CN" altLang="en-US" sz="2000" dirty="0">
                <a:solidFill>
                  <a:schemeClr val="tx1"/>
                </a:solidFill>
              </a:rPr>
              <a:t>浮点数精度有限</a:t>
            </a:r>
            <a:r>
              <a:rPr lang="en-US" altLang="zh-CN" sz="2000" dirty="0">
                <a:solidFill>
                  <a:schemeClr val="tx1"/>
                </a:solidFill>
              </a:rPr>
              <a:t>)</a:t>
            </a:r>
            <a:r>
              <a:rPr lang="zh-CN" altLang="en-US" sz="2000" dirty="0">
                <a:solidFill>
                  <a:schemeClr val="tx1"/>
                </a:solidFill>
              </a:rPr>
              <a:t>，我们无法精确的定义出在宏观表面上存在的微观几何结构，因此无法对微观几何进行直接的模拟。</a:t>
            </a:r>
            <a:endParaRPr lang="en-US" altLang="zh-CN" sz="2000" dirty="0">
              <a:solidFill>
                <a:schemeClr val="tx1"/>
              </a:solidFill>
            </a:endParaRPr>
          </a:p>
          <a:p>
            <a:pPr>
              <a:lnSpc>
                <a:spcPct val="150000"/>
              </a:lnSpc>
            </a:pPr>
            <a:endParaRPr lang="en-US" altLang="zh-CN" sz="2000" dirty="0">
              <a:solidFill>
                <a:schemeClr val="tx1"/>
              </a:solidFill>
            </a:endParaRPr>
          </a:p>
          <a:p>
            <a:pPr>
              <a:lnSpc>
                <a:spcPct val="150000"/>
              </a:lnSpc>
            </a:pPr>
            <a:r>
              <a:rPr lang="en-US" altLang="zh-CN" sz="2000" dirty="0">
                <a:solidFill>
                  <a:schemeClr val="tx1"/>
                </a:solidFill>
              </a:rPr>
              <a:t>        </a:t>
            </a:r>
            <a:r>
              <a:rPr lang="zh-CN" altLang="en-US" sz="2000" dirty="0">
                <a:solidFill>
                  <a:schemeClr val="tx1"/>
                </a:solidFill>
              </a:rPr>
              <a:t>但如过我们拥有无限的精度，并且能用三角形网络之类的方法建模出微观几何结构，那么当前的代码</a:t>
            </a:r>
            <a:r>
              <a:rPr lang="en-US" altLang="zh-CN" sz="2000" dirty="0">
                <a:solidFill>
                  <a:schemeClr val="tx1"/>
                </a:solidFill>
              </a:rPr>
              <a:t>(</a:t>
            </a:r>
            <a:r>
              <a:rPr lang="zh-CN" altLang="en-US" sz="2000" dirty="0">
                <a:solidFill>
                  <a:schemeClr val="tx1"/>
                </a:solidFill>
              </a:rPr>
              <a:t>完美反射与折射</a:t>
            </a:r>
            <a:r>
              <a:rPr lang="en-US" altLang="zh-CN" sz="2000" dirty="0">
                <a:solidFill>
                  <a:schemeClr val="tx1"/>
                </a:solidFill>
              </a:rPr>
              <a:t>)</a:t>
            </a:r>
            <a:r>
              <a:rPr lang="zh-CN" altLang="en-US" sz="2000" dirty="0">
                <a:solidFill>
                  <a:schemeClr val="tx1"/>
                </a:solidFill>
              </a:rPr>
              <a:t>就已经可以渲染出对应的效果。</a:t>
            </a:r>
          </a:p>
        </p:txBody>
      </p:sp>
      <p:grpSp>
        <p:nvGrpSpPr>
          <p:cNvPr id="53" name="组合 52">
            <a:extLst>
              <a:ext uri="{FF2B5EF4-FFF2-40B4-BE49-F238E27FC236}">
                <a16:creationId xmlns:a16="http://schemas.microsoft.com/office/drawing/2014/main" id="{68E27002-13D6-14EF-D401-07194C81AF46}"/>
              </a:ext>
            </a:extLst>
          </p:cNvPr>
          <p:cNvGrpSpPr/>
          <p:nvPr/>
        </p:nvGrpSpPr>
        <p:grpSpPr>
          <a:xfrm>
            <a:off x="6431378" y="2017428"/>
            <a:ext cx="5181502" cy="2470195"/>
            <a:chOff x="6577428" y="2134903"/>
            <a:chExt cx="5181502" cy="2470195"/>
          </a:xfrm>
        </p:grpSpPr>
        <p:grpSp>
          <p:nvGrpSpPr>
            <p:cNvPr id="23" name="组合 22">
              <a:extLst>
                <a:ext uri="{FF2B5EF4-FFF2-40B4-BE49-F238E27FC236}">
                  <a16:creationId xmlns:a16="http://schemas.microsoft.com/office/drawing/2014/main" id="{1D7B822F-E475-61C4-8BF9-5318BCD27AFB}"/>
                </a:ext>
              </a:extLst>
            </p:cNvPr>
            <p:cNvGrpSpPr/>
            <p:nvPr/>
          </p:nvGrpSpPr>
          <p:grpSpPr>
            <a:xfrm>
              <a:off x="6577428" y="2779753"/>
              <a:ext cx="4603076" cy="1825345"/>
              <a:chOff x="7054948" y="2393673"/>
              <a:chExt cx="4603076" cy="1825345"/>
            </a:xfrm>
          </p:grpSpPr>
          <p:cxnSp>
            <p:nvCxnSpPr>
              <p:cNvPr id="5" name="直接连接符 4">
                <a:extLst>
                  <a:ext uri="{FF2B5EF4-FFF2-40B4-BE49-F238E27FC236}">
                    <a16:creationId xmlns:a16="http://schemas.microsoft.com/office/drawing/2014/main" id="{77ECB3A9-D1EC-1604-8407-C3210E4881A6}"/>
                  </a:ext>
                </a:extLst>
              </p:cNvPr>
              <p:cNvCxnSpPr/>
              <p:nvPr/>
            </p:nvCxnSpPr>
            <p:spPr>
              <a:xfrm>
                <a:off x="7405437" y="3429000"/>
                <a:ext cx="409060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8" name="任意多边形: 形状 7">
                <a:extLst>
                  <a:ext uri="{FF2B5EF4-FFF2-40B4-BE49-F238E27FC236}">
                    <a16:creationId xmlns:a16="http://schemas.microsoft.com/office/drawing/2014/main" id="{83B06858-17F2-844C-FA18-969912B2AC2C}"/>
                  </a:ext>
                </a:extLst>
              </p:cNvPr>
              <p:cNvSpPr/>
              <p:nvPr/>
            </p:nvSpPr>
            <p:spPr>
              <a:xfrm>
                <a:off x="7405437" y="2702125"/>
                <a:ext cx="4252587" cy="1217704"/>
              </a:xfrm>
              <a:custGeom>
                <a:avLst/>
                <a:gdLst>
                  <a:gd name="connsiteX0" fmla="*/ 0 w 4252587"/>
                  <a:gd name="connsiteY0" fmla="*/ 755059 h 1217704"/>
                  <a:gd name="connsiteX1" fmla="*/ 695195 w 4252587"/>
                  <a:gd name="connsiteY1" fmla="*/ 141283 h 1217704"/>
                  <a:gd name="connsiteX2" fmla="*/ 914400 w 4252587"/>
                  <a:gd name="connsiteY2" fmla="*/ 1043157 h 1217704"/>
                  <a:gd name="connsiteX3" fmla="*/ 1947797 w 4252587"/>
                  <a:gd name="connsiteY3" fmla="*/ 1149628 h 1217704"/>
                  <a:gd name="connsiteX4" fmla="*/ 1979113 w 4252587"/>
                  <a:gd name="connsiteY4" fmla="*/ 260280 h 1217704"/>
                  <a:gd name="connsiteX5" fmla="*/ 3212926 w 4252587"/>
                  <a:gd name="connsiteY5" fmla="*/ 41075 h 1217704"/>
                  <a:gd name="connsiteX6" fmla="*/ 3657600 w 4252587"/>
                  <a:gd name="connsiteY6" fmla="*/ 961738 h 1217704"/>
                  <a:gd name="connsiteX7" fmla="*/ 4252587 w 4252587"/>
                  <a:gd name="connsiteY7" fmla="*/ 498275 h 1217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52587" h="1217704">
                    <a:moveTo>
                      <a:pt x="0" y="755059"/>
                    </a:moveTo>
                    <a:cubicBezTo>
                      <a:pt x="271397" y="424163"/>
                      <a:pt x="542795" y="93267"/>
                      <a:pt x="695195" y="141283"/>
                    </a:cubicBezTo>
                    <a:cubicBezTo>
                      <a:pt x="847595" y="189299"/>
                      <a:pt x="705633" y="875100"/>
                      <a:pt x="914400" y="1043157"/>
                    </a:cubicBezTo>
                    <a:cubicBezTo>
                      <a:pt x="1123167" y="1211214"/>
                      <a:pt x="1770345" y="1280107"/>
                      <a:pt x="1947797" y="1149628"/>
                    </a:cubicBezTo>
                    <a:cubicBezTo>
                      <a:pt x="2125249" y="1019149"/>
                      <a:pt x="1768258" y="445039"/>
                      <a:pt x="1979113" y="260280"/>
                    </a:cubicBezTo>
                    <a:cubicBezTo>
                      <a:pt x="2189968" y="75521"/>
                      <a:pt x="2933178" y="-75835"/>
                      <a:pt x="3212926" y="41075"/>
                    </a:cubicBezTo>
                    <a:cubicBezTo>
                      <a:pt x="3492674" y="157985"/>
                      <a:pt x="3484323" y="885538"/>
                      <a:pt x="3657600" y="961738"/>
                    </a:cubicBezTo>
                    <a:cubicBezTo>
                      <a:pt x="3830877" y="1037938"/>
                      <a:pt x="4226491" y="557774"/>
                      <a:pt x="4252587" y="498275"/>
                    </a:cubicBezTo>
                  </a:path>
                </a:pathLst>
              </a:cu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a:extLst>
                  <a:ext uri="{FF2B5EF4-FFF2-40B4-BE49-F238E27FC236}">
                    <a16:creationId xmlns:a16="http://schemas.microsoft.com/office/drawing/2014/main" id="{49859365-C294-B3F4-3C94-430AF0ACCB48}"/>
                  </a:ext>
                </a:extLst>
              </p:cNvPr>
              <p:cNvSpPr txBox="1"/>
              <p:nvPr/>
            </p:nvSpPr>
            <p:spPr>
              <a:xfrm>
                <a:off x="9488109" y="3638893"/>
                <a:ext cx="1779526" cy="369332"/>
              </a:xfrm>
              <a:prstGeom prst="rect">
                <a:avLst/>
              </a:prstGeom>
              <a:noFill/>
            </p:spPr>
            <p:txBody>
              <a:bodyPr wrap="none" rtlCol="0">
                <a:spAutoFit/>
              </a:bodyPr>
              <a:lstStyle/>
              <a:p>
                <a:r>
                  <a:rPr lang="en-US" altLang="zh-CN" dirty="0"/>
                  <a:t>Macro Surface</a:t>
                </a:r>
                <a:endParaRPr lang="zh-CN" altLang="en-US" dirty="0"/>
              </a:p>
            </p:txBody>
          </p:sp>
          <p:sp>
            <p:nvSpPr>
              <p:cNvPr id="10" name="文本框 9">
                <a:extLst>
                  <a:ext uri="{FF2B5EF4-FFF2-40B4-BE49-F238E27FC236}">
                    <a16:creationId xmlns:a16="http://schemas.microsoft.com/office/drawing/2014/main" id="{BEF34025-8F87-EF3F-BF10-2AF2801FF16D}"/>
                  </a:ext>
                </a:extLst>
              </p:cNvPr>
              <p:cNvSpPr txBox="1"/>
              <p:nvPr/>
            </p:nvSpPr>
            <p:spPr>
              <a:xfrm>
                <a:off x="7455086" y="3849686"/>
                <a:ext cx="1712200" cy="369332"/>
              </a:xfrm>
              <a:prstGeom prst="rect">
                <a:avLst/>
              </a:prstGeom>
              <a:noFill/>
            </p:spPr>
            <p:txBody>
              <a:bodyPr wrap="none" rtlCol="0">
                <a:spAutoFit/>
              </a:bodyPr>
              <a:lstStyle/>
              <a:p>
                <a:r>
                  <a:rPr lang="en-US" altLang="zh-CN" dirty="0">
                    <a:solidFill>
                      <a:schemeClr val="accent2"/>
                    </a:solidFill>
                  </a:rPr>
                  <a:t>Micro Surface</a:t>
                </a:r>
                <a:endParaRPr lang="zh-CN" altLang="en-US" dirty="0">
                  <a:solidFill>
                    <a:schemeClr val="accent2"/>
                  </a:solidFill>
                </a:endParaRPr>
              </a:p>
            </p:txBody>
          </p:sp>
          <p:sp>
            <p:nvSpPr>
              <p:cNvPr id="21" name="任意多边形: 形状 20">
                <a:extLst>
                  <a:ext uri="{FF2B5EF4-FFF2-40B4-BE49-F238E27FC236}">
                    <a16:creationId xmlns:a16="http://schemas.microsoft.com/office/drawing/2014/main" id="{D0EC418C-31B2-CC70-4373-20B81FD7E25D}"/>
                  </a:ext>
                </a:extLst>
              </p:cNvPr>
              <p:cNvSpPr/>
              <p:nvPr/>
            </p:nvSpPr>
            <p:spPr>
              <a:xfrm>
                <a:off x="7382934" y="2645834"/>
                <a:ext cx="4212166" cy="1206500"/>
              </a:xfrm>
              <a:custGeom>
                <a:avLst/>
                <a:gdLst>
                  <a:gd name="connsiteX0" fmla="*/ 0 w 4212166"/>
                  <a:gd name="connsiteY0" fmla="*/ 766233 h 1206500"/>
                  <a:gd name="connsiteX1" fmla="*/ 342900 w 4212166"/>
                  <a:gd name="connsiteY1" fmla="*/ 347133 h 1206500"/>
                  <a:gd name="connsiteX2" fmla="*/ 579966 w 4212166"/>
                  <a:gd name="connsiteY2" fmla="*/ 156633 h 1206500"/>
                  <a:gd name="connsiteX3" fmla="*/ 766233 w 4212166"/>
                  <a:gd name="connsiteY3" fmla="*/ 105833 h 1206500"/>
                  <a:gd name="connsiteX4" fmla="*/ 833966 w 4212166"/>
                  <a:gd name="connsiteY4" fmla="*/ 232833 h 1206500"/>
                  <a:gd name="connsiteX5" fmla="*/ 859366 w 4212166"/>
                  <a:gd name="connsiteY5" fmla="*/ 508000 h 1206500"/>
                  <a:gd name="connsiteX6" fmla="*/ 880533 w 4212166"/>
                  <a:gd name="connsiteY6" fmla="*/ 791633 h 1206500"/>
                  <a:gd name="connsiteX7" fmla="*/ 910166 w 4212166"/>
                  <a:gd name="connsiteY7" fmla="*/ 948266 h 1206500"/>
                  <a:gd name="connsiteX8" fmla="*/ 994833 w 4212166"/>
                  <a:gd name="connsiteY8" fmla="*/ 1037166 h 1206500"/>
                  <a:gd name="connsiteX9" fmla="*/ 1299633 w 4212166"/>
                  <a:gd name="connsiteY9" fmla="*/ 1176866 h 1206500"/>
                  <a:gd name="connsiteX10" fmla="*/ 1756833 w 4212166"/>
                  <a:gd name="connsiteY10" fmla="*/ 1206500 h 1206500"/>
                  <a:gd name="connsiteX11" fmla="*/ 1943100 w 4212166"/>
                  <a:gd name="connsiteY11" fmla="*/ 1138766 h 1206500"/>
                  <a:gd name="connsiteX12" fmla="*/ 1930400 w 4212166"/>
                  <a:gd name="connsiteY12" fmla="*/ 897466 h 1206500"/>
                  <a:gd name="connsiteX13" fmla="*/ 1849966 w 4212166"/>
                  <a:gd name="connsiteY13" fmla="*/ 588433 h 1206500"/>
                  <a:gd name="connsiteX14" fmla="*/ 1905000 w 4212166"/>
                  <a:gd name="connsiteY14" fmla="*/ 317500 h 1206500"/>
                  <a:gd name="connsiteX15" fmla="*/ 2103966 w 4212166"/>
                  <a:gd name="connsiteY15" fmla="*/ 152400 h 1206500"/>
                  <a:gd name="connsiteX16" fmla="*/ 2501900 w 4212166"/>
                  <a:gd name="connsiteY16" fmla="*/ 42333 h 1206500"/>
                  <a:gd name="connsiteX17" fmla="*/ 2963333 w 4212166"/>
                  <a:gd name="connsiteY17" fmla="*/ 0 h 1206500"/>
                  <a:gd name="connsiteX18" fmla="*/ 3386666 w 4212166"/>
                  <a:gd name="connsiteY18" fmla="*/ 71966 h 1206500"/>
                  <a:gd name="connsiteX19" fmla="*/ 3479800 w 4212166"/>
                  <a:gd name="connsiteY19" fmla="*/ 296333 h 1206500"/>
                  <a:gd name="connsiteX20" fmla="*/ 3568700 w 4212166"/>
                  <a:gd name="connsiteY20" fmla="*/ 630766 h 1206500"/>
                  <a:gd name="connsiteX21" fmla="*/ 3661833 w 4212166"/>
                  <a:gd name="connsiteY21" fmla="*/ 876300 h 1206500"/>
                  <a:gd name="connsiteX22" fmla="*/ 3738033 w 4212166"/>
                  <a:gd name="connsiteY22" fmla="*/ 960966 h 1206500"/>
                  <a:gd name="connsiteX23" fmla="*/ 3949700 w 4212166"/>
                  <a:gd name="connsiteY23" fmla="*/ 867833 h 1206500"/>
                  <a:gd name="connsiteX24" fmla="*/ 4212166 w 4212166"/>
                  <a:gd name="connsiteY24" fmla="*/ 546100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12166" h="1206500">
                    <a:moveTo>
                      <a:pt x="0" y="766233"/>
                    </a:moveTo>
                    <a:lnTo>
                      <a:pt x="342900" y="347133"/>
                    </a:lnTo>
                    <a:lnTo>
                      <a:pt x="579966" y="156633"/>
                    </a:lnTo>
                    <a:lnTo>
                      <a:pt x="766233" y="105833"/>
                    </a:lnTo>
                    <a:lnTo>
                      <a:pt x="833966" y="232833"/>
                    </a:lnTo>
                    <a:lnTo>
                      <a:pt x="859366" y="508000"/>
                    </a:lnTo>
                    <a:lnTo>
                      <a:pt x="880533" y="791633"/>
                    </a:lnTo>
                    <a:lnTo>
                      <a:pt x="910166" y="948266"/>
                    </a:lnTo>
                    <a:lnTo>
                      <a:pt x="994833" y="1037166"/>
                    </a:lnTo>
                    <a:lnTo>
                      <a:pt x="1299633" y="1176866"/>
                    </a:lnTo>
                    <a:lnTo>
                      <a:pt x="1756833" y="1206500"/>
                    </a:lnTo>
                    <a:lnTo>
                      <a:pt x="1943100" y="1138766"/>
                    </a:lnTo>
                    <a:lnTo>
                      <a:pt x="1930400" y="897466"/>
                    </a:lnTo>
                    <a:lnTo>
                      <a:pt x="1849966" y="588433"/>
                    </a:lnTo>
                    <a:lnTo>
                      <a:pt x="1905000" y="317500"/>
                    </a:lnTo>
                    <a:lnTo>
                      <a:pt x="2103966" y="152400"/>
                    </a:lnTo>
                    <a:lnTo>
                      <a:pt x="2501900" y="42333"/>
                    </a:lnTo>
                    <a:lnTo>
                      <a:pt x="2963333" y="0"/>
                    </a:lnTo>
                    <a:lnTo>
                      <a:pt x="3386666" y="71966"/>
                    </a:lnTo>
                    <a:lnTo>
                      <a:pt x="3479800" y="296333"/>
                    </a:lnTo>
                    <a:lnTo>
                      <a:pt x="3568700" y="630766"/>
                    </a:lnTo>
                    <a:lnTo>
                      <a:pt x="3661833" y="876300"/>
                    </a:lnTo>
                    <a:lnTo>
                      <a:pt x="3738033" y="960966"/>
                    </a:lnTo>
                    <a:lnTo>
                      <a:pt x="3949700" y="867833"/>
                    </a:lnTo>
                    <a:lnTo>
                      <a:pt x="4212166" y="546100"/>
                    </a:ln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F5197C98-3537-7259-7DCB-F0046C54E080}"/>
                  </a:ext>
                </a:extLst>
              </p:cNvPr>
              <p:cNvSpPr txBox="1"/>
              <p:nvPr/>
            </p:nvSpPr>
            <p:spPr>
              <a:xfrm>
                <a:off x="7054948" y="2393673"/>
                <a:ext cx="1356718" cy="369332"/>
              </a:xfrm>
              <a:prstGeom prst="rect">
                <a:avLst/>
              </a:prstGeom>
              <a:noFill/>
            </p:spPr>
            <p:txBody>
              <a:bodyPr wrap="none" rtlCol="0">
                <a:spAutoFit/>
              </a:bodyPr>
              <a:lstStyle/>
              <a:p>
                <a:r>
                  <a:rPr lang="en-US" altLang="zh-CN" dirty="0">
                    <a:solidFill>
                      <a:schemeClr val="accent4">
                        <a:lumMod val="60000"/>
                        <a:lumOff val="40000"/>
                      </a:schemeClr>
                    </a:solidFill>
                  </a:rPr>
                  <a:t>Microfacet</a:t>
                </a:r>
                <a:endParaRPr lang="zh-CN" altLang="en-US" dirty="0">
                  <a:solidFill>
                    <a:schemeClr val="accent4">
                      <a:lumMod val="60000"/>
                      <a:lumOff val="40000"/>
                    </a:schemeClr>
                  </a:solidFill>
                </a:endParaRPr>
              </a:p>
            </p:txBody>
          </p:sp>
        </p:grpSp>
        <p:cxnSp>
          <p:nvCxnSpPr>
            <p:cNvPr id="25" name="直接箭头连接符 24">
              <a:extLst>
                <a:ext uri="{FF2B5EF4-FFF2-40B4-BE49-F238E27FC236}">
                  <a16:creationId xmlns:a16="http://schemas.microsoft.com/office/drawing/2014/main" id="{E0F35FE9-C7DC-9ED9-FF39-347D9E8D56C6}"/>
                </a:ext>
              </a:extLst>
            </p:cNvPr>
            <p:cNvCxnSpPr>
              <a:cxnSpLocks/>
            </p:cNvCxnSpPr>
            <p:nvPr/>
          </p:nvCxnSpPr>
          <p:spPr>
            <a:xfrm flipV="1">
              <a:off x="9620885" y="2532380"/>
              <a:ext cx="1819843" cy="12827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20AA79B9-9346-69A6-6BFC-0F6FD2CC6415}"/>
                </a:ext>
              </a:extLst>
            </p:cNvPr>
            <p:cNvCxnSpPr>
              <a:cxnSpLocks/>
            </p:cNvCxnSpPr>
            <p:nvPr/>
          </p:nvCxnSpPr>
          <p:spPr>
            <a:xfrm flipH="1" flipV="1">
              <a:off x="8056880" y="2532380"/>
              <a:ext cx="1564385" cy="12699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33E622C8-71C3-22F6-222E-CBC6806A114C}"/>
                </a:ext>
              </a:extLst>
            </p:cNvPr>
            <p:cNvCxnSpPr>
              <a:cxnSpLocks/>
            </p:cNvCxnSpPr>
            <p:nvPr/>
          </p:nvCxnSpPr>
          <p:spPr>
            <a:xfrm>
              <a:off x="10392439" y="3304225"/>
              <a:ext cx="1366491" cy="392832"/>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FC1618BE-C7CB-2B47-DB97-8B95AE01CDDB}"/>
                </a:ext>
              </a:extLst>
            </p:cNvPr>
            <p:cNvCxnSpPr>
              <a:cxnSpLocks/>
            </p:cNvCxnSpPr>
            <p:nvPr/>
          </p:nvCxnSpPr>
          <p:spPr>
            <a:xfrm flipV="1">
              <a:off x="9620885" y="3304225"/>
              <a:ext cx="0" cy="510855"/>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44" name="直接箭头连接符 43">
              <a:extLst>
                <a:ext uri="{FF2B5EF4-FFF2-40B4-BE49-F238E27FC236}">
                  <a16:creationId xmlns:a16="http://schemas.microsoft.com/office/drawing/2014/main" id="{D7A6C5BE-B578-89D8-16F0-06B5DA1E0EA2}"/>
                </a:ext>
              </a:extLst>
            </p:cNvPr>
            <p:cNvCxnSpPr>
              <a:cxnSpLocks/>
            </p:cNvCxnSpPr>
            <p:nvPr/>
          </p:nvCxnSpPr>
          <p:spPr>
            <a:xfrm flipV="1">
              <a:off x="10392439" y="3200400"/>
              <a:ext cx="666721" cy="103825"/>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8DF1ED40-B813-B3A5-76E8-0FB16E0D0C38}"/>
                    </a:ext>
                  </a:extLst>
                </p:cNvPr>
                <p:cNvSpPr txBox="1"/>
                <p:nvPr/>
              </p:nvSpPr>
              <p:spPr>
                <a:xfrm>
                  <a:off x="11070216" y="2148285"/>
                  <a:ext cx="4272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smtClean="0">
                            <a:latin typeface="Cambria Math" panose="02040503050406030204" pitchFamily="18" charset="0"/>
                          </a:rPr>
                          <m:t>𝒊</m:t>
                        </m:r>
                      </m:oMath>
                    </m:oMathPara>
                  </a14:m>
                  <a:endParaRPr lang="zh-CN" altLang="en-US" b="1" dirty="0"/>
                </a:p>
              </p:txBody>
            </p:sp>
          </mc:Choice>
          <mc:Fallback xmlns="">
            <p:sp>
              <p:nvSpPr>
                <p:cNvPr id="48" name="文本框 47">
                  <a:extLst>
                    <a:ext uri="{FF2B5EF4-FFF2-40B4-BE49-F238E27FC236}">
                      <a16:creationId xmlns:a16="http://schemas.microsoft.com/office/drawing/2014/main" id="{8DF1ED40-B813-B3A5-76E8-0FB16E0D0C38}"/>
                    </a:ext>
                  </a:extLst>
                </p:cNvPr>
                <p:cNvSpPr txBox="1">
                  <a:spLocks noRot="1" noChangeAspect="1" noMove="1" noResize="1" noEditPoints="1" noAdjustHandles="1" noChangeArrowheads="1" noChangeShapeType="1" noTextEdit="1"/>
                </p:cNvSpPr>
                <p:nvPr/>
              </p:nvSpPr>
              <p:spPr>
                <a:xfrm>
                  <a:off x="11070216" y="2148285"/>
                  <a:ext cx="427296" cy="36933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43EBF67A-5BDF-C668-76FE-D5D00BB64B47}"/>
                    </a:ext>
                  </a:extLst>
                </p:cNvPr>
                <p:cNvSpPr txBox="1"/>
                <p:nvPr/>
              </p:nvSpPr>
              <p:spPr>
                <a:xfrm>
                  <a:off x="8056880" y="2134903"/>
                  <a:ext cx="4272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chemeClr val="tx1"/>
                            </a:solidFill>
                            <a:latin typeface="Cambria Math" panose="02040503050406030204" pitchFamily="18" charset="0"/>
                          </a:rPr>
                          <m:t>𝒐</m:t>
                        </m:r>
                      </m:oMath>
                    </m:oMathPara>
                  </a14:m>
                  <a:endParaRPr lang="zh-CN" altLang="en-US" b="1" dirty="0">
                    <a:solidFill>
                      <a:schemeClr val="tx1"/>
                    </a:solidFill>
                  </a:endParaRPr>
                </a:p>
              </p:txBody>
            </p:sp>
          </mc:Choice>
          <mc:Fallback xmlns="">
            <p:sp>
              <p:nvSpPr>
                <p:cNvPr id="49" name="文本框 48">
                  <a:extLst>
                    <a:ext uri="{FF2B5EF4-FFF2-40B4-BE49-F238E27FC236}">
                      <a16:creationId xmlns:a16="http://schemas.microsoft.com/office/drawing/2014/main" id="{43EBF67A-5BDF-C668-76FE-D5D00BB64B47}"/>
                    </a:ext>
                  </a:extLst>
                </p:cNvPr>
                <p:cNvSpPr txBox="1">
                  <a:spLocks noRot="1" noChangeAspect="1" noMove="1" noResize="1" noEditPoints="1" noAdjustHandles="1" noChangeArrowheads="1" noChangeShapeType="1" noTextEdit="1"/>
                </p:cNvSpPr>
                <p:nvPr/>
              </p:nvSpPr>
              <p:spPr>
                <a:xfrm>
                  <a:off x="8056880" y="2134903"/>
                  <a:ext cx="427296"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92DD1196-F284-CCAC-AEAC-D038E066F101}"/>
                    </a:ext>
                  </a:extLst>
                </p:cNvPr>
                <p:cNvSpPr txBox="1"/>
                <p:nvPr/>
              </p:nvSpPr>
              <p:spPr>
                <a:xfrm>
                  <a:off x="11301045" y="3630415"/>
                  <a:ext cx="4272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b="1" i="1" dirty="0" smtClean="0">
                                <a:solidFill>
                                  <a:schemeClr val="accent4">
                                    <a:lumMod val="60000"/>
                                    <a:lumOff val="40000"/>
                                  </a:schemeClr>
                                </a:solidFill>
                                <a:latin typeface="Cambria Math" panose="02040503050406030204" pitchFamily="18" charset="0"/>
                              </a:rPr>
                            </m:ctrlPr>
                          </m:sSupPr>
                          <m:e>
                            <m:r>
                              <a:rPr lang="en-US" altLang="zh-CN" b="1" i="1" dirty="0" smtClean="0">
                                <a:solidFill>
                                  <a:schemeClr val="accent4">
                                    <a:lumMod val="60000"/>
                                    <a:lumOff val="40000"/>
                                  </a:schemeClr>
                                </a:solidFill>
                                <a:latin typeface="Cambria Math" panose="02040503050406030204" pitchFamily="18" charset="0"/>
                              </a:rPr>
                              <m:t>𝒐</m:t>
                            </m:r>
                          </m:e>
                          <m:sup>
                            <m:r>
                              <a:rPr lang="en-US" altLang="zh-CN" b="1" i="1" dirty="0" smtClean="0">
                                <a:solidFill>
                                  <a:schemeClr val="accent4">
                                    <a:lumMod val="60000"/>
                                    <a:lumOff val="40000"/>
                                  </a:schemeClr>
                                </a:solidFill>
                                <a:latin typeface="Cambria Math" panose="02040503050406030204" pitchFamily="18" charset="0"/>
                              </a:rPr>
                              <m:t>′</m:t>
                            </m:r>
                          </m:sup>
                        </m:sSup>
                      </m:oMath>
                    </m:oMathPara>
                  </a14:m>
                  <a:endParaRPr lang="zh-CN" altLang="en-US" b="1" dirty="0">
                    <a:solidFill>
                      <a:schemeClr val="accent4">
                        <a:lumMod val="60000"/>
                        <a:lumOff val="40000"/>
                      </a:schemeClr>
                    </a:solidFill>
                  </a:endParaRPr>
                </a:p>
              </p:txBody>
            </p:sp>
          </mc:Choice>
          <mc:Fallback xmlns="">
            <p:sp>
              <p:nvSpPr>
                <p:cNvPr id="50" name="文本框 49">
                  <a:extLst>
                    <a:ext uri="{FF2B5EF4-FFF2-40B4-BE49-F238E27FC236}">
                      <a16:creationId xmlns:a16="http://schemas.microsoft.com/office/drawing/2014/main" id="{92DD1196-F284-CCAC-AEAC-D038E066F101}"/>
                    </a:ext>
                  </a:extLst>
                </p:cNvPr>
                <p:cNvSpPr txBox="1">
                  <a:spLocks noRot="1" noChangeAspect="1" noMove="1" noResize="1" noEditPoints="1" noAdjustHandles="1" noChangeArrowheads="1" noChangeShapeType="1" noTextEdit="1"/>
                </p:cNvSpPr>
                <p:nvPr/>
              </p:nvSpPr>
              <p:spPr>
                <a:xfrm>
                  <a:off x="11301045" y="3630415"/>
                  <a:ext cx="427296"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57F48B7D-0876-FAD8-F956-E3701C39ACD2}"/>
                    </a:ext>
                  </a:extLst>
                </p:cNvPr>
                <p:cNvSpPr txBox="1"/>
                <p:nvPr/>
              </p:nvSpPr>
              <p:spPr>
                <a:xfrm>
                  <a:off x="9587502" y="3048597"/>
                  <a:ext cx="4272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smtClean="0">
                            <a:latin typeface="Cambria Math" panose="02040503050406030204" pitchFamily="18" charset="0"/>
                          </a:rPr>
                          <m:t>𝒈</m:t>
                        </m:r>
                      </m:oMath>
                    </m:oMathPara>
                  </a14:m>
                  <a:endParaRPr lang="zh-CN" altLang="en-US" b="1" dirty="0"/>
                </a:p>
              </p:txBody>
            </p:sp>
          </mc:Choice>
          <mc:Fallback xmlns="">
            <p:sp>
              <p:nvSpPr>
                <p:cNvPr id="51" name="文本框 50">
                  <a:extLst>
                    <a:ext uri="{FF2B5EF4-FFF2-40B4-BE49-F238E27FC236}">
                      <a16:creationId xmlns:a16="http://schemas.microsoft.com/office/drawing/2014/main" id="{57F48B7D-0876-FAD8-F956-E3701C39ACD2}"/>
                    </a:ext>
                  </a:extLst>
                </p:cNvPr>
                <p:cNvSpPr txBox="1">
                  <a:spLocks noRot="1" noChangeAspect="1" noMove="1" noResize="1" noEditPoints="1" noAdjustHandles="1" noChangeArrowheads="1" noChangeShapeType="1" noTextEdit="1"/>
                </p:cNvSpPr>
                <p:nvPr/>
              </p:nvSpPr>
              <p:spPr>
                <a:xfrm>
                  <a:off x="9587502" y="3048597"/>
                  <a:ext cx="427296" cy="369332"/>
                </a:xfrm>
                <a:prstGeom prst="rect">
                  <a:avLst/>
                </a:prstGeom>
                <a:blipFill>
                  <a:blip r:embed="rId5"/>
                  <a:stretch>
                    <a:fillRect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2" name="文本框 51">
                  <a:extLst>
                    <a:ext uri="{FF2B5EF4-FFF2-40B4-BE49-F238E27FC236}">
                      <a16:creationId xmlns:a16="http://schemas.microsoft.com/office/drawing/2014/main" id="{8B9EE94A-2B18-FD6A-8849-EF46B30D38F2}"/>
                    </a:ext>
                  </a:extLst>
                </p:cNvPr>
                <p:cNvSpPr txBox="1"/>
                <p:nvPr/>
              </p:nvSpPr>
              <p:spPr>
                <a:xfrm>
                  <a:off x="11059614" y="2965493"/>
                  <a:ext cx="427296"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chemeClr val="accent4">
                                <a:lumMod val="60000"/>
                                <a:lumOff val="40000"/>
                              </a:schemeClr>
                            </a:solidFill>
                            <a:latin typeface="Cambria Math" panose="02040503050406030204" pitchFamily="18" charset="0"/>
                          </a:rPr>
                          <m:t>𝒎</m:t>
                        </m:r>
                      </m:oMath>
                    </m:oMathPara>
                  </a14:m>
                  <a:endParaRPr lang="zh-CN" altLang="en-US" b="1" dirty="0">
                    <a:solidFill>
                      <a:schemeClr val="accent4">
                        <a:lumMod val="60000"/>
                        <a:lumOff val="40000"/>
                      </a:schemeClr>
                    </a:solidFill>
                  </a:endParaRPr>
                </a:p>
              </p:txBody>
            </p:sp>
          </mc:Choice>
          <mc:Fallback xmlns="">
            <p:sp>
              <p:nvSpPr>
                <p:cNvPr id="52" name="文本框 51">
                  <a:extLst>
                    <a:ext uri="{FF2B5EF4-FFF2-40B4-BE49-F238E27FC236}">
                      <a16:creationId xmlns:a16="http://schemas.microsoft.com/office/drawing/2014/main" id="{8B9EE94A-2B18-FD6A-8849-EF46B30D38F2}"/>
                    </a:ext>
                  </a:extLst>
                </p:cNvPr>
                <p:cNvSpPr txBox="1">
                  <a:spLocks noRot="1" noChangeAspect="1" noMove="1" noResize="1" noEditPoints="1" noAdjustHandles="1" noChangeArrowheads="1" noChangeShapeType="1" noTextEdit="1"/>
                </p:cNvSpPr>
                <p:nvPr/>
              </p:nvSpPr>
              <p:spPr>
                <a:xfrm>
                  <a:off x="11059614" y="2965493"/>
                  <a:ext cx="427296" cy="369332"/>
                </a:xfrm>
                <a:prstGeom prst="rect">
                  <a:avLst/>
                </a:prstGeom>
                <a:blipFill>
                  <a:blip r:embed="rId6"/>
                  <a:stretch>
                    <a:fillRect/>
                  </a:stretch>
                </a:blipFill>
                <a:ln>
                  <a:noFill/>
                </a:ln>
              </p:spPr>
              <p:txBody>
                <a:bodyPr/>
                <a:lstStyle/>
                <a:p>
                  <a:r>
                    <a:rPr lang="zh-CN" altLang="en-US">
                      <a:noFill/>
                    </a:rPr>
                    <a:t> </a:t>
                  </a:r>
                </a:p>
              </p:txBody>
            </p:sp>
          </mc:Fallback>
        </mc:AlternateContent>
      </p:grpSp>
    </p:spTree>
    <p:extLst>
      <p:ext uri="{BB962C8B-B14F-4D97-AF65-F5344CB8AC3E}">
        <p14:creationId xmlns:p14="http://schemas.microsoft.com/office/powerpoint/2010/main" val="37055131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5D8F4-1F03-3A1D-47C5-E7A160FD9870}"/>
            </a:ext>
          </a:extLst>
        </p:cNvPr>
        <p:cNvGrpSpPr/>
        <p:nvPr/>
      </p:nvGrpSpPr>
      <p:grpSpPr>
        <a:xfrm>
          <a:off x="0" y="0"/>
          <a:ext cx="0" cy="0"/>
          <a:chOff x="0" y="0"/>
          <a:chExt cx="0" cy="0"/>
        </a:xfrm>
      </p:grpSpPr>
      <p:sp>
        <p:nvSpPr>
          <p:cNvPr id="59" name="矩形 58">
            <a:extLst>
              <a:ext uri="{FF2B5EF4-FFF2-40B4-BE49-F238E27FC236}">
                <a16:creationId xmlns:a16="http://schemas.microsoft.com/office/drawing/2014/main" id="{49C36377-BAEE-9410-45FB-28031750F360}"/>
              </a:ext>
            </a:extLst>
          </p:cNvPr>
          <p:cNvSpPr/>
          <p:nvPr/>
        </p:nvSpPr>
        <p:spPr>
          <a:xfrm>
            <a:off x="631111" y="1419615"/>
            <a:ext cx="5430501" cy="5198437"/>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13" name="标题 2">
            <a:extLst>
              <a:ext uri="{FF2B5EF4-FFF2-40B4-BE49-F238E27FC236}">
                <a16:creationId xmlns:a16="http://schemas.microsoft.com/office/drawing/2014/main" id="{26E78182-C0B5-57D3-AA2A-C9D4F6EE20F7}"/>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微表面理论  </a:t>
            </a:r>
            <a:r>
              <a:rPr lang="en-US" altLang="zh-CN" dirty="0"/>
              <a:t>Microfacet Theory</a:t>
            </a:r>
            <a:endParaRPr lang="en-US" dirty="0"/>
          </a:p>
        </p:txBody>
      </p:sp>
      <p:sp>
        <p:nvSpPr>
          <p:cNvPr id="3" name="矩形 2">
            <a:extLst>
              <a:ext uri="{FF2B5EF4-FFF2-40B4-BE49-F238E27FC236}">
                <a16:creationId xmlns:a16="http://schemas.microsoft.com/office/drawing/2014/main" id="{6335725A-C62A-2031-B57B-D2EB39F8AA84}"/>
              </a:ext>
            </a:extLst>
          </p:cNvPr>
          <p:cNvSpPr/>
          <p:nvPr/>
        </p:nvSpPr>
        <p:spPr>
          <a:xfrm>
            <a:off x="478711" y="1267215"/>
            <a:ext cx="5430501" cy="519843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dirty="0">
                <a:solidFill>
                  <a:schemeClr val="tx1"/>
                </a:solidFill>
              </a:rPr>
              <a:t>        除了精度的种种限制，还有算力的限制。精确描述微观结构所需的三角形数量将会呈几何倍数增长。此外，更复杂的几何结构还会降低</a:t>
            </a:r>
            <a:r>
              <a:rPr lang="en-US" altLang="zh-CN" sz="2000" dirty="0">
                <a:solidFill>
                  <a:schemeClr val="tx1"/>
                </a:solidFill>
              </a:rPr>
              <a:t>Monte Carlo</a:t>
            </a:r>
            <a:r>
              <a:rPr lang="zh-CN" altLang="en-US" sz="2000" dirty="0">
                <a:solidFill>
                  <a:schemeClr val="tx1"/>
                </a:solidFill>
              </a:rPr>
              <a:t>估计器的效率，需要更多的采样点才能得到低噪声的结果。</a:t>
            </a:r>
            <a:endParaRPr lang="en-US" altLang="zh-CN" sz="2000" dirty="0">
              <a:solidFill>
                <a:schemeClr val="tx1"/>
              </a:solidFill>
            </a:endParaRPr>
          </a:p>
          <a:p>
            <a:pPr>
              <a:lnSpc>
                <a:spcPct val="150000"/>
              </a:lnSpc>
            </a:pPr>
            <a:endParaRPr lang="en-US" altLang="zh-CN" sz="2000" dirty="0">
              <a:solidFill>
                <a:schemeClr val="tx1"/>
              </a:solidFill>
            </a:endParaRPr>
          </a:p>
          <a:p>
            <a:pPr>
              <a:lnSpc>
                <a:spcPct val="150000"/>
              </a:lnSpc>
            </a:pPr>
            <a:r>
              <a:rPr lang="zh-CN" altLang="en-US" sz="2000" dirty="0">
                <a:solidFill>
                  <a:schemeClr val="tx1"/>
                </a:solidFill>
              </a:rPr>
              <a:t>        为了应对诸多限制，微表面理论将不会直接模拟对应的效果。因为微表面足够小，所以当一束光线击中宏观表面时，光束会与大量的微观表面交互，因此可以用统计学的方法，得到光束与大量微表面交互的整体效果。</a:t>
            </a:r>
            <a:endParaRPr lang="en-US" altLang="zh-CN" sz="2000" dirty="0">
              <a:solidFill>
                <a:schemeClr val="tx1"/>
              </a:solidFill>
            </a:endParaRPr>
          </a:p>
        </p:txBody>
      </p:sp>
      <p:sp>
        <p:nvSpPr>
          <p:cNvPr id="2" name="矩形 1">
            <a:extLst>
              <a:ext uri="{FF2B5EF4-FFF2-40B4-BE49-F238E27FC236}">
                <a16:creationId xmlns:a16="http://schemas.microsoft.com/office/drawing/2014/main" id="{172BA369-F092-3825-F7DC-39F797C61819}"/>
              </a:ext>
            </a:extLst>
          </p:cNvPr>
          <p:cNvSpPr/>
          <p:nvPr/>
        </p:nvSpPr>
        <p:spPr>
          <a:xfrm>
            <a:off x="6461044" y="1863725"/>
            <a:ext cx="5559506" cy="313055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4DF15785-4B47-97E8-F9A1-E22076C094E7}"/>
              </a:ext>
            </a:extLst>
          </p:cNvPr>
          <p:cNvSpPr/>
          <p:nvPr/>
        </p:nvSpPr>
        <p:spPr>
          <a:xfrm>
            <a:off x="6308644" y="1711325"/>
            <a:ext cx="5559506" cy="313055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a:extLst>
              <a:ext uri="{FF2B5EF4-FFF2-40B4-BE49-F238E27FC236}">
                <a16:creationId xmlns:a16="http://schemas.microsoft.com/office/drawing/2014/main" id="{B7E4B7D9-71D3-35AE-71C7-CDF6DF2EA42E}"/>
              </a:ext>
            </a:extLst>
          </p:cNvPr>
          <p:cNvGrpSpPr/>
          <p:nvPr/>
        </p:nvGrpSpPr>
        <p:grpSpPr>
          <a:xfrm>
            <a:off x="6431378" y="2017428"/>
            <a:ext cx="5181502" cy="2470195"/>
            <a:chOff x="6577428" y="2134903"/>
            <a:chExt cx="5181502" cy="2470195"/>
          </a:xfrm>
        </p:grpSpPr>
        <p:grpSp>
          <p:nvGrpSpPr>
            <p:cNvPr id="8" name="组合 7">
              <a:extLst>
                <a:ext uri="{FF2B5EF4-FFF2-40B4-BE49-F238E27FC236}">
                  <a16:creationId xmlns:a16="http://schemas.microsoft.com/office/drawing/2014/main" id="{54BEF32B-733A-386F-1A4E-BC21802FF917}"/>
                </a:ext>
              </a:extLst>
            </p:cNvPr>
            <p:cNvGrpSpPr/>
            <p:nvPr/>
          </p:nvGrpSpPr>
          <p:grpSpPr>
            <a:xfrm>
              <a:off x="6577428" y="2779753"/>
              <a:ext cx="4603076" cy="1825345"/>
              <a:chOff x="7054948" y="2393673"/>
              <a:chExt cx="4603076" cy="1825345"/>
            </a:xfrm>
          </p:grpSpPr>
          <p:cxnSp>
            <p:nvCxnSpPr>
              <p:cNvPr id="36" name="直接连接符 35">
                <a:extLst>
                  <a:ext uri="{FF2B5EF4-FFF2-40B4-BE49-F238E27FC236}">
                    <a16:creationId xmlns:a16="http://schemas.microsoft.com/office/drawing/2014/main" id="{F9CD79F6-A98D-C1E8-A1A8-CB4C9CA764C5}"/>
                  </a:ext>
                </a:extLst>
              </p:cNvPr>
              <p:cNvCxnSpPr/>
              <p:nvPr/>
            </p:nvCxnSpPr>
            <p:spPr>
              <a:xfrm>
                <a:off x="7405437" y="3429000"/>
                <a:ext cx="409060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任意多边形: 形状 36">
                <a:extLst>
                  <a:ext uri="{FF2B5EF4-FFF2-40B4-BE49-F238E27FC236}">
                    <a16:creationId xmlns:a16="http://schemas.microsoft.com/office/drawing/2014/main" id="{FA3A113A-A81C-FA3F-7396-12BA639B4208}"/>
                  </a:ext>
                </a:extLst>
              </p:cNvPr>
              <p:cNvSpPr/>
              <p:nvPr/>
            </p:nvSpPr>
            <p:spPr>
              <a:xfrm>
                <a:off x="7405437" y="2702125"/>
                <a:ext cx="4252587" cy="1217704"/>
              </a:xfrm>
              <a:custGeom>
                <a:avLst/>
                <a:gdLst>
                  <a:gd name="connsiteX0" fmla="*/ 0 w 4252587"/>
                  <a:gd name="connsiteY0" fmla="*/ 755059 h 1217704"/>
                  <a:gd name="connsiteX1" fmla="*/ 695195 w 4252587"/>
                  <a:gd name="connsiteY1" fmla="*/ 141283 h 1217704"/>
                  <a:gd name="connsiteX2" fmla="*/ 914400 w 4252587"/>
                  <a:gd name="connsiteY2" fmla="*/ 1043157 h 1217704"/>
                  <a:gd name="connsiteX3" fmla="*/ 1947797 w 4252587"/>
                  <a:gd name="connsiteY3" fmla="*/ 1149628 h 1217704"/>
                  <a:gd name="connsiteX4" fmla="*/ 1979113 w 4252587"/>
                  <a:gd name="connsiteY4" fmla="*/ 260280 h 1217704"/>
                  <a:gd name="connsiteX5" fmla="*/ 3212926 w 4252587"/>
                  <a:gd name="connsiteY5" fmla="*/ 41075 h 1217704"/>
                  <a:gd name="connsiteX6" fmla="*/ 3657600 w 4252587"/>
                  <a:gd name="connsiteY6" fmla="*/ 961738 h 1217704"/>
                  <a:gd name="connsiteX7" fmla="*/ 4252587 w 4252587"/>
                  <a:gd name="connsiteY7" fmla="*/ 498275 h 1217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52587" h="1217704">
                    <a:moveTo>
                      <a:pt x="0" y="755059"/>
                    </a:moveTo>
                    <a:cubicBezTo>
                      <a:pt x="271397" y="424163"/>
                      <a:pt x="542795" y="93267"/>
                      <a:pt x="695195" y="141283"/>
                    </a:cubicBezTo>
                    <a:cubicBezTo>
                      <a:pt x="847595" y="189299"/>
                      <a:pt x="705633" y="875100"/>
                      <a:pt x="914400" y="1043157"/>
                    </a:cubicBezTo>
                    <a:cubicBezTo>
                      <a:pt x="1123167" y="1211214"/>
                      <a:pt x="1770345" y="1280107"/>
                      <a:pt x="1947797" y="1149628"/>
                    </a:cubicBezTo>
                    <a:cubicBezTo>
                      <a:pt x="2125249" y="1019149"/>
                      <a:pt x="1768258" y="445039"/>
                      <a:pt x="1979113" y="260280"/>
                    </a:cubicBezTo>
                    <a:cubicBezTo>
                      <a:pt x="2189968" y="75521"/>
                      <a:pt x="2933178" y="-75835"/>
                      <a:pt x="3212926" y="41075"/>
                    </a:cubicBezTo>
                    <a:cubicBezTo>
                      <a:pt x="3492674" y="157985"/>
                      <a:pt x="3484323" y="885538"/>
                      <a:pt x="3657600" y="961738"/>
                    </a:cubicBezTo>
                    <a:cubicBezTo>
                      <a:pt x="3830877" y="1037938"/>
                      <a:pt x="4226491" y="557774"/>
                      <a:pt x="4252587" y="498275"/>
                    </a:cubicBezTo>
                  </a:path>
                </a:pathLst>
              </a:custGeom>
              <a:noFill/>
              <a:ln w="285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48685BF2-D52F-5348-8E32-096612FF1B43}"/>
                  </a:ext>
                </a:extLst>
              </p:cNvPr>
              <p:cNvSpPr txBox="1"/>
              <p:nvPr/>
            </p:nvSpPr>
            <p:spPr>
              <a:xfrm>
                <a:off x="9488109" y="3638893"/>
                <a:ext cx="1779526" cy="369332"/>
              </a:xfrm>
              <a:prstGeom prst="rect">
                <a:avLst/>
              </a:prstGeom>
              <a:noFill/>
            </p:spPr>
            <p:txBody>
              <a:bodyPr wrap="none" rtlCol="0">
                <a:spAutoFit/>
              </a:bodyPr>
              <a:lstStyle/>
              <a:p>
                <a:r>
                  <a:rPr lang="en-US" altLang="zh-CN" dirty="0"/>
                  <a:t>Macro Surface</a:t>
                </a:r>
                <a:endParaRPr lang="zh-CN" altLang="en-US" dirty="0"/>
              </a:p>
            </p:txBody>
          </p:sp>
          <p:sp>
            <p:nvSpPr>
              <p:cNvPr id="39" name="文本框 38">
                <a:extLst>
                  <a:ext uri="{FF2B5EF4-FFF2-40B4-BE49-F238E27FC236}">
                    <a16:creationId xmlns:a16="http://schemas.microsoft.com/office/drawing/2014/main" id="{1B3521DC-1443-E209-9113-486DCFFD0DBD}"/>
                  </a:ext>
                </a:extLst>
              </p:cNvPr>
              <p:cNvSpPr txBox="1"/>
              <p:nvPr/>
            </p:nvSpPr>
            <p:spPr>
              <a:xfrm>
                <a:off x="7455086" y="3849686"/>
                <a:ext cx="1712200" cy="369332"/>
              </a:xfrm>
              <a:prstGeom prst="rect">
                <a:avLst/>
              </a:prstGeom>
              <a:noFill/>
            </p:spPr>
            <p:txBody>
              <a:bodyPr wrap="none" rtlCol="0">
                <a:spAutoFit/>
              </a:bodyPr>
              <a:lstStyle/>
              <a:p>
                <a:r>
                  <a:rPr lang="en-US" altLang="zh-CN" dirty="0">
                    <a:solidFill>
                      <a:schemeClr val="accent2"/>
                    </a:solidFill>
                  </a:rPr>
                  <a:t>Micro Surface</a:t>
                </a:r>
                <a:endParaRPr lang="zh-CN" altLang="en-US" dirty="0">
                  <a:solidFill>
                    <a:schemeClr val="accent2"/>
                  </a:solidFill>
                </a:endParaRPr>
              </a:p>
            </p:txBody>
          </p:sp>
          <p:sp>
            <p:nvSpPr>
              <p:cNvPr id="40" name="任意多边形: 形状 39">
                <a:extLst>
                  <a:ext uri="{FF2B5EF4-FFF2-40B4-BE49-F238E27FC236}">
                    <a16:creationId xmlns:a16="http://schemas.microsoft.com/office/drawing/2014/main" id="{339DD30D-C0DC-156D-C22D-1381DB872036}"/>
                  </a:ext>
                </a:extLst>
              </p:cNvPr>
              <p:cNvSpPr/>
              <p:nvPr/>
            </p:nvSpPr>
            <p:spPr>
              <a:xfrm>
                <a:off x="7382934" y="2645834"/>
                <a:ext cx="4212166" cy="1206500"/>
              </a:xfrm>
              <a:custGeom>
                <a:avLst/>
                <a:gdLst>
                  <a:gd name="connsiteX0" fmla="*/ 0 w 4212166"/>
                  <a:gd name="connsiteY0" fmla="*/ 766233 h 1206500"/>
                  <a:gd name="connsiteX1" fmla="*/ 342900 w 4212166"/>
                  <a:gd name="connsiteY1" fmla="*/ 347133 h 1206500"/>
                  <a:gd name="connsiteX2" fmla="*/ 579966 w 4212166"/>
                  <a:gd name="connsiteY2" fmla="*/ 156633 h 1206500"/>
                  <a:gd name="connsiteX3" fmla="*/ 766233 w 4212166"/>
                  <a:gd name="connsiteY3" fmla="*/ 105833 h 1206500"/>
                  <a:gd name="connsiteX4" fmla="*/ 833966 w 4212166"/>
                  <a:gd name="connsiteY4" fmla="*/ 232833 h 1206500"/>
                  <a:gd name="connsiteX5" fmla="*/ 859366 w 4212166"/>
                  <a:gd name="connsiteY5" fmla="*/ 508000 h 1206500"/>
                  <a:gd name="connsiteX6" fmla="*/ 880533 w 4212166"/>
                  <a:gd name="connsiteY6" fmla="*/ 791633 h 1206500"/>
                  <a:gd name="connsiteX7" fmla="*/ 910166 w 4212166"/>
                  <a:gd name="connsiteY7" fmla="*/ 948266 h 1206500"/>
                  <a:gd name="connsiteX8" fmla="*/ 994833 w 4212166"/>
                  <a:gd name="connsiteY8" fmla="*/ 1037166 h 1206500"/>
                  <a:gd name="connsiteX9" fmla="*/ 1299633 w 4212166"/>
                  <a:gd name="connsiteY9" fmla="*/ 1176866 h 1206500"/>
                  <a:gd name="connsiteX10" fmla="*/ 1756833 w 4212166"/>
                  <a:gd name="connsiteY10" fmla="*/ 1206500 h 1206500"/>
                  <a:gd name="connsiteX11" fmla="*/ 1943100 w 4212166"/>
                  <a:gd name="connsiteY11" fmla="*/ 1138766 h 1206500"/>
                  <a:gd name="connsiteX12" fmla="*/ 1930400 w 4212166"/>
                  <a:gd name="connsiteY12" fmla="*/ 897466 h 1206500"/>
                  <a:gd name="connsiteX13" fmla="*/ 1849966 w 4212166"/>
                  <a:gd name="connsiteY13" fmla="*/ 588433 h 1206500"/>
                  <a:gd name="connsiteX14" fmla="*/ 1905000 w 4212166"/>
                  <a:gd name="connsiteY14" fmla="*/ 317500 h 1206500"/>
                  <a:gd name="connsiteX15" fmla="*/ 2103966 w 4212166"/>
                  <a:gd name="connsiteY15" fmla="*/ 152400 h 1206500"/>
                  <a:gd name="connsiteX16" fmla="*/ 2501900 w 4212166"/>
                  <a:gd name="connsiteY16" fmla="*/ 42333 h 1206500"/>
                  <a:gd name="connsiteX17" fmla="*/ 2963333 w 4212166"/>
                  <a:gd name="connsiteY17" fmla="*/ 0 h 1206500"/>
                  <a:gd name="connsiteX18" fmla="*/ 3386666 w 4212166"/>
                  <a:gd name="connsiteY18" fmla="*/ 71966 h 1206500"/>
                  <a:gd name="connsiteX19" fmla="*/ 3479800 w 4212166"/>
                  <a:gd name="connsiteY19" fmla="*/ 296333 h 1206500"/>
                  <a:gd name="connsiteX20" fmla="*/ 3568700 w 4212166"/>
                  <a:gd name="connsiteY20" fmla="*/ 630766 h 1206500"/>
                  <a:gd name="connsiteX21" fmla="*/ 3661833 w 4212166"/>
                  <a:gd name="connsiteY21" fmla="*/ 876300 h 1206500"/>
                  <a:gd name="connsiteX22" fmla="*/ 3738033 w 4212166"/>
                  <a:gd name="connsiteY22" fmla="*/ 960966 h 1206500"/>
                  <a:gd name="connsiteX23" fmla="*/ 3949700 w 4212166"/>
                  <a:gd name="connsiteY23" fmla="*/ 867833 h 1206500"/>
                  <a:gd name="connsiteX24" fmla="*/ 4212166 w 4212166"/>
                  <a:gd name="connsiteY24" fmla="*/ 546100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12166" h="1206500">
                    <a:moveTo>
                      <a:pt x="0" y="766233"/>
                    </a:moveTo>
                    <a:lnTo>
                      <a:pt x="342900" y="347133"/>
                    </a:lnTo>
                    <a:lnTo>
                      <a:pt x="579966" y="156633"/>
                    </a:lnTo>
                    <a:lnTo>
                      <a:pt x="766233" y="105833"/>
                    </a:lnTo>
                    <a:lnTo>
                      <a:pt x="833966" y="232833"/>
                    </a:lnTo>
                    <a:lnTo>
                      <a:pt x="859366" y="508000"/>
                    </a:lnTo>
                    <a:lnTo>
                      <a:pt x="880533" y="791633"/>
                    </a:lnTo>
                    <a:lnTo>
                      <a:pt x="910166" y="948266"/>
                    </a:lnTo>
                    <a:lnTo>
                      <a:pt x="994833" y="1037166"/>
                    </a:lnTo>
                    <a:lnTo>
                      <a:pt x="1299633" y="1176866"/>
                    </a:lnTo>
                    <a:lnTo>
                      <a:pt x="1756833" y="1206500"/>
                    </a:lnTo>
                    <a:lnTo>
                      <a:pt x="1943100" y="1138766"/>
                    </a:lnTo>
                    <a:lnTo>
                      <a:pt x="1930400" y="897466"/>
                    </a:lnTo>
                    <a:lnTo>
                      <a:pt x="1849966" y="588433"/>
                    </a:lnTo>
                    <a:lnTo>
                      <a:pt x="1905000" y="317500"/>
                    </a:lnTo>
                    <a:lnTo>
                      <a:pt x="2103966" y="152400"/>
                    </a:lnTo>
                    <a:lnTo>
                      <a:pt x="2501900" y="42333"/>
                    </a:lnTo>
                    <a:lnTo>
                      <a:pt x="2963333" y="0"/>
                    </a:lnTo>
                    <a:lnTo>
                      <a:pt x="3386666" y="71966"/>
                    </a:lnTo>
                    <a:lnTo>
                      <a:pt x="3479800" y="296333"/>
                    </a:lnTo>
                    <a:lnTo>
                      <a:pt x="3568700" y="630766"/>
                    </a:lnTo>
                    <a:lnTo>
                      <a:pt x="3661833" y="876300"/>
                    </a:lnTo>
                    <a:lnTo>
                      <a:pt x="3738033" y="960966"/>
                    </a:lnTo>
                    <a:lnTo>
                      <a:pt x="3949700" y="867833"/>
                    </a:lnTo>
                    <a:lnTo>
                      <a:pt x="4212166" y="546100"/>
                    </a:ln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文本框 40">
                <a:extLst>
                  <a:ext uri="{FF2B5EF4-FFF2-40B4-BE49-F238E27FC236}">
                    <a16:creationId xmlns:a16="http://schemas.microsoft.com/office/drawing/2014/main" id="{9E576476-7A4B-9B61-7403-AEC3B73F7D5B}"/>
                  </a:ext>
                </a:extLst>
              </p:cNvPr>
              <p:cNvSpPr txBox="1"/>
              <p:nvPr/>
            </p:nvSpPr>
            <p:spPr>
              <a:xfrm>
                <a:off x="7054948" y="2393673"/>
                <a:ext cx="1356718" cy="369332"/>
              </a:xfrm>
              <a:prstGeom prst="rect">
                <a:avLst/>
              </a:prstGeom>
              <a:noFill/>
            </p:spPr>
            <p:txBody>
              <a:bodyPr wrap="none" rtlCol="0">
                <a:spAutoFit/>
              </a:bodyPr>
              <a:lstStyle/>
              <a:p>
                <a:r>
                  <a:rPr lang="en-US" altLang="zh-CN" dirty="0">
                    <a:solidFill>
                      <a:schemeClr val="accent4">
                        <a:lumMod val="60000"/>
                        <a:lumOff val="40000"/>
                      </a:schemeClr>
                    </a:solidFill>
                  </a:rPr>
                  <a:t>Microfacet</a:t>
                </a:r>
                <a:endParaRPr lang="zh-CN" altLang="en-US" dirty="0">
                  <a:solidFill>
                    <a:schemeClr val="accent4">
                      <a:lumMod val="60000"/>
                      <a:lumOff val="40000"/>
                    </a:schemeClr>
                  </a:solidFill>
                </a:endParaRPr>
              </a:p>
            </p:txBody>
          </p:sp>
        </p:grpSp>
        <p:cxnSp>
          <p:nvCxnSpPr>
            <p:cNvPr id="9" name="直接箭头连接符 8">
              <a:extLst>
                <a:ext uri="{FF2B5EF4-FFF2-40B4-BE49-F238E27FC236}">
                  <a16:creationId xmlns:a16="http://schemas.microsoft.com/office/drawing/2014/main" id="{3554EB08-193D-EAD3-8FE1-B83110179CB1}"/>
                </a:ext>
              </a:extLst>
            </p:cNvPr>
            <p:cNvCxnSpPr>
              <a:cxnSpLocks/>
            </p:cNvCxnSpPr>
            <p:nvPr/>
          </p:nvCxnSpPr>
          <p:spPr>
            <a:xfrm flipV="1">
              <a:off x="9620885" y="2532380"/>
              <a:ext cx="1819843" cy="12827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EFC4DC2D-73A7-7D0C-C11F-BBAA69F9316D}"/>
                </a:ext>
              </a:extLst>
            </p:cNvPr>
            <p:cNvCxnSpPr>
              <a:cxnSpLocks/>
            </p:cNvCxnSpPr>
            <p:nvPr/>
          </p:nvCxnSpPr>
          <p:spPr>
            <a:xfrm flipH="1" flipV="1">
              <a:off x="8056880" y="2532380"/>
              <a:ext cx="1564385" cy="12699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5943ED0E-4EAA-7757-1806-0263925FFD91}"/>
                </a:ext>
              </a:extLst>
            </p:cNvPr>
            <p:cNvCxnSpPr>
              <a:cxnSpLocks/>
            </p:cNvCxnSpPr>
            <p:nvPr/>
          </p:nvCxnSpPr>
          <p:spPr>
            <a:xfrm>
              <a:off x="10392439" y="3304225"/>
              <a:ext cx="1366491" cy="392832"/>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AB5F9271-5107-A37F-AD16-C22189F471EC}"/>
                </a:ext>
              </a:extLst>
            </p:cNvPr>
            <p:cNvCxnSpPr>
              <a:cxnSpLocks/>
            </p:cNvCxnSpPr>
            <p:nvPr/>
          </p:nvCxnSpPr>
          <p:spPr>
            <a:xfrm flipV="1">
              <a:off x="9620885" y="3304225"/>
              <a:ext cx="0" cy="510855"/>
            </a:xfrm>
            <a:prstGeom prst="straightConnector1">
              <a:avLst/>
            </a:prstGeom>
            <a:ln w="2857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 name="直接箭头连接符 22">
              <a:extLst>
                <a:ext uri="{FF2B5EF4-FFF2-40B4-BE49-F238E27FC236}">
                  <a16:creationId xmlns:a16="http://schemas.microsoft.com/office/drawing/2014/main" id="{A175361E-ED32-7D1F-40F6-8EBD38B33222}"/>
                </a:ext>
              </a:extLst>
            </p:cNvPr>
            <p:cNvCxnSpPr>
              <a:cxnSpLocks/>
            </p:cNvCxnSpPr>
            <p:nvPr/>
          </p:nvCxnSpPr>
          <p:spPr>
            <a:xfrm flipV="1">
              <a:off x="10392439" y="3200400"/>
              <a:ext cx="666721" cy="103825"/>
            </a:xfrm>
            <a:prstGeom prst="straightConnector1">
              <a:avLst/>
            </a:prstGeom>
            <a:ln w="28575">
              <a:solidFill>
                <a:schemeClr val="accent4">
                  <a:lumMod val="60000"/>
                  <a:lumOff val="40000"/>
                </a:schemeClr>
              </a:solidFill>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E1D533A-EF7F-E0A3-3381-7091C95C20E7}"/>
                    </a:ext>
                  </a:extLst>
                </p:cNvPr>
                <p:cNvSpPr txBox="1"/>
                <p:nvPr/>
              </p:nvSpPr>
              <p:spPr>
                <a:xfrm>
                  <a:off x="11070216" y="2148285"/>
                  <a:ext cx="4272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smtClean="0">
                            <a:latin typeface="Cambria Math" panose="02040503050406030204" pitchFamily="18" charset="0"/>
                          </a:rPr>
                          <m:t>𝒊</m:t>
                        </m:r>
                      </m:oMath>
                    </m:oMathPara>
                  </a14:m>
                  <a:endParaRPr lang="zh-CN" altLang="en-US" b="1" dirty="0"/>
                </a:p>
              </p:txBody>
            </p:sp>
          </mc:Choice>
          <mc:Fallback xmlns="">
            <p:sp>
              <p:nvSpPr>
                <p:cNvPr id="25" name="文本框 24">
                  <a:extLst>
                    <a:ext uri="{FF2B5EF4-FFF2-40B4-BE49-F238E27FC236}">
                      <a16:creationId xmlns:a16="http://schemas.microsoft.com/office/drawing/2014/main" id="{5E1D533A-EF7F-E0A3-3381-7091C95C20E7}"/>
                    </a:ext>
                  </a:extLst>
                </p:cNvPr>
                <p:cNvSpPr txBox="1">
                  <a:spLocks noRot="1" noChangeAspect="1" noMove="1" noResize="1" noEditPoints="1" noAdjustHandles="1" noChangeArrowheads="1" noChangeShapeType="1" noTextEdit="1"/>
                </p:cNvSpPr>
                <p:nvPr/>
              </p:nvSpPr>
              <p:spPr>
                <a:xfrm>
                  <a:off x="11070216" y="2148285"/>
                  <a:ext cx="427296" cy="369332"/>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DA64C8E3-6694-6906-EEEA-B6023361732E}"/>
                    </a:ext>
                  </a:extLst>
                </p:cNvPr>
                <p:cNvSpPr txBox="1"/>
                <p:nvPr/>
              </p:nvSpPr>
              <p:spPr>
                <a:xfrm>
                  <a:off x="8056880" y="2134903"/>
                  <a:ext cx="4272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chemeClr val="tx1"/>
                            </a:solidFill>
                            <a:latin typeface="Cambria Math" panose="02040503050406030204" pitchFamily="18" charset="0"/>
                          </a:rPr>
                          <m:t>𝒐</m:t>
                        </m:r>
                      </m:oMath>
                    </m:oMathPara>
                  </a14:m>
                  <a:endParaRPr lang="zh-CN" altLang="en-US" b="1" dirty="0">
                    <a:solidFill>
                      <a:schemeClr val="tx1"/>
                    </a:solidFill>
                  </a:endParaRPr>
                </a:p>
              </p:txBody>
            </p:sp>
          </mc:Choice>
          <mc:Fallback xmlns="">
            <p:sp>
              <p:nvSpPr>
                <p:cNvPr id="27" name="文本框 26">
                  <a:extLst>
                    <a:ext uri="{FF2B5EF4-FFF2-40B4-BE49-F238E27FC236}">
                      <a16:creationId xmlns:a16="http://schemas.microsoft.com/office/drawing/2014/main" id="{DA64C8E3-6694-6906-EEEA-B6023361732E}"/>
                    </a:ext>
                  </a:extLst>
                </p:cNvPr>
                <p:cNvSpPr txBox="1">
                  <a:spLocks noRot="1" noChangeAspect="1" noMove="1" noResize="1" noEditPoints="1" noAdjustHandles="1" noChangeArrowheads="1" noChangeShapeType="1" noTextEdit="1"/>
                </p:cNvSpPr>
                <p:nvPr/>
              </p:nvSpPr>
              <p:spPr>
                <a:xfrm>
                  <a:off x="8056880" y="2134903"/>
                  <a:ext cx="427296"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72581905-9693-B63A-76EF-D77AFF60AB59}"/>
                    </a:ext>
                  </a:extLst>
                </p:cNvPr>
                <p:cNvSpPr txBox="1"/>
                <p:nvPr/>
              </p:nvSpPr>
              <p:spPr>
                <a:xfrm>
                  <a:off x="11301045" y="3630415"/>
                  <a:ext cx="4272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b="1" i="1" dirty="0" smtClean="0">
                                <a:solidFill>
                                  <a:schemeClr val="accent4">
                                    <a:lumMod val="60000"/>
                                    <a:lumOff val="40000"/>
                                  </a:schemeClr>
                                </a:solidFill>
                                <a:latin typeface="Cambria Math" panose="02040503050406030204" pitchFamily="18" charset="0"/>
                              </a:rPr>
                            </m:ctrlPr>
                          </m:sSupPr>
                          <m:e>
                            <m:r>
                              <a:rPr lang="en-US" altLang="zh-CN" b="1" i="1" dirty="0" smtClean="0">
                                <a:solidFill>
                                  <a:schemeClr val="accent4">
                                    <a:lumMod val="60000"/>
                                    <a:lumOff val="40000"/>
                                  </a:schemeClr>
                                </a:solidFill>
                                <a:latin typeface="Cambria Math" panose="02040503050406030204" pitchFamily="18" charset="0"/>
                              </a:rPr>
                              <m:t>𝒐</m:t>
                            </m:r>
                          </m:e>
                          <m:sup>
                            <m:r>
                              <a:rPr lang="en-US" altLang="zh-CN" b="1" i="1" dirty="0" smtClean="0">
                                <a:solidFill>
                                  <a:schemeClr val="accent4">
                                    <a:lumMod val="60000"/>
                                    <a:lumOff val="40000"/>
                                  </a:schemeClr>
                                </a:solidFill>
                                <a:latin typeface="Cambria Math" panose="02040503050406030204" pitchFamily="18" charset="0"/>
                              </a:rPr>
                              <m:t>′</m:t>
                            </m:r>
                          </m:sup>
                        </m:sSup>
                      </m:oMath>
                    </m:oMathPara>
                  </a14:m>
                  <a:endParaRPr lang="zh-CN" altLang="en-US" b="1" dirty="0">
                    <a:solidFill>
                      <a:schemeClr val="accent4">
                        <a:lumMod val="60000"/>
                        <a:lumOff val="40000"/>
                      </a:schemeClr>
                    </a:solidFill>
                  </a:endParaRPr>
                </a:p>
              </p:txBody>
            </p:sp>
          </mc:Choice>
          <mc:Fallback xmlns="">
            <p:sp>
              <p:nvSpPr>
                <p:cNvPr id="33" name="文本框 32">
                  <a:extLst>
                    <a:ext uri="{FF2B5EF4-FFF2-40B4-BE49-F238E27FC236}">
                      <a16:creationId xmlns:a16="http://schemas.microsoft.com/office/drawing/2014/main" id="{72581905-9693-B63A-76EF-D77AFF60AB59}"/>
                    </a:ext>
                  </a:extLst>
                </p:cNvPr>
                <p:cNvSpPr txBox="1">
                  <a:spLocks noRot="1" noChangeAspect="1" noMove="1" noResize="1" noEditPoints="1" noAdjustHandles="1" noChangeArrowheads="1" noChangeShapeType="1" noTextEdit="1"/>
                </p:cNvSpPr>
                <p:nvPr/>
              </p:nvSpPr>
              <p:spPr>
                <a:xfrm>
                  <a:off x="11301045" y="3630415"/>
                  <a:ext cx="427296" cy="369332"/>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EDE216BA-39FE-EB49-CD45-AA67887FB5C0}"/>
                    </a:ext>
                  </a:extLst>
                </p:cNvPr>
                <p:cNvSpPr txBox="1"/>
                <p:nvPr/>
              </p:nvSpPr>
              <p:spPr>
                <a:xfrm>
                  <a:off x="9587502" y="3048597"/>
                  <a:ext cx="4272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smtClean="0">
                            <a:latin typeface="Cambria Math" panose="02040503050406030204" pitchFamily="18" charset="0"/>
                          </a:rPr>
                          <m:t>𝒈</m:t>
                        </m:r>
                      </m:oMath>
                    </m:oMathPara>
                  </a14:m>
                  <a:endParaRPr lang="zh-CN" altLang="en-US" b="1" dirty="0"/>
                </a:p>
              </p:txBody>
            </p:sp>
          </mc:Choice>
          <mc:Fallback xmlns="">
            <p:sp>
              <p:nvSpPr>
                <p:cNvPr id="34" name="文本框 33">
                  <a:extLst>
                    <a:ext uri="{FF2B5EF4-FFF2-40B4-BE49-F238E27FC236}">
                      <a16:creationId xmlns:a16="http://schemas.microsoft.com/office/drawing/2014/main" id="{EDE216BA-39FE-EB49-CD45-AA67887FB5C0}"/>
                    </a:ext>
                  </a:extLst>
                </p:cNvPr>
                <p:cNvSpPr txBox="1">
                  <a:spLocks noRot="1" noChangeAspect="1" noMove="1" noResize="1" noEditPoints="1" noAdjustHandles="1" noChangeArrowheads="1" noChangeShapeType="1" noTextEdit="1"/>
                </p:cNvSpPr>
                <p:nvPr/>
              </p:nvSpPr>
              <p:spPr>
                <a:xfrm>
                  <a:off x="9587502" y="3048597"/>
                  <a:ext cx="427296" cy="369332"/>
                </a:xfrm>
                <a:prstGeom prst="rect">
                  <a:avLst/>
                </a:prstGeom>
                <a:blipFill>
                  <a:blip r:embed="rId5"/>
                  <a:stretch>
                    <a:fillRect b="-8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78F73561-DBCA-7152-549B-1F91F432F696}"/>
                    </a:ext>
                  </a:extLst>
                </p:cNvPr>
                <p:cNvSpPr txBox="1"/>
                <p:nvPr/>
              </p:nvSpPr>
              <p:spPr>
                <a:xfrm>
                  <a:off x="11059614" y="2965493"/>
                  <a:ext cx="427296" cy="369332"/>
                </a:xfrm>
                <a:prstGeom prst="rect">
                  <a:avLst/>
                </a:prstGeom>
                <a:noFill/>
                <a:ln>
                  <a:noFill/>
                </a:ln>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smtClean="0">
                            <a:solidFill>
                              <a:schemeClr val="accent4">
                                <a:lumMod val="60000"/>
                                <a:lumOff val="40000"/>
                              </a:schemeClr>
                            </a:solidFill>
                            <a:latin typeface="Cambria Math" panose="02040503050406030204" pitchFamily="18" charset="0"/>
                          </a:rPr>
                          <m:t>𝒎</m:t>
                        </m:r>
                      </m:oMath>
                    </m:oMathPara>
                  </a14:m>
                  <a:endParaRPr lang="zh-CN" altLang="en-US" b="1" dirty="0">
                    <a:solidFill>
                      <a:schemeClr val="accent4">
                        <a:lumMod val="60000"/>
                        <a:lumOff val="40000"/>
                      </a:schemeClr>
                    </a:solidFill>
                  </a:endParaRPr>
                </a:p>
              </p:txBody>
            </p:sp>
          </mc:Choice>
          <mc:Fallback xmlns="">
            <p:sp>
              <p:nvSpPr>
                <p:cNvPr id="35" name="文本框 34">
                  <a:extLst>
                    <a:ext uri="{FF2B5EF4-FFF2-40B4-BE49-F238E27FC236}">
                      <a16:creationId xmlns:a16="http://schemas.microsoft.com/office/drawing/2014/main" id="{78F73561-DBCA-7152-549B-1F91F432F696}"/>
                    </a:ext>
                  </a:extLst>
                </p:cNvPr>
                <p:cNvSpPr txBox="1">
                  <a:spLocks noRot="1" noChangeAspect="1" noMove="1" noResize="1" noEditPoints="1" noAdjustHandles="1" noChangeArrowheads="1" noChangeShapeType="1" noTextEdit="1"/>
                </p:cNvSpPr>
                <p:nvPr/>
              </p:nvSpPr>
              <p:spPr>
                <a:xfrm>
                  <a:off x="11059614" y="2965493"/>
                  <a:ext cx="427296" cy="369332"/>
                </a:xfrm>
                <a:prstGeom prst="rect">
                  <a:avLst/>
                </a:prstGeom>
                <a:blipFill>
                  <a:blip r:embed="rId6"/>
                  <a:stretch>
                    <a:fillRect/>
                  </a:stretch>
                </a:blipFill>
                <a:ln>
                  <a:noFill/>
                </a:ln>
              </p:spPr>
              <p:txBody>
                <a:bodyPr/>
                <a:lstStyle/>
                <a:p>
                  <a:r>
                    <a:rPr lang="zh-CN" altLang="en-US">
                      <a:noFill/>
                    </a:rPr>
                    <a:t> </a:t>
                  </a:r>
                </a:p>
              </p:txBody>
            </p:sp>
          </mc:Fallback>
        </mc:AlternateContent>
      </p:grpSp>
    </p:spTree>
    <p:extLst>
      <p:ext uri="{BB962C8B-B14F-4D97-AF65-F5344CB8AC3E}">
        <p14:creationId xmlns:p14="http://schemas.microsoft.com/office/powerpoint/2010/main" val="4052594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7A210-5652-949E-075E-5D23E6CBCD72}"/>
            </a:ext>
          </a:extLst>
        </p:cNvPr>
        <p:cNvGrpSpPr/>
        <p:nvPr/>
      </p:nvGrpSpPr>
      <p:grpSpPr>
        <a:xfrm>
          <a:off x="0" y="0"/>
          <a:ext cx="0" cy="0"/>
          <a:chOff x="0" y="0"/>
          <a:chExt cx="0" cy="0"/>
        </a:xfrm>
      </p:grpSpPr>
      <p:sp>
        <p:nvSpPr>
          <p:cNvPr id="59" name="矩形 58">
            <a:extLst>
              <a:ext uri="{FF2B5EF4-FFF2-40B4-BE49-F238E27FC236}">
                <a16:creationId xmlns:a16="http://schemas.microsoft.com/office/drawing/2014/main" id="{DEEF7D5D-A74A-70A2-6BBD-F85AB4D91DD0}"/>
              </a:ext>
            </a:extLst>
          </p:cNvPr>
          <p:cNvSpPr/>
          <p:nvPr/>
        </p:nvSpPr>
        <p:spPr>
          <a:xfrm>
            <a:off x="631111" y="1231307"/>
            <a:ext cx="5430501" cy="538674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13" name="标题 2">
            <a:extLst>
              <a:ext uri="{FF2B5EF4-FFF2-40B4-BE49-F238E27FC236}">
                <a16:creationId xmlns:a16="http://schemas.microsoft.com/office/drawing/2014/main" id="{EC8D95C3-F1DA-7BA1-2533-09957549E76B}"/>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如何描述微表面？</a:t>
            </a:r>
            <a:r>
              <a:rPr lang="en-US" altLang="zh-CN" dirty="0"/>
              <a:t>—— </a:t>
            </a:r>
            <a:r>
              <a:rPr lang="zh-CN" altLang="en-US" dirty="0"/>
              <a:t>法线分布函数</a:t>
            </a:r>
            <a:endParaRPr lang="en-US" altLang="zh-CN"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7C89FB8-A52E-42B0-E045-8A8E95070B26}"/>
                  </a:ext>
                </a:extLst>
              </p:cNvPr>
              <p:cNvSpPr/>
              <p:nvPr/>
            </p:nvSpPr>
            <p:spPr>
              <a:xfrm>
                <a:off x="478711" y="1078907"/>
                <a:ext cx="5430501" cy="538674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14:m>
                  <m:oMathPara xmlns:m="http://schemas.openxmlformats.org/officeDocument/2006/math">
                    <m:oMathParaPr>
                      <m:jc m:val="centerGroup"/>
                    </m:oMathParaPr>
                    <m:oMath xmlns:m="http://schemas.openxmlformats.org/officeDocument/2006/math">
                      <m:r>
                        <m:rPr>
                          <m:sty m:val="p"/>
                        </m:rPr>
                        <a:rPr lang="en-US" altLang="zh-CN" sz="2000" i="1" dirty="0" smtClean="0">
                          <a:solidFill>
                            <a:schemeClr val="tx1"/>
                          </a:solidFill>
                          <a:latin typeface="Cambria Math" panose="02040503050406030204" pitchFamily="18" charset="0"/>
                        </a:rPr>
                        <m:t>BRDF</m:t>
                      </m:r>
                      <m:r>
                        <a:rPr lang="zh-CN" altLang="en-US" sz="2000" i="1" dirty="0" smtClean="0">
                          <a:solidFill>
                            <a:schemeClr val="tx1"/>
                          </a:solidFill>
                          <a:latin typeface="Cambria Math" panose="02040503050406030204" pitchFamily="18" charset="0"/>
                        </a:rPr>
                        <m:t>函数</m:t>
                      </m:r>
                      <m:r>
                        <a:rPr lang="zh-CN" altLang="en-US" sz="2000" i="1" dirty="0">
                          <a:solidFill>
                            <a:schemeClr val="tx1"/>
                          </a:solidFill>
                          <a:latin typeface="Cambria Math" panose="02040503050406030204" pitchFamily="18" charset="0"/>
                        </a:rPr>
                        <m:t>：</m:t>
                      </m:r>
                      <m:r>
                        <a:rPr lang="en-US" altLang="zh-CN" sz="2000" i="1" dirty="0" smtClean="0">
                          <a:solidFill>
                            <a:schemeClr val="tx1"/>
                          </a:solidFill>
                          <a:latin typeface="Cambria Math" panose="02040503050406030204" pitchFamily="18" charset="0"/>
                        </a:rPr>
                        <m:t>𝑓</m:t>
                      </m:r>
                      <m:d>
                        <m:dPr>
                          <m:ctrlPr>
                            <a:rPr lang="en-US" altLang="zh-CN" sz="2000" b="0" i="1" dirty="0" smtClean="0">
                              <a:solidFill>
                                <a:schemeClr val="tx1"/>
                              </a:solidFill>
                              <a:latin typeface="Cambria Math" panose="02040503050406030204" pitchFamily="18" charset="0"/>
                            </a:rPr>
                          </m:ctrlPr>
                        </m:dPr>
                        <m:e>
                          <m:r>
                            <a:rPr lang="en-US" altLang="zh-CN" sz="2000" b="1" i="1" dirty="0">
                              <a:solidFill>
                                <a:schemeClr val="tx1"/>
                              </a:solidFill>
                              <a:latin typeface="Cambria Math" panose="02040503050406030204" pitchFamily="18" charset="0"/>
                            </a:rPr>
                            <m:t>𝒊</m:t>
                          </m:r>
                          <m:r>
                            <a:rPr lang="en-US" altLang="zh-CN" sz="2000" b="0" i="1" dirty="0" smtClean="0">
                              <a:solidFill>
                                <a:schemeClr val="tx1"/>
                              </a:solidFill>
                              <a:latin typeface="Cambria Math" panose="02040503050406030204" pitchFamily="18" charset="0"/>
                            </a:rPr>
                            <m:t>→</m:t>
                          </m:r>
                          <m:r>
                            <a:rPr lang="en-US" altLang="zh-CN" sz="2000" b="1" i="1" dirty="0" smtClean="0">
                              <a:solidFill>
                                <a:schemeClr val="tx1"/>
                              </a:solidFill>
                              <a:latin typeface="Cambria Math" panose="02040503050406030204" pitchFamily="18" charset="0"/>
                            </a:rPr>
                            <m:t>𝒐</m:t>
                          </m:r>
                        </m:e>
                      </m:d>
                      <m:r>
                        <a:rPr lang="en-US" altLang="zh-CN" sz="2000" i="1" dirty="0">
                          <a:solidFill>
                            <a:schemeClr val="tx1"/>
                          </a:solidFill>
                          <a:latin typeface="Cambria Math" panose="02040503050406030204" pitchFamily="18" charset="0"/>
                        </a:rPr>
                        <m:t>=</m:t>
                      </m:r>
                      <m:f>
                        <m:fPr>
                          <m:ctrlPr>
                            <a:rPr lang="en-US" altLang="zh-CN" sz="2000" b="0" i="1" dirty="0" smtClean="0">
                              <a:solidFill>
                                <a:schemeClr val="tx1"/>
                              </a:solidFill>
                              <a:latin typeface="Cambria Math" panose="02040503050406030204" pitchFamily="18" charset="0"/>
                            </a:rPr>
                          </m:ctrlPr>
                        </m:fPr>
                        <m:num>
                          <m:r>
                            <a:rPr lang="en-US" altLang="zh-CN" sz="2000" b="0" i="1" dirty="0" smtClean="0">
                              <a:solidFill>
                                <a:schemeClr val="tx1"/>
                              </a:solidFill>
                              <a:latin typeface="Cambria Math" panose="02040503050406030204" pitchFamily="18" charset="0"/>
                            </a:rPr>
                            <m:t>𝑑</m:t>
                          </m:r>
                          <m:sSub>
                            <m:sSubPr>
                              <m:ctrlPr>
                                <a:rPr lang="en-US" altLang="zh-CN" sz="2000" b="0" i="1" dirty="0" smtClean="0">
                                  <a:solidFill>
                                    <a:schemeClr val="tx1"/>
                                  </a:solidFill>
                                  <a:latin typeface="Cambria Math" panose="02040503050406030204" pitchFamily="18" charset="0"/>
                                </a:rPr>
                              </m:ctrlPr>
                            </m:sSubPr>
                            <m:e>
                              <m:r>
                                <a:rPr lang="en-US" altLang="zh-CN" sz="2000" b="0" i="1" dirty="0" smtClean="0">
                                  <a:solidFill>
                                    <a:schemeClr val="tx1"/>
                                  </a:solidFill>
                                  <a:latin typeface="Cambria Math" panose="02040503050406030204" pitchFamily="18" charset="0"/>
                                </a:rPr>
                                <m:t>𝐿</m:t>
                              </m:r>
                            </m:e>
                            <m:sub>
                              <m:r>
                                <a:rPr lang="en-US" altLang="zh-CN" sz="2000" b="0" i="1" dirty="0" smtClean="0">
                                  <a:solidFill>
                                    <a:schemeClr val="tx1"/>
                                  </a:solidFill>
                                  <a:latin typeface="Cambria Math" panose="02040503050406030204" pitchFamily="18" charset="0"/>
                                </a:rPr>
                                <m:t>𝑜</m:t>
                              </m:r>
                            </m:sub>
                          </m:sSub>
                        </m:num>
                        <m:den>
                          <m:r>
                            <a:rPr lang="en-US" altLang="zh-CN" sz="2000" b="0" i="1" dirty="0" smtClean="0">
                              <a:solidFill>
                                <a:schemeClr val="tx1"/>
                              </a:solidFill>
                              <a:latin typeface="Cambria Math" panose="02040503050406030204" pitchFamily="18" charset="0"/>
                            </a:rPr>
                            <m:t>𝑑</m:t>
                          </m:r>
                          <m:sSub>
                            <m:sSubPr>
                              <m:ctrlPr>
                                <a:rPr lang="en-US" altLang="zh-CN" sz="2000" b="0" i="1" dirty="0" smtClean="0">
                                  <a:solidFill>
                                    <a:schemeClr val="tx1"/>
                                  </a:solidFill>
                                  <a:latin typeface="Cambria Math" panose="02040503050406030204" pitchFamily="18" charset="0"/>
                                </a:rPr>
                              </m:ctrlPr>
                            </m:sSubPr>
                            <m:e>
                              <m:r>
                                <a:rPr lang="en-US" altLang="zh-CN" sz="2000" b="0" i="1" dirty="0" smtClean="0">
                                  <a:solidFill>
                                    <a:schemeClr val="tx1"/>
                                  </a:solidFill>
                                  <a:latin typeface="Cambria Math" panose="02040503050406030204" pitchFamily="18" charset="0"/>
                                </a:rPr>
                                <m:t>𝐸</m:t>
                              </m:r>
                            </m:e>
                            <m:sub>
                              <m:r>
                                <a:rPr lang="en-US" altLang="zh-CN" sz="2000" b="0" i="1" dirty="0" smtClean="0">
                                  <a:solidFill>
                                    <a:schemeClr val="tx1"/>
                                  </a:solidFill>
                                  <a:latin typeface="Cambria Math" panose="02040503050406030204" pitchFamily="18" charset="0"/>
                                </a:rPr>
                                <m:t>𝑖</m:t>
                              </m:r>
                            </m:sub>
                          </m:sSub>
                        </m:den>
                      </m:f>
                      <m:r>
                        <a:rPr lang="en-US" altLang="zh-CN" sz="2000" b="0" i="1" dirty="0" smtClean="0">
                          <a:solidFill>
                            <a:schemeClr val="tx1"/>
                          </a:solidFill>
                          <a:latin typeface="Cambria Math" panose="02040503050406030204" pitchFamily="18" charset="0"/>
                        </a:rPr>
                        <m:t>=</m:t>
                      </m:r>
                      <m:f>
                        <m:fPr>
                          <m:ctrlPr>
                            <a:rPr lang="en-US" altLang="zh-CN" sz="2000" b="0" i="1" dirty="0" smtClean="0">
                              <a:solidFill>
                                <a:schemeClr val="tx1"/>
                              </a:solidFill>
                              <a:latin typeface="Cambria Math" panose="02040503050406030204" pitchFamily="18" charset="0"/>
                            </a:rPr>
                          </m:ctrlPr>
                        </m:fPr>
                        <m:num>
                          <m:r>
                            <a:rPr lang="en-US" altLang="zh-CN" sz="2000" b="0" i="1" dirty="0" smtClean="0">
                              <a:solidFill>
                                <a:schemeClr val="tx1"/>
                              </a:solidFill>
                              <a:latin typeface="Cambria Math" panose="02040503050406030204" pitchFamily="18" charset="0"/>
                            </a:rPr>
                            <m:t>𝑑</m:t>
                          </m:r>
                          <m:sSub>
                            <m:sSubPr>
                              <m:ctrlPr>
                                <a:rPr lang="en-US" altLang="zh-CN" sz="2000" b="0" i="1" dirty="0" smtClean="0">
                                  <a:solidFill>
                                    <a:schemeClr val="tx1"/>
                                  </a:solidFill>
                                  <a:latin typeface="Cambria Math" panose="02040503050406030204" pitchFamily="18" charset="0"/>
                                </a:rPr>
                              </m:ctrlPr>
                            </m:sSubPr>
                            <m:e>
                              <m:r>
                                <a:rPr lang="en-US" altLang="zh-CN" sz="2000" b="0" i="1" dirty="0" smtClean="0">
                                  <a:solidFill>
                                    <a:schemeClr val="tx1"/>
                                  </a:solidFill>
                                  <a:latin typeface="Cambria Math" panose="02040503050406030204" pitchFamily="18" charset="0"/>
                                </a:rPr>
                                <m:t>𝐿</m:t>
                              </m:r>
                            </m:e>
                            <m:sub>
                              <m:r>
                                <a:rPr lang="en-US" altLang="zh-CN" sz="2000" b="0" i="1" dirty="0" smtClean="0">
                                  <a:solidFill>
                                    <a:schemeClr val="tx1"/>
                                  </a:solidFill>
                                  <a:latin typeface="Cambria Math" panose="02040503050406030204" pitchFamily="18" charset="0"/>
                                </a:rPr>
                                <m:t>𝑜</m:t>
                              </m:r>
                            </m:sub>
                          </m:sSub>
                        </m:num>
                        <m:den>
                          <m:sSub>
                            <m:sSubPr>
                              <m:ctrlPr>
                                <a:rPr lang="en-US" altLang="zh-CN" sz="2000" b="0" i="1" dirty="0" smtClean="0">
                                  <a:solidFill>
                                    <a:schemeClr val="tx1"/>
                                  </a:solidFill>
                                  <a:latin typeface="Cambria Math" panose="02040503050406030204" pitchFamily="18" charset="0"/>
                                </a:rPr>
                              </m:ctrlPr>
                            </m:sSubPr>
                            <m:e>
                              <m:r>
                                <a:rPr lang="en-US" altLang="zh-CN" sz="2000" b="0" i="1" dirty="0" smtClean="0">
                                  <a:solidFill>
                                    <a:schemeClr val="tx1"/>
                                  </a:solidFill>
                                  <a:latin typeface="Cambria Math" panose="02040503050406030204" pitchFamily="18" charset="0"/>
                                </a:rPr>
                                <m:t>𝐿</m:t>
                              </m:r>
                            </m:e>
                            <m:sub>
                              <m:r>
                                <a:rPr lang="en-US" altLang="zh-CN" sz="2000" b="0" i="1" dirty="0" smtClean="0">
                                  <a:solidFill>
                                    <a:schemeClr val="tx1"/>
                                  </a:solidFill>
                                  <a:latin typeface="Cambria Math" panose="02040503050406030204" pitchFamily="18" charset="0"/>
                                </a:rPr>
                                <m:t>𝑖</m:t>
                              </m:r>
                            </m:sub>
                          </m:sSub>
                          <m:r>
                            <a:rPr lang="en-US" altLang="zh-CN" sz="2000" b="0" i="1" dirty="0" smtClean="0">
                              <a:solidFill>
                                <a:schemeClr val="tx1"/>
                              </a:solidFill>
                              <a:latin typeface="Cambria Math" panose="02040503050406030204" pitchFamily="18" charset="0"/>
                            </a:rPr>
                            <m:t> </m:t>
                          </m:r>
                          <m:r>
                            <a:rPr lang="en-US" altLang="zh-CN" sz="2000" b="0" i="1" dirty="0" smtClean="0">
                              <a:solidFill>
                                <a:schemeClr val="tx1"/>
                              </a:solidFill>
                              <a:latin typeface="Cambria Math" panose="02040503050406030204" pitchFamily="18" charset="0"/>
                            </a:rPr>
                            <m:t>𝑐𝑜𝑠</m:t>
                          </m:r>
                          <m:r>
                            <a:rPr lang="en-US" altLang="zh-CN" sz="2000" b="0" i="1" dirty="0" smtClean="0">
                              <a:solidFill>
                                <a:schemeClr val="tx1"/>
                              </a:solidFill>
                              <a:latin typeface="Cambria Math" panose="02040503050406030204" pitchFamily="18" charset="0"/>
                            </a:rPr>
                            <m:t>𝜃</m:t>
                          </m:r>
                          <m:r>
                            <a:rPr lang="en-US" altLang="zh-CN" sz="2000" b="0" i="1" dirty="0" smtClean="0">
                              <a:solidFill>
                                <a:schemeClr val="tx1"/>
                              </a:solidFill>
                              <a:latin typeface="Cambria Math" panose="02040503050406030204" pitchFamily="18" charset="0"/>
                            </a:rPr>
                            <m:t> </m:t>
                          </m:r>
                          <m:r>
                            <a:rPr lang="en-US" altLang="zh-CN" sz="2000" b="0" i="1" dirty="0" smtClean="0">
                              <a:solidFill>
                                <a:schemeClr val="tx1"/>
                              </a:solidFill>
                              <a:latin typeface="Cambria Math" panose="02040503050406030204" pitchFamily="18" charset="0"/>
                            </a:rPr>
                            <m:t>𝑑</m:t>
                          </m:r>
                          <m:sSub>
                            <m:sSubPr>
                              <m:ctrlPr>
                                <a:rPr lang="en-US" altLang="zh-CN" sz="2000" b="0" i="1" dirty="0" smtClean="0">
                                  <a:solidFill>
                                    <a:schemeClr val="tx1"/>
                                  </a:solidFill>
                                  <a:latin typeface="Cambria Math" panose="02040503050406030204" pitchFamily="18" charset="0"/>
                                </a:rPr>
                              </m:ctrlPr>
                            </m:sSubPr>
                            <m:e>
                              <m:r>
                                <a:rPr lang="en-US" altLang="zh-CN" sz="2000" b="0" i="1" dirty="0" smtClean="0">
                                  <a:solidFill>
                                    <a:schemeClr val="tx1"/>
                                  </a:solidFill>
                                  <a:latin typeface="Cambria Math" panose="02040503050406030204" pitchFamily="18" charset="0"/>
                                </a:rPr>
                                <m:t>𝜔</m:t>
                              </m:r>
                            </m:e>
                            <m:sub>
                              <m:r>
                                <a:rPr lang="en-US" altLang="zh-CN" sz="2000" b="0" i="1" dirty="0" smtClean="0">
                                  <a:solidFill>
                                    <a:schemeClr val="tx1"/>
                                  </a:solidFill>
                                  <a:latin typeface="Cambria Math" panose="02040503050406030204" pitchFamily="18" charset="0"/>
                                </a:rPr>
                                <m:t>𝑖</m:t>
                              </m:r>
                            </m:sub>
                          </m:sSub>
                        </m:den>
                      </m:f>
                    </m:oMath>
                  </m:oMathPara>
                </a14:m>
                <a:endParaRPr lang="en-US" altLang="zh-CN" sz="2000" dirty="0">
                  <a:solidFill>
                    <a:schemeClr val="tx1"/>
                  </a:solidFill>
                </a:endParaRPr>
              </a:p>
              <a:p>
                <a:pPr>
                  <a:lnSpc>
                    <a:spcPct val="150000"/>
                  </a:lnSpc>
                </a:pPr>
                <a:r>
                  <a:rPr lang="zh-CN" altLang="en-US" sz="2000" dirty="0">
                    <a:solidFill>
                      <a:schemeClr val="tx1"/>
                    </a:solidFill>
                  </a:rPr>
                  <a:t>        我们可以从</a:t>
                </a:r>
                <a:r>
                  <a:rPr lang="en-US" altLang="zh-CN" sz="2000" dirty="0">
                    <a:solidFill>
                      <a:schemeClr val="tx1"/>
                    </a:solidFill>
                  </a:rPr>
                  <a:t>BRDF</a:t>
                </a:r>
                <a:r>
                  <a:rPr lang="zh-CN" altLang="en-US" sz="2000" dirty="0">
                    <a:solidFill>
                      <a:schemeClr val="tx1"/>
                    </a:solidFill>
                  </a:rPr>
                  <a:t>的定义出发，对微表面进行描述。</a:t>
                </a:r>
                <a:r>
                  <a:rPr lang="en-US" altLang="zh-CN" sz="2000" dirty="0">
                    <a:solidFill>
                      <a:schemeClr val="tx1"/>
                    </a:solidFill>
                  </a:rPr>
                  <a:t>BRDF</a:t>
                </a:r>
                <a:r>
                  <a:rPr lang="zh-CN" altLang="en-US" sz="2000" dirty="0">
                    <a:solidFill>
                      <a:schemeClr val="tx1"/>
                    </a:solidFill>
                  </a:rPr>
                  <a:t>的定义是</a:t>
                </a:r>
                <a14:m>
                  <m:oMath xmlns:m="http://schemas.openxmlformats.org/officeDocument/2006/math">
                    <m:r>
                      <a:rPr lang="en-US" altLang="zh-CN" sz="2000" b="1" i="1" smtClean="0">
                        <a:solidFill>
                          <a:schemeClr val="tx1"/>
                        </a:solidFill>
                        <a:latin typeface="Cambria Math" panose="02040503050406030204" pitchFamily="18" charset="0"/>
                      </a:rPr>
                      <m:t>𝒐</m:t>
                    </m:r>
                  </m:oMath>
                </a14:m>
                <a:r>
                  <a:rPr lang="zh-CN" altLang="en-US" sz="2000" dirty="0">
                    <a:solidFill>
                      <a:schemeClr val="tx1"/>
                    </a:solidFill>
                  </a:rPr>
                  <a:t>方向的出射光</a:t>
                </a:r>
                <a:r>
                  <a:rPr lang="en-US" altLang="zh-CN" sz="2000" dirty="0">
                    <a:solidFill>
                      <a:schemeClr val="tx1"/>
                    </a:solidFill>
                  </a:rPr>
                  <a:t>Radiance</a:t>
                </a:r>
                <a:r>
                  <a:rPr lang="zh-CN" altLang="en-US" sz="2000" dirty="0">
                    <a:solidFill>
                      <a:schemeClr val="tx1"/>
                    </a:solidFill>
                  </a:rPr>
                  <a:t>与</a:t>
                </a:r>
                <a14:m>
                  <m:oMath xmlns:m="http://schemas.openxmlformats.org/officeDocument/2006/math">
                    <m:r>
                      <a:rPr lang="en-US" altLang="zh-CN" sz="2000" b="1" i="1" dirty="0" smtClean="0">
                        <a:solidFill>
                          <a:schemeClr val="tx1"/>
                        </a:solidFill>
                        <a:latin typeface="Cambria Math" panose="02040503050406030204" pitchFamily="18" charset="0"/>
                      </a:rPr>
                      <m:t>𝒊</m:t>
                    </m:r>
                  </m:oMath>
                </a14:m>
                <a:r>
                  <a:rPr lang="zh-CN" altLang="en-US" sz="2000" dirty="0">
                    <a:solidFill>
                      <a:schemeClr val="tx1"/>
                    </a:solidFill>
                  </a:rPr>
                  <a:t>方向的入射光贡献的</a:t>
                </a:r>
                <a:r>
                  <a:rPr lang="en-US" altLang="zh-CN" sz="2000" dirty="0">
                    <a:solidFill>
                      <a:schemeClr val="tx1"/>
                    </a:solidFill>
                  </a:rPr>
                  <a:t>Irradiance</a:t>
                </a:r>
                <a:r>
                  <a:rPr lang="zh-CN" altLang="en-US" sz="2000" dirty="0">
                    <a:solidFill>
                      <a:schemeClr val="tx1"/>
                    </a:solidFill>
                  </a:rPr>
                  <a:t>的比值，并且微面对光线的反射是完美镜面反射，所以只有法线方向为</a:t>
                </a:r>
                <a14:m>
                  <m:oMath xmlns:m="http://schemas.openxmlformats.org/officeDocument/2006/math">
                    <m:f>
                      <m:fPr>
                        <m:ctrlPr>
                          <a:rPr lang="en-US" altLang="zh-CN" sz="2000" i="1" dirty="0">
                            <a:solidFill>
                              <a:schemeClr val="tx1"/>
                            </a:solidFill>
                            <a:latin typeface="Cambria Math" panose="02040503050406030204" pitchFamily="18" charset="0"/>
                          </a:rPr>
                        </m:ctrlPr>
                      </m:fPr>
                      <m:num>
                        <m:r>
                          <a:rPr lang="en-US" altLang="zh-CN" sz="2000" b="1" i="1" dirty="0" smtClean="0">
                            <a:solidFill>
                              <a:schemeClr val="tx1"/>
                            </a:solidFill>
                            <a:latin typeface="Cambria Math" panose="02040503050406030204" pitchFamily="18" charset="0"/>
                          </a:rPr>
                          <m:t>𝒊</m:t>
                        </m:r>
                        <m:r>
                          <a:rPr lang="en-US" altLang="zh-CN" sz="2000" i="1" dirty="0">
                            <a:solidFill>
                              <a:schemeClr val="tx1"/>
                            </a:solidFill>
                            <a:latin typeface="Cambria Math" panose="02040503050406030204" pitchFamily="18" charset="0"/>
                          </a:rPr>
                          <m:t>+</m:t>
                        </m:r>
                        <m:r>
                          <a:rPr lang="en-US" altLang="zh-CN" sz="2000" b="1" i="1" dirty="0" smtClean="0">
                            <a:solidFill>
                              <a:schemeClr val="tx1"/>
                            </a:solidFill>
                            <a:latin typeface="Cambria Math" panose="02040503050406030204" pitchFamily="18" charset="0"/>
                          </a:rPr>
                          <m:t>𝒐</m:t>
                        </m:r>
                      </m:num>
                      <m:den>
                        <m:r>
                          <a:rPr lang="en-US" altLang="zh-CN" sz="2000" i="1" dirty="0">
                            <a:solidFill>
                              <a:schemeClr val="tx1"/>
                            </a:solidFill>
                            <a:latin typeface="Cambria Math" panose="02040503050406030204" pitchFamily="18" charset="0"/>
                          </a:rPr>
                          <m:t>2</m:t>
                        </m:r>
                      </m:den>
                    </m:f>
                  </m:oMath>
                </a14:m>
                <a:r>
                  <a:rPr lang="zh-CN" altLang="en-US" sz="2000" dirty="0">
                    <a:solidFill>
                      <a:schemeClr val="tx1"/>
                    </a:solidFill>
                  </a:rPr>
                  <a:t>的微面可以将光线从</a:t>
                </a:r>
                <a14:m>
                  <m:oMath xmlns:m="http://schemas.openxmlformats.org/officeDocument/2006/math">
                    <m:r>
                      <a:rPr lang="en-US" altLang="zh-CN" sz="2000" b="1" i="1" dirty="0" smtClean="0">
                        <a:solidFill>
                          <a:schemeClr val="tx1"/>
                        </a:solidFill>
                        <a:latin typeface="Cambria Math" panose="02040503050406030204" pitchFamily="18" charset="0"/>
                      </a:rPr>
                      <m:t>𝒊</m:t>
                    </m:r>
                  </m:oMath>
                </a14:m>
                <a:r>
                  <a:rPr lang="zh-CN" altLang="en-US" sz="2000" dirty="0">
                    <a:solidFill>
                      <a:schemeClr val="tx1"/>
                    </a:solidFill>
                  </a:rPr>
                  <a:t>反射到</a:t>
                </a:r>
                <a14:m>
                  <m:oMath xmlns:m="http://schemas.openxmlformats.org/officeDocument/2006/math">
                    <m:r>
                      <a:rPr lang="en-US" altLang="zh-CN" sz="2000" b="1" i="1" dirty="0" smtClean="0">
                        <a:solidFill>
                          <a:schemeClr val="tx1"/>
                        </a:solidFill>
                        <a:latin typeface="Cambria Math" panose="02040503050406030204" pitchFamily="18" charset="0"/>
                      </a:rPr>
                      <m:t>𝒐</m:t>
                    </m:r>
                  </m:oMath>
                </a14:m>
                <a:r>
                  <a:rPr lang="zh-CN" altLang="en-US" sz="2000" dirty="0">
                    <a:solidFill>
                      <a:schemeClr val="tx1"/>
                    </a:solidFill>
                  </a:rPr>
                  <a:t>。我们不妨粗略的想象一下，法线方向为</a:t>
                </a:r>
                <a14:m>
                  <m:oMath xmlns:m="http://schemas.openxmlformats.org/officeDocument/2006/math">
                    <m:f>
                      <m:fPr>
                        <m:ctrlPr>
                          <a:rPr lang="en-US" altLang="zh-CN" sz="2000" i="1" dirty="0">
                            <a:solidFill>
                              <a:schemeClr val="tx1"/>
                            </a:solidFill>
                            <a:latin typeface="Cambria Math" panose="02040503050406030204" pitchFamily="18" charset="0"/>
                          </a:rPr>
                        </m:ctrlPr>
                      </m:fPr>
                      <m:num>
                        <m:r>
                          <a:rPr lang="en-US" altLang="zh-CN" sz="2000" b="1" i="1" dirty="0">
                            <a:solidFill>
                              <a:schemeClr val="tx1"/>
                            </a:solidFill>
                            <a:latin typeface="Cambria Math" panose="02040503050406030204" pitchFamily="18" charset="0"/>
                          </a:rPr>
                          <m:t>𝒊</m:t>
                        </m:r>
                        <m:r>
                          <a:rPr lang="en-US" altLang="zh-CN" sz="2000" i="1" dirty="0">
                            <a:solidFill>
                              <a:schemeClr val="tx1"/>
                            </a:solidFill>
                            <a:latin typeface="Cambria Math" panose="02040503050406030204" pitchFamily="18" charset="0"/>
                          </a:rPr>
                          <m:t>+</m:t>
                        </m:r>
                        <m:r>
                          <a:rPr lang="en-US" altLang="zh-CN" sz="2000" b="1" i="1" dirty="0">
                            <a:solidFill>
                              <a:schemeClr val="tx1"/>
                            </a:solidFill>
                            <a:latin typeface="Cambria Math" panose="02040503050406030204" pitchFamily="18" charset="0"/>
                          </a:rPr>
                          <m:t>𝒐</m:t>
                        </m:r>
                      </m:num>
                      <m:den>
                        <m:r>
                          <a:rPr lang="en-US" altLang="zh-CN" sz="2000" i="1" dirty="0">
                            <a:solidFill>
                              <a:schemeClr val="tx1"/>
                            </a:solidFill>
                            <a:latin typeface="Cambria Math" panose="02040503050406030204" pitchFamily="18" charset="0"/>
                          </a:rPr>
                          <m:t>2</m:t>
                        </m:r>
                      </m:den>
                    </m:f>
                  </m:oMath>
                </a14:m>
                <a:r>
                  <a:rPr lang="zh-CN" altLang="en-US" sz="2000" dirty="0">
                    <a:solidFill>
                      <a:schemeClr val="tx1"/>
                    </a:solidFill>
                  </a:rPr>
                  <a:t>的微面的面积越大，那么</a:t>
                </a:r>
                <a14:m>
                  <m:oMath xmlns:m="http://schemas.openxmlformats.org/officeDocument/2006/math">
                    <m:r>
                      <a:rPr lang="en-US" altLang="zh-CN" sz="2000" i="1" dirty="0">
                        <a:solidFill>
                          <a:schemeClr val="tx1"/>
                        </a:solidFill>
                        <a:latin typeface="Cambria Math" panose="02040503050406030204" pitchFamily="18" charset="0"/>
                      </a:rPr>
                      <m:t>𝑓</m:t>
                    </m:r>
                    <m:d>
                      <m:dPr>
                        <m:ctrlPr>
                          <a:rPr lang="en-US" altLang="zh-CN" sz="2000" i="1" dirty="0">
                            <a:solidFill>
                              <a:schemeClr val="tx1"/>
                            </a:solidFill>
                            <a:latin typeface="Cambria Math" panose="02040503050406030204" pitchFamily="18" charset="0"/>
                          </a:rPr>
                        </m:ctrlPr>
                      </m:dPr>
                      <m:e>
                        <m:r>
                          <a:rPr lang="en-US" altLang="zh-CN" sz="2000" b="1" i="1" dirty="0">
                            <a:solidFill>
                              <a:schemeClr val="tx1"/>
                            </a:solidFill>
                            <a:latin typeface="Cambria Math" panose="02040503050406030204" pitchFamily="18" charset="0"/>
                          </a:rPr>
                          <m:t>𝒊</m:t>
                        </m:r>
                        <m:r>
                          <a:rPr lang="en-US" altLang="zh-CN" sz="2000" i="1" dirty="0">
                            <a:solidFill>
                              <a:schemeClr val="tx1"/>
                            </a:solidFill>
                            <a:latin typeface="Cambria Math" panose="02040503050406030204" pitchFamily="18" charset="0"/>
                          </a:rPr>
                          <m:t>→</m:t>
                        </m:r>
                        <m:r>
                          <a:rPr lang="en-US" altLang="zh-CN" sz="2000" b="1" i="1" dirty="0">
                            <a:solidFill>
                              <a:schemeClr val="tx1"/>
                            </a:solidFill>
                            <a:latin typeface="Cambria Math" panose="02040503050406030204" pitchFamily="18" charset="0"/>
                          </a:rPr>
                          <m:t>𝒐</m:t>
                        </m:r>
                      </m:e>
                    </m:d>
                  </m:oMath>
                </a14:m>
                <a:r>
                  <a:rPr lang="zh-CN" altLang="en-US" sz="2000" dirty="0">
                    <a:solidFill>
                      <a:schemeClr val="tx1"/>
                    </a:solidFill>
                  </a:rPr>
                  <a:t>的值就会越大。</a:t>
                </a:r>
                <a:endParaRPr lang="en-US" altLang="zh-CN" sz="2000" dirty="0">
                  <a:solidFill>
                    <a:schemeClr val="tx1"/>
                  </a:solidFill>
                </a:endParaRPr>
              </a:p>
            </p:txBody>
          </p:sp>
        </mc:Choice>
        <mc:Fallback xmlns="">
          <p:sp>
            <p:nvSpPr>
              <p:cNvPr id="3" name="矩形 2">
                <a:extLst>
                  <a:ext uri="{FF2B5EF4-FFF2-40B4-BE49-F238E27FC236}">
                    <a16:creationId xmlns:a16="http://schemas.microsoft.com/office/drawing/2014/main" id="{D7C89FB8-A52E-42B0-E045-8A8E95070B26}"/>
                  </a:ext>
                </a:extLst>
              </p:cNvPr>
              <p:cNvSpPr>
                <a:spLocks noRot="1" noChangeAspect="1" noMove="1" noResize="1" noEditPoints="1" noAdjustHandles="1" noChangeArrowheads="1" noChangeShapeType="1" noTextEdit="1"/>
              </p:cNvSpPr>
              <p:nvPr/>
            </p:nvSpPr>
            <p:spPr>
              <a:xfrm>
                <a:off x="478711" y="1078907"/>
                <a:ext cx="5430501" cy="5386745"/>
              </a:xfrm>
              <a:prstGeom prst="rect">
                <a:avLst/>
              </a:prstGeom>
              <a:blipFill>
                <a:blip r:embed="rId2"/>
                <a:stretch>
                  <a:fillRect l="-1121" r="-2691"/>
                </a:stretch>
              </a:blipFill>
            </p:spPr>
            <p:txBody>
              <a:bodyPr/>
              <a:lstStyle/>
              <a:p>
                <a:r>
                  <a:rPr lang="zh-CN" altLang="en-US">
                    <a:noFill/>
                  </a:rPr>
                  <a:t> </a:t>
                </a:r>
              </a:p>
            </p:txBody>
          </p:sp>
        </mc:Fallback>
      </mc:AlternateContent>
      <p:sp>
        <p:nvSpPr>
          <p:cNvPr id="103" name="矩形 102">
            <a:extLst>
              <a:ext uri="{FF2B5EF4-FFF2-40B4-BE49-F238E27FC236}">
                <a16:creationId xmlns:a16="http://schemas.microsoft.com/office/drawing/2014/main" id="{04D498AF-16B6-6F6F-E3DB-EC5B3EA955F3}"/>
              </a:ext>
            </a:extLst>
          </p:cNvPr>
          <p:cNvSpPr/>
          <p:nvPr/>
        </p:nvSpPr>
        <p:spPr>
          <a:xfrm>
            <a:off x="6479833" y="1231308"/>
            <a:ext cx="5559506" cy="2603744"/>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a:extLst>
              <a:ext uri="{FF2B5EF4-FFF2-40B4-BE49-F238E27FC236}">
                <a16:creationId xmlns:a16="http://schemas.microsoft.com/office/drawing/2014/main" id="{1CF691BF-84CE-574C-3603-5523B099C55F}"/>
              </a:ext>
            </a:extLst>
          </p:cNvPr>
          <p:cNvSpPr/>
          <p:nvPr/>
        </p:nvSpPr>
        <p:spPr>
          <a:xfrm>
            <a:off x="6327433" y="1078908"/>
            <a:ext cx="5559506" cy="260374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45" name="组合 144">
            <a:extLst>
              <a:ext uri="{FF2B5EF4-FFF2-40B4-BE49-F238E27FC236}">
                <a16:creationId xmlns:a16="http://schemas.microsoft.com/office/drawing/2014/main" id="{36A0EA79-548F-B835-4D68-3809ABAF3F31}"/>
              </a:ext>
            </a:extLst>
          </p:cNvPr>
          <p:cNvGrpSpPr/>
          <p:nvPr/>
        </p:nvGrpSpPr>
        <p:grpSpPr>
          <a:xfrm>
            <a:off x="6512980" y="1283458"/>
            <a:ext cx="5204857" cy="2168243"/>
            <a:chOff x="6400507" y="1901316"/>
            <a:chExt cx="4904804" cy="2130896"/>
          </a:xfrm>
        </p:grpSpPr>
        <p:grpSp>
          <p:nvGrpSpPr>
            <p:cNvPr id="123" name="组合 122">
              <a:extLst>
                <a:ext uri="{FF2B5EF4-FFF2-40B4-BE49-F238E27FC236}">
                  <a16:creationId xmlns:a16="http://schemas.microsoft.com/office/drawing/2014/main" id="{B42AAAB3-7565-E785-2EB4-5A6EAF0FDA1F}"/>
                </a:ext>
              </a:extLst>
            </p:cNvPr>
            <p:cNvGrpSpPr/>
            <p:nvPr/>
          </p:nvGrpSpPr>
          <p:grpSpPr>
            <a:xfrm>
              <a:off x="6400507" y="2604902"/>
              <a:ext cx="4643836" cy="1427310"/>
              <a:chOff x="6951264" y="2645834"/>
              <a:chExt cx="4643836" cy="1331721"/>
            </a:xfrm>
          </p:grpSpPr>
          <p:cxnSp>
            <p:nvCxnSpPr>
              <p:cNvPr id="124" name="直接连接符 123">
                <a:extLst>
                  <a:ext uri="{FF2B5EF4-FFF2-40B4-BE49-F238E27FC236}">
                    <a16:creationId xmlns:a16="http://schemas.microsoft.com/office/drawing/2014/main" id="{94867834-9CD3-8225-44E5-0D34F72D0B05}"/>
                  </a:ext>
                </a:extLst>
              </p:cNvPr>
              <p:cNvCxnSpPr/>
              <p:nvPr/>
            </p:nvCxnSpPr>
            <p:spPr>
              <a:xfrm>
                <a:off x="7405437" y="3429000"/>
                <a:ext cx="409060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5" name="文本框 124">
                    <a:extLst>
                      <a:ext uri="{FF2B5EF4-FFF2-40B4-BE49-F238E27FC236}">
                        <a16:creationId xmlns:a16="http://schemas.microsoft.com/office/drawing/2014/main" id="{C4F94E30-BC73-523A-CCCF-7B196DB954BE}"/>
                      </a:ext>
                    </a:extLst>
                  </p:cNvPr>
                  <p:cNvSpPr txBox="1"/>
                  <p:nvPr/>
                </p:nvSpPr>
                <p:spPr>
                  <a:xfrm>
                    <a:off x="9488109" y="3638893"/>
                    <a:ext cx="2098876" cy="338662"/>
                  </a:xfrm>
                  <a:prstGeom prst="rect">
                    <a:avLst/>
                  </a:prstGeom>
                  <a:noFill/>
                </p:spPr>
                <p:txBody>
                  <a:bodyPr wrap="none" rtlCol="0">
                    <a:spAutoFit/>
                  </a:bodyPr>
                  <a:lstStyle/>
                  <a:p>
                    <a:r>
                      <a:rPr lang="en-US" altLang="zh-CN" dirty="0"/>
                      <a:t>Macro Surface  </a:t>
                    </a:r>
                    <a14:m>
                      <m:oMath xmlns:m="http://schemas.openxmlformats.org/officeDocument/2006/math">
                        <m:sSub>
                          <m:sSubPr>
                            <m:ctrlPr>
                              <a:rPr lang="en-US" altLang="zh-CN" sz="1800" b="0" i="1" smtClean="0">
                                <a:solidFill>
                                  <a:schemeClr val="tx1"/>
                                </a:solidFill>
                                <a:latin typeface="Cambria Math" panose="02040503050406030204" pitchFamily="18" charset="0"/>
                              </a:rPr>
                            </m:ctrlPr>
                          </m:sSubPr>
                          <m:e>
                            <m:r>
                              <m:rPr>
                                <m:sty m:val="p"/>
                              </m:rPr>
                              <a:rPr lang="en-US" altLang="zh-CN" sz="1800" i="1">
                                <a:solidFill>
                                  <a:schemeClr val="tx1"/>
                                </a:solidFill>
                                <a:latin typeface="Cambria Math" panose="02040503050406030204" pitchFamily="18" charset="0"/>
                              </a:rPr>
                              <m:t>A</m:t>
                            </m:r>
                          </m:e>
                          <m:sub>
                            <m:r>
                              <a:rPr lang="en-US" altLang="zh-CN" sz="1800" b="0" i="1" smtClean="0">
                                <a:solidFill>
                                  <a:schemeClr val="tx1"/>
                                </a:solidFill>
                                <a:latin typeface="Cambria Math" panose="02040503050406030204" pitchFamily="18" charset="0"/>
                              </a:rPr>
                              <m:t>𝑀</m:t>
                            </m:r>
                          </m:sub>
                        </m:sSub>
                      </m:oMath>
                    </a14:m>
                    <a:endParaRPr lang="zh-CN" altLang="en-US" dirty="0"/>
                  </a:p>
                </p:txBody>
              </p:sp>
            </mc:Choice>
            <mc:Fallback xmlns="">
              <p:sp>
                <p:nvSpPr>
                  <p:cNvPr id="125" name="文本框 124">
                    <a:extLst>
                      <a:ext uri="{FF2B5EF4-FFF2-40B4-BE49-F238E27FC236}">
                        <a16:creationId xmlns:a16="http://schemas.microsoft.com/office/drawing/2014/main" id="{C4F94E30-BC73-523A-CCCF-7B196DB954BE}"/>
                      </a:ext>
                    </a:extLst>
                  </p:cNvPr>
                  <p:cNvSpPr txBox="1">
                    <a:spLocks noRot="1" noChangeAspect="1" noMove="1" noResize="1" noEditPoints="1" noAdjustHandles="1" noChangeArrowheads="1" noChangeShapeType="1" noTextEdit="1"/>
                  </p:cNvSpPr>
                  <p:nvPr/>
                </p:nvSpPr>
                <p:spPr>
                  <a:xfrm>
                    <a:off x="9488109" y="3638893"/>
                    <a:ext cx="2098876" cy="338662"/>
                  </a:xfrm>
                  <a:prstGeom prst="rect">
                    <a:avLst/>
                  </a:prstGeom>
                  <a:blipFill>
                    <a:blip r:embed="rId3"/>
                    <a:stretch>
                      <a:fillRect l="-2192" t="-10000" b="-26667"/>
                    </a:stretch>
                  </a:blipFill>
                </p:spPr>
                <p:txBody>
                  <a:bodyPr/>
                  <a:lstStyle/>
                  <a:p>
                    <a:r>
                      <a:rPr lang="zh-CN" altLang="en-US">
                        <a:noFill/>
                      </a:rPr>
                      <a:t> </a:t>
                    </a:r>
                  </a:p>
                </p:txBody>
              </p:sp>
            </mc:Fallback>
          </mc:AlternateContent>
          <p:sp>
            <p:nvSpPr>
              <p:cNvPr id="126" name="任意多边形: 形状 125">
                <a:extLst>
                  <a:ext uri="{FF2B5EF4-FFF2-40B4-BE49-F238E27FC236}">
                    <a16:creationId xmlns:a16="http://schemas.microsoft.com/office/drawing/2014/main" id="{42205E38-3B44-BE7F-A438-43D12025DAC3}"/>
                  </a:ext>
                </a:extLst>
              </p:cNvPr>
              <p:cNvSpPr/>
              <p:nvPr/>
            </p:nvSpPr>
            <p:spPr>
              <a:xfrm>
                <a:off x="7382934" y="2645834"/>
                <a:ext cx="4212166" cy="1206500"/>
              </a:xfrm>
              <a:custGeom>
                <a:avLst/>
                <a:gdLst>
                  <a:gd name="connsiteX0" fmla="*/ 0 w 4212166"/>
                  <a:gd name="connsiteY0" fmla="*/ 766233 h 1206500"/>
                  <a:gd name="connsiteX1" fmla="*/ 342900 w 4212166"/>
                  <a:gd name="connsiteY1" fmla="*/ 347133 h 1206500"/>
                  <a:gd name="connsiteX2" fmla="*/ 579966 w 4212166"/>
                  <a:gd name="connsiteY2" fmla="*/ 156633 h 1206500"/>
                  <a:gd name="connsiteX3" fmla="*/ 766233 w 4212166"/>
                  <a:gd name="connsiteY3" fmla="*/ 105833 h 1206500"/>
                  <a:gd name="connsiteX4" fmla="*/ 833966 w 4212166"/>
                  <a:gd name="connsiteY4" fmla="*/ 232833 h 1206500"/>
                  <a:gd name="connsiteX5" fmla="*/ 859366 w 4212166"/>
                  <a:gd name="connsiteY5" fmla="*/ 508000 h 1206500"/>
                  <a:gd name="connsiteX6" fmla="*/ 880533 w 4212166"/>
                  <a:gd name="connsiteY6" fmla="*/ 791633 h 1206500"/>
                  <a:gd name="connsiteX7" fmla="*/ 910166 w 4212166"/>
                  <a:gd name="connsiteY7" fmla="*/ 948266 h 1206500"/>
                  <a:gd name="connsiteX8" fmla="*/ 994833 w 4212166"/>
                  <a:gd name="connsiteY8" fmla="*/ 1037166 h 1206500"/>
                  <a:gd name="connsiteX9" fmla="*/ 1299633 w 4212166"/>
                  <a:gd name="connsiteY9" fmla="*/ 1176866 h 1206500"/>
                  <a:gd name="connsiteX10" fmla="*/ 1756833 w 4212166"/>
                  <a:gd name="connsiteY10" fmla="*/ 1206500 h 1206500"/>
                  <a:gd name="connsiteX11" fmla="*/ 1943100 w 4212166"/>
                  <a:gd name="connsiteY11" fmla="*/ 1138766 h 1206500"/>
                  <a:gd name="connsiteX12" fmla="*/ 1930400 w 4212166"/>
                  <a:gd name="connsiteY12" fmla="*/ 897466 h 1206500"/>
                  <a:gd name="connsiteX13" fmla="*/ 1849966 w 4212166"/>
                  <a:gd name="connsiteY13" fmla="*/ 588433 h 1206500"/>
                  <a:gd name="connsiteX14" fmla="*/ 1905000 w 4212166"/>
                  <a:gd name="connsiteY14" fmla="*/ 317500 h 1206500"/>
                  <a:gd name="connsiteX15" fmla="*/ 2103966 w 4212166"/>
                  <a:gd name="connsiteY15" fmla="*/ 152400 h 1206500"/>
                  <a:gd name="connsiteX16" fmla="*/ 2501900 w 4212166"/>
                  <a:gd name="connsiteY16" fmla="*/ 42333 h 1206500"/>
                  <a:gd name="connsiteX17" fmla="*/ 2963333 w 4212166"/>
                  <a:gd name="connsiteY17" fmla="*/ 0 h 1206500"/>
                  <a:gd name="connsiteX18" fmla="*/ 3386666 w 4212166"/>
                  <a:gd name="connsiteY18" fmla="*/ 71966 h 1206500"/>
                  <a:gd name="connsiteX19" fmla="*/ 3479800 w 4212166"/>
                  <a:gd name="connsiteY19" fmla="*/ 296333 h 1206500"/>
                  <a:gd name="connsiteX20" fmla="*/ 3568700 w 4212166"/>
                  <a:gd name="connsiteY20" fmla="*/ 630766 h 1206500"/>
                  <a:gd name="connsiteX21" fmla="*/ 3661833 w 4212166"/>
                  <a:gd name="connsiteY21" fmla="*/ 876300 h 1206500"/>
                  <a:gd name="connsiteX22" fmla="*/ 3738033 w 4212166"/>
                  <a:gd name="connsiteY22" fmla="*/ 960966 h 1206500"/>
                  <a:gd name="connsiteX23" fmla="*/ 3949700 w 4212166"/>
                  <a:gd name="connsiteY23" fmla="*/ 867833 h 1206500"/>
                  <a:gd name="connsiteX24" fmla="*/ 4212166 w 4212166"/>
                  <a:gd name="connsiteY24" fmla="*/ 546100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12166" h="1206500">
                    <a:moveTo>
                      <a:pt x="0" y="766233"/>
                    </a:moveTo>
                    <a:lnTo>
                      <a:pt x="342900" y="347133"/>
                    </a:lnTo>
                    <a:lnTo>
                      <a:pt x="579966" y="156633"/>
                    </a:lnTo>
                    <a:lnTo>
                      <a:pt x="766233" y="105833"/>
                    </a:lnTo>
                    <a:lnTo>
                      <a:pt x="833966" y="232833"/>
                    </a:lnTo>
                    <a:lnTo>
                      <a:pt x="859366" y="508000"/>
                    </a:lnTo>
                    <a:lnTo>
                      <a:pt x="880533" y="791633"/>
                    </a:lnTo>
                    <a:lnTo>
                      <a:pt x="910166" y="948266"/>
                    </a:lnTo>
                    <a:lnTo>
                      <a:pt x="994833" y="1037166"/>
                    </a:lnTo>
                    <a:lnTo>
                      <a:pt x="1299633" y="1176866"/>
                    </a:lnTo>
                    <a:lnTo>
                      <a:pt x="1756833" y="1206500"/>
                    </a:lnTo>
                    <a:lnTo>
                      <a:pt x="1943100" y="1138766"/>
                    </a:lnTo>
                    <a:lnTo>
                      <a:pt x="1930400" y="897466"/>
                    </a:lnTo>
                    <a:lnTo>
                      <a:pt x="1849966" y="588433"/>
                    </a:lnTo>
                    <a:lnTo>
                      <a:pt x="1905000" y="317500"/>
                    </a:lnTo>
                    <a:lnTo>
                      <a:pt x="2103966" y="152400"/>
                    </a:lnTo>
                    <a:lnTo>
                      <a:pt x="2501900" y="42333"/>
                    </a:lnTo>
                    <a:lnTo>
                      <a:pt x="2963333" y="0"/>
                    </a:lnTo>
                    <a:lnTo>
                      <a:pt x="3386666" y="71966"/>
                    </a:lnTo>
                    <a:lnTo>
                      <a:pt x="3479800" y="296333"/>
                    </a:lnTo>
                    <a:lnTo>
                      <a:pt x="3568700" y="630766"/>
                    </a:lnTo>
                    <a:lnTo>
                      <a:pt x="3661833" y="876300"/>
                    </a:lnTo>
                    <a:lnTo>
                      <a:pt x="3738033" y="960966"/>
                    </a:lnTo>
                    <a:lnTo>
                      <a:pt x="3949700" y="867833"/>
                    </a:lnTo>
                    <a:lnTo>
                      <a:pt x="4212166" y="546100"/>
                    </a:ln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文本框 126">
                <a:extLst>
                  <a:ext uri="{FF2B5EF4-FFF2-40B4-BE49-F238E27FC236}">
                    <a16:creationId xmlns:a16="http://schemas.microsoft.com/office/drawing/2014/main" id="{8D565DA4-C584-A253-D90F-955CA876760D}"/>
                  </a:ext>
                </a:extLst>
              </p:cNvPr>
              <p:cNvSpPr txBox="1"/>
              <p:nvPr/>
            </p:nvSpPr>
            <p:spPr>
              <a:xfrm>
                <a:off x="6951264" y="3495790"/>
                <a:ext cx="1356718" cy="369332"/>
              </a:xfrm>
              <a:prstGeom prst="rect">
                <a:avLst/>
              </a:prstGeom>
              <a:noFill/>
            </p:spPr>
            <p:txBody>
              <a:bodyPr wrap="none" rtlCol="0">
                <a:spAutoFit/>
              </a:bodyPr>
              <a:lstStyle/>
              <a:p>
                <a:r>
                  <a:rPr lang="en-US" altLang="zh-CN" dirty="0">
                    <a:solidFill>
                      <a:schemeClr val="accent4">
                        <a:lumMod val="60000"/>
                        <a:lumOff val="40000"/>
                      </a:schemeClr>
                    </a:solidFill>
                  </a:rPr>
                  <a:t>Microfacet</a:t>
                </a:r>
                <a:endParaRPr lang="zh-CN" altLang="en-US" dirty="0">
                  <a:solidFill>
                    <a:schemeClr val="accent4">
                      <a:lumMod val="60000"/>
                      <a:lumOff val="40000"/>
                    </a:schemeClr>
                  </a:solidFill>
                </a:endParaRPr>
              </a:p>
            </p:txBody>
          </p:sp>
        </p:grpSp>
        <p:cxnSp>
          <p:nvCxnSpPr>
            <p:cNvPr id="129" name="直接箭头连接符 128">
              <a:extLst>
                <a:ext uri="{FF2B5EF4-FFF2-40B4-BE49-F238E27FC236}">
                  <a16:creationId xmlns:a16="http://schemas.microsoft.com/office/drawing/2014/main" id="{25C70039-8E12-AA62-12AB-95E0D5F99BEB}"/>
                </a:ext>
              </a:extLst>
            </p:cNvPr>
            <p:cNvCxnSpPr>
              <a:cxnSpLocks/>
              <a:endCxn id="126" idx="18"/>
            </p:cNvCxnSpPr>
            <p:nvPr/>
          </p:nvCxnSpPr>
          <p:spPr>
            <a:xfrm flipH="1">
              <a:off x="10218843" y="2604903"/>
              <a:ext cx="676371" cy="77132"/>
            </a:xfrm>
            <a:prstGeom prst="straightConnector1">
              <a:avLst/>
            </a:prstGeom>
            <a:ln w="38100">
              <a:solidFill>
                <a:srgbClr val="FFA401"/>
              </a:solidFill>
              <a:tailEnd type="triangle"/>
            </a:ln>
          </p:spPr>
          <p:style>
            <a:lnRef idx="1">
              <a:schemeClr val="accent1"/>
            </a:lnRef>
            <a:fillRef idx="0">
              <a:schemeClr val="accent1"/>
            </a:fillRef>
            <a:effectRef idx="0">
              <a:schemeClr val="accent1"/>
            </a:effectRef>
            <a:fontRef idx="minor">
              <a:schemeClr val="tx1"/>
            </a:fontRef>
          </p:style>
        </p:cxnSp>
        <p:cxnSp>
          <p:nvCxnSpPr>
            <p:cNvPr id="130" name="直接箭头连接符 129">
              <a:extLst>
                <a:ext uri="{FF2B5EF4-FFF2-40B4-BE49-F238E27FC236}">
                  <a16:creationId xmlns:a16="http://schemas.microsoft.com/office/drawing/2014/main" id="{18FE9012-61F8-10B4-D5DE-DB010989B790}"/>
                </a:ext>
              </a:extLst>
            </p:cNvPr>
            <p:cNvCxnSpPr>
              <a:stCxn id="126" idx="18"/>
            </p:cNvCxnSpPr>
            <p:nvPr/>
          </p:nvCxnSpPr>
          <p:spPr>
            <a:xfrm flipH="1" flipV="1">
              <a:off x="10061214" y="2085982"/>
              <a:ext cx="157629" cy="596053"/>
            </a:xfrm>
            <a:prstGeom prst="straightConnector1">
              <a:avLst/>
            </a:prstGeom>
            <a:ln w="38100">
              <a:solidFill>
                <a:srgbClr val="FFA401"/>
              </a:solidFill>
              <a:tailEnd type="triangle"/>
            </a:ln>
          </p:spPr>
          <p:style>
            <a:lnRef idx="1">
              <a:schemeClr val="accent1"/>
            </a:lnRef>
            <a:fillRef idx="0">
              <a:schemeClr val="accent1"/>
            </a:fillRef>
            <a:effectRef idx="0">
              <a:schemeClr val="accent1"/>
            </a:effectRef>
            <a:fontRef idx="minor">
              <a:schemeClr val="tx1"/>
            </a:fontRef>
          </p:style>
        </p:cxnSp>
        <p:cxnSp>
          <p:nvCxnSpPr>
            <p:cNvPr id="131" name="直接箭头连接符 130">
              <a:extLst>
                <a:ext uri="{FF2B5EF4-FFF2-40B4-BE49-F238E27FC236}">
                  <a16:creationId xmlns:a16="http://schemas.microsoft.com/office/drawing/2014/main" id="{88542E1D-DDCD-AA73-9D24-C9F7A8AE26BC}"/>
                </a:ext>
              </a:extLst>
            </p:cNvPr>
            <p:cNvCxnSpPr>
              <a:cxnSpLocks/>
            </p:cNvCxnSpPr>
            <p:nvPr/>
          </p:nvCxnSpPr>
          <p:spPr>
            <a:xfrm flipH="1" flipV="1">
              <a:off x="7445362" y="2137764"/>
              <a:ext cx="157629" cy="586535"/>
            </a:xfrm>
            <a:prstGeom prst="straightConnector1">
              <a:avLst/>
            </a:prstGeom>
            <a:ln w="38100">
              <a:solidFill>
                <a:srgbClr val="FFA401"/>
              </a:solidFill>
              <a:tailEnd type="triangle"/>
            </a:ln>
          </p:spPr>
          <p:style>
            <a:lnRef idx="1">
              <a:schemeClr val="accent1"/>
            </a:lnRef>
            <a:fillRef idx="0">
              <a:schemeClr val="accent1"/>
            </a:fillRef>
            <a:effectRef idx="0">
              <a:schemeClr val="accent1"/>
            </a:effectRef>
            <a:fontRef idx="minor">
              <a:schemeClr val="tx1"/>
            </a:fontRef>
          </p:style>
        </p:cxnSp>
        <p:cxnSp>
          <p:nvCxnSpPr>
            <p:cNvPr id="132" name="直接箭头连接符 131">
              <a:extLst>
                <a:ext uri="{FF2B5EF4-FFF2-40B4-BE49-F238E27FC236}">
                  <a16:creationId xmlns:a16="http://schemas.microsoft.com/office/drawing/2014/main" id="{00EE0D80-0517-4AAC-028E-DA44D47DBD19}"/>
                </a:ext>
              </a:extLst>
            </p:cNvPr>
            <p:cNvCxnSpPr>
              <a:cxnSpLocks/>
            </p:cNvCxnSpPr>
            <p:nvPr/>
          </p:nvCxnSpPr>
          <p:spPr>
            <a:xfrm flipH="1">
              <a:off x="7583941" y="2661467"/>
              <a:ext cx="676371" cy="67614"/>
            </a:xfrm>
            <a:prstGeom prst="straightConnector1">
              <a:avLst/>
            </a:prstGeom>
            <a:ln w="38100">
              <a:solidFill>
                <a:srgbClr val="FFA401"/>
              </a:solidFill>
              <a:tailEnd type="triangle"/>
            </a:ln>
          </p:spPr>
          <p:style>
            <a:lnRef idx="1">
              <a:schemeClr val="accent1"/>
            </a:lnRef>
            <a:fillRef idx="0">
              <a:schemeClr val="accent1"/>
            </a:fillRef>
            <a:effectRef idx="0">
              <a:schemeClr val="accent1"/>
            </a:effectRef>
            <a:fontRef idx="minor">
              <a:schemeClr val="tx1"/>
            </a:fontRef>
          </p:style>
        </p:cxnSp>
        <p:cxnSp>
          <p:nvCxnSpPr>
            <p:cNvPr id="133" name="直接箭头连接符 132">
              <a:extLst>
                <a:ext uri="{FF2B5EF4-FFF2-40B4-BE49-F238E27FC236}">
                  <a16:creationId xmlns:a16="http://schemas.microsoft.com/office/drawing/2014/main" id="{45D835D9-3DEE-AC57-EE10-17E379FE586D}"/>
                </a:ext>
              </a:extLst>
            </p:cNvPr>
            <p:cNvCxnSpPr>
              <a:cxnSpLocks/>
              <a:stCxn id="126" idx="3"/>
            </p:cNvCxnSpPr>
            <p:nvPr/>
          </p:nvCxnSpPr>
          <p:spPr>
            <a:xfrm flipV="1">
              <a:off x="7598410" y="2343793"/>
              <a:ext cx="236657" cy="374540"/>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4" name="直接箭头连接符 133">
              <a:extLst>
                <a:ext uri="{FF2B5EF4-FFF2-40B4-BE49-F238E27FC236}">
                  <a16:creationId xmlns:a16="http://schemas.microsoft.com/office/drawing/2014/main" id="{174CA0C0-BF4C-7261-1CA8-A4E516DE8A0B}"/>
                </a:ext>
              </a:extLst>
            </p:cNvPr>
            <p:cNvCxnSpPr>
              <a:cxnSpLocks/>
            </p:cNvCxnSpPr>
            <p:nvPr/>
          </p:nvCxnSpPr>
          <p:spPr>
            <a:xfrm flipV="1">
              <a:off x="10218843" y="2307567"/>
              <a:ext cx="289891" cy="378747"/>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5" name="文本框 134">
                  <a:extLst>
                    <a:ext uri="{FF2B5EF4-FFF2-40B4-BE49-F238E27FC236}">
                      <a16:creationId xmlns:a16="http://schemas.microsoft.com/office/drawing/2014/main" id="{59AF1894-3C57-D8DA-02CE-B02714842D63}"/>
                    </a:ext>
                  </a:extLst>
                </p:cNvPr>
                <p:cNvSpPr txBox="1"/>
                <p:nvPr/>
              </p:nvSpPr>
              <p:spPr>
                <a:xfrm>
                  <a:off x="7524176" y="1993908"/>
                  <a:ext cx="903440" cy="4312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1200" i="1" dirty="0">
                                <a:latin typeface="Cambria Math" panose="02040503050406030204" pitchFamily="18" charset="0"/>
                              </a:rPr>
                            </m:ctrlPr>
                          </m:fPr>
                          <m:num>
                            <m:r>
                              <a:rPr lang="en-US" altLang="zh-CN" sz="1200" b="1" i="1" dirty="0">
                                <a:latin typeface="Cambria Math" panose="02040503050406030204" pitchFamily="18" charset="0"/>
                              </a:rPr>
                              <m:t>𝒊</m:t>
                            </m:r>
                            <m:r>
                              <a:rPr lang="en-US" altLang="zh-CN" sz="1200" i="1" dirty="0">
                                <a:latin typeface="Cambria Math" panose="02040503050406030204" pitchFamily="18" charset="0"/>
                              </a:rPr>
                              <m:t>+</m:t>
                            </m:r>
                            <m:r>
                              <a:rPr lang="en-US" altLang="zh-CN" sz="1200" b="1" i="1" dirty="0">
                                <a:latin typeface="Cambria Math" panose="02040503050406030204" pitchFamily="18" charset="0"/>
                              </a:rPr>
                              <m:t>𝒐</m:t>
                            </m:r>
                          </m:num>
                          <m:den>
                            <m:r>
                              <a:rPr lang="en-US" altLang="zh-CN" sz="1200" i="1" dirty="0">
                                <a:latin typeface="Cambria Math" panose="02040503050406030204" pitchFamily="18" charset="0"/>
                              </a:rPr>
                              <m:t>2</m:t>
                            </m:r>
                          </m:den>
                        </m:f>
                      </m:oMath>
                    </m:oMathPara>
                  </a14:m>
                  <a:endParaRPr lang="zh-CN" altLang="en-US" sz="1200" dirty="0"/>
                </a:p>
              </p:txBody>
            </p:sp>
          </mc:Choice>
          <mc:Fallback xmlns="">
            <p:sp>
              <p:nvSpPr>
                <p:cNvPr id="135" name="文本框 134">
                  <a:extLst>
                    <a:ext uri="{FF2B5EF4-FFF2-40B4-BE49-F238E27FC236}">
                      <a16:creationId xmlns:a16="http://schemas.microsoft.com/office/drawing/2014/main" id="{59AF1894-3C57-D8DA-02CE-B02714842D63}"/>
                    </a:ext>
                  </a:extLst>
                </p:cNvPr>
                <p:cNvSpPr txBox="1">
                  <a:spLocks noRot="1" noChangeAspect="1" noMove="1" noResize="1" noEditPoints="1" noAdjustHandles="1" noChangeArrowheads="1" noChangeShapeType="1" noTextEdit="1"/>
                </p:cNvSpPr>
                <p:nvPr/>
              </p:nvSpPr>
              <p:spPr>
                <a:xfrm>
                  <a:off x="7524176" y="1993908"/>
                  <a:ext cx="903440" cy="431216"/>
                </a:xfrm>
                <a:prstGeom prst="rect">
                  <a:avLst/>
                </a:prstGeom>
                <a:blipFill>
                  <a:blip r:embed="rId4"/>
                  <a:stretch>
                    <a:fillRect b="-13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6" name="文本框 135">
                  <a:extLst>
                    <a:ext uri="{FF2B5EF4-FFF2-40B4-BE49-F238E27FC236}">
                      <a16:creationId xmlns:a16="http://schemas.microsoft.com/office/drawing/2014/main" id="{E74E161B-45CA-0DF4-A2BF-CC60B344BADC}"/>
                    </a:ext>
                  </a:extLst>
                </p:cNvPr>
                <p:cNvSpPr txBox="1"/>
                <p:nvPr/>
              </p:nvSpPr>
              <p:spPr>
                <a:xfrm>
                  <a:off x="10202043" y="2046457"/>
                  <a:ext cx="903440" cy="431216"/>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altLang="zh-CN" sz="1200" i="1" dirty="0" smtClean="0">
                                <a:solidFill>
                                  <a:schemeClr val="tx1"/>
                                </a:solidFill>
                                <a:latin typeface="Cambria Math" panose="02040503050406030204" pitchFamily="18" charset="0"/>
                              </a:rPr>
                            </m:ctrlPr>
                          </m:fPr>
                          <m:num>
                            <m:r>
                              <a:rPr lang="en-US" altLang="zh-CN" sz="1200" b="1" i="1" dirty="0">
                                <a:latin typeface="Cambria Math" panose="02040503050406030204" pitchFamily="18" charset="0"/>
                              </a:rPr>
                              <m:t>𝒊</m:t>
                            </m:r>
                            <m:r>
                              <a:rPr lang="en-US" altLang="zh-CN" sz="1200" i="1" dirty="0" smtClean="0">
                                <a:solidFill>
                                  <a:schemeClr val="tx1"/>
                                </a:solidFill>
                                <a:latin typeface="Cambria Math" panose="02040503050406030204" pitchFamily="18" charset="0"/>
                              </a:rPr>
                              <m:t>+</m:t>
                            </m:r>
                            <m:r>
                              <a:rPr lang="en-US" altLang="zh-CN" sz="1200" b="1" i="1" dirty="0" smtClean="0">
                                <a:latin typeface="Cambria Math" panose="02040503050406030204" pitchFamily="18" charset="0"/>
                              </a:rPr>
                              <m:t>𝒐</m:t>
                            </m:r>
                          </m:num>
                          <m:den>
                            <m:r>
                              <a:rPr lang="en-US" altLang="zh-CN" sz="1200" i="1" dirty="0" smtClean="0">
                                <a:solidFill>
                                  <a:schemeClr val="tx1"/>
                                </a:solidFill>
                                <a:latin typeface="Cambria Math" panose="02040503050406030204" pitchFamily="18" charset="0"/>
                              </a:rPr>
                              <m:t>2</m:t>
                            </m:r>
                          </m:den>
                        </m:f>
                      </m:oMath>
                    </m:oMathPara>
                  </a14:m>
                  <a:endParaRPr lang="zh-CN" altLang="en-US" sz="1200" dirty="0"/>
                </a:p>
              </p:txBody>
            </p:sp>
          </mc:Choice>
          <mc:Fallback xmlns="">
            <p:sp>
              <p:nvSpPr>
                <p:cNvPr id="136" name="文本框 135">
                  <a:extLst>
                    <a:ext uri="{FF2B5EF4-FFF2-40B4-BE49-F238E27FC236}">
                      <a16:creationId xmlns:a16="http://schemas.microsoft.com/office/drawing/2014/main" id="{E74E161B-45CA-0DF4-A2BF-CC60B344BADC}"/>
                    </a:ext>
                  </a:extLst>
                </p:cNvPr>
                <p:cNvSpPr txBox="1">
                  <a:spLocks noRot="1" noChangeAspect="1" noMove="1" noResize="1" noEditPoints="1" noAdjustHandles="1" noChangeArrowheads="1" noChangeShapeType="1" noTextEdit="1"/>
                </p:cNvSpPr>
                <p:nvPr/>
              </p:nvSpPr>
              <p:spPr>
                <a:xfrm>
                  <a:off x="10202043" y="2046457"/>
                  <a:ext cx="903440" cy="431216"/>
                </a:xfrm>
                <a:prstGeom prst="rect">
                  <a:avLst/>
                </a:prstGeom>
                <a:blipFill>
                  <a:blip r:embed="rId5"/>
                  <a:stretch>
                    <a:fillRect b="-13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7" name="文本框 136">
                  <a:extLst>
                    <a:ext uri="{FF2B5EF4-FFF2-40B4-BE49-F238E27FC236}">
                      <a16:creationId xmlns:a16="http://schemas.microsoft.com/office/drawing/2014/main" id="{F9DF8546-ECBA-1B42-C0E8-07D83E465D01}"/>
                    </a:ext>
                  </a:extLst>
                </p:cNvPr>
                <p:cNvSpPr txBox="1"/>
                <p:nvPr/>
              </p:nvSpPr>
              <p:spPr>
                <a:xfrm>
                  <a:off x="8188145" y="2328003"/>
                  <a:ext cx="4337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smtClean="0">
                            <a:latin typeface="Cambria Math" panose="02040503050406030204" pitchFamily="18" charset="0"/>
                          </a:rPr>
                          <m:t>𝒊</m:t>
                        </m:r>
                      </m:oMath>
                    </m:oMathPara>
                  </a14:m>
                  <a:endParaRPr lang="zh-CN" altLang="en-US" b="1" dirty="0"/>
                </a:p>
              </p:txBody>
            </p:sp>
          </mc:Choice>
          <mc:Fallback xmlns="">
            <p:sp>
              <p:nvSpPr>
                <p:cNvPr id="137" name="文本框 136">
                  <a:extLst>
                    <a:ext uri="{FF2B5EF4-FFF2-40B4-BE49-F238E27FC236}">
                      <a16:creationId xmlns:a16="http://schemas.microsoft.com/office/drawing/2014/main" id="{F9DF8546-ECBA-1B42-C0E8-07D83E465D01}"/>
                    </a:ext>
                  </a:extLst>
                </p:cNvPr>
                <p:cNvSpPr txBox="1">
                  <a:spLocks noRot="1" noChangeAspect="1" noMove="1" noResize="1" noEditPoints="1" noAdjustHandles="1" noChangeArrowheads="1" noChangeShapeType="1" noTextEdit="1"/>
                </p:cNvSpPr>
                <p:nvPr/>
              </p:nvSpPr>
              <p:spPr>
                <a:xfrm>
                  <a:off x="8188145" y="2328003"/>
                  <a:ext cx="433714"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8" name="文本框 137">
                  <a:extLst>
                    <a:ext uri="{FF2B5EF4-FFF2-40B4-BE49-F238E27FC236}">
                      <a16:creationId xmlns:a16="http://schemas.microsoft.com/office/drawing/2014/main" id="{DF310BB5-CA7A-C098-CC16-E10790D7B0FA}"/>
                    </a:ext>
                  </a:extLst>
                </p:cNvPr>
                <p:cNvSpPr txBox="1"/>
                <p:nvPr/>
              </p:nvSpPr>
              <p:spPr>
                <a:xfrm>
                  <a:off x="10871597" y="2355158"/>
                  <a:ext cx="4337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a:latin typeface="Cambria Math" panose="02040503050406030204" pitchFamily="18" charset="0"/>
                          </a:rPr>
                          <m:t>𝒊</m:t>
                        </m:r>
                      </m:oMath>
                    </m:oMathPara>
                  </a14:m>
                  <a:endParaRPr lang="zh-CN" altLang="en-US" dirty="0"/>
                </a:p>
              </p:txBody>
            </p:sp>
          </mc:Choice>
          <mc:Fallback xmlns="">
            <p:sp>
              <p:nvSpPr>
                <p:cNvPr id="138" name="文本框 137">
                  <a:extLst>
                    <a:ext uri="{FF2B5EF4-FFF2-40B4-BE49-F238E27FC236}">
                      <a16:creationId xmlns:a16="http://schemas.microsoft.com/office/drawing/2014/main" id="{DF310BB5-CA7A-C098-CC16-E10790D7B0FA}"/>
                    </a:ext>
                  </a:extLst>
                </p:cNvPr>
                <p:cNvSpPr txBox="1">
                  <a:spLocks noRot="1" noChangeAspect="1" noMove="1" noResize="1" noEditPoints="1" noAdjustHandles="1" noChangeArrowheads="1" noChangeShapeType="1" noTextEdit="1"/>
                </p:cNvSpPr>
                <p:nvPr/>
              </p:nvSpPr>
              <p:spPr>
                <a:xfrm>
                  <a:off x="10871597" y="2355158"/>
                  <a:ext cx="433714"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9" name="文本框 138">
                  <a:extLst>
                    <a:ext uri="{FF2B5EF4-FFF2-40B4-BE49-F238E27FC236}">
                      <a16:creationId xmlns:a16="http://schemas.microsoft.com/office/drawing/2014/main" id="{7C9A2382-4CF9-1161-F839-5AA134D23C10}"/>
                    </a:ext>
                  </a:extLst>
                </p:cNvPr>
                <p:cNvSpPr txBox="1"/>
                <p:nvPr/>
              </p:nvSpPr>
              <p:spPr>
                <a:xfrm>
                  <a:off x="7025606" y="1903856"/>
                  <a:ext cx="4337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dirty="0" smtClean="0">
                            <a:solidFill>
                              <a:schemeClr val="tx1"/>
                            </a:solidFill>
                            <a:latin typeface="Cambria Math" panose="02040503050406030204" pitchFamily="18" charset="0"/>
                          </a:rPr>
                          <m:t>𝒐</m:t>
                        </m:r>
                      </m:oMath>
                    </m:oMathPara>
                  </a14:m>
                  <a:endParaRPr lang="zh-CN" altLang="en-US" b="1" dirty="0"/>
                </a:p>
              </p:txBody>
            </p:sp>
          </mc:Choice>
          <mc:Fallback xmlns="">
            <p:sp>
              <p:nvSpPr>
                <p:cNvPr id="139" name="文本框 138">
                  <a:extLst>
                    <a:ext uri="{FF2B5EF4-FFF2-40B4-BE49-F238E27FC236}">
                      <a16:creationId xmlns:a16="http://schemas.microsoft.com/office/drawing/2014/main" id="{7C9A2382-4CF9-1161-F839-5AA134D23C10}"/>
                    </a:ext>
                  </a:extLst>
                </p:cNvPr>
                <p:cNvSpPr txBox="1">
                  <a:spLocks noRot="1" noChangeAspect="1" noMove="1" noResize="1" noEditPoints="1" noAdjustHandles="1" noChangeArrowheads="1" noChangeShapeType="1" noTextEdit="1"/>
                </p:cNvSpPr>
                <p:nvPr/>
              </p:nvSpPr>
              <p:spPr>
                <a:xfrm>
                  <a:off x="7025606" y="1903856"/>
                  <a:ext cx="433714"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0" name="文本框 139">
                  <a:extLst>
                    <a:ext uri="{FF2B5EF4-FFF2-40B4-BE49-F238E27FC236}">
                      <a16:creationId xmlns:a16="http://schemas.microsoft.com/office/drawing/2014/main" id="{B54603B2-1328-E19D-C229-E8083EA523E9}"/>
                    </a:ext>
                  </a:extLst>
                </p:cNvPr>
                <p:cNvSpPr txBox="1"/>
                <p:nvPr/>
              </p:nvSpPr>
              <p:spPr>
                <a:xfrm>
                  <a:off x="9620532" y="1901316"/>
                  <a:ext cx="433714"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dirty="0">
                            <a:latin typeface="Cambria Math" panose="02040503050406030204" pitchFamily="18" charset="0"/>
                          </a:rPr>
                          <m:t>𝒐</m:t>
                        </m:r>
                      </m:oMath>
                    </m:oMathPara>
                  </a14:m>
                  <a:endParaRPr lang="zh-CN" altLang="en-US" b="1" dirty="0"/>
                </a:p>
              </p:txBody>
            </p:sp>
          </mc:Choice>
          <mc:Fallback xmlns="">
            <p:sp>
              <p:nvSpPr>
                <p:cNvPr id="140" name="文本框 139">
                  <a:extLst>
                    <a:ext uri="{FF2B5EF4-FFF2-40B4-BE49-F238E27FC236}">
                      <a16:creationId xmlns:a16="http://schemas.microsoft.com/office/drawing/2014/main" id="{B54603B2-1328-E19D-C229-E8083EA523E9}"/>
                    </a:ext>
                  </a:extLst>
                </p:cNvPr>
                <p:cNvSpPr txBox="1">
                  <a:spLocks noRot="1" noChangeAspect="1" noMove="1" noResize="1" noEditPoints="1" noAdjustHandles="1" noChangeArrowheads="1" noChangeShapeType="1" noTextEdit="1"/>
                </p:cNvSpPr>
                <p:nvPr/>
              </p:nvSpPr>
              <p:spPr>
                <a:xfrm>
                  <a:off x="9620532" y="1901316"/>
                  <a:ext cx="433714" cy="369332"/>
                </a:xfrm>
                <a:prstGeom prst="rect">
                  <a:avLst/>
                </a:prstGeom>
                <a:blipFill>
                  <a:blip r:embed="rId9"/>
                  <a:stretch>
                    <a:fillRect/>
                  </a:stretch>
                </a:blipFill>
              </p:spPr>
              <p:txBody>
                <a:bodyPr/>
                <a:lstStyle/>
                <a:p>
                  <a:r>
                    <a:rPr lang="zh-CN" altLang="en-US">
                      <a:noFill/>
                    </a:rPr>
                    <a:t> </a:t>
                  </a:r>
                </a:p>
              </p:txBody>
            </p:sp>
          </mc:Fallback>
        </mc:AlternateContent>
      </p:grpSp>
      <p:sp>
        <p:nvSpPr>
          <p:cNvPr id="146" name="矩形 145">
            <a:extLst>
              <a:ext uri="{FF2B5EF4-FFF2-40B4-BE49-F238E27FC236}">
                <a16:creationId xmlns:a16="http://schemas.microsoft.com/office/drawing/2014/main" id="{E48E7215-A9D5-FA1A-8867-958A56D53C3E}"/>
              </a:ext>
            </a:extLst>
          </p:cNvPr>
          <p:cNvSpPr/>
          <p:nvPr/>
        </p:nvSpPr>
        <p:spPr>
          <a:xfrm>
            <a:off x="6464223" y="4214326"/>
            <a:ext cx="5559507" cy="24080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7" name="矩形 146">
                <a:extLst>
                  <a:ext uri="{FF2B5EF4-FFF2-40B4-BE49-F238E27FC236}">
                    <a16:creationId xmlns:a16="http://schemas.microsoft.com/office/drawing/2014/main" id="{D2A8BEAF-F371-F0A0-B18B-76D9F11C3820}"/>
                  </a:ext>
                </a:extLst>
              </p:cNvPr>
              <p:cNvSpPr/>
              <p:nvPr/>
            </p:nvSpPr>
            <p:spPr>
              <a:xfrm>
                <a:off x="6330873" y="4042876"/>
                <a:ext cx="5559507" cy="240803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600" dirty="0">
                    <a:solidFill>
                      <a:schemeClr val="tx1"/>
                    </a:solidFill>
                  </a:rPr>
                  <a:t>        </a:t>
                </a:r>
                <a:r>
                  <a:rPr lang="zh-CN" altLang="en-US" sz="1600" b="1" u="sng" dirty="0">
                    <a:solidFill>
                      <a:schemeClr val="tx1"/>
                    </a:solidFill>
                  </a:rPr>
                  <a:t>对于光束击中的宏观表面的一块微小面积</a:t>
                </a:r>
                <a14:m>
                  <m:oMath xmlns:m="http://schemas.openxmlformats.org/officeDocument/2006/math">
                    <m:sSub>
                      <m:sSubPr>
                        <m:ctrlPr>
                          <a:rPr lang="en-US" altLang="zh-CN" sz="1600" b="1" i="1" u="sng" smtClean="0">
                            <a:solidFill>
                              <a:schemeClr val="tx1"/>
                            </a:solidFill>
                            <a:latin typeface="Cambria Math" panose="02040503050406030204" pitchFamily="18" charset="0"/>
                          </a:rPr>
                        </m:ctrlPr>
                      </m:sSubPr>
                      <m:e>
                        <m:r>
                          <a:rPr lang="en-US" altLang="zh-CN" sz="1600" b="1" i="0" u="sng">
                            <a:solidFill>
                              <a:schemeClr val="tx1"/>
                            </a:solidFill>
                            <a:latin typeface="Cambria Math" panose="02040503050406030204" pitchFamily="18" charset="0"/>
                          </a:rPr>
                          <m:t>𝐀</m:t>
                        </m:r>
                      </m:e>
                      <m:sub>
                        <m:r>
                          <a:rPr lang="en-US" altLang="zh-CN" sz="1600" b="1" i="0" u="sng" smtClean="0">
                            <a:solidFill>
                              <a:schemeClr val="tx1"/>
                            </a:solidFill>
                            <a:latin typeface="Cambria Math" panose="02040503050406030204" pitchFamily="18" charset="0"/>
                          </a:rPr>
                          <m:t>𝐌</m:t>
                        </m:r>
                      </m:sub>
                    </m:sSub>
                    <m:r>
                      <a:rPr lang="en-US" altLang="zh-CN" sz="1600" b="1" i="0" u="sng">
                        <a:solidFill>
                          <a:schemeClr val="tx1"/>
                        </a:solidFill>
                        <a:latin typeface="Cambria Math" panose="02040503050406030204" pitchFamily="18" charset="0"/>
                      </a:rPr>
                      <m:t> </m:t>
                    </m:r>
                  </m:oMath>
                </a14:m>
                <a:r>
                  <a:rPr lang="zh-CN" altLang="en-US" sz="1600" dirty="0">
                    <a:solidFill>
                      <a:schemeClr val="tx1"/>
                    </a:solidFill>
                  </a:rPr>
                  <a:t>，函数</a:t>
                </a:r>
                <a14:m>
                  <m:oMath xmlns:m="http://schemas.openxmlformats.org/officeDocument/2006/math">
                    <m:r>
                      <m:rPr>
                        <m:sty m:val="p"/>
                      </m:rPr>
                      <a:rPr lang="en-US" altLang="zh-CN" sz="1600" i="1" dirty="0" smtClean="0">
                        <a:solidFill>
                          <a:schemeClr val="tx1"/>
                        </a:solidFill>
                        <a:latin typeface="Cambria Math" panose="02040503050406030204" pitchFamily="18" charset="0"/>
                      </a:rPr>
                      <m:t>D</m:t>
                    </m:r>
                    <m:d>
                      <m:dPr>
                        <m:ctrlPr>
                          <a:rPr lang="en-US" altLang="zh-CN" sz="1600" b="0" i="1" dirty="0" smtClean="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𝒎</m:t>
                        </m:r>
                      </m:e>
                    </m:d>
                    <m:d>
                      <m:dPr>
                        <m:begChr m:val="["/>
                        <m:endChr m:val="]"/>
                        <m:ctrlPr>
                          <a:rPr lang="en-US" altLang="zh-CN" sz="1600" b="0" i="1" dirty="0" smtClean="0">
                            <a:solidFill>
                              <a:schemeClr val="tx1"/>
                            </a:solidFill>
                            <a:latin typeface="Cambria Math" panose="02040503050406030204" pitchFamily="18" charset="0"/>
                          </a:rPr>
                        </m:ctrlPr>
                      </m:dPr>
                      <m:e>
                        <m:f>
                          <m:fPr>
                            <m:ctrlPr>
                              <a:rPr lang="en-US" altLang="zh-CN" sz="1600" b="0" i="1" dirty="0" smtClean="0">
                                <a:solidFill>
                                  <a:schemeClr val="tx1"/>
                                </a:solidFill>
                                <a:latin typeface="Cambria Math" panose="02040503050406030204" pitchFamily="18" charset="0"/>
                              </a:rPr>
                            </m:ctrlPr>
                          </m:fPr>
                          <m:num>
                            <m:r>
                              <a:rPr lang="en-US" altLang="zh-CN" sz="1600" b="0" i="1" dirty="0" smtClean="0">
                                <a:solidFill>
                                  <a:schemeClr val="tx1"/>
                                </a:solidFill>
                                <a:latin typeface="Cambria Math" panose="02040503050406030204" pitchFamily="18" charset="0"/>
                              </a:rPr>
                              <m:t>1</m:t>
                            </m:r>
                          </m:num>
                          <m:den>
                            <m:r>
                              <a:rPr lang="en-US" altLang="zh-CN" sz="1600" b="0" i="1" dirty="0" smtClean="0">
                                <a:solidFill>
                                  <a:schemeClr val="tx1"/>
                                </a:solidFill>
                                <a:latin typeface="Cambria Math" panose="02040503050406030204" pitchFamily="18" charset="0"/>
                              </a:rPr>
                              <m:t>𝑠𝑟</m:t>
                            </m:r>
                          </m:den>
                        </m:f>
                      </m:e>
                    </m:d>
                  </m:oMath>
                </a14:m>
                <a:r>
                  <a:rPr lang="zh-CN" altLang="en-US" sz="1600" dirty="0">
                    <a:solidFill>
                      <a:schemeClr val="tx1"/>
                    </a:solidFill>
                  </a:rPr>
                  <a:t>的值为：这块微小面积</a:t>
                </a:r>
                <a14:m>
                  <m:oMath xmlns:m="http://schemas.openxmlformats.org/officeDocument/2006/math">
                    <m:sSub>
                      <m:sSubPr>
                        <m:ctrlPr>
                          <a:rPr lang="en-US" altLang="zh-CN" sz="1600" b="0" i="1" smtClean="0">
                            <a:solidFill>
                              <a:schemeClr val="tx1"/>
                            </a:solidFill>
                            <a:latin typeface="Cambria Math" panose="02040503050406030204" pitchFamily="18" charset="0"/>
                          </a:rPr>
                        </m:ctrlPr>
                      </m:sSubPr>
                      <m:e>
                        <m:r>
                          <m:rPr>
                            <m:sty m:val="p"/>
                          </m:rPr>
                          <a:rPr lang="en-US" altLang="zh-CN" sz="1600" i="0">
                            <a:solidFill>
                              <a:schemeClr val="tx1"/>
                            </a:solidFill>
                            <a:latin typeface="Cambria Math" panose="02040503050406030204" pitchFamily="18" charset="0"/>
                          </a:rPr>
                          <m:t>A</m:t>
                        </m:r>
                      </m:e>
                      <m:sub>
                        <m:r>
                          <a:rPr lang="en-US" altLang="zh-CN" sz="1600" b="0" i="1" smtClean="0">
                            <a:solidFill>
                              <a:schemeClr val="tx1"/>
                            </a:solidFill>
                            <a:latin typeface="Cambria Math" panose="02040503050406030204" pitchFamily="18" charset="0"/>
                          </a:rPr>
                          <m:t>𝑀</m:t>
                        </m:r>
                      </m:sub>
                    </m:sSub>
                  </m:oMath>
                </a14:m>
                <a:r>
                  <a:rPr lang="zh-CN" altLang="en-US" sz="1600" dirty="0">
                    <a:solidFill>
                      <a:schemeClr val="tx1"/>
                    </a:solidFill>
                  </a:rPr>
                  <a:t>上，所有法向量</a:t>
                </a:r>
                <a:r>
                  <a:rPr lang="en-US" altLang="zh-CN" sz="1600" dirty="0">
                    <a:solidFill>
                      <a:schemeClr val="tx1"/>
                    </a:solidFill>
                  </a:rPr>
                  <a:t>(</a:t>
                </a:r>
                <a:r>
                  <a:rPr lang="zh-CN" altLang="en-US" sz="1600" dirty="0">
                    <a:solidFill>
                      <a:schemeClr val="tx1"/>
                    </a:solidFill>
                  </a:rPr>
                  <a:t>朝向</a:t>
                </a:r>
                <a:r>
                  <a:rPr lang="en-US" altLang="zh-CN" sz="1600" dirty="0">
                    <a:solidFill>
                      <a:schemeClr val="tx1"/>
                    </a:solidFill>
                  </a:rPr>
                  <a:t>)</a:t>
                </a:r>
                <a:r>
                  <a:rPr lang="zh-CN" altLang="en-US" sz="1600" dirty="0">
                    <a:solidFill>
                      <a:schemeClr val="tx1"/>
                    </a:solidFill>
                  </a:rPr>
                  <a:t>在</a:t>
                </a:r>
                <a14:m>
                  <m:oMath xmlns:m="http://schemas.openxmlformats.org/officeDocument/2006/math">
                    <m:r>
                      <m:rPr>
                        <m:sty m:val="p"/>
                      </m:rPr>
                      <a:rPr lang="en-US" altLang="zh-CN" sz="1600" b="0" i="0" dirty="0" smtClean="0">
                        <a:solidFill>
                          <a:schemeClr val="tx1"/>
                        </a:solidFill>
                        <a:latin typeface="Cambria Math" panose="02040503050406030204" pitchFamily="18" charset="0"/>
                      </a:rPr>
                      <m:t>d</m:t>
                    </m:r>
                    <m:sSub>
                      <m:sSubPr>
                        <m:ctrlPr>
                          <a:rPr lang="en-US" altLang="zh-CN" sz="1600" b="0" i="1" dirty="0" smtClean="0">
                            <a:solidFill>
                              <a:schemeClr val="tx1"/>
                            </a:solidFill>
                            <a:latin typeface="Cambria Math" panose="02040503050406030204" pitchFamily="18" charset="0"/>
                          </a:rPr>
                        </m:ctrlPr>
                      </m:sSubPr>
                      <m:e>
                        <m:r>
                          <a:rPr lang="zh-CN" altLang="en-US" sz="1600" i="1" dirty="0">
                            <a:solidFill>
                              <a:schemeClr val="tx1"/>
                            </a:solidFill>
                            <a:latin typeface="Cambria Math" panose="02040503050406030204" pitchFamily="18" charset="0"/>
                          </a:rPr>
                          <m:t>𝜔</m:t>
                        </m:r>
                      </m:e>
                      <m:sub>
                        <m:r>
                          <a:rPr lang="en-US" altLang="zh-CN" sz="1600" b="0" i="1" dirty="0" smtClean="0">
                            <a:solidFill>
                              <a:schemeClr val="tx1"/>
                            </a:solidFill>
                            <a:latin typeface="Cambria Math" panose="02040503050406030204" pitchFamily="18" charset="0"/>
                          </a:rPr>
                          <m:t>𝑚</m:t>
                        </m:r>
                      </m:sub>
                    </m:sSub>
                  </m:oMath>
                </a14:m>
                <a:r>
                  <a:rPr lang="zh-CN" altLang="en-US" sz="1600" dirty="0">
                    <a:solidFill>
                      <a:schemeClr val="tx1"/>
                    </a:solidFill>
                  </a:rPr>
                  <a:t>内的微面的面积</a:t>
                </a:r>
                <a14:m>
                  <m:oMath xmlns:m="http://schemas.openxmlformats.org/officeDocument/2006/math">
                    <m:r>
                      <m:rPr>
                        <m:sty m:val="p"/>
                      </m:rPr>
                      <a:rPr lang="en-US" altLang="zh-CN" sz="1600" b="0" i="0" smtClean="0">
                        <a:solidFill>
                          <a:schemeClr val="tx1"/>
                        </a:solidFill>
                        <a:latin typeface="Cambria Math" panose="02040503050406030204" pitchFamily="18" charset="0"/>
                      </a:rPr>
                      <m:t>d</m:t>
                    </m:r>
                    <m:sSub>
                      <m:sSubPr>
                        <m:ctrlPr>
                          <a:rPr lang="en-US" altLang="zh-CN" sz="1600" i="1">
                            <a:solidFill>
                              <a:schemeClr val="tx1"/>
                            </a:solidFill>
                            <a:latin typeface="Cambria Math" panose="02040503050406030204" pitchFamily="18" charset="0"/>
                          </a:rPr>
                        </m:ctrlPr>
                      </m:sSubPr>
                      <m:e>
                        <m:r>
                          <m:rPr>
                            <m:sty m:val="p"/>
                          </m:rPr>
                          <a:rPr lang="en-US" altLang="zh-CN" sz="1600" i="1" dirty="0">
                            <a:solidFill>
                              <a:schemeClr val="tx1"/>
                            </a:solidFill>
                            <a:latin typeface="Cambria Math" panose="02040503050406030204" pitchFamily="18" charset="0"/>
                          </a:rPr>
                          <m:t>A</m:t>
                        </m:r>
                      </m:e>
                      <m:sub>
                        <m:r>
                          <a:rPr lang="en-US" altLang="zh-CN" sz="1600" i="1">
                            <a:solidFill>
                              <a:schemeClr val="tx1"/>
                            </a:solidFill>
                            <a:latin typeface="Cambria Math" panose="02040503050406030204" pitchFamily="18" charset="0"/>
                          </a:rPr>
                          <m:t>𝑚</m:t>
                        </m:r>
                      </m:sub>
                    </m:sSub>
                  </m:oMath>
                </a14:m>
                <a:r>
                  <a:rPr lang="zh-CN" altLang="en-US" sz="1600" dirty="0">
                    <a:solidFill>
                      <a:schemeClr val="tx1"/>
                    </a:solidFill>
                  </a:rPr>
                  <a:t>与</a:t>
                </a:r>
                <a14:m>
                  <m:oMath xmlns:m="http://schemas.openxmlformats.org/officeDocument/2006/math">
                    <m:sSub>
                      <m:sSubPr>
                        <m:ctrlPr>
                          <a:rPr lang="en-US" altLang="zh-CN" sz="1600" b="0" i="1" smtClean="0">
                            <a:solidFill>
                              <a:schemeClr val="tx1"/>
                            </a:solidFill>
                            <a:latin typeface="Cambria Math" panose="02040503050406030204" pitchFamily="18" charset="0"/>
                          </a:rPr>
                        </m:ctrlPr>
                      </m:sSubPr>
                      <m:e>
                        <m:r>
                          <m:rPr>
                            <m:sty m:val="p"/>
                          </m:rPr>
                          <a:rPr lang="en-US" altLang="zh-CN" sz="1600" i="1">
                            <a:solidFill>
                              <a:schemeClr val="tx1"/>
                            </a:solidFill>
                            <a:latin typeface="Cambria Math" panose="02040503050406030204" pitchFamily="18" charset="0"/>
                          </a:rPr>
                          <m:t>A</m:t>
                        </m:r>
                      </m:e>
                      <m:sub>
                        <m:r>
                          <m:rPr>
                            <m:sty m:val="p"/>
                          </m:rPr>
                          <a:rPr lang="en-US" altLang="zh-CN" sz="1600" i="1">
                            <a:solidFill>
                              <a:schemeClr val="tx1"/>
                            </a:solidFill>
                            <a:latin typeface="Cambria Math" panose="02040503050406030204" pitchFamily="18" charset="0"/>
                          </a:rPr>
                          <m:t>M</m:t>
                        </m:r>
                      </m:sub>
                    </m:sSub>
                  </m:oMath>
                </a14:m>
                <a:r>
                  <a:rPr lang="zh-CN" altLang="en-US" sz="1600" dirty="0">
                    <a:solidFill>
                      <a:schemeClr val="tx1"/>
                    </a:solidFill>
                  </a:rPr>
                  <a:t>的比值，再除以</a:t>
                </a:r>
                <a14:m>
                  <m:oMath xmlns:m="http://schemas.openxmlformats.org/officeDocument/2006/math">
                    <m:r>
                      <m:rPr>
                        <m:sty m:val="p"/>
                      </m:rPr>
                      <a:rPr lang="en-US" altLang="zh-CN" sz="1600" b="0" i="0" dirty="0" smtClean="0">
                        <a:solidFill>
                          <a:schemeClr val="tx1"/>
                        </a:solidFill>
                        <a:latin typeface="Cambria Math" panose="02040503050406030204" pitchFamily="18" charset="0"/>
                      </a:rPr>
                      <m:t>d</m:t>
                    </m:r>
                    <m:sSub>
                      <m:sSubPr>
                        <m:ctrlPr>
                          <a:rPr lang="en-US" altLang="zh-CN" sz="1600" i="1" dirty="0">
                            <a:solidFill>
                              <a:schemeClr val="tx1"/>
                            </a:solidFill>
                            <a:latin typeface="Cambria Math" panose="02040503050406030204" pitchFamily="18" charset="0"/>
                          </a:rPr>
                        </m:ctrlPr>
                      </m:sSubPr>
                      <m:e>
                        <m:r>
                          <a:rPr lang="zh-CN" altLang="en-US"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oMath>
                </a14:m>
                <a:r>
                  <a:rPr lang="zh-CN" altLang="en-US" sz="1600" dirty="0">
                    <a:solidFill>
                      <a:schemeClr val="tx1"/>
                    </a:solidFill>
                  </a:rPr>
                  <a:t>。</a:t>
                </a:r>
                <a:endParaRPr lang="en-US" altLang="zh-CN" sz="16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𝐴</m:t>
                          </m:r>
                        </m:e>
                        <m:sub>
                          <m:r>
                            <a:rPr lang="en-US" altLang="zh-CN" sz="1600" b="0" i="1" dirty="0" smtClean="0">
                              <a:solidFill>
                                <a:schemeClr val="tx1"/>
                              </a:solidFill>
                              <a:latin typeface="Cambria Math" panose="02040503050406030204" pitchFamily="18" charset="0"/>
                            </a:rPr>
                            <m:t>𝑀</m:t>
                          </m:r>
                        </m:sub>
                      </m:sSub>
                      <m:r>
                        <m:rPr>
                          <m:lit/>
                        </m:rPr>
                        <a:rPr lang="en-US" altLang="zh-CN" sz="1600" i="1" dirty="0" smtClean="0">
                          <a:solidFill>
                            <a:schemeClr val="tx1"/>
                          </a:solidFill>
                          <a:latin typeface="Cambria Math" panose="02040503050406030204" pitchFamily="18" charset="0"/>
                        </a:rPr>
                        <m:t> </m:t>
                      </m:r>
                      <m:r>
                        <a:rPr lang="en-US" altLang="zh-CN" sz="1600" i="1" dirty="0" smtClean="0">
                          <a:solidFill>
                            <a:schemeClr val="tx1"/>
                          </a:solidFill>
                          <a:latin typeface="Cambria Math" panose="02040503050406030204" pitchFamily="18" charset="0"/>
                        </a:rPr>
                        <m:t>𝐷</m:t>
                      </m:r>
                      <m:d>
                        <m:dPr>
                          <m:ctrlPr>
                            <a:rPr lang="en-US" altLang="zh-CN" sz="160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 </m:t>
                      </m:r>
                      <m:r>
                        <a:rPr lang="en-US" altLang="zh-CN" sz="1600" b="0" i="1" dirty="0" smtClean="0">
                          <a:solidFill>
                            <a:schemeClr val="tx1"/>
                          </a:solidFill>
                          <a:latin typeface="Cambria Math" panose="02040503050406030204" pitchFamily="18" charset="0"/>
                        </a:rPr>
                        <m:t>𝑑</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𝜔</m:t>
                          </m:r>
                        </m:e>
                        <m:sub>
                          <m:r>
                            <a:rPr lang="en-US" altLang="zh-CN" sz="1600" b="0" i="1" dirty="0" smtClean="0">
                              <a:solidFill>
                                <a:schemeClr val="tx1"/>
                              </a:solidFill>
                              <a:latin typeface="Cambria Math" panose="02040503050406030204" pitchFamily="18" charset="0"/>
                            </a:rPr>
                            <m:t>𝑚</m:t>
                          </m:r>
                        </m:sub>
                      </m:sSub>
                      <m:r>
                        <a:rPr lang="en-US" altLang="zh-CN" sz="1600" b="0" i="1" dirty="0" smtClean="0">
                          <a:solidFill>
                            <a:schemeClr val="tx1"/>
                          </a:solidFill>
                          <a:latin typeface="Cambria Math" panose="02040503050406030204" pitchFamily="18" charset="0"/>
                        </a:rPr>
                        <m:t>=</m:t>
                      </m:r>
                      <m:r>
                        <m:rPr>
                          <m:sty m:val="p"/>
                        </m:rPr>
                        <a:rPr lang="en-US" altLang="zh-CN" sz="1600" i="1" dirty="0">
                          <a:solidFill>
                            <a:schemeClr val="tx1"/>
                          </a:solidFill>
                          <a:latin typeface="Cambria Math" panose="02040503050406030204" pitchFamily="18" charset="0"/>
                        </a:rPr>
                        <m:t>mi</m:t>
                      </m:r>
                      <m:r>
                        <a:rPr lang="en-US" altLang="zh-CN" sz="1600" b="0" i="1" dirty="0" smtClean="0">
                          <a:solidFill>
                            <a:schemeClr val="tx1"/>
                          </a:solidFill>
                          <a:latin typeface="Cambria Math" panose="02040503050406030204" pitchFamily="18" charset="0"/>
                        </a:rPr>
                        <m:t>𝑐𝑟𝑜𝑓𝑎𝑐𝑒𝑡</m:t>
                      </m:r>
                      <m:r>
                        <a:rPr lang="en-US" altLang="zh-CN" sz="1600" b="0" i="1" dirty="0" smtClean="0">
                          <a:solidFill>
                            <a:schemeClr val="tx1"/>
                          </a:solidFill>
                          <a:latin typeface="Cambria Math" panose="02040503050406030204" pitchFamily="18" charset="0"/>
                        </a:rPr>
                        <m:t> </m:t>
                      </m:r>
                      <m:r>
                        <a:rPr lang="en-US" altLang="zh-CN" sz="1600" b="0" i="1" dirty="0" smtClean="0">
                          <a:solidFill>
                            <a:schemeClr val="tx1"/>
                          </a:solidFill>
                          <a:latin typeface="Cambria Math" panose="02040503050406030204" pitchFamily="18" charset="0"/>
                        </a:rPr>
                        <m:t>𝑎𝑟𝑒𝑎</m:t>
                      </m:r>
                    </m:oMath>
                  </m:oMathPara>
                </a14:m>
                <a:endParaRPr lang="en-US" altLang="zh-CN" sz="1600" dirty="0">
                  <a:solidFill>
                    <a:schemeClr val="tx1"/>
                  </a:solidFill>
                </a:endParaRPr>
              </a:p>
              <a:p>
                <a:pPr/>
                <a14:m>
                  <m:oMathPara xmlns:m="http://schemas.openxmlformats.org/officeDocument/2006/math">
                    <m:oMathParaPr>
                      <m:jc m:val="centerGroup"/>
                    </m:oMathParaPr>
                    <m:oMath xmlns:m="http://schemas.openxmlformats.org/officeDocument/2006/math">
                      <m:nary>
                        <m:naryPr>
                          <m:supHide m:val="on"/>
                          <m:ctrlPr>
                            <a:rPr lang="en-US" altLang="zh-CN" sz="1600" i="1" dirty="0" smtClean="0">
                              <a:solidFill>
                                <a:schemeClr val="tx1"/>
                              </a:solidFill>
                              <a:latin typeface="Cambria Math" panose="02040503050406030204" pitchFamily="18" charset="0"/>
                            </a:rPr>
                          </m:ctrlPr>
                        </m:naryPr>
                        <m:sub>
                          <m:sSup>
                            <m:sSupPr>
                              <m:ctrlPr>
                                <a:rPr lang="en-US" altLang="zh-CN" sz="1600" i="1" dirty="0" smtClean="0">
                                  <a:solidFill>
                                    <a:schemeClr val="tx1"/>
                                  </a:solidFill>
                                  <a:latin typeface="Cambria Math" panose="02040503050406030204" pitchFamily="18" charset="0"/>
                                </a:rPr>
                              </m:ctrlPr>
                            </m:sSupPr>
                            <m:e>
                              <m:r>
                                <a:rPr lang="en-US" altLang="zh-CN" sz="1600" i="1" dirty="0" smtClean="0">
                                  <a:solidFill>
                                    <a:schemeClr val="tx1"/>
                                  </a:solidFill>
                                  <a:latin typeface="Cambria Math" panose="02040503050406030204" pitchFamily="18" charset="0"/>
                                </a:rPr>
                                <m:t>𝐻</m:t>
                              </m:r>
                            </m:e>
                            <m:sup>
                              <m:r>
                                <a:rPr lang="en-US" altLang="zh-CN" sz="1600" i="1" dirty="0" smtClean="0">
                                  <a:solidFill>
                                    <a:schemeClr val="tx1"/>
                                  </a:solidFill>
                                  <a:latin typeface="Cambria Math" panose="02040503050406030204" pitchFamily="18" charset="0"/>
                                </a:rPr>
                                <m:t>2</m:t>
                              </m:r>
                            </m:sup>
                          </m:sSup>
                        </m:sub>
                        <m:sup/>
                        <m:e>
                          <m:r>
                            <a:rPr lang="en-US" altLang="zh-CN" sz="1600" b="0" i="1" dirty="0" smtClean="0">
                              <a:solidFill>
                                <a:schemeClr val="tx1"/>
                              </a:solidFill>
                              <a:latin typeface="Cambria Math" panose="02040503050406030204" pitchFamily="18" charset="0"/>
                            </a:rPr>
                            <m:t>𝐴</m:t>
                          </m:r>
                          <m:sSub>
                            <m:sSubPr>
                              <m:ctrlPr>
                                <a:rPr lang="en-US" altLang="zh-CN" sz="1600" b="0" i="1" dirty="0" smtClean="0">
                                  <a:solidFill>
                                    <a:schemeClr val="tx1"/>
                                  </a:solidFill>
                                  <a:latin typeface="Cambria Math" panose="02040503050406030204" pitchFamily="18" charset="0"/>
                                </a:rPr>
                              </m:ctrlPr>
                            </m:sSubPr>
                            <m:e>
                              <m:r>
                                <m:rPr>
                                  <m:lit/>
                                </m:rPr>
                                <a:rPr lang="en-US" altLang="zh-CN" sz="1600" i="1" dirty="0" smtClean="0">
                                  <a:solidFill>
                                    <a:schemeClr val="tx1"/>
                                  </a:solidFill>
                                  <a:latin typeface="Cambria Math" panose="02040503050406030204" pitchFamily="18" charset="0"/>
                                </a:rPr>
                                <m:t> </m:t>
                              </m:r>
                            </m:e>
                            <m:sub>
                              <m:r>
                                <a:rPr lang="en-US" altLang="zh-CN" sz="1600" b="0" i="1" dirty="0" smtClean="0">
                                  <a:solidFill>
                                    <a:schemeClr val="tx1"/>
                                  </a:solidFill>
                                  <a:latin typeface="Cambria Math" panose="02040503050406030204" pitchFamily="18" charset="0"/>
                                </a:rPr>
                                <m:t>𝑀</m:t>
                              </m:r>
                            </m:sub>
                          </m:sSub>
                          <m:r>
                            <a:rPr lang="en-US" altLang="zh-CN" sz="1600" i="1" dirty="0" smtClean="0">
                              <a:solidFill>
                                <a:schemeClr val="tx1"/>
                              </a:solidFill>
                              <a:latin typeface="Cambria Math" panose="02040503050406030204" pitchFamily="18" charset="0"/>
                            </a:rPr>
                            <m:t>𝐷</m:t>
                          </m:r>
                          <m:d>
                            <m:dPr>
                              <m:ctrlPr>
                                <a:rPr lang="en-US" altLang="zh-CN" sz="160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r>
                            <m:rPr>
                              <m:lit/>
                            </m:rPr>
                            <a:rPr lang="en-US" altLang="zh-CN" sz="1600" i="1" dirty="0" smtClean="0">
                              <a:solidFill>
                                <a:schemeClr val="tx1"/>
                              </a:solidFill>
                              <a:latin typeface="Cambria Math" panose="02040503050406030204" pitchFamily="18" charset="0"/>
                            </a:rPr>
                            <m:t> </m:t>
                          </m:r>
                          <m:r>
                            <a:rPr lang="en-US" altLang="zh-CN" sz="1600" i="1" dirty="0" smtClean="0">
                              <a:solidFill>
                                <a:schemeClr val="tx1"/>
                              </a:solidFill>
                              <a:latin typeface="Cambria Math" panose="02040503050406030204" pitchFamily="18" charset="0"/>
                            </a:rPr>
                            <m:t>𝑑</m:t>
                          </m:r>
                          <m:sSub>
                            <m:sSubPr>
                              <m:ctrlPr>
                                <a:rPr lang="en-US" altLang="zh-CN" sz="1600" i="1" dirty="0" err="1" smtClean="0">
                                  <a:solidFill>
                                    <a:schemeClr val="tx1"/>
                                  </a:solidFill>
                                  <a:latin typeface="Cambria Math" panose="02040503050406030204" pitchFamily="18" charset="0"/>
                                </a:rPr>
                              </m:ctrlPr>
                            </m:sSubPr>
                            <m:e>
                              <m:r>
                                <a:rPr lang="en-US" altLang="zh-CN" sz="1600" i="1" dirty="0" smtClean="0">
                                  <a:solidFill>
                                    <a:schemeClr val="tx1"/>
                                  </a:solidFill>
                                  <a:latin typeface="Cambria Math" panose="02040503050406030204" pitchFamily="18" charset="0"/>
                                </a:rPr>
                                <m:t>𝜔</m:t>
                              </m:r>
                            </m:e>
                            <m:sub>
                              <m:r>
                                <a:rPr lang="en-US" altLang="zh-CN" sz="1600" b="0" i="1" dirty="0" smtClean="0">
                                  <a:solidFill>
                                    <a:schemeClr val="tx1"/>
                                  </a:solidFill>
                                  <a:latin typeface="Cambria Math" panose="02040503050406030204" pitchFamily="18" charset="0"/>
                                </a:rPr>
                                <m:t>𝑚</m:t>
                              </m:r>
                            </m:sub>
                          </m:sSub>
                        </m:e>
                      </m:nary>
                      <m:r>
                        <a:rPr lang="en-US" altLang="zh-CN" sz="1600" i="1" dirty="0" smtClean="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𝑚𝑖𝑐𝑟𝑜</m:t>
                      </m:r>
                      <m:r>
                        <a:rPr lang="en-US" altLang="zh-CN" sz="1600" b="0" i="1" dirty="0" smtClean="0">
                          <a:solidFill>
                            <a:schemeClr val="tx1"/>
                          </a:solidFill>
                          <a:latin typeface="Cambria Math" panose="02040503050406030204" pitchFamily="18" charset="0"/>
                        </a:rPr>
                        <m:t> </m:t>
                      </m:r>
                      <m:r>
                        <a:rPr lang="en-US" altLang="zh-CN" sz="1600" b="0" i="1" dirty="0" smtClean="0">
                          <a:solidFill>
                            <a:schemeClr val="tx1"/>
                          </a:solidFill>
                          <a:latin typeface="Cambria Math" panose="02040503050406030204" pitchFamily="18" charset="0"/>
                        </a:rPr>
                        <m:t>𝑠𝑢𝑟𝑓𝑎𝑐𝑒</m:t>
                      </m:r>
                      <m:r>
                        <a:rPr lang="en-US" altLang="zh-CN" sz="1600" b="0" i="1" dirty="0" smtClean="0">
                          <a:solidFill>
                            <a:schemeClr val="tx1"/>
                          </a:solidFill>
                          <a:latin typeface="Cambria Math" panose="02040503050406030204" pitchFamily="18" charset="0"/>
                        </a:rPr>
                        <m:t> </m:t>
                      </m:r>
                      <m:r>
                        <a:rPr lang="en-US" altLang="zh-CN" sz="1600" i="1" dirty="0" smtClean="0">
                          <a:solidFill>
                            <a:schemeClr val="tx1"/>
                          </a:solidFill>
                          <a:latin typeface="Cambria Math" panose="02040503050406030204" pitchFamily="18" charset="0"/>
                        </a:rPr>
                        <m:t>𝑎𝑟𝑒𝑎</m:t>
                      </m:r>
                      <m:r>
                        <a:rPr lang="en-US" altLang="zh-CN" sz="1600" b="0" i="1" dirty="0" smtClean="0">
                          <a:solidFill>
                            <a:schemeClr val="tx1"/>
                          </a:solidFill>
                          <a:latin typeface="Cambria Math" panose="02040503050406030204" pitchFamily="18" charset="0"/>
                        </a:rPr>
                        <m:t>=</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𝐴</m:t>
                          </m:r>
                        </m:e>
                        <m:sub>
                          <m:r>
                            <a:rPr lang="en-US" altLang="zh-CN" sz="1600" b="0" i="1" dirty="0" smtClean="0">
                              <a:solidFill>
                                <a:schemeClr val="tx1"/>
                              </a:solidFill>
                              <a:latin typeface="Cambria Math" panose="02040503050406030204" pitchFamily="18" charset="0"/>
                            </a:rPr>
                            <m:t>𝑚</m:t>
                          </m:r>
                        </m:sub>
                      </m:sSub>
                    </m:oMath>
                  </m:oMathPara>
                </a14:m>
                <a:endParaRPr lang="zh-CN" altLang="en-US" sz="1600" dirty="0"/>
              </a:p>
            </p:txBody>
          </p:sp>
        </mc:Choice>
        <mc:Fallback xmlns="">
          <p:sp>
            <p:nvSpPr>
              <p:cNvPr id="147" name="矩形 146">
                <a:extLst>
                  <a:ext uri="{FF2B5EF4-FFF2-40B4-BE49-F238E27FC236}">
                    <a16:creationId xmlns:a16="http://schemas.microsoft.com/office/drawing/2014/main" id="{D2A8BEAF-F371-F0A0-B18B-76D9F11C3820}"/>
                  </a:ext>
                </a:extLst>
              </p:cNvPr>
              <p:cNvSpPr>
                <a:spLocks noRot="1" noChangeAspect="1" noMove="1" noResize="1" noEditPoints="1" noAdjustHandles="1" noChangeArrowheads="1" noChangeShapeType="1" noTextEdit="1"/>
              </p:cNvSpPr>
              <p:nvPr/>
            </p:nvSpPr>
            <p:spPr>
              <a:xfrm>
                <a:off x="6330873" y="4042876"/>
                <a:ext cx="5559507" cy="2408032"/>
              </a:xfrm>
              <a:prstGeom prst="rect">
                <a:avLst/>
              </a:prstGeom>
              <a:blipFill>
                <a:blip r:embed="rId10"/>
                <a:stretch>
                  <a:fillRect l="-2845" b="-5617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08781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D5067-D0F6-55BE-9178-D64F79B78499}"/>
            </a:ext>
          </a:extLst>
        </p:cNvPr>
        <p:cNvGrpSpPr/>
        <p:nvPr/>
      </p:nvGrpSpPr>
      <p:grpSpPr>
        <a:xfrm>
          <a:off x="0" y="0"/>
          <a:ext cx="0" cy="0"/>
          <a:chOff x="0" y="0"/>
          <a:chExt cx="0" cy="0"/>
        </a:xfrm>
      </p:grpSpPr>
      <p:sp>
        <p:nvSpPr>
          <p:cNvPr id="59" name="矩形 58">
            <a:extLst>
              <a:ext uri="{FF2B5EF4-FFF2-40B4-BE49-F238E27FC236}">
                <a16:creationId xmlns:a16="http://schemas.microsoft.com/office/drawing/2014/main" id="{31E25ACE-B7AF-BA7A-5F27-40BA1319D520}"/>
              </a:ext>
            </a:extLst>
          </p:cNvPr>
          <p:cNvSpPr/>
          <p:nvPr/>
        </p:nvSpPr>
        <p:spPr>
          <a:xfrm>
            <a:off x="631111" y="1231307"/>
            <a:ext cx="6930434" cy="538674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13" name="标题 2">
            <a:extLst>
              <a:ext uri="{FF2B5EF4-FFF2-40B4-BE49-F238E27FC236}">
                <a16:creationId xmlns:a16="http://schemas.microsoft.com/office/drawing/2014/main" id="{BF8A4DCA-29D1-F5AE-15D0-43FEFADA939A}"/>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区分向量与立体角</a:t>
            </a:r>
            <a:endParaRPr lang="en-US" altLang="zh-CN"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3394A1D7-914C-2C3A-7D3D-A9D916E4E408}"/>
                  </a:ext>
                </a:extLst>
              </p:cNvPr>
              <p:cNvSpPr/>
              <p:nvPr/>
            </p:nvSpPr>
            <p:spPr>
              <a:xfrm>
                <a:off x="478711" y="1078907"/>
                <a:ext cx="6930434" cy="538674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dirty="0">
                    <a:solidFill>
                      <a:schemeClr val="tx1"/>
                    </a:solidFill>
                  </a:rPr>
                  <a:t>        </a:t>
                </a:r>
                <a:r>
                  <a:rPr lang="zh-CN" altLang="en-US" sz="2000" b="1" u="sng" dirty="0">
                    <a:solidFill>
                      <a:schemeClr val="tx1"/>
                    </a:solidFill>
                  </a:rPr>
                  <a:t>对于光束击中的宏观表面的一块微小面积</a:t>
                </a:r>
                <a14:m>
                  <m:oMath xmlns:m="http://schemas.openxmlformats.org/officeDocument/2006/math">
                    <m:sSub>
                      <m:sSubPr>
                        <m:ctrlPr>
                          <a:rPr lang="en-US" altLang="zh-CN" sz="2000" b="1" i="1" u="sng" smtClean="0">
                            <a:solidFill>
                              <a:schemeClr val="tx1"/>
                            </a:solidFill>
                            <a:latin typeface="Cambria Math" panose="02040503050406030204" pitchFamily="18" charset="0"/>
                          </a:rPr>
                        </m:ctrlPr>
                      </m:sSubPr>
                      <m:e>
                        <m:r>
                          <a:rPr lang="en-US" altLang="zh-CN" sz="2000" b="1" i="0" u="sng">
                            <a:solidFill>
                              <a:schemeClr val="tx1"/>
                            </a:solidFill>
                            <a:latin typeface="Cambria Math" panose="02040503050406030204" pitchFamily="18" charset="0"/>
                          </a:rPr>
                          <m:t>𝐀</m:t>
                        </m:r>
                      </m:e>
                      <m:sub>
                        <m:r>
                          <a:rPr lang="en-US" altLang="zh-CN" sz="2000" b="1" i="0" u="sng" smtClean="0">
                            <a:solidFill>
                              <a:schemeClr val="tx1"/>
                            </a:solidFill>
                            <a:latin typeface="Cambria Math" panose="02040503050406030204" pitchFamily="18" charset="0"/>
                          </a:rPr>
                          <m:t>𝐌</m:t>
                        </m:r>
                      </m:sub>
                    </m:sSub>
                    <m:r>
                      <a:rPr lang="en-US" altLang="zh-CN" sz="2000" b="1" i="0" u="sng">
                        <a:solidFill>
                          <a:schemeClr val="tx1"/>
                        </a:solidFill>
                        <a:latin typeface="Cambria Math" panose="02040503050406030204" pitchFamily="18" charset="0"/>
                      </a:rPr>
                      <m:t> </m:t>
                    </m:r>
                  </m:oMath>
                </a14:m>
                <a:r>
                  <a:rPr lang="zh-CN" altLang="en-US" sz="2000" dirty="0">
                    <a:solidFill>
                      <a:schemeClr val="tx1"/>
                    </a:solidFill>
                  </a:rPr>
                  <a:t>，函数</a:t>
                </a:r>
                <a14:m>
                  <m:oMath xmlns:m="http://schemas.openxmlformats.org/officeDocument/2006/math">
                    <m:r>
                      <m:rPr>
                        <m:sty m:val="p"/>
                      </m:rPr>
                      <a:rPr lang="en-US" altLang="zh-CN" sz="2000" i="1" dirty="0" smtClean="0">
                        <a:solidFill>
                          <a:schemeClr val="tx1"/>
                        </a:solidFill>
                        <a:latin typeface="Cambria Math" panose="02040503050406030204" pitchFamily="18" charset="0"/>
                      </a:rPr>
                      <m:t>D</m:t>
                    </m:r>
                    <m:d>
                      <m:dPr>
                        <m:ctrlPr>
                          <a:rPr lang="en-US" altLang="zh-CN" sz="2000" b="0" i="1" dirty="0" smtClean="0">
                            <a:solidFill>
                              <a:schemeClr val="tx1"/>
                            </a:solidFill>
                            <a:latin typeface="Cambria Math" panose="02040503050406030204" pitchFamily="18" charset="0"/>
                          </a:rPr>
                        </m:ctrlPr>
                      </m:dPr>
                      <m:e>
                        <m:r>
                          <a:rPr lang="en-US" altLang="zh-CN" sz="2000" b="1" i="1" dirty="0">
                            <a:solidFill>
                              <a:schemeClr val="tx1"/>
                            </a:solidFill>
                            <a:latin typeface="Cambria Math" panose="02040503050406030204" pitchFamily="18" charset="0"/>
                          </a:rPr>
                          <m:t>𝒎</m:t>
                        </m:r>
                      </m:e>
                    </m:d>
                    <m:d>
                      <m:dPr>
                        <m:begChr m:val="["/>
                        <m:endChr m:val="]"/>
                        <m:ctrlPr>
                          <a:rPr lang="en-US" altLang="zh-CN" sz="2000" b="0" i="1" dirty="0" smtClean="0">
                            <a:solidFill>
                              <a:schemeClr val="tx1"/>
                            </a:solidFill>
                            <a:latin typeface="Cambria Math" panose="02040503050406030204" pitchFamily="18" charset="0"/>
                          </a:rPr>
                        </m:ctrlPr>
                      </m:dPr>
                      <m:e>
                        <m:f>
                          <m:fPr>
                            <m:ctrlPr>
                              <a:rPr lang="en-US" altLang="zh-CN" sz="2000" b="0" i="1" dirty="0" smtClean="0">
                                <a:solidFill>
                                  <a:schemeClr val="tx1"/>
                                </a:solidFill>
                                <a:latin typeface="Cambria Math" panose="02040503050406030204" pitchFamily="18" charset="0"/>
                              </a:rPr>
                            </m:ctrlPr>
                          </m:fPr>
                          <m:num>
                            <m:r>
                              <a:rPr lang="en-US" altLang="zh-CN" sz="2000" b="0" i="1" dirty="0" smtClean="0">
                                <a:solidFill>
                                  <a:schemeClr val="tx1"/>
                                </a:solidFill>
                                <a:latin typeface="Cambria Math" panose="02040503050406030204" pitchFamily="18" charset="0"/>
                              </a:rPr>
                              <m:t>1</m:t>
                            </m:r>
                          </m:num>
                          <m:den>
                            <m:r>
                              <a:rPr lang="en-US" altLang="zh-CN" sz="2000" b="0" i="1" dirty="0" smtClean="0">
                                <a:solidFill>
                                  <a:schemeClr val="tx1"/>
                                </a:solidFill>
                                <a:latin typeface="Cambria Math" panose="02040503050406030204" pitchFamily="18" charset="0"/>
                              </a:rPr>
                              <m:t>𝑠𝑟</m:t>
                            </m:r>
                          </m:den>
                        </m:f>
                      </m:e>
                    </m:d>
                  </m:oMath>
                </a14:m>
                <a:r>
                  <a:rPr lang="zh-CN" altLang="en-US" sz="2000" dirty="0">
                    <a:solidFill>
                      <a:schemeClr val="tx1"/>
                    </a:solidFill>
                  </a:rPr>
                  <a:t>的值等于这块微小面积</a:t>
                </a:r>
                <a14:m>
                  <m:oMath xmlns:m="http://schemas.openxmlformats.org/officeDocument/2006/math">
                    <m:sSub>
                      <m:sSubPr>
                        <m:ctrlPr>
                          <a:rPr lang="en-US" altLang="zh-CN" sz="2000" b="0" i="1" smtClean="0">
                            <a:solidFill>
                              <a:schemeClr val="tx1"/>
                            </a:solidFill>
                            <a:latin typeface="Cambria Math" panose="02040503050406030204" pitchFamily="18" charset="0"/>
                          </a:rPr>
                        </m:ctrlPr>
                      </m:sSubPr>
                      <m:e>
                        <m:r>
                          <m:rPr>
                            <m:sty m:val="p"/>
                          </m:rPr>
                          <a:rPr lang="en-US" altLang="zh-CN" sz="2000" i="0">
                            <a:solidFill>
                              <a:schemeClr val="tx1"/>
                            </a:solidFill>
                            <a:latin typeface="Cambria Math" panose="02040503050406030204" pitchFamily="18" charset="0"/>
                          </a:rPr>
                          <m:t>A</m:t>
                        </m:r>
                      </m:e>
                      <m:sub>
                        <m:r>
                          <a:rPr lang="en-US" altLang="zh-CN" sz="2000" b="0" i="1" smtClean="0">
                            <a:solidFill>
                              <a:schemeClr val="tx1"/>
                            </a:solidFill>
                            <a:latin typeface="Cambria Math" panose="02040503050406030204" pitchFamily="18" charset="0"/>
                          </a:rPr>
                          <m:t>𝑀</m:t>
                        </m:r>
                      </m:sub>
                    </m:sSub>
                  </m:oMath>
                </a14:m>
                <a:r>
                  <a:rPr lang="zh-CN" altLang="en-US" sz="2000" dirty="0">
                    <a:solidFill>
                      <a:schemeClr val="tx1"/>
                    </a:solidFill>
                  </a:rPr>
                  <a:t>上，所有法向量</a:t>
                </a:r>
                <a:r>
                  <a:rPr lang="en-US" altLang="zh-CN" sz="2000" dirty="0">
                    <a:solidFill>
                      <a:schemeClr val="tx1"/>
                    </a:solidFill>
                  </a:rPr>
                  <a:t>(</a:t>
                </a:r>
                <a:r>
                  <a:rPr lang="zh-CN" altLang="en-US" sz="2000" dirty="0">
                    <a:solidFill>
                      <a:schemeClr val="tx1"/>
                    </a:solidFill>
                  </a:rPr>
                  <a:t>朝向</a:t>
                </a:r>
                <a:r>
                  <a:rPr lang="en-US" altLang="zh-CN" sz="2000" dirty="0">
                    <a:solidFill>
                      <a:schemeClr val="tx1"/>
                    </a:solidFill>
                  </a:rPr>
                  <a:t>)</a:t>
                </a:r>
                <a:r>
                  <a:rPr lang="zh-CN" altLang="en-US" sz="2000" dirty="0">
                    <a:solidFill>
                      <a:schemeClr val="tx1"/>
                    </a:solidFill>
                  </a:rPr>
                  <a:t>在</a:t>
                </a:r>
                <a14:m>
                  <m:oMath xmlns:m="http://schemas.openxmlformats.org/officeDocument/2006/math">
                    <m:r>
                      <m:rPr>
                        <m:sty m:val="p"/>
                      </m:rPr>
                      <a:rPr lang="en-US" altLang="zh-CN" sz="2000" b="0" i="0" dirty="0" smtClean="0">
                        <a:solidFill>
                          <a:schemeClr val="tx1"/>
                        </a:solidFill>
                        <a:latin typeface="Cambria Math" panose="02040503050406030204" pitchFamily="18" charset="0"/>
                      </a:rPr>
                      <m:t>d</m:t>
                    </m:r>
                    <m:sSub>
                      <m:sSubPr>
                        <m:ctrlPr>
                          <a:rPr lang="en-US" altLang="zh-CN" sz="2000" b="0" i="1" dirty="0" smtClean="0">
                            <a:solidFill>
                              <a:schemeClr val="tx1"/>
                            </a:solidFill>
                            <a:latin typeface="Cambria Math" panose="02040503050406030204" pitchFamily="18" charset="0"/>
                          </a:rPr>
                        </m:ctrlPr>
                      </m:sSubPr>
                      <m:e>
                        <m:r>
                          <a:rPr lang="zh-CN" altLang="en-US" sz="2000" i="1" dirty="0">
                            <a:solidFill>
                              <a:schemeClr val="tx1"/>
                            </a:solidFill>
                            <a:latin typeface="Cambria Math" panose="02040503050406030204" pitchFamily="18" charset="0"/>
                          </a:rPr>
                          <m:t>𝜔</m:t>
                        </m:r>
                      </m:e>
                      <m:sub>
                        <m:r>
                          <a:rPr lang="en-US" altLang="zh-CN" sz="2000" b="0" i="1" dirty="0" smtClean="0">
                            <a:solidFill>
                              <a:schemeClr val="tx1"/>
                            </a:solidFill>
                            <a:latin typeface="Cambria Math" panose="02040503050406030204" pitchFamily="18" charset="0"/>
                          </a:rPr>
                          <m:t>𝑚</m:t>
                        </m:r>
                      </m:sub>
                    </m:sSub>
                  </m:oMath>
                </a14:m>
                <a:r>
                  <a:rPr lang="zh-CN" altLang="en-US" sz="2000" dirty="0">
                    <a:solidFill>
                      <a:schemeClr val="tx1"/>
                    </a:solidFill>
                  </a:rPr>
                  <a:t>内的微面的面积</a:t>
                </a:r>
                <a14:m>
                  <m:oMath xmlns:m="http://schemas.openxmlformats.org/officeDocument/2006/math">
                    <m:r>
                      <m:rPr>
                        <m:sty m:val="p"/>
                      </m:rPr>
                      <a:rPr lang="en-US" altLang="zh-CN" sz="2000" b="0" i="0" smtClean="0">
                        <a:solidFill>
                          <a:schemeClr val="tx1"/>
                        </a:solidFill>
                        <a:latin typeface="Cambria Math" panose="02040503050406030204" pitchFamily="18" charset="0"/>
                      </a:rPr>
                      <m:t>d</m:t>
                    </m:r>
                    <m:sSub>
                      <m:sSubPr>
                        <m:ctrlPr>
                          <a:rPr lang="en-US" altLang="zh-CN" sz="2000" i="1">
                            <a:solidFill>
                              <a:schemeClr val="tx1"/>
                            </a:solidFill>
                            <a:latin typeface="Cambria Math" panose="02040503050406030204" pitchFamily="18" charset="0"/>
                          </a:rPr>
                        </m:ctrlPr>
                      </m:sSubPr>
                      <m:e>
                        <m:r>
                          <m:rPr>
                            <m:sty m:val="p"/>
                          </m:rPr>
                          <a:rPr lang="en-US" altLang="zh-CN" sz="2000" i="1" dirty="0">
                            <a:solidFill>
                              <a:schemeClr val="tx1"/>
                            </a:solidFill>
                            <a:latin typeface="Cambria Math" panose="02040503050406030204" pitchFamily="18" charset="0"/>
                          </a:rPr>
                          <m:t>A</m:t>
                        </m:r>
                      </m:e>
                      <m:sub>
                        <m:r>
                          <a:rPr lang="en-US" altLang="zh-CN" sz="2000" i="1">
                            <a:solidFill>
                              <a:schemeClr val="tx1"/>
                            </a:solidFill>
                            <a:latin typeface="Cambria Math" panose="02040503050406030204" pitchFamily="18" charset="0"/>
                          </a:rPr>
                          <m:t>𝑚</m:t>
                        </m:r>
                      </m:sub>
                    </m:sSub>
                  </m:oMath>
                </a14:m>
                <a:r>
                  <a:rPr lang="zh-CN" altLang="en-US" sz="2000" dirty="0">
                    <a:solidFill>
                      <a:schemeClr val="tx1"/>
                    </a:solidFill>
                  </a:rPr>
                  <a:t>与</a:t>
                </a:r>
                <a14:m>
                  <m:oMath xmlns:m="http://schemas.openxmlformats.org/officeDocument/2006/math">
                    <m:sSub>
                      <m:sSubPr>
                        <m:ctrlPr>
                          <a:rPr lang="en-US" altLang="zh-CN" sz="2000" b="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A</m:t>
                        </m:r>
                      </m:e>
                      <m:sub>
                        <m:r>
                          <a:rPr lang="en-US" altLang="zh-CN" sz="2000" b="0" i="1" smtClean="0">
                            <a:solidFill>
                              <a:schemeClr val="tx1"/>
                            </a:solidFill>
                            <a:latin typeface="Cambria Math" panose="02040503050406030204" pitchFamily="18" charset="0"/>
                          </a:rPr>
                          <m:t>𝑀</m:t>
                        </m:r>
                      </m:sub>
                    </m:sSub>
                  </m:oMath>
                </a14:m>
                <a:r>
                  <a:rPr lang="zh-CN" altLang="en-US" sz="2000" dirty="0">
                    <a:solidFill>
                      <a:schemeClr val="tx1"/>
                    </a:solidFill>
                  </a:rPr>
                  <a:t>的比值，再除以</a:t>
                </a:r>
                <a14:m>
                  <m:oMath xmlns:m="http://schemas.openxmlformats.org/officeDocument/2006/math">
                    <m:r>
                      <m:rPr>
                        <m:sty m:val="p"/>
                      </m:rPr>
                      <a:rPr lang="en-US" altLang="zh-CN" sz="2000" b="0" i="0" dirty="0" smtClean="0">
                        <a:solidFill>
                          <a:schemeClr val="tx1"/>
                        </a:solidFill>
                        <a:latin typeface="Cambria Math" panose="02040503050406030204" pitchFamily="18" charset="0"/>
                      </a:rPr>
                      <m:t>d</m:t>
                    </m:r>
                    <m:sSub>
                      <m:sSubPr>
                        <m:ctrlPr>
                          <a:rPr lang="en-US" altLang="zh-CN" sz="2000" i="1" dirty="0">
                            <a:solidFill>
                              <a:schemeClr val="tx1"/>
                            </a:solidFill>
                            <a:latin typeface="Cambria Math" panose="02040503050406030204" pitchFamily="18" charset="0"/>
                          </a:rPr>
                        </m:ctrlPr>
                      </m:sSubPr>
                      <m:e>
                        <m:r>
                          <a:rPr lang="zh-CN" altLang="en-US" sz="2000" i="1" dirty="0">
                            <a:solidFill>
                              <a:schemeClr val="tx1"/>
                            </a:solidFill>
                            <a:latin typeface="Cambria Math" panose="02040503050406030204" pitchFamily="18" charset="0"/>
                          </a:rPr>
                          <m:t>𝜔</m:t>
                        </m:r>
                      </m:e>
                      <m:sub>
                        <m:r>
                          <a:rPr lang="en-US" altLang="zh-CN" sz="2000" i="1" dirty="0">
                            <a:solidFill>
                              <a:schemeClr val="tx1"/>
                            </a:solidFill>
                            <a:latin typeface="Cambria Math" panose="02040503050406030204" pitchFamily="18" charset="0"/>
                          </a:rPr>
                          <m:t>𝑚</m:t>
                        </m:r>
                      </m:sub>
                    </m:sSub>
                  </m:oMath>
                </a14:m>
                <a:r>
                  <a:rPr lang="zh-CN" altLang="en-US" sz="2000" dirty="0">
                    <a:solidFill>
                      <a:schemeClr val="tx1"/>
                    </a:solidFill>
                  </a:rPr>
                  <a:t>。</a:t>
                </a:r>
                <a:endParaRPr lang="en-US" altLang="zh-CN" sz="2000" dirty="0">
                  <a:solidFill>
                    <a:schemeClr val="tx1"/>
                  </a:solidFill>
                </a:endParaRPr>
              </a:p>
              <a:p>
                <a:pPr>
                  <a:lnSpc>
                    <a:spcPct val="150000"/>
                  </a:lnSpc>
                </a:pPr>
                <a:endParaRPr lang="en-US" altLang="zh-CN" sz="2000" dirty="0">
                  <a:solidFill>
                    <a:schemeClr val="tx1"/>
                  </a:solidFill>
                </a:endParaRPr>
              </a:p>
              <a:p>
                <a:pPr>
                  <a:lnSpc>
                    <a:spcPct val="150000"/>
                  </a:lnSpc>
                </a:pPr>
                <a:r>
                  <a:rPr lang="en-US" altLang="zh-CN" sz="2000" dirty="0">
                    <a:solidFill>
                      <a:schemeClr val="tx1"/>
                    </a:solidFill>
                  </a:rPr>
                  <a:t>        </a:t>
                </a:r>
                <a14:m>
                  <m:oMath xmlns:m="http://schemas.openxmlformats.org/officeDocument/2006/math">
                    <m:r>
                      <m:rPr>
                        <m:sty m:val="p"/>
                      </m:rPr>
                      <a:rPr lang="en-US" altLang="zh-CN" sz="2000" i="1" dirty="0" smtClean="0">
                        <a:solidFill>
                          <a:schemeClr val="tx1"/>
                        </a:solidFill>
                        <a:latin typeface="Cambria Math" panose="02040503050406030204" pitchFamily="18" charset="0"/>
                      </a:rPr>
                      <m:t>D</m:t>
                    </m:r>
                    <m:d>
                      <m:dPr>
                        <m:ctrlPr>
                          <a:rPr lang="en-US" altLang="zh-CN" sz="2000" b="0" i="1" dirty="0" smtClean="0">
                            <a:solidFill>
                              <a:schemeClr val="tx1"/>
                            </a:solidFill>
                            <a:latin typeface="Cambria Math" panose="02040503050406030204" pitchFamily="18" charset="0"/>
                          </a:rPr>
                        </m:ctrlPr>
                      </m:dPr>
                      <m:e>
                        <m:r>
                          <a:rPr lang="en-US" altLang="zh-CN" sz="2000" b="1" i="1" dirty="0">
                            <a:solidFill>
                              <a:schemeClr val="tx1"/>
                            </a:solidFill>
                            <a:latin typeface="Cambria Math" panose="02040503050406030204" pitchFamily="18" charset="0"/>
                          </a:rPr>
                          <m:t>𝒎</m:t>
                        </m:r>
                      </m:e>
                    </m:d>
                    <m:d>
                      <m:dPr>
                        <m:begChr m:val="["/>
                        <m:endChr m:val="]"/>
                        <m:ctrlPr>
                          <a:rPr lang="en-US" altLang="zh-CN" sz="2000" b="0" i="1" dirty="0" smtClean="0">
                            <a:solidFill>
                              <a:schemeClr val="tx1"/>
                            </a:solidFill>
                            <a:latin typeface="Cambria Math" panose="02040503050406030204" pitchFamily="18" charset="0"/>
                          </a:rPr>
                        </m:ctrlPr>
                      </m:dPr>
                      <m:e>
                        <m:f>
                          <m:fPr>
                            <m:ctrlPr>
                              <a:rPr lang="en-US" altLang="zh-CN" sz="2000" b="0" i="1" dirty="0" smtClean="0">
                                <a:solidFill>
                                  <a:schemeClr val="tx1"/>
                                </a:solidFill>
                                <a:latin typeface="Cambria Math" panose="02040503050406030204" pitchFamily="18" charset="0"/>
                              </a:rPr>
                            </m:ctrlPr>
                          </m:fPr>
                          <m:num>
                            <m:r>
                              <a:rPr lang="en-US" altLang="zh-CN" sz="2000" b="0" i="1" dirty="0" smtClean="0">
                                <a:solidFill>
                                  <a:schemeClr val="tx1"/>
                                </a:solidFill>
                                <a:latin typeface="Cambria Math" panose="02040503050406030204" pitchFamily="18" charset="0"/>
                              </a:rPr>
                              <m:t>1</m:t>
                            </m:r>
                          </m:num>
                          <m:den>
                            <m:r>
                              <a:rPr lang="en-US" altLang="zh-CN" sz="2000" b="0" i="1" dirty="0" smtClean="0">
                                <a:solidFill>
                                  <a:schemeClr val="tx1"/>
                                </a:solidFill>
                                <a:latin typeface="Cambria Math" panose="02040503050406030204" pitchFamily="18" charset="0"/>
                              </a:rPr>
                              <m:t>𝑠𝑟</m:t>
                            </m:r>
                          </m:den>
                        </m:f>
                      </m:e>
                    </m:d>
                  </m:oMath>
                </a14:m>
                <a:r>
                  <a:rPr lang="zh-CN" altLang="en-US" sz="2000" dirty="0">
                    <a:solidFill>
                      <a:schemeClr val="tx1"/>
                    </a:solidFill>
                  </a:rPr>
                  <a:t> 描述了每单位立体角上，所包含的这些朝向的微面的面积相对于宏观表面的密度。</a:t>
                </a:r>
              </a:p>
              <a:p>
                <a:pPr>
                  <a:lnSpc>
                    <a:spcPct val="150000"/>
                  </a:lnSpc>
                </a:pPr>
                <a:endParaRPr lang="zh-CN" altLang="en-US" sz="2000" dirty="0">
                  <a:solidFill>
                    <a:schemeClr val="tx1"/>
                  </a:solidFill>
                </a:endParaRPr>
              </a:p>
            </p:txBody>
          </p:sp>
        </mc:Choice>
        <mc:Fallback xmlns="">
          <p:sp>
            <p:nvSpPr>
              <p:cNvPr id="3" name="矩形 2">
                <a:extLst>
                  <a:ext uri="{FF2B5EF4-FFF2-40B4-BE49-F238E27FC236}">
                    <a16:creationId xmlns:a16="http://schemas.microsoft.com/office/drawing/2014/main" id="{3394A1D7-914C-2C3A-7D3D-A9D916E4E408}"/>
                  </a:ext>
                </a:extLst>
              </p:cNvPr>
              <p:cNvSpPr>
                <a:spLocks noRot="1" noChangeAspect="1" noMove="1" noResize="1" noEditPoints="1" noAdjustHandles="1" noChangeArrowheads="1" noChangeShapeType="1" noTextEdit="1"/>
              </p:cNvSpPr>
              <p:nvPr/>
            </p:nvSpPr>
            <p:spPr>
              <a:xfrm>
                <a:off x="478711" y="1078907"/>
                <a:ext cx="6930434" cy="5386745"/>
              </a:xfrm>
              <a:prstGeom prst="rect">
                <a:avLst/>
              </a:prstGeom>
              <a:blipFill>
                <a:blip r:embed="rId2"/>
                <a:stretch>
                  <a:fillRect l="-879"/>
                </a:stretch>
              </a:blipFill>
            </p:spPr>
            <p:txBody>
              <a:bodyPr/>
              <a:lstStyle/>
              <a:p>
                <a:r>
                  <a:rPr lang="zh-CN" altLang="en-US">
                    <a:noFill/>
                  </a:rPr>
                  <a:t> </a:t>
                </a:r>
              </a:p>
            </p:txBody>
          </p:sp>
        </mc:Fallback>
      </mc:AlternateContent>
      <p:sp>
        <p:nvSpPr>
          <p:cNvPr id="103" name="矩形 102">
            <a:extLst>
              <a:ext uri="{FF2B5EF4-FFF2-40B4-BE49-F238E27FC236}">
                <a16:creationId xmlns:a16="http://schemas.microsoft.com/office/drawing/2014/main" id="{E5505258-DE49-A4FD-32E5-A1319AD03110}"/>
              </a:ext>
            </a:extLst>
          </p:cNvPr>
          <p:cNvSpPr/>
          <p:nvPr/>
        </p:nvSpPr>
        <p:spPr>
          <a:xfrm>
            <a:off x="8146074" y="1227002"/>
            <a:ext cx="3493236" cy="2603744"/>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103">
            <a:extLst>
              <a:ext uri="{FF2B5EF4-FFF2-40B4-BE49-F238E27FC236}">
                <a16:creationId xmlns:a16="http://schemas.microsoft.com/office/drawing/2014/main" id="{652F0E49-837B-6812-0457-C02FC7CDD6D9}"/>
              </a:ext>
            </a:extLst>
          </p:cNvPr>
          <p:cNvSpPr/>
          <p:nvPr/>
        </p:nvSpPr>
        <p:spPr>
          <a:xfrm>
            <a:off x="7993674" y="1074602"/>
            <a:ext cx="3493236" cy="260374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6" name="矩形 145">
            <a:extLst>
              <a:ext uri="{FF2B5EF4-FFF2-40B4-BE49-F238E27FC236}">
                <a16:creationId xmlns:a16="http://schemas.microsoft.com/office/drawing/2014/main" id="{6B35F135-EAE4-BC06-FF19-DB5837F0E59A}"/>
              </a:ext>
            </a:extLst>
          </p:cNvPr>
          <p:cNvSpPr/>
          <p:nvPr/>
        </p:nvSpPr>
        <p:spPr>
          <a:xfrm>
            <a:off x="8130464" y="4210020"/>
            <a:ext cx="3493237" cy="24080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7" name="矩形 146">
            <a:extLst>
              <a:ext uri="{FF2B5EF4-FFF2-40B4-BE49-F238E27FC236}">
                <a16:creationId xmlns:a16="http://schemas.microsoft.com/office/drawing/2014/main" id="{2167A5DD-BF68-C5C7-A448-F4CC40EA91A4}"/>
              </a:ext>
            </a:extLst>
          </p:cNvPr>
          <p:cNvSpPr/>
          <p:nvPr/>
        </p:nvSpPr>
        <p:spPr>
          <a:xfrm>
            <a:off x="7997114" y="4038570"/>
            <a:ext cx="3493237" cy="240803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dirty="0"/>
          </a:p>
        </p:txBody>
      </p:sp>
      <p:grpSp>
        <p:nvGrpSpPr>
          <p:cNvPr id="47" name="组合 46">
            <a:extLst>
              <a:ext uri="{FF2B5EF4-FFF2-40B4-BE49-F238E27FC236}">
                <a16:creationId xmlns:a16="http://schemas.microsoft.com/office/drawing/2014/main" id="{D02F1B6D-5E69-E33D-3A67-D2170495B57F}"/>
              </a:ext>
            </a:extLst>
          </p:cNvPr>
          <p:cNvGrpSpPr/>
          <p:nvPr/>
        </p:nvGrpSpPr>
        <p:grpSpPr>
          <a:xfrm>
            <a:off x="8609471" y="1046853"/>
            <a:ext cx="2636770" cy="2527035"/>
            <a:chOff x="8857208" y="1194467"/>
            <a:chExt cx="2248109" cy="2154550"/>
          </a:xfrm>
        </p:grpSpPr>
        <p:cxnSp>
          <p:nvCxnSpPr>
            <p:cNvPr id="39" name="直接箭头连接符 38">
              <a:extLst>
                <a:ext uri="{FF2B5EF4-FFF2-40B4-BE49-F238E27FC236}">
                  <a16:creationId xmlns:a16="http://schemas.microsoft.com/office/drawing/2014/main" id="{08FDAF32-060B-0770-6209-0E2C491A3B0D}"/>
                </a:ext>
              </a:extLst>
            </p:cNvPr>
            <p:cNvCxnSpPr/>
            <p:nvPr/>
          </p:nvCxnSpPr>
          <p:spPr>
            <a:xfrm>
              <a:off x="9726813" y="2457904"/>
              <a:ext cx="1248569" cy="0"/>
            </a:xfrm>
            <a:prstGeom prst="straightConnector1">
              <a:avLst/>
            </a:prstGeom>
            <a:ln w="952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6DE28301-EE8A-87BE-271F-A168BE19DC10}"/>
                </a:ext>
              </a:extLst>
            </p:cNvPr>
            <p:cNvCxnSpPr>
              <a:cxnSpLocks/>
            </p:cNvCxnSpPr>
            <p:nvPr/>
          </p:nvCxnSpPr>
          <p:spPr>
            <a:xfrm flipV="1">
              <a:off x="9726813" y="1298575"/>
              <a:ext cx="0" cy="1159329"/>
            </a:xfrm>
            <a:prstGeom prst="straightConnector1">
              <a:avLst/>
            </a:prstGeom>
            <a:ln w="952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 name="椭圆 1">
              <a:extLst>
                <a:ext uri="{FF2B5EF4-FFF2-40B4-BE49-F238E27FC236}">
                  <a16:creationId xmlns:a16="http://schemas.microsoft.com/office/drawing/2014/main" id="{7B4BCD85-BB1E-2469-3127-C109F755A032}"/>
                </a:ext>
              </a:extLst>
            </p:cNvPr>
            <p:cNvSpPr/>
            <p:nvPr/>
          </p:nvSpPr>
          <p:spPr>
            <a:xfrm>
              <a:off x="8857208" y="1582849"/>
              <a:ext cx="1766168" cy="1766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 name="直接箭头连接符 4">
              <a:extLst>
                <a:ext uri="{FF2B5EF4-FFF2-40B4-BE49-F238E27FC236}">
                  <a16:creationId xmlns:a16="http://schemas.microsoft.com/office/drawing/2014/main" id="{C0D8A9A9-8593-CA4B-E230-2403025BB4BA}"/>
                </a:ext>
              </a:extLst>
            </p:cNvPr>
            <p:cNvCxnSpPr>
              <a:cxnSpLocks/>
              <a:endCxn id="2" idx="7"/>
            </p:cNvCxnSpPr>
            <p:nvPr/>
          </p:nvCxnSpPr>
          <p:spPr>
            <a:xfrm flipV="1">
              <a:off x="9719151" y="1841498"/>
              <a:ext cx="645576" cy="624435"/>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A207F84-55A4-2335-18CF-9826CA8BB134}"/>
                    </a:ext>
                  </a:extLst>
                </p:cNvPr>
                <p:cNvSpPr txBox="1"/>
                <p:nvPr/>
              </p:nvSpPr>
              <p:spPr>
                <a:xfrm>
                  <a:off x="10249035" y="2066407"/>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a:solidFill>
                              <a:schemeClr val="accent1"/>
                            </a:solidFill>
                            <a:latin typeface="Cambria Math" panose="02040503050406030204" pitchFamily="18" charset="0"/>
                          </a:rPr>
                          <m:t>𝒓</m:t>
                        </m:r>
                      </m:oMath>
                    </m:oMathPara>
                  </a14:m>
                  <a:endParaRPr lang="zh-CN" altLang="en-US" b="1" dirty="0">
                    <a:solidFill>
                      <a:schemeClr val="accent1"/>
                    </a:solidFill>
                  </a:endParaRPr>
                </a:p>
              </p:txBody>
            </p:sp>
          </mc:Choice>
          <mc:Fallback xmlns="">
            <p:sp>
              <p:nvSpPr>
                <p:cNvPr id="7" name="文本框 6">
                  <a:extLst>
                    <a:ext uri="{FF2B5EF4-FFF2-40B4-BE49-F238E27FC236}">
                      <a16:creationId xmlns:a16="http://schemas.microsoft.com/office/drawing/2014/main" id="{BA207F84-55A4-2335-18CF-9826CA8BB134}"/>
                    </a:ext>
                  </a:extLst>
                </p:cNvPr>
                <p:cNvSpPr txBox="1">
                  <a:spLocks noRot="1" noChangeAspect="1" noMove="1" noResize="1" noEditPoints="1" noAdjustHandles="1" noChangeArrowheads="1" noChangeShapeType="1" noTextEdit="1"/>
                </p:cNvSpPr>
                <p:nvPr/>
              </p:nvSpPr>
              <p:spPr>
                <a:xfrm>
                  <a:off x="10249035" y="2066407"/>
                  <a:ext cx="377026" cy="369332"/>
                </a:xfrm>
                <a:prstGeom prst="rect">
                  <a:avLst/>
                </a:prstGeom>
                <a:blipFill>
                  <a:blip r:embed="rId3"/>
                  <a:stretch>
                    <a:fillRect/>
                  </a:stretch>
                </a:blipFill>
              </p:spPr>
              <p:txBody>
                <a:bodyPr/>
                <a:lstStyle/>
                <a:p>
                  <a:r>
                    <a:rPr lang="zh-CN" altLang="en-US">
                      <a:noFill/>
                    </a:rPr>
                    <a:t> </a:t>
                  </a:r>
                </a:p>
              </p:txBody>
            </p:sp>
          </mc:Fallback>
        </mc:AlternateContent>
        <p:sp>
          <p:nvSpPr>
            <p:cNvPr id="8" name="弧形 7">
              <a:extLst>
                <a:ext uri="{FF2B5EF4-FFF2-40B4-BE49-F238E27FC236}">
                  <a16:creationId xmlns:a16="http://schemas.microsoft.com/office/drawing/2014/main" id="{CF245323-4695-2C7C-5249-21AA847F8BA4}"/>
                </a:ext>
              </a:extLst>
            </p:cNvPr>
            <p:cNvSpPr/>
            <p:nvPr/>
          </p:nvSpPr>
          <p:spPr>
            <a:xfrm>
              <a:off x="10073262" y="1718588"/>
              <a:ext cx="413111" cy="409575"/>
            </a:xfrm>
            <a:prstGeom prst="arc">
              <a:avLst/>
            </a:prstGeom>
            <a:ln w="190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cxnSp>
          <p:nvCxnSpPr>
            <p:cNvPr id="9" name="直接箭头连接符 8">
              <a:extLst>
                <a:ext uri="{FF2B5EF4-FFF2-40B4-BE49-F238E27FC236}">
                  <a16:creationId xmlns:a16="http://schemas.microsoft.com/office/drawing/2014/main" id="{30616FB9-FFDF-535C-FC81-950EB6724107}"/>
                </a:ext>
              </a:extLst>
            </p:cNvPr>
            <p:cNvCxnSpPr>
              <a:cxnSpLocks/>
            </p:cNvCxnSpPr>
            <p:nvPr/>
          </p:nvCxnSpPr>
          <p:spPr>
            <a:xfrm flipV="1">
              <a:off x="9719151" y="1756688"/>
              <a:ext cx="537943" cy="709245"/>
            </a:xfrm>
            <a:prstGeom prst="straightConnector1">
              <a:avLst/>
            </a:prstGeom>
            <a:ln w="12700">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B28C0A55-ADD9-76C4-B297-519C10A5CA91}"/>
                </a:ext>
              </a:extLst>
            </p:cNvPr>
            <p:cNvCxnSpPr>
              <a:cxnSpLocks/>
            </p:cNvCxnSpPr>
            <p:nvPr/>
          </p:nvCxnSpPr>
          <p:spPr>
            <a:xfrm flipV="1">
              <a:off x="9723856" y="1953653"/>
              <a:ext cx="717071" cy="512279"/>
            </a:xfrm>
            <a:prstGeom prst="straightConnector1">
              <a:avLst/>
            </a:prstGeom>
            <a:ln w="12700">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26B951B5-0D10-6E39-97F7-9574E8136CAB}"/>
                    </a:ext>
                  </a:extLst>
                </p:cNvPr>
                <p:cNvSpPr txBox="1"/>
                <p:nvPr/>
              </p:nvSpPr>
              <p:spPr>
                <a:xfrm>
                  <a:off x="10233086" y="1403931"/>
                  <a:ext cx="35281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75000"/>
                              </a:schemeClr>
                            </a:solidFill>
                            <a:latin typeface="Cambria Math" panose="02040503050406030204" pitchFamily="18" charset="0"/>
                          </a:rPr>
                          <m:t>𝑑</m:t>
                        </m:r>
                        <m:r>
                          <a:rPr lang="en-US" altLang="zh-CN" b="0" i="1" smtClean="0">
                            <a:solidFill>
                              <a:schemeClr val="accent5">
                                <a:lumMod val="75000"/>
                              </a:schemeClr>
                            </a:solidFill>
                            <a:latin typeface="Cambria Math" panose="02040503050406030204" pitchFamily="18" charset="0"/>
                          </a:rPr>
                          <m:t>𝜃</m:t>
                        </m:r>
                      </m:oMath>
                    </m:oMathPara>
                  </a14:m>
                  <a:endParaRPr lang="zh-CN" altLang="en-US" dirty="0">
                    <a:solidFill>
                      <a:schemeClr val="accent5">
                        <a:lumMod val="75000"/>
                      </a:schemeClr>
                    </a:solidFill>
                  </a:endParaRPr>
                </a:p>
              </p:txBody>
            </p:sp>
          </mc:Choice>
          <mc:Fallback xmlns="">
            <p:sp>
              <p:nvSpPr>
                <p:cNvPr id="16" name="文本框 15">
                  <a:extLst>
                    <a:ext uri="{FF2B5EF4-FFF2-40B4-BE49-F238E27FC236}">
                      <a16:creationId xmlns:a16="http://schemas.microsoft.com/office/drawing/2014/main" id="{26B951B5-0D10-6E39-97F7-9574E8136CAB}"/>
                    </a:ext>
                  </a:extLst>
                </p:cNvPr>
                <p:cNvSpPr txBox="1">
                  <a:spLocks noRot="1" noChangeAspect="1" noMove="1" noResize="1" noEditPoints="1" noAdjustHandles="1" noChangeArrowheads="1" noChangeShapeType="1" noTextEdit="1"/>
                </p:cNvSpPr>
                <p:nvPr/>
              </p:nvSpPr>
              <p:spPr>
                <a:xfrm>
                  <a:off x="10233086" y="1403931"/>
                  <a:ext cx="352816" cy="369332"/>
                </a:xfrm>
                <a:prstGeom prst="rect">
                  <a:avLst/>
                </a:prstGeom>
                <a:blipFill>
                  <a:blip r:embed="rId4"/>
                  <a:stretch>
                    <a:fillRect r="-588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DC7185EC-BC3C-EE08-D55C-6B05B4717544}"/>
                    </a:ext>
                  </a:extLst>
                </p:cNvPr>
                <p:cNvSpPr txBox="1"/>
                <p:nvPr/>
              </p:nvSpPr>
              <p:spPr>
                <a:xfrm>
                  <a:off x="10728291" y="2435739"/>
                  <a:ext cx="3770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i="1">
                            <a:latin typeface="Cambria Math" panose="02040503050406030204" pitchFamily="18" charset="0"/>
                          </a:rPr>
                          <m:t>x</m:t>
                        </m:r>
                      </m:oMath>
                    </m:oMathPara>
                  </a14:m>
                  <a:endParaRPr lang="zh-CN" altLang="en-US" dirty="0"/>
                </a:p>
              </p:txBody>
            </p:sp>
          </mc:Choice>
          <mc:Fallback xmlns="">
            <p:sp>
              <p:nvSpPr>
                <p:cNvPr id="45" name="文本框 44">
                  <a:extLst>
                    <a:ext uri="{FF2B5EF4-FFF2-40B4-BE49-F238E27FC236}">
                      <a16:creationId xmlns:a16="http://schemas.microsoft.com/office/drawing/2014/main" id="{DC7185EC-BC3C-EE08-D55C-6B05B4717544}"/>
                    </a:ext>
                  </a:extLst>
                </p:cNvPr>
                <p:cNvSpPr txBox="1">
                  <a:spLocks noRot="1" noChangeAspect="1" noMove="1" noResize="1" noEditPoints="1" noAdjustHandles="1" noChangeArrowheads="1" noChangeShapeType="1" noTextEdit="1"/>
                </p:cNvSpPr>
                <p:nvPr/>
              </p:nvSpPr>
              <p:spPr>
                <a:xfrm>
                  <a:off x="10728291" y="2435739"/>
                  <a:ext cx="377026"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195EA182-6952-8A62-E197-EC23AD13CD6C}"/>
                    </a:ext>
                  </a:extLst>
                </p:cNvPr>
                <p:cNvSpPr txBox="1"/>
                <p:nvPr/>
              </p:nvSpPr>
              <p:spPr>
                <a:xfrm>
                  <a:off x="9356173" y="1194467"/>
                  <a:ext cx="3874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𝑦</m:t>
                        </m:r>
                      </m:oMath>
                    </m:oMathPara>
                  </a14:m>
                  <a:endParaRPr lang="zh-CN" altLang="en-US" dirty="0"/>
                </a:p>
              </p:txBody>
            </p:sp>
          </mc:Choice>
          <mc:Fallback xmlns="">
            <p:sp>
              <p:nvSpPr>
                <p:cNvPr id="46" name="文本框 45">
                  <a:extLst>
                    <a:ext uri="{FF2B5EF4-FFF2-40B4-BE49-F238E27FC236}">
                      <a16:creationId xmlns:a16="http://schemas.microsoft.com/office/drawing/2014/main" id="{195EA182-6952-8A62-E197-EC23AD13CD6C}"/>
                    </a:ext>
                  </a:extLst>
                </p:cNvPr>
                <p:cNvSpPr txBox="1">
                  <a:spLocks noRot="1" noChangeAspect="1" noMove="1" noResize="1" noEditPoints="1" noAdjustHandles="1" noChangeArrowheads="1" noChangeShapeType="1" noTextEdit="1"/>
                </p:cNvSpPr>
                <p:nvPr/>
              </p:nvSpPr>
              <p:spPr>
                <a:xfrm>
                  <a:off x="9356173" y="1194467"/>
                  <a:ext cx="387414" cy="369332"/>
                </a:xfrm>
                <a:prstGeom prst="rect">
                  <a:avLst/>
                </a:prstGeom>
                <a:blipFill>
                  <a:blip r:embed="rId6"/>
                  <a:stretch>
                    <a:fillRect/>
                  </a:stretch>
                </a:blipFill>
              </p:spPr>
              <p:txBody>
                <a:bodyPr/>
                <a:lstStyle/>
                <a:p>
                  <a:r>
                    <a:rPr lang="zh-CN" altLang="en-US">
                      <a:noFill/>
                    </a:rPr>
                    <a:t> </a:t>
                  </a:r>
                </a:p>
              </p:txBody>
            </p:sp>
          </mc:Fallback>
        </mc:AlternateContent>
      </p:grpSp>
      <p:grpSp>
        <p:nvGrpSpPr>
          <p:cNvPr id="61" name="组合 60">
            <a:extLst>
              <a:ext uri="{FF2B5EF4-FFF2-40B4-BE49-F238E27FC236}">
                <a16:creationId xmlns:a16="http://schemas.microsoft.com/office/drawing/2014/main" id="{C478725F-5D2A-1787-7CC1-33DAA9A15B9D}"/>
              </a:ext>
            </a:extLst>
          </p:cNvPr>
          <p:cNvGrpSpPr/>
          <p:nvPr/>
        </p:nvGrpSpPr>
        <p:grpSpPr>
          <a:xfrm>
            <a:off x="8681530" y="3978841"/>
            <a:ext cx="2407558" cy="2372478"/>
            <a:chOff x="8819734" y="4115031"/>
            <a:chExt cx="2131150" cy="2100098"/>
          </a:xfrm>
        </p:grpSpPr>
        <p:cxnSp>
          <p:nvCxnSpPr>
            <p:cNvPr id="48" name="直接箭头连接符 47">
              <a:extLst>
                <a:ext uri="{FF2B5EF4-FFF2-40B4-BE49-F238E27FC236}">
                  <a16:creationId xmlns:a16="http://schemas.microsoft.com/office/drawing/2014/main" id="{DA95A02E-0811-ABF4-B541-110AD84FF236}"/>
                </a:ext>
              </a:extLst>
            </p:cNvPr>
            <p:cNvCxnSpPr>
              <a:cxnSpLocks/>
            </p:cNvCxnSpPr>
            <p:nvPr/>
          </p:nvCxnSpPr>
          <p:spPr>
            <a:xfrm>
              <a:off x="9701455" y="5338908"/>
              <a:ext cx="1102578" cy="0"/>
            </a:xfrm>
            <a:prstGeom prst="straightConnector1">
              <a:avLst/>
            </a:prstGeom>
            <a:ln w="952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10D4736B-02BB-1C49-A3AB-8F8C15A193B6}"/>
                </a:ext>
              </a:extLst>
            </p:cNvPr>
            <p:cNvCxnSpPr>
              <a:cxnSpLocks/>
            </p:cNvCxnSpPr>
            <p:nvPr/>
          </p:nvCxnSpPr>
          <p:spPr>
            <a:xfrm flipV="1">
              <a:off x="9701455" y="4210020"/>
              <a:ext cx="0" cy="1128888"/>
            </a:xfrm>
            <a:prstGeom prst="straightConnector1">
              <a:avLst/>
            </a:prstGeom>
            <a:ln w="952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1F2A19A8-E92E-4584-BAB9-427314C3C2DC}"/>
                </a:ext>
              </a:extLst>
            </p:cNvPr>
            <p:cNvCxnSpPr>
              <a:cxnSpLocks/>
            </p:cNvCxnSpPr>
            <p:nvPr/>
          </p:nvCxnSpPr>
          <p:spPr>
            <a:xfrm flipV="1">
              <a:off x="9701455" y="4800600"/>
              <a:ext cx="172603" cy="538308"/>
            </a:xfrm>
            <a:prstGeom prst="straightConnector1">
              <a:avLst/>
            </a:prstGeom>
            <a:ln w="9525">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椭圆 18">
              <a:extLst>
                <a:ext uri="{FF2B5EF4-FFF2-40B4-BE49-F238E27FC236}">
                  <a16:creationId xmlns:a16="http://schemas.microsoft.com/office/drawing/2014/main" id="{684BC5E1-5E92-47F9-D953-345DF686DCF7}"/>
                </a:ext>
              </a:extLst>
            </p:cNvPr>
            <p:cNvSpPr/>
            <p:nvPr/>
          </p:nvSpPr>
          <p:spPr>
            <a:xfrm>
              <a:off x="8819734" y="4448961"/>
              <a:ext cx="1766168" cy="1766168"/>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EB8FE944-119C-9B3D-035B-CFB3E5C48354}"/>
                    </a:ext>
                  </a:extLst>
                </p:cNvPr>
                <p:cNvSpPr txBox="1"/>
                <p:nvPr/>
              </p:nvSpPr>
              <p:spPr>
                <a:xfrm>
                  <a:off x="10189892" y="4866847"/>
                  <a:ext cx="4683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1"/>
                            </a:solidFill>
                            <a:latin typeface="Cambria Math" panose="02040503050406030204" pitchFamily="18" charset="0"/>
                          </a:rPr>
                          <m:t>𝒎</m:t>
                        </m:r>
                      </m:oMath>
                    </m:oMathPara>
                  </a14:m>
                  <a:endParaRPr lang="zh-CN" altLang="en-US" b="1" dirty="0">
                    <a:solidFill>
                      <a:schemeClr val="accent1"/>
                    </a:solidFill>
                  </a:endParaRPr>
                </a:p>
              </p:txBody>
            </p:sp>
          </mc:Choice>
          <mc:Fallback xmlns="">
            <p:sp>
              <p:nvSpPr>
                <p:cNvPr id="21" name="文本框 20">
                  <a:extLst>
                    <a:ext uri="{FF2B5EF4-FFF2-40B4-BE49-F238E27FC236}">
                      <a16:creationId xmlns:a16="http://schemas.microsoft.com/office/drawing/2014/main" id="{EB8FE944-119C-9B3D-035B-CFB3E5C48354}"/>
                    </a:ext>
                  </a:extLst>
                </p:cNvPr>
                <p:cNvSpPr txBox="1">
                  <a:spLocks noRot="1" noChangeAspect="1" noMove="1" noResize="1" noEditPoints="1" noAdjustHandles="1" noChangeArrowheads="1" noChangeShapeType="1" noTextEdit="1"/>
                </p:cNvSpPr>
                <p:nvPr/>
              </p:nvSpPr>
              <p:spPr>
                <a:xfrm>
                  <a:off x="10189892" y="4866847"/>
                  <a:ext cx="468397" cy="369332"/>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113A8A54-D543-F8AA-8C46-CF2BC984FDEE}"/>
                    </a:ext>
                  </a:extLst>
                </p:cNvPr>
                <p:cNvSpPr txBox="1"/>
                <p:nvPr/>
              </p:nvSpPr>
              <p:spPr>
                <a:xfrm>
                  <a:off x="10314578" y="4463572"/>
                  <a:ext cx="35281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accent5">
                                <a:lumMod val="75000"/>
                              </a:schemeClr>
                            </a:solidFill>
                            <a:latin typeface="Cambria Math" panose="02040503050406030204" pitchFamily="18" charset="0"/>
                          </a:rPr>
                          <m:t>𝑑</m:t>
                        </m:r>
                        <m:sSub>
                          <m:sSubPr>
                            <m:ctrlPr>
                              <a:rPr lang="en-US" altLang="zh-CN" b="0" i="1" smtClean="0">
                                <a:solidFill>
                                  <a:schemeClr val="accent5">
                                    <a:lumMod val="75000"/>
                                  </a:schemeClr>
                                </a:solidFill>
                                <a:latin typeface="Cambria Math" panose="02040503050406030204" pitchFamily="18" charset="0"/>
                              </a:rPr>
                            </m:ctrlPr>
                          </m:sSubPr>
                          <m:e>
                            <m:r>
                              <a:rPr lang="en-US" altLang="zh-CN" b="0" i="1" smtClean="0">
                                <a:solidFill>
                                  <a:schemeClr val="accent5">
                                    <a:lumMod val="75000"/>
                                  </a:schemeClr>
                                </a:solidFill>
                                <a:latin typeface="Cambria Math" panose="02040503050406030204" pitchFamily="18" charset="0"/>
                              </a:rPr>
                              <m:t>𝜔</m:t>
                            </m:r>
                          </m:e>
                          <m:sub>
                            <m:r>
                              <a:rPr lang="en-US" altLang="zh-CN" b="0" i="1" smtClean="0">
                                <a:solidFill>
                                  <a:schemeClr val="accent5">
                                    <a:lumMod val="75000"/>
                                  </a:schemeClr>
                                </a:solidFill>
                                <a:latin typeface="Cambria Math" panose="02040503050406030204" pitchFamily="18" charset="0"/>
                              </a:rPr>
                              <m:t>𝑚</m:t>
                            </m:r>
                          </m:sub>
                        </m:sSub>
                      </m:oMath>
                    </m:oMathPara>
                  </a14:m>
                  <a:endParaRPr lang="zh-CN" altLang="en-US" dirty="0">
                    <a:solidFill>
                      <a:schemeClr val="accent5">
                        <a:lumMod val="75000"/>
                      </a:schemeClr>
                    </a:solidFill>
                  </a:endParaRPr>
                </a:p>
              </p:txBody>
            </p:sp>
          </mc:Choice>
          <mc:Fallback xmlns="">
            <p:sp>
              <p:nvSpPr>
                <p:cNvPr id="25" name="文本框 24">
                  <a:extLst>
                    <a:ext uri="{FF2B5EF4-FFF2-40B4-BE49-F238E27FC236}">
                      <a16:creationId xmlns:a16="http://schemas.microsoft.com/office/drawing/2014/main" id="{113A8A54-D543-F8AA-8C46-CF2BC984FDEE}"/>
                    </a:ext>
                  </a:extLst>
                </p:cNvPr>
                <p:cNvSpPr txBox="1">
                  <a:spLocks noRot="1" noChangeAspect="1" noMove="1" noResize="1" noEditPoints="1" noAdjustHandles="1" noChangeArrowheads="1" noChangeShapeType="1" noTextEdit="1"/>
                </p:cNvSpPr>
                <p:nvPr/>
              </p:nvSpPr>
              <p:spPr>
                <a:xfrm>
                  <a:off x="10314578" y="4463572"/>
                  <a:ext cx="352816" cy="369332"/>
                </a:xfrm>
                <a:prstGeom prst="rect">
                  <a:avLst/>
                </a:prstGeom>
                <a:blipFill>
                  <a:blip r:embed="rId8"/>
                  <a:stretch>
                    <a:fillRect r="-48485"/>
                  </a:stretch>
                </a:blipFill>
              </p:spPr>
              <p:txBody>
                <a:bodyPr/>
                <a:lstStyle/>
                <a:p>
                  <a:r>
                    <a:rPr lang="zh-CN" altLang="en-US">
                      <a:noFill/>
                    </a:rPr>
                    <a:t> </a:t>
                  </a:r>
                </a:p>
              </p:txBody>
            </p:sp>
          </mc:Fallback>
        </mc:AlternateContent>
        <p:sp>
          <p:nvSpPr>
            <p:cNvPr id="26" name="椭圆 25">
              <a:extLst>
                <a:ext uri="{FF2B5EF4-FFF2-40B4-BE49-F238E27FC236}">
                  <a16:creationId xmlns:a16="http://schemas.microsoft.com/office/drawing/2014/main" id="{4338F722-35CE-0F60-3F0E-AAEF8909FA47}"/>
                </a:ext>
              </a:extLst>
            </p:cNvPr>
            <p:cNvSpPr/>
            <p:nvPr/>
          </p:nvSpPr>
          <p:spPr>
            <a:xfrm>
              <a:off x="8819734" y="5090008"/>
              <a:ext cx="1766168" cy="484074"/>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箭头连接符 19">
              <a:extLst>
                <a:ext uri="{FF2B5EF4-FFF2-40B4-BE49-F238E27FC236}">
                  <a16:creationId xmlns:a16="http://schemas.microsoft.com/office/drawing/2014/main" id="{1EF92F17-C278-0904-505D-B0FC684E51BA}"/>
                </a:ext>
              </a:extLst>
            </p:cNvPr>
            <p:cNvCxnSpPr>
              <a:cxnSpLocks/>
            </p:cNvCxnSpPr>
            <p:nvPr/>
          </p:nvCxnSpPr>
          <p:spPr>
            <a:xfrm flipV="1">
              <a:off x="9701455" y="4897967"/>
              <a:ext cx="468894" cy="440941"/>
            </a:xfrm>
            <a:prstGeom prst="straightConnector1">
              <a:avLst/>
            </a:prstGeom>
            <a:ln w="1270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161E5DAF-8FB4-9387-0E92-5D03ADEF5EE2}"/>
                </a:ext>
              </a:extLst>
            </p:cNvPr>
            <p:cNvCxnSpPr>
              <a:cxnSpLocks/>
            </p:cNvCxnSpPr>
            <p:nvPr/>
          </p:nvCxnSpPr>
          <p:spPr>
            <a:xfrm flipV="1">
              <a:off x="9703811" y="4754033"/>
              <a:ext cx="466772" cy="581087"/>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9B811DC5-BB72-FD9E-2A3B-6923DACAC2F7}"/>
                </a:ext>
              </a:extLst>
            </p:cNvPr>
            <p:cNvCxnSpPr>
              <a:cxnSpLocks/>
            </p:cNvCxnSpPr>
            <p:nvPr/>
          </p:nvCxnSpPr>
          <p:spPr>
            <a:xfrm flipV="1">
              <a:off x="9703811" y="4897967"/>
              <a:ext cx="629756" cy="437153"/>
            </a:xfrm>
            <a:prstGeom prst="line">
              <a:avLst/>
            </a:prstGeom>
            <a:ln w="12700">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27" name="椭圆 26">
              <a:extLst>
                <a:ext uri="{FF2B5EF4-FFF2-40B4-BE49-F238E27FC236}">
                  <a16:creationId xmlns:a16="http://schemas.microsoft.com/office/drawing/2014/main" id="{30E689CB-6B63-B358-A61B-DF384064928F}"/>
                </a:ext>
              </a:extLst>
            </p:cNvPr>
            <p:cNvSpPr/>
            <p:nvPr/>
          </p:nvSpPr>
          <p:spPr>
            <a:xfrm>
              <a:off x="10133790" y="4721682"/>
              <a:ext cx="217308" cy="208601"/>
            </a:xfrm>
            <a:custGeom>
              <a:avLst/>
              <a:gdLst>
                <a:gd name="connsiteX0" fmla="*/ 0 w 236337"/>
                <a:gd name="connsiteY0" fmla="*/ 111587 h 223173"/>
                <a:gd name="connsiteX1" fmla="*/ 118169 w 236337"/>
                <a:gd name="connsiteY1" fmla="*/ 0 h 223173"/>
                <a:gd name="connsiteX2" fmla="*/ 236338 w 236337"/>
                <a:gd name="connsiteY2" fmla="*/ 111587 h 223173"/>
                <a:gd name="connsiteX3" fmla="*/ 118169 w 236337"/>
                <a:gd name="connsiteY3" fmla="*/ 223174 h 223173"/>
                <a:gd name="connsiteX4" fmla="*/ 0 w 236337"/>
                <a:gd name="connsiteY4" fmla="*/ 111587 h 223173"/>
                <a:gd name="connsiteX0" fmla="*/ 0 w 217288"/>
                <a:gd name="connsiteY0" fmla="*/ 111695 h 223437"/>
                <a:gd name="connsiteX1" fmla="*/ 118169 w 217288"/>
                <a:gd name="connsiteY1" fmla="*/ 108 h 223437"/>
                <a:gd name="connsiteX2" fmla="*/ 217288 w 217288"/>
                <a:gd name="connsiteY2" fmla="*/ 128628 h 223437"/>
                <a:gd name="connsiteX3" fmla="*/ 118169 w 217288"/>
                <a:gd name="connsiteY3" fmla="*/ 223282 h 223437"/>
                <a:gd name="connsiteX4" fmla="*/ 0 w 217288"/>
                <a:gd name="connsiteY4" fmla="*/ 111695 h 223437"/>
                <a:gd name="connsiteX0" fmla="*/ 31 w 217319"/>
                <a:gd name="connsiteY0" fmla="*/ 79950 h 191692"/>
                <a:gd name="connsiteX1" fmla="*/ 107616 w 217319"/>
                <a:gd name="connsiteY1" fmla="*/ 113 h 191692"/>
                <a:gd name="connsiteX2" fmla="*/ 217319 w 217319"/>
                <a:gd name="connsiteY2" fmla="*/ 96883 h 191692"/>
                <a:gd name="connsiteX3" fmla="*/ 118200 w 217319"/>
                <a:gd name="connsiteY3" fmla="*/ 191537 h 191692"/>
                <a:gd name="connsiteX4" fmla="*/ 31 w 217319"/>
                <a:gd name="connsiteY4" fmla="*/ 79950 h 191692"/>
                <a:gd name="connsiteX0" fmla="*/ 20 w 217308"/>
                <a:gd name="connsiteY0" fmla="*/ 96859 h 208601"/>
                <a:gd name="connsiteX1" fmla="*/ 109722 w 217308"/>
                <a:gd name="connsiteY1" fmla="*/ 89 h 208601"/>
                <a:gd name="connsiteX2" fmla="*/ 217308 w 217308"/>
                <a:gd name="connsiteY2" fmla="*/ 113792 h 208601"/>
                <a:gd name="connsiteX3" fmla="*/ 118189 w 217308"/>
                <a:gd name="connsiteY3" fmla="*/ 208446 h 208601"/>
                <a:gd name="connsiteX4" fmla="*/ 20 w 217308"/>
                <a:gd name="connsiteY4" fmla="*/ 96859 h 208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7308" h="208601">
                  <a:moveTo>
                    <a:pt x="20" y="96859"/>
                  </a:moveTo>
                  <a:cubicBezTo>
                    <a:pt x="-1391" y="62133"/>
                    <a:pt x="73507" y="-2733"/>
                    <a:pt x="109722" y="89"/>
                  </a:cubicBezTo>
                  <a:cubicBezTo>
                    <a:pt x="145937" y="2911"/>
                    <a:pt x="217308" y="52164"/>
                    <a:pt x="217308" y="113792"/>
                  </a:cubicBezTo>
                  <a:cubicBezTo>
                    <a:pt x="217308" y="175420"/>
                    <a:pt x="154404" y="211268"/>
                    <a:pt x="118189" y="208446"/>
                  </a:cubicBezTo>
                  <a:cubicBezTo>
                    <a:pt x="81974" y="205624"/>
                    <a:pt x="1431" y="131585"/>
                    <a:pt x="20" y="96859"/>
                  </a:cubicBezTo>
                  <a:close/>
                </a:path>
              </a:pathLst>
            </a:cu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D156E9B1-A5DB-9F9E-EDCC-5A59BE6A88F0}"/>
                    </a:ext>
                  </a:extLst>
                </p:cNvPr>
                <p:cNvSpPr txBox="1"/>
                <p:nvPr/>
              </p:nvSpPr>
              <p:spPr>
                <a:xfrm>
                  <a:off x="10605918" y="5266088"/>
                  <a:ext cx="344966"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1600" i="1">
                            <a:latin typeface="Cambria Math" panose="02040503050406030204" pitchFamily="18" charset="0"/>
                          </a:rPr>
                          <m:t>x</m:t>
                        </m:r>
                      </m:oMath>
                    </m:oMathPara>
                  </a14:m>
                  <a:endParaRPr lang="zh-CN" altLang="en-US" sz="1600" dirty="0"/>
                </a:p>
              </p:txBody>
            </p:sp>
          </mc:Choice>
          <mc:Fallback xmlns="">
            <p:sp>
              <p:nvSpPr>
                <p:cNvPr id="57" name="文本框 56">
                  <a:extLst>
                    <a:ext uri="{FF2B5EF4-FFF2-40B4-BE49-F238E27FC236}">
                      <a16:creationId xmlns:a16="http://schemas.microsoft.com/office/drawing/2014/main" id="{D156E9B1-A5DB-9F9E-EDCC-5A59BE6A88F0}"/>
                    </a:ext>
                  </a:extLst>
                </p:cNvPr>
                <p:cNvSpPr txBox="1">
                  <a:spLocks noRot="1" noChangeAspect="1" noMove="1" noResize="1" noEditPoints="1" noAdjustHandles="1" noChangeArrowheads="1" noChangeShapeType="1" noTextEdit="1"/>
                </p:cNvSpPr>
                <p:nvPr/>
              </p:nvSpPr>
              <p:spPr>
                <a:xfrm>
                  <a:off x="10605918" y="5266088"/>
                  <a:ext cx="344966" cy="338554"/>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434B6065-E1B5-E01B-EB24-914BAFFE5512}"/>
                    </a:ext>
                  </a:extLst>
                </p:cNvPr>
                <p:cNvSpPr txBox="1"/>
                <p:nvPr/>
              </p:nvSpPr>
              <p:spPr>
                <a:xfrm>
                  <a:off x="9375769" y="4115031"/>
                  <a:ext cx="36452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𝑦</m:t>
                        </m:r>
                      </m:oMath>
                    </m:oMathPara>
                  </a14:m>
                  <a:endParaRPr lang="zh-CN" altLang="en-US" sz="1600" dirty="0"/>
                </a:p>
              </p:txBody>
            </p:sp>
          </mc:Choice>
          <mc:Fallback xmlns="">
            <p:sp>
              <p:nvSpPr>
                <p:cNvPr id="58" name="文本框 57">
                  <a:extLst>
                    <a:ext uri="{FF2B5EF4-FFF2-40B4-BE49-F238E27FC236}">
                      <a16:creationId xmlns:a16="http://schemas.microsoft.com/office/drawing/2014/main" id="{434B6065-E1B5-E01B-EB24-914BAFFE5512}"/>
                    </a:ext>
                  </a:extLst>
                </p:cNvPr>
                <p:cNvSpPr txBox="1">
                  <a:spLocks noRot="1" noChangeAspect="1" noMove="1" noResize="1" noEditPoints="1" noAdjustHandles="1" noChangeArrowheads="1" noChangeShapeType="1" noTextEdit="1"/>
                </p:cNvSpPr>
                <p:nvPr/>
              </p:nvSpPr>
              <p:spPr>
                <a:xfrm>
                  <a:off x="9375769" y="4115031"/>
                  <a:ext cx="364523" cy="338554"/>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C45EA223-DC1C-BE61-0D39-3A956C88D85C}"/>
                    </a:ext>
                  </a:extLst>
                </p:cNvPr>
                <p:cNvSpPr txBox="1"/>
                <p:nvPr/>
              </p:nvSpPr>
              <p:spPr>
                <a:xfrm>
                  <a:off x="9622319" y="4550041"/>
                  <a:ext cx="348493" cy="33855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600" b="0" i="1" smtClean="0">
                            <a:latin typeface="Cambria Math" panose="02040503050406030204" pitchFamily="18" charset="0"/>
                          </a:rPr>
                          <m:t>𝑧</m:t>
                        </m:r>
                      </m:oMath>
                    </m:oMathPara>
                  </a14:m>
                  <a:endParaRPr lang="zh-CN" altLang="en-US" sz="1600" dirty="0"/>
                </a:p>
              </p:txBody>
            </p:sp>
          </mc:Choice>
          <mc:Fallback xmlns="">
            <p:sp>
              <p:nvSpPr>
                <p:cNvPr id="60" name="文本框 59">
                  <a:extLst>
                    <a:ext uri="{FF2B5EF4-FFF2-40B4-BE49-F238E27FC236}">
                      <a16:creationId xmlns:a16="http://schemas.microsoft.com/office/drawing/2014/main" id="{C45EA223-DC1C-BE61-0D39-3A956C88D85C}"/>
                    </a:ext>
                  </a:extLst>
                </p:cNvPr>
                <p:cNvSpPr txBox="1">
                  <a:spLocks noRot="1" noChangeAspect="1" noMove="1" noResize="1" noEditPoints="1" noAdjustHandles="1" noChangeArrowheads="1" noChangeShapeType="1" noTextEdit="1"/>
                </p:cNvSpPr>
                <p:nvPr/>
              </p:nvSpPr>
              <p:spPr>
                <a:xfrm>
                  <a:off x="9622319" y="4550041"/>
                  <a:ext cx="348493" cy="338554"/>
                </a:xfrm>
                <a:prstGeom prst="rect">
                  <a:avLst/>
                </a:prstGeom>
                <a:blipFill>
                  <a:blip r:embed="rId11"/>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4051945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117EC-D0DF-3404-445D-538B2998B23B}"/>
            </a:ext>
          </a:extLst>
        </p:cNvPr>
        <p:cNvGrpSpPr/>
        <p:nvPr/>
      </p:nvGrpSpPr>
      <p:grpSpPr>
        <a:xfrm>
          <a:off x="0" y="0"/>
          <a:ext cx="0" cy="0"/>
          <a:chOff x="0" y="0"/>
          <a:chExt cx="0" cy="0"/>
        </a:xfrm>
      </p:grpSpPr>
      <p:sp>
        <p:nvSpPr>
          <p:cNvPr id="59" name="矩形 58">
            <a:extLst>
              <a:ext uri="{FF2B5EF4-FFF2-40B4-BE49-F238E27FC236}">
                <a16:creationId xmlns:a16="http://schemas.microsoft.com/office/drawing/2014/main" id="{4B067B20-6D3A-59DB-F572-996F447CFF49}"/>
              </a:ext>
            </a:extLst>
          </p:cNvPr>
          <p:cNvSpPr/>
          <p:nvPr/>
        </p:nvSpPr>
        <p:spPr>
          <a:xfrm>
            <a:off x="631111" y="1231307"/>
            <a:ext cx="5430501" cy="538674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56" name="矩形 55">
            <a:extLst>
              <a:ext uri="{FF2B5EF4-FFF2-40B4-BE49-F238E27FC236}">
                <a16:creationId xmlns:a16="http://schemas.microsoft.com/office/drawing/2014/main" id="{8894C6D7-D29B-310C-25BA-E699070F7DC8}"/>
              </a:ext>
            </a:extLst>
          </p:cNvPr>
          <p:cNvSpPr/>
          <p:nvPr/>
        </p:nvSpPr>
        <p:spPr>
          <a:xfrm>
            <a:off x="6718933" y="1249664"/>
            <a:ext cx="4994356" cy="240727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DA31CA71-54EE-819D-8A15-ADEF4A9569FE}"/>
              </a:ext>
            </a:extLst>
          </p:cNvPr>
          <p:cNvSpPr/>
          <p:nvPr/>
        </p:nvSpPr>
        <p:spPr>
          <a:xfrm>
            <a:off x="6585583" y="1078214"/>
            <a:ext cx="4994356" cy="240727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标题 2">
            <a:extLst>
              <a:ext uri="{FF2B5EF4-FFF2-40B4-BE49-F238E27FC236}">
                <a16:creationId xmlns:a16="http://schemas.microsoft.com/office/drawing/2014/main" id="{54816847-8027-946A-5442-D0EB4D01AE55}"/>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法线分布函数的性质</a:t>
            </a:r>
            <a:endParaRPr lang="en-US" altLang="zh-CN"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57543814-D20A-2979-9E5D-E1FFCBDD9C06}"/>
                  </a:ext>
                </a:extLst>
              </p:cNvPr>
              <p:cNvSpPr/>
              <p:nvPr/>
            </p:nvSpPr>
            <p:spPr>
              <a:xfrm>
                <a:off x="478711" y="1078907"/>
                <a:ext cx="5430501" cy="538674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dirty="0">
                    <a:solidFill>
                      <a:schemeClr val="tx1"/>
                    </a:solidFill>
                  </a:rPr>
                  <a:t>       不论微面怎样分布，它们在宏观表面上的投影面积的总和一定等于宏观表面的表面积。</a:t>
                </a:r>
                <a:endParaRPr lang="en-US" altLang="zh-CN" sz="2000" dirty="0">
                  <a:solidFill>
                    <a:schemeClr val="tx1"/>
                  </a:solidFill>
                </a:endParaRPr>
              </a:p>
              <a:p>
                <a:pPr>
                  <a:lnSpc>
                    <a:spcPct val="150000"/>
                  </a:lnSpc>
                </a:pPr>
                <a:endParaRPr lang="en-US" altLang="zh-CN" sz="2000" dirty="0">
                  <a:solidFill>
                    <a:schemeClr val="tx1"/>
                  </a:solidFill>
                </a:endParaRPr>
              </a:p>
              <a:p>
                <a:pPr>
                  <a:lnSpc>
                    <a:spcPct val="150000"/>
                  </a:lnSpc>
                </a:pPr>
                <a:r>
                  <a:rPr lang="zh-CN" altLang="en-US" sz="2000" dirty="0">
                    <a:solidFill>
                      <a:schemeClr val="tx1"/>
                    </a:solidFill>
                  </a:rPr>
                  <a:t>        注意，有的微面的法线可能会朝向宏观表面的下方</a:t>
                </a:r>
                <a:r>
                  <a:rPr lang="en-US" altLang="zh-CN" sz="2000" dirty="0">
                    <a:solidFill>
                      <a:schemeClr val="tx1"/>
                    </a:solidFill>
                  </a:rPr>
                  <a:t>(</a:t>
                </a:r>
                <a14:m>
                  <m:oMath xmlns:m="http://schemas.openxmlformats.org/officeDocument/2006/math">
                    <m:r>
                      <a:rPr lang="en-US" altLang="zh-CN" sz="2000" b="1" i="1">
                        <a:solidFill>
                          <a:schemeClr val="tx1"/>
                        </a:solidFill>
                        <a:latin typeface="Cambria Math" panose="02040503050406030204" pitchFamily="18" charset="0"/>
                      </a:rPr>
                      <m:t>𝒎</m:t>
                    </m:r>
                    <m:r>
                      <a:rPr lang="en-US" altLang="zh-CN" sz="2000" i="1">
                        <a:solidFill>
                          <a:schemeClr val="tx1"/>
                        </a:solidFill>
                        <a:latin typeface="Cambria Math" panose="02040503050406030204" pitchFamily="18" charset="0"/>
                      </a:rPr>
                      <m:t>⋅</m:t>
                    </m:r>
                    <m:r>
                      <a:rPr lang="en-US" altLang="zh-CN" sz="2000" b="1" i="1" dirty="0">
                        <a:solidFill>
                          <a:schemeClr val="tx1"/>
                        </a:solidFill>
                        <a:latin typeface="Cambria Math" panose="02040503050406030204" pitchFamily="18" charset="0"/>
                      </a:rPr>
                      <m:t>𝒈</m:t>
                    </m:r>
                    <m:r>
                      <a:rPr lang="en-US" altLang="zh-CN" sz="2000" i="1">
                        <a:solidFill>
                          <a:schemeClr val="tx1"/>
                        </a:solidFill>
                        <a:latin typeface="Cambria Math" panose="02040503050406030204" pitchFamily="18" charset="0"/>
                      </a:rPr>
                      <m:t>&lt;</m:t>
                    </m:r>
                    <m:r>
                      <a:rPr lang="en-US" altLang="zh-CN" sz="2000" i="1">
                        <a:solidFill>
                          <a:schemeClr val="tx1"/>
                        </a:solidFill>
                        <a:latin typeface="Cambria Math" panose="02040503050406030204" pitchFamily="18" charset="0"/>
                      </a:rPr>
                      <m:t>0</m:t>
                    </m:r>
                  </m:oMath>
                </a14:m>
                <a:r>
                  <a:rPr lang="en-US" altLang="zh-CN" sz="2000" dirty="0">
                    <a:solidFill>
                      <a:schemeClr val="tx1"/>
                    </a:solidFill>
                  </a:rPr>
                  <a:t>)</a:t>
                </a:r>
                <a:r>
                  <a:rPr lang="zh-CN" altLang="en-US" sz="2000" dirty="0">
                    <a:solidFill>
                      <a:schemeClr val="tx1"/>
                    </a:solidFill>
                  </a:rPr>
                  <a:t>，这种倒置的微面的投影面积是负的。</a:t>
                </a:r>
                <a:endParaRPr lang="en-US" altLang="zh-CN" sz="2000" dirty="0">
                  <a:solidFill>
                    <a:schemeClr val="tx1"/>
                  </a:solidFill>
                </a:endParaRPr>
              </a:p>
              <a:p>
                <a:pPr>
                  <a:lnSpc>
                    <a:spcPct val="150000"/>
                  </a:lnSpc>
                </a:pPr>
                <a:endParaRPr lang="en-US" altLang="zh-CN" sz="2000" dirty="0">
                  <a:solidFill>
                    <a:schemeClr val="tx1"/>
                  </a:solidFill>
                </a:endParaRPr>
              </a:p>
              <a:p>
                <a:pPr>
                  <a:lnSpc>
                    <a:spcPct val="150000"/>
                  </a:lnSpc>
                </a:pPr>
                <a:r>
                  <a:rPr lang="zh-CN" altLang="en-US" sz="2000" dirty="0">
                    <a:solidFill>
                      <a:schemeClr val="tx1"/>
                    </a:solidFill>
                  </a:rPr>
                  <a:t>     当然，我们跟随</a:t>
                </a:r>
                <a:r>
                  <a:rPr lang="en-US" altLang="zh-CN" sz="2000" dirty="0">
                    <a:solidFill>
                      <a:srgbClr val="212529"/>
                    </a:solidFill>
                    <a:latin typeface="Domine"/>
                  </a:rPr>
                  <a:t>Trowbridge and Reitz (1975) </a:t>
                </a:r>
                <a:r>
                  <a:rPr lang="en-US" altLang="zh-CN" sz="2000" dirty="0">
                    <a:solidFill>
                      <a:srgbClr val="212529"/>
                    </a:solidFill>
                    <a:latin typeface="Domine"/>
                    <a:hlinkClick r:id="rId2" action="ppaction://hlinksldjump"/>
                  </a:rPr>
                  <a:t>1</a:t>
                </a:r>
                <a:r>
                  <a:rPr lang="en-US" altLang="zh-CN" sz="2000" dirty="0">
                    <a:solidFill>
                      <a:srgbClr val="212529"/>
                    </a:solidFill>
                    <a:latin typeface="Domine"/>
                  </a:rPr>
                  <a:t> </a:t>
                </a:r>
                <a:r>
                  <a:rPr lang="zh-CN" altLang="en-US" sz="2000" dirty="0">
                    <a:solidFill>
                      <a:srgbClr val="212529"/>
                    </a:solidFill>
                    <a:latin typeface="Domine"/>
                  </a:rPr>
                  <a:t>中的假设，微面不会朝向宏观表面的下方，也就是</a:t>
                </a:r>
                <a14:m>
                  <m:oMath xmlns:m="http://schemas.openxmlformats.org/officeDocument/2006/math">
                    <m:r>
                      <a:rPr lang="en-US" altLang="zh-CN" sz="2000" b="1" i="1">
                        <a:solidFill>
                          <a:schemeClr val="tx1"/>
                        </a:solidFill>
                        <a:latin typeface="Cambria Math" panose="02040503050406030204" pitchFamily="18" charset="0"/>
                      </a:rPr>
                      <m:t>𝒎</m:t>
                    </m:r>
                    <m:r>
                      <a:rPr lang="en-US" altLang="zh-CN" sz="2000" i="1">
                        <a:solidFill>
                          <a:schemeClr val="tx1"/>
                        </a:solidFill>
                        <a:latin typeface="Cambria Math" panose="02040503050406030204" pitchFamily="18" charset="0"/>
                      </a:rPr>
                      <m:t>⋅</m:t>
                    </m:r>
                    <m:r>
                      <a:rPr lang="en-US" altLang="zh-CN" sz="2000" b="1" i="1" dirty="0">
                        <a:solidFill>
                          <a:schemeClr val="tx1"/>
                        </a:solidFill>
                        <a:latin typeface="Cambria Math" panose="02040503050406030204" pitchFamily="18" charset="0"/>
                      </a:rPr>
                      <m:t>𝒈</m:t>
                    </m:r>
                    <m:r>
                      <a:rPr lang="en-US" altLang="zh-CN" sz="2000" b="0" i="1" smtClean="0">
                        <a:solidFill>
                          <a:schemeClr val="tx1"/>
                        </a:solidFill>
                        <a:latin typeface="Cambria Math" panose="02040503050406030204" pitchFamily="18" charset="0"/>
                      </a:rPr>
                      <m:t>≥</m:t>
                    </m:r>
                    <m:r>
                      <a:rPr lang="en-US" altLang="zh-CN" sz="2000" i="1">
                        <a:solidFill>
                          <a:schemeClr val="tx1"/>
                        </a:solidFill>
                        <a:latin typeface="Cambria Math" panose="02040503050406030204" pitchFamily="18" charset="0"/>
                      </a:rPr>
                      <m:t>0</m:t>
                    </m:r>
                    <m:r>
                      <a:rPr lang="en-US" altLang="zh-CN" sz="2000" i="1">
                        <a:solidFill>
                          <a:schemeClr val="tx1"/>
                        </a:solidFill>
                        <a:latin typeface="Cambria Math" panose="02040503050406030204" pitchFamily="18" charset="0"/>
                      </a:rPr>
                      <m:t> </m:t>
                    </m:r>
                  </m:oMath>
                </a14:m>
                <a:r>
                  <a:rPr lang="zh-CN" altLang="en-US" sz="2000" dirty="0">
                    <a:solidFill>
                      <a:srgbClr val="212529"/>
                    </a:solidFill>
                    <a:latin typeface="Domine"/>
                  </a:rPr>
                  <a:t>。</a:t>
                </a:r>
                <a:endParaRPr lang="en-US" altLang="zh-CN" sz="2000" dirty="0">
                  <a:solidFill>
                    <a:schemeClr val="tx1"/>
                  </a:solidFill>
                </a:endParaRPr>
              </a:p>
            </p:txBody>
          </p:sp>
        </mc:Choice>
        <mc:Fallback xmlns="">
          <p:sp>
            <p:nvSpPr>
              <p:cNvPr id="3" name="矩形 2">
                <a:extLst>
                  <a:ext uri="{FF2B5EF4-FFF2-40B4-BE49-F238E27FC236}">
                    <a16:creationId xmlns:a16="http://schemas.microsoft.com/office/drawing/2014/main" id="{57543814-D20A-2979-9E5D-E1FFCBDD9C06}"/>
                  </a:ext>
                </a:extLst>
              </p:cNvPr>
              <p:cNvSpPr>
                <a:spLocks noRot="1" noChangeAspect="1" noMove="1" noResize="1" noEditPoints="1" noAdjustHandles="1" noChangeArrowheads="1" noChangeShapeType="1" noTextEdit="1"/>
              </p:cNvSpPr>
              <p:nvPr/>
            </p:nvSpPr>
            <p:spPr>
              <a:xfrm>
                <a:off x="478711" y="1078907"/>
                <a:ext cx="5430501" cy="5386745"/>
              </a:xfrm>
              <a:prstGeom prst="rect">
                <a:avLst/>
              </a:prstGeom>
              <a:blipFill>
                <a:blip r:embed="rId3"/>
                <a:stretch>
                  <a:fillRect l="-1121" r="-897"/>
                </a:stretch>
              </a:blipFill>
            </p:spPr>
            <p:txBody>
              <a:bodyPr/>
              <a:lstStyle/>
              <a:p>
                <a:r>
                  <a:rPr lang="zh-CN" altLang="en-US">
                    <a:noFill/>
                  </a:rPr>
                  <a:t> </a:t>
                </a:r>
              </a:p>
            </p:txBody>
          </p:sp>
        </mc:Fallback>
      </mc:AlternateContent>
      <p:grpSp>
        <p:nvGrpSpPr>
          <p:cNvPr id="23" name="组合 22">
            <a:extLst>
              <a:ext uri="{FF2B5EF4-FFF2-40B4-BE49-F238E27FC236}">
                <a16:creationId xmlns:a16="http://schemas.microsoft.com/office/drawing/2014/main" id="{388E7354-7FBC-9D73-6839-88E22D8D3F8B}"/>
              </a:ext>
            </a:extLst>
          </p:cNvPr>
          <p:cNvGrpSpPr/>
          <p:nvPr/>
        </p:nvGrpSpPr>
        <p:grpSpPr>
          <a:xfrm>
            <a:off x="6689267" y="1479892"/>
            <a:ext cx="4657552" cy="1539245"/>
            <a:chOff x="7054948" y="2393673"/>
            <a:chExt cx="4657552" cy="1638326"/>
          </a:xfrm>
        </p:grpSpPr>
        <p:cxnSp>
          <p:nvCxnSpPr>
            <p:cNvPr id="5" name="直接连接符 4">
              <a:extLst>
                <a:ext uri="{FF2B5EF4-FFF2-40B4-BE49-F238E27FC236}">
                  <a16:creationId xmlns:a16="http://schemas.microsoft.com/office/drawing/2014/main" id="{8302D271-B09A-17B8-15AB-C78C563139CC}"/>
                </a:ext>
              </a:extLst>
            </p:cNvPr>
            <p:cNvCxnSpPr/>
            <p:nvPr/>
          </p:nvCxnSpPr>
          <p:spPr>
            <a:xfrm>
              <a:off x="7405437" y="3429000"/>
              <a:ext cx="409060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A86E812-AC16-081C-7181-88EBBA758DC1}"/>
                    </a:ext>
                  </a:extLst>
                </p:cNvPr>
                <p:cNvSpPr txBox="1"/>
                <p:nvPr/>
              </p:nvSpPr>
              <p:spPr>
                <a:xfrm>
                  <a:off x="9488109" y="3638893"/>
                  <a:ext cx="2224391" cy="393106"/>
                </a:xfrm>
                <a:prstGeom prst="rect">
                  <a:avLst/>
                </a:prstGeom>
                <a:noFill/>
              </p:spPr>
              <p:txBody>
                <a:bodyPr wrap="none" rtlCol="0">
                  <a:spAutoFit/>
                </a:bodyPr>
                <a:lstStyle/>
                <a:p>
                  <a:r>
                    <a:rPr lang="en-US" altLang="zh-CN" dirty="0"/>
                    <a:t>Macro Surface  </a:t>
                  </a:r>
                  <a14:m>
                    <m:oMath xmlns:m="http://schemas.openxmlformats.org/officeDocument/2006/math">
                      <m:sSub>
                        <m:sSubPr>
                          <m:ctrlPr>
                            <a:rPr lang="en-US" altLang="zh-CN" sz="1800" b="0" i="1" dirty="0" smtClean="0">
                              <a:solidFill>
                                <a:schemeClr val="tx1"/>
                              </a:solidFill>
                              <a:latin typeface="Cambria Math" panose="02040503050406030204" pitchFamily="18" charset="0"/>
                            </a:rPr>
                          </m:ctrlPr>
                        </m:sSubPr>
                        <m:e>
                          <m:r>
                            <a:rPr lang="en-US" altLang="zh-CN" sz="1800" b="0" i="1" dirty="0" smtClean="0">
                              <a:solidFill>
                                <a:schemeClr val="tx1"/>
                              </a:solidFill>
                              <a:latin typeface="Cambria Math" panose="02040503050406030204" pitchFamily="18" charset="0"/>
                            </a:rPr>
                            <m:t>𝐴</m:t>
                          </m:r>
                        </m:e>
                        <m:sub>
                          <m:r>
                            <a:rPr lang="en-US" altLang="zh-CN" sz="1800" b="0" i="1" dirty="0" smtClean="0">
                              <a:solidFill>
                                <a:schemeClr val="tx1"/>
                              </a:solidFill>
                              <a:latin typeface="Cambria Math" panose="02040503050406030204" pitchFamily="18" charset="0"/>
                            </a:rPr>
                            <m:t>𝑀</m:t>
                          </m:r>
                        </m:sub>
                      </m:sSub>
                    </m:oMath>
                  </a14:m>
                  <a:endParaRPr lang="zh-CN" altLang="en-US" dirty="0"/>
                </a:p>
              </p:txBody>
            </p:sp>
          </mc:Choice>
          <mc:Fallback xmlns="">
            <p:sp>
              <p:nvSpPr>
                <p:cNvPr id="9" name="文本框 8">
                  <a:extLst>
                    <a:ext uri="{FF2B5EF4-FFF2-40B4-BE49-F238E27FC236}">
                      <a16:creationId xmlns:a16="http://schemas.microsoft.com/office/drawing/2014/main" id="{6A86E812-AC16-081C-7181-88EBBA758DC1}"/>
                    </a:ext>
                  </a:extLst>
                </p:cNvPr>
                <p:cNvSpPr txBox="1">
                  <a:spLocks noRot="1" noChangeAspect="1" noMove="1" noResize="1" noEditPoints="1" noAdjustHandles="1" noChangeArrowheads="1" noChangeShapeType="1" noTextEdit="1"/>
                </p:cNvSpPr>
                <p:nvPr/>
              </p:nvSpPr>
              <p:spPr>
                <a:xfrm>
                  <a:off x="9488109" y="3638893"/>
                  <a:ext cx="2224391" cy="393106"/>
                </a:xfrm>
                <a:prstGeom prst="rect">
                  <a:avLst/>
                </a:prstGeom>
                <a:blipFill>
                  <a:blip r:embed="rId4"/>
                  <a:stretch>
                    <a:fillRect l="-2192" t="-10000" b="-26667"/>
                  </a:stretch>
                </a:blipFill>
              </p:spPr>
              <p:txBody>
                <a:bodyPr/>
                <a:lstStyle/>
                <a:p>
                  <a:r>
                    <a:rPr lang="zh-CN" altLang="en-US">
                      <a:noFill/>
                    </a:rPr>
                    <a:t> </a:t>
                  </a:r>
                </a:p>
              </p:txBody>
            </p:sp>
          </mc:Fallback>
        </mc:AlternateContent>
        <p:sp>
          <p:nvSpPr>
            <p:cNvPr id="21" name="任意多边形: 形状 20">
              <a:extLst>
                <a:ext uri="{FF2B5EF4-FFF2-40B4-BE49-F238E27FC236}">
                  <a16:creationId xmlns:a16="http://schemas.microsoft.com/office/drawing/2014/main" id="{B9B34CC2-2AF4-A780-95B4-0F159C1D837F}"/>
                </a:ext>
              </a:extLst>
            </p:cNvPr>
            <p:cNvSpPr/>
            <p:nvPr/>
          </p:nvSpPr>
          <p:spPr>
            <a:xfrm>
              <a:off x="7382934" y="2645834"/>
              <a:ext cx="4212166" cy="1206500"/>
            </a:xfrm>
            <a:custGeom>
              <a:avLst/>
              <a:gdLst>
                <a:gd name="connsiteX0" fmla="*/ 0 w 4212166"/>
                <a:gd name="connsiteY0" fmla="*/ 766233 h 1206500"/>
                <a:gd name="connsiteX1" fmla="*/ 342900 w 4212166"/>
                <a:gd name="connsiteY1" fmla="*/ 347133 h 1206500"/>
                <a:gd name="connsiteX2" fmla="*/ 579966 w 4212166"/>
                <a:gd name="connsiteY2" fmla="*/ 156633 h 1206500"/>
                <a:gd name="connsiteX3" fmla="*/ 766233 w 4212166"/>
                <a:gd name="connsiteY3" fmla="*/ 105833 h 1206500"/>
                <a:gd name="connsiteX4" fmla="*/ 833966 w 4212166"/>
                <a:gd name="connsiteY4" fmla="*/ 232833 h 1206500"/>
                <a:gd name="connsiteX5" fmla="*/ 859366 w 4212166"/>
                <a:gd name="connsiteY5" fmla="*/ 508000 h 1206500"/>
                <a:gd name="connsiteX6" fmla="*/ 880533 w 4212166"/>
                <a:gd name="connsiteY6" fmla="*/ 791633 h 1206500"/>
                <a:gd name="connsiteX7" fmla="*/ 910166 w 4212166"/>
                <a:gd name="connsiteY7" fmla="*/ 948266 h 1206500"/>
                <a:gd name="connsiteX8" fmla="*/ 994833 w 4212166"/>
                <a:gd name="connsiteY8" fmla="*/ 1037166 h 1206500"/>
                <a:gd name="connsiteX9" fmla="*/ 1299633 w 4212166"/>
                <a:gd name="connsiteY9" fmla="*/ 1176866 h 1206500"/>
                <a:gd name="connsiteX10" fmla="*/ 1756833 w 4212166"/>
                <a:gd name="connsiteY10" fmla="*/ 1206500 h 1206500"/>
                <a:gd name="connsiteX11" fmla="*/ 1943100 w 4212166"/>
                <a:gd name="connsiteY11" fmla="*/ 1138766 h 1206500"/>
                <a:gd name="connsiteX12" fmla="*/ 1930400 w 4212166"/>
                <a:gd name="connsiteY12" fmla="*/ 897466 h 1206500"/>
                <a:gd name="connsiteX13" fmla="*/ 1849966 w 4212166"/>
                <a:gd name="connsiteY13" fmla="*/ 588433 h 1206500"/>
                <a:gd name="connsiteX14" fmla="*/ 1905000 w 4212166"/>
                <a:gd name="connsiteY14" fmla="*/ 317500 h 1206500"/>
                <a:gd name="connsiteX15" fmla="*/ 2103966 w 4212166"/>
                <a:gd name="connsiteY15" fmla="*/ 152400 h 1206500"/>
                <a:gd name="connsiteX16" fmla="*/ 2501900 w 4212166"/>
                <a:gd name="connsiteY16" fmla="*/ 42333 h 1206500"/>
                <a:gd name="connsiteX17" fmla="*/ 2963333 w 4212166"/>
                <a:gd name="connsiteY17" fmla="*/ 0 h 1206500"/>
                <a:gd name="connsiteX18" fmla="*/ 3386666 w 4212166"/>
                <a:gd name="connsiteY18" fmla="*/ 71966 h 1206500"/>
                <a:gd name="connsiteX19" fmla="*/ 3479800 w 4212166"/>
                <a:gd name="connsiteY19" fmla="*/ 296333 h 1206500"/>
                <a:gd name="connsiteX20" fmla="*/ 3568700 w 4212166"/>
                <a:gd name="connsiteY20" fmla="*/ 630766 h 1206500"/>
                <a:gd name="connsiteX21" fmla="*/ 3661833 w 4212166"/>
                <a:gd name="connsiteY21" fmla="*/ 876300 h 1206500"/>
                <a:gd name="connsiteX22" fmla="*/ 3738033 w 4212166"/>
                <a:gd name="connsiteY22" fmla="*/ 960966 h 1206500"/>
                <a:gd name="connsiteX23" fmla="*/ 3949700 w 4212166"/>
                <a:gd name="connsiteY23" fmla="*/ 867833 h 1206500"/>
                <a:gd name="connsiteX24" fmla="*/ 4212166 w 4212166"/>
                <a:gd name="connsiteY24" fmla="*/ 546100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12166" h="1206500">
                  <a:moveTo>
                    <a:pt x="0" y="766233"/>
                  </a:moveTo>
                  <a:lnTo>
                    <a:pt x="342900" y="347133"/>
                  </a:lnTo>
                  <a:lnTo>
                    <a:pt x="579966" y="156633"/>
                  </a:lnTo>
                  <a:lnTo>
                    <a:pt x="766233" y="105833"/>
                  </a:lnTo>
                  <a:lnTo>
                    <a:pt x="833966" y="232833"/>
                  </a:lnTo>
                  <a:lnTo>
                    <a:pt x="859366" y="508000"/>
                  </a:lnTo>
                  <a:lnTo>
                    <a:pt x="880533" y="791633"/>
                  </a:lnTo>
                  <a:lnTo>
                    <a:pt x="910166" y="948266"/>
                  </a:lnTo>
                  <a:lnTo>
                    <a:pt x="994833" y="1037166"/>
                  </a:lnTo>
                  <a:lnTo>
                    <a:pt x="1299633" y="1176866"/>
                  </a:lnTo>
                  <a:lnTo>
                    <a:pt x="1756833" y="1206500"/>
                  </a:lnTo>
                  <a:lnTo>
                    <a:pt x="1943100" y="1138766"/>
                  </a:lnTo>
                  <a:lnTo>
                    <a:pt x="1930400" y="897466"/>
                  </a:lnTo>
                  <a:lnTo>
                    <a:pt x="1849966" y="588433"/>
                  </a:lnTo>
                  <a:lnTo>
                    <a:pt x="1905000" y="317500"/>
                  </a:lnTo>
                  <a:lnTo>
                    <a:pt x="2103966" y="152400"/>
                  </a:lnTo>
                  <a:lnTo>
                    <a:pt x="2501900" y="42333"/>
                  </a:lnTo>
                  <a:lnTo>
                    <a:pt x="2963333" y="0"/>
                  </a:lnTo>
                  <a:lnTo>
                    <a:pt x="3386666" y="71966"/>
                  </a:lnTo>
                  <a:lnTo>
                    <a:pt x="3479800" y="296333"/>
                  </a:lnTo>
                  <a:lnTo>
                    <a:pt x="3568700" y="630766"/>
                  </a:lnTo>
                  <a:lnTo>
                    <a:pt x="3661833" y="876300"/>
                  </a:lnTo>
                  <a:lnTo>
                    <a:pt x="3738033" y="960966"/>
                  </a:lnTo>
                  <a:lnTo>
                    <a:pt x="3949700" y="867833"/>
                  </a:lnTo>
                  <a:lnTo>
                    <a:pt x="4212166" y="546100"/>
                  </a:ln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A6BEE8B2-E151-DDEA-AED1-CDC0323D6CF7}"/>
                </a:ext>
              </a:extLst>
            </p:cNvPr>
            <p:cNvSpPr txBox="1"/>
            <p:nvPr/>
          </p:nvSpPr>
          <p:spPr>
            <a:xfrm>
              <a:off x="7054948" y="2393673"/>
              <a:ext cx="1356718" cy="369332"/>
            </a:xfrm>
            <a:prstGeom prst="rect">
              <a:avLst/>
            </a:prstGeom>
            <a:noFill/>
          </p:spPr>
          <p:txBody>
            <a:bodyPr wrap="none" rtlCol="0">
              <a:spAutoFit/>
            </a:bodyPr>
            <a:lstStyle/>
            <a:p>
              <a:r>
                <a:rPr lang="en-US" altLang="zh-CN" dirty="0">
                  <a:solidFill>
                    <a:schemeClr val="accent4">
                      <a:lumMod val="60000"/>
                      <a:lumOff val="40000"/>
                    </a:schemeClr>
                  </a:solidFill>
                </a:rPr>
                <a:t>Microfacet</a:t>
              </a:r>
              <a:endParaRPr lang="zh-CN" altLang="en-US" dirty="0">
                <a:solidFill>
                  <a:schemeClr val="accent4">
                    <a:lumMod val="60000"/>
                    <a:lumOff val="40000"/>
                  </a:schemeClr>
                </a:solidFill>
              </a:endParaRPr>
            </a:p>
          </p:txBody>
        </p:sp>
      </p:grpSp>
      <p:cxnSp>
        <p:nvCxnSpPr>
          <p:cNvPr id="4" name="直接连接符 3">
            <a:extLst>
              <a:ext uri="{FF2B5EF4-FFF2-40B4-BE49-F238E27FC236}">
                <a16:creationId xmlns:a16="http://schemas.microsoft.com/office/drawing/2014/main" id="{D7580B11-7452-3630-5E99-8AF06A4208A9}"/>
              </a:ext>
            </a:extLst>
          </p:cNvPr>
          <p:cNvCxnSpPr>
            <a:cxnSpLocks/>
          </p:cNvCxnSpPr>
          <p:nvPr/>
        </p:nvCxnSpPr>
        <p:spPr>
          <a:xfrm flipH="1">
            <a:off x="7260484" y="2133781"/>
            <a:ext cx="2389" cy="333561"/>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5886FF71-A7BE-9739-0FDC-BA47E827F190}"/>
              </a:ext>
            </a:extLst>
          </p:cNvPr>
          <p:cNvCxnSpPr>
            <a:cxnSpLocks/>
          </p:cNvCxnSpPr>
          <p:nvPr/>
        </p:nvCxnSpPr>
        <p:spPr>
          <a:xfrm>
            <a:off x="7476225" y="1937879"/>
            <a:ext cx="0" cy="544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F90424DA-20EB-6E98-DCE2-D78F15BB6F31}"/>
              </a:ext>
            </a:extLst>
          </p:cNvPr>
          <p:cNvCxnSpPr>
            <a:cxnSpLocks/>
          </p:cNvCxnSpPr>
          <p:nvPr/>
        </p:nvCxnSpPr>
        <p:spPr>
          <a:xfrm>
            <a:off x="8111225" y="2452606"/>
            <a:ext cx="0" cy="28351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EF708566-FB9C-BCE5-530A-0A562E6D853A}"/>
              </a:ext>
            </a:extLst>
          </p:cNvPr>
          <p:cNvCxnSpPr>
            <a:cxnSpLocks/>
          </p:cNvCxnSpPr>
          <p:nvPr/>
        </p:nvCxnSpPr>
        <p:spPr>
          <a:xfrm>
            <a:off x="8339825" y="2452606"/>
            <a:ext cx="0" cy="3706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67F18A9E-A927-8370-F956-9BD3FF22A89F}"/>
              </a:ext>
            </a:extLst>
          </p:cNvPr>
          <p:cNvCxnSpPr>
            <a:cxnSpLocks/>
          </p:cNvCxnSpPr>
          <p:nvPr/>
        </p:nvCxnSpPr>
        <p:spPr>
          <a:xfrm>
            <a:off x="8543025" y="2479641"/>
            <a:ext cx="0" cy="3706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B800151-49E2-4477-1C20-4F4328E8251A}"/>
              </a:ext>
            </a:extLst>
          </p:cNvPr>
          <p:cNvCxnSpPr>
            <a:cxnSpLocks/>
          </p:cNvCxnSpPr>
          <p:nvPr/>
        </p:nvCxnSpPr>
        <p:spPr>
          <a:xfrm>
            <a:off x="9082761" y="1903501"/>
            <a:ext cx="0" cy="56384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D8C3692B-F63D-F44D-07FB-A78B02D2E1F5}"/>
              </a:ext>
            </a:extLst>
          </p:cNvPr>
          <p:cNvCxnSpPr>
            <a:cxnSpLocks/>
          </p:cNvCxnSpPr>
          <p:nvPr/>
        </p:nvCxnSpPr>
        <p:spPr>
          <a:xfrm>
            <a:off x="9351736" y="1799097"/>
            <a:ext cx="0" cy="6682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408F4206-5483-4D8F-041A-A1F416CCD724}"/>
              </a:ext>
            </a:extLst>
          </p:cNvPr>
          <p:cNvCxnSpPr>
            <a:cxnSpLocks/>
          </p:cNvCxnSpPr>
          <p:nvPr/>
        </p:nvCxnSpPr>
        <p:spPr>
          <a:xfrm>
            <a:off x="9931327" y="1716803"/>
            <a:ext cx="2721" cy="743786"/>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90DCD855-0B57-DEB7-F9EF-3419E2CDED6B}"/>
              </a:ext>
            </a:extLst>
          </p:cNvPr>
          <p:cNvCxnSpPr>
            <a:cxnSpLocks/>
          </p:cNvCxnSpPr>
          <p:nvPr/>
        </p:nvCxnSpPr>
        <p:spPr>
          <a:xfrm>
            <a:off x="10429477" y="1849224"/>
            <a:ext cx="0" cy="625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93B82CF4-8271-DF6D-E78A-E4A6081ADEA5}"/>
              </a:ext>
            </a:extLst>
          </p:cNvPr>
          <p:cNvCxnSpPr>
            <a:cxnSpLocks/>
          </p:cNvCxnSpPr>
          <p:nvPr/>
        </p:nvCxnSpPr>
        <p:spPr>
          <a:xfrm flipH="1">
            <a:off x="10775950" y="2442549"/>
            <a:ext cx="2777" cy="156099"/>
          </a:xfrm>
          <a:prstGeom prst="line">
            <a:avLst/>
          </a:prstGeom>
        </p:spPr>
        <p:style>
          <a:lnRef idx="1">
            <a:schemeClr val="accent1"/>
          </a:lnRef>
          <a:fillRef idx="0">
            <a:schemeClr val="accent1"/>
          </a:fillRef>
          <a:effectRef idx="0">
            <a:schemeClr val="accent1"/>
          </a:effectRef>
          <a:fontRef idx="minor">
            <a:schemeClr val="tx1"/>
          </a:fontRef>
        </p:style>
      </p:cxnSp>
      <p:sp>
        <p:nvSpPr>
          <p:cNvPr id="34" name="矩形 33">
            <a:extLst>
              <a:ext uri="{FF2B5EF4-FFF2-40B4-BE49-F238E27FC236}">
                <a16:creationId xmlns:a16="http://schemas.microsoft.com/office/drawing/2014/main" id="{893AEEEE-29CB-9B3A-5340-8481ED5D25CC}"/>
              </a:ext>
            </a:extLst>
          </p:cNvPr>
          <p:cNvSpPr/>
          <p:nvPr/>
        </p:nvSpPr>
        <p:spPr>
          <a:xfrm>
            <a:off x="6718933" y="4210783"/>
            <a:ext cx="4994356" cy="240727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a:extLst>
              <a:ext uri="{FF2B5EF4-FFF2-40B4-BE49-F238E27FC236}">
                <a16:creationId xmlns:a16="http://schemas.microsoft.com/office/drawing/2014/main" id="{E4A3684B-0D58-1E19-CC7B-F499C634D621}"/>
              </a:ext>
            </a:extLst>
          </p:cNvPr>
          <p:cNvSpPr/>
          <p:nvPr/>
        </p:nvSpPr>
        <p:spPr>
          <a:xfrm>
            <a:off x="6585583" y="4039333"/>
            <a:ext cx="4994356" cy="240727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7" name="组合 36">
            <a:extLst>
              <a:ext uri="{FF2B5EF4-FFF2-40B4-BE49-F238E27FC236}">
                <a16:creationId xmlns:a16="http://schemas.microsoft.com/office/drawing/2014/main" id="{4223DE1E-41BA-2605-A0A7-DCA6A2A78503}"/>
              </a:ext>
            </a:extLst>
          </p:cNvPr>
          <p:cNvGrpSpPr/>
          <p:nvPr/>
        </p:nvGrpSpPr>
        <p:grpSpPr>
          <a:xfrm>
            <a:off x="6689267" y="4441011"/>
            <a:ext cx="4441092" cy="1516909"/>
            <a:chOff x="7054948" y="2393673"/>
            <a:chExt cx="4441092" cy="1614552"/>
          </a:xfrm>
        </p:grpSpPr>
        <p:cxnSp>
          <p:nvCxnSpPr>
            <p:cNvPr id="38" name="直接连接符 37">
              <a:extLst>
                <a:ext uri="{FF2B5EF4-FFF2-40B4-BE49-F238E27FC236}">
                  <a16:creationId xmlns:a16="http://schemas.microsoft.com/office/drawing/2014/main" id="{9ABE7708-204B-842C-2132-CCD81DF48449}"/>
                </a:ext>
              </a:extLst>
            </p:cNvPr>
            <p:cNvCxnSpPr/>
            <p:nvPr/>
          </p:nvCxnSpPr>
          <p:spPr>
            <a:xfrm>
              <a:off x="7405437" y="3429000"/>
              <a:ext cx="409060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文本框 38">
              <a:extLst>
                <a:ext uri="{FF2B5EF4-FFF2-40B4-BE49-F238E27FC236}">
                  <a16:creationId xmlns:a16="http://schemas.microsoft.com/office/drawing/2014/main" id="{D387E5B3-B7FF-B212-74AB-3CAA4DC5E2D6}"/>
                </a:ext>
              </a:extLst>
            </p:cNvPr>
            <p:cNvSpPr txBox="1"/>
            <p:nvPr/>
          </p:nvSpPr>
          <p:spPr>
            <a:xfrm>
              <a:off x="9488109" y="3638893"/>
              <a:ext cx="1779526" cy="369332"/>
            </a:xfrm>
            <a:prstGeom prst="rect">
              <a:avLst/>
            </a:prstGeom>
            <a:noFill/>
          </p:spPr>
          <p:txBody>
            <a:bodyPr wrap="none" rtlCol="0">
              <a:spAutoFit/>
            </a:bodyPr>
            <a:lstStyle/>
            <a:p>
              <a:r>
                <a:rPr lang="en-US" altLang="zh-CN" dirty="0"/>
                <a:t>Macro Surface</a:t>
              </a:r>
              <a:endParaRPr lang="zh-CN" altLang="en-US" dirty="0"/>
            </a:p>
          </p:txBody>
        </p:sp>
        <p:sp>
          <p:nvSpPr>
            <p:cNvPr id="42" name="文本框 41">
              <a:extLst>
                <a:ext uri="{FF2B5EF4-FFF2-40B4-BE49-F238E27FC236}">
                  <a16:creationId xmlns:a16="http://schemas.microsoft.com/office/drawing/2014/main" id="{D320B5C2-62C1-EB5F-AEA6-CF489084B1E9}"/>
                </a:ext>
              </a:extLst>
            </p:cNvPr>
            <p:cNvSpPr txBox="1"/>
            <p:nvPr/>
          </p:nvSpPr>
          <p:spPr>
            <a:xfrm>
              <a:off x="7054948" y="2393673"/>
              <a:ext cx="1356718" cy="369332"/>
            </a:xfrm>
            <a:prstGeom prst="rect">
              <a:avLst/>
            </a:prstGeom>
            <a:noFill/>
          </p:spPr>
          <p:txBody>
            <a:bodyPr wrap="none" rtlCol="0">
              <a:spAutoFit/>
            </a:bodyPr>
            <a:lstStyle/>
            <a:p>
              <a:r>
                <a:rPr lang="en-US" altLang="zh-CN" dirty="0">
                  <a:solidFill>
                    <a:schemeClr val="accent4">
                      <a:lumMod val="60000"/>
                      <a:lumOff val="40000"/>
                    </a:schemeClr>
                  </a:solidFill>
                </a:rPr>
                <a:t>Microfacet</a:t>
              </a:r>
              <a:endParaRPr lang="zh-CN" altLang="en-US" dirty="0">
                <a:solidFill>
                  <a:schemeClr val="accent4">
                    <a:lumMod val="60000"/>
                    <a:lumOff val="40000"/>
                  </a:schemeClr>
                </a:solidFill>
              </a:endParaRPr>
            </a:p>
          </p:txBody>
        </p:sp>
      </p:grpSp>
      <p:sp>
        <p:nvSpPr>
          <p:cNvPr id="72" name="任意多边形: 形状 71">
            <a:extLst>
              <a:ext uri="{FF2B5EF4-FFF2-40B4-BE49-F238E27FC236}">
                <a16:creationId xmlns:a16="http://schemas.microsoft.com/office/drawing/2014/main" id="{4B933BF6-53A4-F25F-C634-54BD67948879}"/>
              </a:ext>
            </a:extLst>
          </p:cNvPr>
          <p:cNvSpPr/>
          <p:nvPr/>
        </p:nvSpPr>
        <p:spPr>
          <a:xfrm>
            <a:off x="7107911" y="4551343"/>
            <a:ext cx="3949700" cy="1145467"/>
          </a:xfrm>
          <a:custGeom>
            <a:avLst/>
            <a:gdLst>
              <a:gd name="connsiteX0" fmla="*/ 0 w 3949700"/>
              <a:gd name="connsiteY0" fmla="*/ 927100 h 1219200"/>
              <a:gd name="connsiteX1" fmla="*/ 1441450 w 3949700"/>
              <a:gd name="connsiteY1" fmla="*/ 6350 h 1219200"/>
              <a:gd name="connsiteX2" fmla="*/ 2413000 w 3949700"/>
              <a:gd name="connsiteY2" fmla="*/ 0 h 1219200"/>
              <a:gd name="connsiteX3" fmla="*/ 1416050 w 3949700"/>
              <a:gd name="connsiteY3" fmla="*/ 711200 h 1219200"/>
              <a:gd name="connsiteX4" fmla="*/ 2946400 w 3949700"/>
              <a:gd name="connsiteY4" fmla="*/ 1219200 h 1219200"/>
              <a:gd name="connsiteX5" fmla="*/ 3816350 w 3949700"/>
              <a:gd name="connsiteY5" fmla="*/ 12700 h 1219200"/>
              <a:gd name="connsiteX6" fmla="*/ 3949700 w 3949700"/>
              <a:gd name="connsiteY6" fmla="*/ 933450 h 121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49700" h="1219200">
                <a:moveTo>
                  <a:pt x="0" y="927100"/>
                </a:moveTo>
                <a:lnTo>
                  <a:pt x="1441450" y="6350"/>
                </a:lnTo>
                <a:lnTo>
                  <a:pt x="2413000" y="0"/>
                </a:lnTo>
                <a:lnTo>
                  <a:pt x="1416050" y="711200"/>
                </a:lnTo>
                <a:lnTo>
                  <a:pt x="2946400" y="1219200"/>
                </a:lnTo>
                <a:lnTo>
                  <a:pt x="3816350" y="12700"/>
                </a:lnTo>
                <a:lnTo>
                  <a:pt x="3949700" y="933450"/>
                </a:ln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6" name="直接连接符 85">
            <a:extLst>
              <a:ext uri="{FF2B5EF4-FFF2-40B4-BE49-F238E27FC236}">
                <a16:creationId xmlns:a16="http://schemas.microsoft.com/office/drawing/2014/main" id="{1309970F-AA9A-8669-B5D4-CB9317D9F09B}"/>
              </a:ext>
            </a:extLst>
          </p:cNvPr>
          <p:cNvCxnSpPr>
            <a:cxnSpLocks/>
          </p:cNvCxnSpPr>
          <p:nvPr/>
        </p:nvCxnSpPr>
        <p:spPr>
          <a:xfrm>
            <a:off x="8746225" y="2479641"/>
            <a:ext cx="0" cy="370697"/>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C99F6E64-9D37-16C2-FF5F-AB7C4CACDAC5}"/>
              </a:ext>
            </a:extLst>
          </p:cNvPr>
          <p:cNvCxnSpPr>
            <a:cxnSpLocks/>
          </p:cNvCxnSpPr>
          <p:nvPr/>
        </p:nvCxnSpPr>
        <p:spPr>
          <a:xfrm>
            <a:off x="7698475" y="1857594"/>
            <a:ext cx="0" cy="595012"/>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61CBE586-CD11-0D64-6B80-1EDF0A6E3628}"/>
              </a:ext>
            </a:extLst>
          </p:cNvPr>
          <p:cNvCxnSpPr>
            <a:cxnSpLocks/>
          </p:cNvCxnSpPr>
          <p:nvPr/>
        </p:nvCxnSpPr>
        <p:spPr>
          <a:xfrm>
            <a:off x="9637486" y="1761326"/>
            <a:ext cx="0" cy="713616"/>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05E3BFD7-60A9-821C-ED37-B18858D19F5C}"/>
              </a:ext>
            </a:extLst>
          </p:cNvPr>
          <p:cNvCxnSpPr>
            <a:cxnSpLocks/>
          </p:cNvCxnSpPr>
          <p:nvPr/>
        </p:nvCxnSpPr>
        <p:spPr>
          <a:xfrm>
            <a:off x="10194527" y="1761326"/>
            <a:ext cx="0" cy="69128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81408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32F76-E6C1-460E-D359-DD0A828460C8}"/>
            </a:ext>
          </a:extLst>
        </p:cNvPr>
        <p:cNvGrpSpPr/>
        <p:nvPr/>
      </p:nvGrpSpPr>
      <p:grpSpPr>
        <a:xfrm>
          <a:off x="0" y="0"/>
          <a:ext cx="0" cy="0"/>
          <a:chOff x="0" y="0"/>
          <a:chExt cx="0" cy="0"/>
        </a:xfrm>
      </p:grpSpPr>
      <p:sp>
        <p:nvSpPr>
          <p:cNvPr id="59" name="矩形 58">
            <a:extLst>
              <a:ext uri="{FF2B5EF4-FFF2-40B4-BE49-F238E27FC236}">
                <a16:creationId xmlns:a16="http://schemas.microsoft.com/office/drawing/2014/main" id="{C7A52A03-7022-7FA3-C6D6-B2F8C90B03B1}"/>
              </a:ext>
            </a:extLst>
          </p:cNvPr>
          <p:cNvSpPr/>
          <p:nvPr/>
        </p:nvSpPr>
        <p:spPr>
          <a:xfrm>
            <a:off x="631111" y="1231307"/>
            <a:ext cx="5430501" cy="538674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56" name="矩形 55">
            <a:extLst>
              <a:ext uri="{FF2B5EF4-FFF2-40B4-BE49-F238E27FC236}">
                <a16:creationId xmlns:a16="http://schemas.microsoft.com/office/drawing/2014/main" id="{398CC6C2-A471-7546-7D16-33A486247097}"/>
              </a:ext>
            </a:extLst>
          </p:cNvPr>
          <p:cNvSpPr/>
          <p:nvPr/>
        </p:nvSpPr>
        <p:spPr>
          <a:xfrm>
            <a:off x="6718933" y="1656759"/>
            <a:ext cx="4994356" cy="273987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97F4DD02-19F0-7B73-EA0C-6774548D798E}"/>
              </a:ext>
            </a:extLst>
          </p:cNvPr>
          <p:cNvSpPr/>
          <p:nvPr/>
        </p:nvSpPr>
        <p:spPr>
          <a:xfrm>
            <a:off x="6585583" y="1485309"/>
            <a:ext cx="4994356" cy="273987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标题 2">
            <a:extLst>
              <a:ext uri="{FF2B5EF4-FFF2-40B4-BE49-F238E27FC236}">
                <a16:creationId xmlns:a16="http://schemas.microsoft.com/office/drawing/2014/main" id="{308AAD71-0198-002E-D58F-66F48AD8A179}"/>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法线分布函数的性质</a:t>
            </a:r>
            <a:endParaRPr lang="en-US" altLang="zh-CN"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13856D0D-D48F-5273-6526-82BF8EB89593}"/>
                  </a:ext>
                </a:extLst>
              </p:cNvPr>
              <p:cNvSpPr/>
              <p:nvPr/>
            </p:nvSpPr>
            <p:spPr>
              <a:xfrm>
                <a:off x="478711" y="1078907"/>
                <a:ext cx="5430501" cy="538674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2000" dirty="0">
                    <a:solidFill>
                      <a:schemeClr val="tx1"/>
                    </a:solidFill>
                  </a:rPr>
                  <a:t>        </a:t>
                </a:r>
                <a14:m>
                  <m:oMath xmlns:m="http://schemas.openxmlformats.org/officeDocument/2006/math">
                    <m:sSub>
                      <m:sSubPr>
                        <m:ctrlPr>
                          <a:rPr lang="en-US" altLang="zh-CN" sz="2000" b="0" i="1" smtClean="0">
                            <a:solidFill>
                              <a:schemeClr val="tx1"/>
                            </a:solidFill>
                            <a:latin typeface="Cambria Math" panose="02040503050406030204" pitchFamily="18" charset="0"/>
                          </a:rPr>
                        </m:ctrlPr>
                      </m:sSubPr>
                      <m:e>
                        <m:r>
                          <a:rPr lang="en-US" altLang="zh-CN" sz="2000" i="1" smtClean="0">
                            <a:solidFill>
                              <a:schemeClr val="tx1"/>
                            </a:solidFill>
                            <a:latin typeface="Cambria Math" panose="02040503050406030204" pitchFamily="18" charset="0"/>
                          </a:rPr>
                          <m:t>𝐴</m:t>
                        </m:r>
                      </m:e>
                      <m:sub>
                        <m:r>
                          <a:rPr lang="en-US" altLang="zh-CN" sz="2000" b="0" i="1" smtClean="0">
                            <a:solidFill>
                              <a:schemeClr val="tx1"/>
                            </a:solidFill>
                            <a:latin typeface="Cambria Math" panose="02040503050406030204" pitchFamily="18" charset="0"/>
                          </a:rPr>
                          <m:t>𝑀</m:t>
                        </m:r>
                      </m:sub>
                    </m:sSub>
                    <m:r>
                      <a:rPr lang="en-US" altLang="zh-CN" sz="2000" b="0" i="1" smtClean="0">
                        <a:solidFill>
                          <a:schemeClr val="tx1"/>
                        </a:solidFill>
                        <a:latin typeface="Cambria Math" panose="02040503050406030204" pitchFamily="18" charset="0"/>
                      </a:rPr>
                      <m:t> </m:t>
                    </m:r>
                    <m:r>
                      <a:rPr lang="en-US" altLang="zh-CN" sz="2000" i="1" dirty="0" smtClean="0">
                        <a:solidFill>
                          <a:schemeClr val="tx1"/>
                        </a:solidFill>
                        <a:latin typeface="Cambria Math" panose="02040503050406030204" pitchFamily="18" charset="0"/>
                      </a:rPr>
                      <m:t>𝐷</m:t>
                    </m:r>
                    <m:d>
                      <m:dPr>
                        <m:ctrlPr>
                          <a:rPr lang="en-US" altLang="zh-CN" sz="2000" i="1" dirty="0">
                            <a:solidFill>
                              <a:schemeClr val="tx1"/>
                            </a:solidFill>
                            <a:latin typeface="Cambria Math" panose="02040503050406030204" pitchFamily="18" charset="0"/>
                          </a:rPr>
                        </m:ctrlPr>
                      </m:dPr>
                      <m:e>
                        <m:r>
                          <a:rPr lang="en-US" altLang="zh-CN" sz="2000" b="1" i="1" dirty="0" smtClean="0">
                            <a:solidFill>
                              <a:schemeClr val="tx1"/>
                            </a:solidFill>
                            <a:latin typeface="Cambria Math" panose="02040503050406030204" pitchFamily="18" charset="0"/>
                          </a:rPr>
                          <m:t>𝒎</m:t>
                        </m:r>
                      </m:e>
                    </m:d>
                  </m:oMath>
                </a14:m>
                <a:r>
                  <a:rPr lang="zh-CN" altLang="en-US" sz="2000" dirty="0">
                    <a:solidFill>
                      <a:schemeClr val="tx1"/>
                    </a:solidFill>
                  </a:rPr>
                  <a:t>为</a:t>
                </a:r>
                <a14:m>
                  <m:oMath xmlns:m="http://schemas.openxmlformats.org/officeDocument/2006/math">
                    <m:sSub>
                      <m:sSubPr>
                        <m:ctrlPr>
                          <a:rPr lang="en-US" altLang="zh-CN" sz="2000" b="0" i="1" smtClean="0">
                            <a:solidFill>
                              <a:schemeClr val="tx1"/>
                            </a:solidFill>
                            <a:latin typeface="Cambria Math" panose="02040503050406030204" pitchFamily="18" charset="0"/>
                          </a:rPr>
                        </m:ctrlPr>
                      </m:sSubPr>
                      <m:e>
                        <m:r>
                          <a:rPr lang="en-US" altLang="zh-CN" sz="2000" b="0" i="1" smtClean="0">
                            <a:solidFill>
                              <a:schemeClr val="tx1"/>
                            </a:solidFill>
                            <a:latin typeface="Cambria Math" panose="02040503050406030204" pitchFamily="18" charset="0"/>
                          </a:rPr>
                          <m:t>𝐴</m:t>
                        </m:r>
                      </m:e>
                      <m:sub>
                        <m:r>
                          <a:rPr lang="en-US" altLang="zh-CN" sz="2000" b="0" i="1" smtClean="0">
                            <a:solidFill>
                              <a:schemeClr val="tx1"/>
                            </a:solidFill>
                            <a:latin typeface="Cambria Math" panose="02040503050406030204" pitchFamily="18" charset="0"/>
                          </a:rPr>
                          <m:t>𝑀</m:t>
                        </m:r>
                      </m:sub>
                    </m:sSub>
                  </m:oMath>
                </a14:m>
                <a:r>
                  <a:rPr lang="zh-CN" altLang="en-US" sz="2000" dirty="0">
                    <a:solidFill>
                      <a:schemeClr val="tx1"/>
                    </a:solidFill>
                  </a:rPr>
                  <a:t>上所有朝向在</a:t>
                </a:r>
                <a14:m>
                  <m:oMath xmlns:m="http://schemas.openxmlformats.org/officeDocument/2006/math">
                    <m:r>
                      <m:rPr>
                        <m:sty m:val="p"/>
                      </m:rPr>
                      <a:rPr lang="en-US" altLang="zh-CN" sz="2000" b="0" i="0" dirty="0" smtClean="0">
                        <a:solidFill>
                          <a:schemeClr val="tx1"/>
                        </a:solidFill>
                        <a:latin typeface="Cambria Math" panose="02040503050406030204" pitchFamily="18" charset="0"/>
                      </a:rPr>
                      <m:t>d</m:t>
                    </m:r>
                    <m:sSub>
                      <m:sSubPr>
                        <m:ctrlPr>
                          <a:rPr lang="en-US" altLang="zh-CN" sz="2000" i="1" dirty="0">
                            <a:solidFill>
                              <a:schemeClr val="tx1"/>
                            </a:solidFill>
                            <a:latin typeface="Cambria Math" panose="02040503050406030204" pitchFamily="18" charset="0"/>
                          </a:rPr>
                        </m:ctrlPr>
                      </m:sSubPr>
                      <m:e>
                        <m:r>
                          <a:rPr lang="zh-CN" altLang="en-US" sz="2000" i="1" dirty="0">
                            <a:solidFill>
                              <a:schemeClr val="tx1"/>
                            </a:solidFill>
                            <a:latin typeface="Cambria Math" panose="02040503050406030204" pitchFamily="18" charset="0"/>
                          </a:rPr>
                          <m:t>𝜔</m:t>
                        </m:r>
                      </m:e>
                      <m:sub>
                        <m:r>
                          <a:rPr lang="en-US" altLang="zh-CN" sz="2000" i="1" dirty="0">
                            <a:solidFill>
                              <a:schemeClr val="tx1"/>
                            </a:solidFill>
                            <a:latin typeface="Cambria Math" panose="02040503050406030204" pitchFamily="18" charset="0"/>
                          </a:rPr>
                          <m:t>𝑚</m:t>
                        </m:r>
                      </m:sub>
                    </m:sSub>
                    <m:r>
                      <a:rPr lang="zh-CN" altLang="en-US" sz="2000" i="1" dirty="0">
                        <a:solidFill>
                          <a:schemeClr val="tx1"/>
                        </a:solidFill>
                        <a:latin typeface="Cambria Math" panose="02040503050406030204" pitchFamily="18" charset="0"/>
                      </a:rPr>
                      <m:t>内</m:t>
                    </m:r>
                  </m:oMath>
                </a14:m>
                <a:r>
                  <a:rPr lang="zh-CN" altLang="en-US" sz="2000" dirty="0">
                    <a:solidFill>
                      <a:schemeClr val="tx1"/>
                    </a:solidFill>
                  </a:rPr>
                  <a:t>的微面的表面积，则它们在宏观表面</a:t>
                </a:r>
                <a:r>
                  <a:rPr lang="en-US" altLang="zh-CN" sz="2000" dirty="0">
                    <a:solidFill>
                      <a:schemeClr val="tx1"/>
                    </a:solidFill>
                  </a:rPr>
                  <a:t>(</a:t>
                </a:r>
                <a14:m>
                  <m:oMath xmlns:m="http://schemas.openxmlformats.org/officeDocument/2006/math">
                    <m:sSub>
                      <m:sSubPr>
                        <m:ctrlPr>
                          <a:rPr lang="en-US" altLang="zh-CN" sz="2000" b="0" i="1" dirty="0" smtClean="0">
                            <a:solidFill>
                              <a:schemeClr val="tx1"/>
                            </a:solidFill>
                            <a:latin typeface="Cambria Math" panose="02040503050406030204" pitchFamily="18" charset="0"/>
                          </a:rPr>
                        </m:ctrlPr>
                      </m:sSubPr>
                      <m:e>
                        <m:r>
                          <a:rPr lang="en-US" altLang="zh-CN" sz="2000" i="1" dirty="0" smtClean="0">
                            <a:solidFill>
                              <a:schemeClr val="tx1"/>
                            </a:solidFill>
                            <a:latin typeface="Cambria Math" panose="02040503050406030204" pitchFamily="18" charset="0"/>
                          </a:rPr>
                          <m:t>𝐴</m:t>
                        </m:r>
                      </m:e>
                      <m:sub>
                        <m:r>
                          <a:rPr lang="en-US" altLang="zh-CN" sz="2000" b="0" i="1" dirty="0" smtClean="0">
                            <a:solidFill>
                              <a:schemeClr val="tx1"/>
                            </a:solidFill>
                            <a:latin typeface="Cambria Math" panose="02040503050406030204" pitchFamily="18" charset="0"/>
                          </a:rPr>
                          <m:t>𝑀</m:t>
                        </m:r>
                      </m:sub>
                    </m:sSub>
                  </m:oMath>
                </a14:m>
                <a:r>
                  <a:rPr lang="en-US" altLang="zh-CN" sz="2000" dirty="0">
                    <a:solidFill>
                      <a:schemeClr val="tx1"/>
                    </a:solidFill>
                  </a:rPr>
                  <a:t>)</a:t>
                </a:r>
                <a:r>
                  <a:rPr lang="zh-CN" altLang="en-US" sz="2000" dirty="0">
                    <a:solidFill>
                      <a:schemeClr val="tx1"/>
                    </a:solidFill>
                  </a:rPr>
                  <a:t>上的投影面积为</a:t>
                </a:r>
                <a14:m>
                  <m:oMath xmlns:m="http://schemas.openxmlformats.org/officeDocument/2006/math">
                    <m:sSub>
                      <m:sSubPr>
                        <m:ctrlPr>
                          <a:rPr lang="en-US" altLang="zh-CN" sz="2000" b="0" i="1" smtClean="0">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𝐴</m:t>
                        </m:r>
                      </m:e>
                      <m:sub>
                        <m:r>
                          <a:rPr lang="en-US" altLang="zh-CN" sz="2000" b="0" i="1" smtClean="0">
                            <a:solidFill>
                              <a:schemeClr val="tx1"/>
                            </a:solidFill>
                            <a:latin typeface="Cambria Math" panose="02040503050406030204" pitchFamily="18" charset="0"/>
                          </a:rPr>
                          <m:t>𝑀</m:t>
                        </m:r>
                      </m:sub>
                    </m:sSub>
                    <m:r>
                      <a:rPr lang="en-US" altLang="zh-CN" sz="2000" b="0" i="1" smtClean="0">
                        <a:solidFill>
                          <a:schemeClr val="tx1"/>
                        </a:solidFill>
                        <a:latin typeface="Cambria Math" panose="02040503050406030204" pitchFamily="18" charset="0"/>
                      </a:rPr>
                      <m:t> </m:t>
                    </m:r>
                    <m:r>
                      <a:rPr lang="en-US" altLang="zh-CN" sz="2000" i="1" dirty="0" smtClean="0">
                        <a:solidFill>
                          <a:schemeClr val="tx1"/>
                        </a:solidFill>
                        <a:latin typeface="Cambria Math" panose="02040503050406030204" pitchFamily="18" charset="0"/>
                      </a:rPr>
                      <m:t>𝐷</m:t>
                    </m:r>
                    <m:d>
                      <m:dPr>
                        <m:ctrlPr>
                          <a:rPr lang="en-US" altLang="zh-CN" sz="2000" i="1" dirty="0">
                            <a:solidFill>
                              <a:schemeClr val="tx1"/>
                            </a:solidFill>
                            <a:latin typeface="Cambria Math" panose="02040503050406030204" pitchFamily="18" charset="0"/>
                          </a:rPr>
                        </m:ctrlPr>
                      </m:dPr>
                      <m:e>
                        <m:r>
                          <a:rPr lang="en-US" altLang="zh-CN" sz="2000" b="1" i="1" dirty="0" smtClean="0">
                            <a:solidFill>
                              <a:schemeClr val="tx1"/>
                            </a:solidFill>
                            <a:latin typeface="Cambria Math" panose="02040503050406030204" pitchFamily="18" charset="0"/>
                          </a:rPr>
                          <m:t>𝒎</m:t>
                        </m:r>
                      </m:e>
                    </m:d>
                    <m:r>
                      <a:rPr lang="en-US" altLang="zh-CN" sz="2000" b="0" i="1" dirty="0" smtClean="0">
                        <a:solidFill>
                          <a:schemeClr val="tx1"/>
                        </a:solidFill>
                        <a:latin typeface="Cambria Math" panose="02040503050406030204" pitchFamily="18" charset="0"/>
                      </a:rPr>
                      <m:t> </m:t>
                    </m:r>
                    <m:d>
                      <m:dPr>
                        <m:ctrlPr>
                          <a:rPr lang="en-US" altLang="zh-CN" sz="2000" i="1">
                            <a:solidFill>
                              <a:schemeClr val="tx1"/>
                            </a:solidFill>
                            <a:latin typeface="Cambria Math" panose="02040503050406030204" pitchFamily="18" charset="0"/>
                          </a:rPr>
                        </m:ctrlPr>
                      </m:dPr>
                      <m:e>
                        <m:r>
                          <a:rPr lang="en-US" altLang="zh-CN" sz="2000" b="1" i="1">
                            <a:solidFill>
                              <a:schemeClr val="tx1"/>
                            </a:solidFill>
                            <a:latin typeface="Cambria Math" panose="02040503050406030204" pitchFamily="18" charset="0"/>
                          </a:rPr>
                          <m:t>𝒎</m:t>
                        </m:r>
                        <m:r>
                          <a:rPr lang="en-US" altLang="zh-CN" sz="2000" i="1">
                            <a:solidFill>
                              <a:schemeClr val="tx1"/>
                            </a:solidFill>
                            <a:latin typeface="Cambria Math" panose="02040503050406030204" pitchFamily="18" charset="0"/>
                          </a:rPr>
                          <m:t>·</m:t>
                        </m:r>
                        <m:r>
                          <a:rPr lang="en-US" altLang="zh-CN" sz="2000" b="1" i="1" dirty="0">
                            <a:solidFill>
                              <a:schemeClr val="tx1"/>
                            </a:solidFill>
                            <a:latin typeface="Cambria Math" panose="02040503050406030204" pitchFamily="18" charset="0"/>
                          </a:rPr>
                          <m:t>𝒈</m:t>
                        </m:r>
                      </m:e>
                    </m:d>
                  </m:oMath>
                </a14:m>
                <a:r>
                  <a:rPr lang="zh-CN" altLang="en-US" sz="2000" dirty="0">
                    <a:solidFill>
                      <a:schemeClr val="tx1"/>
                    </a:solidFill>
                  </a:rPr>
                  <a:t> 。</a:t>
                </a:r>
                <a:endParaRPr lang="en-US" altLang="zh-CN" sz="2000" dirty="0">
                  <a:solidFill>
                    <a:schemeClr val="tx1"/>
                  </a:solidFill>
                </a:endParaRPr>
              </a:p>
              <a:p>
                <a:pPr>
                  <a:lnSpc>
                    <a:spcPct val="150000"/>
                  </a:lnSpc>
                </a:pPr>
                <a:r>
                  <a:rPr lang="zh-CN" altLang="en-US" sz="2000" dirty="0">
                    <a:solidFill>
                      <a:schemeClr val="tx1"/>
                    </a:solidFill>
                  </a:rPr>
                  <a:t>        将上式对所有的微面法线方向进行积分，会得到所有不同朝向的微面在宏观表面</a:t>
                </a:r>
                <a:r>
                  <a:rPr lang="en-US" altLang="zh-CN" sz="2000" dirty="0">
                    <a:solidFill>
                      <a:schemeClr val="tx1"/>
                    </a:solidFill>
                  </a:rPr>
                  <a:t>(</a:t>
                </a:r>
                <a14:m>
                  <m:oMath xmlns:m="http://schemas.openxmlformats.org/officeDocument/2006/math">
                    <m:sSub>
                      <m:sSubPr>
                        <m:ctrlPr>
                          <a:rPr lang="en-US" altLang="zh-CN" sz="2000" b="0" i="1" smtClean="0">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𝐴</m:t>
                        </m:r>
                      </m:e>
                      <m:sub>
                        <m:r>
                          <a:rPr lang="en-US" altLang="zh-CN" sz="2000" b="0" i="1" smtClean="0">
                            <a:solidFill>
                              <a:schemeClr val="tx1"/>
                            </a:solidFill>
                            <a:latin typeface="Cambria Math" panose="02040503050406030204" pitchFamily="18" charset="0"/>
                          </a:rPr>
                          <m:t>𝑀</m:t>
                        </m:r>
                      </m:sub>
                    </m:sSub>
                  </m:oMath>
                </a14:m>
                <a:r>
                  <a:rPr lang="en-US" altLang="zh-CN" sz="2000" dirty="0">
                    <a:solidFill>
                      <a:schemeClr val="tx1"/>
                    </a:solidFill>
                  </a:rPr>
                  <a:t>)</a:t>
                </a:r>
                <a:r>
                  <a:rPr lang="zh-CN" altLang="en-US" sz="2000" dirty="0">
                    <a:solidFill>
                      <a:schemeClr val="tx1"/>
                    </a:solidFill>
                  </a:rPr>
                  <a:t>上投影面积，应该等于</a:t>
                </a:r>
                <a14:m>
                  <m:oMath xmlns:m="http://schemas.openxmlformats.org/officeDocument/2006/math">
                    <m:sSub>
                      <m:sSubPr>
                        <m:ctrlPr>
                          <a:rPr lang="en-US" altLang="zh-CN" sz="2000" i="1">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A</m:t>
                        </m:r>
                      </m:e>
                      <m:sub>
                        <m:r>
                          <a:rPr lang="en-US" altLang="zh-CN" sz="2000" i="1">
                            <a:solidFill>
                              <a:schemeClr val="tx1"/>
                            </a:solidFill>
                            <a:latin typeface="Cambria Math" panose="02040503050406030204" pitchFamily="18" charset="0"/>
                          </a:rPr>
                          <m:t>𝑀</m:t>
                        </m:r>
                      </m:sub>
                    </m:sSub>
                  </m:oMath>
                </a14:m>
                <a:r>
                  <a:rPr lang="zh-CN" altLang="en-US" sz="2000" dirty="0">
                    <a:solidFill>
                      <a:schemeClr val="tx1"/>
                    </a:solidFill>
                  </a:rPr>
                  <a:t>。</a:t>
                </a:r>
                <a:endParaRPr lang="en-US" altLang="zh-CN" sz="20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zh-CN" altLang="en-US" sz="2000" i="1" dirty="0" smtClean="0">
                          <a:solidFill>
                            <a:schemeClr val="tx1"/>
                          </a:solidFill>
                          <a:latin typeface="Cambria Math" panose="02040503050406030204" pitchFamily="18" charset="0"/>
                        </a:rPr>
                        <m:t>即</m:t>
                      </m:r>
                      <m:r>
                        <a:rPr lang="zh-CN" altLang="en-US" sz="2000" i="1" dirty="0" smtClean="0">
                          <a:solidFill>
                            <a:schemeClr val="tx1"/>
                          </a:solidFill>
                          <a:latin typeface="Cambria Math" panose="02040503050406030204" pitchFamily="18" charset="0"/>
                        </a:rPr>
                        <m:t>：</m:t>
                      </m:r>
                      <m:nary>
                        <m:naryPr>
                          <m:ctrlPr>
                            <a:rPr lang="en-US" altLang="zh-CN" sz="2000" i="1">
                              <a:solidFill>
                                <a:schemeClr val="tx1"/>
                              </a:solidFill>
                              <a:latin typeface="Cambria Math" panose="02040503050406030204" pitchFamily="18" charset="0"/>
                            </a:rPr>
                          </m:ctrlPr>
                        </m:naryPr>
                        <m:sub>
                          <m:sSup>
                            <m:sSupPr>
                              <m:ctrlPr>
                                <a:rPr lang="en-US" altLang="zh-CN" sz="2000" i="1">
                                  <a:solidFill>
                                    <a:schemeClr val="tx1"/>
                                  </a:solidFill>
                                  <a:latin typeface="Cambria Math" panose="02040503050406030204" pitchFamily="18" charset="0"/>
                                </a:rPr>
                              </m:ctrlPr>
                            </m:sSupPr>
                            <m:e>
                              <m:r>
                                <a:rPr lang="en-US" altLang="zh-CN" sz="2000" i="1">
                                  <a:solidFill>
                                    <a:schemeClr val="tx1"/>
                                  </a:solidFill>
                                  <a:latin typeface="Cambria Math" panose="02040503050406030204" pitchFamily="18" charset="0"/>
                                </a:rPr>
                                <m:t>𝐻</m:t>
                              </m:r>
                            </m:e>
                            <m:sup>
                              <m:r>
                                <a:rPr lang="en-US" altLang="zh-CN" sz="2000" i="1">
                                  <a:solidFill>
                                    <a:schemeClr val="tx1"/>
                                  </a:solidFill>
                                  <a:latin typeface="Cambria Math" panose="02040503050406030204" pitchFamily="18" charset="0"/>
                                </a:rPr>
                                <m:t>2</m:t>
                              </m:r>
                            </m:sup>
                          </m:sSup>
                        </m:sub>
                        <m:sup>
                          <m:r>
                            <a:rPr lang="en-US" altLang="zh-CN" sz="2000" i="1">
                              <a:solidFill>
                                <a:schemeClr val="tx1"/>
                              </a:solidFill>
                              <a:latin typeface="Cambria Math" panose="02040503050406030204" pitchFamily="18" charset="0"/>
                            </a:rPr>
                            <m:t> </m:t>
                          </m:r>
                        </m:sup>
                        <m:e>
                          <m:sSub>
                            <m:sSubPr>
                              <m:ctrlPr>
                                <a:rPr lang="en-US" altLang="zh-CN" sz="2000" b="0" i="1" smtClean="0">
                                  <a:solidFill>
                                    <a:schemeClr val="tx1"/>
                                  </a:solidFill>
                                  <a:latin typeface="Cambria Math" panose="02040503050406030204" pitchFamily="18" charset="0"/>
                                </a:rPr>
                              </m:ctrlPr>
                            </m:sSubPr>
                            <m:e>
                              <m:r>
                                <m:rPr>
                                  <m:sty m:val="p"/>
                                </m:rPr>
                                <a:rPr lang="en-US" altLang="zh-CN" sz="2000" i="1">
                                  <a:solidFill>
                                    <a:schemeClr val="tx1"/>
                                  </a:solidFill>
                                  <a:latin typeface="Cambria Math" panose="02040503050406030204" pitchFamily="18" charset="0"/>
                                </a:rPr>
                                <m:t>A</m:t>
                              </m:r>
                            </m:e>
                            <m:sub>
                              <m:r>
                                <a:rPr lang="en-US" altLang="zh-CN" sz="2000" b="0" i="1" smtClean="0">
                                  <a:solidFill>
                                    <a:schemeClr val="tx1"/>
                                  </a:solidFill>
                                  <a:latin typeface="Cambria Math" panose="02040503050406030204" pitchFamily="18" charset="0"/>
                                </a:rPr>
                                <m:t>𝑀</m:t>
                              </m:r>
                            </m:sub>
                          </m:sSub>
                          <m:r>
                            <a:rPr lang="en-US" altLang="zh-CN" sz="2000" b="0" i="1" smtClean="0">
                              <a:solidFill>
                                <a:schemeClr val="tx1"/>
                              </a:solidFill>
                              <a:latin typeface="Cambria Math" panose="02040503050406030204" pitchFamily="18" charset="0"/>
                            </a:rPr>
                            <m:t> </m:t>
                          </m:r>
                          <m:r>
                            <a:rPr lang="en-US" altLang="zh-CN" sz="2000" i="1" dirty="0">
                              <a:solidFill>
                                <a:schemeClr val="tx1"/>
                              </a:solidFill>
                              <a:latin typeface="Cambria Math" panose="02040503050406030204" pitchFamily="18" charset="0"/>
                            </a:rPr>
                            <m:t>𝐷</m:t>
                          </m:r>
                          <m:d>
                            <m:dPr>
                              <m:ctrlPr>
                                <a:rPr lang="en-US" altLang="zh-CN" sz="2000" i="1" dirty="0">
                                  <a:solidFill>
                                    <a:schemeClr val="tx1"/>
                                  </a:solidFill>
                                  <a:latin typeface="Cambria Math" panose="02040503050406030204" pitchFamily="18" charset="0"/>
                                </a:rPr>
                              </m:ctrlPr>
                            </m:dPr>
                            <m:e>
                              <m:r>
                                <a:rPr lang="en-US" altLang="zh-CN" sz="2000" b="1" i="1" dirty="0">
                                  <a:solidFill>
                                    <a:schemeClr val="tx1"/>
                                  </a:solidFill>
                                  <a:latin typeface="Cambria Math" panose="02040503050406030204" pitchFamily="18" charset="0"/>
                                </a:rPr>
                                <m:t>𝒎</m:t>
                              </m:r>
                            </m:e>
                          </m:d>
                          <m:r>
                            <a:rPr lang="en-US" altLang="zh-CN" sz="2000" i="1" dirty="0">
                              <a:solidFill>
                                <a:schemeClr val="tx1"/>
                              </a:solidFill>
                              <a:latin typeface="Cambria Math" panose="02040503050406030204" pitchFamily="18" charset="0"/>
                            </a:rPr>
                            <m:t> </m:t>
                          </m:r>
                          <m:d>
                            <m:dPr>
                              <m:ctrlPr>
                                <a:rPr lang="en-US" altLang="zh-CN" sz="2000" i="1">
                                  <a:solidFill>
                                    <a:schemeClr val="tx1"/>
                                  </a:solidFill>
                                  <a:latin typeface="Cambria Math" panose="02040503050406030204" pitchFamily="18" charset="0"/>
                                </a:rPr>
                              </m:ctrlPr>
                            </m:dPr>
                            <m:e>
                              <m:r>
                                <a:rPr lang="en-US" altLang="zh-CN" sz="2000" b="1" i="1">
                                  <a:solidFill>
                                    <a:schemeClr val="tx1"/>
                                  </a:solidFill>
                                  <a:latin typeface="Cambria Math" panose="02040503050406030204" pitchFamily="18" charset="0"/>
                                </a:rPr>
                                <m:t>𝒎</m:t>
                              </m:r>
                              <m:r>
                                <a:rPr lang="en-US" altLang="zh-CN" sz="2000" i="1">
                                  <a:solidFill>
                                    <a:schemeClr val="tx1"/>
                                  </a:solidFill>
                                  <a:latin typeface="Cambria Math" panose="02040503050406030204" pitchFamily="18" charset="0"/>
                                </a:rPr>
                                <m:t>·</m:t>
                              </m:r>
                              <m:r>
                                <a:rPr lang="en-US" altLang="zh-CN" sz="2000" b="1" i="1" dirty="0">
                                  <a:solidFill>
                                    <a:schemeClr val="tx1"/>
                                  </a:solidFill>
                                  <a:latin typeface="Cambria Math" panose="02040503050406030204" pitchFamily="18" charset="0"/>
                                </a:rPr>
                                <m:t>𝒈</m:t>
                              </m:r>
                            </m:e>
                          </m:d>
                          <m:r>
                            <a:rPr lang="en-US" altLang="zh-CN" sz="2000" b="0" i="1" smtClean="0">
                              <a:solidFill>
                                <a:schemeClr val="tx1"/>
                              </a:solidFill>
                              <a:latin typeface="Cambria Math" panose="02040503050406030204" pitchFamily="18" charset="0"/>
                            </a:rPr>
                            <m:t> </m:t>
                          </m:r>
                          <m:r>
                            <a:rPr lang="en-US" altLang="zh-CN" sz="2000" i="1">
                              <a:solidFill>
                                <a:schemeClr val="tx1"/>
                              </a:solidFill>
                              <a:latin typeface="Cambria Math" panose="02040503050406030204" pitchFamily="18" charset="0"/>
                            </a:rPr>
                            <m:t>𝑑</m:t>
                          </m:r>
                          <m:sSub>
                            <m:sSubPr>
                              <m:ctrlPr>
                                <a:rPr lang="en-US" altLang="zh-CN" sz="2000" i="1">
                                  <a:solidFill>
                                    <a:schemeClr val="tx1"/>
                                  </a:solidFill>
                                  <a:latin typeface="Cambria Math" panose="02040503050406030204" pitchFamily="18" charset="0"/>
                                </a:rPr>
                              </m:ctrlPr>
                            </m:sSubPr>
                            <m:e>
                              <m:r>
                                <a:rPr lang="zh-CN" altLang="en-US" sz="2000" i="1" dirty="0">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rPr>
                                <m:t>𝑚</m:t>
                              </m:r>
                            </m:sub>
                          </m:sSub>
                        </m:e>
                      </m:nary>
                      <m:r>
                        <a:rPr lang="en-US" altLang="zh-CN" sz="2000" i="1">
                          <a:solidFill>
                            <a:schemeClr val="tx1"/>
                          </a:solidFill>
                          <a:latin typeface="Cambria Math" panose="02040503050406030204" pitchFamily="18" charset="0"/>
                        </a:rPr>
                        <m:t>=</m:t>
                      </m:r>
                      <m:sSub>
                        <m:sSubPr>
                          <m:ctrlPr>
                            <a:rPr lang="en-US" altLang="zh-CN" sz="2000" b="0" i="1" smtClean="0">
                              <a:solidFill>
                                <a:schemeClr val="tx1"/>
                              </a:solidFill>
                              <a:latin typeface="Cambria Math" panose="02040503050406030204" pitchFamily="18" charset="0"/>
                            </a:rPr>
                          </m:ctrlPr>
                        </m:sSubPr>
                        <m:e>
                          <m:r>
                            <a:rPr lang="en-US" altLang="zh-CN" sz="2000" i="1">
                              <a:solidFill>
                                <a:schemeClr val="tx1"/>
                              </a:solidFill>
                              <a:latin typeface="Cambria Math" panose="02040503050406030204" pitchFamily="18" charset="0"/>
                            </a:rPr>
                            <m:t>𝐴</m:t>
                          </m:r>
                        </m:e>
                        <m:sub>
                          <m:r>
                            <a:rPr lang="en-US" altLang="zh-CN" sz="2000" b="0" i="1" smtClean="0">
                              <a:solidFill>
                                <a:schemeClr val="tx1"/>
                              </a:solidFill>
                              <a:latin typeface="Cambria Math" panose="02040503050406030204" pitchFamily="18" charset="0"/>
                            </a:rPr>
                            <m:t>𝑀</m:t>
                          </m:r>
                        </m:sub>
                      </m:sSub>
                    </m:oMath>
                  </m:oMathPara>
                </a14:m>
                <a:endParaRPr lang="en-US" altLang="zh-CN" sz="20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zh-CN" altLang="en-US" sz="2000" i="1" dirty="0">
                          <a:solidFill>
                            <a:schemeClr val="tx1"/>
                          </a:solidFill>
                          <a:latin typeface="Cambria Math" panose="02040503050406030204" pitchFamily="18" charset="0"/>
                        </a:rPr>
                        <m:t>消去</m:t>
                      </m:r>
                      <m:sSub>
                        <m:sSubPr>
                          <m:ctrlPr>
                            <a:rPr lang="en-US" altLang="zh-CN" sz="2000" b="0" i="1" dirty="0" smtClean="0">
                              <a:solidFill>
                                <a:schemeClr val="tx1"/>
                              </a:solidFill>
                              <a:latin typeface="Cambria Math" panose="02040503050406030204" pitchFamily="18" charset="0"/>
                            </a:rPr>
                          </m:ctrlPr>
                        </m:sSubPr>
                        <m:e>
                          <m:r>
                            <a:rPr lang="en-US" altLang="zh-CN" sz="2000" b="0" i="1" dirty="0" smtClean="0">
                              <a:solidFill>
                                <a:schemeClr val="tx1"/>
                              </a:solidFill>
                              <a:latin typeface="Cambria Math" panose="02040503050406030204" pitchFamily="18" charset="0"/>
                            </a:rPr>
                            <m:t>𝐴</m:t>
                          </m:r>
                        </m:e>
                        <m:sub>
                          <m:r>
                            <a:rPr lang="en-US" altLang="zh-CN" sz="2000" b="0" i="1" dirty="0" smtClean="0">
                              <a:solidFill>
                                <a:schemeClr val="tx1"/>
                              </a:solidFill>
                              <a:latin typeface="Cambria Math" panose="02040503050406030204" pitchFamily="18" charset="0"/>
                            </a:rPr>
                            <m:t>𝑀</m:t>
                          </m:r>
                        </m:sub>
                      </m:sSub>
                      <m:r>
                        <a:rPr lang="zh-CN" altLang="en-US" sz="2000" i="1" dirty="0">
                          <a:solidFill>
                            <a:schemeClr val="tx1"/>
                          </a:solidFill>
                          <a:latin typeface="Cambria Math" panose="02040503050406030204" pitchFamily="18" charset="0"/>
                        </a:rPr>
                        <m:t>：</m:t>
                      </m:r>
                      <m:nary>
                        <m:naryPr>
                          <m:ctrlPr>
                            <a:rPr lang="en-US" altLang="zh-CN" sz="2000" i="1" smtClean="0">
                              <a:solidFill>
                                <a:schemeClr val="tx1"/>
                              </a:solidFill>
                              <a:latin typeface="Cambria Math" panose="02040503050406030204" pitchFamily="18" charset="0"/>
                            </a:rPr>
                          </m:ctrlPr>
                        </m:naryPr>
                        <m:sub>
                          <m:sSup>
                            <m:sSupPr>
                              <m:ctrlPr>
                                <a:rPr lang="en-US" altLang="zh-CN" sz="2000" i="1" smtClean="0">
                                  <a:solidFill>
                                    <a:schemeClr val="tx1"/>
                                  </a:solidFill>
                                  <a:latin typeface="Cambria Math" panose="02040503050406030204" pitchFamily="18" charset="0"/>
                                </a:rPr>
                              </m:ctrlPr>
                            </m:sSupPr>
                            <m:e>
                              <m:r>
                                <a:rPr lang="en-US" altLang="zh-CN" sz="2000" b="0" i="1" smtClean="0">
                                  <a:solidFill>
                                    <a:schemeClr val="tx1"/>
                                  </a:solidFill>
                                  <a:latin typeface="Cambria Math" panose="02040503050406030204" pitchFamily="18" charset="0"/>
                                </a:rPr>
                                <m:t>𝐻</m:t>
                              </m:r>
                            </m:e>
                            <m:sup>
                              <m:r>
                                <a:rPr lang="en-US" altLang="zh-CN" sz="2000" b="0" i="1" smtClean="0">
                                  <a:solidFill>
                                    <a:schemeClr val="tx1"/>
                                  </a:solidFill>
                                  <a:latin typeface="Cambria Math" panose="02040503050406030204" pitchFamily="18" charset="0"/>
                                </a:rPr>
                                <m:t>2</m:t>
                              </m:r>
                            </m:sup>
                          </m:sSup>
                        </m:sub>
                        <m:sup>
                          <m:r>
                            <a:rPr lang="en-US" altLang="zh-CN" sz="2000" b="0" i="1" smtClean="0">
                              <a:solidFill>
                                <a:schemeClr val="tx1"/>
                              </a:solidFill>
                              <a:latin typeface="Cambria Math" panose="02040503050406030204" pitchFamily="18" charset="0"/>
                            </a:rPr>
                            <m:t> </m:t>
                          </m:r>
                        </m:sup>
                        <m:e>
                          <m:r>
                            <a:rPr lang="en-US" altLang="zh-CN" sz="2000" i="1" dirty="0">
                              <a:solidFill>
                                <a:schemeClr val="tx1"/>
                              </a:solidFill>
                              <a:latin typeface="Cambria Math" panose="02040503050406030204" pitchFamily="18" charset="0"/>
                            </a:rPr>
                            <m:t>𝐷</m:t>
                          </m:r>
                          <m:d>
                            <m:dPr>
                              <m:ctrlPr>
                                <a:rPr lang="en-US" altLang="zh-CN" sz="2000" i="1" dirty="0">
                                  <a:solidFill>
                                    <a:schemeClr val="tx1"/>
                                  </a:solidFill>
                                  <a:latin typeface="Cambria Math" panose="02040503050406030204" pitchFamily="18" charset="0"/>
                                </a:rPr>
                              </m:ctrlPr>
                            </m:dPr>
                            <m:e>
                              <m:r>
                                <a:rPr lang="en-US" altLang="zh-CN" sz="2000" b="1" i="1" dirty="0">
                                  <a:solidFill>
                                    <a:schemeClr val="tx1"/>
                                  </a:solidFill>
                                  <a:latin typeface="Cambria Math" panose="02040503050406030204" pitchFamily="18" charset="0"/>
                                </a:rPr>
                                <m:t>𝒎</m:t>
                              </m:r>
                            </m:e>
                          </m:d>
                          <m:r>
                            <a:rPr lang="en-US" altLang="zh-CN" sz="2000" i="1" dirty="0">
                              <a:solidFill>
                                <a:schemeClr val="tx1"/>
                              </a:solidFill>
                              <a:latin typeface="Cambria Math" panose="02040503050406030204" pitchFamily="18" charset="0"/>
                            </a:rPr>
                            <m:t> </m:t>
                          </m:r>
                          <m:d>
                            <m:dPr>
                              <m:ctrlPr>
                                <a:rPr lang="en-US" altLang="zh-CN" sz="2000" i="1">
                                  <a:solidFill>
                                    <a:schemeClr val="tx1"/>
                                  </a:solidFill>
                                  <a:latin typeface="Cambria Math" panose="02040503050406030204" pitchFamily="18" charset="0"/>
                                </a:rPr>
                              </m:ctrlPr>
                            </m:dPr>
                            <m:e>
                              <m:r>
                                <a:rPr lang="en-US" altLang="zh-CN" sz="2000" b="1" i="1">
                                  <a:solidFill>
                                    <a:schemeClr val="tx1"/>
                                  </a:solidFill>
                                  <a:latin typeface="Cambria Math" panose="02040503050406030204" pitchFamily="18" charset="0"/>
                                </a:rPr>
                                <m:t>𝒎</m:t>
                              </m:r>
                              <m:r>
                                <a:rPr lang="en-US" altLang="zh-CN" sz="2000" i="1">
                                  <a:solidFill>
                                    <a:schemeClr val="tx1"/>
                                  </a:solidFill>
                                  <a:latin typeface="Cambria Math" panose="02040503050406030204" pitchFamily="18" charset="0"/>
                                </a:rPr>
                                <m:t>·</m:t>
                              </m:r>
                              <m:r>
                                <a:rPr lang="en-US" altLang="zh-CN" sz="2000" b="1" i="1" dirty="0">
                                  <a:solidFill>
                                    <a:schemeClr val="tx1"/>
                                  </a:solidFill>
                                  <a:latin typeface="Cambria Math" panose="02040503050406030204" pitchFamily="18" charset="0"/>
                                </a:rPr>
                                <m:t>𝒈</m:t>
                              </m:r>
                            </m:e>
                          </m:d>
                          <m:r>
                            <a:rPr lang="en-US" altLang="zh-CN" sz="2000" i="1">
                              <a:solidFill>
                                <a:schemeClr val="tx1"/>
                              </a:solidFill>
                              <a:latin typeface="Cambria Math" panose="02040503050406030204" pitchFamily="18" charset="0"/>
                            </a:rPr>
                            <m:t> </m:t>
                          </m:r>
                          <m:r>
                            <a:rPr lang="en-US" altLang="zh-CN" sz="2000" i="1">
                              <a:solidFill>
                                <a:schemeClr val="tx1"/>
                              </a:solidFill>
                              <a:latin typeface="Cambria Math" panose="02040503050406030204" pitchFamily="18" charset="0"/>
                            </a:rPr>
                            <m:t>𝑑</m:t>
                          </m:r>
                          <m:sSub>
                            <m:sSubPr>
                              <m:ctrlPr>
                                <a:rPr lang="en-US" altLang="zh-CN" sz="2000" i="1">
                                  <a:solidFill>
                                    <a:schemeClr val="tx1"/>
                                  </a:solidFill>
                                  <a:latin typeface="Cambria Math" panose="02040503050406030204" pitchFamily="18" charset="0"/>
                                </a:rPr>
                              </m:ctrlPr>
                            </m:sSubPr>
                            <m:e>
                              <m:r>
                                <a:rPr lang="zh-CN" altLang="en-US" sz="2000" i="1" dirty="0">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rPr>
                                <m:t>𝑚</m:t>
                              </m:r>
                            </m:sub>
                          </m:sSub>
                        </m:e>
                      </m:nary>
                      <m:r>
                        <a:rPr lang="en-US" altLang="zh-CN" sz="2000" b="0" i="1" smtClean="0">
                          <a:solidFill>
                            <a:schemeClr val="tx1"/>
                          </a:solidFill>
                          <a:latin typeface="Cambria Math" panose="02040503050406030204" pitchFamily="18" charset="0"/>
                        </a:rPr>
                        <m:t>=</m:t>
                      </m:r>
                      <m:r>
                        <a:rPr lang="en-US" altLang="zh-CN" sz="2000" b="0" i="1" smtClean="0">
                          <a:solidFill>
                            <a:schemeClr val="tx1"/>
                          </a:solidFill>
                          <a:latin typeface="Cambria Math" panose="02040503050406030204" pitchFamily="18" charset="0"/>
                        </a:rPr>
                        <m:t>1</m:t>
                      </m:r>
                    </m:oMath>
                  </m:oMathPara>
                </a14:m>
                <a:endParaRPr lang="en-US" altLang="zh-CN" sz="2000" dirty="0">
                  <a:solidFill>
                    <a:schemeClr val="tx1"/>
                  </a:solidFill>
                </a:endParaRPr>
              </a:p>
            </p:txBody>
          </p:sp>
        </mc:Choice>
        <mc:Fallback xmlns="">
          <p:sp>
            <p:nvSpPr>
              <p:cNvPr id="3" name="矩形 2">
                <a:extLst>
                  <a:ext uri="{FF2B5EF4-FFF2-40B4-BE49-F238E27FC236}">
                    <a16:creationId xmlns:a16="http://schemas.microsoft.com/office/drawing/2014/main" id="{13856D0D-D48F-5273-6526-82BF8EB89593}"/>
                  </a:ext>
                </a:extLst>
              </p:cNvPr>
              <p:cNvSpPr>
                <a:spLocks noRot="1" noChangeAspect="1" noMove="1" noResize="1" noEditPoints="1" noAdjustHandles="1" noChangeArrowheads="1" noChangeShapeType="1" noTextEdit="1"/>
              </p:cNvSpPr>
              <p:nvPr/>
            </p:nvSpPr>
            <p:spPr>
              <a:xfrm>
                <a:off x="478711" y="1078907"/>
                <a:ext cx="5430501" cy="5386745"/>
              </a:xfrm>
              <a:prstGeom prst="rect">
                <a:avLst/>
              </a:prstGeom>
              <a:blipFill>
                <a:blip r:embed="rId2"/>
                <a:stretch>
                  <a:fillRect l="-1121"/>
                </a:stretch>
              </a:blipFill>
            </p:spPr>
            <p:txBody>
              <a:bodyPr/>
              <a:lstStyle/>
              <a:p>
                <a:r>
                  <a:rPr lang="zh-CN" altLang="en-US">
                    <a:noFill/>
                  </a:rPr>
                  <a:t> </a:t>
                </a:r>
              </a:p>
            </p:txBody>
          </p:sp>
        </mc:Fallback>
      </mc:AlternateContent>
      <p:grpSp>
        <p:nvGrpSpPr>
          <p:cNvPr id="23" name="组合 22">
            <a:extLst>
              <a:ext uri="{FF2B5EF4-FFF2-40B4-BE49-F238E27FC236}">
                <a16:creationId xmlns:a16="http://schemas.microsoft.com/office/drawing/2014/main" id="{EB084F92-A66C-6C0E-26F3-1A065722A356}"/>
              </a:ext>
            </a:extLst>
          </p:cNvPr>
          <p:cNvGrpSpPr/>
          <p:nvPr/>
        </p:nvGrpSpPr>
        <p:grpSpPr>
          <a:xfrm>
            <a:off x="6689267" y="1886987"/>
            <a:ext cx="4657552" cy="1700888"/>
            <a:chOff x="7054948" y="2393673"/>
            <a:chExt cx="4657552" cy="1590605"/>
          </a:xfrm>
        </p:grpSpPr>
        <p:cxnSp>
          <p:nvCxnSpPr>
            <p:cNvPr id="5" name="直接连接符 4">
              <a:extLst>
                <a:ext uri="{FF2B5EF4-FFF2-40B4-BE49-F238E27FC236}">
                  <a16:creationId xmlns:a16="http://schemas.microsoft.com/office/drawing/2014/main" id="{97E84F8B-5CBB-6BC6-74B3-DA4A16AF69D7}"/>
                </a:ext>
              </a:extLst>
            </p:cNvPr>
            <p:cNvCxnSpPr/>
            <p:nvPr/>
          </p:nvCxnSpPr>
          <p:spPr>
            <a:xfrm>
              <a:off x="7405437" y="3429000"/>
              <a:ext cx="409060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AAC28FD-99B7-37E5-5078-D1D91C50C7B0}"/>
                    </a:ext>
                  </a:extLst>
                </p:cNvPr>
                <p:cNvSpPr txBox="1"/>
                <p:nvPr/>
              </p:nvSpPr>
              <p:spPr>
                <a:xfrm>
                  <a:off x="9488109" y="3638893"/>
                  <a:ext cx="2224391" cy="345385"/>
                </a:xfrm>
                <a:prstGeom prst="rect">
                  <a:avLst/>
                </a:prstGeom>
                <a:noFill/>
              </p:spPr>
              <p:txBody>
                <a:bodyPr wrap="none" rtlCol="0">
                  <a:spAutoFit/>
                </a:bodyPr>
                <a:lstStyle/>
                <a:p>
                  <a:r>
                    <a:rPr lang="en-US" altLang="zh-CN" dirty="0"/>
                    <a:t>Macro Surface  </a:t>
                  </a:r>
                  <a14:m>
                    <m:oMath xmlns:m="http://schemas.openxmlformats.org/officeDocument/2006/math">
                      <m:sSub>
                        <m:sSubPr>
                          <m:ctrlPr>
                            <a:rPr lang="en-US" altLang="zh-CN" sz="1800" b="0" i="1" dirty="0" smtClean="0">
                              <a:solidFill>
                                <a:schemeClr val="tx1"/>
                              </a:solidFill>
                              <a:latin typeface="Cambria Math" panose="02040503050406030204" pitchFamily="18" charset="0"/>
                            </a:rPr>
                          </m:ctrlPr>
                        </m:sSubPr>
                        <m:e>
                          <m:r>
                            <a:rPr lang="en-US" altLang="zh-CN" sz="1800" b="0" i="1" dirty="0" smtClean="0">
                              <a:solidFill>
                                <a:schemeClr val="tx1"/>
                              </a:solidFill>
                              <a:latin typeface="Cambria Math" panose="02040503050406030204" pitchFamily="18" charset="0"/>
                            </a:rPr>
                            <m:t>𝐴</m:t>
                          </m:r>
                        </m:e>
                        <m:sub>
                          <m:r>
                            <a:rPr lang="en-US" altLang="zh-CN" sz="1800" b="0" i="1" dirty="0" smtClean="0">
                              <a:solidFill>
                                <a:schemeClr val="tx1"/>
                              </a:solidFill>
                              <a:latin typeface="Cambria Math" panose="02040503050406030204" pitchFamily="18" charset="0"/>
                            </a:rPr>
                            <m:t>𝑀</m:t>
                          </m:r>
                        </m:sub>
                      </m:sSub>
                    </m:oMath>
                  </a14:m>
                  <a:endParaRPr lang="zh-CN" altLang="en-US" dirty="0"/>
                </a:p>
              </p:txBody>
            </p:sp>
          </mc:Choice>
          <mc:Fallback xmlns="">
            <p:sp>
              <p:nvSpPr>
                <p:cNvPr id="9" name="文本框 8">
                  <a:extLst>
                    <a:ext uri="{FF2B5EF4-FFF2-40B4-BE49-F238E27FC236}">
                      <a16:creationId xmlns:a16="http://schemas.microsoft.com/office/drawing/2014/main" id="{DAAC28FD-99B7-37E5-5078-D1D91C50C7B0}"/>
                    </a:ext>
                  </a:extLst>
                </p:cNvPr>
                <p:cNvSpPr txBox="1">
                  <a:spLocks noRot="1" noChangeAspect="1" noMove="1" noResize="1" noEditPoints="1" noAdjustHandles="1" noChangeArrowheads="1" noChangeShapeType="1" noTextEdit="1"/>
                </p:cNvSpPr>
                <p:nvPr/>
              </p:nvSpPr>
              <p:spPr>
                <a:xfrm>
                  <a:off x="9488109" y="3638893"/>
                  <a:ext cx="2224391" cy="345385"/>
                </a:xfrm>
                <a:prstGeom prst="rect">
                  <a:avLst/>
                </a:prstGeom>
                <a:blipFill>
                  <a:blip r:embed="rId3"/>
                  <a:stretch>
                    <a:fillRect l="-2192" t="-9836" b="-24590"/>
                  </a:stretch>
                </a:blipFill>
              </p:spPr>
              <p:txBody>
                <a:bodyPr/>
                <a:lstStyle/>
                <a:p>
                  <a:r>
                    <a:rPr lang="zh-CN" altLang="en-US">
                      <a:noFill/>
                    </a:rPr>
                    <a:t> </a:t>
                  </a:r>
                </a:p>
              </p:txBody>
            </p:sp>
          </mc:Fallback>
        </mc:AlternateContent>
        <p:sp>
          <p:nvSpPr>
            <p:cNvPr id="21" name="任意多边形: 形状 20">
              <a:extLst>
                <a:ext uri="{FF2B5EF4-FFF2-40B4-BE49-F238E27FC236}">
                  <a16:creationId xmlns:a16="http://schemas.microsoft.com/office/drawing/2014/main" id="{3C59FD01-2F48-A130-A89F-E897095F38D6}"/>
                </a:ext>
              </a:extLst>
            </p:cNvPr>
            <p:cNvSpPr/>
            <p:nvPr/>
          </p:nvSpPr>
          <p:spPr>
            <a:xfrm>
              <a:off x="7382934" y="2645834"/>
              <a:ext cx="4212166" cy="1206500"/>
            </a:xfrm>
            <a:custGeom>
              <a:avLst/>
              <a:gdLst>
                <a:gd name="connsiteX0" fmla="*/ 0 w 4212166"/>
                <a:gd name="connsiteY0" fmla="*/ 766233 h 1206500"/>
                <a:gd name="connsiteX1" fmla="*/ 342900 w 4212166"/>
                <a:gd name="connsiteY1" fmla="*/ 347133 h 1206500"/>
                <a:gd name="connsiteX2" fmla="*/ 579966 w 4212166"/>
                <a:gd name="connsiteY2" fmla="*/ 156633 h 1206500"/>
                <a:gd name="connsiteX3" fmla="*/ 766233 w 4212166"/>
                <a:gd name="connsiteY3" fmla="*/ 105833 h 1206500"/>
                <a:gd name="connsiteX4" fmla="*/ 833966 w 4212166"/>
                <a:gd name="connsiteY4" fmla="*/ 232833 h 1206500"/>
                <a:gd name="connsiteX5" fmla="*/ 859366 w 4212166"/>
                <a:gd name="connsiteY5" fmla="*/ 508000 h 1206500"/>
                <a:gd name="connsiteX6" fmla="*/ 880533 w 4212166"/>
                <a:gd name="connsiteY6" fmla="*/ 791633 h 1206500"/>
                <a:gd name="connsiteX7" fmla="*/ 910166 w 4212166"/>
                <a:gd name="connsiteY7" fmla="*/ 948266 h 1206500"/>
                <a:gd name="connsiteX8" fmla="*/ 994833 w 4212166"/>
                <a:gd name="connsiteY8" fmla="*/ 1037166 h 1206500"/>
                <a:gd name="connsiteX9" fmla="*/ 1299633 w 4212166"/>
                <a:gd name="connsiteY9" fmla="*/ 1176866 h 1206500"/>
                <a:gd name="connsiteX10" fmla="*/ 1756833 w 4212166"/>
                <a:gd name="connsiteY10" fmla="*/ 1206500 h 1206500"/>
                <a:gd name="connsiteX11" fmla="*/ 1943100 w 4212166"/>
                <a:gd name="connsiteY11" fmla="*/ 1138766 h 1206500"/>
                <a:gd name="connsiteX12" fmla="*/ 1930400 w 4212166"/>
                <a:gd name="connsiteY12" fmla="*/ 897466 h 1206500"/>
                <a:gd name="connsiteX13" fmla="*/ 1849966 w 4212166"/>
                <a:gd name="connsiteY13" fmla="*/ 588433 h 1206500"/>
                <a:gd name="connsiteX14" fmla="*/ 1905000 w 4212166"/>
                <a:gd name="connsiteY14" fmla="*/ 317500 h 1206500"/>
                <a:gd name="connsiteX15" fmla="*/ 2103966 w 4212166"/>
                <a:gd name="connsiteY15" fmla="*/ 152400 h 1206500"/>
                <a:gd name="connsiteX16" fmla="*/ 2501900 w 4212166"/>
                <a:gd name="connsiteY16" fmla="*/ 42333 h 1206500"/>
                <a:gd name="connsiteX17" fmla="*/ 2963333 w 4212166"/>
                <a:gd name="connsiteY17" fmla="*/ 0 h 1206500"/>
                <a:gd name="connsiteX18" fmla="*/ 3386666 w 4212166"/>
                <a:gd name="connsiteY18" fmla="*/ 71966 h 1206500"/>
                <a:gd name="connsiteX19" fmla="*/ 3479800 w 4212166"/>
                <a:gd name="connsiteY19" fmla="*/ 296333 h 1206500"/>
                <a:gd name="connsiteX20" fmla="*/ 3568700 w 4212166"/>
                <a:gd name="connsiteY20" fmla="*/ 630766 h 1206500"/>
                <a:gd name="connsiteX21" fmla="*/ 3661833 w 4212166"/>
                <a:gd name="connsiteY21" fmla="*/ 876300 h 1206500"/>
                <a:gd name="connsiteX22" fmla="*/ 3738033 w 4212166"/>
                <a:gd name="connsiteY22" fmla="*/ 960966 h 1206500"/>
                <a:gd name="connsiteX23" fmla="*/ 3949700 w 4212166"/>
                <a:gd name="connsiteY23" fmla="*/ 867833 h 1206500"/>
                <a:gd name="connsiteX24" fmla="*/ 4212166 w 4212166"/>
                <a:gd name="connsiteY24" fmla="*/ 546100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12166" h="1206500">
                  <a:moveTo>
                    <a:pt x="0" y="766233"/>
                  </a:moveTo>
                  <a:lnTo>
                    <a:pt x="342900" y="347133"/>
                  </a:lnTo>
                  <a:lnTo>
                    <a:pt x="579966" y="156633"/>
                  </a:lnTo>
                  <a:lnTo>
                    <a:pt x="766233" y="105833"/>
                  </a:lnTo>
                  <a:lnTo>
                    <a:pt x="833966" y="232833"/>
                  </a:lnTo>
                  <a:lnTo>
                    <a:pt x="859366" y="508000"/>
                  </a:lnTo>
                  <a:lnTo>
                    <a:pt x="880533" y="791633"/>
                  </a:lnTo>
                  <a:lnTo>
                    <a:pt x="910166" y="948266"/>
                  </a:lnTo>
                  <a:lnTo>
                    <a:pt x="994833" y="1037166"/>
                  </a:lnTo>
                  <a:lnTo>
                    <a:pt x="1299633" y="1176866"/>
                  </a:lnTo>
                  <a:lnTo>
                    <a:pt x="1756833" y="1206500"/>
                  </a:lnTo>
                  <a:lnTo>
                    <a:pt x="1943100" y="1138766"/>
                  </a:lnTo>
                  <a:lnTo>
                    <a:pt x="1930400" y="897466"/>
                  </a:lnTo>
                  <a:lnTo>
                    <a:pt x="1849966" y="588433"/>
                  </a:lnTo>
                  <a:lnTo>
                    <a:pt x="1905000" y="317500"/>
                  </a:lnTo>
                  <a:lnTo>
                    <a:pt x="2103966" y="152400"/>
                  </a:lnTo>
                  <a:lnTo>
                    <a:pt x="2501900" y="42333"/>
                  </a:lnTo>
                  <a:lnTo>
                    <a:pt x="2963333" y="0"/>
                  </a:lnTo>
                  <a:lnTo>
                    <a:pt x="3386666" y="71966"/>
                  </a:lnTo>
                  <a:lnTo>
                    <a:pt x="3479800" y="296333"/>
                  </a:lnTo>
                  <a:lnTo>
                    <a:pt x="3568700" y="630766"/>
                  </a:lnTo>
                  <a:lnTo>
                    <a:pt x="3661833" y="876300"/>
                  </a:lnTo>
                  <a:lnTo>
                    <a:pt x="3738033" y="960966"/>
                  </a:lnTo>
                  <a:lnTo>
                    <a:pt x="3949700" y="867833"/>
                  </a:lnTo>
                  <a:lnTo>
                    <a:pt x="4212166" y="546100"/>
                  </a:ln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3FECC17E-D8F1-CDB7-B8C5-75627D460237}"/>
                </a:ext>
              </a:extLst>
            </p:cNvPr>
            <p:cNvSpPr txBox="1"/>
            <p:nvPr/>
          </p:nvSpPr>
          <p:spPr>
            <a:xfrm>
              <a:off x="7054948" y="2393673"/>
              <a:ext cx="1356718" cy="369332"/>
            </a:xfrm>
            <a:prstGeom prst="rect">
              <a:avLst/>
            </a:prstGeom>
            <a:noFill/>
          </p:spPr>
          <p:txBody>
            <a:bodyPr wrap="none" rtlCol="0">
              <a:spAutoFit/>
            </a:bodyPr>
            <a:lstStyle/>
            <a:p>
              <a:r>
                <a:rPr lang="en-US" altLang="zh-CN" dirty="0">
                  <a:solidFill>
                    <a:schemeClr val="accent4">
                      <a:lumMod val="60000"/>
                      <a:lumOff val="40000"/>
                    </a:schemeClr>
                  </a:solidFill>
                </a:rPr>
                <a:t>Microfacet</a:t>
              </a:r>
              <a:endParaRPr lang="zh-CN" altLang="en-US" dirty="0">
                <a:solidFill>
                  <a:schemeClr val="accent4">
                    <a:lumMod val="60000"/>
                    <a:lumOff val="40000"/>
                  </a:schemeClr>
                </a:solidFill>
              </a:endParaRPr>
            </a:p>
          </p:txBody>
        </p:sp>
      </p:grpSp>
      <p:cxnSp>
        <p:nvCxnSpPr>
          <p:cNvPr id="4" name="直接连接符 3">
            <a:extLst>
              <a:ext uri="{FF2B5EF4-FFF2-40B4-BE49-F238E27FC236}">
                <a16:creationId xmlns:a16="http://schemas.microsoft.com/office/drawing/2014/main" id="{7D28FCBF-448B-E07E-10B7-1BFC9BCB14B3}"/>
              </a:ext>
            </a:extLst>
          </p:cNvPr>
          <p:cNvCxnSpPr>
            <a:cxnSpLocks/>
          </p:cNvCxnSpPr>
          <p:nvPr/>
        </p:nvCxnSpPr>
        <p:spPr>
          <a:xfrm>
            <a:off x="7260695" y="2683604"/>
            <a:ext cx="0" cy="288018"/>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1D27624A-FB92-4EA6-9A5B-708E21ED67EA}"/>
              </a:ext>
            </a:extLst>
          </p:cNvPr>
          <p:cNvCxnSpPr>
            <a:cxnSpLocks/>
          </p:cNvCxnSpPr>
          <p:nvPr/>
        </p:nvCxnSpPr>
        <p:spPr>
          <a:xfrm>
            <a:off x="7476225" y="2411260"/>
            <a:ext cx="0" cy="58620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86474833-3E93-818A-7BF4-6D11374386DC}"/>
              </a:ext>
            </a:extLst>
          </p:cNvPr>
          <p:cNvCxnSpPr>
            <a:cxnSpLocks/>
          </p:cNvCxnSpPr>
          <p:nvPr/>
        </p:nvCxnSpPr>
        <p:spPr>
          <a:xfrm>
            <a:off x="8111225" y="3001766"/>
            <a:ext cx="0" cy="32268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81DC2AC6-E5A7-E645-397D-E41898F613DC}"/>
              </a:ext>
            </a:extLst>
          </p:cNvPr>
          <p:cNvCxnSpPr>
            <a:cxnSpLocks/>
          </p:cNvCxnSpPr>
          <p:nvPr/>
        </p:nvCxnSpPr>
        <p:spPr>
          <a:xfrm>
            <a:off x="8333562" y="3006809"/>
            <a:ext cx="0" cy="421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D2D17C48-6434-7A72-C1C7-41307B8253FB}"/>
              </a:ext>
            </a:extLst>
          </p:cNvPr>
          <p:cNvCxnSpPr>
            <a:cxnSpLocks/>
          </p:cNvCxnSpPr>
          <p:nvPr/>
        </p:nvCxnSpPr>
        <p:spPr>
          <a:xfrm>
            <a:off x="8549288" y="3013910"/>
            <a:ext cx="0" cy="421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83C2BDD4-C4E5-983E-1860-54027A4F63FA}"/>
              </a:ext>
            </a:extLst>
          </p:cNvPr>
          <p:cNvCxnSpPr>
            <a:cxnSpLocks/>
          </p:cNvCxnSpPr>
          <p:nvPr/>
        </p:nvCxnSpPr>
        <p:spPr>
          <a:xfrm>
            <a:off x="9082761" y="2343871"/>
            <a:ext cx="0" cy="641745"/>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69AAF1F0-993B-F289-B653-CD07FA6F431B}"/>
              </a:ext>
            </a:extLst>
          </p:cNvPr>
          <p:cNvCxnSpPr>
            <a:cxnSpLocks/>
          </p:cNvCxnSpPr>
          <p:nvPr/>
        </p:nvCxnSpPr>
        <p:spPr>
          <a:xfrm>
            <a:off x="9351736" y="2239467"/>
            <a:ext cx="0" cy="76057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418E6D6A-BA50-7EE9-C6A9-914200D5EEB3}"/>
              </a:ext>
            </a:extLst>
          </p:cNvPr>
          <p:cNvCxnSpPr>
            <a:cxnSpLocks/>
          </p:cNvCxnSpPr>
          <p:nvPr/>
        </p:nvCxnSpPr>
        <p:spPr>
          <a:xfrm>
            <a:off x="9931327" y="2157173"/>
            <a:ext cx="4082" cy="846553"/>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B762EA4C-0CFD-F457-876C-E864A53670E4}"/>
              </a:ext>
            </a:extLst>
          </p:cNvPr>
          <p:cNvCxnSpPr>
            <a:cxnSpLocks/>
          </p:cNvCxnSpPr>
          <p:nvPr/>
        </p:nvCxnSpPr>
        <p:spPr>
          <a:xfrm>
            <a:off x="10429477" y="2289594"/>
            <a:ext cx="0" cy="712172"/>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DA71B31-606B-E147-39BF-EFF0E9B30AE9}"/>
              </a:ext>
            </a:extLst>
          </p:cNvPr>
          <p:cNvCxnSpPr>
            <a:cxnSpLocks/>
          </p:cNvCxnSpPr>
          <p:nvPr/>
        </p:nvCxnSpPr>
        <p:spPr>
          <a:xfrm flipH="1">
            <a:off x="10794635" y="2985616"/>
            <a:ext cx="4166" cy="177667"/>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AD16D5B3-8C2D-CF0B-0723-21CDD6735B67}"/>
              </a:ext>
            </a:extLst>
          </p:cNvPr>
          <p:cNvCxnSpPr>
            <a:cxnSpLocks/>
          </p:cNvCxnSpPr>
          <p:nvPr/>
        </p:nvCxnSpPr>
        <p:spPr>
          <a:xfrm>
            <a:off x="8739962" y="3013910"/>
            <a:ext cx="0" cy="421915"/>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7C9F719D-C5E2-5E68-C18E-6C17F20EC94B}"/>
              </a:ext>
            </a:extLst>
          </p:cNvPr>
          <p:cNvCxnSpPr>
            <a:cxnSpLocks/>
          </p:cNvCxnSpPr>
          <p:nvPr/>
        </p:nvCxnSpPr>
        <p:spPr>
          <a:xfrm>
            <a:off x="7698475" y="2297964"/>
            <a:ext cx="0" cy="677223"/>
          </a:xfrm>
          <a:prstGeom prst="line">
            <a:avLst/>
          </a:prstGeom>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0C7B0093-0B12-E5C3-B944-B9DF46C42351}"/>
              </a:ext>
            </a:extLst>
          </p:cNvPr>
          <p:cNvCxnSpPr>
            <a:cxnSpLocks/>
          </p:cNvCxnSpPr>
          <p:nvPr/>
        </p:nvCxnSpPr>
        <p:spPr>
          <a:xfrm>
            <a:off x="9637486" y="2201696"/>
            <a:ext cx="0" cy="812214"/>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70A159CE-4A1D-0A21-E091-5CF573BBFEF8}"/>
              </a:ext>
            </a:extLst>
          </p:cNvPr>
          <p:cNvCxnSpPr>
            <a:cxnSpLocks/>
          </p:cNvCxnSpPr>
          <p:nvPr/>
        </p:nvCxnSpPr>
        <p:spPr>
          <a:xfrm>
            <a:off x="10194527" y="2201696"/>
            <a:ext cx="0" cy="78679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8211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62068-F099-5032-B73A-A19E2C8CA73B}"/>
            </a:ext>
          </a:extLst>
        </p:cNvPr>
        <p:cNvGrpSpPr/>
        <p:nvPr/>
      </p:nvGrpSpPr>
      <p:grpSpPr>
        <a:xfrm>
          <a:off x="0" y="0"/>
          <a:ext cx="0" cy="0"/>
          <a:chOff x="0" y="0"/>
          <a:chExt cx="0" cy="0"/>
        </a:xfrm>
      </p:grpSpPr>
      <p:sp>
        <p:nvSpPr>
          <p:cNvPr id="59" name="矩形 58">
            <a:extLst>
              <a:ext uri="{FF2B5EF4-FFF2-40B4-BE49-F238E27FC236}">
                <a16:creationId xmlns:a16="http://schemas.microsoft.com/office/drawing/2014/main" id="{35DCCC03-2E40-3E57-E92F-DE66B568CE51}"/>
              </a:ext>
            </a:extLst>
          </p:cNvPr>
          <p:cNvSpPr/>
          <p:nvPr/>
        </p:nvSpPr>
        <p:spPr>
          <a:xfrm>
            <a:off x="631111" y="1231307"/>
            <a:ext cx="5430501" cy="538674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13" name="标题 2">
            <a:extLst>
              <a:ext uri="{FF2B5EF4-FFF2-40B4-BE49-F238E27FC236}">
                <a16:creationId xmlns:a16="http://schemas.microsoft.com/office/drawing/2014/main" id="{FAACA4E2-FD6B-35F6-F00E-FEF9DA891192}"/>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法线分布函数的性质</a:t>
            </a:r>
            <a:endParaRPr lang="en-US" altLang="zh-CN"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B049845-1FA1-3611-81AE-576A42E5E7D3}"/>
                  </a:ext>
                </a:extLst>
              </p:cNvPr>
              <p:cNvSpPr/>
              <p:nvPr/>
            </p:nvSpPr>
            <p:spPr>
              <a:xfrm>
                <a:off x="478711" y="1078907"/>
                <a:ext cx="5430501" cy="538674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2000" dirty="0">
                    <a:solidFill>
                      <a:schemeClr val="tx1"/>
                    </a:solidFill>
                  </a:rPr>
                  <a:t>        整理一下上述的内容，</a:t>
                </a:r>
                <a14:m>
                  <m:oMath xmlns:m="http://schemas.openxmlformats.org/officeDocument/2006/math">
                    <m:r>
                      <a:rPr lang="en-US" altLang="zh-CN" sz="2000" i="1" dirty="0" smtClean="0">
                        <a:solidFill>
                          <a:schemeClr val="tx1"/>
                        </a:solidFill>
                        <a:latin typeface="Cambria Math" panose="02040503050406030204" pitchFamily="18" charset="0"/>
                      </a:rPr>
                      <m:t>𝐷</m:t>
                    </m:r>
                    <m:d>
                      <m:dPr>
                        <m:ctrlPr>
                          <a:rPr lang="en-US" altLang="zh-CN" sz="2000" i="1" dirty="0">
                            <a:solidFill>
                              <a:schemeClr val="tx1"/>
                            </a:solidFill>
                            <a:latin typeface="Cambria Math" panose="02040503050406030204" pitchFamily="18" charset="0"/>
                          </a:rPr>
                        </m:ctrlPr>
                      </m:dPr>
                      <m:e>
                        <m:r>
                          <a:rPr lang="en-US" altLang="zh-CN" sz="2000" b="1" i="1" dirty="0" smtClean="0">
                            <a:solidFill>
                              <a:schemeClr val="tx1"/>
                            </a:solidFill>
                            <a:latin typeface="Cambria Math" panose="02040503050406030204" pitchFamily="18" charset="0"/>
                          </a:rPr>
                          <m:t>𝒎</m:t>
                        </m:r>
                      </m:e>
                    </m:d>
                  </m:oMath>
                </a14:m>
                <a:r>
                  <a:rPr lang="zh-CN" altLang="en-US" sz="2000" dirty="0">
                    <a:solidFill>
                      <a:schemeClr val="tx1"/>
                    </a:solidFill>
                  </a:rPr>
                  <a:t>就是微表面的法线分布函数，并且满足以下性质：</a:t>
                </a:r>
                <a:endParaRPr lang="en-US" altLang="zh-CN" sz="2000" i="1" dirty="0">
                  <a:solidFill>
                    <a:schemeClr val="tx1"/>
                  </a:solidFill>
                  <a:latin typeface="Cambria Math" panose="02040503050406030204" pitchFamily="18" charset="0"/>
                </a:endParaRPr>
              </a:p>
              <a:p>
                <a:pPr>
                  <a:lnSpc>
                    <a:spcPct val="200000"/>
                  </a:lnSpc>
                </a:pPr>
                <a14:m>
                  <m:oMathPara xmlns:m="http://schemas.openxmlformats.org/officeDocument/2006/math">
                    <m:oMathParaPr>
                      <m:jc m:val="centerGroup"/>
                    </m:oMathParaPr>
                    <m:oMath xmlns:m="http://schemas.openxmlformats.org/officeDocument/2006/math">
                      <m:r>
                        <m:rPr>
                          <m:sty m:val="p"/>
                        </m:rPr>
                        <a:rPr lang="en-US" altLang="zh-CN" sz="2000" i="1" dirty="0" smtClean="0">
                          <a:solidFill>
                            <a:schemeClr val="tx1"/>
                          </a:solidFill>
                          <a:latin typeface="Cambria Math" panose="02040503050406030204" pitchFamily="18" charset="0"/>
                        </a:rPr>
                        <m:t>D</m:t>
                      </m:r>
                      <m:d>
                        <m:dPr>
                          <m:ctrlPr>
                            <a:rPr lang="en-US" altLang="zh-CN" sz="2000" i="1" dirty="0">
                              <a:solidFill>
                                <a:schemeClr val="tx1"/>
                              </a:solidFill>
                              <a:latin typeface="Cambria Math" panose="02040503050406030204" pitchFamily="18" charset="0"/>
                            </a:rPr>
                          </m:ctrlPr>
                        </m:dPr>
                        <m:e>
                          <m:r>
                            <a:rPr lang="en-US" altLang="zh-CN" sz="2000" b="1" i="1" dirty="0">
                              <a:solidFill>
                                <a:schemeClr val="tx1"/>
                              </a:solidFill>
                              <a:latin typeface="Cambria Math" panose="02040503050406030204" pitchFamily="18" charset="0"/>
                            </a:rPr>
                            <m:t>𝒎</m:t>
                          </m:r>
                        </m:e>
                      </m:d>
                      <m:r>
                        <a:rPr lang="en-US" altLang="zh-CN" sz="2000" b="0" i="1" dirty="0" smtClean="0">
                          <a:solidFill>
                            <a:schemeClr val="tx1"/>
                          </a:solidFill>
                          <a:latin typeface="Cambria Math" panose="02040503050406030204" pitchFamily="18" charset="0"/>
                        </a:rPr>
                        <m:t>≥0</m:t>
                      </m:r>
                    </m:oMath>
                  </m:oMathPara>
                </a14:m>
                <a:endParaRPr lang="en-US" altLang="zh-CN" sz="200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nary>
                        <m:naryPr>
                          <m:ctrlPr>
                            <a:rPr lang="en-US" altLang="zh-CN" sz="2000" i="1">
                              <a:solidFill>
                                <a:schemeClr val="tx1"/>
                              </a:solidFill>
                              <a:latin typeface="Cambria Math" panose="02040503050406030204" pitchFamily="18" charset="0"/>
                            </a:rPr>
                          </m:ctrlPr>
                        </m:naryPr>
                        <m:sub>
                          <m:sSup>
                            <m:sSupPr>
                              <m:ctrlPr>
                                <a:rPr lang="en-US" altLang="zh-CN" sz="2000" i="1">
                                  <a:solidFill>
                                    <a:schemeClr val="tx1"/>
                                  </a:solidFill>
                                  <a:latin typeface="Cambria Math" panose="02040503050406030204" pitchFamily="18" charset="0"/>
                                </a:rPr>
                              </m:ctrlPr>
                            </m:sSupPr>
                            <m:e>
                              <m:r>
                                <a:rPr lang="en-US" altLang="zh-CN" sz="2000" i="1">
                                  <a:solidFill>
                                    <a:schemeClr val="tx1"/>
                                  </a:solidFill>
                                  <a:latin typeface="Cambria Math" panose="02040503050406030204" pitchFamily="18" charset="0"/>
                                </a:rPr>
                                <m:t>𝐻</m:t>
                              </m:r>
                            </m:e>
                            <m:sup>
                              <m:r>
                                <a:rPr lang="en-US" altLang="zh-CN" sz="2000" i="1">
                                  <a:solidFill>
                                    <a:schemeClr val="tx1"/>
                                  </a:solidFill>
                                  <a:latin typeface="Cambria Math" panose="02040503050406030204" pitchFamily="18" charset="0"/>
                                </a:rPr>
                                <m:t>2</m:t>
                              </m:r>
                            </m:sup>
                          </m:sSup>
                        </m:sub>
                        <m:sup>
                          <m:r>
                            <a:rPr lang="en-US" altLang="zh-CN" sz="2000" i="1">
                              <a:solidFill>
                                <a:schemeClr val="tx1"/>
                              </a:solidFill>
                              <a:latin typeface="Cambria Math" panose="02040503050406030204" pitchFamily="18" charset="0"/>
                            </a:rPr>
                            <m:t> </m:t>
                          </m:r>
                        </m:sup>
                        <m:e>
                          <m:r>
                            <m:rPr>
                              <m:sty m:val="p"/>
                            </m:rPr>
                            <a:rPr lang="en-US" altLang="zh-CN" sz="2000" i="1" dirty="0">
                              <a:solidFill>
                                <a:schemeClr val="tx1"/>
                              </a:solidFill>
                              <a:latin typeface="Cambria Math" panose="02040503050406030204" pitchFamily="18" charset="0"/>
                            </a:rPr>
                            <m:t>D</m:t>
                          </m:r>
                          <m:d>
                            <m:dPr>
                              <m:ctrlPr>
                                <a:rPr lang="en-US" altLang="zh-CN" sz="2000" i="1" dirty="0">
                                  <a:solidFill>
                                    <a:schemeClr val="tx1"/>
                                  </a:solidFill>
                                  <a:latin typeface="Cambria Math" panose="02040503050406030204" pitchFamily="18" charset="0"/>
                                </a:rPr>
                              </m:ctrlPr>
                            </m:dPr>
                            <m:e>
                              <m:r>
                                <a:rPr lang="en-US" altLang="zh-CN" sz="2000" b="1" i="1" dirty="0">
                                  <a:solidFill>
                                    <a:schemeClr val="tx1"/>
                                  </a:solidFill>
                                  <a:latin typeface="Cambria Math" panose="02040503050406030204" pitchFamily="18" charset="0"/>
                                </a:rPr>
                                <m:t>𝒎</m:t>
                              </m:r>
                            </m:e>
                          </m:d>
                          <m:r>
                            <a:rPr lang="en-US" altLang="zh-CN" sz="2000" b="0" i="1" dirty="0" smtClean="0">
                              <a:solidFill>
                                <a:schemeClr val="tx1"/>
                              </a:solidFill>
                              <a:latin typeface="Cambria Math" panose="02040503050406030204" pitchFamily="18" charset="0"/>
                            </a:rPr>
                            <m:t> </m:t>
                          </m:r>
                          <m:r>
                            <a:rPr lang="en-US" altLang="zh-CN" sz="2000" i="1">
                              <a:solidFill>
                                <a:schemeClr val="tx1"/>
                              </a:solidFill>
                              <a:latin typeface="Cambria Math" panose="02040503050406030204" pitchFamily="18" charset="0"/>
                            </a:rPr>
                            <m:t>𝑑</m:t>
                          </m:r>
                          <m:sSub>
                            <m:sSubPr>
                              <m:ctrlPr>
                                <a:rPr lang="en-US" altLang="zh-CN" sz="2000" i="1">
                                  <a:solidFill>
                                    <a:schemeClr val="tx1"/>
                                  </a:solidFill>
                                  <a:latin typeface="Cambria Math" panose="02040503050406030204" pitchFamily="18" charset="0"/>
                                </a:rPr>
                              </m:ctrlPr>
                            </m:sSubPr>
                            <m:e>
                              <m:r>
                                <a:rPr lang="zh-CN" altLang="en-US" sz="2000" i="1" dirty="0">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rPr>
                                <m:t>𝑚</m:t>
                              </m:r>
                            </m:sub>
                          </m:sSub>
                        </m:e>
                      </m:nary>
                      <m:r>
                        <a:rPr lang="en-US" altLang="zh-CN" sz="2000" b="0" i="1" smtClean="0">
                          <a:solidFill>
                            <a:schemeClr val="tx1"/>
                          </a:solidFill>
                          <a:latin typeface="Cambria Math" panose="02040503050406030204" pitchFamily="18" charset="0"/>
                        </a:rPr>
                        <m:t>≥</m:t>
                      </m:r>
                      <m:r>
                        <a:rPr lang="en-US" altLang="zh-CN" sz="2000" i="1">
                          <a:solidFill>
                            <a:schemeClr val="tx1"/>
                          </a:solidFill>
                          <a:latin typeface="Cambria Math" panose="02040503050406030204" pitchFamily="18" charset="0"/>
                        </a:rPr>
                        <m:t>1</m:t>
                      </m:r>
                    </m:oMath>
                  </m:oMathPara>
                </a14:m>
                <a:endParaRPr lang="en-US" altLang="zh-CN" sz="2000" dirty="0">
                  <a:solidFill>
                    <a:schemeClr val="tx1"/>
                  </a:solidFill>
                </a:endParaRPr>
              </a:p>
              <a:p>
                <a:pPr/>
                <a14:m>
                  <m:oMathPara xmlns:m="http://schemas.openxmlformats.org/officeDocument/2006/math">
                    <m:oMathParaPr>
                      <m:jc m:val="centerGroup"/>
                    </m:oMathParaPr>
                    <m:oMath xmlns:m="http://schemas.openxmlformats.org/officeDocument/2006/math">
                      <m:nary>
                        <m:naryPr>
                          <m:ctrlPr>
                            <a:rPr lang="en-US" altLang="zh-CN" sz="2000" i="1" smtClean="0">
                              <a:solidFill>
                                <a:schemeClr val="tx1"/>
                              </a:solidFill>
                              <a:latin typeface="Cambria Math" panose="02040503050406030204" pitchFamily="18" charset="0"/>
                            </a:rPr>
                          </m:ctrlPr>
                        </m:naryPr>
                        <m:sub>
                          <m:sSup>
                            <m:sSupPr>
                              <m:ctrlPr>
                                <a:rPr lang="en-US" altLang="zh-CN" sz="2000" i="1" smtClean="0">
                                  <a:solidFill>
                                    <a:schemeClr val="tx1"/>
                                  </a:solidFill>
                                  <a:latin typeface="Cambria Math" panose="02040503050406030204" pitchFamily="18" charset="0"/>
                                </a:rPr>
                              </m:ctrlPr>
                            </m:sSupPr>
                            <m:e>
                              <m:r>
                                <a:rPr lang="en-US" altLang="zh-CN" sz="2000" b="0" i="1" smtClean="0">
                                  <a:solidFill>
                                    <a:schemeClr val="tx1"/>
                                  </a:solidFill>
                                  <a:latin typeface="Cambria Math" panose="02040503050406030204" pitchFamily="18" charset="0"/>
                                </a:rPr>
                                <m:t>𝐻</m:t>
                              </m:r>
                            </m:e>
                            <m:sup>
                              <m:r>
                                <a:rPr lang="en-US" altLang="zh-CN" sz="2000" b="0" i="1" smtClean="0">
                                  <a:solidFill>
                                    <a:schemeClr val="tx1"/>
                                  </a:solidFill>
                                  <a:latin typeface="Cambria Math" panose="02040503050406030204" pitchFamily="18" charset="0"/>
                                </a:rPr>
                                <m:t>2</m:t>
                              </m:r>
                            </m:sup>
                          </m:sSup>
                        </m:sub>
                        <m:sup>
                          <m:r>
                            <a:rPr lang="en-US" altLang="zh-CN" sz="2000" b="0" i="1" smtClean="0">
                              <a:solidFill>
                                <a:schemeClr val="tx1"/>
                              </a:solidFill>
                              <a:latin typeface="Cambria Math" panose="02040503050406030204" pitchFamily="18" charset="0"/>
                            </a:rPr>
                            <m:t> </m:t>
                          </m:r>
                        </m:sup>
                        <m:e>
                          <m:r>
                            <m:rPr>
                              <m:sty m:val="p"/>
                            </m:rPr>
                            <a:rPr lang="en-US" altLang="zh-CN" sz="2000" i="1" dirty="0">
                              <a:solidFill>
                                <a:schemeClr val="tx1"/>
                              </a:solidFill>
                              <a:latin typeface="Cambria Math" panose="02040503050406030204" pitchFamily="18" charset="0"/>
                            </a:rPr>
                            <m:t>D</m:t>
                          </m:r>
                          <m:d>
                            <m:dPr>
                              <m:ctrlPr>
                                <a:rPr lang="en-US" altLang="zh-CN" sz="2000" i="1" dirty="0">
                                  <a:solidFill>
                                    <a:schemeClr val="tx1"/>
                                  </a:solidFill>
                                  <a:latin typeface="Cambria Math" panose="02040503050406030204" pitchFamily="18" charset="0"/>
                                </a:rPr>
                              </m:ctrlPr>
                            </m:dPr>
                            <m:e>
                              <m:r>
                                <a:rPr lang="en-US" altLang="zh-CN" sz="2000" b="1" i="1" dirty="0">
                                  <a:solidFill>
                                    <a:schemeClr val="tx1"/>
                                  </a:solidFill>
                                  <a:latin typeface="Cambria Math" panose="02040503050406030204" pitchFamily="18" charset="0"/>
                                </a:rPr>
                                <m:t>𝒎</m:t>
                              </m:r>
                            </m:e>
                          </m:d>
                          <m:r>
                            <a:rPr lang="en-US" altLang="zh-CN" sz="2000" b="0" i="1" dirty="0" smtClean="0">
                              <a:solidFill>
                                <a:schemeClr val="tx1"/>
                              </a:solidFill>
                              <a:latin typeface="Cambria Math" panose="02040503050406030204" pitchFamily="18" charset="0"/>
                            </a:rPr>
                            <m:t> </m:t>
                          </m:r>
                          <m:d>
                            <m:dPr>
                              <m:ctrlPr>
                                <a:rPr lang="en-US" altLang="zh-CN" sz="2000" i="1" dirty="0">
                                  <a:solidFill>
                                    <a:schemeClr val="tx1"/>
                                  </a:solidFill>
                                  <a:latin typeface="Cambria Math" panose="02040503050406030204" pitchFamily="18" charset="0"/>
                                </a:rPr>
                              </m:ctrlPr>
                            </m:dPr>
                            <m:e>
                              <m:r>
                                <a:rPr lang="en-US" altLang="zh-CN" sz="2000" b="1" i="1" dirty="0" smtClean="0">
                                  <a:solidFill>
                                    <a:schemeClr val="tx1"/>
                                  </a:solidFill>
                                  <a:latin typeface="Cambria Math" panose="02040503050406030204" pitchFamily="18" charset="0"/>
                                </a:rPr>
                                <m:t>𝒐</m:t>
                              </m:r>
                              <m:r>
                                <a:rPr lang="en-US" altLang="zh-CN" sz="2000" i="1">
                                  <a:solidFill>
                                    <a:schemeClr val="tx1"/>
                                  </a:solidFill>
                                  <a:latin typeface="Cambria Math" panose="02040503050406030204" pitchFamily="18" charset="0"/>
                                </a:rPr>
                                <m:t>·</m:t>
                              </m:r>
                              <m:r>
                                <a:rPr lang="en-US" altLang="zh-CN" sz="2000" b="1" i="1" dirty="0">
                                  <a:solidFill>
                                    <a:schemeClr val="tx1"/>
                                  </a:solidFill>
                                  <a:latin typeface="Cambria Math" panose="02040503050406030204" pitchFamily="18" charset="0"/>
                                </a:rPr>
                                <m:t>𝒎</m:t>
                              </m:r>
                            </m:e>
                          </m:d>
                          <m:r>
                            <a:rPr lang="en-US" altLang="zh-CN" sz="2000" b="0" i="1" smtClean="0">
                              <a:solidFill>
                                <a:schemeClr val="tx1"/>
                              </a:solidFill>
                              <a:latin typeface="Cambria Math" panose="02040503050406030204" pitchFamily="18" charset="0"/>
                            </a:rPr>
                            <m:t> </m:t>
                          </m:r>
                          <m:r>
                            <a:rPr lang="en-US" altLang="zh-CN" sz="2000" b="0" i="1" smtClean="0">
                              <a:solidFill>
                                <a:schemeClr val="tx1"/>
                              </a:solidFill>
                              <a:latin typeface="Cambria Math" panose="02040503050406030204" pitchFamily="18" charset="0"/>
                            </a:rPr>
                            <m:t>𝑑</m:t>
                          </m:r>
                          <m:sSub>
                            <m:sSubPr>
                              <m:ctrlPr>
                                <a:rPr lang="en-US" altLang="zh-CN" sz="2000" i="1">
                                  <a:solidFill>
                                    <a:schemeClr val="tx1"/>
                                  </a:solidFill>
                                  <a:latin typeface="Cambria Math" panose="02040503050406030204" pitchFamily="18" charset="0"/>
                                </a:rPr>
                              </m:ctrlPr>
                            </m:sSubPr>
                            <m:e>
                              <m:r>
                                <a:rPr lang="zh-CN" altLang="en-US" sz="2000" i="1" dirty="0">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rPr>
                                <m:t>𝑚</m:t>
                              </m:r>
                            </m:sub>
                          </m:sSub>
                        </m:e>
                      </m:nary>
                      <m:r>
                        <a:rPr lang="en-US" altLang="zh-CN" sz="2000" b="0" i="1" smtClean="0">
                          <a:solidFill>
                            <a:schemeClr val="tx1"/>
                          </a:solidFill>
                          <a:latin typeface="Cambria Math" panose="02040503050406030204" pitchFamily="18" charset="0"/>
                        </a:rPr>
                        <m:t>=</m:t>
                      </m:r>
                      <m:r>
                        <a:rPr lang="en-US" altLang="zh-CN" sz="2000" b="1" i="1" dirty="0" smtClean="0">
                          <a:solidFill>
                            <a:schemeClr val="tx1"/>
                          </a:solidFill>
                          <a:latin typeface="Cambria Math" panose="02040503050406030204" pitchFamily="18" charset="0"/>
                        </a:rPr>
                        <m:t>𝒐</m:t>
                      </m:r>
                      <m:r>
                        <a:rPr lang="en-US" altLang="zh-CN" sz="2000" b="0" i="1" dirty="0" smtClean="0">
                          <a:solidFill>
                            <a:schemeClr val="tx1"/>
                          </a:solidFill>
                          <a:latin typeface="Cambria Math" panose="02040503050406030204" pitchFamily="18" charset="0"/>
                        </a:rPr>
                        <m:t>⋅</m:t>
                      </m:r>
                      <m:r>
                        <a:rPr lang="en-US" altLang="zh-CN" sz="2000" b="1" i="1" dirty="0" smtClean="0">
                          <a:solidFill>
                            <a:schemeClr val="tx1"/>
                          </a:solidFill>
                          <a:latin typeface="Cambria Math" panose="02040503050406030204" pitchFamily="18" charset="0"/>
                        </a:rPr>
                        <m:t>𝒈</m:t>
                      </m:r>
                    </m:oMath>
                  </m:oMathPara>
                </a14:m>
                <a:endParaRPr lang="en-US" altLang="zh-CN" sz="2000" b="1" dirty="0">
                  <a:solidFill>
                    <a:schemeClr val="tx1"/>
                  </a:solidFill>
                </a:endParaRPr>
              </a:p>
              <a:p>
                <a:pPr/>
                <a14:m>
                  <m:oMathPara xmlns:m="http://schemas.openxmlformats.org/officeDocument/2006/math">
                    <m:oMathParaPr>
                      <m:jc m:val="centerGroup"/>
                    </m:oMathParaPr>
                    <m:oMath xmlns:m="http://schemas.openxmlformats.org/officeDocument/2006/math">
                      <m:r>
                        <a:rPr lang="en-US" altLang="zh-CN" sz="2000" b="1" i="1" dirty="0" smtClean="0">
                          <a:solidFill>
                            <a:schemeClr val="tx1"/>
                          </a:solidFill>
                          <a:latin typeface="Cambria Math" panose="02040503050406030204" pitchFamily="18" charset="0"/>
                        </a:rPr>
                        <m:t>𝒐</m:t>
                      </m:r>
                      <m:r>
                        <a:rPr lang="en-US" altLang="zh-CN" sz="2000" b="0" i="1" dirty="0" smtClean="0">
                          <a:solidFill>
                            <a:schemeClr val="tx1"/>
                          </a:solidFill>
                          <a:latin typeface="Cambria Math" panose="02040503050406030204" pitchFamily="18" charset="0"/>
                        </a:rPr>
                        <m:t>=</m:t>
                      </m:r>
                      <m:r>
                        <a:rPr lang="en-US" altLang="zh-CN" sz="2000" b="1" i="1" dirty="0" smtClean="0">
                          <a:solidFill>
                            <a:schemeClr val="tx1"/>
                          </a:solidFill>
                          <a:latin typeface="Cambria Math" panose="02040503050406030204" pitchFamily="18" charset="0"/>
                        </a:rPr>
                        <m:t>𝒈</m:t>
                      </m:r>
                      <m:r>
                        <a:rPr lang="zh-CN" altLang="en-US" sz="2000" i="1" dirty="0" smtClean="0">
                          <a:solidFill>
                            <a:schemeClr val="tx1"/>
                          </a:solidFill>
                          <a:latin typeface="Cambria Math" panose="02040503050406030204" pitchFamily="18" charset="0"/>
                        </a:rPr>
                        <m:t>时：</m:t>
                      </m:r>
                      <m:nary>
                        <m:naryPr>
                          <m:ctrlPr>
                            <a:rPr lang="en-US" altLang="zh-CN" sz="2000" i="1" smtClean="0">
                              <a:solidFill>
                                <a:schemeClr val="tx1"/>
                              </a:solidFill>
                              <a:latin typeface="Cambria Math" panose="02040503050406030204" pitchFamily="18" charset="0"/>
                            </a:rPr>
                          </m:ctrlPr>
                        </m:naryPr>
                        <m:sub>
                          <m:sSup>
                            <m:sSupPr>
                              <m:ctrlPr>
                                <a:rPr lang="en-US" altLang="zh-CN" sz="2000" i="1" smtClean="0">
                                  <a:solidFill>
                                    <a:schemeClr val="tx1"/>
                                  </a:solidFill>
                                  <a:latin typeface="Cambria Math" panose="02040503050406030204" pitchFamily="18" charset="0"/>
                                </a:rPr>
                              </m:ctrlPr>
                            </m:sSupPr>
                            <m:e>
                              <m:r>
                                <a:rPr lang="en-US" altLang="zh-CN" sz="2000" b="0" i="1" smtClean="0">
                                  <a:solidFill>
                                    <a:schemeClr val="tx1"/>
                                  </a:solidFill>
                                  <a:latin typeface="Cambria Math" panose="02040503050406030204" pitchFamily="18" charset="0"/>
                                </a:rPr>
                                <m:t>𝐻</m:t>
                              </m:r>
                            </m:e>
                            <m:sup>
                              <m:r>
                                <a:rPr lang="en-US" altLang="zh-CN" sz="2000" b="0" i="1" smtClean="0">
                                  <a:solidFill>
                                    <a:schemeClr val="tx1"/>
                                  </a:solidFill>
                                  <a:latin typeface="Cambria Math" panose="02040503050406030204" pitchFamily="18" charset="0"/>
                                </a:rPr>
                                <m:t>2</m:t>
                              </m:r>
                            </m:sup>
                          </m:sSup>
                        </m:sub>
                        <m:sup>
                          <m:r>
                            <a:rPr lang="en-US" altLang="zh-CN" sz="2000" b="0" i="1" smtClean="0">
                              <a:solidFill>
                                <a:schemeClr val="tx1"/>
                              </a:solidFill>
                              <a:latin typeface="Cambria Math" panose="02040503050406030204" pitchFamily="18" charset="0"/>
                            </a:rPr>
                            <m:t> </m:t>
                          </m:r>
                        </m:sup>
                        <m:e>
                          <m:r>
                            <m:rPr>
                              <m:sty m:val="p"/>
                            </m:rPr>
                            <a:rPr lang="en-US" altLang="zh-CN" sz="2000" i="1" dirty="0">
                              <a:solidFill>
                                <a:schemeClr val="tx1"/>
                              </a:solidFill>
                              <a:latin typeface="Cambria Math" panose="02040503050406030204" pitchFamily="18" charset="0"/>
                            </a:rPr>
                            <m:t>D</m:t>
                          </m:r>
                          <m:d>
                            <m:dPr>
                              <m:ctrlPr>
                                <a:rPr lang="en-US" altLang="zh-CN" sz="2000" i="1" dirty="0">
                                  <a:solidFill>
                                    <a:schemeClr val="tx1"/>
                                  </a:solidFill>
                                  <a:latin typeface="Cambria Math" panose="02040503050406030204" pitchFamily="18" charset="0"/>
                                </a:rPr>
                              </m:ctrlPr>
                            </m:dPr>
                            <m:e>
                              <m:r>
                                <a:rPr lang="en-US" altLang="zh-CN" sz="2000" b="1" i="1" dirty="0">
                                  <a:solidFill>
                                    <a:schemeClr val="tx1"/>
                                  </a:solidFill>
                                  <a:latin typeface="Cambria Math" panose="02040503050406030204" pitchFamily="18" charset="0"/>
                                </a:rPr>
                                <m:t>𝒎</m:t>
                              </m:r>
                            </m:e>
                          </m:d>
                          <m:r>
                            <a:rPr lang="en-US" altLang="zh-CN" sz="2000" b="0" i="1" dirty="0" smtClean="0">
                              <a:solidFill>
                                <a:schemeClr val="tx1"/>
                              </a:solidFill>
                              <a:latin typeface="Cambria Math" panose="02040503050406030204" pitchFamily="18" charset="0"/>
                            </a:rPr>
                            <m:t> </m:t>
                          </m:r>
                          <m:d>
                            <m:dPr>
                              <m:ctrlPr>
                                <a:rPr lang="en-US" altLang="zh-CN" sz="2000" i="1" dirty="0">
                                  <a:solidFill>
                                    <a:schemeClr val="tx1"/>
                                  </a:solidFill>
                                  <a:latin typeface="Cambria Math" panose="02040503050406030204" pitchFamily="18" charset="0"/>
                                </a:rPr>
                              </m:ctrlPr>
                            </m:dPr>
                            <m:e>
                              <m:r>
                                <a:rPr lang="en-US" altLang="zh-CN" sz="2000" b="1" i="1" dirty="0" smtClean="0">
                                  <a:solidFill>
                                    <a:schemeClr val="tx1"/>
                                  </a:solidFill>
                                  <a:latin typeface="Cambria Math" panose="02040503050406030204" pitchFamily="18" charset="0"/>
                                </a:rPr>
                                <m:t>𝒈</m:t>
                              </m:r>
                              <m:r>
                                <a:rPr lang="en-US" altLang="zh-CN" sz="2000" i="1">
                                  <a:solidFill>
                                    <a:schemeClr val="tx1"/>
                                  </a:solidFill>
                                  <a:latin typeface="Cambria Math" panose="02040503050406030204" pitchFamily="18" charset="0"/>
                                </a:rPr>
                                <m:t>·</m:t>
                              </m:r>
                              <m:r>
                                <a:rPr lang="en-US" altLang="zh-CN" sz="2000" b="1" i="1" dirty="0">
                                  <a:solidFill>
                                    <a:schemeClr val="tx1"/>
                                  </a:solidFill>
                                  <a:latin typeface="Cambria Math" panose="02040503050406030204" pitchFamily="18" charset="0"/>
                                </a:rPr>
                                <m:t>𝒎</m:t>
                              </m:r>
                            </m:e>
                          </m:d>
                          <m:r>
                            <a:rPr lang="en-US" altLang="zh-CN" sz="2000" b="0" i="1" smtClean="0">
                              <a:solidFill>
                                <a:schemeClr val="tx1"/>
                              </a:solidFill>
                              <a:latin typeface="Cambria Math" panose="02040503050406030204" pitchFamily="18" charset="0"/>
                            </a:rPr>
                            <m:t> </m:t>
                          </m:r>
                          <m:r>
                            <a:rPr lang="en-US" altLang="zh-CN" sz="2000" b="0" i="1" smtClean="0">
                              <a:solidFill>
                                <a:schemeClr val="tx1"/>
                              </a:solidFill>
                              <a:latin typeface="Cambria Math" panose="02040503050406030204" pitchFamily="18" charset="0"/>
                            </a:rPr>
                            <m:t>𝑑</m:t>
                          </m:r>
                          <m:sSub>
                            <m:sSubPr>
                              <m:ctrlPr>
                                <a:rPr lang="en-US" altLang="zh-CN" sz="2000" i="1">
                                  <a:solidFill>
                                    <a:schemeClr val="tx1"/>
                                  </a:solidFill>
                                  <a:latin typeface="Cambria Math" panose="02040503050406030204" pitchFamily="18" charset="0"/>
                                </a:rPr>
                              </m:ctrlPr>
                            </m:sSubPr>
                            <m:e>
                              <m:r>
                                <a:rPr lang="zh-CN" altLang="en-US" sz="2000" i="1" dirty="0">
                                  <a:solidFill>
                                    <a:schemeClr val="tx1"/>
                                  </a:solidFill>
                                  <a:latin typeface="Cambria Math" panose="02040503050406030204" pitchFamily="18" charset="0"/>
                                </a:rPr>
                                <m:t>𝜔</m:t>
                              </m:r>
                            </m:e>
                            <m:sub>
                              <m:r>
                                <a:rPr lang="en-US" altLang="zh-CN" sz="2000" i="1">
                                  <a:solidFill>
                                    <a:schemeClr val="tx1"/>
                                  </a:solidFill>
                                  <a:latin typeface="Cambria Math" panose="02040503050406030204" pitchFamily="18" charset="0"/>
                                </a:rPr>
                                <m:t>𝑚</m:t>
                              </m:r>
                            </m:sub>
                          </m:sSub>
                        </m:e>
                      </m:nary>
                      <m:r>
                        <a:rPr lang="en-US" altLang="zh-CN" sz="2000" b="0" i="1" smtClean="0">
                          <a:solidFill>
                            <a:schemeClr val="tx1"/>
                          </a:solidFill>
                          <a:latin typeface="Cambria Math" panose="02040503050406030204" pitchFamily="18" charset="0"/>
                        </a:rPr>
                        <m:t>=1</m:t>
                      </m:r>
                    </m:oMath>
                  </m:oMathPara>
                </a14:m>
                <a:endParaRPr lang="en-US" altLang="zh-CN" sz="2000" dirty="0">
                  <a:solidFill>
                    <a:schemeClr val="tx1"/>
                  </a:solidFill>
                </a:endParaRPr>
              </a:p>
              <a:p>
                <a:pPr>
                  <a:lnSpc>
                    <a:spcPct val="150000"/>
                  </a:lnSpc>
                </a:pPr>
                <a:endParaRPr lang="en-US" altLang="zh-CN" sz="2000" dirty="0">
                  <a:solidFill>
                    <a:schemeClr val="tx1"/>
                  </a:solidFill>
                </a:endParaRPr>
              </a:p>
              <a:p>
                <a:pPr>
                  <a:lnSpc>
                    <a:spcPct val="150000"/>
                  </a:lnSpc>
                </a:pPr>
                <a:r>
                  <a:rPr lang="en-US" altLang="zh-CN" sz="2000" dirty="0">
                    <a:solidFill>
                      <a:schemeClr val="tx1"/>
                    </a:solidFill>
                  </a:rPr>
                  <a:t>        </a:t>
                </a:r>
                <a:r>
                  <a:rPr lang="zh-CN" altLang="en-US" sz="2000" dirty="0">
                    <a:solidFill>
                      <a:schemeClr val="tx1"/>
                    </a:solidFill>
                  </a:rPr>
                  <a:t>可以看到，虽然 </a:t>
                </a:r>
                <a14:m>
                  <m:oMath xmlns:m="http://schemas.openxmlformats.org/officeDocument/2006/math">
                    <m:r>
                      <a:rPr lang="en-US" altLang="zh-CN" sz="2000" i="1" dirty="0" smtClean="0">
                        <a:solidFill>
                          <a:schemeClr val="tx1"/>
                        </a:solidFill>
                        <a:latin typeface="Cambria Math" panose="02040503050406030204" pitchFamily="18" charset="0"/>
                      </a:rPr>
                      <m:t>𝐷</m:t>
                    </m:r>
                    <m:d>
                      <m:dPr>
                        <m:ctrlPr>
                          <a:rPr lang="en-US" altLang="zh-CN" sz="2000" i="1" dirty="0">
                            <a:solidFill>
                              <a:schemeClr val="tx1"/>
                            </a:solidFill>
                            <a:latin typeface="Cambria Math" panose="02040503050406030204" pitchFamily="18" charset="0"/>
                          </a:rPr>
                        </m:ctrlPr>
                      </m:dPr>
                      <m:e>
                        <m:r>
                          <a:rPr lang="en-US" altLang="zh-CN" sz="2000" b="1" i="1" dirty="0">
                            <a:solidFill>
                              <a:schemeClr val="tx1"/>
                            </a:solidFill>
                            <a:latin typeface="Cambria Math" panose="02040503050406030204" pitchFamily="18" charset="0"/>
                          </a:rPr>
                          <m:t>𝒎</m:t>
                        </m:r>
                      </m:e>
                    </m:d>
                  </m:oMath>
                </a14:m>
                <a:r>
                  <a:rPr lang="zh-CN" altLang="en-US" sz="2000" dirty="0">
                    <a:solidFill>
                      <a:schemeClr val="tx1"/>
                    </a:solidFill>
                  </a:rPr>
                  <a:t> 叫作分布函数，但是它在其定义域上的积分并不等于</a:t>
                </a:r>
                <a:r>
                  <a:rPr lang="en-US" altLang="zh-CN" sz="2000" dirty="0">
                    <a:solidFill>
                      <a:schemeClr val="tx1"/>
                    </a:solidFill>
                  </a:rPr>
                  <a:t>1</a:t>
                </a:r>
                <a:r>
                  <a:rPr lang="zh-CN" altLang="en-US" sz="2000" dirty="0">
                    <a:solidFill>
                      <a:schemeClr val="tx1"/>
                    </a:solidFill>
                  </a:rPr>
                  <a:t>。</a:t>
                </a:r>
                <a:endParaRPr lang="en-US" altLang="zh-CN" sz="2000" dirty="0">
                  <a:solidFill>
                    <a:schemeClr val="tx1"/>
                  </a:solidFill>
                </a:endParaRPr>
              </a:p>
            </p:txBody>
          </p:sp>
        </mc:Choice>
        <mc:Fallback xmlns="">
          <p:sp>
            <p:nvSpPr>
              <p:cNvPr id="3" name="矩形 2">
                <a:extLst>
                  <a:ext uri="{FF2B5EF4-FFF2-40B4-BE49-F238E27FC236}">
                    <a16:creationId xmlns:a16="http://schemas.microsoft.com/office/drawing/2014/main" id="{4B049845-1FA1-3611-81AE-576A42E5E7D3}"/>
                  </a:ext>
                </a:extLst>
              </p:cNvPr>
              <p:cNvSpPr>
                <a:spLocks noRot="1" noChangeAspect="1" noMove="1" noResize="1" noEditPoints="1" noAdjustHandles="1" noChangeArrowheads="1" noChangeShapeType="1" noTextEdit="1"/>
              </p:cNvSpPr>
              <p:nvPr/>
            </p:nvSpPr>
            <p:spPr>
              <a:xfrm>
                <a:off x="478711" y="1078907"/>
                <a:ext cx="5430501" cy="5386745"/>
              </a:xfrm>
              <a:prstGeom prst="rect">
                <a:avLst/>
              </a:prstGeom>
              <a:blipFill>
                <a:blip r:embed="rId2"/>
                <a:stretch>
                  <a:fillRect l="-1121" r="-224"/>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D006204D-43D5-EA46-C14D-04B3135F94EB}"/>
              </a:ext>
            </a:extLst>
          </p:cNvPr>
          <p:cNvSpPr/>
          <p:nvPr/>
        </p:nvSpPr>
        <p:spPr>
          <a:xfrm>
            <a:off x="6671007" y="1250357"/>
            <a:ext cx="4994356" cy="2479344"/>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135A7FEA-50FB-182E-34F6-809F168EE9C8}"/>
              </a:ext>
            </a:extLst>
          </p:cNvPr>
          <p:cNvSpPr/>
          <p:nvPr/>
        </p:nvSpPr>
        <p:spPr>
          <a:xfrm>
            <a:off x="6537657" y="1078907"/>
            <a:ext cx="4994356" cy="247934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 name="组合 5">
            <a:extLst>
              <a:ext uri="{FF2B5EF4-FFF2-40B4-BE49-F238E27FC236}">
                <a16:creationId xmlns:a16="http://schemas.microsoft.com/office/drawing/2014/main" id="{A4446CD4-CA50-8D2F-0AD0-1C4DFB963813}"/>
              </a:ext>
            </a:extLst>
          </p:cNvPr>
          <p:cNvGrpSpPr/>
          <p:nvPr/>
        </p:nvGrpSpPr>
        <p:grpSpPr>
          <a:xfrm>
            <a:off x="6641341" y="1386641"/>
            <a:ext cx="4657552" cy="1574272"/>
            <a:chOff x="7054948" y="2393673"/>
            <a:chExt cx="4657552" cy="1626898"/>
          </a:xfrm>
        </p:grpSpPr>
        <p:cxnSp>
          <p:nvCxnSpPr>
            <p:cNvPr id="9" name="直接连接符 8">
              <a:extLst>
                <a:ext uri="{FF2B5EF4-FFF2-40B4-BE49-F238E27FC236}">
                  <a16:creationId xmlns:a16="http://schemas.microsoft.com/office/drawing/2014/main" id="{C95754E2-2E10-00DE-09BE-D44D9B8D07F4}"/>
                </a:ext>
              </a:extLst>
            </p:cNvPr>
            <p:cNvCxnSpPr/>
            <p:nvPr/>
          </p:nvCxnSpPr>
          <p:spPr>
            <a:xfrm>
              <a:off x="7405437" y="3429000"/>
              <a:ext cx="409060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85EC315-8343-91C7-35FB-E860016B880E}"/>
                    </a:ext>
                  </a:extLst>
                </p:cNvPr>
                <p:cNvSpPr txBox="1"/>
                <p:nvPr/>
              </p:nvSpPr>
              <p:spPr>
                <a:xfrm>
                  <a:off x="9488109" y="3638893"/>
                  <a:ext cx="2224391" cy="381678"/>
                </a:xfrm>
                <a:prstGeom prst="rect">
                  <a:avLst/>
                </a:prstGeom>
                <a:noFill/>
              </p:spPr>
              <p:txBody>
                <a:bodyPr wrap="none" rtlCol="0">
                  <a:spAutoFit/>
                </a:bodyPr>
                <a:lstStyle/>
                <a:p>
                  <a:r>
                    <a:rPr lang="en-US" altLang="zh-CN" dirty="0"/>
                    <a:t>Macro Surface  </a:t>
                  </a:r>
                  <a14:m>
                    <m:oMath xmlns:m="http://schemas.openxmlformats.org/officeDocument/2006/math">
                      <m:sSub>
                        <m:sSubPr>
                          <m:ctrlPr>
                            <a:rPr lang="en-US" altLang="zh-CN" sz="1800" b="0" i="1" dirty="0" smtClean="0">
                              <a:solidFill>
                                <a:schemeClr val="tx1"/>
                              </a:solidFill>
                              <a:latin typeface="Cambria Math" panose="02040503050406030204" pitchFamily="18" charset="0"/>
                            </a:rPr>
                          </m:ctrlPr>
                        </m:sSubPr>
                        <m:e>
                          <m:r>
                            <a:rPr lang="en-US" altLang="zh-CN" sz="1800" b="0" i="1" dirty="0" smtClean="0">
                              <a:solidFill>
                                <a:schemeClr val="tx1"/>
                              </a:solidFill>
                              <a:latin typeface="Cambria Math" panose="02040503050406030204" pitchFamily="18" charset="0"/>
                            </a:rPr>
                            <m:t>𝐴</m:t>
                          </m:r>
                        </m:e>
                        <m:sub>
                          <m:r>
                            <a:rPr lang="en-US" altLang="zh-CN" sz="1800" b="0" i="1" dirty="0" smtClean="0">
                              <a:solidFill>
                                <a:schemeClr val="tx1"/>
                              </a:solidFill>
                              <a:latin typeface="Cambria Math" panose="02040503050406030204" pitchFamily="18" charset="0"/>
                            </a:rPr>
                            <m:t>𝑀</m:t>
                          </m:r>
                        </m:sub>
                      </m:sSub>
                    </m:oMath>
                  </a14:m>
                  <a:endParaRPr lang="zh-CN" altLang="en-US" dirty="0"/>
                </a:p>
              </p:txBody>
            </p:sp>
          </mc:Choice>
          <mc:Fallback xmlns="">
            <p:sp>
              <p:nvSpPr>
                <p:cNvPr id="11" name="文本框 10">
                  <a:extLst>
                    <a:ext uri="{FF2B5EF4-FFF2-40B4-BE49-F238E27FC236}">
                      <a16:creationId xmlns:a16="http://schemas.microsoft.com/office/drawing/2014/main" id="{C85EC315-8343-91C7-35FB-E860016B880E}"/>
                    </a:ext>
                  </a:extLst>
                </p:cNvPr>
                <p:cNvSpPr txBox="1">
                  <a:spLocks noRot="1" noChangeAspect="1" noMove="1" noResize="1" noEditPoints="1" noAdjustHandles="1" noChangeArrowheads="1" noChangeShapeType="1" noTextEdit="1"/>
                </p:cNvSpPr>
                <p:nvPr/>
              </p:nvSpPr>
              <p:spPr>
                <a:xfrm>
                  <a:off x="9488109" y="3638893"/>
                  <a:ext cx="2224391" cy="381678"/>
                </a:xfrm>
                <a:prstGeom prst="rect">
                  <a:avLst/>
                </a:prstGeom>
                <a:blipFill>
                  <a:blip r:embed="rId3"/>
                  <a:stretch>
                    <a:fillRect l="-2473" t="-8197" b="-24590"/>
                  </a:stretch>
                </a:blipFill>
              </p:spPr>
              <p:txBody>
                <a:bodyPr/>
                <a:lstStyle/>
                <a:p>
                  <a:r>
                    <a:rPr lang="zh-CN" altLang="en-US">
                      <a:noFill/>
                    </a:rPr>
                    <a:t> </a:t>
                  </a:r>
                </a:p>
              </p:txBody>
            </p:sp>
          </mc:Fallback>
        </mc:AlternateContent>
        <p:sp>
          <p:nvSpPr>
            <p:cNvPr id="14" name="任意多边形: 形状 13">
              <a:extLst>
                <a:ext uri="{FF2B5EF4-FFF2-40B4-BE49-F238E27FC236}">
                  <a16:creationId xmlns:a16="http://schemas.microsoft.com/office/drawing/2014/main" id="{43A9B6E6-2D0B-7950-2068-D2F4260AF7FE}"/>
                </a:ext>
              </a:extLst>
            </p:cNvPr>
            <p:cNvSpPr/>
            <p:nvPr/>
          </p:nvSpPr>
          <p:spPr>
            <a:xfrm>
              <a:off x="7382934" y="2645834"/>
              <a:ext cx="4212166" cy="1206500"/>
            </a:xfrm>
            <a:custGeom>
              <a:avLst/>
              <a:gdLst>
                <a:gd name="connsiteX0" fmla="*/ 0 w 4212166"/>
                <a:gd name="connsiteY0" fmla="*/ 766233 h 1206500"/>
                <a:gd name="connsiteX1" fmla="*/ 342900 w 4212166"/>
                <a:gd name="connsiteY1" fmla="*/ 347133 h 1206500"/>
                <a:gd name="connsiteX2" fmla="*/ 579966 w 4212166"/>
                <a:gd name="connsiteY2" fmla="*/ 156633 h 1206500"/>
                <a:gd name="connsiteX3" fmla="*/ 766233 w 4212166"/>
                <a:gd name="connsiteY3" fmla="*/ 105833 h 1206500"/>
                <a:gd name="connsiteX4" fmla="*/ 833966 w 4212166"/>
                <a:gd name="connsiteY4" fmla="*/ 232833 h 1206500"/>
                <a:gd name="connsiteX5" fmla="*/ 859366 w 4212166"/>
                <a:gd name="connsiteY5" fmla="*/ 508000 h 1206500"/>
                <a:gd name="connsiteX6" fmla="*/ 880533 w 4212166"/>
                <a:gd name="connsiteY6" fmla="*/ 791633 h 1206500"/>
                <a:gd name="connsiteX7" fmla="*/ 910166 w 4212166"/>
                <a:gd name="connsiteY7" fmla="*/ 948266 h 1206500"/>
                <a:gd name="connsiteX8" fmla="*/ 994833 w 4212166"/>
                <a:gd name="connsiteY8" fmla="*/ 1037166 h 1206500"/>
                <a:gd name="connsiteX9" fmla="*/ 1299633 w 4212166"/>
                <a:gd name="connsiteY9" fmla="*/ 1176866 h 1206500"/>
                <a:gd name="connsiteX10" fmla="*/ 1756833 w 4212166"/>
                <a:gd name="connsiteY10" fmla="*/ 1206500 h 1206500"/>
                <a:gd name="connsiteX11" fmla="*/ 1943100 w 4212166"/>
                <a:gd name="connsiteY11" fmla="*/ 1138766 h 1206500"/>
                <a:gd name="connsiteX12" fmla="*/ 1930400 w 4212166"/>
                <a:gd name="connsiteY12" fmla="*/ 897466 h 1206500"/>
                <a:gd name="connsiteX13" fmla="*/ 1849966 w 4212166"/>
                <a:gd name="connsiteY13" fmla="*/ 588433 h 1206500"/>
                <a:gd name="connsiteX14" fmla="*/ 1905000 w 4212166"/>
                <a:gd name="connsiteY14" fmla="*/ 317500 h 1206500"/>
                <a:gd name="connsiteX15" fmla="*/ 2103966 w 4212166"/>
                <a:gd name="connsiteY15" fmla="*/ 152400 h 1206500"/>
                <a:gd name="connsiteX16" fmla="*/ 2501900 w 4212166"/>
                <a:gd name="connsiteY16" fmla="*/ 42333 h 1206500"/>
                <a:gd name="connsiteX17" fmla="*/ 2963333 w 4212166"/>
                <a:gd name="connsiteY17" fmla="*/ 0 h 1206500"/>
                <a:gd name="connsiteX18" fmla="*/ 3386666 w 4212166"/>
                <a:gd name="connsiteY18" fmla="*/ 71966 h 1206500"/>
                <a:gd name="connsiteX19" fmla="*/ 3479800 w 4212166"/>
                <a:gd name="connsiteY19" fmla="*/ 296333 h 1206500"/>
                <a:gd name="connsiteX20" fmla="*/ 3568700 w 4212166"/>
                <a:gd name="connsiteY20" fmla="*/ 630766 h 1206500"/>
                <a:gd name="connsiteX21" fmla="*/ 3661833 w 4212166"/>
                <a:gd name="connsiteY21" fmla="*/ 876300 h 1206500"/>
                <a:gd name="connsiteX22" fmla="*/ 3738033 w 4212166"/>
                <a:gd name="connsiteY22" fmla="*/ 960966 h 1206500"/>
                <a:gd name="connsiteX23" fmla="*/ 3949700 w 4212166"/>
                <a:gd name="connsiteY23" fmla="*/ 867833 h 1206500"/>
                <a:gd name="connsiteX24" fmla="*/ 4212166 w 4212166"/>
                <a:gd name="connsiteY24" fmla="*/ 546100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12166" h="1206500">
                  <a:moveTo>
                    <a:pt x="0" y="766233"/>
                  </a:moveTo>
                  <a:lnTo>
                    <a:pt x="342900" y="347133"/>
                  </a:lnTo>
                  <a:lnTo>
                    <a:pt x="579966" y="156633"/>
                  </a:lnTo>
                  <a:lnTo>
                    <a:pt x="766233" y="105833"/>
                  </a:lnTo>
                  <a:lnTo>
                    <a:pt x="833966" y="232833"/>
                  </a:lnTo>
                  <a:lnTo>
                    <a:pt x="859366" y="508000"/>
                  </a:lnTo>
                  <a:lnTo>
                    <a:pt x="880533" y="791633"/>
                  </a:lnTo>
                  <a:lnTo>
                    <a:pt x="910166" y="948266"/>
                  </a:lnTo>
                  <a:lnTo>
                    <a:pt x="994833" y="1037166"/>
                  </a:lnTo>
                  <a:lnTo>
                    <a:pt x="1299633" y="1176866"/>
                  </a:lnTo>
                  <a:lnTo>
                    <a:pt x="1756833" y="1206500"/>
                  </a:lnTo>
                  <a:lnTo>
                    <a:pt x="1943100" y="1138766"/>
                  </a:lnTo>
                  <a:lnTo>
                    <a:pt x="1930400" y="897466"/>
                  </a:lnTo>
                  <a:lnTo>
                    <a:pt x="1849966" y="588433"/>
                  </a:lnTo>
                  <a:lnTo>
                    <a:pt x="1905000" y="317500"/>
                  </a:lnTo>
                  <a:lnTo>
                    <a:pt x="2103966" y="152400"/>
                  </a:lnTo>
                  <a:lnTo>
                    <a:pt x="2501900" y="42333"/>
                  </a:lnTo>
                  <a:lnTo>
                    <a:pt x="2963333" y="0"/>
                  </a:lnTo>
                  <a:lnTo>
                    <a:pt x="3386666" y="71966"/>
                  </a:lnTo>
                  <a:lnTo>
                    <a:pt x="3479800" y="296333"/>
                  </a:lnTo>
                  <a:lnTo>
                    <a:pt x="3568700" y="630766"/>
                  </a:lnTo>
                  <a:lnTo>
                    <a:pt x="3661833" y="876300"/>
                  </a:lnTo>
                  <a:lnTo>
                    <a:pt x="3738033" y="960966"/>
                  </a:lnTo>
                  <a:lnTo>
                    <a:pt x="3949700" y="867833"/>
                  </a:lnTo>
                  <a:lnTo>
                    <a:pt x="4212166" y="546100"/>
                  </a:ln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7A7D7D31-65D9-9CE4-290A-98702E7C3018}"/>
                </a:ext>
              </a:extLst>
            </p:cNvPr>
            <p:cNvSpPr txBox="1"/>
            <p:nvPr/>
          </p:nvSpPr>
          <p:spPr>
            <a:xfrm>
              <a:off x="7054948" y="2393673"/>
              <a:ext cx="1356718" cy="369332"/>
            </a:xfrm>
            <a:prstGeom prst="rect">
              <a:avLst/>
            </a:prstGeom>
            <a:noFill/>
          </p:spPr>
          <p:txBody>
            <a:bodyPr wrap="none" rtlCol="0">
              <a:spAutoFit/>
            </a:bodyPr>
            <a:lstStyle/>
            <a:p>
              <a:r>
                <a:rPr lang="en-US" altLang="zh-CN" dirty="0">
                  <a:solidFill>
                    <a:schemeClr val="accent4">
                      <a:lumMod val="60000"/>
                      <a:lumOff val="40000"/>
                    </a:schemeClr>
                  </a:solidFill>
                </a:rPr>
                <a:t>Microfacet</a:t>
              </a:r>
              <a:endParaRPr lang="zh-CN" altLang="en-US" dirty="0">
                <a:solidFill>
                  <a:schemeClr val="accent4">
                    <a:lumMod val="60000"/>
                    <a:lumOff val="40000"/>
                  </a:schemeClr>
                </a:solidFill>
              </a:endParaRPr>
            </a:p>
          </p:txBody>
        </p:sp>
      </p:grpSp>
      <p:cxnSp>
        <p:nvCxnSpPr>
          <p:cNvPr id="17" name="直接连接符 16">
            <a:extLst>
              <a:ext uri="{FF2B5EF4-FFF2-40B4-BE49-F238E27FC236}">
                <a16:creationId xmlns:a16="http://schemas.microsoft.com/office/drawing/2014/main" id="{DE0D08C5-8DF8-099E-C447-00AF7ED56E15}"/>
              </a:ext>
            </a:extLst>
          </p:cNvPr>
          <p:cNvCxnSpPr>
            <a:cxnSpLocks/>
          </p:cNvCxnSpPr>
          <p:nvPr/>
        </p:nvCxnSpPr>
        <p:spPr>
          <a:xfrm>
            <a:off x="7187638" y="2118738"/>
            <a:ext cx="0" cy="260631"/>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F7BC4A25-3856-0DEE-4A73-2F7C16715570}"/>
              </a:ext>
            </a:extLst>
          </p:cNvPr>
          <p:cNvCxnSpPr>
            <a:cxnSpLocks/>
          </p:cNvCxnSpPr>
          <p:nvPr/>
        </p:nvCxnSpPr>
        <p:spPr>
          <a:xfrm>
            <a:off x="7403168" y="1874749"/>
            <a:ext cx="0" cy="530467"/>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E646C11F-22E8-FAD3-AA5B-BCDB60A2931A}"/>
              </a:ext>
            </a:extLst>
          </p:cNvPr>
          <p:cNvCxnSpPr>
            <a:cxnSpLocks/>
          </p:cNvCxnSpPr>
          <p:nvPr/>
        </p:nvCxnSpPr>
        <p:spPr>
          <a:xfrm>
            <a:off x="8059757" y="2388478"/>
            <a:ext cx="0" cy="29199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a:extLst>
              <a:ext uri="{FF2B5EF4-FFF2-40B4-BE49-F238E27FC236}">
                <a16:creationId xmlns:a16="http://schemas.microsoft.com/office/drawing/2014/main" id="{071D14A8-E1B5-3CBA-1F52-8A70511F9223}"/>
              </a:ext>
            </a:extLst>
          </p:cNvPr>
          <p:cNvCxnSpPr>
            <a:cxnSpLocks/>
          </p:cNvCxnSpPr>
          <p:nvPr/>
        </p:nvCxnSpPr>
        <p:spPr>
          <a:xfrm>
            <a:off x="8272700" y="2396235"/>
            <a:ext cx="0" cy="381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F87844D5-0A18-18DA-A290-D9846D526E1D}"/>
              </a:ext>
            </a:extLst>
          </p:cNvPr>
          <p:cNvCxnSpPr>
            <a:cxnSpLocks/>
          </p:cNvCxnSpPr>
          <p:nvPr/>
        </p:nvCxnSpPr>
        <p:spPr>
          <a:xfrm>
            <a:off x="8484946" y="2405216"/>
            <a:ext cx="0" cy="381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ECD6E3BD-4F81-3753-B96F-004B0E8565D8}"/>
              </a:ext>
            </a:extLst>
          </p:cNvPr>
          <p:cNvCxnSpPr>
            <a:cxnSpLocks/>
          </p:cNvCxnSpPr>
          <p:nvPr/>
        </p:nvCxnSpPr>
        <p:spPr>
          <a:xfrm>
            <a:off x="9009704" y="1812641"/>
            <a:ext cx="0" cy="580722"/>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直接连接符 27">
            <a:extLst>
              <a:ext uri="{FF2B5EF4-FFF2-40B4-BE49-F238E27FC236}">
                <a16:creationId xmlns:a16="http://schemas.microsoft.com/office/drawing/2014/main" id="{A8B1A308-4089-090C-CC21-4F9259D5659B}"/>
              </a:ext>
            </a:extLst>
          </p:cNvPr>
          <p:cNvCxnSpPr>
            <a:cxnSpLocks/>
          </p:cNvCxnSpPr>
          <p:nvPr/>
        </p:nvCxnSpPr>
        <p:spPr>
          <a:xfrm>
            <a:off x="9278679" y="1719536"/>
            <a:ext cx="0" cy="68825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3EE11C8D-C93B-9F4E-4584-3AC88185F996}"/>
              </a:ext>
            </a:extLst>
          </p:cNvPr>
          <p:cNvCxnSpPr>
            <a:cxnSpLocks/>
          </p:cNvCxnSpPr>
          <p:nvPr/>
        </p:nvCxnSpPr>
        <p:spPr>
          <a:xfrm flipH="1">
            <a:off x="9862352" y="1645418"/>
            <a:ext cx="2041" cy="766055"/>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3AF70BCB-35F4-13F6-52D5-6CE002188169}"/>
              </a:ext>
            </a:extLst>
          </p:cNvPr>
          <p:cNvCxnSpPr>
            <a:cxnSpLocks/>
          </p:cNvCxnSpPr>
          <p:nvPr/>
        </p:nvCxnSpPr>
        <p:spPr>
          <a:xfrm>
            <a:off x="10356420" y="1765061"/>
            <a:ext cx="0" cy="644452"/>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直接连接符 35">
            <a:extLst>
              <a:ext uri="{FF2B5EF4-FFF2-40B4-BE49-F238E27FC236}">
                <a16:creationId xmlns:a16="http://schemas.microsoft.com/office/drawing/2014/main" id="{B24A1C15-FD41-2D82-E381-59C296B0443C}"/>
              </a:ext>
            </a:extLst>
          </p:cNvPr>
          <p:cNvCxnSpPr>
            <a:cxnSpLocks/>
          </p:cNvCxnSpPr>
          <p:nvPr/>
        </p:nvCxnSpPr>
        <p:spPr>
          <a:xfrm>
            <a:off x="10719495" y="2410257"/>
            <a:ext cx="2083" cy="160773"/>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67B877CC-52FE-42D7-5662-724FF83B9E97}"/>
              </a:ext>
            </a:extLst>
          </p:cNvPr>
          <p:cNvCxnSpPr>
            <a:cxnSpLocks/>
          </p:cNvCxnSpPr>
          <p:nvPr/>
        </p:nvCxnSpPr>
        <p:spPr>
          <a:xfrm>
            <a:off x="8692036" y="2400683"/>
            <a:ext cx="0" cy="381796"/>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直接连接符 37">
            <a:extLst>
              <a:ext uri="{FF2B5EF4-FFF2-40B4-BE49-F238E27FC236}">
                <a16:creationId xmlns:a16="http://schemas.microsoft.com/office/drawing/2014/main" id="{4FADA369-316C-70BA-0B28-B3873D276B5B}"/>
              </a:ext>
            </a:extLst>
          </p:cNvPr>
          <p:cNvCxnSpPr>
            <a:cxnSpLocks/>
          </p:cNvCxnSpPr>
          <p:nvPr/>
        </p:nvCxnSpPr>
        <p:spPr>
          <a:xfrm>
            <a:off x="7625418" y="1770107"/>
            <a:ext cx="0" cy="612827"/>
          </a:xfrm>
          <a:prstGeom prst="line">
            <a:avLst/>
          </a:prstGeom>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01DFC1B6-8F8A-17F5-BBE4-1AE96FEE528F}"/>
              </a:ext>
            </a:extLst>
          </p:cNvPr>
          <p:cNvCxnSpPr>
            <a:cxnSpLocks/>
          </p:cNvCxnSpPr>
          <p:nvPr/>
        </p:nvCxnSpPr>
        <p:spPr>
          <a:xfrm>
            <a:off x="9564429" y="1686676"/>
            <a:ext cx="0" cy="734981"/>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a:extLst>
              <a:ext uri="{FF2B5EF4-FFF2-40B4-BE49-F238E27FC236}">
                <a16:creationId xmlns:a16="http://schemas.microsoft.com/office/drawing/2014/main" id="{297FC081-CCE9-AFA6-EE4A-4C3B179DE06A}"/>
              </a:ext>
            </a:extLst>
          </p:cNvPr>
          <p:cNvCxnSpPr>
            <a:cxnSpLocks/>
          </p:cNvCxnSpPr>
          <p:nvPr/>
        </p:nvCxnSpPr>
        <p:spPr>
          <a:xfrm>
            <a:off x="10121470" y="1684258"/>
            <a:ext cx="0" cy="711977"/>
          </a:xfrm>
          <a:prstGeom prst="line">
            <a:avLst/>
          </a:prstGeom>
        </p:spPr>
        <p:style>
          <a:lnRef idx="1">
            <a:schemeClr val="accent1"/>
          </a:lnRef>
          <a:fillRef idx="0">
            <a:schemeClr val="accent1"/>
          </a:fillRef>
          <a:effectRef idx="0">
            <a:schemeClr val="accent1"/>
          </a:effectRef>
          <a:fontRef idx="minor">
            <a:schemeClr val="tx1"/>
          </a:fontRef>
        </p:style>
      </p:cxnSp>
      <p:sp>
        <p:nvSpPr>
          <p:cNvPr id="46" name="矩形 45">
            <a:extLst>
              <a:ext uri="{FF2B5EF4-FFF2-40B4-BE49-F238E27FC236}">
                <a16:creationId xmlns:a16="http://schemas.microsoft.com/office/drawing/2014/main" id="{44F38DB5-6688-B46C-982E-F2B073A6640F}"/>
              </a:ext>
            </a:extLst>
          </p:cNvPr>
          <p:cNvSpPr/>
          <p:nvPr/>
        </p:nvSpPr>
        <p:spPr>
          <a:xfrm>
            <a:off x="6671007" y="4134575"/>
            <a:ext cx="4994356" cy="2479344"/>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06219CBC-380F-3332-9291-8CA322F16CB1}"/>
              </a:ext>
            </a:extLst>
          </p:cNvPr>
          <p:cNvSpPr/>
          <p:nvPr/>
        </p:nvSpPr>
        <p:spPr>
          <a:xfrm>
            <a:off x="6537657" y="3963125"/>
            <a:ext cx="4994356" cy="2479344"/>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8" name="组合 47">
            <a:extLst>
              <a:ext uri="{FF2B5EF4-FFF2-40B4-BE49-F238E27FC236}">
                <a16:creationId xmlns:a16="http://schemas.microsoft.com/office/drawing/2014/main" id="{3F388954-65A8-08D8-CD4E-17BDC4CAF619}"/>
              </a:ext>
            </a:extLst>
          </p:cNvPr>
          <p:cNvGrpSpPr/>
          <p:nvPr/>
        </p:nvGrpSpPr>
        <p:grpSpPr>
          <a:xfrm>
            <a:off x="6705095" y="4871069"/>
            <a:ext cx="4564165" cy="1330268"/>
            <a:chOff x="7148335" y="2645834"/>
            <a:chExt cx="4564165" cy="1374737"/>
          </a:xfrm>
        </p:grpSpPr>
        <p:cxnSp>
          <p:nvCxnSpPr>
            <p:cNvPr id="49" name="直接连接符 48">
              <a:extLst>
                <a:ext uri="{FF2B5EF4-FFF2-40B4-BE49-F238E27FC236}">
                  <a16:creationId xmlns:a16="http://schemas.microsoft.com/office/drawing/2014/main" id="{1B435FCB-C5ED-DCF0-CCAE-263AC1F35D3C}"/>
                </a:ext>
              </a:extLst>
            </p:cNvPr>
            <p:cNvCxnSpPr/>
            <p:nvPr/>
          </p:nvCxnSpPr>
          <p:spPr>
            <a:xfrm>
              <a:off x="7405437" y="3429000"/>
              <a:ext cx="409060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7DF276E7-2DDA-303F-30A9-F646A1F30A52}"/>
                    </a:ext>
                  </a:extLst>
                </p:cNvPr>
                <p:cNvSpPr txBox="1"/>
                <p:nvPr/>
              </p:nvSpPr>
              <p:spPr>
                <a:xfrm>
                  <a:off x="9488109" y="3638893"/>
                  <a:ext cx="2224391" cy="381678"/>
                </a:xfrm>
                <a:prstGeom prst="rect">
                  <a:avLst/>
                </a:prstGeom>
                <a:noFill/>
              </p:spPr>
              <p:txBody>
                <a:bodyPr wrap="none" rtlCol="0">
                  <a:spAutoFit/>
                </a:bodyPr>
                <a:lstStyle/>
                <a:p>
                  <a:r>
                    <a:rPr lang="en-US" altLang="zh-CN" dirty="0"/>
                    <a:t>Macro Surface  </a:t>
                  </a:r>
                  <a14:m>
                    <m:oMath xmlns:m="http://schemas.openxmlformats.org/officeDocument/2006/math">
                      <m:sSub>
                        <m:sSubPr>
                          <m:ctrlPr>
                            <a:rPr lang="en-US" altLang="zh-CN" sz="1800" b="0" i="1" dirty="0" smtClean="0">
                              <a:solidFill>
                                <a:schemeClr val="tx1"/>
                              </a:solidFill>
                              <a:latin typeface="Cambria Math" panose="02040503050406030204" pitchFamily="18" charset="0"/>
                            </a:rPr>
                          </m:ctrlPr>
                        </m:sSubPr>
                        <m:e>
                          <m:r>
                            <a:rPr lang="en-US" altLang="zh-CN" sz="1800" b="0" i="1" dirty="0" smtClean="0">
                              <a:solidFill>
                                <a:schemeClr val="tx1"/>
                              </a:solidFill>
                              <a:latin typeface="Cambria Math" panose="02040503050406030204" pitchFamily="18" charset="0"/>
                            </a:rPr>
                            <m:t>𝐴</m:t>
                          </m:r>
                        </m:e>
                        <m:sub>
                          <m:r>
                            <a:rPr lang="en-US" altLang="zh-CN" sz="1800" b="0" i="1" dirty="0" smtClean="0">
                              <a:solidFill>
                                <a:schemeClr val="tx1"/>
                              </a:solidFill>
                              <a:latin typeface="Cambria Math" panose="02040503050406030204" pitchFamily="18" charset="0"/>
                            </a:rPr>
                            <m:t>𝑀</m:t>
                          </m:r>
                        </m:sub>
                      </m:sSub>
                    </m:oMath>
                  </a14:m>
                  <a:endParaRPr lang="zh-CN" altLang="en-US" dirty="0"/>
                </a:p>
              </p:txBody>
            </p:sp>
          </mc:Choice>
          <mc:Fallback xmlns="">
            <p:sp>
              <p:nvSpPr>
                <p:cNvPr id="50" name="文本框 49">
                  <a:extLst>
                    <a:ext uri="{FF2B5EF4-FFF2-40B4-BE49-F238E27FC236}">
                      <a16:creationId xmlns:a16="http://schemas.microsoft.com/office/drawing/2014/main" id="{7DF276E7-2DDA-303F-30A9-F646A1F30A52}"/>
                    </a:ext>
                  </a:extLst>
                </p:cNvPr>
                <p:cNvSpPr txBox="1">
                  <a:spLocks noRot="1" noChangeAspect="1" noMove="1" noResize="1" noEditPoints="1" noAdjustHandles="1" noChangeArrowheads="1" noChangeShapeType="1" noTextEdit="1"/>
                </p:cNvSpPr>
                <p:nvPr/>
              </p:nvSpPr>
              <p:spPr>
                <a:xfrm>
                  <a:off x="9488109" y="3638893"/>
                  <a:ext cx="2224391" cy="381678"/>
                </a:xfrm>
                <a:prstGeom prst="rect">
                  <a:avLst/>
                </a:prstGeom>
                <a:blipFill>
                  <a:blip r:embed="rId4"/>
                  <a:stretch>
                    <a:fillRect l="-2466" t="-10000" b="-26667"/>
                  </a:stretch>
                </a:blipFill>
              </p:spPr>
              <p:txBody>
                <a:bodyPr/>
                <a:lstStyle/>
                <a:p>
                  <a:r>
                    <a:rPr lang="zh-CN" altLang="en-US">
                      <a:noFill/>
                    </a:rPr>
                    <a:t> </a:t>
                  </a:r>
                </a:p>
              </p:txBody>
            </p:sp>
          </mc:Fallback>
        </mc:AlternateContent>
        <p:sp>
          <p:nvSpPr>
            <p:cNvPr id="51" name="任意多边形: 形状 50">
              <a:extLst>
                <a:ext uri="{FF2B5EF4-FFF2-40B4-BE49-F238E27FC236}">
                  <a16:creationId xmlns:a16="http://schemas.microsoft.com/office/drawing/2014/main" id="{86C657A5-3CAA-5A13-53A0-D2A4F30242AC}"/>
                </a:ext>
              </a:extLst>
            </p:cNvPr>
            <p:cNvSpPr/>
            <p:nvPr/>
          </p:nvSpPr>
          <p:spPr>
            <a:xfrm>
              <a:off x="7382934" y="2645834"/>
              <a:ext cx="4212166" cy="1206500"/>
            </a:xfrm>
            <a:custGeom>
              <a:avLst/>
              <a:gdLst>
                <a:gd name="connsiteX0" fmla="*/ 0 w 4212166"/>
                <a:gd name="connsiteY0" fmla="*/ 766233 h 1206500"/>
                <a:gd name="connsiteX1" fmla="*/ 342900 w 4212166"/>
                <a:gd name="connsiteY1" fmla="*/ 347133 h 1206500"/>
                <a:gd name="connsiteX2" fmla="*/ 579966 w 4212166"/>
                <a:gd name="connsiteY2" fmla="*/ 156633 h 1206500"/>
                <a:gd name="connsiteX3" fmla="*/ 766233 w 4212166"/>
                <a:gd name="connsiteY3" fmla="*/ 105833 h 1206500"/>
                <a:gd name="connsiteX4" fmla="*/ 833966 w 4212166"/>
                <a:gd name="connsiteY4" fmla="*/ 232833 h 1206500"/>
                <a:gd name="connsiteX5" fmla="*/ 859366 w 4212166"/>
                <a:gd name="connsiteY5" fmla="*/ 508000 h 1206500"/>
                <a:gd name="connsiteX6" fmla="*/ 880533 w 4212166"/>
                <a:gd name="connsiteY6" fmla="*/ 791633 h 1206500"/>
                <a:gd name="connsiteX7" fmla="*/ 910166 w 4212166"/>
                <a:gd name="connsiteY7" fmla="*/ 948266 h 1206500"/>
                <a:gd name="connsiteX8" fmla="*/ 994833 w 4212166"/>
                <a:gd name="connsiteY8" fmla="*/ 1037166 h 1206500"/>
                <a:gd name="connsiteX9" fmla="*/ 1299633 w 4212166"/>
                <a:gd name="connsiteY9" fmla="*/ 1176866 h 1206500"/>
                <a:gd name="connsiteX10" fmla="*/ 1756833 w 4212166"/>
                <a:gd name="connsiteY10" fmla="*/ 1206500 h 1206500"/>
                <a:gd name="connsiteX11" fmla="*/ 1943100 w 4212166"/>
                <a:gd name="connsiteY11" fmla="*/ 1138766 h 1206500"/>
                <a:gd name="connsiteX12" fmla="*/ 1930400 w 4212166"/>
                <a:gd name="connsiteY12" fmla="*/ 897466 h 1206500"/>
                <a:gd name="connsiteX13" fmla="*/ 1849966 w 4212166"/>
                <a:gd name="connsiteY13" fmla="*/ 588433 h 1206500"/>
                <a:gd name="connsiteX14" fmla="*/ 1905000 w 4212166"/>
                <a:gd name="connsiteY14" fmla="*/ 317500 h 1206500"/>
                <a:gd name="connsiteX15" fmla="*/ 2103966 w 4212166"/>
                <a:gd name="connsiteY15" fmla="*/ 152400 h 1206500"/>
                <a:gd name="connsiteX16" fmla="*/ 2501900 w 4212166"/>
                <a:gd name="connsiteY16" fmla="*/ 42333 h 1206500"/>
                <a:gd name="connsiteX17" fmla="*/ 2963333 w 4212166"/>
                <a:gd name="connsiteY17" fmla="*/ 0 h 1206500"/>
                <a:gd name="connsiteX18" fmla="*/ 3386666 w 4212166"/>
                <a:gd name="connsiteY18" fmla="*/ 71966 h 1206500"/>
                <a:gd name="connsiteX19" fmla="*/ 3479800 w 4212166"/>
                <a:gd name="connsiteY19" fmla="*/ 296333 h 1206500"/>
                <a:gd name="connsiteX20" fmla="*/ 3568700 w 4212166"/>
                <a:gd name="connsiteY20" fmla="*/ 630766 h 1206500"/>
                <a:gd name="connsiteX21" fmla="*/ 3661833 w 4212166"/>
                <a:gd name="connsiteY21" fmla="*/ 876300 h 1206500"/>
                <a:gd name="connsiteX22" fmla="*/ 3738033 w 4212166"/>
                <a:gd name="connsiteY22" fmla="*/ 960966 h 1206500"/>
                <a:gd name="connsiteX23" fmla="*/ 3949700 w 4212166"/>
                <a:gd name="connsiteY23" fmla="*/ 867833 h 1206500"/>
                <a:gd name="connsiteX24" fmla="*/ 4212166 w 4212166"/>
                <a:gd name="connsiteY24" fmla="*/ 546100 h 1206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12166" h="1206500">
                  <a:moveTo>
                    <a:pt x="0" y="766233"/>
                  </a:moveTo>
                  <a:lnTo>
                    <a:pt x="342900" y="347133"/>
                  </a:lnTo>
                  <a:lnTo>
                    <a:pt x="579966" y="156633"/>
                  </a:lnTo>
                  <a:lnTo>
                    <a:pt x="766233" y="105833"/>
                  </a:lnTo>
                  <a:lnTo>
                    <a:pt x="833966" y="232833"/>
                  </a:lnTo>
                  <a:lnTo>
                    <a:pt x="859366" y="508000"/>
                  </a:lnTo>
                  <a:lnTo>
                    <a:pt x="880533" y="791633"/>
                  </a:lnTo>
                  <a:lnTo>
                    <a:pt x="910166" y="948266"/>
                  </a:lnTo>
                  <a:lnTo>
                    <a:pt x="994833" y="1037166"/>
                  </a:lnTo>
                  <a:lnTo>
                    <a:pt x="1299633" y="1176866"/>
                  </a:lnTo>
                  <a:lnTo>
                    <a:pt x="1756833" y="1206500"/>
                  </a:lnTo>
                  <a:lnTo>
                    <a:pt x="1943100" y="1138766"/>
                  </a:lnTo>
                  <a:lnTo>
                    <a:pt x="1930400" y="897466"/>
                  </a:lnTo>
                  <a:lnTo>
                    <a:pt x="1849966" y="588433"/>
                  </a:lnTo>
                  <a:lnTo>
                    <a:pt x="1905000" y="317500"/>
                  </a:lnTo>
                  <a:lnTo>
                    <a:pt x="2103966" y="152400"/>
                  </a:lnTo>
                  <a:lnTo>
                    <a:pt x="2501900" y="42333"/>
                  </a:lnTo>
                  <a:lnTo>
                    <a:pt x="2963333" y="0"/>
                  </a:lnTo>
                  <a:lnTo>
                    <a:pt x="3386666" y="71966"/>
                  </a:lnTo>
                  <a:lnTo>
                    <a:pt x="3479800" y="296333"/>
                  </a:lnTo>
                  <a:lnTo>
                    <a:pt x="3568700" y="630766"/>
                  </a:lnTo>
                  <a:lnTo>
                    <a:pt x="3661833" y="876300"/>
                  </a:lnTo>
                  <a:lnTo>
                    <a:pt x="3738033" y="960966"/>
                  </a:lnTo>
                  <a:lnTo>
                    <a:pt x="3949700" y="867833"/>
                  </a:lnTo>
                  <a:lnTo>
                    <a:pt x="4212166" y="546100"/>
                  </a:ln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723A9DFC-2362-9D58-F964-A296B5631F7F}"/>
                </a:ext>
              </a:extLst>
            </p:cNvPr>
            <p:cNvSpPr txBox="1"/>
            <p:nvPr/>
          </p:nvSpPr>
          <p:spPr>
            <a:xfrm>
              <a:off x="7148335" y="3634305"/>
              <a:ext cx="1356718" cy="369332"/>
            </a:xfrm>
            <a:prstGeom prst="rect">
              <a:avLst/>
            </a:prstGeom>
            <a:noFill/>
          </p:spPr>
          <p:txBody>
            <a:bodyPr wrap="none" rtlCol="0">
              <a:spAutoFit/>
            </a:bodyPr>
            <a:lstStyle/>
            <a:p>
              <a:r>
                <a:rPr lang="en-US" altLang="zh-CN" dirty="0">
                  <a:solidFill>
                    <a:schemeClr val="accent4">
                      <a:lumMod val="60000"/>
                      <a:lumOff val="40000"/>
                    </a:schemeClr>
                  </a:solidFill>
                </a:rPr>
                <a:t>Microfacet</a:t>
              </a:r>
              <a:endParaRPr lang="zh-CN" altLang="en-US" dirty="0">
                <a:solidFill>
                  <a:schemeClr val="accent4">
                    <a:lumMod val="60000"/>
                    <a:lumOff val="40000"/>
                  </a:schemeClr>
                </a:solidFill>
              </a:endParaRPr>
            </a:p>
          </p:txBody>
        </p:sp>
      </p:grpSp>
      <p:cxnSp>
        <p:nvCxnSpPr>
          <p:cNvPr id="63" name="直接连接符 62">
            <a:extLst>
              <a:ext uri="{FF2B5EF4-FFF2-40B4-BE49-F238E27FC236}">
                <a16:creationId xmlns:a16="http://schemas.microsoft.com/office/drawing/2014/main" id="{9EE7E11C-4E42-BC74-05A2-A3521960A525}"/>
              </a:ext>
            </a:extLst>
          </p:cNvPr>
          <p:cNvCxnSpPr>
            <a:cxnSpLocks/>
          </p:cNvCxnSpPr>
          <p:nvPr/>
        </p:nvCxnSpPr>
        <p:spPr>
          <a:xfrm>
            <a:off x="7157081" y="4501709"/>
            <a:ext cx="3653241" cy="12243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直接连接符 134">
            <a:extLst>
              <a:ext uri="{FF2B5EF4-FFF2-40B4-BE49-F238E27FC236}">
                <a16:creationId xmlns:a16="http://schemas.microsoft.com/office/drawing/2014/main" id="{3F63A97D-2E87-F1B8-CD25-0C7F5EF68EF7}"/>
              </a:ext>
            </a:extLst>
          </p:cNvPr>
          <p:cNvCxnSpPr>
            <a:cxnSpLocks/>
          </p:cNvCxnSpPr>
          <p:nvPr/>
        </p:nvCxnSpPr>
        <p:spPr>
          <a:xfrm>
            <a:off x="7238904" y="4317429"/>
            <a:ext cx="3742187" cy="12541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02D4DF01-8F1F-A512-5FEE-50EAFFF583F2}"/>
              </a:ext>
            </a:extLst>
          </p:cNvPr>
          <p:cNvCxnSpPr>
            <a:cxnSpLocks/>
          </p:cNvCxnSpPr>
          <p:nvPr/>
        </p:nvCxnSpPr>
        <p:spPr>
          <a:xfrm>
            <a:off x="6828847" y="5356664"/>
            <a:ext cx="1940098" cy="6413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1DBFC6EB-9CC4-2348-54E7-6B1A06F7EC77}"/>
              </a:ext>
            </a:extLst>
          </p:cNvPr>
          <p:cNvCxnSpPr>
            <a:cxnSpLocks/>
          </p:cNvCxnSpPr>
          <p:nvPr/>
        </p:nvCxnSpPr>
        <p:spPr>
          <a:xfrm>
            <a:off x="6927181" y="5137005"/>
            <a:ext cx="1936563" cy="640191"/>
          </a:xfrm>
          <a:prstGeom prst="line">
            <a:avLst/>
          </a:prstGeom>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A42E3AF7-3A07-5DE6-759D-829A4E1725BD}"/>
              </a:ext>
            </a:extLst>
          </p:cNvPr>
          <p:cNvCxnSpPr>
            <a:cxnSpLocks/>
          </p:cNvCxnSpPr>
          <p:nvPr/>
        </p:nvCxnSpPr>
        <p:spPr>
          <a:xfrm>
            <a:off x="7082861" y="4718334"/>
            <a:ext cx="1758821" cy="5814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42" name="直接连接符 141">
            <a:extLst>
              <a:ext uri="{FF2B5EF4-FFF2-40B4-BE49-F238E27FC236}">
                <a16:creationId xmlns:a16="http://schemas.microsoft.com/office/drawing/2014/main" id="{F38BA65A-3F46-C941-166A-1AC03A2C6D5D}"/>
              </a:ext>
            </a:extLst>
          </p:cNvPr>
          <p:cNvCxnSpPr>
            <a:cxnSpLocks/>
          </p:cNvCxnSpPr>
          <p:nvPr/>
        </p:nvCxnSpPr>
        <p:spPr>
          <a:xfrm>
            <a:off x="7000944" y="4901390"/>
            <a:ext cx="1797363" cy="594174"/>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AC774D03-2132-8AA7-6954-57A5D0164803}"/>
              </a:ext>
            </a:extLst>
          </p:cNvPr>
          <p:cNvCxnSpPr>
            <a:cxnSpLocks/>
          </p:cNvCxnSpPr>
          <p:nvPr/>
        </p:nvCxnSpPr>
        <p:spPr>
          <a:xfrm>
            <a:off x="7311230" y="4128236"/>
            <a:ext cx="3818530" cy="127969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91026AE4-A35C-0F57-F0DF-11842FF608BD}"/>
              </a:ext>
            </a:extLst>
          </p:cNvPr>
          <p:cNvCxnSpPr>
            <a:stCxn id="51" idx="24"/>
          </p:cNvCxnSpPr>
          <p:nvPr/>
        </p:nvCxnSpPr>
        <p:spPr>
          <a:xfrm flipH="1">
            <a:off x="10981091" y="5399503"/>
            <a:ext cx="170769" cy="172038"/>
          </a:xfrm>
          <a:prstGeom prst="line">
            <a:avLst/>
          </a:prstGeom>
          <a:ln w="28575">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BB126322-801C-2FA5-5944-A09F642CBEF7}"/>
              </a:ext>
            </a:extLst>
          </p:cNvPr>
          <p:cNvCxnSpPr>
            <a:cxnSpLocks/>
            <a:stCxn id="51" idx="19"/>
          </p:cNvCxnSpPr>
          <p:nvPr/>
        </p:nvCxnSpPr>
        <p:spPr>
          <a:xfrm>
            <a:off x="10419494" y="5157815"/>
            <a:ext cx="64706" cy="235543"/>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EB0073F3-46B9-4BC8-9D6A-3EE7600E8549}"/>
              </a:ext>
            </a:extLst>
          </p:cNvPr>
          <p:cNvCxnSpPr>
            <a:cxnSpLocks/>
          </p:cNvCxnSpPr>
          <p:nvPr/>
        </p:nvCxnSpPr>
        <p:spPr>
          <a:xfrm flipV="1">
            <a:off x="6828847" y="4128236"/>
            <a:ext cx="479395" cy="122842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6" name="直接连接符 165">
            <a:extLst>
              <a:ext uri="{FF2B5EF4-FFF2-40B4-BE49-F238E27FC236}">
                <a16:creationId xmlns:a16="http://schemas.microsoft.com/office/drawing/2014/main" id="{01AD605D-287D-52CA-433D-9C433E66F7FD}"/>
              </a:ext>
            </a:extLst>
          </p:cNvPr>
          <p:cNvCxnSpPr>
            <a:cxnSpLocks/>
          </p:cNvCxnSpPr>
          <p:nvPr/>
        </p:nvCxnSpPr>
        <p:spPr>
          <a:xfrm flipH="1">
            <a:off x="9196917" y="4875391"/>
            <a:ext cx="383117" cy="10678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AF6E308F-8632-9578-9879-2FD5088303A7}"/>
              </a:ext>
            </a:extLst>
          </p:cNvPr>
          <p:cNvCxnSpPr>
            <a:cxnSpLocks/>
          </p:cNvCxnSpPr>
          <p:nvPr/>
        </p:nvCxnSpPr>
        <p:spPr>
          <a:xfrm flipH="1">
            <a:off x="8843580" y="4658104"/>
            <a:ext cx="72787" cy="193485"/>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86" name="直接箭头连接符 185">
            <a:extLst>
              <a:ext uri="{FF2B5EF4-FFF2-40B4-BE49-F238E27FC236}">
                <a16:creationId xmlns:a16="http://schemas.microsoft.com/office/drawing/2014/main" id="{B2F4BCB4-FDFC-1846-8C56-3D25619B7D02}"/>
              </a:ext>
            </a:extLst>
          </p:cNvPr>
          <p:cNvCxnSpPr>
            <a:cxnSpLocks/>
          </p:cNvCxnSpPr>
          <p:nvPr/>
        </p:nvCxnSpPr>
        <p:spPr>
          <a:xfrm flipH="1" flipV="1">
            <a:off x="6855466" y="4542754"/>
            <a:ext cx="261224" cy="9609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2" name="文本框 201">
                <a:extLst>
                  <a:ext uri="{FF2B5EF4-FFF2-40B4-BE49-F238E27FC236}">
                    <a16:creationId xmlns:a16="http://schemas.microsoft.com/office/drawing/2014/main" id="{BA4A4C12-7313-D094-D7F8-D9612CEB847E}"/>
                  </a:ext>
                </a:extLst>
              </p:cNvPr>
              <p:cNvSpPr txBox="1"/>
              <p:nvPr/>
            </p:nvSpPr>
            <p:spPr>
              <a:xfrm>
                <a:off x="6685836" y="4192758"/>
                <a:ext cx="2019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tx2">
                              <a:lumMod val="50000"/>
                              <a:lumOff val="50000"/>
                            </a:schemeClr>
                          </a:solidFill>
                          <a:latin typeface="Cambria Math" panose="02040503050406030204" pitchFamily="18" charset="0"/>
                        </a:rPr>
                        <m:t>𝒐</m:t>
                      </m:r>
                    </m:oMath>
                  </m:oMathPara>
                </a14:m>
                <a:endParaRPr lang="zh-CN" altLang="en-US" b="1" dirty="0">
                  <a:solidFill>
                    <a:schemeClr val="tx2">
                      <a:lumMod val="50000"/>
                      <a:lumOff val="50000"/>
                    </a:schemeClr>
                  </a:solidFill>
                </a:endParaRPr>
              </a:p>
            </p:txBody>
          </p:sp>
        </mc:Choice>
        <mc:Fallback xmlns="">
          <p:sp>
            <p:nvSpPr>
              <p:cNvPr id="202" name="文本框 201">
                <a:extLst>
                  <a:ext uri="{FF2B5EF4-FFF2-40B4-BE49-F238E27FC236}">
                    <a16:creationId xmlns:a16="http://schemas.microsoft.com/office/drawing/2014/main" id="{BA4A4C12-7313-D094-D7F8-D9612CEB847E}"/>
                  </a:ext>
                </a:extLst>
              </p:cNvPr>
              <p:cNvSpPr txBox="1">
                <a:spLocks noRot="1" noChangeAspect="1" noMove="1" noResize="1" noEditPoints="1" noAdjustHandles="1" noChangeArrowheads="1" noChangeShapeType="1" noTextEdit="1"/>
              </p:cNvSpPr>
              <p:nvPr/>
            </p:nvSpPr>
            <p:spPr>
              <a:xfrm>
                <a:off x="6685836" y="4192758"/>
                <a:ext cx="201978" cy="276999"/>
              </a:xfrm>
              <a:prstGeom prst="rect">
                <a:avLst/>
              </a:prstGeom>
              <a:blipFill>
                <a:blip r:embed="rId5"/>
                <a:stretch>
                  <a:fillRect l="-12121" r="-15152" b="-22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383239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2C9B9-F320-B74E-9B40-33EDF107C070}"/>
            </a:ext>
          </a:extLst>
        </p:cNvPr>
        <p:cNvGrpSpPr/>
        <p:nvPr/>
      </p:nvGrpSpPr>
      <p:grpSpPr>
        <a:xfrm>
          <a:off x="0" y="0"/>
          <a:ext cx="0" cy="0"/>
          <a:chOff x="0" y="0"/>
          <a:chExt cx="0" cy="0"/>
        </a:xfrm>
      </p:grpSpPr>
      <p:sp>
        <p:nvSpPr>
          <p:cNvPr id="159" name="矩形 158">
            <a:extLst>
              <a:ext uri="{FF2B5EF4-FFF2-40B4-BE49-F238E27FC236}">
                <a16:creationId xmlns:a16="http://schemas.microsoft.com/office/drawing/2014/main" id="{3CCDBB81-2E19-BF97-C75D-BAC0056A12C8}"/>
              </a:ext>
            </a:extLst>
          </p:cNvPr>
          <p:cNvSpPr/>
          <p:nvPr/>
        </p:nvSpPr>
        <p:spPr>
          <a:xfrm>
            <a:off x="6611551" y="1702417"/>
            <a:ext cx="4994356" cy="345316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a:extLst>
              <a:ext uri="{FF2B5EF4-FFF2-40B4-BE49-F238E27FC236}">
                <a16:creationId xmlns:a16="http://schemas.microsoft.com/office/drawing/2014/main" id="{1B731A96-EB0E-71F5-1C5F-741BE6F8A4C0}"/>
              </a:ext>
            </a:extLst>
          </p:cNvPr>
          <p:cNvSpPr/>
          <p:nvPr/>
        </p:nvSpPr>
        <p:spPr>
          <a:xfrm>
            <a:off x="6478201" y="1530967"/>
            <a:ext cx="4994356" cy="345316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矩形 58">
            <a:extLst>
              <a:ext uri="{FF2B5EF4-FFF2-40B4-BE49-F238E27FC236}">
                <a16:creationId xmlns:a16="http://schemas.microsoft.com/office/drawing/2014/main" id="{81122D71-3EF4-FEE8-B7D0-27068630F1E8}"/>
              </a:ext>
            </a:extLst>
          </p:cNvPr>
          <p:cNvSpPr/>
          <p:nvPr/>
        </p:nvSpPr>
        <p:spPr>
          <a:xfrm>
            <a:off x="631111" y="1231307"/>
            <a:ext cx="5430501" cy="538674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13" name="标题 2">
            <a:extLst>
              <a:ext uri="{FF2B5EF4-FFF2-40B4-BE49-F238E27FC236}">
                <a16:creationId xmlns:a16="http://schemas.microsoft.com/office/drawing/2014/main" id="{E2172D9A-720E-403B-F49E-4BE8A4218B82}"/>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如何描述微表面？</a:t>
            </a:r>
            <a:r>
              <a:rPr lang="en-US" altLang="zh-CN" dirty="0"/>
              <a:t>—— </a:t>
            </a:r>
            <a:r>
              <a:rPr lang="zh-CN" altLang="en-US" dirty="0"/>
              <a:t>掩蔽函数</a:t>
            </a:r>
            <a:endParaRPr lang="en-US" altLang="zh-CN"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61D28AF-3F7B-EB6D-DEC8-67578477A9E2}"/>
                  </a:ext>
                </a:extLst>
              </p:cNvPr>
              <p:cNvSpPr/>
              <p:nvPr/>
            </p:nvSpPr>
            <p:spPr>
              <a:xfrm>
                <a:off x="478711" y="1078907"/>
                <a:ext cx="5430501" cy="538674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dirty="0">
                    <a:solidFill>
                      <a:schemeClr val="tx1"/>
                    </a:solidFill>
                  </a:rPr>
                  <a:t>        </a:t>
                </a:r>
                <a14:m>
                  <m:oMath xmlns:m="http://schemas.openxmlformats.org/officeDocument/2006/math">
                    <m:r>
                      <a:rPr lang="zh-CN" altLang="en-US" i="1" dirty="0" smtClean="0">
                        <a:solidFill>
                          <a:schemeClr val="tx1"/>
                        </a:solidFill>
                        <a:latin typeface="Cambria Math" panose="02040503050406030204" pitchFamily="18" charset="0"/>
                      </a:rPr>
                      <m:t>法线分布函数</m:t>
                    </m:r>
                    <m:r>
                      <a:rPr lang="en-US" altLang="zh-CN" i="1" dirty="0" smtClean="0">
                        <a:solidFill>
                          <a:schemeClr val="tx1"/>
                        </a:solidFill>
                        <a:latin typeface="Cambria Math" panose="02040503050406030204" pitchFamily="18" charset="0"/>
                      </a:rPr>
                      <m:t>𝐷</m:t>
                    </m:r>
                    <m:d>
                      <m:dPr>
                        <m:ctrlPr>
                          <a:rPr lang="en-US" altLang="zh-CN" i="1" dirty="0">
                            <a:solidFill>
                              <a:schemeClr val="tx1"/>
                            </a:solidFill>
                            <a:latin typeface="Cambria Math" panose="02040503050406030204" pitchFamily="18" charset="0"/>
                          </a:rPr>
                        </m:ctrlPr>
                      </m:dPr>
                      <m:e>
                        <m:r>
                          <a:rPr lang="en-US" altLang="zh-CN" b="1" i="1" dirty="0" smtClean="0">
                            <a:solidFill>
                              <a:schemeClr val="tx1"/>
                            </a:solidFill>
                            <a:latin typeface="Cambria Math" panose="02040503050406030204" pitchFamily="18" charset="0"/>
                          </a:rPr>
                          <m:t>𝒎</m:t>
                        </m:r>
                      </m:e>
                    </m:d>
                  </m:oMath>
                </a14:m>
                <a:r>
                  <a:rPr lang="zh-CN" altLang="en-US" dirty="0">
                    <a:solidFill>
                      <a:schemeClr val="tx1"/>
                    </a:solidFill>
                  </a:rPr>
                  <a:t>描述了给定</a:t>
                </a:r>
                <a14:m>
                  <m:oMath xmlns:m="http://schemas.openxmlformats.org/officeDocument/2006/math">
                    <m:r>
                      <a:rPr lang="en-US" altLang="zh-CN" b="1" i="1" dirty="0">
                        <a:solidFill>
                          <a:schemeClr val="tx1"/>
                        </a:solidFill>
                        <a:latin typeface="Cambria Math" panose="02040503050406030204" pitchFamily="18" charset="0"/>
                      </a:rPr>
                      <m:t>𝒎</m:t>
                    </m:r>
                  </m:oMath>
                </a14:m>
                <a:r>
                  <a:rPr lang="zh-CN" altLang="en-US" dirty="0">
                    <a:solidFill>
                      <a:schemeClr val="tx1"/>
                    </a:solidFill>
                  </a:rPr>
                  <a:t>，在</a:t>
                </a:r>
                <a14:m>
                  <m:oMath xmlns:m="http://schemas.openxmlformats.org/officeDocument/2006/math">
                    <m:r>
                      <m:rPr>
                        <m:sty m:val="p"/>
                      </m:rPr>
                      <a:rPr lang="en-US" altLang="zh-CN" b="0" i="0" dirty="0" smtClean="0">
                        <a:solidFill>
                          <a:schemeClr val="tx1"/>
                        </a:solidFill>
                        <a:latin typeface="Cambria Math" panose="02040503050406030204" pitchFamily="18" charset="0"/>
                      </a:rPr>
                      <m:t>d</m:t>
                    </m:r>
                    <m:sSub>
                      <m:sSubPr>
                        <m:ctrlPr>
                          <a:rPr lang="en-US" altLang="zh-CN" b="0" i="1" dirty="0" smtClean="0">
                            <a:solidFill>
                              <a:schemeClr val="tx1"/>
                            </a:solidFill>
                            <a:latin typeface="Cambria Math" panose="02040503050406030204" pitchFamily="18" charset="0"/>
                          </a:rPr>
                        </m:ctrlPr>
                      </m:sSubPr>
                      <m:e>
                        <m:r>
                          <a:rPr lang="en-US" altLang="zh-CN" b="0" i="1" dirty="0" smtClean="0">
                            <a:solidFill>
                              <a:schemeClr val="tx1"/>
                            </a:solidFill>
                            <a:latin typeface="Cambria Math" panose="02040503050406030204" pitchFamily="18" charset="0"/>
                          </a:rPr>
                          <m:t>𝜔</m:t>
                        </m:r>
                      </m:e>
                      <m:sub>
                        <m:r>
                          <a:rPr lang="en-US" altLang="zh-CN" b="0" i="1" dirty="0" smtClean="0">
                            <a:solidFill>
                              <a:schemeClr val="tx1"/>
                            </a:solidFill>
                            <a:latin typeface="Cambria Math" panose="02040503050406030204" pitchFamily="18" charset="0"/>
                          </a:rPr>
                          <m:t>𝑚</m:t>
                        </m:r>
                      </m:sub>
                    </m:sSub>
                  </m:oMath>
                </a14:m>
                <a:r>
                  <a:rPr lang="zh-CN" altLang="en-US" dirty="0">
                    <a:solidFill>
                      <a:schemeClr val="tx1"/>
                    </a:solidFill>
                  </a:rPr>
                  <a:t>内所对应的微面相对面积，是微面自身的属性。此外，微面之间也会有相互影响。对于给定观察方向</a:t>
                </a:r>
                <a14:m>
                  <m:oMath xmlns:m="http://schemas.openxmlformats.org/officeDocument/2006/math">
                    <m:r>
                      <a:rPr lang="en-US" altLang="zh-CN" b="1" i="1" dirty="0" smtClean="0">
                        <a:solidFill>
                          <a:schemeClr val="tx1"/>
                        </a:solidFill>
                        <a:latin typeface="Cambria Math" panose="02040503050406030204" pitchFamily="18" charset="0"/>
                      </a:rPr>
                      <m:t>𝒐</m:t>
                    </m:r>
                  </m:oMath>
                </a14:m>
                <a:r>
                  <a:rPr lang="zh-CN" altLang="en-US" dirty="0">
                    <a:solidFill>
                      <a:schemeClr val="tx1"/>
                    </a:solidFill>
                  </a:rPr>
                  <a:t>，有一部分的微面是会被其它微面挡住的，也就是对于观察者来说这部分微面不可见，不同朝向的微面被遮挡的面积大小也各不相同。</a:t>
                </a:r>
                <a:endParaRPr lang="en-US" altLang="zh-CN" dirty="0">
                  <a:solidFill>
                    <a:schemeClr val="tx1"/>
                  </a:solidFill>
                </a:endParaRPr>
              </a:p>
              <a:p>
                <a:pPr>
                  <a:lnSpc>
                    <a:spcPct val="150000"/>
                  </a:lnSpc>
                </a:pPr>
                <a:r>
                  <a:rPr lang="en-US" altLang="zh-CN" dirty="0">
                    <a:solidFill>
                      <a:schemeClr val="tx1"/>
                    </a:solidFill>
                  </a:rPr>
                  <a:t>        </a:t>
                </a:r>
                <a:r>
                  <a:rPr lang="zh-CN" altLang="en-US" dirty="0">
                    <a:solidFill>
                      <a:schemeClr val="tx1"/>
                    </a:solidFill>
                  </a:rPr>
                  <a:t>掩蔽函数</a:t>
                </a:r>
                <a14:m>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𝐺</m:t>
                        </m:r>
                      </m:e>
                      <m:sub>
                        <m:r>
                          <a:rPr lang="en-US" altLang="zh-CN" b="0" i="1" smtClean="0">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𝒐</m:t>
                    </m:r>
                    <m:r>
                      <a:rPr lang="en-US" altLang="zh-CN" i="1">
                        <a:solidFill>
                          <a:schemeClr val="tx1"/>
                        </a:solidFill>
                        <a:latin typeface="Cambria Math" panose="02040503050406030204" pitchFamily="18" charset="0"/>
                      </a:rPr>
                      <m:t>,</m:t>
                    </m:r>
                    <m:r>
                      <a:rPr lang="en-US" altLang="zh-CN" b="1" i="1" dirty="0">
                        <a:solidFill>
                          <a:schemeClr val="tx1"/>
                        </a:solidFill>
                        <a:latin typeface="Cambria Math" panose="02040503050406030204" pitchFamily="18" charset="0"/>
                      </a:rPr>
                      <m:t>𝒎</m:t>
                    </m:r>
                    <m:r>
                      <a:rPr lang="en-US" altLang="zh-CN" i="1" smtClean="0">
                        <a:solidFill>
                          <a:schemeClr val="tx1"/>
                        </a:solidFill>
                        <a:latin typeface="Cambria Math" panose="02040503050406030204" pitchFamily="18" charset="0"/>
                      </a:rPr>
                      <m:t>)</m:t>
                    </m:r>
                  </m:oMath>
                </a14:m>
                <a:r>
                  <a:rPr lang="zh-CN" altLang="en-US" dirty="0">
                    <a:solidFill>
                      <a:schemeClr val="tx1"/>
                    </a:solidFill>
                  </a:rPr>
                  <a:t>就是用来描述这种遮挡的。对于光束击中的宏观表面的一块微小面积</a:t>
                </a:r>
                <a14:m>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i="1">
                            <a:solidFill>
                              <a:schemeClr val="tx1"/>
                            </a:solidFill>
                            <a:latin typeface="Cambria Math" panose="02040503050406030204" pitchFamily="18" charset="0"/>
                          </a:rPr>
                          <m:t>A</m:t>
                        </m:r>
                      </m:e>
                      <m:sub>
                        <m:r>
                          <a:rPr lang="en-US" altLang="zh-CN" b="0" i="1" smtClean="0">
                            <a:solidFill>
                              <a:schemeClr val="tx1"/>
                            </a:solidFill>
                            <a:latin typeface="Cambria Math" panose="02040503050406030204" pitchFamily="18" charset="0"/>
                          </a:rPr>
                          <m:t>𝑀</m:t>
                        </m:r>
                      </m:sub>
                    </m:sSub>
                  </m:oMath>
                </a14:m>
                <a:r>
                  <a:rPr lang="zh-CN" altLang="en-US" dirty="0">
                    <a:solidFill>
                      <a:schemeClr val="tx1"/>
                    </a:solidFill>
                  </a:rPr>
                  <a:t>，当观察方向为</a:t>
                </a:r>
                <a14:m>
                  <m:oMath xmlns:m="http://schemas.openxmlformats.org/officeDocument/2006/math">
                    <m:r>
                      <a:rPr lang="en-US" altLang="zh-CN" b="1" i="1" dirty="0" smtClean="0">
                        <a:solidFill>
                          <a:schemeClr val="tx1"/>
                        </a:solidFill>
                        <a:latin typeface="Cambria Math" panose="02040503050406030204" pitchFamily="18" charset="0"/>
                      </a:rPr>
                      <m:t>𝒐</m:t>
                    </m:r>
                  </m:oMath>
                </a14:m>
                <a:r>
                  <a:rPr lang="zh-CN" altLang="en-US" dirty="0">
                    <a:solidFill>
                      <a:schemeClr val="tx1"/>
                    </a:solidFill>
                  </a:rPr>
                  <a:t>时，这块小面积</a:t>
                </a:r>
                <a14:m>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i="1">
                            <a:solidFill>
                              <a:schemeClr val="tx1"/>
                            </a:solidFill>
                            <a:latin typeface="Cambria Math" panose="02040503050406030204" pitchFamily="18" charset="0"/>
                          </a:rPr>
                          <m:t>A</m:t>
                        </m:r>
                      </m:e>
                      <m:sub>
                        <m:r>
                          <a:rPr lang="en-US" altLang="zh-CN" b="0" i="1" smtClean="0">
                            <a:solidFill>
                              <a:schemeClr val="tx1"/>
                            </a:solidFill>
                            <a:latin typeface="Cambria Math" panose="02040503050406030204" pitchFamily="18" charset="0"/>
                          </a:rPr>
                          <m:t>𝑀</m:t>
                        </m:r>
                      </m:sub>
                    </m:sSub>
                  </m:oMath>
                </a14:m>
                <a:r>
                  <a:rPr lang="zh-CN" altLang="en-US" dirty="0">
                    <a:solidFill>
                      <a:schemeClr val="tx1"/>
                    </a:solidFill>
                  </a:rPr>
                  <a:t>上的所有法向量</a:t>
                </a:r>
                <a:r>
                  <a:rPr lang="en-US" altLang="zh-CN" dirty="0">
                    <a:solidFill>
                      <a:schemeClr val="tx1"/>
                    </a:solidFill>
                  </a:rPr>
                  <a:t>(</a:t>
                </a:r>
                <a:r>
                  <a:rPr lang="zh-CN" altLang="en-US" dirty="0">
                    <a:solidFill>
                      <a:schemeClr val="tx1"/>
                    </a:solidFill>
                  </a:rPr>
                  <a:t>朝向</a:t>
                </a:r>
                <a:r>
                  <a:rPr lang="en-US" altLang="zh-CN" dirty="0">
                    <a:solidFill>
                      <a:schemeClr val="tx1"/>
                    </a:solidFill>
                  </a:rPr>
                  <a:t>)</a:t>
                </a:r>
                <a:r>
                  <a:rPr lang="zh-CN" altLang="en-US" dirty="0">
                    <a:solidFill>
                      <a:schemeClr val="tx1"/>
                    </a:solidFill>
                  </a:rPr>
                  <a:t>在</a:t>
                </a:r>
                <a14:m>
                  <m:oMath xmlns:m="http://schemas.openxmlformats.org/officeDocument/2006/math">
                    <m:r>
                      <m:rPr>
                        <m:sty m:val="p"/>
                      </m:rPr>
                      <a:rPr lang="en-US" altLang="zh-CN" dirty="0">
                        <a:solidFill>
                          <a:schemeClr val="tx1"/>
                        </a:solidFill>
                        <a:latin typeface="Cambria Math" panose="02040503050406030204" pitchFamily="18" charset="0"/>
                      </a:rPr>
                      <m:t>d</m:t>
                    </m:r>
                    <m:sSub>
                      <m:sSubPr>
                        <m:ctrlPr>
                          <a:rPr lang="en-US" altLang="zh-CN" i="1" dirty="0">
                            <a:solidFill>
                              <a:schemeClr val="tx1"/>
                            </a:solidFill>
                            <a:latin typeface="Cambria Math" panose="02040503050406030204" pitchFamily="18" charset="0"/>
                          </a:rPr>
                        </m:ctrlPr>
                      </m:sSubPr>
                      <m:e>
                        <m:r>
                          <a:rPr lang="zh-CN" altLang="en-US" i="1" dirty="0">
                            <a:solidFill>
                              <a:schemeClr val="tx1"/>
                            </a:solidFill>
                            <a:latin typeface="Cambria Math" panose="02040503050406030204" pitchFamily="18" charset="0"/>
                          </a:rPr>
                          <m:t>𝜔</m:t>
                        </m:r>
                      </m:e>
                      <m:sub>
                        <m:r>
                          <a:rPr lang="en-US" altLang="zh-CN" i="1" dirty="0">
                            <a:solidFill>
                              <a:schemeClr val="tx1"/>
                            </a:solidFill>
                            <a:latin typeface="Cambria Math" panose="02040503050406030204" pitchFamily="18" charset="0"/>
                          </a:rPr>
                          <m:t>𝑚</m:t>
                        </m:r>
                      </m:sub>
                    </m:sSub>
                  </m:oMath>
                </a14:m>
                <a:r>
                  <a:rPr lang="zh-CN" altLang="en-US" dirty="0">
                    <a:solidFill>
                      <a:schemeClr val="tx1"/>
                    </a:solidFill>
                  </a:rPr>
                  <a:t>内的微面 未被遮挡的表面积</a:t>
                </a:r>
                <a14:m>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d</m:t>
                        </m:r>
                        <m:r>
                          <m:rPr>
                            <m:sty m:val="p"/>
                          </m:rPr>
                          <a:rPr lang="en-US" altLang="zh-CN" i="0">
                            <a:solidFill>
                              <a:schemeClr val="tx1"/>
                            </a:solidFill>
                            <a:latin typeface="Cambria Math" panose="02040503050406030204" pitchFamily="18" charset="0"/>
                          </a:rPr>
                          <m:t>A</m:t>
                        </m:r>
                      </m:e>
                      <m:sub>
                        <m:r>
                          <a:rPr lang="en-US" altLang="zh-CN" b="0" i="1" smtClean="0">
                            <a:solidFill>
                              <a:schemeClr val="tx1"/>
                            </a:solidFill>
                            <a:latin typeface="Cambria Math" panose="02040503050406030204" pitchFamily="18" charset="0"/>
                          </a:rPr>
                          <m:t>𝑢𝑛𝑚𝑎𝑠𝑘𝑖𝑛𝑔</m:t>
                        </m:r>
                      </m:sub>
                    </m:sSub>
                  </m:oMath>
                </a14:m>
                <a:r>
                  <a:rPr lang="zh-CN" altLang="en-US" dirty="0">
                    <a:solidFill>
                      <a:schemeClr val="tx1"/>
                    </a:solidFill>
                  </a:rPr>
                  <a:t> 与 这些微面的表面积</a:t>
                </a:r>
                <a14:m>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a:solidFill>
                              <a:schemeClr val="tx1"/>
                            </a:solidFill>
                            <a:latin typeface="Cambria Math" panose="02040503050406030204" pitchFamily="18" charset="0"/>
                          </a:rPr>
                          <m:t>d</m:t>
                        </m:r>
                        <m:r>
                          <m:rPr>
                            <m:sty m:val="p"/>
                          </m:rPr>
                          <a:rPr lang="en-US" altLang="zh-CN" i="0">
                            <a:solidFill>
                              <a:schemeClr val="tx1"/>
                            </a:solidFill>
                            <a:latin typeface="Cambria Math" panose="02040503050406030204" pitchFamily="18" charset="0"/>
                          </a:rPr>
                          <m:t>A</m:t>
                        </m:r>
                      </m:e>
                      <m:sub>
                        <m:r>
                          <a:rPr lang="en-US" altLang="zh-CN" b="0" i="1" smtClean="0">
                            <a:solidFill>
                              <a:schemeClr val="tx1"/>
                            </a:solidFill>
                            <a:latin typeface="Cambria Math" panose="02040503050406030204" pitchFamily="18" charset="0"/>
                          </a:rPr>
                          <m:t>𝑚</m:t>
                        </m:r>
                      </m:sub>
                    </m:sSub>
                  </m:oMath>
                </a14:m>
                <a:r>
                  <a:rPr lang="zh-CN" altLang="en-US" dirty="0">
                    <a:solidFill>
                      <a:schemeClr val="tx1"/>
                    </a:solidFill>
                  </a:rPr>
                  <a:t> 的比值 就是</a:t>
                </a:r>
                <a14:m>
                  <m:oMath xmlns:m="http://schemas.openxmlformats.org/officeDocument/2006/math">
                    <m:sSub>
                      <m:sSubPr>
                        <m:ctrlPr>
                          <a:rPr lang="en-US" altLang="zh-CN" b="0" i="1" smtClean="0">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𝐺</m:t>
                        </m:r>
                      </m:e>
                      <m:sub>
                        <m:r>
                          <a:rPr lang="en-US" altLang="zh-CN" b="0" i="1" smtClean="0">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𝒐</m:t>
                    </m:r>
                    <m:r>
                      <a:rPr lang="en-US" altLang="zh-CN" i="1">
                        <a:solidFill>
                          <a:schemeClr val="tx1"/>
                        </a:solidFill>
                        <a:latin typeface="Cambria Math" panose="02040503050406030204" pitchFamily="18" charset="0"/>
                      </a:rPr>
                      <m:t>,</m:t>
                    </m:r>
                    <m:r>
                      <a:rPr lang="en-US" altLang="zh-CN" b="0" i="1" smtClean="0">
                        <a:solidFill>
                          <a:schemeClr val="tx1"/>
                        </a:solidFill>
                        <a:latin typeface="Cambria Math" panose="02040503050406030204" pitchFamily="18" charset="0"/>
                      </a:rPr>
                      <m:t> </m:t>
                    </m:r>
                    <m:r>
                      <a:rPr lang="en-US" altLang="zh-CN" b="1" i="1" smtClean="0">
                        <a:solidFill>
                          <a:schemeClr val="tx1"/>
                        </a:solidFill>
                        <a:latin typeface="Cambria Math" panose="02040503050406030204" pitchFamily="18" charset="0"/>
                      </a:rPr>
                      <m:t>𝒎</m:t>
                    </m:r>
                    <m:r>
                      <a:rPr lang="en-US" altLang="zh-CN" i="1">
                        <a:solidFill>
                          <a:schemeClr val="tx1"/>
                        </a:solidFill>
                        <a:latin typeface="Cambria Math" panose="02040503050406030204" pitchFamily="18" charset="0"/>
                      </a:rPr>
                      <m:t>) </m:t>
                    </m:r>
                  </m:oMath>
                </a14:m>
                <a:r>
                  <a:rPr lang="zh-CN" altLang="en-US" dirty="0">
                    <a:solidFill>
                      <a:schemeClr val="tx1"/>
                    </a:solidFill>
                  </a:rPr>
                  <a:t>的函数值。</a:t>
                </a:r>
                <a:endParaRPr lang="en-US" altLang="zh-CN" dirty="0">
                  <a:solidFill>
                    <a:schemeClr val="tx1"/>
                  </a:solidFill>
                </a:endParaRPr>
              </a:p>
            </p:txBody>
          </p:sp>
        </mc:Choice>
        <mc:Fallback xmlns="">
          <p:sp>
            <p:nvSpPr>
              <p:cNvPr id="3" name="矩形 2">
                <a:extLst>
                  <a:ext uri="{FF2B5EF4-FFF2-40B4-BE49-F238E27FC236}">
                    <a16:creationId xmlns:a16="http://schemas.microsoft.com/office/drawing/2014/main" id="{A61D28AF-3F7B-EB6D-DEC8-67578477A9E2}"/>
                  </a:ext>
                </a:extLst>
              </p:cNvPr>
              <p:cNvSpPr>
                <a:spLocks noRot="1" noChangeAspect="1" noMove="1" noResize="1" noEditPoints="1" noAdjustHandles="1" noChangeArrowheads="1" noChangeShapeType="1" noTextEdit="1"/>
              </p:cNvSpPr>
              <p:nvPr/>
            </p:nvSpPr>
            <p:spPr>
              <a:xfrm>
                <a:off x="478711" y="1078907"/>
                <a:ext cx="5430501" cy="5386745"/>
              </a:xfrm>
              <a:prstGeom prst="rect">
                <a:avLst/>
              </a:prstGeom>
              <a:blipFill>
                <a:blip r:embed="rId2"/>
                <a:stretch>
                  <a:fillRect l="-897" r="-448"/>
                </a:stretch>
              </a:blipFill>
            </p:spPr>
            <p:txBody>
              <a:bodyPr/>
              <a:lstStyle/>
              <a:p>
                <a:r>
                  <a:rPr lang="zh-CN" altLang="en-US">
                    <a:noFill/>
                  </a:rPr>
                  <a:t> </a:t>
                </a:r>
              </a:p>
            </p:txBody>
          </p:sp>
        </mc:Fallback>
      </mc:AlternateContent>
      <p:grpSp>
        <p:nvGrpSpPr>
          <p:cNvPr id="161" name="组合 160">
            <a:extLst>
              <a:ext uri="{FF2B5EF4-FFF2-40B4-BE49-F238E27FC236}">
                <a16:creationId xmlns:a16="http://schemas.microsoft.com/office/drawing/2014/main" id="{25549A07-F4A6-1AA5-3886-FE6DB62C0C96}"/>
              </a:ext>
            </a:extLst>
          </p:cNvPr>
          <p:cNvGrpSpPr/>
          <p:nvPr/>
        </p:nvGrpSpPr>
        <p:grpSpPr>
          <a:xfrm>
            <a:off x="7015748" y="1769420"/>
            <a:ext cx="4178027" cy="3102279"/>
            <a:chOff x="6887503" y="1317360"/>
            <a:chExt cx="4178027" cy="3102279"/>
          </a:xfrm>
        </p:grpSpPr>
        <p:grpSp>
          <p:nvGrpSpPr>
            <p:cNvPr id="155" name="组合 154">
              <a:extLst>
                <a:ext uri="{FF2B5EF4-FFF2-40B4-BE49-F238E27FC236}">
                  <a16:creationId xmlns:a16="http://schemas.microsoft.com/office/drawing/2014/main" id="{6C3BFCDE-7FAF-6154-FDE6-8C774138FF2F}"/>
                </a:ext>
              </a:extLst>
            </p:cNvPr>
            <p:cNvGrpSpPr/>
            <p:nvPr/>
          </p:nvGrpSpPr>
          <p:grpSpPr>
            <a:xfrm>
              <a:off x="7012852" y="1572343"/>
              <a:ext cx="4052678" cy="2418577"/>
              <a:chOff x="7012852" y="1572343"/>
              <a:chExt cx="4052678" cy="2418577"/>
            </a:xfrm>
          </p:grpSpPr>
          <p:sp>
            <p:nvSpPr>
              <p:cNvPr id="117" name="任意多边形: 形状 116">
                <a:extLst>
                  <a:ext uri="{FF2B5EF4-FFF2-40B4-BE49-F238E27FC236}">
                    <a16:creationId xmlns:a16="http://schemas.microsoft.com/office/drawing/2014/main" id="{626995BF-A786-FD88-C6DD-E576F7503180}"/>
                  </a:ext>
                </a:extLst>
              </p:cNvPr>
              <p:cNvSpPr/>
              <p:nvPr/>
            </p:nvSpPr>
            <p:spPr>
              <a:xfrm>
                <a:off x="9886950" y="3022545"/>
                <a:ext cx="577850" cy="698500"/>
              </a:xfrm>
              <a:custGeom>
                <a:avLst/>
                <a:gdLst>
                  <a:gd name="connsiteX0" fmla="*/ 0 w 552450"/>
                  <a:gd name="connsiteY0" fmla="*/ 0 h 679450"/>
                  <a:gd name="connsiteX1" fmla="*/ 552450 w 552450"/>
                  <a:gd name="connsiteY1" fmla="*/ 679450 h 679450"/>
                  <a:gd name="connsiteX2" fmla="*/ 412750 w 552450"/>
                  <a:gd name="connsiteY2" fmla="*/ 622300 h 679450"/>
                  <a:gd name="connsiteX3" fmla="*/ 323850 w 552450"/>
                  <a:gd name="connsiteY3" fmla="*/ 584200 h 679450"/>
                  <a:gd name="connsiteX4" fmla="*/ 228600 w 552450"/>
                  <a:gd name="connsiteY4" fmla="*/ 530225 h 679450"/>
                  <a:gd name="connsiteX5" fmla="*/ 171450 w 552450"/>
                  <a:gd name="connsiteY5" fmla="*/ 479425 h 679450"/>
                  <a:gd name="connsiteX6" fmla="*/ 127000 w 552450"/>
                  <a:gd name="connsiteY6" fmla="*/ 396875 h 679450"/>
                  <a:gd name="connsiteX7" fmla="*/ 0 w 552450"/>
                  <a:gd name="connsiteY7" fmla="*/ 0 h 67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 h="679450">
                    <a:moveTo>
                      <a:pt x="0" y="0"/>
                    </a:moveTo>
                    <a:lnTo>
                      <a:pt x="552450" y="679450"/>
                    </a:lnTo>
                    <a:lnTo>
                      <a:pt x="412750" y="622300"/>
                    </a:lnTo>
                    <a:lnTo>
                      <a:pt x="323850" y="584200"/>
                    </a:lnTo>
                    <a:lnTo>
                      <a:pt x="228600" y="530225"/>
                    </a:lnTo>
                    <a:lnTo>
                      <a:pt x="171450" y="479425"/>
                    </a:lnTo>
                    <a:lnTo>
                      <a:pt x="127000" y="3968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 name="任意多边形: 形状 115">
                <a:extLst>
                  <a:ext uri="{FF2B5EF4-FFF2-40B4-BE49-F238E27FC236}">
                    <a16:creationId xmlns:a16="http://schemas.microsoft.com/office/drawing/2014/main" id="{8B83ACBA-B6F3-3525-D8BD-C330ABED3E85}"/>
                  </a:ext>
                </a:extLst>
              </p:cNvPr>
              <p:cNvSpPr/>
              <p:nvPr/>
            </p:nvSpPr>
            <p:spPr>
              <a:xfrm>
                <a:off x="7962900" y="3219395"/>
                <a:ext cx="596952" cy="733425"/>
              </a:xfrm>
              <a:custGeom>
                <a:avLst/>
                <a:gdLst>
                  <a:gd name="connsiteX0" fmla="*/ 0 w 590550"/>
                  <a:gd name="connsiteY0" fmla="*/ 0 h 733425"/>
                  <a:gd name="connsiteX1" fmla="*/ 590550 w 590550"/>
                  <a:gd name="connsiteY1" fmla="*/ 727075 h 733425"/>
                  <a:gd name="connsiteX2" fmla="*/ 523875 w 590550"/>
                  <a:gd name="connsiteY2" fmla="*/ 733425 h 733425"/>
                  <a:gd name="connsiteX3" fmla="*/ 469900 w 590550"/>
                  <a:gd name="connsiteY3" fmla="*/ 730250 h 733425"/>
                  <a:gd name="connsiteX4" fmla="*/ 400050 w 590550"/>
                  <a:gd name="connsiteY4" fmla="*/ 711200 h 733425"/>
                  <a:gd name="connsiteX5" fmla="*/ 336550 w 590550"/>
                  <a:gd name="connsiteY5" fmla="*/ 638175 h 733425"/>
                  <a:gd name="connsiteX6" fmla="*/ 247650 w 590550"/>
                  <a:gd name="connsiteY6" fmla="*/ 511175 h 733425"/>
                  <a:gd name="connsiteX7" fmla="*/ 0 w 590550"/>
                  <a:gd name="connsiteY7" fmla="*/ 0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550" h="733425">
                    <a:moveTo>
                      <a:pt x="0" y="0"/>
                    </a:moveTo>
                    <a:lnTo>
                      <a:pt x="590550" y="727075"/>
                    </a:lnTo>
                    <a:lnTo>
                      <a:pt x="523875" y="733425"/>
                    </a:lnTo>
                    <a:lnTo>
                      <a:pt x="469900" y="730250"/>
                    </a:lnTo>
                    <a:lnTo>
                      <a:pt x="400050" y="711200"/>
                    </a:lnTo>
                    <a:lnTo>
                      <a:pt x="336550" y="638175"/>
                    </a:lnTo>
                    <a:lnTo>
                      <a:pt x="247650" y="5111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任意多边形: 形状 82">
                <a:extLst>
                  <a:ext uri="{FF2B5EF4-FFF2-40B4-BE49-F238E27FC236}">
                    <a16:creationId xmlns:a16="http://schemas.microsoft.com/office/drawing/2014/main" id="{93CA51BE-8ABB-9122-966F-B6E3BB2A08CE}"/>
                  </a:ext>
                </a:extLst>
              </p:cNvPr>
              <p:cNvSpPr/>
              <p:nvPr/>
            </p:nvSpPr>
            <p:spPr>
              <a:xfrm>
                <a:off x="7609840" y="2948975"/>
                <a:ext cx="3439160" cy="1041945"/>
              </a:xfrm>
              <a:custGeom>
                <a:avLst/>
                <a:gdLst>
                  <a:gd name="connsiteX0" fmla="*/ 0 w 3332480"/>
                  <a:gd name="connsiteY0" fmla="*/ 1041945 h 1041945"/>
                  <a:gd name="connsiteX1" fmla="*/ 279400 w 3332480"/>
                  <a:gd name="connsiteY1" fmla="*/ 218985 h 1041945"/>
                  <a:gd name="connsiteX2" fmla="*/ 868680 w 3332480"/>
                  <a:gd name="connsiteY2" fmla="*/ 1016545 h 1041945"/>
                  <a:gd name="connsiteX3" fmla="*/ 2087880 w 3332480"/>
                  <a:gd name="connsiteY3" fmla="*/ 5625 h 1041945"/>
                  <a:gd name="connsiteX4" fmla="*/ 2494280 w 3332480"/>
                  <a:gd name="connsiteY4" fmla="*/ 620305 h 1041945"/>
                  <a:gd name="connsiteX5" fmla="*/ 3332480 w 3332480"/>
                  <a:gd name="connsiteY5" fmla="*/ 8844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160" h="1041945">
                    <a:moveTo>
                      <a:pt x="0" y="1041945"/>
                    </a:moveTo>
                    <a:cubicBezTo>
                      <a:pt x="67310" y="632581"/>
                      <a:pt x="134620" y="223218"/>
                      <a:pt x="279400" y="218985"/>
                    </a:cubicBezTo>
                    <a:cubicBezTo>
                      <a:pt x="424180" y="214752"/>
                      <a:pt x="567267" y="1052105"/>
                      <a:pt x="868680" y="1016545"/>
                    </a:cubicBezTo>
                    <a:cubicBezTo>
                      <a:pt x="1170093" y="980985"/>
                      <a:pt x="1816947" y="71665"/>
                      <a:pt x="2087880" y="5625"/>
                    </a:cubicBezTo>
                    <a:cubicBezTo>
                      <a:pt x="2358813" y="-60415"/>
                      <a:pt x="2286847" y="473832"/>
                      <a:pt x="2494280" y="620305"/>
                    </a:cubicBezTo>
                    <a:cubicBezTo>
                      <a:pt x="2701713" y="766778"/>
                      <a:pt x="3343487" y="826892"/>
                      <a:pt x="3439160" y="1036865"/>
                    </a:cubicBez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0" name="直接连接符 89">
                <a:extLst>
                  <a:ext uri="{FF2B5EF4-FFF2-40B4-BE49-F238E27FC236}">
                    <a16:creationId xmlns:a16="http://schemas.microsoft.com/office/drawing/2014/main" id="{B5283DF1-58EF-84F5-CD35-EB289EB2BC2E}"/>
                  </a:ext>
                </a:extLst>
              </p:cNvPr>
              <p:cNvCxnSpPr>
                <a:cxnSpLocks/>
                <a:stCxn id="83" idx="0"/>
              </p:cNvCxnSpPr>
              <p:nvPr/>
            </p:nvCxnSpPr>
            <p:spPr>
              <a:xfrm flipH="1" flipV="1">
                <a:off x="7012852" y="3255565"/>
                <a:ext cx="596988" cy="73535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58C430FF-2809-0A8D-AE5A-BAD6639E6202}"/>
                  </a:ext>
                </a:extLst>
              </p:cNvPr>
              <p:cNvCxnSpPr>
                <a:cxnSpLocks/>
              </p:cNvCxnSpPr>
              <p:nvPr/>
            </p:nvCxnSpPr>
            <p:spPr>
              <a:xfrm flipH="1" flipV="1">
                <a:off x="7609840" y="2780935"/>
                <a:ext cx="950012" cy="115059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257A11E3-1092-E17B-9630-8793FC92D988}"/>
                  </a:ext>
                </a:extLst>
              </p:cNvPr>
              <p:cNvCxnSpPr>
                <a:cxnSpLocks/>
              </p:cNvCxnSpPr>
              <p:nvPr/>
            </p:nvCxnSpPr>
            <p:spPr>
              <a:xfrm flipH="1" flipV="1">
                <a:off x="8847134" y="1760557"/>
                <a:ext cx="1595118" cy="19319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3C09D5D7-460B-251F-32C9-5B70E7C655BE}"/>
                  </a:ext>
                </a:extLst>
              </p:cNvPr>
              <p:cNvCxnSpPr>
                <a:cxnSpLocks/>
              </p:cNvCxnSpPr>
              <p:nvPr/>
            </p:nvCxnSpPr>
            <p:spPr>
              <a:xfrm flipV="1">
                <a:off x="7012852" y="1577258"/>
                <a:ext cx="2055740" cy="167830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26CD3C20-13DD-02D6-7ADA-02E55C1E9640}"/>
                  </a:ext>
                </a:extLst>
              </p:cNvPr>
              <p:cNvCxnSpPr>
                <a:cxnSpLocks/>
              </p:cNvCxnSpPr>
              <p:nvPr/>
            </p:nvCxnSpPr>
            <p:spPr>
              <a:xfrm flipH="1" flipV="1">
                <a:off x="9068592" y="1572343"/>
                <a:ext cx="1996938" cy="241857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0A148FB7-6D17-1CF3-6EDA-17F9B6EBAB1F}"/>
                  </a:ext>
                </a:extLst>
              </p:cNvPr>
              <p:cNvCxnSpPr/>
              <p:nvPr/>
            </p:nvCxnSpPr>
            <p:spPr>
              <a:xfrm flipH="1" flipV="1">
                <a:off x="7748072" y="2002651"/>
                <a:ext cx="314960" cy="381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2" name="文本框 121">
                    <a:extLst>
                      <a:ext uri="{FF2B5EF4-FFF2-40B4-BE49-F238E27FC236}">
                        <a16:creationId xmlns:a16="http://schemas.microsoft.com/office/drawing/2014/main" id="{D0439EC5-3B7A-2112-0A87-057DE7EB3C96}"/>
                      </a:ext>
                    </a:extLst>
                  </p:cNvPr>
                  <p:cNvSpPr txBox="1"/>
                  <p:nvPr/>
                </p:nvSpPr>
                <p:spPr>
                  <a:xfrm>
                    <a:off x="7399694" y="1984426"/>
                    <a:ext cx="4399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𝒐</m:t>
                          </m:r>
                        </m:oMath>
                      </m:oMathPara>
                    </a14:m>
                    <a:endParaRPr lang="zh-CN" altLang="en-US" b="1" dirty="0"/>
                  </a:p>
                </p:txBody>
              </p:sp>
            </mc:Choice>
            <mc:Fallback xmlns="">
              <p:sp>
                <p:nvSpPr>
                  <p:cNvPr id="122" name="文本框 121">
                    <a:extLst>
                      <a:ext uri="{FF2B5EF4-FFF2-40B4-BE49-F238E27FC236}">
                        <a16:creationId xmlns:a16="http://schemas.microsoft.com/office/drawing/2014/main" id="{D0439EC5-3B7A-2112-0A87-057DE7EB3C96}"/>
                      </a:ext>
                    </a:extLst>
                  </p:cNvPr>
                  <p:cNvSpPr txBox="1">
                    <a:spLocks noRot="1" noChangeAspect="1" noMove="1" noResize="1" noEditPoints="1" noAdjustHandles="1" noChangeArrowheads="1" noChangeShapeType="1" noTextEdit="1"/>
                  </p:cNvSpPr>
                  <p:nvPr/>
                </p:nvSpPr>
                <p:spPr>
                  <a:xfrm>
                    <a:off x="7399694" y="1984426"/>
                    <a:ext cx="439977" cy="369332"/>
                  </a:xfrm>
                  <a:prstGeom prst="rect">
                    <a:avLst/>
                  </a:prstGeom>
                  <a:blipFill>
                    <a:blip r:embed="rId3"/>
                    <a:stretch>
                      <a:fillRect/>
                    </a:stretch>
                  </a:blipFill>
                </p:spPr>
                <p:txBody>
                  <a:bodyPr/>
                  <a:lstStyle/>
                  <a:p>
                    <a:r>
                      <a:rPr lang="zh-CN" altLang="en-US">
                        <a:noFill/>
                      </a:rPr>
                      <a:t> </a:t>
                    </a:r>
                  </a:p>
                </p:txBody>
              </p:sp>
            </mc:Fallback>
          </mc:AlternateContent>
          <p:cxnSp>
            <p:nvCxnSpPr>
              <p:cNvPr id="123" name="直接箭头连接符 122">
                <a:extLst>
                  <a:ext uri="{FF2B5EF4-FFF2-40B4-BE49-F238E27FC236}">
                    <a16:creationId xmlns:a16="http://schemas.microsoft.com/office/drawing/2014/main" id="{A8590E59-5E82-2C7C-1D53-CB11290B6394}"/>
                  </a:ext>
                </a:extLst>
              </p:cNvPr>
              <p:cNvCxnSpPr>
                <a:cxnSpLocks/>
              </p:cNvCxnSpPr>
              <p:nvPr/>
            </p:nvCxnSpPr>
            <p:spPr>
              <a:xfrm flipH="1" flipV="1">
                <a:off x="7330440" y="3381320"/>
                <a:ext cx="376414" cy="102503"/>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4" name="文本框 123">
                    <a:extLst>
                      <a:ext uri="{FF2B5EF4-FFF2-40B4-BE49-F238E27FC236}">
                        <a16:creationId xmlns:a16="http://schemas.microsoft.com/office/drawing/2014/main" id="{7612AFBD-10B8-D6E0-2ECB-125FDEBCFF6A}"/>
                      </a:ext>
                    </a:extLst>
                  </p:cNvPr>
                  <p:cNvSpPr txBox="1"/>
                  <p:nvPr/>
                </p:nvSpPr>
                <p:spPr>
                  <a:xfrm>
                    <a:off x="7356905" y="3073543"/>
                    <a:ext cx="439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124" name="文本框 123">
                    <a:extLst>
                      <a:ext uri="{FF2B5EF4-FFF2-40B4-BE49-F238E27FC236}">
                        <a16:creationId xmlns:a16="http://schemas.microsoft.com/office/drawing/2014/main" id="{7612AFBD-10B8-D6E0-2ECB-125FDEBCFF6A}"/>
                      </a:ext>
                    </a:extLst>
                  </p:cNvPr>
                  <p:cNvSpPr txBox="1">
                    <a:spLocks noRot="1" noChangeAspect="1" noMove="1" noResize="1" noEditPoints="1" noAdjustHandles="1" noChangeArrowheads="1" noChangeShapeType="1" noTextEdit="1"/>
                  </p:cNvSpPr>
                  <p:nvPr/>
                </p:nvSpPr>
                <p:spPr>
                  <a:xfrm>
                    <a:off x="7356905" y="3073543"/>
                    <a:ext cx="439977" cy="307777"/>
                  </a:xfrm>
                  <a:prstGeom prst="rect">
                    <a:avLst/>
                  </a:prstGeom>
                  <a:blipFill>
                    <a:blip r:embed="rId4"/>
                    <a:stretch>
                      <a:fillRect/>
                    </a:stretch>
                  </a:blipFill>
                </p:spPr>
                <p:txBody>
                  <a:bodyPr/>
                  <a:lstStyle/>
                  <a:p>
                    <a:r>
                      <a:rPr lang="zh-CN" altLang="en-US">
                        <a:noFill/>
                      </a:rPr>
                      <a:t> </a:t>
                    </a:r>
                  </a:p>
                </p:txBody>
              </p:sp>
            </mc:Fallback>
          </mc:AlternateContent>
          <p:cxnSp>
            <p:nvCxnSpPr>
              <p:cNvPr id="129" name="直接箭头连接符 128">
                <a:extLst>
                  <a:ext uri="{FF2B5EF4-FFF2-40B4-BE49-F238E27FC236}">
                    <a16:creationId xmlns:a16="http://schemas.microsoft.com/office/drawing/2014/main" id="{2646A8FE-3A6F-C331-48D9-05AE97FD192B}"/>
                  </a:ext>
                </a:extLst>
              </p:cNvPr>
              <p:cNvCxnSpPr>
                <a:cxnSpLocks/>
              </p:cNvCxnSpPr>
              <p:nvPr/>
            </p:nvCxnSpPr>
            <p:spPr>
              <a:xfrm flipH="1" flipV="1">
                <a:off x="8895080" y="3162880"/>
                <a:ext cx="261666" cy="269945"/>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0" name="文本框 129">
                    <a:extLst>
                      <a:ext uri="{FF2B5EF4-FFF2-40B4-BE49-F238E27FC236}">
                        <a16:creationId xmlns:a16="http://schemas.microsoft.com/office/drawing/2014/main" id="{5986A0D0-08DD-2D65-5A0E-44013224D71E}"/>
                      </a:ext>
                    </a:extLst>
                  </p:cNvPr>
                  <p:cNvSpPr txBox="1"/>
                  <p:nvPr/>
                </p:nvSpPr>
                <p:spPr>
                  <a:xfrm>
                    <a:off x="8921819" y="2940720"/>
                    <a:ext cx="439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rPr>
                            <m:t>𝒎</m:t>
                          </m:r>
                        </m:oMath>
                      </m:oMathPara>
                    </a14:m>
                    <a:endParaRPr lang="zh-CN" altLang="en-US" sz="1400" b="1" dirty="0"/>
                  </a:p>
                </p:txBody>
              </p:sp>
            </mc:Choice>
            <mc:Fallback xmlns="">
              <p:sp>
                <p:nvSpPr>
                  <p:cNvPr id="130" name="文本框 129">
                    <a:extLst>
                      <a:ext uri="{FF2B5EF4-FFF2-40B4-BE49-F238E27FC236}">
                        <a16:creationId xmlns:a16="http://schemas.microsoft.com/office/drawing/2014/main" id="{5986A0D0-08DD-2D65-5A0E-44013224D71E}"/>
                      </a:ext>
                    </a:extLst>
                  </p:cNvPr>
                  <p:cNvSpPr txBox="1">
                    <a:spLocks noRot="1" noChangeAspect="1" noMove="1" noResize="1" noEditPoints="1" noAdjustHandles="1" noChangeArrowheads="1" noChangeShapeType="1" noTextEdit="1"/>
                  </p:cNvSpPr>
                  <p:nvPr/>
                </p:nvSpPr>
                <p:spPr>
                  <a:xfrm>
                    <a:off x="8921819" y="2940720"/>
                    <a:ext cx="439977" cy="307777"/>
                  </a:xfrm>
                  <a:prstGeom prst="rect">
                    <a:avLst/>
                  </a:prstGeom>
                  <a:blipFill>
                    <a:blip r:embed="rId5"/>
                    <a:stretch>
                      <a:fillRect/>
                    </a:stretch>
                  </a:blipFill>
                </p:spPr>
                <p:txBody>
                  <a:bodyPr/>
                  <a:lstStyle/>
                  <a:p>
                    <a:r>
                      <a:rPr lang="zh-CN" altLang="en-US">
                        <a:noFill/>
                      </a:rPr>
                      <a:t> </a:t>
                    </a:r>
                  </a:p>
                </p:txBody>
              </p:sp>
            </mc:Fallback>
          </mc:AlternateContent>
          <p:cxnSp>
            <p:nvCxnSpPr>
              <p:cNvPr id="131" name="直接箭头连接符 130">
                <a:extLst>
                  <a:ext uri="{FF2B5EF4-FFF2-40B4-BE49-F238E27FC236}">
                    <a16:creationId xmlns:a16="http://schemas.microsoft.com/office/drawing/2014/main" id="{A91B0735-235C-711A-B515-2CA4F19135A9}"/>
                  </a:ext>
                </a:extLst>
              </p:cNvPr>
              <p:cNvCxnSpPr>
                <a:cxnSpLocks/>
              </p:cNvCxnSpPr>
              <p:nvPr/>
            </p:nvCxnSpPr>
            <p:spPr>
              <a:xfrm flipV="1">
                <a:off x="10566400" y="3347780"/>
                <a:ext cx="90195" cy="380931"/>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2" name="文本框 131">
                    <a:extLst>
                      <a:ext uri="{FF2B5EF4-FFF2-40B4-BE49-F238E27FC236}">
                        <a16:creationId xmlns:a16="http://schemas.microsoft.com/office/drawing/2014/main" id="{7FCA815F-D298-B803-92FC-47FA1D6941D8}"/>
                      </a:ext>
                    </a:extLst>
                  </p:cNvPr>
                  <p:cNvSpPr txBox="1"/>
                  <p:nvPr/>
                </p:nvSpPr>
                <p:spPr>
                  <a:xfrm>
                    <a:off x="10251486" y="3311686"/>
                    <a:ext cx="439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rPr>
                            <m:t>𝒎</m:t>
                          </m:r>
                        </m:oMath>
                      </m:oMathPara>
                    </a14:m>
                    <a:endParaRPr lang="zh-CN" altLang="en-US" sz="1400" b="1" dirty="0"/>
                  </a:p>
                </p:txBody>
              </p:sp>
            </mc:Choice>
            <mc:Fallback xmlns="">
              <p:sp>
                <p:nvSpPr>
                  <p:cNvPr id="132" name="文本框 131">
                    <a:extLst>
                      <a:ext uri="{FF2B5EF4-FFF2-40B4-BE49-F238E27FC236}">
                        <a16:creationId xmlns:a16="http://schemas.microsoft.com/office/drawing/2014/main" id="{7FCA815F-D298-B803-92FC-47FA1D6941D8}"/>
                      </a:ext>
                    </a:extLst>
                  </p:cNvPr>
                  <p:cNvSpPr txBox="1">
                    <a:spLocks noRot="1" noChangeAspect="1" noMove="1" noResize="1" noEditPoints="1" noAdjustHandles="1" noChangeArrowheads="1" noChangeShapeType="1" noTextEdit="1"/>
                  </p:cNvSpPr>
                  <p:nvPr/>
                </p:nvSpPr>
                <p:spPr>
                  <a:xfrm>
                    <a:off x="10251486" y="3311686"/>
                    <a:ext cx="439977" cy="307777"/>
                  </a:xfrm>
                  <a:prstGeom prst="rect">
                    <a:avLst/>
                  </a:prstGeom>
                  <a:blipFill>
                    <a:blip r:embed="rId4"/>
                    <a:stretch>
                      <a:fillRect/>
                    </a:stretch>
                  </a:blipFill>
                </p:spPr>
                <p:txBody>
                  <a:bodyPr/>
                  <a:lstStyle/>
                  <a:p>
                    <a:r>
                      <a:rPr lang="zh-CN" altLang="en-US">
                        <a:noFill/>
                      </a:rPr>
                      <a:t> </a:t>
                    </a:r>
                  </a:p>
                </p:txBody>
              </p:sp>
            </mc:Fallback>
          </mc:AlternateContent>
          <p:cxnSp>
            <p:nvCxnSpPr>
              <p:cNvPr id="154" name="直接连接符 153">
                <a:extLst>
                  <a:ext uri="{FF2B5EF4-FFF2-40B4-BE49-F238E27FC236}">
                    <a16:creationId xmlns:a16="http://schemas.microsoft.com/office/drawing/2014/main" id="{92384643-D934-DA2B-A7E4-5ABA5D4004AB}"/>
                  </a:ext>
                </a:extLst>
              </p:cNvPr>
              <p:cNvCxnSpPr>
                <a:cxnSpLocks/>
              </p:cNvCxnSpPr>
              <p:nvPr/>
            </p:nvCxnSpPr>
            <p:spPr>
              <a:xfrm>
                <a:off x="7609840" y="3990920"/>
                <a:ext cx="34556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7" name="文本框 156">
                  <a:extLst>
                    <a:ext uri="{FF2B5EF4-FFF2-40B4-BE49-F238E27FC236}">
                      <a16:creationId xmlns:a16="http://schemas.microsoft.com/office/drawing/2014/main" id="{C85013B7-4C5F-F8DD-47F3-110535844359}"/>
                    </a:ext>
                  </a:extLst>
                </p:cNvPr>
                <p:cNvSpPr txBox="1"/>
                <p:nvPr/>
              </p:nvSpPr>
              <p:spPr>
                <a:xfrm>
                  <a:off x="6887503" y="1317360"/>
                  <a:ext cx="2070360"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𝑝𝑟𝑜𝑗𝑒𝑐𝑡𝑒𝑑</m:t>
                        </m:r>
                        <m:r>
                          <a:rPr lang="en-US" altLang="zh-CN" sz="1600" b="0" i="1" smtClean="0">
                            <a:solidFill>
                              <a:schemeClr val="tx1"/>
                            </a:solidFill>
                            <a:latin typeface="Cambria Math" panose="02040503050406030204" pitchFamily="18" charset="0"/>
                          </a:rPr>
                          <m:t> </m:t>
                        </m:r>
                        <m:r>
                          <a:rPr lang="en-US" altLang="zh-CN" sz="1600" b="0" i="1" smtClean="0">
                            <a:solidFill>
                              <a:schemeClr val="tx1"/>
                            </a:solidFill>
                            <a:latin typeface="Cambria Math" panose="02040503050406030204" pitchFamily="18" charset="0"/>
                          </a:rPr>
                          <m:t>𝑎𝑟𝑒𝑎</m:t>
                        </m:r>
                      </m:oMath>
                    </m:oMathPara>
                  </a14:m>
                  <a:endParaRPr lang="en-US" altLang="zh-CN" sz="16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     =</m:t>
                        </m:r>
                        <m:d>
                          <m:dPr>
                            <m:ctrlPr>
                              <a:rPr lang="en-US" altLang="zh-CN" sz="1600" b="0" i="1" smtClean="0">
                                <a:solidFill>
                                  <a:schemeClr val="tx1"/>
                                </a:solidFill>
                                <a:latin typeface="Cambria Math" panose="02040503050406030204" pitchFamily="18" charset="0"/>
                              </a:rPr>
                            </m:ctrlPr>
                          </m:dPr>
                          <m:e>
                            <m:r>
                              <a:rPr lang="en-US" altLang="zh-CN" sz="1600" b="1" i="1" smtClean="0">
                                <a:solidFill>
                                  <a:schemeClr val="tx1"/>
                                </a:solidFill>
                                <a:latin typeface="Cambria Math" panose="02040503050406030204" pitchFamily="18" charset="0"/>
                              </a:rPr>
                              <m:t>𝒐</m:t>
                            </m:r>
                            <m:r>
                              <a:rPr lang="en-US" altLang="zh-CN" sz="1600" b="0"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𝒈</m:t>
                            </m:r>
                          </m:e>
                        </m:d>
                        <m:r>
                          <a:rPr lang="en-US" altLang="zh-CN" sz="1600" b="0" i="1" smtClean="0">
                            <a:solidFill>
                              <a:schemeClr val="tx1"/>
                            </a:solidFill>
                            <a:latin typeface="Cambria Math" panose="02040503050406030204" pitchFamily="18" charset="0"/>
                          </a:rPr>
                          <m:t> </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𝐴</m:t>
                            </m:r>
                          </m:e>
                          <m:sub>
                            <m:r>
                              <a:rPr lang="en-US" altLang="zh-CN" sz="1600" b="0" i="1" smtClean="0">
                                <a:solidFill>
                                  <a:schemeClr val="tx1"/>
                                </a:solidFill>
                                <a:latin typeface="Cambria Math" panose="02040503050406030204" pitchFamily="18" charset="0"/>
                              </a:rPr>
                              <m:t>𝑀</m:t>
                            </m:r>
                          </m:sub>
                        </m:sSub>
                      </m:oMath>
                    </m:oMathPara>
                  </a14:m>
                  <a:endParaRPr lang="zh-CN" altLang="en-US" sz="1600" dirty="0"/>
                </a:p>
              </p:txBody>
            </p:sp>
          </mc:Choice>
          <mc:Fallback xmlns="">
            <p:sp>
              <p:nvSpPr>
                <p:cNvPr id="157" name="文本框 156">
                  <a:extLst>
                    <a:ext uri="{FF2B5EF4-FFF2-40B4-BE49-F238E27FC236}">
                      <a16:creationId xmlns:a16="http://schemas.microsoft.com/office/drawing/2014/main" id="{C85013B7-4C5F-F8DD-47F3-110535844359}"/>
                    </a:ext>
                  </a:extLst>
                </p:cNvPr>
                <p:cNvSpPr txBox="1">
                  <a:spLocks noRot="1" noChangeAspect="1" noMove="1" noResize="1" noEditPoints="1" noAdjustHandles="1" noChangeArrowheads="1" noChangeShapeType="1" noTextEdit="1"/>
                </p:cNvSpPr>
                <p:nvPr/>
              </p:nvSpPr>
              <p:spPr>
                <a:xfrm>
                  <a:off x="6887503" y="1317360"/>
                  <a:ext cx="2070360" cy="584775"/>
                </a:xfrm>
                <a:prstGeom prst="rect">
                  <a:avLst/>
                </a:prstGeom>
                <a:blipFill>
                  <a:blip r:embed="rId6"/>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8" name="文本框 157">
                  <a:extLst>
                    <a:ext uri="{FF2B5EF4-FFF2-40B4-BE49-F238E27FC236}">
                      <a16:creationId xmlns:a16="http://schemas.microsoft.com/office/drawing/2014/main" id="{0425F64F-89CA-314A-62F0-81D9D112D14C}"/>
                    </a:ext>
                  </a:extLst>
                </p:cNvPr>
                <p:cNvSpPr txBox="1"/>
                <p:nvPr/>
              </p:nvSpPr>
              <p:spPr>
                <a:xfrm>
                  <a:off x="8884324" y="4050307"/>
                  <a:ext cx="20579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𝑀𝑎𝑐𝑟𝑜</m:t>
                        </m:r>
                        <m:r>
                          <a:rPr lang="en-US" altLang="zh-CN" sz="1800" b="0" i="1" smtClean="0">
                            <a:solidFill>
                              <a:schemeClr val="tx1"/>
                            </a:solidFill>
                            <a:latin typeface="Cambria Math" panose="02040503050406030204" pitchFamily="18" charset="0"/>
                          </a:rPr>
                          <m:t> </m:t>
                        </m:r>
                        <m:r>
                          <a:rPr lang="en-US" altLang="zh-CN" sz="1800" b="0" i="1" smtClean="0">
                            <a:solidFill>
                              <a:schemeClr val="tx1"/>
                            </a:solidFill>
                            <a:latin typeface="Cambria Math" panose="02040503050406030204" pitchFamily="18" charset="0"/>
                          </a:rPr>
                          <m:t>𝑆𝑢𝑟𝑓𝑎𝑐𝑒</m:t>
                        </m:r>
                        <m:r>
                          <a:rPr lang="en-US" altLang="zh-CN" sz="1800" b="0" i="1" smtClean="0">
                            <a:solidFill>
                              <a:schemeClr val="tx1"/>
                            </a:solidFill>
                            <a:latin typeface="Cambria Math" panose="02040503050406030204" pitchFamily="18" charset="0"/>
                          </a:rPr>
                          <m:t>  </m:t>
                        </m:r>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𝐴</m:t>
                            </m:r>
                          </m:e>
                          <m:sub>
                            <m:r>
                              <a:rPr lang="en-US" altLang="zh-CN" sz="1800" b="0" i="1" smtClean="0">
                                <a:solidFill>
                                  <a:schemeClr val="tx1"/>
                                </a:solidFill>
                                <a:latin typeface="Cambria Math" panose="02040503050406030204" pitchFamily="18" charset="0"/>
                              </a:rPr>
                              <m:t>𝑀</m:t>
                            </m:r>
                          </m:sub>
                        </m:sSub>
                      </m:oMath>
                    </m:oMathPara>
                  </a14:m>
                  <a:endParaRPr lang="zh-CN" altLang="en-US" dirty="0"/>
                </a:p>
              </p:txBody>
            </p:sp>
          </mc:Choice>
          <mc:Fallback xmlns="">
            <p:sp>
              <p:nvSpPr>
                <p:cNvPr id="158" name="文本框 157">
                  <a:extLst>
                    <a:ext uri="{FF2B5EF4-FFF2-40B4-BE49-F238E27FC236}">
                      <a16:creationId xmlns:a16="http://schemas.microsoft.com/office/drawing/2014/main" id="{0425F64F-89CA-314A-62F0-81D9D112D14C}"/>
                    </a:ext>
                  </a:extLst>
                </p:cNvPr>
                <p:cNvSpPr txBox="1">
                  <a:spLocks noRot="1" noChangeAspect="1" noMove="1" noResize="1" noEditPoints="1" noAdjustHandles="1" noChangeArrowheads="1" noChangeShapeType="1" noTextEdit="1"/>
                </p:cNvSpPr>
                <p:nvPr/>
              </p:nvSpPr>
              <p:spPr>
                <a:xfrm>
                  <a:off x="8884324" y="4050307"/>
                  <a:ext cx="2057996" cy="369332"/>
                </a:xfrm>
                <a:prstGeom prst="rect">
                  <a:avLst/>
                </a:prstGeom>
                <a:blipFill>
                  <a:blip r:embed="rId7"/>
                  <a:stretch>
                    <a:fillRect l="-888" r="-888" b="-15000"/>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31276790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8FF80-ADFB-26A3-1121-FBA40A1BF5A3}"/>
            </a:ext>
          </a:extLst>
        </p:cNvPr>
        <p:cNvGrpSpPr/>
        <p:nvPr/>
      </p:nvGrpSpPr>
      <p:grpSpPr>
        <a:xfrm>
          <a:off x="0" y="0"/>
          <a:ext cx="0" cy="0"/>
          <a:chOff x="0" y="0"/>
          <a:chExt cx="0" cy="0"/>
        </a:xfrm>
      </p:grpSpPr>
      <p:sp>
        <p:nvSpPr>
          <p:cNvPr id="159" name="矩形 158">
            <a:extLst>
              <a:ext uri="{FF2B5EF4-FFF2-40B4-BE49-F238E27FC236}">
                <a16:creationId xmlns:a16="http://schemas.microsoft.com/office/drawing/2014/main" id="{FD9F16B2-3B6F-5CBB-3B9D-F39F4A5F9616}"/>
              </a:ext>
            </a:extLst>
          </p:cNvPr>
          <p:cNvSpPr/>
          <p:nvPr/>
        </p:nvSpPr>
        <p:spPr>
          <a:xfrm>
            <a:off x="6611551" y="1702417"/>
            <a:ext cx="4994356" cy="345316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a:extLst>
              <a:ext uri="{FF2B5EF4-FFF2-40B4-BE49-F238E27FC236}">
                <a16:creationId xmlns:a16="http://schemas.microsoft.com/office/drawing/2014/main" id="{48A8380F-18F5-B39B-9802-C813AB6146AD}"/>
              </a:ext>
            </a:extLst>
          </p:cNvPr>
          <p:cNvSpPr/>
          <p:nvPr/>
        </p:nvSpPr>
        <p:spPr>
          <a:xfrm>
            <a:off x="6478201" y="1530967"/>
            <a:ext cx="4994356" cy="345316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矩形 58">
            <a:extLst>
              <a:ext uri="{FF2B5EF4-FFF2-40B4-BE49-F238E27FC236}">
                <a16:creationId xmlns:a16="http://schemas.microsoft.com/office/drawing/2014/main" id="{F3A92891-D629-B4B7-69B8-8A943030A06D}"/>
              </a:ext>
            </a:extLst>
          </p:cNvPr>
          <p:cNvSpPr/>
          <p:nvPr/>
        </p:nvSpPr>
        <p:spPr>
          <a:xfrm>
            <a:off x="631111" y="1231307"/>
            <a:ext cx="5430501" cy="538674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13" name="标题 2">
            <a:extLst>
              <a:ext uri="{FF2B5EF4-FFF2-40B4-BE49-F238E27FC236}">
                <a16:creationId xmlns:a16="http://schemas.microsoft.com/office/drawing/2014/main" id="{2A9FC5A7-1F2E-1892-C617-5154B5E06BBA}"/>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如何描述微表面？</a:t>
            </a:r>
            <a:r>
              <a:rPr lang="en-US" altLang="zh-CN" dirty="0"/>
              <a:t>—— </a:t>
            </a:r>
            <a:r>
              <a:rPr lang="zh-CN" altLang="en-US" dirty="0"/>
              <a:t>阴影函数</a:t>
            </a:r>
            <a:endParaRPr lang="en-US" altLang="zh-CN"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AC5228BD-2385-F01A-5984-B35E8AEFF540}"/>
                  </a:ext>
                </a:extLst>
              </p:cNvPr>
              <p:cNvSpPr/>
              <p:nvPr/>
            </p:nvSpPr>
            <p:spPr>
              <a:xfrm>
                <a:off x="478711" y="1078907"/>
                <a:ext cx="5430501" cy="538674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dirty="0">
                    <a:solidFill>
                      <a:schemeClr val="tx1"/>
                    </a:solidFill>
                  </a:rPr>
                  <a:t>        掩蔽函数</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𝐺</m:t>
                        </m:r>
                      </m:e>
                      <m:sub>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r>
                      <a:rPr lang="en-US" altLang="zh-CN" b="1" i="1">
                        <a:solidFill>
                          <a:schemeClr val="tx1"/>
                        </a:solidFill>
                        <a:latin typeface="Cambria Math" panose="02040503050406030204" pitchFamily="18" charset="0"/>
                      </a:rPr>
                      <m:t>𝒐</m:t>
                    </m:r>
                    <m:r>
                      <a:rPr lang="en-US" altLang="zh-CN" i="1">
                        <a:solidFill>
                          <a:schemeClr val="tx1"/>
                        </a:solidFill>
                        <a:latin typeface="Cambria Math" panose="02040503050406030204" pitchFamily="18" charset="0"/>
                      </a:rPr>
                      <m:t>,</m:t>
                    </m:r>
                    <m:r>
                      <a:rPr lang="en-US" altLang="zh-CN" b="1" i="1" dirty="0">
                        <a:solidFill>
                          <a:schemeClr val="tx1"/>
                        </a:solidFill>
                        <a:latin typeface="Cambria Math" panose="02040503050406030204" pitchFamily="18" charset="0"/>
                      </a:rPr>
                      <m:t>𝒎</m:t>
                    </m:r>
                    <m:r>
                      <a:rPr lang="en-US" altLang="zh-CN" i="1">
                        <a:solidFill>
                          <a:schemeClr val="tx1"/>
                        </a:solidFill>
                        <a:latin typeface="Cambria Math" panose="02040503050406030204" pitchFamily="18" charset="0"/>
                      </a:rPr>
                      <m:t>)</m:t>
                    </m:r>
                  </m:oMath>
                </a14:m>
                <a:r>
                  <a:rPr lang="zh-CN" altLang="en-US" dirty="0">
                    <a:solidFill>
                      <a:schemeClr val="tx1"/>
                    </a:solidFill>
                  </a:rPr>
                  <a:t>描述了微表面上出射光的遮挡情况。当传入的参数从</a:t>
                </a:r>
                <a14:m>
                  <m:oMath xmlns:m="http://schemas.openxmlformats.org/officeDocument/2006/math">
                    <m:r>
                      <a:rPr lang="en-US" altLang="zh-CN" b="1" i="1" smtClean="0">
                        <a:solidFill>
                          <a:schemeClr val="tx1"/>
                        </a:solidFill>
                        <a:latin typeface="Cambria Math" panose="02040503050406030204" pitchFamily="18" charset="0"/>
                      </a:rPr>
                      <m:t>𝒐</m:t>
                    </m:r>
                  </m:oMath>
                </a14:m>
                <a:r>
                  <a:rPr lang="zh-CN" altLang="en-US" dirty="0">
                    <a:solidFill>
                      <a:schemeClr val="tx1"/>
                    </a:solidFill>
                  </a:rPr>
                  <a:t>变为</a:t>
                </a:r>
                <a14:m>
                  <m:oMath xmlns:m="http://schemas.openxmlformats.org/officeDocument/2006/math">
                    <m:r>
                      <a:rPr lang="en-US" altLang="zh-CN" b="1" i="1" smtClean="0">
                        <a:solidFill>
                          <a:schemeClr val="tx1"/>
                        </a:solidFill>
                        <a:latin typeface="Cambria Math" panose="02040503050406030204" pitchFamily="18" charset="0"/>
                      </a:rPr>
                      <m:t>𝒊</m:t>
                    </m:r>
                  </m:oMath>
                </a14:m>
                <a:r>
                  <a:rPr lang="zh-CN" altLang="en-US" dirty="0">
                    <a:solidFill>
                      <a:schemeClr val="tx1"/>
                    </a:solidFill>
                  </a:rPr>
                  <a:t>时，就可以描述入射光在微表面上的遮挡情况，这就是阴影函数</a:t>
                </a:r>
                <a14:m>
                  <m:oMath xmlns:m="http://schemas.openxmlformats.org/officeDocument/2006/math">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𝐺</m:t>
                        </m:r>
                      </m:e>
                      <m:sub>
                        <m:r>
                          <a:rPr lang="en-US" altLang="zh-CN" i="1">
                            <a:solidFill>
                              <a:schemeClr val="tx1"/>
                            </a:solidFill>
                            <a:latin typeface="Cambria Math" panose="02040503050406030204" pitchFamily="18" charset="0"/>
                          </a:rPr>
                          <m:t>1</m:t>
                        </m:r>
                      </m:sub>
                    </m:sSub>
                    <m:r>
                      <a:rPr lang="en-US" altLang="zh-CN" i="1">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𝒊</m:t>
                    </m:r>
                    <m:r>
                      <a:rPr lang="en-US" altLang="zh-CN" i="1">
                        <a:solidFill>
                          <a:schemeClr val="tx1"/>
                        </a:solidFill>
                        <a:latin typeface="Cambria Math" panose="02040503050406030204" pitchFamily="18" charset="0"/>
                      </a:rPr>
                      <m:t>,</m:t>
                    </m:r>
                    <m:r>
                      <a:rPr lang="en-US" altLang="zh-CN" b="1" i="1" dirty="0">
                        <a:solidFill>
                          <a:schemeClr val="tx1"/>
                        </a:solidFill>
                        <a:latin typeface="Cambria Math" panose="02040503050406030204" pitchFamily="18" charset="0"/>
                      </a:rPr>
                      <m:t>𝒎</m:t>
                    </m:r>
                    <m:r>
                      <a:rPr lang="en-US" altLang="zh-CN" i="1">
                        <a:solidFill>
                          <a:schemeClr val="tx1"/>
                        </a:solidFill>
                        <a:latin typeface="Cambria Math" panose="02040503050406030204" pitchFamily="18" charset="0"/>
                      </a:rPr>
                      <m:t>)</m:t>
                    </m:r>
                  </m:oMath>
                </a14:m>
                <a:r>
                  <a:rPr lang="zh-CN" altLang="en-US" dirty="0">
                    <a:solidFill>
                      <a:schemeClr val="tx1"/>
                    </a:solidFill>
                  </a:rPr>
                  <a:t>。它们是同一个函数，只不过传入代表不同物理意义的参数时，叫法不同而已。</a:t>
                </a:r>
                <a:endParaRPr lang="en-US" altLang="zh-CN" dirty="0">
                  <a:solidFill>
                    <a:schemeClr val="tx1"/>
                  </a:solidFill>
                </a:endParaRPr>
              </a:p>
            </p:txBody>
          </p:sp>
        </mc:Choice>
        <mc:Fallback xmlns="">
          <p:sp>
            <p:nvSpPr>
              <p:cNvPr id="3" name="矩形 2">
                <a:extLst>
                  <a:ext uri="{FF2B5EF4-FFF2-40B4-BE49-F238E27FC236}">
                    <a16:creationId xmlns:a16="http://schemas.microsoft.com/office/drawing/2014/main" id="{AC5228BD-2385-F01A-5984-B35E8AEFF540}"/>
                  </a:ext>
                </a:extLst>
              </p:cNvPr>
              <p:cNvSpPr>
                <a:spLocks noRot="1" noChangeAspect="1" noMove="1" noResize="1" noEditPoints="1" noAdjustHandles="1" noChangeArrowheads="1" noChangeShapeType="1" noTextEdit="1"/>
              </p:cNvSpPr>
              <p:nvPr/>
            </p:nvSpPr>
            <p:spPr>
              <a:xfrm>
                <a:off x="478711" y="1078907"/>
                <a:ext cx="5430501" cy="5386745"/>
              </a:xfrm>
              <a:prstGeom prst="rect">
                <a:avLst/>
              </a:prstGeom>
              <a:blipFill>
                <a:blip r:embed="rId2"/>
                <a:stretch>
                  <a:fillRect l="-897" r="-5045"/>
                </a:stretch>
              </a:blipFill>
            </p:spPr>
            <p:txBody>
              <a:bodyPr/>
              <a:lstStyle/>
              <a:p>
                <a:r>
                  <a:rPr lang="zh-CN" altLang="en-US">
                    <a:noFill/>
                  </a:rPr>
                  <a:t> </a:t>
                </a:r>
              </a:p>
            </p:txBody>
          </p:sp>
        </mc:Fallback>
      </mc:AlternateContent>
      <p:grpSp>
        <p:nvGrpSpPr>
          <p:cNvPr id="161" name="组合 160">
            <a:extLst>
              <a:ext uri="{FF2B5EF4-FFF2-40B4-BE49-F238E27FC236}">
                <a16:creationId xmlns:a16="http://schemas.microsoft.com/office/drawing/2014/main" id="{A8414DB3-A053-2D09-46AA-08907C2B6E50}"/>
              </a:ext>
            </a:extLst>
          </p:cNvPr>
          <p:cNvGrpSpPr/>
          <p:nvPr/>
        </p:nvGrpSpPr>
        <p:grpSpPr>
          <a:xfrm>
            <a:off x="7141097" y="2024403"/>
            <a:ext cx="4052678" cy="2847296"/>
            <a:chOff x="7012852" y="1572343"/>
            <a:chExt cx="4052678" cy="2847296"/>
          </a:xfrm>
        </p:grpSpPr>
        <p:grpSp>
          <p:nvGrpSpPr>
            <p:cNvPr id="155" name="组合 154">
              <a:extLst>
                <a:ext uri="{FF2B5EF4-FFF2-40B4-BE49-F238E27FC236}">
                  <a16:creationId xmlns:a16="http://schemas.microsoft.com/office/drawing/2014/main" id="{694AB784-C057-14E7-EB77-20D57A0BAE4F}"/>
                </a:ext>
              </a:extLst>
            </p:cNvPr>
            <p:cNvGrpSpPr/>
            <p:nvPr/>
          </p:nvGrpSpPr>
          <p:grpSpPr>
            <a:xfrm>
              <a:off x="7012852" y="1572343"/>
              <a:ext cx="4052678" cy="2418577"/>
              <a:chOff x="7012852" y="1572343"/>
              <a:chExt cx="4052678" cy="2418577"/>
            </a:xfrm>
          </p:grpSpPr>
          <p:sp>
            <p:nvSpPr>
              <p:cNvPr id="117" name="任意多边形: 形状 116">
                <a:extLst>
                  <a:ext uri="{FF2B5EF4-FFF2-40B4-BE49-F238E27FC236}">
                    <a16:creationId xmlns:a16="http://schemas.microsoft.com/office/drawing/2014/main" id="{38365391-41A4-F47A-F914-FF0992071606}"/>
                  </a:ext>
                </a:extLst>
              </p:cNvPr>
              <p:cNvSpPr/>
              <p:nvPr/>
            </p:nvSpPr>
            <p:spPr>
              <a:xfrm>
                <a:off x="9886950" y="3022545"/>
                <a:ext cx="577850" cy="698500"/>
              </a:xfrm>
              <a:custGeom>
                <a:avLst/>
                <a:gdLst>
                  <a:gd name="connsiteX0" fmla="*/ 0 w 552450"/>
                  <a:gd name="connsiteY0" fmla="*/ 0 h 679450"/>
                  <a:gd name="connsiteX1" fmla="*/ 552450 w 552450"/>
                  <a:gd name="connsiteY1" fmla="*/ 679450 h 679450"/>
                  <a:gd name="connsiteX2" fmla="*/ 412750 w 552450"/>
                  <a:gd name="connsiteY2" fmla="*/ 622300 h 679450"/>
                  <a:gd name="connsiteX3" fmla="*/ 323850 w 552450"/>
                  <a:gd name="connsiteY3" fmla="*/ 584200 h 679450"/>
                  <a:gd name="connsiteX4" fmla="*/ 228600 w 552450"/>
                  <a:gd name="connsiteY4" fmla="*/ 530225 h 679450"/>
                  <a:gd name="connsiteX5" fmla="*/ 171450 w 552450"/>
                  <a:gd name="connsiteY5" fmla="*/ 479425 h 679450"/>
                  <a:gd name="connsiteX6" fmla="*/ 127000 w 552450"/>
                  <a:gd name="connsiteY6" fmla="*/ 396875 h 679450"/>
                  <a:gd name="connsiteX7" fmla="*/ 0 w 552450"/>
                  <a:gd name="connsiteY7" fmla="*/ 0 h 67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 h="679450">
                    <a:moveTo>
                      <a:pt x="0" y="0"/>
                    </a:moveTo>
                    <a:lnTo>
                      <a:pt x="552450" y="679450"/>
                    </a:lnTo>
                    <a:lnTo>
                      <a:pt x="412750" y="622300"/>
                    </a:lnTo>
                    <a:lnTo>
                      <a:pt x="323850" y="584200"/>
                    </a:lnTo>
                    <a:lnTo>
                      <a:pt x="228600" y="530225"/>
                    </a:lnTo>
                    <a:lnTo>
                      <a:pt x="171450" y="479425"/>
                    </a:lnTo>
                    <a:lnTo>
                      <a:pt x="127000" y="3968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 name="任意多边形: 形状 115">
                <a:extLst>
                  <a:ext uri="{FF2B5EF4-FFF2-40B4-BE49-F238E27FC236}">
                    <a16:creationId xmlns:a16="http://schemas.microsoft.com/office/drawing/2014/main" id="{18476508-F440-200D-A4D0-6B822F1D05A9}"/>
                  </a:ext>
                </a:extLst>
              </p:cNvPr>
              <p:cNvSpPr/>
              <p:nvPr/>
            </p:nvSpPr>
            <p:spPr>
              <a:xfrm>
                <a:off x="7962900" y="3219395"/>
                <a:ext cx="596952" cy="733425"/>
              </a:xfrm>
              <a:custGeom>
                <a:avLst/>
                <a:gdLst>
                  <a:gd name="connsiteX0" fmla="*/ 0 w 590550"/>
                  <a:gd name="connsiteY0" fmla="*/ 0 h 733425"/>
                  <a:gd name="connsiteX1" fmla="*/ 590550 w 590550"/>
                  <a:gd name="connsiteY1" fmla="*/ 727075 h 733425"/>
                  <a:gd name="connsiteX2" fmla="*/ 523875 w 590550"/>
                  <a:gd name="connsiteY2" fmla="*/ 733425 h 733425"/>
                  <a:gd name="connsiteX3" fmla="*/ 469900 w 590550"/>
                  <a:gd name="connsiteY3" fmla="*/ 730250 h 733425"/>
                  <a:gd name="connsiteX4" fmla="*/ 400050 w 590550"/>
                  <a:gd name="connsiteY4" fmla="*/ 711200 h 733425"/>
                  <a:gd name="connsiteX5" fmla="*/ 336550 w 590550"/>
                  <a:gd name="connsiteY5" fmla="*/ 638175 h 733425"/>
                  <a:gd name="connsiteX6" fmla="*/ 247650 w 590550"/>
                  <a:gd name="connsiteY6" fmla="*/ 511175 h 733425"/>
                  <a:gd name="connsiteX7" fmla="*/ 0 w 590550"/>
                  <a:gd name="connsiteY7" fmla="*/ 0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550" h="733425">
                    <a:moveTo>
                      <a:pt x="0" y="0"/>
                    </a:moveTo>
                    <a:lnTo>
                      <a:pt x="590550" y="727075"/>
                    </a:lnTo>
                    <a:lnTo>
                      <a:pt x="523875" y="733425"/>
                    </a:lnTo>
                    <a:lnTo>
                      <a:pt x="469900" y="730250"/>
                    </a:lnTo>
                    <a:lnTo>
                      <a:pt x="400050" y="711200"/>
                    </a:lnTo>
                    <a:lnTo>
                      <a:pt x="336550" y="638175"/>
                    </a:lnTo>
                    <a:lnTo>
                      <a:pt x="247650" y="5111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任意多边形: 形状 82">
                <a:extLst>
                  <a:ext uri="{FF2B5EF4-FFF2-40B4-BE49-F238E27FC236}">
                    <a16:creationId xmlns:a16="http://schemas.microsoft.com/office/drawing/2014/main" id="{984287D9-C430-9BC9-151E-6B431367CA4F}"/>
                  </a:ext>
                </a:extLst>
              </p:cNvPr>
              <p:cNvSpPr/>
              <p:nvPr/>
            </p:nvSpPr>
            <p:spPr>
              <a:xfrm>
                <a:off x="7609840" y="2948975"/>
                <a:ext cx="3439160" cy="1041945"/>
              </a:xfrm>
              <a:custGeom>
                <a:avLst/>
                <a:gdLst>
                  <a:gd name="connsiteX0" fmla="*/ 0 w 3332480"/>
                  <a:gd name="connsiteY0" fmla="*/ 1041945 h 1041945"/>
                  <a:gd name="connsiteX1" fmla="*/ 279400 w 3332480"/>
                  <a:gd name="connsiteY1" fmla="*/ 218985 h 1041945"/>
                  <a:gd name="connsiteX2" fmla="*/ 868680 w 3332480"/>
                  <a:gd name="connsiteY2" fmla="*/ 1016545 h 1041945"/>
                  <a:gd name="connsiteX3" fmla="*/ 2087880 w 3332480"/>
                  <a:gd name="connsiteY3" fmla="*/ 5625 h 1041945"/>
                  <a:gd name="connsiteX4" fmla="*/ 2494280 w 3332480"/>
                  <a:gd name="connsiteY4" fmla="*/ 620305 h 1041945"/>
                  <a:gd name="connsiteX5" fmla="*/ 3332480 w 3332480"/>
                  <a:gd name="connsiteY5" fmla="*/ 8844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160" h="1041945">
                    <a:moveTo>
                      <a:pt x="0" y="1041945"/>
                    </a:moveTo>
                    <a:cubicBezTo>
                      <a:pt x="67310" y="632581"/>
                      <a:pt x="134620" y="223218"/>
                      <a:pt x="279400" y="218985"/>
                    </a:cubicBezTo>
                    <a:cubicBezTo>
                      <a:pt x="424180" y="214752"/>
                      <a:pt x="567267" y="1052105"/>
                      <a:pt x="868680" y="1016545"/>
                    </a:cubicBezTo>
                    <a:cubicBezTo>
                      <a:pt x="1170093" y="980985"/>
                      <a:pt x="1816947" y="71665"/>
                      <a:pt x="2087880" y="5625"/>
                    </a:cubicBezTo>
                    <a:cubicBezTo>
                      <a:pt x="2358813" y="-60415"/>
                      <a:pt x="2286847" y="473832"/>
                      <a:pt x="2494280" y="620305"/>
                    </a:cubicBezTo>
                    <a:cubicBezTo>
                      <a:pt x="2701713" y="766778"/>
                      <a:pt x="3343487" y="826892"/>
                      <a:pt x="3439160" y="1036865"/>
                    </a:cubicBez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0" name="直接连接符 89">
                <a:extLst>
                  <a:ext uri="{FF2B5EF4-FFF2-40B4-BE49-F238E27FC236}">
                    <a16:creationId xmlns:a16="http://schemas.microsoft.com/office/drawing/2014/main" id="{9B36A7B5-CFE4-86B4-6EB6-973805107160}"/>
                  </a:ext>
                </a:extLst>
              </p:cNvPr>
              <p:cNvCxnSpPr>
                <a:cxnSpLocks/>
                <a:stCxn id="83" idx="0"/>
              </p:cNvCxnSpPr>
              <p:nvPr/>
            </p:nvCxnSpPr>
            <p:spPr>
              <a:xfrm flipH="1" flipV="1">
                <a:off x="7012852" y="3255565"/>
                <a:ext cx="596988" cy="735355"/>
              </a:xfrm>
              <a:prstGeom prst="line">
                <a:avLst/>
              </a:prstGeom>
              <a:ln w="12700">
                <a:solidFill>
                  <a:srgbClr val="FFA40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12E3DE6E-5B57-6122-E58D-308619D5A46E}"/>
                  </a:ext>
                </a:extLst>
              </p:cNvPr>
              <p:cNvCxnSpPr>
                <a:cxnSpLocks/>
              </p:cNvCxnSpPr>
              <p:nvPr/>
            </p:nvCxnSpPr>
            <p:spPr>
              <a:xfrm flipH="1" flipV="1">
                <a:off x="7609840" y="2780935"/>
                <a:ext cx="950012" cy="1150598"/>
              </a:xfrm>
              <a:prstGeom prst="line">
                <a:avLst/>
              </a:prstGeom>
              <a:ln w="12700">
                <a:solidFill>
                  <a:srgbClr val="FFA40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E993ACD7-03CE-5FCC-3A7A-3AA285F0EF3A}"/>
                  </a:ext>
                </a:extLst>
              </p:cNvPr>
              <p:cNvCxnSpPr>
                <a:cxnSpLocks/>
              </p:cNvCxnSpPr>
              <p:nvPr/>
            </p:nvCxnSpPr>
            <p:spPr>
              <a:xfrm flipH="1" flipV="1">
                <a:off x="8847134" y="1760557"/>
                <a:ext cx="1595118" cy="1931913"/>
              </a:xfrm>
              <a:prstGeom prst="line">
                <a:avLst/>
              </a:prstGeom>
              <a:ln w="12700">
                <a:solidFill>
                  <a:srgbClr val="FFA401"/>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972A1C2C-BFE4-3637-B5C5-15E32C5B855B}"/>
                  </a:ext>
                </a:extLst>
              </p:cNvPr>
              <p:cNvCxnSpPr>
                <a:cxnSpLocks/>
              </p:cNvCxnSpPr>
              <p:nvPr/>
            </p:nvCxnSpPr>
            <p:spPr>
              <a:xfrm flipV="1">
                <a:off x="7012852" y="1577258"/>
                <a:ext cx="2055740" cy="1678307"/>
              </a:xfrm>
              <a:prstGeom prst="line">
                <a:avLst/>
              </a:prstGeom>
              <a:ln w="38100">
                <a:solidFill>
                  <a:srgbClr val="FFA401"/>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8D2D9EC3-892C-F31A-2F98-62AE74586F79}"/>
                  </a:ext>
                </a:extLst>
              </p:cNvPr>
              <p:cNvCxnSpPr>
                <a:cxnSpLocks/>
              </p:cNvCxnSpPr>
              <p:nvPr/>
            </p:nvCxnSpPr>
            <p:spPr>
              <a:xfrm flipH="1" flipV="1">
                <a:off x="9068592" y="1572343"/>
                <a:ext cx="1996938" cy="2418577"/>
              </a:xfrm>
              <a:prstGeom prst="line">
                <a:avLst/>
              </a:prstGeom>
              <a:ln w="12700">
                <a:solidFill>
                  <a:srgbClr val="FFA401"/>
                </a:solidFill>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06019A2F-BCE3-AE12-EFEC-8333DDD456E3}"/>
                  </a:ext>
                </a:extLst>
              </p:cNvPr>
              <p:cNvCxnSpPr>
                <a:cxnSpLocks/>
              </p:cNvCxnSpPr>
              <p:nvPr/>
            </p:nvCxnSpPr>
            <p:spPr>
              <a:xfrm flipH="1" flipV="1">
                <a:off x="7748072" y="2002651"/>
                <a:ext cx="314960" cy="381000"/>
              </a:xfrm>
              <a:prstGeom prst="straightConnector1">
                <a:avLst/>
              </a:prstGeom>
              <a:ln w="28575">
                <a:solidFill>
                  <a:srgbClr val="FFA40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2" name="文本框 121">
                    <a:extLst>
                      <a:ext uri="{FF2B5EF4-FFF2-40B4-BE49-F238E27FC236}">
                        <a16:creationId xmlns:a16="http://schemas.microsoft.com/office/drawing/2014/main" id="{F894438A-4B49-0F81-94D0-F68D384BA5C8}"/>
                      </a:ext>
                    </a:extLst>
                  </p:cNvPr>
                  <p:cNvSpPr txBox="1"/>
                  <p:nvPr/>
                </p:nvSpPr>
                <p:spPr>
                  <a:xfrm>
                    <a:off x="7399694" y="1984426"/>
                    <a:ext cx="4399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𝒊</m:t>
                          </m:r>
                        </m:oMath>
                      </m:oMathPara>
                    </a14:m>
                    <a:endParaRPr lang="zh-CN" altLang="en-US" b="1" dirty="0"/>
                  </a:p>
                </p:txBody>
              </p:sp>
            </mc:Choice>
            <mc:Fallback xmlns="">
              <p:sp>
                <p:nvSpPr>
                  <p:cNvPr id="122" name="文本框 121">
                    <a:extLst>
                      <a:ext uri="{FF2B5EF4-FFF2-40B4-BE49-F238E27FC236}">
                        <a16:creationId xmlns:a16="http://schemas.microsoft.com/office/drawing/2014/main" id="{F894438A-4B49-0F81-94D0-F68D384BA5C8}"/>
                      </a:ext>
                    </a:extLst>
                  </p:cNvPr>
                  <p:cNvSpPr txBox="1">
                    <a:spLocks noRot="1" noChangeAspect="1" noMove="1" noResize="1" noEditPoints="1" noAdjustHandles="1" noChangeArrowheads="1" noChangeShapeType="1" noTextEdit="1"/>
                  </p:cNvSpPr>
                  <p:nvPr/>
                </p:nvSpPr>
                <p:spPr>
                  <a:xfrm>
                    <a:off x="7399694" y="1984426"/>
                    <a:ext cx="439977" cy="369332"/>
                  </a:xfrm>
                  <a:prstGeom prst="rect">
                    <a:avLst/>
                  </a:prstGeom>
                  <a:blipFill>
                    <a:blip r:embed="rId3"/>
                    <a:stretch>
                      <a:fillRect/>
                    </a:stretch>
                  </a:blipFill>
                </p:spPr>
                <p:txBody>
                  <a:bodyPr/>
                  <a:lstStyle/>
                  <a:p>
                    <a:r>
                      <a:rPr lang="zh-CN" altLang="en-US">
                        <a:noFill/>
                      </a:rPr>
                      <a:t> </a:t>
                    </a:r>
                  </a:p>
                </p:txBody>
              </p:sp>
            </mc:Fallback>
          </mc:AlternateContent>
          <p:cxnSp>
            <p:nvCxnSpPr>
              <p:cNvPr id="123" name="直接箭头连接符 122">
                <a:extLst>
                  <a:ext uri="{FF2B5EF4-FFF2-40B4-BE49-F238E27FC236}">
                    <a16:creationId xmlns:a16="http://schemas.microsoft.com/office/drawing/2014/main" id="{5BDD54DC-D380-4EA7-C2A6-F35EBE2D132B}"/>
                  </a:ext>
                </a:extLst>
              </p:cNvPr>
              <p:cNvCxnSpPr>
                <a:cxnSpLocks/>
              </p:cNvCxnSpPr>
              <p:nvPr/>
            </p:nvCxnSpPr>
            <p:spPr>
              <a:xfrm flipH="1" flipV="1">
                <a:off x="7330440" y="3381320"/>
                <a:ext cx="376414" cy="102503"/>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4" name="文本框 123">
                    <a:extLst>
                      <a:ext uri="{FF2B5EF4-FFF2-40B4-BE49-F238E27FC236}">
                        <a16:creationId xmlns:a16="http://schemas.microsoft.com/office/drawing/2014/main" id="{975D2C10-96A1-A3DF-7E0C-10D6534FD999}"/>
                      </a:ext>
                    </a:extLst>
                  </p:cNvPr>
                  <p:cNvSpPr txBox="1"/>
                  <p:nvPr/>
                </p:nvSpPr>
                <p:spPr>
                  <a:xfrm>
                    <a:off x="7356905" y="3073543"/>
                    <a:ext cx="439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124" name="文本框 123">
                    <a:extLst>
                      <a:ext uri="{FF2B5EF4-FFF2-40B4-BE49-F238E27FC236}">
                        <a16:creationId xmlns:a16="http://schemas.microsoft.com/office/drawing/2014/main" id="{975D2C10-96A1-A3DF-7E0C-10D6534FD999}"/>
                      </a:ext>
                    </a:extLst>
                  </p:cNvPr>
                  <p:cNvSpPr txBox="1">
                    <a:spLocks noRot="1" noChangeAspect="1" noMove="1" noResize="1" noEditPoints="1" noAdjustHandles="1" noChangeArrowheads="1" noChangeShapeType="1" noTextEdit="1"/>
                  </p:cNvSpPr>
                  <p:nvPr/>
                </p:nvSpPr>
                <p:spPr>
                  <a:xfrm>
                    <a:off x="7356905" y="3073543"/>
                    <a:ext cx="439977" cy="307777"/>
                  </a:xfrm>
                  <a:prstGeom prst="rect">
                    <a:avLst/>
                  </a:prstGeom>
                  <a:blipFill>
                    <a:blip r:embed="rId4"/>
                    <a:stretch>
                      <a:fillRect/>
                    </a:stretch>
                  </a:blipFill>
                </p:spPr>
                <p:txBody>
                  <a:bodyPr/>
                  <a:lstStyle/>
                  <a:p>
                    <a:r>
                      <a:rPr lang="zh-CN" altLang="en-US">
                        <a:noFill/>
                      </a:rPr>
                      <a:t> </a:t>
                    </a:r>
                  </a:p>
                </p:txBody>
              </p:sp>
            </mc:Fallback>
          </mc:AlternateContent>
          <p:cxnSp>
            <p:nvCxnSpPr>
              <p:cNvPr id="129" name="直接箭头连接符 128">
                <a:extLst>
                  <a:ext uri="{FF2B5EF4-FFF2-40B4-BE49-F238E27FC236}">
                    <a16:creationId xmlns:a16="http://schemas.microsoft.com/office/drawing/2014/main" id="{B6DEE139-C899-C20B-C330-B73F7B8DE3DD}"/>
                  </a:ext>
                </a:extLst>
              </p:cNvPr>
              <p:cNvCxnSpPr>
                <a:cxnSpLocks/>
              </p:cNvCxnSpPr>
              <p:nvPr/>
            </p:nvCxnSpPr>
            <p:spPr>
              <a:xfrm flipH="1" flipV="1">
                <a:off x="8895080" y="3162880"/>
                <a:ext cx="261666" cy="269945"/>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0" name="文本框 129">
                    <a:extLst>
                      <a:ext uri="{FF2B5EF4-FFF2-40B4-BE49-F238E27FC236}">
                        <a16:creationId xmlns:a16="http://schemas.microsoft.com/office/drawing/2014/main" id="{82E28DDD-0684-E357-4428-E466077AC553}"/>
                      </a:ext>
                    </a:extLst>
                  </p:cNvPr>
                  <p:cNvSpPr txBox="1"/>
                  <p:nvPr/>
                </p:nvSpPr>
                <p:spPr>
                  <a:xfrm>
                    <a:off x="8921819" y="2940720"/>
                    <a:ext cx="439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rPr>
                            <m:t>𝒎</m:t>
                          </m:r>
                        </m:oMath>
                      </m:oMathPara>
                    </a14:m>
                    <a:endParaRPr lang="zh-CN" altLang="en-US" sz="1400" b="1" dirty="0"/>
                  </a:p>
                </p:txBody>
              </p:sp>
            </mc:Choice>
            <mc:Fallback xmlns="">
              <p:sp>
                <p:nvSpPr>
                  <p:cNvPr id="130" name="文本框 129">
                    <a:extLst>
                      <a:ext uri="{FF2B5EF4-FFF2-40B4-BE49-F238E27FC236}">
                        <a16:creationId xmlns:a16="http://schemas.microsoft.com/office/drawing/2014/main" id="{82E28DDD-0684-E357-4428-E466077AC553}"/>
                      </a:ext>
                    </a:extLst>
                  </p:cNvPr>
                  <p:cNvSpPr txBox="1">
                    <a:spLocks noRot="1" noChangeAspect="1" noMove="1" noResize="1" noEditPoints="1" noAdjustHandles="1" noChangeArrowheads="1" noChangeShapeType="1" noTextEdit="1"/>
                  </p:cNvSpPr>
                  <p:nvPr/>
                </p:nvSpPr>
                <p:spPr>
                  <a:xfrm>
                    <a:off x="8921819" y="2940720"/>
                    <a:ext cx="439977" cy="307777"/>
                  </a:xfrm>
                  <a:prstGeom prst="rect">
                    <a:avLst/>
                  </a:prstGeom>
                  <a:blipFill>
                    <a:blip r:embed="rId5"/>
                    <a:stretch>
                      <a:fillRect/>
                    </a:stretch>
                  </a:blipFill>
                </p:spPr>
                <p:txBody>
                  <a:bodyPr/>
                  <a:lstStyle/>
                  <a:p>
                    <a:r>
                      <a:rPr lang="zh-CN" altLang="en-US">
                        <a:noFill/>
                      </a:rPr>
                      <a:t> </a:t>
                    </a:r>
                  </a:p>
                </p:txBody>
              </p:sp>
            </mc:Fallback>
          </mc:AlternateContent>
          <p:cxnSp>
            <p:nvCxnSpPr>
              <p:cNvPr id="131" name="直接箭头连接符 130">
                <a:extLst>
                  <a:ext uri="{FF2B5EF4-FFF2-40B4-BE49-F238E27FC236}">
                    <a16:creationId xmlns:a16="http://schemas.microsoft.com/office/drawing/2014/main" id="{E23C8897-BDD7-EBFE-C985-4558D303472D}"/>
                  </a:ext>
                </a:extLst>
              </p:cNvPr>
              <p:cNvCxnSpPr>
                <a:cxnSpLocks/>
              </p:cNvCxnSpPr>
              <p:nvPr/>
            </p:nvCxnSpPr>
            <p:spPr>
              <a:xfrm flipV="1">
                <a:off x="10566400" y="3347780"/>
                <a:ext cx="90195" cy="380931"/>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2" name="文本框 131">
                    <a:extLst>
                      <a:ext uri="{FF2B5EF4-FFF2-40B4-BE49-F238E27FC236}">
                        <a16:creationId xmlns:a16="http://schemas.microsoft.com/office/drawing/2014/main" id="{DF4F711B-870E-BEAF-1864-76E107FFCBBF}"/>
                      </a:ext>
                    </a:extLst>
                  </p:cNvPr>
                  <p:cNvSpPr txBox="1"/>
                  <p:nvPr/>
                </p:nvSpPr>
                <p:spPr>
                  <a:xfrm>
                    <a:off x="10251486" y="3311686"/>
                    <a:ext cx="439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rPr>
                            <m:t>𝒎</m:t>
                          </m:r>
                        </m:oMath>
                      </m:oMathPara>
                    </a14:m>
                    <a:endParaRPr lang="zh-CN" altLang="en-US" sz="1400" b="1" dirty="0"/>
                  </a:p>
                </p:txBody>
              </p:sp>
            </mc:Choice>
            <mc:Fallback xmlns="">
              <p:sp>
                <p:nvSpPr>
                  <p:cNvPr id="132" name="文本框 131">
                    <a:extLst>
                      <a:ext uri="{FF2B5EF4-FFF2-40B4-BE49-F238E27FC236}">
                        <a16:creationId xmlns:a16="http://schemas.microsoft.com/office/drawing/2014/main" id="{DF4F711B-870E-BEAF-1864-76E107FFCBBF}"/>
                      </a:ext>
                    </a:extLst>
                  </p:cNvPr>
                  <p:cNvSpPr txBox="1">
                    <a:spLocks noRot="1" noChangeAspect="1" noMove="1" noResize="1" noEditPoints="1" noAdjustHandles="1" noChangeArrowheads="1" noChangeShapeType="1" noTextEdit="1"/>
                  </p:cNvSpPr>
                  <p:nvPr/>
                </p:nvSpPr>
                <p:spPr>
                  <a:xfrm>
                    <a:off x="10251486" y="3311686"/>
                    <a:ext cx="439977" cy="307777"/>
                  </a:xfrm>
                  <a:prstGeom prst="rect">
                    <a:avLst/>
                  </a:prstGeom>
                  <a:blipFill>
                    <a:blip r:embed="rId4"/>
                    <a:stretch>
                      <a:fillRect/>
                    </a:stretch>
                  </a:blipFill>
                </p:spPr>
                <p:txBody>
                  <a:bodyPr/>
                  <a:lstStyle/>
                  <a:p>
                    <a:r>
                      <a:rPr lang="zh-CN" altLang="en-US">
                        <a:noFill/>
                      </a:rPr>
                      <a:t> </a:t>
                    </a:r>
                  </a:p>
                </p:txBody>
              </p:sp>
            </mc:Fallback>
          </mc:AlternateContent>
          <p:cxnSp>
            <p:nvCxnSpPr>
              <p:cNvPr id="154" name="直接连接符 153">
                <a:extLst>
                  <a:ext uri="{FF2B5EF4-FFF2-40B4-BE49-F238E27FC236}">
                    <a16:creationId xmlns:a16="http://schemas.microsoft.com/office/drawing/2014/main" id="{D148900D-1E08-528C-018E-40D7850A55E6}"/>
                  </a:ext>
                </a:extLst>
              </p:cNvPr>
              <p:cNvCxnSpPr>
                <a:cxnSpLocks/>
              </p:cNvCxnSpPr>
              <p:nvPr/>
            </p:nvCxnSpPr>
            <p:spPr>
              <a:xfrm>
                <a:off x="7609840" y="3990920"/>
                <a:ext cx="34556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8" name="文本框 157">
                  <a:extLst>
                    <a:ext uri="{FF2B5EF4-FFF2-40B4-BE49-F238E27FC236}">
                      <a16:creationId xmlns:a16="http://schemas.microsoft.com/office/drawing/2014/main" id="{011C29F0-7786-C0A4-F9C3-4FAB6F9F2E86}"/>
                    </a:ext>
                  </a:extLst>
                </p:cNvPr>
                <p:cNvSpPr txBox="1"/>
                <p:nvPr/>
              </p:nvSpPr>
              <p:spPr>
                <a:xfrm>
                  <a:off x="8884324" y="4050307"/>
                  <a:ext cx="20579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𝑀𝑎𝑐𝑟𝑜</m:t>
                        </m:r>
                        <m:r>
                          <a:rPr lang="en-US" altLang="zh-CN" sz="1800" b="0" i="1" smtClean="0">
                            <a:solidFill>
                              <a:schemeClr val="tx1"/>
                            </a:solidFill>
                            <a:latin typeface="Cambria Math" panose="02040503050406030204" pitchFamily="18" charset="0"/>
                          </a:rPr>
                          <m:t> </m:t>
                        </m:r>
                        <m:r>
                          <a:rPr lang="en-US" altLang="zh-CN" sz="1800" b="0" i="1" smtClean="0">
                            <a:solidFill>
                              <a:schemeClr val="tx1"/>
                            </a:solidFill>
                            <a:latin typeface="Cambria Math" panose="02040503050406030204" pitchFamily="18" charset="0"/>
                          </a:rPr>
                          <m:t>𝑆𝑢𝑟𝑓𝑎𝑐𝑒</m:t>
                        </m:r>
                        <m:r>
                          <a:rPr lang="en-US" altLang="zh-CN" sz="1800" b="0" i="1" smtClean="0">
                            <a:solidFill>
                              <a:schemeClr val="tx1"/>
                            </a:solidFill>
                            <a:latin typeface="Cambria Math" panose="02040503050406030204" pitchFamily="18" charset="0"/>
                          </a:rPr>
                          <m:t>  </m:t>
                        </m:r>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𝐴</m:t>
                            </m:r>
                          </m:e>
                          <m:sub>
                            <m:r>
                              <a:rPr lang="en-US" altLang="zh-CN" sz="1800" b="0" i="1" smtClean="0">
                                <a:solidFill>
                                  <a:schemeClr val="tx1"/>
                                </a:solidFill>
                                <a:latin typeface="Cambria Math" panose="02040503050406030204" pitchFamily="18" charset="0"/>
                              </a:rPr>
                              <m:t>𝑀</m:t>
                            </m:r>
                          </m:sub>
                        </m:sSub>
                      </m:oMath>
                    </m:oMathPara>
                  </a14:m>
                  <a:endParaRPr lang="zh-CN" altLang="en-US" dirty="0"/>
                </a:p>
              </p:txBody>
            </p:sp>
          </mc:Choice>
          <mc:Fallback xmlns="">
            <p:sp>
              <p:nvSpPr>
                <p:cNvPr id="158" name="文本框 157">
                  <a:extLst>
                    <a:ext uri="{FF2B5EF4-FFF2-40B4-BE49-F238E27FC236}">
                      <a16:creationId xmlns:a16="http://schemas.microsoft.com/office/drawing/2014/main" id="{011C29F0-7786-C0A4-F9C3-4FAB6F9F2E86}"/>
                    </a:ext>
                  </a:extLst>
                </p:cNvPr>
                <p:cNvSpPr txBox="1">
                  <a:spLocks noRot="1" noChangeAspect="1" noMove="1" noResize="1" noEditPoints="1" noAdjustHandles="1" noChangeArrowheads="1" noChangeShapeType="1" noTextEdit="1"/>
                </p:cNvSpPr>
                <p:nvPr/>
              </p:nvSpPr>
              <p:spPr>
                <a:xfrm>
                  <a:off x="8884324" y="4050307"/>
                  <a:ext cx="2057996" cy="369332"/>
                </a:xfrm>
                <a:prstGeom prst="rect">
                  <a:avLst/>
                </a:prstGeom>
                <a:blipFill>
                  <a:blip r:embed="rId6"/>
                  <a:stretch>
                    <a:fillRect l="-888" r="-888" b="-15000"/>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5674419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07BA4-960C-1C91-B968-32737F94F60B}"/>
            </a:ext>
          </a:extLst>
        </p:cNvPr>
        <p:cNvGrpSpPr/>
        <p:nvPr/>
      </p:nvGrpSpPr>
      <p:grpSpPr>
        <a:xfrm>
          <a:off x="0" y="0"/>
          <a:ext cx="0" cy="0"/>
          <a:chOff x="0" y="0"/>
          <a:chExt cx="0" cy="0"/>
        </a:xfrm>
      </p:grpSpPr>
      <p:sp>
        <p:nvSpPr>
          <p:cNvPr id="159" name="矩形 158">
            <a:extLst>
              <a:ext uri="{FF2B5EF4-FFF2-40B4-BE49-F238E27FC236}">
                <a16:creationId xmlns:a16="http://schemas.microsoft.com/office/drawing/2014/main" id="{C1964EDB-6D87-766B-3846-6F35ED99D65A}"/>
              </a:ext>
            </a:extLst>
          </p:cNvPr>
          <p:cNvSpPr/>
          <p:nvPr/>
        </p:nvSpPr>
        <p:spPr>
          <a:xfrm>
            <a:off x="6611551" y="1249531"/>
            <a:ext cx="4994356" cy="250449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矩形 159">
            <a:extLst>
              <a:ext uri="{FF2B5EF4-FFF2-40B4-BE49-F238E27FC236}">
                <a16:creationId xmlns:a16="http://schemas.microsoft.com/office/drawing/2014/main" id="{8C1BCC57-8BFB-EDA2-E343-5BCCD42A81D8}"/>
              </a:ext>
            </a:extLst>
          </p:cNvPr>
          <p:cNvSpPr/>
          <p:nvPr/>
        </p:nvSpPr>
        <p:spPr>
          <a:xfrm>
            <a:off x="6478201" y="1078081"/>
            <a:ext cx="4994356" cy="250449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矩形 58">
            <a:extLst>
              <a:ext uri="{FF2B5EF4-FFF2-40B4-BE49-F238E27FC236}">
                <a16:creationId xmlns:a16="http://schemas.microsoft.com/office/drawing/2014/main" id="{901C08DA-7987-583E-381F-9AD99BFE9751}"/>
              </a:ext>
            </a:extLst>
          </p:cNvPr>
          <p:cNvSpPr/>
          <p:nvPr/>
        </p:nvSpPr>
        <p:spPr>
          <a:xfrm>
            <a:off x="631111" y="1231307"/>
            <a:ext cx="5430501" cy="538674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13" name="标题 2">
            <a:extLst>
              <a:ext uri="{FF2B5EF4-FFF2-40B4-BE49-F238E27FC236}">
                <a16:creationId xmlns:a16="http://schemas.microsoft.com/office/drawing/2014/main" id="{0FC4CC56-D0E9-CEA0-F1E9-4848088F45EE}"/>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如何描述微表面？</a:t>
            </a:r>
            <a:r>
              <a:rPr lang="en-US" altLang="zh-CN" dirty="0"/>
              <a:t>—— </a:t>
            </a:r>
            <a:r>
              <a:rPr lang="zh-CN" altLang="en-US" dirty="0"/>
              <a:t>掩蔽</a:t>
            </a:r>
            <a:r>
              <a:rPr lang="en-US" altLang="zh-CN" dirty="0"/>
              <a:t>-</a:t>
            </a:r>
            <a:r>
              <a:rPr lang="zh-CN" altLang="en-US" dirty="0"/>
              <a:t>阴影函数</a:t>
            </a:r>
            <a:endParaRPr lang="en-US" altLang="zh-CN"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B76E57D-AB26-0317-366A-432DCA930343}"/>
                  </a:ext>
                </a:extLst>
              </p:cNvPr>
              <p:cNvSpPr/>
              <p:nvPr/>
            </p:nvSpPr>
            <p:spPr>
              <a:xfrm>
                <a:off x="478711" y="1078907"/>
                <a:ext cx="5430501" cy="538674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dirty="0">
                    <a:solidFill>
                      <a:schemeClr val="tx1"/>
                    </a:solidFill>
                  </a:rPr>
                  <a:t>        给定入射方向</a:t>
                </a:r>
                <a14:m>
                  <m:oMath xmlns:m="http://schemas.openxmlformats.org/officeDocument/2006/math">
                    <m:r>
                      <a:rPr lang="en-US" altLang="zh-CN" b="1" i="1" smtClean="0">
                        <a:solidFill>
                          <a:schemeClr val="tx1"/>
                        </a:solidFill>
                        <a:latin typeface="Cambria Math" panose="02040503050406030204" pitchFamily="18" charset="0"/>
                      </a:rPr>
                      <m:t>𝒊</m:t>
                    </m:r>
                  </m:oMath>
                </a14:m>
                <a:r>
                  <a:rPr lang="zh-CN" altLang="en-US" dirty="0">
                    <a:solidFill>
                      <a:schemeClr val="tx1"/>
                    </a:solidFill>
                  </a:rPr>
                  <a:t>与观察方向</a:t>
                </a:r>
                <a14:m>
                  <m:oMath xmlns:m="http://schemas.openxmlformats.org/officeDocument/2006/math">
                    <m:r>
                      <a:rPr lang="en-US" altLang="zh-CN" b="1" i="1" smtClean="0">
                        <a:solidFill>
                          <a:schemeClr val="tx1"/>
                        </a:solidFill>
                        <a:latin typeface="Cambria Math" panose="02040503050406030204" pitchFamily="18" charset="0"/>
                      </a:rPr>
                      <m:t>𝒐</m:t>
                    </m:r>
                  </m:oMath>
                </a14:m>
                <a:r>
                  <a:rPr lang="zh-CN" altLang="en-US" dirty="0">
                    <a:solidFill>
                      <a:schemeClr val="tx1"/>
                    </a:solidFill>
                  </a:rPr>
                  <a:t>，对于朝向在</a:t>
                </a:r>
                <a14:m>
                  <m:oMath xmlns:m="http://schemas.openxmlformats.org/officeDocument/2006/math">
                    <m:r>
                      <m:rPr>
                        <m:sty m:val="p"/>
                      </m:rPr>
                      <a:rPr lang="en-US" altLang="zh-CN" b="0" i="0" smtClean="0">
                        <a:solidFill>
                          <a:schemeClr val="tx1"/>
                        </a:solidFill>
                        <a:latin typeface="Cambria Math" panose="02040503050406030204" pitchFamily="18" charset="0"/>
                      </a:rPr>
                      <m:t>d</m:t>
                    </m:r>
                    <m:sSub>
                      <m:sSubPr>
                        <m:ctrlPr>
                          <a:rPr lang="en-US" altLang="zh-CN" i="1">
                            <a:solidFill>
                              <a:schemeClr val="tx1"/>
                            </a:solidFill>
                            <a:latin typeface="Cambria Math" panose="02040503050406030204" pitchFamily="18" charset="0"/>
                          </a:rPr>
                        </m:ctrlPr>
                      </m:sSubPr>
                      <m:e>
                        <m:r>
                          <a:rPr lang="en-US" altLang="zh-CN" i="1">
                            <a:solidFill>
                              <a:schemeClr val="tx1"/>
                            </a:solidFill>
                            <a:latin typeface="Cambria Math" panose="02040503050406030204" pitchFamily="18" charset="0"/>
                          </a:rPr>
                          <m:t>𝜔</m:t>
                        </m:r>
                      </m:e>
                      <m:sub>
                        <m:r>
                          <a:rPr lang="en-US" altLang="zh-CN" b="0" i="1" smtClean="0">
                            <a:solidFill>
                              <a:schemeClr val="tx1"/>
                            </a:solidFill>
                            <a:latin typeface="Cambria Math" panose="02040503050406030204" pitchFamily="18" charset="0"/>
                          </a:rPr>
                          <m:t>𝑚</m:t>
                        </m:r>
                      </m:sub>
                    </m:sSub>
                  </m:oMath>
                </a14:m>
                <a:r>
                  <a:rPr lang="zh-CN" altLang="en-US" dirty="0">
                    <a:solidFill>
                      <a:schemeClr val="tx1"/>
                    </a:solidFill>
                  </a:rPr>
                  <a:t>内的微面，一部分入射光会被遮挡</a:t>
                </a:r>
                <a:r>
                  <a:rPr lang="en-US" altLang="zh-CN" dirty="0">
                    <a:solidFill>
                      <a:schemeClr val="tx1"/>
                    </a:solidFill>
                  </a:rPr>
                  <a:t>(</a:t>
                </a:r>
                <a:r>
                  <a:rPr lang="zh-CN" altLang="en-US" dirty="0">
                    <a:solidFill>
                      <a:schemeClr val="tx1"/>
                    </a:solidFill>
                  </a:rPr>
                  <a:t>在其它微面的阴影当中</a:t>
                </a:r>
                <a:r>
                  <a:rPr lang="en-US" altLang="zh-CN" dirty="0">
                    <a:solidFill>
                      <a:schemeClr val="tx1"/>
                    </a:solidFill>
                  </a:rPr>
                  <a:t>)</a:t>
                </a:r>
                <a:r>
                  <a:rPr lang="zh-CN" altLang="en-US" dirty="0">
                    <a:solidFill>
                      <a:schemeClr val="tx1"/>
                    </a:solidFill>
                  </a:rPr>
                  <a:t>，未被遮挡的入射光会在这些微面</a:t>
                </a:r>
                <a14:m>
                  <m:oMath xmlns:m="http://schemas.openxmlformats.org/officeDocument/2006/math">
                    <m:r>
                      <a:rPr lang="en-US" altLang="zh-CN" b="1" i="1" smtClean="0">
                        <a:solidFill>
                          <a:schemeClr val="tx1"/>
                        </a:solidFill>
                        <a:latin typeface="Cambria Math" panose="02040503050406030204" pitchFamily="18" charset="0"/>
                      </a:rPr>
                      <m:t>𝒎</m:t>
                    </m:r>
                  </m:oMath>
                </a14:m>
                <a:r>
                  <a:rPr lang="zh-CN" altLang="en-US" dirty="0">
                    <a:solidFill>
                      <a:schemeClr val="tx1"/>
                    </a:solidFill>
                  </a:rPr>
                  <a:t>上被反射，反射后的光又有一部分被掩蔽，所以我们需要同时考虑掩蔽和阴影对光线的影响。</a:t>
                </a:r>
                <a:endParaRPr lang="en-US" altLang="zh-CN" dirty="0">
                  <a:solidFill>
                    <a:schemeClr val="tx1"/>
                  </a:solidFill>
                </a:endParaRPr>
              </a:p>
              <a:p>
                <a:pPr>
                  <a:lnSpc>
                    <a:spcPct val="150000"/>
                  </a:lnSpc>
                </a:pPr>
                <a:r>
                  <a:rPr lang="en-US" altLang="zh-CN" dirty="0">
                    <a:solidFill>
                      <a:schemeClr val="tx1"/>
                    </a:solidFill>
                  </a:rPr>
                  <a:t>        </a:t>
                </a:r>
                <a:r>
                  <a:rPr lang="zh-CN" altLang="en-US" dirty="0">
                    <a:solidFill>
                      <a:schemeClr val="tx1"/>
                    </a:solidFill>
                  </a:rPr>
                  <a:t>掩蔽</a:t>
                </a:r>
                <a:r>
                  <a:rPr lang="en-US" altLang="zh-CN" dirty="0">
                    <a:solidFill>
                      <a:schemeClr val="tx1"/>
                    </a:solidFill>
                  </a:rPr>
                  <a:t>-</a:t>
                </a:r>
                <a:r>
                  <a:rPr lang="zh-CN" altLang="en-US" dirty="0">
                    <a:solidFill>
                      <a:schemeClr val="tx1"/>
                    </a:solidFill>
                  </a:rPr>
                  <a:t>阴影函数</a:t>
                </a:r>
                <a14:m>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G</m:t>
                        </m:r>
                      </m:e>
                      <m:sub>
                        <m:r>
                          <a:rPr lang="en-US" altLang="zh-CN" b="0" i="0" smtClean="0">
                            <a:solidFill>
                              <a:schemeClr val="tx1"/>
                            </a:solidFill>
                            <a:latin typeface="Cambria Math" panose="02040503050406030204" pitchFamily="18" charset="0"/>
                          </a:rPr>
                          <m:t>2</m:t>
                        </m:r>
                      </m:sub>
                    </m:sSub>
                    <m:d>
                      <m:dPr>
                        <m:ctrlPr>
                          <a:rPr lang="en-US" altLang="zh-CN" b="0" i="1" smtClean="0">
                            <a:solidFill>
                              <a:schemeClr val="tx1"/>
                            </a:solidFill>
                            <a:latin typeface="Cambria Math" panose="02040503050406030204" pitchFamily="18" charset="0"/>
                          </a:rPr>
                        </m:ctrlPr>
                      </m:dPr>
                      <m:e>
                        <m:r>
                          <a:rPr lang="en-US" altLang="zh-CN" b="1" i="1" smtClean="0">
                            <a:solidFill>
                              <a:schemeClr val="tx1"/>
                            </a:solidFill>
                            <a:latin typeface="Cambria Math" panose="02040503050406030204" pitchFamily="18" charset="0"/>
                          </a:rPr>
                          <m:t>𝒊</m:t>
                        </m:r>
                        <m:r>
                          <a:rPr lang="en-US" altLang="zh-CN" b="0"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𝒐</m:t>
                        </m:r>
                        <m:r>
                          <a:rPr lang="en-US" altLang="zh-CN" b="0" i="1" smtClean="0">
                            <a:solidFill>
                              <a:schemeClr val="tx1"/>
                            </a:solidFill>
                            <a:latin typeface="Cambria Math" panose="02040503050406030204" pitchFamily="18" charset="0"/>
                          </a:rPr>
                          <m:t>,</m:t>
                        </m:r>
                        <m:r>
                          <a:rPr lang="en-US" altLang="zh-CN" b="1" i="1" smtClean="0">
                            <a:solidFill>
                              <a:schemeClr val="tx1"/>
                            </a:solidFill>
                            <a:latin typeface="Cambria Math" panose="02040503050406030204" pitchFamily="18" charset="0"/>
                          </a:rPr>
                          <m:t>𝒎</m:t>
                        </m:r>
                      </m:e>
                    </m:d>
                  </m:oMath>
                </a14:m>
                <a:r>
                  <a:rPr lang="zh-CN" altLang="en-US" dirty="0">
                    <a:solidFill>
                      <a:schemeClr val="tx1"/>
                    </a:solidFill>
                  </a:rPr>
                  <a:t>描述了上述的两次遮挡。</a:t>
                </a:r>
                <a:endParaRPr lang="en-US" altLang="zh-CN" dirty="0">
                  <a:solidFill>
                    <a:schemeClr val="tx1"/>
                  </a:solidFill>
                </a:endParaRPr>
              </a:p>
              <a:p>
                <a:pPr>
                  <a:lnSpc>
                    <a:spcPct val="150000"/>
                  </a:lnSpc>
                </a:pPr>
                <a:r>
                  <a:rPr lang="zh-CN" altLang="en-US" dirty="0">
                    <a:solidFill>
                      <a:schemeClr val="tx1"/>
                    </a:solidFill>
                  </a:rPr>
                  <a:t>        后面会讲掩蔽</a:t>
                </a:r>
                <a:r>
                  <a:rPr lang="en-US" altLang="zh-CN" dirty="0">
                    <a:solidFill>
                      <a:schemeClr val="tx1"/>
                    </a:solidFill>
                  </a:rPr>
                  <a:t>-</a:t>
                </a:r>
                <a:r>
                  <a:rPr lang="zh-CN" altLang="en-US" dirty="0">
                    <a:solidFill>
                      <a:schemeClr val="tx1"/>
                    </a:solidFill>
                  </a:rPr>
                  <a:t>阴影函数的具体内容。</a:t>
                </a:r>
                <a:endParaRPr lang="en-US" altLang="zh-CN" dirty="0">
                  <a:solidFill>
                    <a:schemeClr val="tx1"/>
                  </a:solidFill>
                </a:endParaRPr>
              </a:p>
            </p:txBody>
          </p:sp>
        </mc:Choice>
        <mc:Fallback xmlns="">
          <p:sp>
            <p:nvSpPr>
              <p:cNvPr id="3" name="矩形 2">
                <a:extLst>
                  <a:ext uri="{FF2B5EF4-FFF2-40B4-BE49-F238E27FC236}">
                    <a16:creationId xmlns:a16="http://schemas.microsoft.com/office/drawing/2014/main" id="{CB76E57D-AB26-0317-366A-432DCA930343}"/>
                  </a:ext>
                </a:extLst>
              </p:cNvPr>
              <p:cNvSpPr>
                <a:spLocks noRot="1" noChangeAspect="1" noMove="1" noResize="1" noEditPoints="1" noAdjustHandles="1" noChangeArrowheads="1" noChangeShapeType="1" noTextEdit="1"/>
              </p:cNvSpPr>
              <p:nvPr/>
            </p:nvSpPr>
            <p:spPr>
              <a:xfrm>
                <a:off x="478711" y="1078907"/>
                <a:ext cx="5430501" cy="5386745"/>
              </a:xfrm>
              <a:prstGeom prst="rect">
                <a:avLst/>
              </a:prstGeom>
              <a:blipFill>
                <a:blip r:embed="rId2"/>
                <a:stretch>
                  <a:fillRect l="-897"/>
                </a:stretch>
              </a:blipFill>
            </p:spPr>
            <p:txBody>
              <a:bodyPr/>
              <a:lstStyle/>
              <a:p>
                <a:r>
                  <a:rPr lang="zh-CN" altLang="en-US">
                    <a:noFill/>
                  </a:rPr>
                  <a:t> </a:t>
                </a:r>
              </a:p>
            </p:txBody>
          </p:sp>
        </mc:Fallback>
      </mc:AlternateContent>
      <p:grpSp>
        <p:nvGrpSpPr>
          <p:cNvPr id="161" name="组合 160">
            <a:extLst>
              <a:ext uri="{FF2B5EF4-FFF2-40B4-BE49-F238E27FC236}">
                <a16:creationId xmlns:a16="http://schemas.microsoft.com/office/drawing/2014/main" id="{0276ED04-E5CE-CB2D-93FD-FB874FE13832}"/>
              </a:ext>
            </a:extLst>
          </p:cNvPr>
          <p:cNvGrpSpPr/>
          <p:nvPr/>
        </p:nvGrpSpPr>
        <p:grpSpPr>
          <a:xfrm>
            <a:off x="7141097" y="1405071"/>
            <a:ext cx="4052678" cy="2166536"/>
            <a:chOff x="7012852" y="1572343"/>
            <a:chExt cx="4052678" cy="2987194"/>
          </a:xfrm>
        </p:grpSpPr>
        <p:grpSp>
          <p:nvGrpSpPr>
            <p:cNvPr id="155" name="组合 154">
              <a:extLst>
                <a:ext uri="{FF2B5EF4-FFF2-40B4-BE49-F238E27FC236}">
                  <a16:creationId xmlns:a16="http://schemas.microsoft.com/office/drawing/2014/main" id="{DC83DCFA-E898-947F-7C01-A5ED58C3D2BB}"/>
                </a:ext>
              </a:extLst>
            </p:cNvPr>
            <p:cNvGrpSpPr/>
            <p:nvPr/>
          </p:nvGrpSpPr>
          <p:grpSpPr>
            <a:xfrm>
              <a:off x="7012852" y="1572343"/>
              <a:ext cx="4052678" cy="2418577"/>
              <a:chOff x="7012852" y="1572343"/>
              <a:chExt cx="4052678" cy="2418577"/>
            </a:xfrm>
          </p:grpSpPr>
          <p:sp>
            <p:nvSpPr>
              <p:cNvPr id="117" name="任意多边形: 形状 116">
                <a:extLst>
                  <a:ext uri="{FF2B5EF4-FFF2-40B4-BE49-F238E27FC236}">
                    <a16:creationId xmlns:a16="http://schemas.microsoft.com/office/drawing/2014/main" id="{CC685FBB-522D-1BFE-16B2-2963AD497F70}"/>
                  </a:ext>
                </a:extLst>
              </p:cNvPr>
              <p:cNvSpPr/>
              <p:nvPr/>
            </p:nvSpPr>
            <p:spPr>
              <a:xfrm>
                <a:off x="9886950" y="3022545"/>
                <a:ext cx="577850" cy="698500"/>
              </a:xfrm>
              <a:custGeom>
                <a:avLst/>
                <a:gdLst>
                  <a:gd name="connsiteX0" fmla="*/ 0 w 552450"/>
                  <a:gd name="connsiteY0" fmla="*/ 0 h 679450"/>
                  <a:gd name="connsiteX1" fmla="*/ 552450 w 552450"/>
                  <a:gd name="connsiteY1" fmla="*/ 679450 h 679450"/>
                  <a:gd name="connsiteX2" fmla="*/ 412750 w 552450"/>
                  <a:gd name="connsiteY2" fmla="*/ 622300 h 679450"/>
                  <a:gd name="connsiteX3" fmla="*/ 323850 w 552450"/>
                  <a:gd name="connsiteY3" fmla="*/ 584200 h 679450"/>
                  <a:gd name="connsiteX4" fmla="*/ 228600 w 552450"/>
                  <a:gd name="connsiteY4" fmla="*/ 530225 h 679450"/>
                  <a:gd name="connsiteX5" fmla="*/ 171450 w 552450"/>
                  <a:gd name="connsiteY5" fmla="*/ 479425 h 679450"/>
                  <a:gd name="connsiteX6" fmla="*/ 127000 w 552450"/>
                  <a:gd name="connsiteY6" fmla="*/ 396875 h 679450"/>
                  <a:gd name="connsiteX7" fmla="*/ 0 w 552450"/>
                  <a:gd name="connsiteY7" fmla="*/ 0 h 67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 h="679450">
                    <a:moveTo>
                      <a:pt x="0" y="0"/>
                    </a:moveTo>
                    <a:lnTo>
                      <a:pt x="552450" y="679450"/>
                    </a:lnTo>
                    <a:lnTo>
                      <a:pt x="412750" y="622300"/>
                    </a:lnTo>
                    <a:lnTo>
                      <a:pt x="323850" y="584200"/>
                    </a:lnTo>
                    <a:lnTo>
                      <a:pt x="228600" y="530225"/>
                    </a:lnTo>
                    <a:lnTo>
                      <a:pt x="171450" y="479425"/>
                    </a:lnTo>
                    <a:lnTo>
                      <a:pt x="127000" y="3968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6" name="任意多边形: 形状 115">
                <a:extLst>
                  <a:ext uri="{FF2B5EF4-FFF2-40B4-BE49-F238E27FC236}">
                    <a16:creationId xmlns:a16="http://schemas.microsoft.com/office/drawing/2014/main" id="{AD8E9225-6078-2754-0D82-A3D519B466C9}"/>
                  </a:ext>
                </a:extLst>
              </p:cNvPr>
              <p:cNvSpPr/>
              <p:nvPr/>
            </p:nvSpPr>
            <p:spPr>
              <a:xfrm>
                <a:off x="7962900" y="3219395"/>
                <a:ext cx="596952" cy="733425"/>
              </a:xfrm>
              <a:custGeom>
                <a:avLst/>
                <a:gdLst>
                  <a:gd name="connsiteX0" fmla="*/ 0 w 590550"/>
                  <a:gd name="connsiteY0" fmla="*/ 0 h 733425"/>
                  <a:gd name="connsiteX1" fmla="*/ 590550 w 590550"/>
                  <a:gd name="connsiteY1" fmla="*/ 727075 h 733425"/>
                  <a:gd name="connsiteX2" fmla="*/ 523875 w 590550"/>
                  <a:gd name="connsiteY2" fmla="*/ 733425 h 733425"/>
                  <a:gd name="connsiteX3" fmla="*/ 469900 w 590550"/>
                  <a:gd name="connsiteY3" fmla="*/ 730250 h 733425"/>
                  <a:gd name="connsiteX4" fmla="*/ 400050 w 590550"/>
                  <a:gd name="connsiteY4" fmla="*/ 711200 h 733425"/>
                  <a:gd name="connsiteX5" fmla="*/ 336550 w 590550"/>
                  <a:gd name="connsiteY5" fmla="*/ 638175 h 733425"/>
                  <a:gd name="connsiteX6" fmla="*/ 247650 w 590550"/>
                  <a:gd name="connsiteY6" fmla="*/ 511175 h 733425"/>
                  <a:gd name="connsiteX7" fmla="*/ 0 w 590550"/>
                  <a:gd name="connsiteY7" fmla="*/ 0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550" h="733425">
                    <a:moveTo>
                      <a:pt x="0" y="0"/>
                    </a:moveTo>
                    <a:lnTo>
                      <a:pt x="590550" y="727075"/>
                    </a:lnTo>
                    <a:lnTo>
                      <a:pt x="523875" y="733425"/>
                    </a:lnTo>
                    <a:lnTo>
                      <a:pt x="469900" y="730250"/>
                    </a:lnTo>
                    <a:lnTo>
                      <a:pt x="400050" y="711200"/>
                    </a:lnTo>
                    <a:lnTo>
                      <a:pt x="336550" y="638175"/>
                    </a:lnTo>
                    <a:lnTo>
                      <a:pt x="247650" y="5111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任意多边形: 形状 82">
                <a:extLst>
                  <a:ext uri="{FF2B5EF4-FFF2-40B4-BE49-F238E27FC236}">
                    <a16:creationId xmlns:a16="http://schemas.microsoft.com/office/drawing/2014/main" id="{16757FDC-68F8-1F74-A91C-0ADFFA8212CE}"/>
                  </a:ext>
                </a:extLst>
              </p:cNvPr>
              <p:cNvSpPr/>
              <p:nvPr/>
            </p:nvSpPr>
            <p:spPr>
              <a:xfrm>
                <a:off x="7609840" y="2948975"/>
                <a:ext cx="3439160" cy="1041945"/>
              </a:xfrm>
              <a:custGeom>
                <a:avLst/>
                <a:gdLst>
                  <a:gd name="connsiteX0" fmla="*/ 0 w 3332480"/>
                  <a:gd name="connsiteY0" fmla="*/ 1041945 h 1041945"/>
                  <a:gd name="connsiteX1" fmla="*/ 279400 w 3332480"/>
                  <a:gd name="connsiteY1" fmla="*/ 218985 h 1041945"/>
                  <a:gd name="connsiteX2" fmla="*/ 868680 w 3332480"/>
                  <a:gd name="connsiteY2" fmla="*/ 1016545 h 1041945"/>
                  <a:gd name="connsiteX3" fmla="*/ 2087880 w 3332480"/>
                  <a:gd name="connsiteY3" fmla="*/ 5625 h 1041945"/>
                  <a:gd name="connsiteX4" fmla="*/ 2494280 w 3332480"/>
                  <a:gd name="connsiteY4" fmla="*/ 620305 h 1041945"/>
                  <a:gd name="connsiteX5" fmla="*/ 3332480 w 3332480"/>
                  <a:gd name="connsiteY5" fmla="*/ 8844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160" h="1041945">
                    <a:moveTo>
                      <a:pt x="0" y="1041945"/>
                    </a:moveTo>
                    <a:cubicBezTo>
                      <a:pt x="67310" y="632581"/>
                      <a:pt x="134620" y="223218"/>
                      <a:pt x="279400" y="218985"/>
                    </a:cubicBezTo>
                    <a:cubicBezTo>
                      <a:pt x="424180" y="214752"/>
                      <a:pt x="567267" y="1052105"/>
                      <a:pt x="868680" y="1016545"/>
                    </a:cubicBezTo>
                    <a:cubicBezTo>
                      <a:pt x="1170093" y="980985"/>
                      <a:pt x="1816947" y="71665"/>
                      <a:pt x="2087880" y="5625"/>
                    </a:cubicBezTo>
                    <a:cubicBezTo>
                      <a:pt x="2358813" y="-60415"/>
                      <a:pt x="2286847" y="473832"/>
                      <a:pt x="2494280" y="620305"/>
                    </a:cubicBezTo>
                    <a:cubicBezTo>
                      <a:pt x="2701713" y="766778"/>
                      <a:pt x="3343487" y="826892"/>
                      <a:pt x="3439160" y="1036865"/>
                    </a:cubicBez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0" name="直接连接符 89">
                <a:extLst>
                  <a:ext uri="{FF2B5EF4-FFF2-40B4-BE49-F238E27FC236}">
                    <a16:creationId xmlns:a16="http://schemas.microsoft.com/office/drawing/2014/main" id="{D9057244-22CB-98C9-7135-34CBE831A5A1}"/>
                  </a:ext>
                </a:extLst>
              </p:cNvPr>
              <p:cNvCxnSpPr>
                <a:cxnSpLocks/>
                <a:stCxn id="83" idx="0"/>
              </p:cNvCxnSpPr>
              <p:nvPr/>
            </p:nvCxnSpPr>
            <p:spPr>
              <a:xfrm flipH="1" flipV="1">
                <a:off x="7012852" y="3255565"/>
                <a:ext cx="596988" cy="735355"/>
              </a:xfrm>
              <a:prstGeom prst="line">
                <a:avLst/>
              </a:prstGeom>
              <a:ln w="12700">
                <a:solidFill>
                  <a:srgbClr val="FFA40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CB5606F5-9C6C-768A-FA0F-807190A9B72D}"/>
                  </a:ext>
                </a:extLst>
              </p:cNvPr>
              <p:cNvCxnSpPr>
                <a:cxnSpLocks/>
              </p:cNvCxnSpPr>
              <p:nvPr/>
            </p:nvCxnSpPr>
            <p:spPr>
              <a:xfrm flipH="1" flipV="1">
                <a:off x="7609840" y="2780935"/>
                <a:ext cx="950012" cy="1150598"/>
              </a:xfrm>
              <a:prstGeom prst="line">
                <a:avLst/>
              </a:prstGeom>
              <a:ln w="12700">
                <a:solidFill>
                  <a:srgbClr val="FFA40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C660447E-67D4-0EC7-E699-F3AF9BDCA9FC}"/>
                  </a:ext>
                </a:extLst>
              </p:cNvPr>
              <p:cNvCxnSpPr>
                <a:cxnSpLocks/>
              </p:cNvCxnSpPr>
              <p:nvPr/>
            </p:nvCxnSpPr>
            <p:spPr>
              <a:xfrm flipH="1" flipV="1">
                <a:off x="8847134" y="1760557"/>
                <a:ext cx="1595118" cy="1931913"/>
              </a:xfrm>
              <a:prstGeom prst="line">
                <a:avLst/>
              </a:prstGeom>
              <a:ln w="12700">
                <a:solidFill>
                  <a:srgbClr val="FFA401"/>
                </a:solidFill>
              </a:ln>
            </p:spPr>
            <p:style>
              <a:lnRef idx="1">
                <a:schemeClr val="accent1"/>
              </a:lnRef>
              <a:fillRef idx="0">
                <a:schemeClr val="accent1"/>
              </a:fillRef>
              <a:effectRef idx="0">
                <a:schemeClr val="accent1"/>
              </a:effectRef>
              <a:fontRef idx="minor">
                <a:schemeClr val="tx1"/>
              </a:fontRef>
            </p:style>
          </p:cxnSp>
          <p:cxnSp>
            <p:nvCxnSpPr>
              <p:cNvPr id="94" name="直接连接符 93">
                <a:extLst>
                  <a:ext uri="{FF2B5EF4-FFF2-40B4-BE49-F238E27FC236}">
                    <a16:creationId xmlns:a16="http://schemas.microsoft.com/office/drawing/2014/main" id="{BEC32B39-3E89-5D2D-A704-09B684A1B7AA}"/>
                  </a:ext>
                </a:extLst>
              </p:cNvPr>
              <p:cNvCxnSpPr>
                <a:cxnSpLocks/>
              </p:cNvCxnSpPr>
              <p:nvPr/>
            </p:nvCxnSpPr>
            <p:spPr>
              <a:xfrm flipV="1">
                <a:off x="7012852" y="1577258"/>
                <a:ext cx="2055740" cy="1678307"/>
              </a:xfrm>
              <a:prstGeom prst="line">
                <a:avLst/>
              </a:prstGeom>
              <a:ln w="38100">
                <a:solidFill>
                  <a:srgbClr val="FFA401"/>
                </a:solidFill>
              </a:ln>
            </p:spPr>
            <p:style>
              <a:lnRef idx="1">
                <a:schemeClr val="accent1"/>
              </a:lnRef>
              <a:fillRef idx="0">
                <a:schemeClr val="accent1"/>
              </a:fillRef>
              <a:effectRef idx="0">
                <a:schemeClr val="accent1"/>
              </a:effectRef>
              <a:fontRef idx="minor">
                <a:schemeClr val="tx1"/>
              </a:fontRef>
            </p:style>
          </p:cxnSp>
          <p:cxnSp>
            <p:nvCxnSpPr>
              <p:cNvPr id="111" name="直接连接符 110">
                <a:extLst>
                  <a:ext uri="{FF2B5EF4-FFF2-40B4-BE49-F238E27FC236}">
                    <a16:creationId xmlns:a16="http://schemas.microsoft.com/office/drawing/2014/main" id="{FC1BD7AA-29FF-3F0E-03EC-2F06F8C7F0D4}"/>
                  </a:ext>
                </a:extLst>
              </p:cNvPr>
              <p:cNvCxnSpPr>
                <a:cxnSpLocks/>
              </p:cNvCxnSpPr>
              <p:nvPr/>
            </p:nvCxnSpPr>
            <p:spPr>
              <a:xfrm flipH="1" flipV="1">
                <a:off x="9068592" y="1572343"/>
                <a:ext cx="1996938" cy="2418577"/>
              </a:xfrm>
              <a:prstGeom prst="line">
                <a:avLst/>
              </a:prstGeom>
              <a:ln w="12700">
                <a:solidFill>
                  <a:srgbClr val="FFA401"/>
                </a:solidFill>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0EFF5338-7E0F-3FDA-AA32-19120EF8B4EC}"/>
                  </a:ext>
                </a:extLst>
              </p:cNvPr>
              <p:cNvCxnSpPr>
                <a:cxnSpLocks/>
              </p:cNvCxnSpPr>
              <p:nvPr/>
            </p:nvCxnSpPr>
            <p:spPr>
              <a:xfrm flipH="1" flipV="1">
                <a:off x="7748072" y="2002652"/>
                <a:ext cx="314960" cy="381000"/>
              </a:xfrm>
              <a:prstGeom prst="straightConnector1">
                <a:avLst/>
              </a:prstGeom>
              <a:ln w="28575">
                <a:solidFill>
                  <a:srgbClr val="FFA40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2" name="文本框 121">
                    <a:extLst>
                      <a:ext uri="{FF2B5EF4-FFF2-40B4-BE49-F238E27FC236}">
                        <a16:creationId xmlns:a16="http://schemas.microsoft.com/office/drawing/2014/main" id="{17149255-D0B6-AC7B-F4B6-9528A0A9F92B}"/>
                      </a:ext>
                    </a:extLst>
                  </p:cNvPr>
                  <p:cNvSpPr txBox="1"/>
                  <p:nvPr/>
                </p:nvSpPr>
                <p:spPr>
                  <a:xfrm>
                    <a:off x="7399694" y="1984425"/>
                    <a:ext cx="439977" cy="5092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𝒊</m:t>
                          </m:r>
                        </m:oMath>
                      </m:oMathPara>
                    </a14:m>
                    <a:endParaRPr lang="zh-CN" altLang="en-US" b="1" dirty="0"/>
                  </a:p>
                </p:txBody>
              </p:sp>
            </mc:Choice>
            <mc:Fallback xmlns="">
              <p:sp>
                <p:nvSpPr>
                  <p:cNvPr id="122" name="文本框 121">
                    <a:extLst>
                      <a:ext uri="{FF2B5EF4-FFF2-40B4-BE49-F238E27FC236}">
                        <a16:creationId xmlns:a16="http://schemas.microsoft.com/office/drawing/2014/main" id="{17149255-D0B6-AC7B-F4B6-9528A0A9F92B}"/>
                      </a:ext>
                    </a:extLst>
                  </p:cNvPr>
                  <p:cNvSpPr txBox="1">
                    <a:spLocks noRot="1" noChangeAspect="1" noMove="1" noResize="1" noEditPoints="1" noAdjustHandles="1" noChangeArrowheads="1" noChangeShapeType="1" noTextEdit="1"/>
                  </p:cNvSpPr>
                  <p:nvPr/>
                </p:nvSpPr>
                <p:spPr>
                  <a:xfrm>
                    <a:off x="7399694" y="1984425"/>
                    <a:ext cx="439977" cy="509230"/>
                  </a:xfrm>
                  <a:prstGeom prst="rect">
                    <a:avLst/>
                  </a:prstGeom>
                  <a:blipFill>
                    <a:blip r:embed="rId3"/>
                    <a:stretch>
                      <a:fillRect/>
                    </a:stretch>
                  </a:blipFill>
                </p:spPr>
                <p:txBody>
                  <a:bodyPr/>
                  <a:lstStyle/>
                  <a:p>
                    <a:r>
                      <a:rPr lang="zh-CN" altLang="en-US">
                        <a:noFill/>
                      </a:rPr>
                      <a:t> </a:t>
                    </a:r>
                  </a:p>
                </p:txBody>
              </p:sp>
            </mc:Fallback>
          </mc:AlternateContent>
          <p:cxnSp>
            <p:nvCxnSpPr>
              <p:cNvPr id="123" name="直接箭头连接符 122">
                <a:extLst>
                  <a:ext uri="{FF2B5EF4-FFF2-40B4-BE49-F238E27FC236}">
                    <a16:creationId xmlns:a16="http://schemas.microsoft.com/office/drawing/2014/main" id="{BA33EF92-0631-E015-4078-0BB9A4596CDC}"/>
                  </a:ext>
                </a:extLst>
              </p:cNvPr>
              <p:cNvCxnSpPr>
                <a:cxnSpLocks/>
              </p:cNvCxnSpPr>
              <p:nvPr/>
            </p:nvCxnSpPr>
            <p:spPr>
              <a:xfrm flipH="1" flipV="1">
                <a:off x="7330440" y="3381320"/>
                <a:ext cx="376414" cy="102503"/>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4" name="文本框 123">
                    <a:extLst>
                      <a:ext uri="{FF2B5EF4-FFF2-40B4-BE49-F238E27FC236}">
                        <a16:creationId xmlns:a16="http://schemas.microsoft.com/office/drawing/2014/main" id="{6626D0C1-3213-4249-24D7-9F716B652684}"/>
                      </a:ext>
                    </a:extLst>
                  </p:cNvPr>
                  <p:cNvSpPr txBox="1"/>
                  <p:nvPr/>
                </p:nvSpPr>
                <p:spPr>
                  <a:xfrm>
                    <a:off x="7356905" y="3073544"/>
                    <a:ext cx="439977" cy="4243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rPr>
                            <m:t>𝒎</m:t>
                          </m:r>
                        </m:oMath>
                      </m:oMathPara>
                    </a14:m>
                    <a:endParaRPr lang="zh-CN" altLang="en-US" sz="1400" b="1" dirty="0"/>
                  </a:p>
                </p:txBody>
              </p:sp>
            </mc:Choice>
            <mc:Fallback xmlns="">
              <p:sp>
                <p:nvSpPr>
                  <p:cNvPr id="124" name="文本框 123">
                    <a:extLst>
                      <a:ext uri="{FF2B5EF4-FFF2-40B4-BE49-F238E27FC236}">
                        <a16:creationId xmlns:a16="http://schemas.microsoft.com/office/drawing/2014/main" id="{6626D0C1-3213-4249-24D7-9F716B652684}"/>
                      </a:ext>
                    </a:extLst>
                  </p:cNvPr>
                  <p:cNvSpPr txBox="1">
                    <a:spLocks noRot="1" noChangeAspect="1" noMove="1" noResize="1" noEditPoints="1" noAdjustHandles="1" noChangeArrowheads="1" noChangeShapeType="1" noTextEdit="1"/>
                  </p:cNvSpPr>
                  <p:nvPr/>
                </p:nvSpPr>
                <p:spPr>
                  <a:xfrm>
                    <a:off x="7356905" y="3073544"/>
                    <a:ext cx="439977" cy="424359"/>
                  </a:xfrm>
                  <a:prstGeom prst="rect">
                    <a:avLst/>
                  </a:prstGeom>
                  <a:blipFill>
                    <a:blip r:embed="rId4"/>
                    <a:stretch>
                      <a:fillRect/>
                    </a:stretch>
                  </a:blipFill>
                </p:spPr>
                <p:txBody>
                  <a:bodyPr/>
                  <a:lstStyle/>
                  <a:p>
                    <a:r>
                      <a:rPr lang="zh-CN" altLang="en-US">
                        <a:noFill/>
                      </a:rPr>
                      <a:t> </a:t>
                    </a:r>
                  </a:p>
                </p:txBody>
              </p:sp>
            </mc:Fallback>
          </mc:AlternateContent>
          <p:cxnSp>
            <p:nvCxnSpPr>
              <p:cNvPr id="129" name="直接箭头连接符 128">
                <a:extLst>
                  <a:ext uri="{FF2B5EF4-FFF2-40B4-BE49-F238E27FC236}">
                    <a16:creationId xmlns:a16="http://schemas.microsoft.com/office/drawing/2014/main" id="{3CC3B2C0-9582-8D7D-7E10-D06D4B16028E}"/>
                  </a:ext>
                </a:extLst>
              </p:cNvPr>
              <p:cNvCxnSpPr>
                <a:cxnSpLocks/>
              </p:cNvCxnSpPr>
              <p:nvPr/>
            </p:nvCxnSpPr>
            <p:spPr>
              <a:xfrm flipH="1" flipV="1">
                <a:off x="8895080" y="3162880"/>
                <a:ext cx="261666" cy="269945"/>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0" name="文本框 129">
                    <a:extLst>
                      <a:ext uri="{FF2B5EF4-FFF2-40B4-BE49-F238E27FC236}">
                        <a16:creationId xmlns:a16="http://schemas.microsoft.com/office/drawing/2014/main" id="{18D16953-1531-2E75-CF95-CB689E115F79}"/>
                      </a:ext>
                    </a:extLst>
                  </p:cNvPr>
                  <p:cNvSpPr txBox="1"/>
                  <p:nvPr/>
                </p:nvSpPr>
                <p:spPr>
                  <a:xfrm>
                    <a:off x="8921819" y="2940719"/>
                    <a:ext cx="439977" cy="4243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rPr>
                            <m:t>𝒎</m:t>
                          </m:r>
                        </m:oMath>
                      </m:oMathPara>
                    </a14:m>
                    <a:endParaRPr lang="zh-CN" altLang="en-US" sz="1400" b="1" dirty="0"/>
                  </a:p>
                </p:txBody>
              </p:sp>
            </mc:Choice>
            <mc:Fallback xmlns="">
              <p:sp>
                <p:nvSpPr>
                  <p:cNvPr id="130" name="文本框 129">
                    <a:extLst>
                      <a:ext uri="{FF2B5EF4-FFF2-40B4-BE49-F238E27FC236}">
                        <a16:creationId xmlns:a16="http://schemas.microsoft.com/office/drawing/2014/main" id="{18D16953-1531-2E75-CF95-CB689E115F79}"/>
                      </a:ext>
                    </a:extLst>
                  </p:cNvPr>
                  <p:cNvSpPr txBox="1">
                    <a:spLocks noRot="1" noChangeAspect="1" noMove="1" noResize="1" noEditPoints="1" noAdjustHandles="1" noChangeArrowheads="1" noChangeShapeType="1" noTextEdit="1"/>
                  </p:cNvSpPr>
                  <p:nvPr/>
                </p:nvSpPr>
                <p:spPr>
                  <a:xfrm>
                    <a:off x="8921819" y="2940719"/>
                    <a:ext cx="439977" cy="424359"/>
                  </a:xfrm>
                  <a:prstGeom prst="rect">
                    <a:avLst/>
                  </a:prstGeom>
                  <a:blipFill>
                    <a:blip r:embed="rId4"/>
                    <a:stretch>
                      <a:fillRect/>
                    </a:stretch>
                  </a:blipFill>
                </p:spPr>
                <p:txBody>
                  <a:bodyPr/>
                  <a:lstStyle/>
                  <a:p>
                    <a:r>
                      <a:rPr lang="zh-CN" altLang="en-US">
                        <a:noFill/>
                      </a:rPr>
                      <a:t> </a:t>
                    </a:r>
                  </a:p>
                </p:txBody>
              </p:sp>
            </mc:Fallback>
          </mc:AlternateContent>
          <p:cxnSp>
            <p:nvCxnSpPr>
              <p:cNvPr id="131" name="直接箭头连接符 130">
                <a:extLst>
                  <a:ext uri="{FF2B5EF4-FFF2-40B4-BE49-F238E27FC236}">
                    <a16:creationId xmlns:a16="http://schemas.microsoft.com/office/drawing/2014/main" id="{E1DD06AB-20EA-5783-6642-EFA1C00D8C03}"/>
                  </a:ext>
                </a:extLst>
              </p:cNvPr>
              <p:cNvCxnSpPr>
                <a:cxnSpLocks/>
              </p:cNvCxnSpPr>
              <p:nvPr/>
            </p:nvCxnSpPr>
            <p:spPr>
              <a:xfrm flipV="1">
                <a:off x="10566400" y="3347780"/>
                <a:ext cx="90195" cy="380931"/>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2" name="文本框 131">
                    <a:extLst>
                      <a:ext uri="{FF2B5EF4-FFF2-40B4-BE49-F238E27FC236}">
                        <a16:creationId xmlns:a16="http://schemas.microsoft.com/office/drawing/2014/main" id="{11556DD4-758B-A525-DB21-7A442D9246B7}"/>
                      </a:ext>
                    </a:extLst>
                  </p:cNvPr>
                  <p:cNvSpPr txBox="1"/>
                  <p:nvPr/>
                </p:nvSpPr>
                <p:spPr>
                  <a:xfrm>
                    <a:off x="10251486" y="3311686"/>
                    <a:ext cx="439977" cy="4243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rPr>
                            <m:t>𝒎</m:t>
                          </m:r>
                        </m:oMath>
                      </m:oMathPara>
                    </a14:m>
                    <a:endParaRPr lang="zh-CN" altLang="en-US" sz="1400" b="1" dirty="0"/>
                  </a:p>
                </p:txBody>
              </p:sp>
            </mc:Choice>
            <mc:Fallback xmlns="">
              <p:sp>
                <p:nvSpPr>
                  <p:cNvPr id="132" name="文本框 131">
                    <a:extLst>
                      <a:ext uri="{FF2B5EF4-FFF2-40B4-BE49-F238E27FC236}">
                        <a16:creationId xmlns:a16="http://schemas.microsoft.com/office/drawing/2014/main" id="{11556DD4-758B-A525-DB21-7A442D9246B7}"/>
                      </a:ext>
                    </a:extLst>
                  </p:cNvPr>
                  <p:cNvSpPr txBox="1">
                    <a:spLocks noRot="1" noChangeAspect="1" noMove="1" noResize="1" noEditPoints="1" noAdjustHandles="1" noChangeArrowheads="1" noChangeShapeType="1" noTextEdit="1"/>
                  </p:cNvSpPr>
                  <p:nvPr/>
                </p:nvSpPr>
                <p:spPr>
                  <a:xfrm>
                    <a:off x="10251486" y="3311686"/>
                    <a:ext cx="439977" cy="424359"/>
                  </a:xfrm>
                  <a:prstGeom prst="rect">
                    <a:avLst/>
                  </a:prstGeom>
                  <a:blipFill>
                    <a:blip r:embed="rId4"/>
                    <a:stretch>
                      <a:fillRect/>
                    </a:stretch>
                  </a:blipFill>
                </p:spPr>
                <p:txBody>
                  <a:bodyPr/>
                  <a:lstStyle/>
                  <a:p>
                    <a:r>
                      <a:rPr lang="zh-CN" altLang="en-US">
                        <a:noFill/>
                      </a:rPr>
                      <a:t> </a:t>
                    </a:r>
                  </a:p>
                </p:txBody>
              </p:sp>
            </mc:Fallback>
          </mc:AlternateContent>
          <p:cxnSp>
            <p:nvCxnSpPr>
              <p:cNvPr id="154" name="直接连接符 153">
                <a:extLst>
                  <a:ext uri="{FF2B5EF4-FFF2-40B4-BE49-F238E27FC236}">
                    <a16:creationId xmlns:a16="http://schemas.microsoft.com/office/drawing/2014/main" id="{9A830AE6-892C-C2FB-B28F-8C898D2A9F98}"/>
                  </a:ext>
                </a:extLst>
              </p:cNvPr>
              <p:cNvCxnSpPr>
                <a:cxnSpLocks/>
              </p:cNvCxnSpPr>
              <p:nvPr/>
            </p:nvCxnSpPr>
            <p:spPr>
              <a:xfrm>
                <a:off x="7609840" y="3990920"/>
                <a:ext cx="34556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8" name="文本框 157">
                  <a:extLst>
                    <a:ext uri="{FF2B5EF4-FFF2-40B4-BE49-F238E27FC236}">
                      <a16:creationId xmlns:a16="http://schemas.microsoft.com/office/drawing/2014/main" id="{B9AC602F-1A25-CCA3-97D6-CA3B32E9F85C}"/>
                    </a:ext>
                  </a:extLst>
                </p:cNvPr>
                <p:cNvSpPr txBox="1"/>
                <p:nvPr/>
              </p:nvSpPr>
              <p:spPr>
                <a:xfrm>
                  <a:off x="8884324" y="4050307"/>
                  <a:ext cx="2057996" cy="5092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𝑀𝑎𝑐𝑟𝑜</m:t>
                        </m:r>
                        <m:r>
                          <a:rPr lang="en-US" altLang="zh-CN" sz="1800" b="0" i="1" smtClean="0">
                            <a:solidFill>
                              <a:schemeClr val="tx1"/>
                            </a:solidFill>
                            <a:latin typeface="Cambria Math" panose="02040503050406030204" pitchFamily="18" charset="0"/>
                          </a:rPr>
                          <m:t> </m:t>
                        </m:r>
                        <m:r>
                          <a:rPr lang="en-US" altLang="zh-CN" sz="1800" b="0" i="1" smtClean="0">
                            <a:solidFill>
                              <a:schemeClr val="tx1"/>
                            </a:solidFill>
                            <a:latin typeface="Cambria Math" panose="02040503050406030204" pitchFamily="18" charset="0"/>
                          </a:rPr>
                          <m:t>𝑆𝑢𝑟𝑓𝑎𝑐𝑒</m:t>
                        </m:r>
                        <m:r>
                          <a:rPr lang="en-US" altLang="zh-CN" sz="1800" b="0" i="1" smtClean="0">
                            <a:solidFill>
                              <a:schemeClr val="tx1"/>
                            </a:solidFill>
                            <a:latin typeface="Cambria Math" panose="02040503050406030204" pitchFamily="18" charset="0"/>
                          </a:rPr>
                          <m:t>  </m:t>
                        </m:r>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𝐴</m:t>
                            </m:r>
                          </m:e>
                          <m:sub>
                            <m:r>
                              <a:rPr lang="en-US" altLang="zh-CN" sz="1800" b="0" i="1" smtClean="0">
                                <a:solidFill>
                                  <a:schemeClr val="tx1"/>
                                </a:solidFill>
                                <a:latin typeface="Cambria Math" panose="02040503050406030204" pitchFamily="18" charset="0"/>
                              </a:rPr>
                              <m:t>𝑀</m:t>
                            </m:r>
                          </m:sub>
                        </m:sSub>
                      </m:oMath>
                    </m:oMathPara>
                  </a14:m>
                  <a:endParaRPr lang="zh-CN" altLang="en-US" dirty="0"/>
                </a:p>
              </p:txBody>
            </p:sp>
          </mc:Choice>
          <mc:Fallback xmlns="">
            <p:sp>
              <p:nvSpPr>
                <p:cNvPr id="158" name="文本框 157">
                  <a:extLst>
                    <a:ext uri="{FF2B5EF4-FFF2-40B4-BE49-F238E27FC236}">
                      <a16:creationId xmlns:a16="http://schemas.microsoft.com/office/drawing/2014/main" id="{B9AC602F-1A25-CCA3-97D6-CA3B32E9F85C}"/>
                    </a:ext>
                  </a:extLst>
                </p:cNvPr>
                <p:cNvSpPr txBox="1">
                  <a:spLocks noRot="1" noChangeAspect="1" noMove="1" noResize="1" noEditPoints="1" noAdjustHandles="1" noChangeArrowheads="1" noChangeShapeType="1" noTextEdit="1"/>
                </p:cNvSpPr>
                <p:nvPr/>
              </p:nvSpPr>
              <p:spPr>
                <a:xfrm>
                  <a:off x="8884324" y="4050307"/>
                  <a:ext cx="2057996" cy="509230"/>
                </a:xfrm>
                <a:prstGeom prst="rect">
                  <a:avLst/>
                </a:prstGeom>
                <a:blipFill>
                  <a:blip r:embed="rId5"/>
                  <a:stretch>
                    <a:fillRect l="-888" r="-888" b="-14754"/>
                  </a:stretch>
                </a:blipFill>
              </p:spPr>
              <p:txBody>
                <a:bodyPr/>
                <a:lstStyle/>
                <a:p>
                  <a:r>
                    <a:rPr lang="zh-CN" altLang="en-US">
                      <a:noFill/>
                    </a:rPr>
                    <a:t> </a:t>
                  </a:r>
                </a:p>
              </p:txBody>
            </p:sp>
          </mc:Fallback>
        </mc:AlternateContent>
      </p:grpSp>
      <p:sp>
        <p:nvSpPr>
          <p:cNvPr id="2" name="矩形 1">
            <a:extLst>
              <a:ext uri="{FF2B5EF4-FFF2-40B4-BE49-F238E27FC236}">
                <a16:creationId xmlns:a16="http://schemas.microsoft.com/office/drawing/2014/main" id="{B72A62CB-3E0F-A0E4-5AC2-B41FA42A99EB}"/>
              </a:ext>
            </a:extLst>
          </p:cNvPr>
          <p:cNvSpPr/>
          <p:nvPr/>
        </p:nvSpPr>
        <p:spPr>
          <a:xfrm>
            <a:off x="6611551" y="4112878"/>
            <a:ext cx="4994356" cy="250449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50981099-46A1-55D3-597B-0FDBF9E70D30}"/>
              </a:ext>
            </a:extLst>
          </p:cNvPr>
          <p:cNvSpPr/>
          <p:nvPr/>
        </p:nvSpPr>
        <p:spPr>
          <a:xfrm>
            <a:off x="6478201" y="3941428"/>
            <a:ext cx="4994356" cy="250449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a:extLst>
              <a:ext uri="{FF2B5EF4-FFF2-40B4-BE49-F238E27FC236}">
                <a16:creationId xmlns:a16="http://schemas.microsoft.com/office/drawing/2014/main" id="{076CAD99-9F15-7FE7-2C72-22FC8444766D}"/>
              </a:ext>
            </a:extLst>
          </p:cNvPr>
          <p:cNvGrpSpPr/>
          <p:nvPr/>
        </p:nvGrpSpPr>
        <p:grpSpPr>
          <a:xfrm flipH="1">
            <a:off x="6905019" y="3950828"/>
            <a:ext cx="4288756" cy="2484126"/>
            <a:chOff x="6776774" y="1134456"/>
            <a:chExt cx="4288756" cy="3425081"/>
          </a:xfrm>
        </p:grpSpPr>
        <p:grpSp>
          <p:nvGrpSpPr>
            <p:cNvPr id="6" name="组合 5">
              <a:extLst>
                <a:ext uri="{FF2B5EF4-FFF2-40B4-BE49-F238E27FC236}">
                  <a16:creationId xmlns:a16="http://schemas.microsoft.com/office/drawing/2014/main" id="{64470BBC-F159-3B8F-96C2-775DE41B1164}"/>
                </a:ext>
              </a:extLst>
            </p:cNvPr>
            <p:cNvGrpSpPr/>
            <p:nvPr/>
          </p:nvGrpSpPr>
          <p:grpSpPr>
            <a:xfrm>
              <a:off x="7012852" y="1572343"/>
              <a:ext cx="4052678" cy="2418577"/>
              <a:chOff x="7012852" y="1572343"/>
              <a:chExt cx="4052678" cy="2418577"/>
            </a:xfrm>
          </p:grpSpPr>
          <p:sp>
            <p:nvSpPr>
              <p:cNvPr id="9" name="任意多边形: 形状 8">
                <a:extLst>
                  <a:ext uri="{FF2B5EF4-FFF2-40B4-BE49-F238E27FC236}">
                    <a16:creationId xmlns:a16="http://schemas.microsoft.com/office/drawing/2014/main" id="{221F6272-ECE3-B53E-9490-5D559E20A66E}"/>
                  </a:ext>
                </a:extLst>
              </p:cNvPr>
              <p:cNvSpPr/>
              <p:nvPr/>
            </p:nvSpPr>
            <p:spPr>
              <a:xfrm>
                <a:off x="9886950" y="3022545"/>
                <a:ext cx="577850" cy="698500"/>
              </a:xfrm>
              <a:custGeom>
                <a:avLst/>
                <a:gdLst>
                  <a:gd name="connsiteX0" fmla="*/ 0 w 552450"/>
                  <a:gd name="connsiteY0" fmla="*/ 0 h 679450"/>
                  <a:gd name="connsiteX1" fmla="*/ 552450 w 552450"/>
                  <a:gd name="connsiteY1" fmla="*/ 679450 h 679450"/>
                  <a:gd name="connsiteX2" fmla="*/ 412750 w 552450"/>
                  <a:gd name="connsiteY2" fmla="*/ 622300 h 679450"/>
                  <a:gd name="connsiteX3" fmla="*/ 323850 w 552450"/>
                  <a:gd name="connsiteY3" fmla="*/ 584200 h 679450"/>
                  <a:gd name="connsiteX4" fmla="*/ 228600 w 552450"/>
                  <a:gd name="connsiteY4" fmla="*/ 530225 h 679450"/>
                  <a:gd name="connsiteX5" fmla="*/ 171450 w 552450"/>
                  <a:gd name="connsiteY5" fmla="*/ 479425 h 679450"/>
                  <a:gd name="connsiteX6" fmla="*/ 127000 w 552450"/>
                  <a:gd name="connsiteY6" fmla="*/ 396875 h 679450"/>
                  <a:gd name="connsiteX7" fmla="*/ 0 w 552450"/>
                  <a:gd name="connsiteY7" fmla="*/ 0 h 67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 h="679450">
                    <a:moveTo>
                      <a:pt x="0" y="0"/>
                    </a:moveTo>
                    <a:lnTo>
                      <a:pt x="552450" y="679450"/>
                    </a:lnTo>
                    <a:lnTo>
                      <a:pt x="412750" y="622300"/>
                    </a:lnTo>
                    <a:lnTo>
                      <a:pt x="323850" y="584200"/>
                    </a:lnTo>
                    <a:lnTo>
                      <a:pt x="228600" y="530225"/>
                    </a:lnTo>
                    <a:lnTo>
                      <a:pt x="171450" y="479425"/>
                    </a:lnTo>
                    <a:lnTo>
                      <a:pt x="127000" y="3968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任意多边形: 形状 9">
                <a:extLst>
                  <a:ext uri="{FF2B5EF4-FFF2-40B4-BE49-F238E27FC236}">
                    <a16:creationId xmlns:a16="http://schemas.microsoft.com/office/drawing/2014/main" id="{15F270C9-5429-8A50-6C5C-DA20143ED2B0}"/>
                  </a:ext>
                </a:extLst>
              </p:cNvPr>
              <p:cNvSpPr/>
              <p:nvPr/>
            </p:nvSpPr>
            <p:spPr>
              <a:xfrm>
                <a:off x="7962900" y="3219395"/>
                <a:ext cx="596952" cy="733425"/>
              </a:xfrm>
              <a:custGeom>
                <a:avLst/>
                <a:gdLst>
                  <a:gd name="connsiteX0" fmla="*/ 0 w 590550"/>
                  <a:gd name="connsiteY0" fmla="*/ 0 h 733425"/>
                  <a:gd name="connsiteX1" fmla="*/ 590550 w 590550"/>
                  <a:gd name="connsiteY1" fmla="*/ 727075 h 733425"/>
                  <a:gd name="connsiteX2" fmla="*/ 523875 w 590550"/>
                  <a:gd name="connsiteY2" fmla="*/ 733425 h 733425"/>
                  <a:gd name="connsiteX3" fmla="*/ 469900 w 590550"/>
                  <a:gd name="connsiteY3" fmla="*/ 730250 h 733425"/>
                  <a:gd name="connsiteX4" fmla="*/ 400050 w 590550"/>
                  <a:gd name="connsiteY4" fmla="*/ 711200 h 733425"/>
                  <a:gd name="connsiteX5" fmla="*/ 336550 w 590550"/>
                  <a:gd name="connsiteY5" fmla="*/ 638175 h 733425"/>
                  <a:gd name="connsiteX6" fmla="*/ 247650 w 590550"/>
                  <a:gd name="connsiteY6" fmla="*/ 511175 h 733425"/>
                  <a:gd name="connsiteX7" fmla="*/ 0 w 590550"/>
                  <a:gd name="connsiteY7" fmla="*/ 0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550" h="733425">
                    <a:moveTo>
                      <a:pt x="0" y="0"/>
                    </a:moveTo>
                    <a:lnTo>
                      <a:pt x="590550" y="727075"/>
                    </a:lnTo>
                    <a:lnTo>
                      <a:pt x="523875" y="733425"/>
                    </a:lnTo>
                    <a:lnTo>
                      <a:pt x="469900" y="730250"/>
                    </a:lnTo>
                    <a:lnTo>
                      <a:pt x="400050" y="711200"/>
                    </a:lnTo>
                    <a:lnTo>
                      <a:pt x="336550" y="638175"/>
                    </a:lnTo>
                    <a:lnTo>
                      <a:pt x="247650" y="5111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id="{8ADA8C35-1268-A13E-4F06-33DA2FF4F06E}"/>
                  </a:ext>
                </a:extLst>
              </p:cNvPr>
              <p:cNvSpPr/>
              <p:nvPr/>
            </p:nvSpPr>
            <p:spPr>
              <a:xfrm>
                <a:off x="7609840" y="2948975"/>
                <a:ext cx="3439160" cy="1041945"/>
              </a:xfrm>
              <a:custGeom>
                <a:avLst/>
                <a:gdLst>
                  <a:gd name="connsiteX0" fmla="*/ 0 w 3332480"/>
                  <a:gd name="connsiteY0" fmla="*/ 1041945 h 1041945"/>
                  <a:gd name="connsiteX1" fmla="*/ 279400 w 3332480"/>
                  <a:gd name="connsiteY1" fmla="*/ 218985 h 1041945"/>
                  <a:gd name="connsiteX2" fmla="*/ 868680 w 3332480"/>
                  <a:gd name="connsiteY2" fmla="*/ 1016545 h 1041945"/>
                  <a:gd name="connsiteX3" fmla="*/ 2087880 w 3332480"/>
                  <a:gd name="connsiteY3" fmla="*/ 5625 h 1041945"/>
                  <a:gd name="connsiteX4" fmla="*/ 2494280 w 3332480"/>
                  <a:gd name="connsiteY4" fmla="*/ 620305 h 1041945"/>
                  <a:gd name="connsiteX5" fmla="*/ 3332480 w 3332480"/>
                  <a:gd name="connsiteY5" fmla="*/ 8844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160" h="1041945">
                    <a:moveTo>
                      <a:pt x="0" y="1041945"/>
                    </a:moveTo>
                    <a:cubicBezTo>
                      <a:pt x="67310" y="632581"/>
                      <a:pt x="134620" y="223218"/>
                      <a:pt x="279400" y="218985"/>
                    </a:cubicBezTo>
                    <a:cubicBezTo>
                      <a:pt x="424180" y="214752"/>
                      <a:pt x="567267" y="1052105"/>
                      <a:pt x="868680" y="1016545"/>
                    </a:cubicBezTo>
                    <a:cubicBezTo>
                      <a:pt x="1170093" y="980985"/>
                      <a:pt x="1816947" y="71665"/>
                      <a:pt x="2087880" y="5625"/>
                    </a:cubicBezTo>
                    <a:cubicBezTo>
                      <a:pt x="2358813" y="-60415"/>
                      <a:pt x="2286847" y="473832"/>
                      <a:pt x="2494280" y="620305"/>
                    </a:cubicBezTo>
                    <a:cubicBezTo>
                      <a:pt x="2701713" y="766778"/>
                      <a:pt x="3343487" y="826892"/>
                      <a:pt x="3439160" y="1036865"/>
                    </a:cubicBez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61AE8319-E6E3-3F1F-1CC4-CC43FDDB7EB6}"/>
                  </a:ext>
                </a:extLst>
              </p:cNvPr>
              <p:cNvCxnSpPr>
                <a:cxnSpLocks/>
                <a:stCxn id="11" idx="0"/>
              </p:cNvCxnSpPr>
              <p:nvPr/>
            </p:nvCxnSpPr>
            <p:spPr>
              <a:xfrm flipH="1" flipV="1">
                <a:off x="7012852" y="3255565"/>
                <a:ext cx="596988" cy="73535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EAF56A9-3BCF-76BC-A2FC-9CF586BD2FFA}"/>
                  </a:ext>
                </a:extLst>
              </p:cNvPr>
              <p:cNvCxnSpPr>
                <a:cxnSpLocks/>
              </p:cNvCxnSpPr>
              <p:nvPr/>
            </p:nvCxnSpPr>
            <p:spPr>
              <a:xfrm flipH="1" flipV="1">
                <a:off x="7609840" y="2780935"/>
                <a:ext cx="950012" cy="115059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FA5097BF-DA6D-24D8-3D74-E651A52BE5FD}"/>
                  </a:ext>
                </a:extLst>
              </p:cNvPr>
              <p:cNvCxnSpPr>
                <a:cxnSpLocks/>
              </p:cNvCxnSpPr>
              <p:nvPr/>
            </p:nvCxnSpPr>
            <p:spPr>
              <a:xfrm flipH="1" flipV="1">
                <a:off x="8847134" y="1760557"/>
                <a:ext cx="1595118" cy="19319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690ED556-193E-DE85-30F3-E95A5071B3DF}"/>
                  </a:ext>
                </a:extLst>
              </p:cNvPr>
              <p:cNvCxnSpPr>
                <a:cxnSpLocks/>
              </p:cNvCxnSpPr>
              <p:nvPr/>
            </p:nvCxnSpPr>
            <p:spPr>
              <a:xfrm flipV="1">
                <a:off x="7012852" y="1577258"/>
                <a:ext cx="2055740" cy="167830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AFE03D4-3622-AA7A-EB7C-5C889BA40AEF}"/>
                  </a:ext>
                </a:extLst>
              </p:cNvPr>
              <p:cNvCxnSpPr>
                <a:cxnSpLocks/>
              </p:cNvCxnSpPr>
              <p:nvPr/>
            </p:nvCxnSpPr>
            <p:spPr>
              <a:xfrm flipH="1" flipV="1">
                <a:off x="9068592" y="1572343"/>
                <a:ext cx="1996938" cy="241857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E154EB70-34EF-DC8E-C5D8-2282F0A9F558}"/>
                  </a:ext>
                </a:extLst>
              </p:cNvPr>
              <p:cNvCxnSpPr/>
              <p:nvPr/>
            </p:nvCxnSpPr>
            <p:spPr>
              <a:xfrm flipH="1" flipV="1">
                <a:off x="7748072" y="2002651"/>
                <a:ext cx="314960" cy="381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57A2448F-35D5-2E7C-29DD-56078DE604A6}"/>
                      </a:ext>
                    </a:extLst>
                  </p:cNvPr>
                  <p:cNvSpPr txBox="1"/>
                  <p:nvPr/>
                </p:nvSpPr>
                <p:spPr>
                  <a:xfrm>
                    <a:off x="7399694" y="1984425"/>
                    <a:ext cx="439977" cy="5092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𝒐</m:t>
                          </m:r>
                        </m:oMath>
                      </m:oMathPara>
                    </a14:m>
                    <a:endParaRPr lang="zh-CN" altLang="en-US" b="1" dirty="0"/>
                  </a:p>
                </p:txBody>
              </p:sp>
            </mc:Choice>
            <mc:Fallback xmlns="">
              <p:sp>
                <p:nvSpPr>
                  <p:cNvPr id="19" name="文本框 18">
                    <a:extLst>
                      <a:ext uri="{FF2B5EF4-FFF2-40B4-BE49-F238E27FC236}">
                        <a16:creationId xmlns:a16="http://schemas.microsoft.com/office/drawing/2014/main" id="{57A2448F-35D5-2E7C-29DD-56078DE604A6}"/>
                      </a:ext>
                    </a:extLst>
                  </p:cNvPr>
                  <p:cNvSpPr txBox="1">
                    <a:spLocks noRot="1" noChangeAspect="1" noMove="1" noResize="1" noEditPoints="1" noAdjustHandles="1" noChangeArrowheads="1" noChangeShapeType="1" noTextEdit="1"/>
                  </p:cNvSpPr>
                  <p:nvPr/>
                </p:nvSpPr>
                <p:spPr>
                  <a:xfrm>
                    <a:off x="7399694" y="1984425"/>
                    <a:ext cx="439977" cy="509230"/>
                  </a:xfrm>
                  <a:prstGeom prst="rect">
                    <a:avLst/>
                  </a:prstGeom>
                  <a:blipFill>
                    <a:blip r:embed="rId6"/>
                    <a:stretch>
                      <a:fillRect/>
                    </a:stretch>
                  </a:blipFill>
                </p:spPr>
                <p:txBody>
                  <a:bodyPr/>
                  <a:lstStyle/>
                  <a:p>
                    <a:r>
                      <a:rPr lang="zh-CN" altLang="en-US">
                        <a:noFill/>
                      </a:rPr>
                      <a:t> </a:t>
                    </a:r>
                  </a:p>
                </p:txBody>
              </p:sp>
            </mc:Fallback>
          </mc:AlternateContent>
          <p:cxnSp>
            <p:nvCxnSpPr>
              <p:cNvPr id="20" name="直接箭头连接符 19">
                <a:extLst>
                  <a:ext uri="{FF2B5EF4-FFF2-40B4-BE49-F238E27FC236}">
                    <a16:creationId xmlns:a16="http://schemas.microsoft.com/office/drawing/2014/main" id="{A1AC9125-FB3F-A393-C81D-A0F4A0605B38}"/>
                  </a:ext>
                </a:extLst>
              </p:cNvPr>
              <p:cNvCxnSpPr>
                <a:cxnSpLocks/>
              </p:cNvCxnSpPr>
              <p:nvPr/>
            </p:nvCxnSpPr>
            <p:spPr>
              <a:xfrm flipH="1" flipV="1">
                <a:off x="7330440" y="3381320"/>
                <a:ext cx="376414" cy="102503"/>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8D2EE5E3-B14C-8A28-92B7-F69B5DEE4793}"/>
                      </a:ext>
                    </a:extLst>
                  </p:cNvPr>
                  <p:cNvSpPr txBox="1"/>
                  <p:nvPr/>
                </p:nvSpPr>
                <p:spPr>
                  <a:xfrm>
                    <a:off x="7356905" y="3073544"/>
                    <a:ext cx="439977" cy="4243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rPr>
                            <m:t>𝒎</m:t>
                          </m:r>
                        </m:oMath>
                      </m:oMathPara>
                    </a14:m>
                    <a:endParaRPr lang="zh-CN" altLang="en-US" sz="1400" b="1" dirty="0"/>
                  </a:p>
                </p:txBody>
              </p:sp>
            </mc:Choice>
            <mc:Fallback xmlns="">
              <p:sp>
                <p:nvSpPr>
                  <p:cNvPr id="21" name="文本框 20">
                    <a:extLst>
                      <a:ext uri="{FF2B5EF4-FFF2-40B4-BE49-F238E27FC236}">
                        <a16:creationId xmlns:a16="http://schemas.microsoft.com/office/drawing/2014/main" id="{8D2EE5E3-B14C-8A28-92B7-F69B5DEE4793}"/>
                      </a:ext>
                    </a:extLst>
                  </p:cNvPr>
                  <p:cNvSpPr txBox="1">
                    <a:spLocks noRot="1" noChangeAspect="1" noMove="1" noResize="1" noEditPoints="1" noAdjustHandles="1" noChangeArrowheads="1" noChangeShapeType="1" noTextEdit="1"/>
                  </p:cNvSpPr>
                  <p:nvPr/>
                </p:nvSpPr>
                <p:spPr>
                  <a:xfrm>
                    <a:off x="7356905" y="3073544"/>
                    <a:ext cx="439977" cy="424359"/>
                  </a:xfrm>
                  <a:prstGeom prst="rect">
                    <a:avLst/>
                  </a:prstGeom>
                  <a:blipFill>
                    <a:blip r:embed="rId7"/>
                    <a:stretch>
                      <a:fillRect/>
                    </a:stretch>
                  </a:blipFill>
                </p:spPr>
                <p:txBody>
                  <a:bodyPr/>
                  <a:lstStyle/>
                  <a:p>
                    <a:r>
                      <a:rPr lang="zh-CN" altLang="en-US">
                        <a:noFill/>
                      </a:rPr>
                      <a:t> </a:t>
                    </a:r>
                  </a:p>
                </p:txBody>
              </p:sp>
            </mc:Fallback>
          </mc:AlternateContent>
          <p:cxnSp>
            <p:nvCxnSpPr>
              <p:cNvPr id="22" name="直接箭头连接符 21">
                <a:extLst>
                  <a:ext uri="{FF2B5EF4-FFF2-40B4-BE49-F238E27FC236}">
                    <a16:creationId xmlns:a16="http://schemas.microsoft.com/office/drawing/2014/main" id="{14A0FCE8-4BA7-1391-1ED9-4627B15524B0}"/>
                  </a:ext>
                </a:extLst>
              </p:cNvPr>
              <p:cNvCxnSpPr>
                <a:cxnSpLocks/>
              </p:cNvCxnSpPr>
              <p:nvPr/>
            </p:nvCxnSpPr>
            <p:spPr>
              <a:xfrm flipH="1" flipV="1">
                <a:off x="8895080" y="3162880"/>
                <a:ext cx="261666" cy="269945"/>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5B05F2C6-3990-ED13-E562-32EFC35DD97F}"/>
                      </a:ext>
                    </a:extLst>
                  </p:cNvPr>
                  <p:cNvSpPr txBox="1"/>
                  <p:nvPr/>
                </p:nvSpPr>
                <p:spPr>
                  <a:xfrm>
                    <a:off x="8921819" y="2940719"/>
                    <a:ext cx="439977" cy="4243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rPr>
                            <m:t>𝒎</m:t>
                          </m:r>
                        </m:oMath>
                      </m:oMathPara>
                    </a14:m>
                    <a:endParaRPr lang="zh-CN" altLang="en-US" sz="1400" b="1" dirty="0"/>
                  </a:p>
                </p:txBody>
              </p:sp>
            </mc:Choice>
            <mc:Fallback xmlns="">
              <p:sp>
                <p:nvSpPr>
                  <p:cNvPr id="23" name="文本框 22">
                    <a:extLst>
                      <a:ext uri="{FF2B5EF4-FFF2-40B4-BE49-F238E27FC236}">
                        <a16:creationId xmlns:a16="http://schemas.microsoft.com/office/drawing/2014/main" id="{5B05F2C6-3990-ED13-E562-32EFC35DD97F}"/>
                      </a:ext>
                    </a:extLst>
                  </p:cNvPr>
                  <p:cNvSpPr txBox="1">
                    <a:spLocks noRot="1" noChangeAspect="1" noMove="1" noResize="1" noEditPoints="1" noAdjustHandles="1" noChangeArrowheads="1" noChangeShapeType="1" noTextEdit="1"/>
                  </p:cNvSpPr>
                  <p:nvPr/>
                </p:nvSpPr>
                <p:spPr>
                  <a:xfrm>
                    <a:off x="8921819" y="2940719"/>
                    <a:ext cx="439977" cy="424359"/>
                  </a:xfrm>
                  <a:prstGeom prst="rect">
                    <a:avLst/>
                  </a:prstGeom>
                  <a:blipFill>
                    <a:blip r:embed="rId8"/>
                    <a:stretch>
                      <a:fillRect/>
                    </a:stretch>
                  </a:blipFill>
                </p:spPr>
                <p:txBody>
                  <a:bodyPr/>
                  <a:lstStyle/>
                  <a:p>
                    <a:r>
                      <a:rPr lang="zh-CN" altLang="en-US">
                        <a:noFill/>
                      </a:rPr>
                      <a:t> </a:t>
                    </a:r>
                  </a:p>
                </p:txBody>
              </p:sp>
            </mc:Fallback>
          </mc:AlternateContent>
          <p:cxnSp>
            <p:nvCxnSpPr>
              <p:cNvPr id="24" name="直接箭头连接符 23">
                <a:extLst>
                  <a:ext uri="{FF2B5EF4-FFF2-40B4-BE49-F238E27FC236}">
                    <a16:creationId xmlns:a16="http://schemas.microsoft.com/office/drawing/2014/main" id="{B096D39D-6734-01B9-3663-71A589BDBB93}"/>
                  </a:ext>
                </a:extLst>
              </p:cNvPr>
              <p:cNvCxnSpPr>
                <a:cxnSpLocks/>
              </p:cNvCxnSpPr>
              <p:nvPr/>
            </p:nvCxnSpPr>
            <p:spPr>
              <a:xfrm flipV="1">
                <a:off x="10566400" y="3347780"/>
                <a:ext cx="90195" cy="380931"/>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EC53AA11-1378-8738-CCCD-C5C52D52201A}"/>
                      </a:ext>
                    </a:extLst>
                  </p:cNvPr>
                  <p:cNvSpPr txBox="1"/>
                  <p:nvPr/>
                </p:nvSpPr>
                <p:spPr>
                  <a:xfrm>
                    <a:off x="10251486" y="3311686"/>
                    <a:ext cx="439977" cy="42435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solidFill>
                        <a:schemeClr val="tx1"/>
                      </a:solidFill>
                    </a:endParaRPr>
                  </a:p>
                </p:txBody>
              </p:sp>
            </mc:Choice>
            <mc:Fallback xmlns="">
              <p:sp>
                <p:nvSpPr>
                  <p:cNvPr id="25" name="文本框 24">
                    <a:extLst>
                      <a:ext uri="{FF2B5EF4-FFF2-40B4-BE49-F238E27FC236}">
                        <a16:creationId xmlns:a16="http://schemas.microsoft.com/office/drawing/2014/main" id="{EC53AA11-1378-8738-CCCD-C5C52D52201A}"/>
                      </a:ext>
                    </a:extLst>
                  </p:cNvPr>
                  <p:cNvSpPr txBox="1">
                    <a:spLocks noRot="1" noChangeAspect="1" noMove="1" noResize="1" noEditPoints="1" noAdjustHandles="1" noChangeArrowheads="1" noChangeShapeType="1" noTextEdit="1"/>
                  </p:cNvSpPr>
                  <p:nvPr/>
                </p:nvSpPr>
                <p:spPr>
                  <a:xfrm>
                    <a:off x="10251486" y="3311686"/>
                    <a:ext cx="439977" cy="424359"/>
                  </a:xfrm>
                  <a:prstGeom prst="rect">
                    <a:avLst/>
                  </a:prstGeom>
                  <a:blipFill>
                    <a:blip r:embed="rId4"/>
                    <a:stretch>
                      <a:fillRect/>
                    </a:stretch>
                  </a:blipFill>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B8B36396-4646-07C4-A736-3718D718ABC6}"/>
                  </a:ext>
                </a:extLst>
              </p:cNvPr>
              <p:cNvCxnSpPr>
                <a:cxnSpLocks/>
              </p:cNvCxnSpPr>
              <p:nvPr/>
            </p:nvCxnSpPr>
            <p:spPr>
              <a:xfrm>
                <a:off x="7609840" y="3990920"/>
                <a:ext cx="34556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B650D3E-B045-5BC3-49F6-768CCC0FF06B}"/>
                    </a:ext>
                  </a:extLst>
                </p:cNvPr>
                <p:cNvSpPr txBox="1"/>
                <p:nvPr/>
              </p:nvSpPr>
              <p:spPr>
                <a:xfrm>
                  <a:off x="6776774" y="1134456"/>
                  <a:ext cx="2070360" cy="80628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𝑝𝑟𝑜𝑗𝑒𝑐𝑡𝑒𝑑</m:t>
                        </m:r>
                        <m:r>
                          <a:rPr lang="en-US" altLang="zh-CN" sz="1600" b="0" i="1" smtClean="0">
                            <a:solidFill>
                              <a:schemeClr val="tx1"/>
                            </a:solidFill>
                            <a:latin typeface="Cambria Math" panose="02040503050406030204" pitchFamily="18" charset="0"/>
                          </a:rPr>
                          <m:t> </m:t>
                        </m:r>
                        <m:r>
                          <a:rPr lang="en-US" altLang="zh-CN" sz="1600" b="0" i="1" smtClean="0">
                            <a:solidFill>
                              <a:schemeClr val="tx1"/>
                            </a:solidFill>
                            <a:latin typeface="Cambria Math" panose="02040503050406030204" pitchFamily="18" charset="0"/>
                          </a:rPr>
                          <m:t>𝑎𝑟𝑒𝑎</m:t>
                        </m:r>
                      </m:oMath>
                    </m:oMathPara>
                  </a14:m>
                  <a:endParaRPr lang="en-US" altLang="zh-CN" sz="16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     =</m:t>
                        </m:r>
                        <m:d>
                          <m:dPr>
                            <m:ctrlPr>
                              <a:rPr lang="en-US" altLang="zh-CN" sz="1600" b="0" i="1" smtClean="0">
                                <a:solidFill>
                                  <a:schemeClr val="tx1"/>
                                </a:solidFill>
                                <a:latin typeface="Cambria Math" panose="02040503050406030204" pitchFamily="18" charset="0"/>
                              </a:rPr>
                            </m:ctrlPr>
                          </m:dPr>
                          <m:e>
                            <m:r>
                              <a:rPr lang="en-US" altLang="zh-CN" sz="1600" b="1" i="1" smtClean="0">
                                <a:solidFill>
                                  <a:schemeClr val="tx1"/>
                                </a:solidFill>
                                <a:latin typeface="Cambria Math" panose="02040503050406030204" pitchFamily="18" charset="0"/>
                              </a:rPr>
                              <m:t>𝒐</m:t>
                            </m:r>
                            <m:r>
                              <a:rPr lang="en-US" altLang="zh-CN" sz="1600" b="0"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𝒈</m:t>
                            </m:r>
                          </m:e>
                        </m:d>
                        <m:r>
                          <a:rPr lang="en-US" altLang="zh-CN" sz="1600" b="0" i="1" smtClean="0">
                            <a:solidFill>
                              <a:schemeClr val="tx1"/>
                            </a:solidFill>
                            <a:latin typeface="Cambria Math" panose="02040503050406030204" pitchFamily="18" charset="0"/>
                          </a:rPr>
                          <m:t> </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𝐴</m:t>
                            </m:r>
                          </m:e>
                          <m:sub>
                            <m:r>
                              <a:rPr lang="en-US" altLang="zh-CN" sz="1600" b="0" i="1" smtClean="0">
                                <a:solidFill>
                                  <a:schemeClr val="tx1"/>
                                </a:solidFill>
                                <a:latin typeface="Cambria Math" panose="02040503050406030204" pitchFamily="18" charset="0"/>
                              </a:rPr>
                              <m:t>𝑀</m:t>
                            </m:r>
                          </m:sub>
                        </m:sSub>
                      </m:oMath>
                    </m:oMathPara>
                  </a14:m>
                  <a:endParaRPr lang="zh-CN" altLang="en-US" sz="1600" dirty="0"/>
                </a:p>
              </p:txBody>
            </p:sp>
          </mc:Choice>
          <mc:Fallback xmlns="">
            <p:sp>
              <p:nvSpPr>
                <p:cNvPr id="7" name="文本框 6">
                  <a:extLst>
                    <a:ext uri="{FF2B5EF4-FFF2-40B4-BE49-F238E27FC236}">
                      <a16:creationId xmlns:a16="http://schemas.microsoft.com/office/drawing/2014/main" id="{BB650D3E-B045-5BC3-49F6-768CCC0FF06B}"/>
                    </a:ext>
                  </a:extLst>
                </p:cNvPr>
                <p:cNvSpPr txBox="1">
                  <a:spLocks noRot="1" noChangeAspect="1" noMove="1" noResize="1" noEditPoints="1" noAdjustHandles="1" noChangeArrowheads="1" noChangeShapeType="1" noTextEdit="1"/>
                </p:cNvSpPr>
                <p:nvPr/>
              </p:nvSpPr>
              <p:spPr>
                <a:xfrm>
                  <a:off x="6776774" y="1134456"/>
                  <a:ext cx="2070360" cy="806280"/>
                </a:xfrm>
                <a:prstGeom prst="rect">
                  <a:avLst/>
                </a:prstGeom>
                <a:blipFill>
                  <a:blip r:embed="rId9"/>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0E760746-3E54-C30E-34E3-F1509734F504}"/>
                    </a:ext>
                  </a:extLst>
                </p:cNvPr>
                <p:cNvSpPr txBox="1"/>
                <p:nvPr/>
              </p:nvSpPr>
              <p:spPr>
                <a:xfrm>
                  <a:off x="8884324" y="4050307"/>
                  <a:ext cx="2057996" cy="50923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𝑀𝑎𝑐𝑟𝑜</m:t>
                        </m:r>
                        <m:r>
                          <a:rPr lang="en-US" altLang="zh-CN" sz="1800" b="0" i="1" smtClean="0">
                            <a:solidFill>
                              <a:schemeClr val="tx1"/>
                            </a:solidFill>
                            <a:latin typeface="Cambria Math" panose="02040503050406030204" pitchFamily="18" charset="0"/>
                          </a:rPr>
                          <m:t> </m:t>
                        </m:r>
                        <m:r>
                          <a:rPr lang="en-US" altLang="zh-CN" sz="1800" b="0" i="1" smtClean="0">
                            <a:solidFill>
                              <a:schemeClr val="tx1"/>
                            </a:solidFill>
                            <a:latin typeface="Cambria Math" panose="02040503050406030204" pitchFamily="18" charset="0"/>
                          </a:rPr>
                          <m:t>𝑆𝑢𝑟𝑓𝑎𝑐𝑒</m:t>
                        </m:r>
                        <m:r>
                          <a:rPr lang="en-US" altLang="zh-CN" sz="1800" b="0" i="1" smtClean="0">
                            <a:solidFill>
                              <a:schemeClr val="tx1"/>
                            </a:solidFill>
                            <a:latin typeface="Cambria Math" panose="02040503050406030204" pitchFamily="18" charset="0"/>
                          </a:rPr>
                          <m:t>  </m:t>
                        </m:r>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𝐴</m:t>
                            </m:r>
                          </m:e>
                          <m:sub>
                            <m:r>
                              <a:rPr lang="en-US" altLang="zh-CN" sz="1800" b="0" i="1" smtClean="0">
                                <a:solidFill>
                                  <a:schemeClr val="tx1"/>
                                </a:solidFill>
                                <a:latin typeface="Cambria Math" panose="02040503050406030204" pitchFamily="18" charset="0"/>
                              </a:rPr>
                              <m:t>𝑀</m:t>
                            </m:r>
                          </m:sub>
                        </m:sSub>
                      </m:oMath>
                    </m:oMathPara>
                  </a14:m>
                  <a:endParaRPr lang="zh-CN" altLang="en-US" dirty="0"/>
                </a:p>
              </p:txBody>
            </p:sp>
          </mc:Choice>
          <mc:Fallback xmlns="">
            <p:sp>
              <p:nvSpPr>
                <p:cNvPr id="8" name="文本框 7">
                  <a:extLst>
                    <a:ext uri="{FF2B5EF4-FFF2-40B4-BE49-F238E27FC236}">
                      <a16:creationId xmlns:a16="http://schemas.microsoft.com/office/drawing/2014/main" id="{0E760746-3E54-C30E-34E3-F1509734F504}"/>
                    </a:ext>
                  </a:extLst>
                </p:cNvPr>
                <p:cNvSpPr txBox="1">
                  <a:spLocks noRot="1" noChangeAspect="1" noMove="1" noResize="1" noEditPoints="1" noAdjustHandles="1" noChangeArrowheads="1" noChangeShapeType="1" noTextEdit="1"/>
                </p:cNvSpPr>
                <p:nvPr/>
              </p:nvSpPr>
              <p:spPr>
                <a:xfrm>
                  <a:off x="8884324" y="4050307"/>
                  <a:ext cx="2057996" cy="509230"/>
                </a:xfrm>
                <a:prstGeom prst="rect">
                  <a:avLst/>
                </a:prstGeom>
                <a:blipFill>
                  <a:blip r:embed="rId10"/>
                  <a:stretch>
                    <a:fillRect l="-888" r="-592" b="-14754"/>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123683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88F70-B9CC-5926-4C27-1C7CC5D8A886}"/>
            </a:ext>
          </a:extLst>
        </p:cNvPr>
        <p:cNvGrpSpPr/>
        <p:nvPr/>
      </p:nvGrpSpPr>
      <p:grpSpPr>
        <a:xfrm>
          <a:off x="0" y="0"/>
          <a:ext cx="0" cy="0"/>
          <a:chOff x="0" y="0"/>
          <a:chExt cx="0" cy="0"/>
        </a:xfrm>
      </p:grpSpPr>
      <p:sp>
        <p:nvSpPr>
          <p:cNvPr id="59" name="矩形 58">
            <a:extLst>
              <a:ext uri="{FF2B5EF4-FFF2-40B4-BE49-F238E27FC236}">
                <a16:creationId xmlns:a16="http://schemas.microsoft.com/office/drawing/2014/main" id="{1AE902A4-9E40-A7F4-9A2E-E4D7701C85E1}"/>
              </a:ext>
            </a:extLst>
          </p:cNvPr>
          <p:cNvSpPr/>
          <p:nvPr/>
        </p:nvSpPr>
        <p:spPr>
          <a:xfrm>
            <a:off x="631111" y="1231307"/>
            <a:ext cx="5706286" cy="538674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13" name="标题 2">
            <a:extLst>
              <a:ext uri="{FF2B5EF4-FFF2-40B4-BE49-F238E27FC236}">
                <a16:creationId xmlns:a16="http://schemas.microsoft.com/office/drawing/2014/main" id="{CD48AF28-EDC4-1A12-073C-DA681140B5A0}"/>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掩蔽函数的一个约束</a:t>
            </a:r>
            <a:endParaRPr lang="en-US" altLang="zh-CN"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10975F51-7C0F-BCC7-39B9-EB32725737DB}"/>
                  </a:ext>
                </a:extLst>
              </p:cNvPr>
              <p:cNvSpPr/>
              <p:nvPr/>
            </p:nvSpPr>
            <p:spPr>
              <a:xfrm>
                <a:off x="478711" y="1060118"/>
                <a:ext cx="5706286" cy="538674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dirty="0">
                    <a:solidFill>
                      <a:schemeClr val="tx1"/>
                    </a:solidFill>
                  </a:rPr>
                  <a:t>        所有未被遮挡的微面 向着观察方向</a:t>
                </a:r>
                <a14:m>
                  <m:oMath xmlns:m="http://schemas.openxmlformats.org/officeDocument/2006/math">
                    <m:r>
                      <a:rPr lang="en-US" altLang="zh-CN" sz="1800" b="1" i="1" smtClean="0">
                        <a:solidFill>
                          <a:schemeClr val="tx1"/>
                        </a:solidFill>
                        <a:latin typeface="Cambria Math" panose="02040503050406030204" pitchFamily="18" charset="0"/>
                      </a:rPr>
                      <m:t>𝒐</m:t>
                    </m:r>
                  </m:oMath>
                </a14:m>
                <a:r>
                  <a:rPr lang="zh-CN" altLang="en-US" dirty="0">
                    <a:solidFill>
                      <a:schemeClr val="tx1"/>
                    </a:solidFill>
                  </a:rPr>
                  <a:t>进行投影，所得到的投影面积应该 恒等于 它们所在的宏观表面微小面积</a:t>
                </a:r>
                <a14:m>
                  <m:oMath xmlns:m="http://schemas.openxmlformats.org/officeDocument/2006/math">
                    <m:sSub>
                      <m:sSubPr>
                        <m:ctrlPr>
                          <a:rPr lang="en-US" altLang="zh-CN" b="0" i="1" smtClean="0">
                            <a:solidFill>
                              <a:schemeClr val="tx1"/>
                            </a:solidFill>
                            <a:latin typeface="Cambria Math" panose="02040503050406030204" pitchFamily="18" charset="0"/>
                          </a:rPr>
                        </m:ctrlPr>
                      </m:sSubPr>
                      <m:e>
                        <m:r>
                          <m:rPr>
                            <m:sty m:val="p"/>
                          </m:rPr>
                          <a:rPr lang="en-US" altLang="zh-CN" b="0" i="0" smtClean="0">
                            <a:solidFill>
                              <a:schemeClr val="tx1"/>
                            </a:solidFill>
                            <a:latin typeface="Cambria Math" panose="02040503050406030204" pitchFamily="18" charset="0"/>
                          </a:rPr>
                          <m:t>A</m:t>
                        </m:r>
                      </m:e>
                      <m:sub>
                        <m:r>
                          <m:rPr>
                            <m:sty m:val="p"/>
                          </m:rPr>
                          <a:rPr lang="en-US" altLang="zh-CN" b="0" i="0" smtClean="0">
                            <a:solidFill>
                              <a:schemeClr val="tx1"/>
                            </a:solidFill>
                            <a:latin typeface="Cambria Math" panose="02040503050406030204" pitchFamily="18" charset="0"/>
                          </a:rPr>
                          <m:t>M</m:t>
                        </m:r>
                      </m:sub>
                    </m:sSub>
                  </m:oMath>
                </a14:m>
                <a:r>
                  <a:rPr lang="zh-CN" altLang="en-US" dirty="0">
                    <a:solidFill>
                      <a:schemeClr val="tx1"/>
                    </a:solidFill>
                  </a:rPr>
                  <a:t>向观察方向</a:t>
                </a:r>
                <a14:m>
                  <m:oMath xmlns:m="http://schemas.openxmlformats.org/officeDocument/2006/math">
                    <m:r>
                      <a:rPr lang="en-US" altLang="zh-CN" b="1" i="1" smtClean="0">
                        <a:solidFill>
                          <a:schemeClr val="tx1"/>
                        </a:solidFill>
                        <a:latin typeface="Cambria Math" panose="02040503050406030204" pitchFamily="18" charset="0"/>
                      </a:rPr>
                      <m:t>𝒐</m:t>
                    </m:r>
                  </m:oMath>
                </a14:m>
                <a:r>
                  <a:rPr lang="zh-CN" altLang="en-US" dirty="0">
                    <a:solidFill>
                      <a:schemeClr val="tx1"/>
                    </a:solidFill>
                  </a:rPr>
                  <a:t>的投影面积。</a:t>
                </a:r>
                <a:endParaRPr lang="en-US" altLang="zh-CN"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nary>
                        <m:naryPr>
                          <m:supHide m:val="on"/>
                          <m:ctrlPr>
                            <a:rPr lang="en-US" altLang="zh-CN" sz="1600" i="1" dirty="0" smtClean="0">
                              <a:solidFill>
                                <a:schemeClr val="tx1"/>
                              </a:solidFill>
                              <a:latin typeface="Cambria Math" panose="02040503050406030204" pitchFamily="18" charset="0"/>
                            </a:rPr>
                          </m:ctrlPr>
                        </m:naryPr>
                        <m:sub>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𝐻</m:t>
                              </m:r>
                            </m:e>
                            <m:sup>
                              <m:r>
                                <a:rPr lang="en-US" altLang="zh-CN" sz="1600" i="1" dirty="0">
                                  <a:solidFill>
                                    <a:schemeClr val="tx1"/>
                                  </a:solidFill>
                                  <a:latin typeface="Cambria Math" panose="02040503050406030204" pitchFamily="18" charset="0"/>
                                </a:rPr>
                                <m:t>2</m:t>
                              </m:r>
                            </m:sup>
                          </m:sSup>
                        </m:sub>
                        <m:sup/>
                        <m:e>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𝐴</m:t>
                              </m:r>
                            </m:e>
                            <m:sub>
                              <m:r>
                                <a:rPr lang="en-US" altLang="zh-CN" sz="1600" b="0" i="1" dirty="0" smtClean="0">
                                  <a:solidFill>
                                    <a:schemeClr val="tx1"/>
                                  </a:solidFill>
                                  <a:latin typeface="Cambria Math" panose="02040503050406030204" pitchFamily="18" charset="0"/>
                                </a:rPr>
                                <m:t>𝑀</m:t>
                              </m:r>
                            </m:sub>
                          </m:sSub>
                          <m:r>
                            <m:rPr>
                              <m:lit/>
                            </m:rPr>
                            <a:rPr lang="en-US" altLang="zh-CN" sz="1600" i="1" dirty="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 </m:t>
                          </m:r>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b="0" i="1" dirty="0" smtClean="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 </m:t>
                          </m:r>
                          <m:d>
                            <m:dPr>
                              <m:begChr m:val="⟨"/>
                              <m:endChr m:val="⟩"/>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b="0" i="1" dirty="0" smtClean="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𝑑</m:t>
                          </m:r>
                          <m:sSub>
                            <m:sSubPr>
                              <m:ctrlPr>
                                <a:rPr lang="en-US" altLang="zh-CN" sz="1600" i="1" dirty="0" err="1">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e>
                      </m:nary>
                      <m:r>
                        <a:rPr lang="en-US" altLang="zh-CN" sz="1600" i="1" dirty="0">
                          <a:solidFill>
                            <a:schemeClr val="tx1"/>
                          </a:solidFill>
                          <a:latin typeface="Cambria Math" panose="02040503050406030204" pitchFamily="18" charset="0"/>
                        </a:rPr>
                        <m:t>=</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𝒈</m:t>
                          </m:r>
                        </m:e>
                      </m:d>
                      <m:r>
                        <m:rPr>
                          <m:lit/>
                        </m:rPr>
                        <a:rPr lang="en-US" altLang="zh-CN" sz="1600" i="1" dirty="0">
                          <a:solidFill>
                            <a:schemeClr val="tx1"/>
                          </a:solidFill>
                          <a:latin typeface="Cambria Math" panose="02040503050406030204" pitchFamily="18" charset="0"/>
                        </a:rPr>
                        <m:t> </m:t>
                      </m:r>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𝐴</m:t>
                          </m:r>
                        </m:e>
                        <m:sub>
                          <m:r>
                            <a:rPr lang="en-US" altLang="zh-CN" sz="1600" b="0" i="1" dirty="0" smtClean="0">
                              <a:solidFill>
                                <a:schemeClr val="tx1"/>
                              </a:solidFill>
                              <a:latin typeface="Cambria Math" panose="02040503050406030204" pitchFamily="18" charset="0"/>
                            </a:rPr>
                            <m:t>𝑀</m:t>
                          </m:r>
                        </m:sub>
                      </m:sSub>
                    </m:oMath>
                  </m:oMathPara>
                </a14:m>
                <a:endParaRPr lang="en-US" altLang="zh-CN" sz="16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zh-CN" altLang="en-US" sz="1600" i="1" dirty="0">
                          <a:solidFill>
                            <a:schemeClr val="tx1"/>
                          </a:solidFill>
                          <a:latin typeface="Cambria Math" panose="02040503050406030204" pitchFamily="18" charset="0"/>
                        </a:rPr>
                        <m:t>消去</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𝐴</m:t>
                          </m:r>
                        </m:e>
                        <m:sub>
                          <m:r>
                            <a:rPr lang="en-US" altLang="zh-CN" sz="1600" b="0" i="1" dirty="0" smtClean="0">
                              <a:solidFill>
                                <a:schemeClr val="tx1"/>
                              </a:solidFill>
                              <a:latin typeface="Cambria Math" panose="02040503050406030204" pitchFamily="18" charset="0"/>
                            </a:rPr>
                            <m:t>𝑀</m:t>
                          </m:r>
                        </m:sub>
                      </m:sSub>
                      <m:r>
                        <a:rPr lang="zh-CN" altLang="en-US" sz="1600" i="1" dirty="0">
                          <a:solidFill>
                            <a:schemeClr val="tx1"/>
                          </a:solidFill>
                          <a:latin typeface="Cambria Math" panose="02040503050406030204" pitchFamily="18" charset="0"/>
                        </a:rPr>
                        <m:t>：</m:t>
                      </m:r>
                      <m:nary>
                        <m:naryPr>
                          <m:supHide m:val="on"/>
                          <m:ctrlPr>
                            <a:rPr lang="en-US" altLang="zh-CN" sz="1600" i="1" dirty="0" smtClean="0">
                              <a:solidFill>
                                <a:schemeClr val="tx1"/>
                              </a:solidFill>
                              <a:latin typeface="Cambria Math" panose="02040503050406030204" pitchFamily="18" charset="0"/>
                            </a:rPr>
                          </m:ctrlPr>
                        </m:naryPr>
                        <m:sub>
                          <m:sSup>
                            <m:sSupPr>
                              <m:ctrlPr>
                                <a:rPr lang="en-US" altLang="zh-CN" sz="1600" i="1" dirty="0" smtClean="0">
                                  <a:solidFill>
                                    <a:schemeClr val="tx1"/>
                                  </a:solidFill>
                                  <a:latin typeface="Cambria Math" panose="02040503050406030204" pitchFamily="18" charset="0"/>
                                </a:rPr>
                              </m:ctrlPr>
                            </m:sSupPr>
                            <m:e>
                              <m:r>
                                <a:rPr lang="en-US" altLang="zh-CN" sz="1600" i="1" dirty="0" smtClean="0">
                                  <a:solidFill>
                                    <a:schemeClr val="tx1"/>
                                  </a:solidFill>
                                  <a:latin typeface="Cambria Math" panose="02040503050406030204" pitchFamily="18" charset="0"/>
                                </a:rPr>
                                <m:t>𝐻</m:t>
                              </m:r>
                            </m:e>
                            <m:sup>
                              <m:r>
                                <a:rPr lang="en-US" altLang="zh-CN" sz="1600" i="1" dirty="0" smtClean="0">
                                  <a:solidFill>
                                    <a:schemeClr val="tx1"/>
                                  </a:solidFill>
                                  <a:latin typeface="Cambria Math" panose="02040503050406030204" pitchFamily="18" charset="0"/>
                                </a:rPr>
                                <m:t>2</m:t>
                              </m:r>
                            </m:sup>
                          </m:sSup>
                        </m:sub>
                        <m:sup/>
                        <m:e>
                          <m:r>
                            <a:rPr lang="en-US" altLang="zh-CN" sz="1600" i="1" dirty="0" smtClean="0">
                              <a:solidFill>
                                <a:schemeClr val="tx1"/>
                              </a:solidFill>
                              <a:latin typeface="Cambria Math" panose="02040503050406030204" pitchFamily="18" charset="0"/>
                            </a:rPr>
                            <m:t>𝐷</m:t>
                          </m:r>
                          <m:d>
                            <m:dPr>
                              <m:ctrlPr>
                                <a:rPr lang="en-US" altLang="zh-CN" sz="1600" i="1" dirty="0" smtClean="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𝒎</m:t>
                              </m:r>
                            </m:e>
                          </m:d>
                          <m:r>
                            <m:rPr>
                              <m:lit/>
                            </m:rPr>
                            <a:rPr lang="en-US" altLang="zh-CN" sz="1600" i="1" dirty="0" smtClean="0">
                              <a:solidFill>
                                <a:schemeClr val="tx1"/>
                              </a:solidFill>
                              <a:latin typeface="Cambria Math" panose="02040503050406030204" pitchFamily="18" charset="0"/>
                            </a:rPr>
                            <m:t> </m:t>
                          </m:r>
                          <m:sSub>
                            <m:sSubPr>
                              <m:ctrlPr>
                                <a:rPr lang="en-US" altLang="zh-CN" sz="1600" b="0" i="1" dirty="0" smtClean="0">
                                  <a:solidFill>
                                    <a:schemeClr val="tx1"/>
                                  </a:solidFill>
                                  <a:latin typeface="Cambria Math" panose="02040503050406030204" pitchFamily="18" charset="0"/>
                                </a:rPr>
                              </m:ctrlPr>
                            </m:sSubPr>
                            <m:e>
                              <m:r>
                                <a:rPr lang="en-US" altLang="zh-CN" sz="1600" i="1" dirty="0" smtClean="0">
                                  <a:solidFill>
                                    <a:schemeClr val="tx1"/>
                                  </a:solidFill>
                                  <a:latin typeface="Cambria Math" panose="02040503050406030204" pitchFamily="18" charset="0"/>
                                </a:rPr>
                                <m:t>𝐺</m:t>
                              </m:r>
                            </m:e>
                            <m:sub>
                              <m:r>
                                <a:rPr lang="en-US" altLang="zh-CN" sz="1600" b="0" i="1" dirty="0" smtClean="0">
                                  <a:solidFill>
                                    <a:schemeClr val="tx1"/>
                                  </a:solidFill>
                                  <a:latin typeface="Cambria Math" panose="02040503050406030204" pitchFamily="18" charset="0"/>
                                </a:rPr>
                                <m:t>1</m:t>
                              </m:r>
                            </m:sub>
                          </m:sSub>
                          <m:d>
                            <m:dPr>
                              <m:ctrlPr>
                                <a:rPr lang="en-US" altLang="zh-CN" sz="160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smtClean="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b="0" i="1" dirty="0" smtClean="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 </m:t>
                          </m:r>
                          <m:r>
                            <a:rPr lang="en-US" altLang="zh-CN" sz="1600" i="1" dirty="0" smtClean="0">
                              <a:solidFill>
                                <a:schemeClr val="tx1"/>
                              </a:solidFill>
                              <a:latin typeface="Cambria Math" panose="02040503050406030204" pitchFamily="18" charset="0"/>
                            </a:rPr>
                            <m:t>𝑑</m:t>
                          </m:r>
                          <m:sSub>
                            <m:sSubPr>
                              <m:ctrlPr>
                                <a:rPr lang="en-US" altLang="zh-CN" sz="1600" i="1" dirty="0" err="1" smtClean="0">
                                  <a:solidFill>
                                    <a:schemeClr val="tx1"/>
                                  </a:solidFill>
                                  <a:latin typeface="Cambria Math" panose="02040503050406030204" pitchFamily="18" charset="0"/>
                                </a:rPr>
                              </m:ctrlPr>
                            </m:sSubPr>
                            <m:e>
                              <m:r>
                                <a:rPr lang="en-US" altLang="zh-CN" sz="1600" i="1" dirty="0" smtClean="0">
                                  <a:solidFill>
                                    <a:schemeClr val="tx1"/>
                                  </a:solidFill>
                                  <a:latin typeface="Cambria Math" panose="02040503050406030204" pitchFamily="18" charset="0"/>
                                </a:rPr>
                                <m:t>𝜔</m:t>
                              </m:r>
                            </m:e>
                            <m:sub>
                              <m:r>
                                <a:rPr lang="en-US" altLang="zh-CN" sz="1600" b="0" i="1" dirty="0" smtClean="0">
                                  <a:solidFill>
                                    <a:schemeClr val="tx1"/>
                                  </a:solidFill>
                                  <a:latin typeface="Cambria Math" panose="02040503050406030204" pitchFamily="18" charset="0"/>
                                </a:rPr>
                                <m:t>𝑚</m:t>
                              </m:r>
                            </m:sub>
                          </m:sSub>
                        </m:e>
                      </m:nary>
                      <m:r>
                        <a:rPr lang="en-US" altLang="zh-CN" sz="1600" i="1" dirty="0" smtClean="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𝒈</m:t>
                      </m:r>
                    </m:oMath>
                  </m:oMathPara>
                </a14:m>
                <a:endParaRPr lang="en-US" altLang="zh-CN" sz="1600" b="1"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𝒂</m:t>
                          </m:r>
                          <m:r>
                            <a:rPr lang="en-US" altLang="zh-CN" sz="1600" b="0" i="1" dirty="0" smtClean="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𝒃</m:t>
                          </m:r>
                        </m:e>
                      </m:d>
                      <m:r>
                        <a:rPr lang="en-US" altLang="zh-CN" sz="1600" b="0" i="1" dirty="0" smtClean="0">
                          <a:solidFill>
                            <a:schemeClr val="tx1"/>
                          </a:solidFill>
                          <a:latin typeface="Cambria Math" panose="02040503050406030204" pitchFamily="18" charset="0"/>
                        </a:rPr>
                        <m:t>=</m:t>
                      </m:r>
                      <m:d>
                        <m:dPr>
                          <m:begChr m:val="{"/>
                          <m:endChr m:val=""/>
                          <m:ctrlPr>
                            <a:rPr lang="en-US" altLang="zh-CN" sz="1600" b="0" i="1" dirty="0" smtClean="0">
                              <a:solidFill>
                                <a:schemeClr val="tx1"/>
                              </a:solidFill>
                              <a:latin typeface="Cambria Math" panose="02040503050406030204" pitchFamily="18" charset="0"/>
                            </a:rPr>
                          </m:ctrlPr>
                        </m:dPr>
                        <m:e>
                          <m:eqArr>
                            <m:eqArrPr>
                              <m:ctrlPr>
                                <a:rPr lang="en-US" altLang="zh-CN" sz="1600" i="1" dirty="0">
                                  <a:solidFill>
                                    <a:schemeClr val="tx1"/>
                                  </a:solidFill>
                                  <a:latin typeface="Cambria Math" panose="02040503050406030204" pitchFamily="18" charset="0"/>
                                </a:rPr>
                              </m:ctrlPr>
                            </m:eqArrPr>
                            <m:e>
                              <m:r>
                                <a:rPr lang="en-US" altLang="zh-CN" sz="1600" b="1" i="1" dirty="0">
                                  <a:solidFill>
                                    <a:schemeClr val="tx1"/>
                                  </a:solidFill>
                                  <a:latin typeface="Cambria Math" panose="02040503050406030204" pitchFamily="18" charset="0"/>
                                </a:rPr>
                                <m:t>𝒂</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𝒃</m:t>
                              </m:r>
                              <m:r>
                                <a:rPr lang="en-US" altLang="zh-CN" sz="1600" b="0" i="1" dirty="0" smtClean="0">
                                  <a:solidFill>
                                    <a:schemeClr val="tx1"/>
                                  </a:solidFill>
                                  <a:latin typeface="Cambria Math" panose="02040503050406030204" pitchFamily="18" charset="0"/>
                                </a:rPr>
                                <m:t>,  </m:t>
                              </m:r>
                              <m:r>
                                <a:rPr lang="en-US" altLang="zh-CN" sz="1600" b="1" i="1" dirty="0">
                                  <a:solidFill>
                                    <a:schemeClr val="tx1"/>
                                  </a:solidFill>
                                  <a:latin typeface="Cambria Math" panose="02040503050406030204" pitchFamily="18" charset="0"/>
                                </a:rPr>
                                <m:t>𝒂</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𝒃</m:t>
                              </m:r>
                              <m:r>
                                <a:rPr lang="en-US" altLang="zh-CN" sz="1600" i="1" dirty="0">
                                  <a:solidFill>
                                    <a:schemeClr val="tx1"/>
                                  </a:solidFill>
                                  <a:latin typeface="Cambria Math" panose="02040503050406030204" pitchFamily="18" charset="0"/>
                                </a:rPr>
                                <m:t>&gt;0</m:t>
                              </m:r>
                            </m:e>
                            <m:e>
                              <m:r>
                                <a:rPr lang="en-US" altLang="zh-CN" sz="1600" b="0" i="1" dirty="0" smtClean="0">
                                  <a:solidFill>
                                    <a:schemeClr val="tx1"/>
                                  </a:solidFill>
                                  <a:latin typeface="Cambria Math" panose="02040503050406030204" pitchFamily="18" charset="0"/>
                                </a:rPr>
                                <m:t>0,     </m:t>
                              </m:r>
                              <m:r>
                                <a:rPr lang="en-US" altLang="zh-CN" sz="1600" b="0" i="1" dirty="0" smtClean="0">
                                  <a:solidFill>
                                    <a:schemeClr val="tx1"/>
                                  </a:solidFill>
                                  <a:latin typeface="Cambria Math" panose="02040503050406030204" pitchFamily="18" charset="0"/>
                                </a:rPr>
                                <m:t>𝑜𝑡h𝑒𝑟𝑤𝑖𝑠𝑒</m:t>
                              </m:r>
                            </m:e>
                          </m:eqArr>
                        </m:e>
                      </m:d>
                    </m:oMath>
                  </m:oMathPara>
                </a14:m>
                <a:endParaRPr lang="en-US" altLang="zh-CN" sz="1600" b="0" dirty="0">
                  <a:solidFill>
                    <a:schemeClr val="tx1"/>
                  </a:solidFill>
                </a:endParaRPr>
              </a:p>
              <a:p>
                <a:pPr>
                  <a:lnSpc>
                    <a:spcPct val="150000"/>
                  </a:lnSpc>
                </a:pPr>
                <a:r>
                  <a:rPr lang="en-US" altLang="zh-CN" sz="1600" dirty="0">
                    <a:solidFill>
                      <a:schemeClr val="tx1"/>
                    </a:solidFill>
                  </a:rPr>
                  <a:t>        </a:t>
                </a:r>
                <a:r>
                  <a:rPr lang="zh-CN" altLang="en-US" sz="1600" dirty="0">
                    <a:solidFill>
                      <a:schemeClr val="tx1"/>
                    </a:solidFill>
                  </a:rPr>
                  <a:t>一个正确的</a:t>
                </a:r>
                <a14:m>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i="1" dirty="0" smtClean="0">
                            <a:solidFill>
                              <a:schemeClr val="tx1"/>
                            </a:solidFill>
                            <a:latin typeface="Cambria Math" panose="02040503050406030204" pitchFamily="18" charset="0"/>
                          </a:rPr>
                          <m:t>𝐺</m:t>
                        </m:r>
                      </m:e>
                      <m:sub>
                        <m:r>
                          <a:rPr lang="en-US" altLang="zh-CN" sz="1600" b="0" i="1" dirty="0" smtClean="0">
                            <a:solidFill>
                              <a:schemeClr val="tx1"/>
                            </a:solidFill>
                            <a:latin typeface="Cambria Math" panose="02040503050406030204" pitchFamily="18" charset="0"/>
                          </a:rPr>
                          <m:t>1</m:t>
                        </m:r>
                      </m:sub>
                    </m:sSub>
                    <m:d>
                      <m:dPr>
                        <m:ctrlPr>
                          <a:rPr lang="en-US" altLang="zh-CN" sz="160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smtClean="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oMath>
                </a14:m>
                <a:r>
                  <a:rPr lang="zh-CN" altLang="en-US" sz="1600" dirty="0">
                    <a:solidFill>
                      <a:schemeClr val="tx1"/>
                    </a:solidFill>
                  </a:rPr>
                  <a:t>必须满足上式。然而，对于一个给定的</a:t>
                </a:r>
                <a14:m>
                  <m:oMath xmlns:m="http://schemas.openxmlformats.org/officeDocument/2006/math">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oMath>
                </a14:m>
                <a:r>
                  <a:rPr lang="zh-CN" altLang="en-US" sz="1600" b="0" dirty="0">
                    <a:solidFill>
                      <a:schemeClr val="tx1"/>
                    </a:solidFill>
                  </a:rPr>
                  <a:t>，是无法根据上式反推出</a:t>
                </a:r>
                <a14:m>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b="0" i="1" dirty="0" smtClean="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oMath>
                </a14:m>
                <a:r>
                  <a:rPr lang="zh-CN" altLang="en-US" sz="1600" b="0" dirty="0">
                    <a:solidFill>
                      <a:schemeClr val="tx1"/>
                    </a:solidFill>
                  </a:rPr>
                  <a:t>的，因为上式所提供的约束不足以限定出唯一的</a:t>
                </a:r>
                <a14:m>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b="0" i="1" dirty="0" smtClean="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oMath>
                </a14:m>
                <a:r>
                  <a:rPr lang="zh-CN" altLang="en-US" sz="1600" b="0" dirty="0">
                    <a:solidFill>
                      <a:schemeClr val="tx1"/>
                    </a:solidFill>
                  </a:rPr>
                  <a:t>。换句话说，给定</a:t>
                </a:r>
                <a14:m>
                  <m:oMath xmlns:m="http://schemas.openxmlformats.org/officeDocument/2006/math">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𝒎</m:t>
                        </m:r>
                      </m:e>
                    </m:d>
                  </m:oMath>
                </a14:m>
                <a:r>
                  <a:rPr lang="zh-CN" altLang="en-US" sz="1600" b="0" dirty="0">
                    <a:solidFill>
                      <a:schemeClr val="tx1"/>
                    </a:solidFill>
                  </a:rPr>
                  <a:t>，能使上式成立的</a:t>
                </a:r>
                <a14:m>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b="0" i="1" dirty="0" smtClean="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oMath>
                </a14:m>
                <a:r>
                  <a:rPr lang="zh-CN" altLang="en-US" sz="1600" b="0" dirty="0">
                    <a:solidFill>
                      <a:schemeClr val="tx1"/>
                    </a:solidFill>
                  </a:rPr>
                  <a:t>有无穷多个。</a:t>
                </a:r>
                <a:endParaRPr lang="en-US" altLang="zh-CN" sz="1600" b="0" dirty="0">
                  <a:solidFill>
                    <a:schemeClr val="tx1"/>
                  </a:solidFill>
                </a:endParaRPr>
              </a:p>
            </p:txBody>
          </p:sp>
        </mc:Choice>
        <mc:Fallback xmlns="">
          <p:sp>
            <p:nvSpPr>
              <p:cNvPr id="3" name="矩形 2">
                <a:extLst>
                  <a:ext uri="{FF2B5EF4-FFF2-40B4-BE49-F238E27FC236}">
                    <a16:creationId xmlns:a16="http://schemas.microsoft.com/office/drawing/2014/main" id="{10975F51-7C0F-BCC7-39B9-EB32725737DB}"/>
                  </a:ext>
                </a:extLst>
              </p:cNvPr>
              <p:cNvSpPr>
                <a:spLocks noRot="1" noChangeAspect="1" noMove="1" noResize="1" noEditPoints="1" noAdjustHandles="1" noChangeArrowheads="1" noChangeShapeType="1" noTextEdit="1"/>
              </p:cNvSpPr>
              <p:nvPr/>
            </p:nvSpPr>
            <p:spPr>
              <a:xfrm>
                <a:off x="478711" y="1060118"/>
                <a:ext cx="5706286" cy="5386745"/>
              </a:xfrm>
              <a:prstGeom prst="rect">
                <a:avLst/>
              </a:prstGeom>
              <a:blipFill>
                <a:blip r:embed="rId2"/>
                <a:stretch>
                  <a:fillRect l="-853"/>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14053FAF-A855-D0D9-016D-D56DDA05AF7C}"/>
              </a:ext>
            </a:extLst>
          </p:cNvPr>
          <p:cNvSpPr/>
          <p:nvPr/>
        </p:nvSpPr>
        <p:spPr>
          <a:xfrm>
            <a:off x="6611551" y="1702417"/>
            <a:ext cx="4994356" cy="345316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09D827A8-CD9D-C4B8-31B5-813AEFDABAA0}"/>
              </a:ext>
            </a:extLst>
          </p:cNvPr>
          <p:cNvSpPr/>
          <p:nvPr/>
        </p:nvSpPr>
        <p:spPr>
          <a:xfrm>
            <a:off x="6478201" y="1530967"/>
            <a:ext cx="4994356" cy="345316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 name="组合 4">
            <a:extLst>
              <a:ext uri="{FF2B5EF4-FFF2-40B4-BE49-F238E27FC236}">
                <a16:creationId xmlns:a16="http://schemas.microsoft.com/office/drawing/2014/main" id="{EB998444-D83B-6687-0AD9-030E4478CBAB}"/>
              </a:ext>
            </a:extLst>
          </p:cNvPr>
          <p:cNvGrpSpPr/>
          <p:nvPr/>
        </p:nvGrpSpPr>
        <p:grpSpPr>
          <a:xfrm>
            <a:off x="7015748" y="1769420"/>
            <a:ext cx="4178027" cy="3102279"/>
            <a:chOff x="6887503" y="1317360"/>
            <a:chExt cx="4178027" cy="3102279"/>
          </a:xfrm>
        </p:grpSpPr>
        <p:grpSp>
          <p:nvGrpSpPr>
            <p:cNvPr id="6" name="组合 5">
              <a:extLst>
                <a:ext uri="{FF2B5EF4-FFF2-40B4-BE49-F238E27FC236}">
                  <a16:creationId xmlns:a16="http://schemas.microsoft.com/office/drawing/2014/main" id="{DEF43D9D-5BF4-D092-91F0-C239356F139B}"/>
                </a:ext>
              </a:extLst>
            </p:cNvPr>
            <p:cNvGrpSpPr/>
            <p:nvPr/>
          </p:nvGrpSpPr>
          <p:grpSpPr>
            <a:xfrm>
              <a:off x="7012852" y="1572343"/>
              <a:ext cx="4052678" cy="2418577"/>
              <a:chOff x="7012852" y="1572343"/>
              <a:chExt cx="4052678" cy="2418577"/>
            </a:xfrm>
          </p:grpSpPr>
          <p:sp>
            <p:nvSpPr>
              <p:cNvPr id="9" name="任意多边形: 形状 8">
                <a:extLst>
                  <a:ext uri="{FF2B5EF4-FFF2-40B4-BE49-F238E27FC236}">
                    <a16:creationId xmlns:a16="http://schemas.microsoft.com/office/drawing/2014/main" id="{1CBCEE44-65CE-B388-B593-C05598445B3B}"/>
                  </a:ext>
                </a:extLst>
              </p:cNvPr>
              <p:cNvSpPr/>
              <p:nvPr/>
            </p:nvSpPr>
            <p:spPr>
              <a:xfrm>
                <a:off x="9886950" y="3022545"/>
                <a:ext cx="577850" cy="698500"/>
              </a:xfrm>
              <a:custGeom>
                <a:avLst/>
                <a:gdLst>
                  <a:gd name="connsiteX0" fmla="*/ 0 w 552450"/>
                  <a:gd name="connsiteY0" fmla="*/ 0 h 679450"/>
                  <a:gd name="connsiteX1" fmla="*/ 552450 w 552450"/>
                  <a:gd name="connsiteY1" fmla="*/ 679450 h 679450"/>
                  <a:gd name="connsiteX2" fmla="*/ 412750 w 552450"/>
                  <a:gd name="connsiteY2" fmla="*/ 622300 h 679450"/>
                  <a:gd name="connsiteX3" fmla="*/ 323850 w 552450"/>
                  <a:gd name="connsiteY3" fmla="*/ 584200 h 679450"/>
                  <a:gd name="connsiteX4" fmla="*/ 228600 w 552450"/>
                  <a:gd name="connsiteY4" fmla="*/ 530225 h 679450"/>
                  <a:gd name="connsiteX5" fmla="*/ 171450 w 552450"/>
                  <a:gd name="connsiteY5" fmla="*/ 479425 h 679450"/>
                  <a:gd name="connsiteX6" fmla="*/ 127000 w 552450"/>
                  <a:gd name="connsiteY6" fmla="*/ 396875 h 679450"/>
                  <a:gd name="connsiteX7" fmla="*/ 0 w 552450"/>
                  <a:gd name="connsiteY7" fmla="*/ 0 h 67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 h="679450">
                    <a:moveTo>
                      <a:pt x="0" y="0"/>
                    </a:moveTo>
                    <a:lnTo>
                      <a:pt x="552450" y="679450"/>
                    </a:lnTo>
                    <a:lnTo>
                      <a:pt x="412750" y="622300"/>
                    </a:lnTo>
                    <a:lnTo>
                      <a:pt x="323850" y="584200"/>
                    </a:lnTo>
                    <a:lnTo>
                      <a:pt x="228600" y="530225"/>
                    </a:lnTo>
                    <a:lnTo>
                      <a:pt x="171450" y="479425"/>
                    </a:lnTo>
                    <a:lnTo>
                      <a:pt x="127000" y="3968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任意多边形: 形状 9">
                <a:extLst>
                  <a:ext uri="{FF2B5EF4-FFF2-40B4-BE49-F238E27FC236}">
                    <a16:creationId xmlns:a16="http://schemas.microsoft.com/office/drawing/2014/main" id="{9C0AB5E2-9DEB-C498-6B6C-D22CDBC19FB0}"/>
                  </a:ext>
                </a:extLst>
              </p:cNvPr>
              <p:cNvSpPr/>
              <p:nvPr/>
            </p:nvSpPr>
            <p:spPr>
              <a:xfrm>
                <a:off x="7962900" y="3219395"/>
                <a:ext cx="596952" cy="733425"/>
              </a:xfrm>
              <a:custGeom>
                <a:avLst/>
                <a:gdLst>
                  <a:gd name="connsiteX0" fmla="*/ 0 w 590550"/>
                  <a:gd name="connsiteY0" fmla="*/ 0 h 733425"/>
                  <a:gd name="connsiteX1" fmla="*/ 590550 w 590550"/>
                  <a:gd name="connsiteY1" fmla="*/ 727075 h 733425"/>
                  <a:gd name="connsiteX2" fmla="*/ 523875 w 590550"/>
                  <a:gd name="connsiteY2" fmla="*/ 733425 h 733425"/>
                  <a:gd name="connsiteX3" fmla="*/ 469900 w 590550"/>
                  <a:gd name="connsiteY3" fmla="*/ 730250 h 733425"/>
                  <a:gd name="connsiteX4" fmla="*/ 400050 w 590550"/>
                  <a:gd name="connsiteY4" fmla="*/ 711200 h 733425"/>
                  <a:gd name="connsiteX5" fmla="*/ 336550 w 590550"/>
                  <a:gd name="connsiteY5" fmla="*/ 638175 h 733425"/>
                  <a:gd name="connsiteX6" fmla="*/ 247650 w 590550"/>
                  <a:gd name="connsiteY6" fmla="*/ 511175 h 733425"/>
                  <a:gd name="connsiteX7" fmla="*/ 0 w 590550"/>
                  <a:gd name="connsiteY7" fmla="*/ 0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550" h="733425">
                    <a:moveTo>
                      <a:pt x="0" y="0"/>
                    </a:moveTo>
                    <a:lnTo>
                      <a:pt x="590550" y="727075"/>
                    </a:lnTo>
                    <a:lnTo>
                      <a:pt x="523875" y="733425"/>
                    </a:lnTo>
                    <a:lnTo>
                      <a:pt x="469900" y="730250"/>
                    </a:lnTo>
                    <a:lnTo>
                      <a:pt x="400050" y="711200"/>
                    </a:lnTo>
                    <a:lnTo>
                      <a:pt x="336550" y="638175"/>
                    </a:lnTo>
                    <a:lnTo>
                      <a:pt x="247650" y="5111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id="{F95C8572-AFF8-BE65-5584-823DDA41D588}"/>
                  </a:ext>
                </a:extLst>
              </p:cNvPr>
              <p:cNvSpPr/>
              <p:nvPr/>
            </p:nvSpPr>
            <p:spPr>
              <a:xfrm>
                <a:off x="7609840" y="2948975"/>
                <a:ext cx="3439160" cy="1041945"/>
              </a:xfrm>
              <a:custGeom>
                <a:avLst/>
                <a:gdLst>
                  <a:gd name="connsiteX0" fmla="*/ 0 w 3332480"/>
                  <a:gd name="connsiteY0" fmla="*/ 1041945 h 1041945"/>
                  <a:gd name="connsiteX1" fmla="*/ 279400 w 3332480"/>
                  <a:gd name="connsiteY1" fmla="*/ 218985 h 1041945"/>
                  <a:gd name="connsiteX2" fmla="*/ 868680 w 3332480"/>
                  <a:gd name="connsiteY2" fmla="*/ 1016545 h 1041945"/>
                  <a:gd name="connsiteX3" fmla="*/ 2087880 w 3332480"/>
                  <a:gd name="connsiteY3" fmla="*/ 5625 h 1041945"/>
                  <a:gd name="connsiteX4" fmla="*/ 2494280 w 3332480"/>
                  <a:gd name="connsiteY4" fmla="*/ 620305 h 1041945"/>
                  <a:gd name="connsiteX5" fmla="*/ 3332480 w 3332480"/>
                  <a:gd name="connsiteY5" fmla="*/ 8844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160" h="1041945">
                    <a:moveTo>
                      <a:pt x="0" y="1041945"/>
                    </a:moveTo>
                    <a:cubicBezTo>
                      <a:pt x="67310" y="632581"/>
                      <a:pt x="134620" y="223218"/>
                      <a:pt x="279400" y="218985"/>
                    </a:cubicBezTo>
                    <a:cubicBezTo>
                      <a:pt x="424180" y="214752"/>
                      <a:pt x="567267" y="1052105"/>
                      <a:pt x="868680" y="1016545"/>
                    </a:cubicBezTo>
                    <a:cubicBezTo>
                      <a:pt x="1170093" y="980985"/>
                      <a:pt x="1816947" y="71665"/>
                      <a:pt x="2087880" y="5625"/>
                    </a:cubicBezTo>
                    <a:cubicBezTo>
                      <a:pt x="2358813" y="-60415"/>
                      <a:pt x="2286847" y="473832"/>
                      <a:pt x="2494280" y="620305"/>
                    </a:cubicBezTo>
                    <a:cubicBezTo>
                      <a:pt x="2701713" y="766778"/>
                      <a:pt x="3343487" y="826892"/>
                      <a:pt x="3439160" y="1036865"/>
                    </a:cubicBez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748DBF11-29F2-1441-7119-49D6287EA6C3}"/>
                  </a:ext>
                </a:extLst>
              </p:cNvPr>
              <p:cNvCxnSpPr>
                <a:cxnSpLocks/>
                <a:stCxn id="11" idx="0"/>
              </p:cNvCxnSpPr>
              <p:nvPr/>
            </p:nvCxnSpPr>
            <p:spPr>
              <a:xfrm flipH="1" flipV="1">
                <a:off x="7012852" y="3255565"/>
                <a:ext cx="596988" cy="73535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FB8AA04B-B442-D746-2CDA-9A7960B24DA1}"/>
                  </a:ext>
                </a:extLst>
              </p:cNvPr>
              <p:cNvCxnSpPr>
                <a:cxnSpLocks/>
              </p:cNvCxnSpPr>
              <p:nvPr/>
            </p:nvCxnSpPr>
            <p:spPr>
              <a:xfrm flipH="1" flipV="1">
                <a:off x="7609840" y="2780935"/>
                <a:ext cx="950012" cy="115059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2DE2B526-F2A1-23B0-E353-D261E412A31C}"/>
                  </a:ext>
                </a:extLst>
              </p:cNvPr>
              <p:cNvCxnSpPr>
                <a:cxnSpLocks/>
              </p:cNvCxnSpPr>
              <p:nvPr/>
            </p:nvCxnSpPr>
            <p:spPr>
              <a:xfrm flipH="1" flipV="1">
                <a:off x="8847134" y="1760557"/>
                <a:ext cx="1595118" cy="19319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6B030B20-3AD5-162C-FD17-84D160A34402}"/>
                  </a:ext>
                </a:extLst>
              </p:cNvPr>
              <p:cNvCxnSpPr>
                <a:cxnSpLocks/>
              </p:cNvCxnSpPr>
              <p:nvPr/>
            </p:nvCxnSpPr>
            <p:spPr>
              <a:xfrm flipV="1">
                <a:off x="7012852" y="1577258"/>
                <a:ext cx="2055740" cy="167830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7FD9C4EE-B9B3-7EBE-9690-FAD48C1651CB}"/>
                  </a:ext>
                </a:extLst>
              </p:cNvPr>
              <p:cNvCxnSpPr>
                <a:cxnSpLocks/>
              </p:cNvCxnSpPr>
              <p:nvPr/>
            </p:nvCxnSpPr>
            <p:spPr>
              <a:xfrm flipH="1" flipV="1">
                <a:off x="9068592" y="1572343"/>
                <a:ext cx="1996938" cy="241857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C627806F-7756-2391-12F5-AEE1BDA482C5}"/>
                  </a:ext>
                </a:extLst>
              </p:cNvPr>
              <p:cNvCxnSpPr/>
              <p:nvPr/>
            </p:nvCxnSpPr>
            <p:spPr>
              <a:xfrm flipH="1" flipV="1">
                <a:off x="7748072" y="2002651"/>
                <a:ext cx="314960" cy="381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9B6D387-DA91-B25A-9A67-FE9C751B4CDE}"/>
                      </a:ext>
                    </a:extLst>
                  </p:cNvPr>
                  <p:cNvSpPr txBox="1"/>
                  <p:nvPr/>
                </p:nvSpPr>
                <p:spPr>
                  <a:xfrm>
                    <a:off x="7399694" y="1984426"/>
                    <a:ext cx="4399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𝒐</m:t>
                          </m:r>
                        </m:oMath>
                      </m:oMathPara>
                    </a14:m>
                    <a:endParaRPr lang="zh-CN" altLang="en-US" b="1" dirty="0"/>
                  </a:p>
                </p:txBody>
              </p:sp>
            </mc:Choice>
            <mc:Fallback xmlns="">
              <p:sp>
                <p:nvSpPr>
                  <p:cNvPr id="19" name="文本框 18">
                    <a:extLst>
                      <a:ext uri="{FF2B5EF4-FFF2-40B4-BE49-F238E27FC236}">
                        <a16:creationId xmlns:a16="http://schemas.microsoft.com/office/drawing/2014/main" id="{69B6D387-DA91-B25A-9A67-FE9C751B4CDE}"/>
                      </a:ext>
                    </a:extLst>
                  </p:cNvPr>
                  <p:cNvSpPr txBox="1">
                    <a:spLocks noRot="1" noChangeAspect="1" noMove="1" noResize="1" noEditPoints="1" noAdjustHandles="1" noChangeArrowheads="1" noChangeShapeType="1" noTextEdit="1"/>
                  </p:cNvSpPr>
                  <p:nvPr/>
                </p:nvSpPr>
                <p:spPr>
                  <a:xfrm>
                    <a:off x="7399694" y="1984426"/>
                    <a:ext cx="439977" cy="369332"/>
                  </a:xfrm>
                  <a:prstGeom prst="rect">
                    <a:avLst/>
                  </a:prstGeom>
                  <a:blipFill>
                    <a:blip r:embed="rId3"/>
                    <a:stretch>
                      <a:fillRect/>
                    </a:stretch>
                  </a:blipFill>
                </p:spPr>
                <p:txBody>
                  <a:bodyPr/>
                  <a:lstStyle/>
                  <a:p>
                    <a:r>
                      <a:rPr lang="zh-CN" altLang="en-US">
                        <a:noFill/>
                      </a:rPr>
                      <a:t> </a:t>
                    </a:r>
                  </a:p>
                </p:txBody>
              </p:sp>
            </mc:Fallback>
          </mc:AlternateContent>
          <p:cxnSp>
            <p:nvCxnSpPr>
              <p:cNvPr id="20" name="直接箭头连接符 19">
                <a:extLst>
                  <a:ext uri="{FF2B5EF4-FFF2-40B4-BE49-F238E27FC236}">
                    <a16:creationId xmlns:a16="http://schemas.microsoft.com/office/drawing/2014/main" id="{445E34FD-07D1-CDC3-14EC-D508C69DB6CF}"/>
                  </a:ext>
                </a:extLst>
              </p:cNvPr>
              <p:cNvCxnSpPr>
                <a:cxnSpLocks/>
              </p:cNvCxnSpPr>
              <p:nvPr/>
            </p:nvCxnSpPr>
            <p:spPr>
              <a:xfrm flipH="1" flipV="1">
                <a:off x="7330440" y="3381320"/>
                <a:ext cx="376414" cy="102503"/>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475EC470-ED14-7213-432C-948ABF02D3D0}"/>
                      </a:ext>
                    </a:extLst>
                  </p:cNvPr>
                  <p:cNvSpPr txBox="1"/>
                  <p:nvPr/>
                </p:nvSpPr>
                <p:spPr>
                  <a:xfrm>
                    <a:off x="7356905" y="3073543"/>
                    <a:ext cx="439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21" name="文本框 20">
                    <a:extLst>
                      <a:ext uri="{FF2B5EF4-FFF2-40B4-BE49-F238E27FC236}">
                        <a16:creationId xmlns:a16="http://schemas.microsoft.com/office/drawing/2014/main" id="{475EC470-ED14-7213-432C-948ABF02D3D0}"/>
                      </a:ext>
                    </a:extLst>
                  </p:cNvPr>
                  <p:cNvSpPr txBox="1">
                    <a:spLocks noRot="1" noChangeAspect="1" noMove="1" noResize="1" noEditPoints="1" noAdjustHandles="1" noChangeArrowheads="1" noChangeShapeType="1" noTextEdit="1"/>
                  </p:cNvSpPr>
                  <p:nvPr/>
                </p:nvSpPr>
                <p:spPr>
                  <a:xfrm>
                    <a:off x="7356905" y="3073543"/>
                    <a:ext cx="439977" cy="307777"/>
                  </a:xfrm>
                  <a:prstGeom prst="rect">
                    <a:avLst/>
                  </a:prstGeom>
                  <a:blipFill>
                    <a:blip r:embed="rId4"/>
                    <a:stretch>
                      <a:fillRect/>
                    </a:stretch>
                  </a:blipFill>
                </p:spPr>
                <p:txBody>
                  <a:bodyPr/>
                  <a:lstStyle/>
                  <a:p>
                    <a:r>
                      <a:rPr lang="zh-CN" altLang="en-US">
                        <a:noFill/>
                      </a:rPr>
                      <a:t> </a:t>
                    </a:r>
                  </a:p>
                </p:txBody>
              </p:sp>
            </mc:Fallback>
          </mc:AlternateContent>
          <p:cxnSp>
            <p:nvCxnSpPr>
              <p:cNvPr id="22" name="直接箭头连接符 21">
                <a:extLst>
                  <a:ext uri="{FF2B5EF4-FFF2-40B4-BE49-F238E27FC236}">
                    <a16:creationId xmlns:a16="http://schemas.microsoft.com/office/drawing/2014/main" id="{5D411D32-D32F-1167-DAC3-12CD1BC4DBA0}"/>
                  </a:ext>
                </a:extLst>
              </p:cNvPr>
              <p:cNvCxnSpPr>
                <a:cxnSpLocks/>
              </p:cNvCxnSpPr>
              <p:nvPr/>
            </p:nvCxnSpPr>
            <p:spPr>
              <a:xfrm flipH="1" flipV="1">
                <a:off x="8895080" y="3162880"/>
                <a:ext cx="261666" cy="269945"/>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919344C9-21FF-273B-7C0C-90CBEBAFF3D2}"/>
                      </a:ext>
                    </a:extLst>
                  </p:cNvPr>
                  <p:cNvSpPr txBox="1"/>
                  <p:nvPr/>
                </p:nvSpPr>
                <p:spPr>
                  <a:xfrm>
                    <a:off x="8921819" y="2940720"/>
                    <a:ext cx="439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rPr>
                            <m:t>𝒎</m:t>
                          </m:r>
                        </m:oMath>
                      </m:oMathPara>
                    </a14:m>
                    <a:endParaRPr lang="zh-CN" altLang="en-US" sz="1400" dirty="0"/>
                  </a:p>
                </p:txBody>
              </p:sp>
            </mc:Choice>
            <mc:Fallback xmlns="">
              <p:sp>
                <p:nvSpPr>
                  <p:cNvPr id="23" name="文本框 22">
                    <a:extLst>
                      <a:ext uri="{FF2B5EF4-FFF2-40B4-BE49-F238E27FC236}">
                        <a16:creationId xmlns:a16="http://schemas.microsoft.com/office/drawing/2014/main" id="{919344C9-21FF-273B-7C0C-90CBEBAFF3D2}"/>
                      </a:ext>
                    </a:extLst>
                  </p:cNvPr>
                  <p:cNvSpPr txBox="1">
                    <a:spLocks noRot="1" noChangeAspect="1" noMove="1" noResize="1" noEditPoints="1" noAdjustHandles="1" noChangeArrowheads="1" noChangeShapeType="1" noTextEdit="1"/>
                  </p:cNvSpPr>
                  <p:nvPr/>
                </p:nvSpPr>
                <p:spPr>
                  <a:xfrm>
                    <a:off x="8921819" y="2940720"/>
                    <a:ext cx="439977" cy="307777"/>
                  </a:xfrm>
                  <a:prstGeom prst="rect">
                    <a:avLst/>
                  </a:prstGeom>
                  <a:blipFill>
                    <a:blip r:embed="rId5"/>
                    <a:stretch>
                      <a:fillRect/>
                    </a:stretch>
                  </a:blipFill>
                </p:spPr>
                <p:txBody>
                  <a:bodyPr/>
                  <a:lstStyle/>
                  <a:p>
                    <a:r>
                      <a:rPr lang="zh-CN" altLang="en-US">
                        <a:noFill/>
                      </a:rPr>
                      <a:t> </a:t>
                    </a:r>
                  </a:p>
                </p:txBody>
              </p:sp>
            </mc:Fallback>
          </mc:AlternateContent>
          <p:cxnSp>
            <p:nvCxnSpPr>
              <p:cNvPr id="24" name="直接箭头连接符 23">
                <a:extLst>
                  <a:ext uri="{FF2B5EF4-FFF2-40B4-BE49-F238E27FC236}">
                    <a16:creationId xmlns:a16="http://schemas.microsoft.com/office/drawing/2014/main" id="{D810130B-963F-C8F9-AA2F-15763179E9D9}"/>
                  </a:ext>
                </a:extLst>
              </p:cNvPr>
              <p:cNvCxnSpPr>
                <a:cxnSpLocks/>
              </p:cNvCxnSpPr>
              <p:nvPr/>
            </p:nvCxnSpPr>
            <p:spPr>
              <a:xfrm flipV="1">
                <a:off x="10566400" y="3347780"/>
                <a:ext cx="90195" cy="380931"/>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900559F4-07BD-6230-208D-CBFB886B1AC6}"/>
                      </a:ext>
                    </a:extLst>
                  </p:cNvPr>
                  <p:cNvSpPr txBox="1"/>
                  <p:nvPr/>
                </p:nvSpPr>
                <p:spPr>
                  <a:xfrm>
                    <a:off x="10251486" y="3311686"/>
                    <a:ext cx="439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rPr>
                            <m:t>𝒎</m:t>
                          </m:r>
                        </m:oMath>
                      </m:oMathPara>
                    </a14:m>
                    <a:endParaRPr lang="zh-CN" altLang="en-US" sz="1400" dirty="0"/>
                  </a:p>
                </p:txBody>
              </p:sp>
            </mc:Choice>
            <mc:Fallback xmlns="">
              <p:sp>
                <p:nvSpPr>
                  <p:cNvPr id="25" name="文本框 24">
                    <a:extLst>
                      <a:ext uri="{FF2B5EF4-FFF2-40B4-BE49-F238E27FC236}">
                        <a16:creationId xmlns:a16="http://schemas.microsoft.com/office/drawing/2014/main" id="{900559F4-07BD-6230-208D-CBFB886B1AC6}"/>
                      </a:ext>
                    </a:extLst>
                  </p:cNvPr>
                  <p:cNvSpPr txBox="1">
                    <a:spLocks noRot="1" noChangeAspect="1" noMove="1" noResize="1" noEditPoints="1" noAdjustHandles="1" noChangeArrowheads="1" noChangeShapeType="1" noTextEdit="1"/>
                  </p:cNvSpPr>
                  <p:nvPr/>
                </p:nvSpPr>
                <p:spPr>
                  <a:xfrm>
                    <a:off x="10251486" y="3311686"/>
                    <a:ext cx="439977" cy="307777"/>
                  </a:xfrm>
                  <a:prstGeom prst="rect">
                    <a:avLst/>
                  </a:prstGeom>
                  <a:blipFill>
                    <a:blip r:embed="rId4"/>
                    <a:stretch>
                      <a:fillRect/>
                    </a:stretch>
                  </a:blipFill>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1DD2AB6B-B7EE-7785-D282-B527828CD3B8}"/>
                  </a:ext>
                </a:extLst>
              </p:cNvPr>
              <p:cNvCxnSpPr>
                <a:cxnSpLocks/>
              </p:cNvCxnSpPr>
              <p:nvPr/>
            </p:nvCxnSpPr>
            <p:spPr>
              <a:xfrm>
                <a:off x="7609840" y="3990920"/>
                <a:ext cx="34556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47EF5455-ADA0-D038-44C4-BD3397A5A20E}"/>
                    </a:ext>
                  </a:extLst>
                </p:cNvPr>
                <p:cNvSpPr txBox="1"/>
                <p:nvPr/>
              </p:nvSpPr>
              <p:spPr>
                <a:xfrm>
                  <a:off x="6887503" y="1317360"/>
                  <a:ext cx="2070360"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𝑝𝑟𝑜𝑗𝑒𝑐𝑡𝑒𝑑</m:t>
                        </m:r>
                        <m:r>
                          <a:rPr lang="en-US" altLang="zh-CN" sz="1600" b="0" i="1" smtClean="0">
                            <a:solidFill>
                              <a:schemeClr val="tx1"/>
                            </a:solidFill>
                            <a:latin typeface="Cambria Math" panose="02040503050406030204" pitchFamily="18" charset="0"/>
                          </a:rPr>
                          <m:t> </m:t>
                        </m:r>
                        <m:r>
                          <a:rPr lang="en-US" altLang="zh-CN" sz="1600" b="0" i="1" smtClean="0">
                            <a:solidFill>
                              <a:schemeClr val="tx1"/>
                            </a:solidFill>
                            <a:latin typeface="Cambria Math" panose="02040503050406030204" pitchFamily="18" charset="0"/>
                          </a:rPr>
                          <m:t>𝑎𝑟𝑒𝑎</m:t>
                        </m:r>
                      </m:oMath>
                    </m:oMathPara>
                  </a14:m>
                  <a:endParaRPr lang="en-US" altLang="zh-CN" sz="16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     =</m:t>
                        </m:r>
                        <m:d>
                          <m:dPr>
                            <m:ctrlPr>
                              <a:rPr lang="en-US" altLang="zh-CN" sz="1600" b="0" i="1" smtClean="0">
                                <a:solidFill>
                                  <a:schemeClr val="tx1"/>
                                </a:solidFill>
                                <a:latin typeface="Cambria Math" panose="02040503050406030204" pitchFamily="18" charset="0"/>
                              </a:rPr>
                            </m:ctrlPr>
                          </m:dPr>
                          <m:e>
                            <m:r>
                              <a:rPr lang="en-US" altLang="zh-CN" sz="1600" b="1" i="1" smtClean="0">
                                <a:solidFill>
                                  <a:schemeClr val="tx1"/>
                                </a:solidFill>
                                <a:latin typeface="Cambria Math" panose="02040503050406030204" pitchFamily="18" charset="0"/>
                              </a:rPr>
                              <m:t>𝒐</m:t>
                            </m:r>
                            <m:r>
                              <a:rPr lang="en-US" altLang="zh-CN" sz="1600" b="0"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𝒈</m:t>
                            </m:r>
                          </m:e>
                        </m:d>
                        <m:r>
                          <a:rPr lang="en-US" altLang="zh-CN" sz="1600" b="0" i="1" smtClean="0">
                            <a:solidFill>
                              <a:schemeClr val="tx1"/>
                            </a:solidFill>
                            <a:latin typeface="Cambria Math" panose="02040503050406030204" pitchFamily="18" charset="0"/>
                          </a:rPr>
                          <m:t> </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𝐴</m:t>
                            </m:r>
                          </m:e>
                          <m:sub>
                            <m:r>
                              <a:rPr lang="en-US" altLang="zh-CN" sz="1600" b="0" i="1" smtClean="0">
                                <a:solidFill>
                                  <a:schemeClr val="tx1"/>
                                </a:solidFill>
                                <a:latin typeface="Cambria Math" panose="02040503050406030204" pitchFamily="18" charset="0"/>
                              </a:rPr>
                              <m:t>𝑀</m:t>
                            </m:r>
                          </m:sub>
                        </m:sSub>
                      </m:oMath>
                    </m:oMathPara>
                  </a14:m>
                  <a:endParaRPr lang="zh-CN" altLang="en-US" sz="1600" dirty="0"/>
                </a:p>
              </p:txBody>
            </p:sp>
          </mc:Choice>
          <mc:Fallback xmlns="">
            <p:sp>
              <p:nvSpPr>
                <p:cNvPr id="7" name="文本框 6">
                  <a:extLst>
                    <a:ext uri="{FF2B5EF4-FFF2-40B4-BE49-F238E27FC236}">
                      <a16:creationId xmlns:a16="http://schemas.microsoft.com/office/drawing/2014/main" id="{47EF5455-ADA0-D038-44C4-BD3397A5A20E}"/>
                    </a:ext>
                  </a:extLst>
                </p:cNvPr>
                <p:cNvSpPr txBox="1">
                  <a:spLocks noRot="1" noChangeAspect="1" noMove="1" noResize="1" noEditPoints="1" noAdjustHandles="1" noChangeArrowheads="1" noChangeShapeType="1" noTextEdit="1"/>
                </p:cNvSpPr>
                <p:nvPr/>
              </p:nvSpPr>
              <p:spPr>
                <a:xfrm>
                  <a:off x="6887503" y="1317360"/>
                  <a:ext cx="2070360" cy="584775"/>
                </a:xfrm>
                <a:prstGeom prst="rect">
                  <a:avLst/>
                </a:prstGeom>
                <a:blipFill>
                  <a:blip r:embed="rId6"/>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1B5EFD0-7620-CBCB-CE42-E7D34C9A4E85}"/>
                    </a:ext>
                  </a:extLst>
                </p:cNvPr>
                <p:cNvSpPr txBox="1"/>
                <p:nvPr/>
              </p:nvSpPr>
              <p:spPr>
                <a:xfrm>
                  <a:off x="8884324" y="4050307"/>
                  <a:ext cx="20579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𝑀𝑎𝑐𝑟𝑜</m:t>
                        </m:r>
                        <m:r>
                          <a:rPr lang="en-US" altLang="zh-CN" sz="1800" b="0" i="1" smtClean="0">
                            <a:solidFill>
                              <a:schemeClr val="tx1"/>
                            </a:solidFill>
                            <a:latin typeface="Cambria Math" panose="02040503050406030204" pitchFamily="18" charset="0"/>
                          </a:rPr>
                          <m:t> </m:t>
                        </m:r>
                        <m:r>
                          <a:rPr lang="en-US" altLang="zh-CN" sz="1800" b="0" i="1" smtClean="0">
                            <a:solidFill>
                              <a:schemeClr val="tx1"/>
                            </a:solidFill>
                            <a:latin typeface="Cambria Math" panose="02040503050406030204" pitchFamily="18" charset="0"/>
                          </a:rPr>
                          <m:t>𝑆𝑢𝑟𝑓𝑎𝑐𝑒</m:t>
                        </m:r>
                        <m:r>
                          <a:rPr lang="en-US" altLang="zh-CN" sz="1800" b="0" i="1" smtClean="0">
                            <a:solidFill>
                              <a:schemeClr val="tx1"/>
                            </a:solidFill>
                            <a:latin typeface="Cambria Math" panose="02040503050406030204" pitchFamily="18" charset="0"/>
                          </a:rPr>
                          <m:t>  </m:t>
                        </m:r>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𝐴</m:t>
                            </m:r>
                          </m:e>
                          <m:sub>
                            <m:r>
                              <a:rPr lang="en-US" altLang="zh-CN" sz="1800" b="0" i="1" smtClean="0">
                                <a:solidFill>
                                  <a:schemeClr val="tx1"/>
                                </a:solidFill>
                                <a:latin typeface="Cambria Math" panose="02040503050406030204" pitchFamily="18" charset="0"/>
                              </a:rPr>
                              <m:t>𝑀</m:t>
                            </m:r>
                          </m:sub>
                        </m:sSub>
                      </m:oMath>
                    </m:oMathPara>
                  </a14:m>
                  <a:endParaRPr lang="zh-CN" altLang="en-US" dirty="0"/>
                </a:p>
              </p:txBody>
            </p:sp>
          </mc:Choice>
          <mc:Fallback xmlns="">
            <p:sp>
              <p:nvSpPr>
                <p:cNvPr id="8" name="文本框 7">
                  <a:extLst>
                    <a:ext uri="{FF2B5EF4-FFF2-40B4-BE49-F238E27FC236}">
                      <a16:creationId xmlns:a16="http://schemas.microsoft.com/office/drawing/2014/main" id="{41B5EFD0-7620-CBCB-CE42-E7D34C9A4E85}"/>
                    </a:ext>
                  </a:extLst>
                </p:cNvPr>
                <p:cNvSpPr txBox="1">
                  <a:spLocks noRot="1" noChangeAspect="1" noMove="1" noResize="1" noEditPoints="1" noAdjustHandles="1" noChangeArrowheads="1" noChangeShapeType="1" noTextEdit="1"/>
                </p:cNvSpPr>
                <p:nvPr/>
              </p:nvSpPr>
              <p:spPr>
                <a:xfrm>
                  <a:off x="8884324" y="4050307"/>
                  <a:ext cx="2057996" cy="369332"/>
                </a:xfrm>
                <a:prstGeom prst="rect">
                  <a:avLst/>
                </a:prstGeom>
                <a:blipFill>
                  <a:blip r:embed="rId7"/>
                  <a:stretch>
                    <a:fillRect l="-888" r="-888" b="-15000"/>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7645493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AE698-9468-3FF5-BA95-AC2062A5D833}"/>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1513A67-90B4-BB43-001B-873C7DAE790E}"/>
              </a:ext>
            </a:extLst>
          </p:cNvPr>
          <p:cNvSpPr/>
          <p:nvPr/>
        </p:nvSpPr>
        <p:spPr>
          <a:xfrm>
            <a:off x="6623147" y="1231307"/>
            <a:ext cx="4994356" cy="345316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DB30F335-660A-28D7-C776-5265E519580D}"/>
              </a:ext>
            </a:extLst>
          </p:cNvPr>
          <p:cNvSpPr/>
          <p:nvPr/>
        </p:nvSpPr>
        <p:spPr>
          <a:xfrm>
            <a:off x="6489797" y="1059857"/>
            <a:ext cx="4994356" cy="3453166"/>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9" name="矩形 58">
            <a:extLst>
              <a:ext uri="{FF2B5EF4-FFF2-40B4-BE49-F238E27FC236}">
                <a16:creationId xmlns:a16="http://schemas.microsoft.com/office/drawing/2014/main" id="{2CE702CE-0B66-E211-E31B-2F03DEB2E16E}"/>
              </a:ext>
            </a:extLst>
          </p:cNvPr>
          <p:cNvSpPr/>
          <p:nvPr/>
        </p:nvSpPr>
        <p:spPr>
          <a:xfrm>
            <a:off x="631111" y="1231307"/>
            <a:ext cx="5706286" cy="538674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13" name="标题 2">
            <a:extLst>
              <a:ext uri="{FF2B5EF4-FFF2-40B4-BE49-F238E27FC236}">
                <a16:creationId xmlns:a16="http://schemas.microsoft.com/office/drawing/2014/main" id="{90058C6B-F58B-164B-17C2-C6EB390FACC8}"/>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考虑观察方向位于微表面下方的情况</a:t>
            </a:r>
            <a:endParaRPr lang="en-US" altLang="zh-CN" dirty="0"/>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5BC4D206-092C-44C1-C2E5-D7EDED3E93CA}"/>
                  </a:ext>
                </a:extLst>
              </p:cNvPr>
              <p:cNvSpPr/>
              <p:nvPr/>
            </p:nvSpPr>
            <p:spPr>
              <a:xfrm>
                <a:off x="478711" y="1060118"/>
                <a:ext cx="5706286" cy="538674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14:m>
                  <m:oMathPara xmlns:m="http://schemas.openxmlformats.org/officeDocument/2006/math">
                    <m:oMathParaPr>
                      <m:jc m:val="centerGroup"/>
                    </m:oMathParaPr>
                    <m:oMath xmlns:m="http://schemas.openxmlformats.org/officeDocument/2006/math">
                      <m:r>
                        <a:rPr lang="en-US" altLang="zh-CN" sz="1500" b="1" i="1" dirty="0" smtClean="0">
                          <a:solidFill>
                            <a:schemeClr val="tx1"/>
                          </a:solidFill>
                          <a:latin typeface="Cambria Math" panose="02040503050406030204" pitchFamily="18" charset="0"/>
                        </a:rPr>
                        <m:t>𝒐</m:t>
                      </m:r>
                      <m:r>
                        <a:rPr lang="zh-CN" altLang="en-US" sz="1500" b="1" i="1" dirty="0">
                          <a:solidFill>
                            <a:schemeClr val="tx1"/>
                          </a:solidFill>
                          <a:latin typeface="Cambria Math" panose="02040503050406030204" pitchFamily="18" charset="0"/>
                        </a:rPr>
                        <m:t>位于</m:t>
                      </m:r>
                      <m:r>
                        <a:rPr lang="zh-CN" altLang="en-US" sz="1500" b="1" i="1" dirty="0" smtClean="0">
                          <a:solidFill>
                            <a:schemeClr val="tx1"/>
                          </a:solidFill>
                          <a:latin typeface="Cambria Math" panose="02040503050406030204" pitchFamily="18" charset="0"/>
                        </a:rPr>
                        <m:t>上半球</m:t>
                      </m:r>
                      <m:r>
                        <a:rPr lang="zh-CN" altLang="en-US" sz="1500" b="1" i="1" dirty="0">
                          <a:solidFill>
                            <a:schemeClr val="tx1"/>
                          </a:solidFill>
                          <a:latin typeface="Cambria Math" panose="02040503050406030204" pitchFamily="18" charset="0"/>
                        </a:rPr>
                        <m:t>时</m:t>
                      </m:r>
                      <m:r>
                        <a:rPr lang="zh-CN" altLang="en-US" sz="1500" i="1" dirty="0">
                          <a:solidFill>
                            <a:schemeClr val="tx1"/>
                          </a:solidFill>
                          <a:latin typeface="Cambria Math" panose="02040503050406030204" pitchFamily="18" charset="0"/>
                        </a:rPr>
                        <m:t>：</m:t>
                      </m:r>
                      <m:nary>
                        <m:naryPr>
                          <m:supHide m:val="on"/>
                          <m:ctrlPr>
                            <a:rPr lang="en-US" altLang="zh-CN" sz="1500" i="1" dirty="0">
                              <a:solidFill>
                                <a:schemeClr val="tx1"/>
                              </a:solidFill>
                              <a:latin typeface="Cambria Math" panose="02040503050406030204" pitchFamily="18" charset="0"/>
                            </a:rPr>
                          </m:ctrlPr>
                        </m:naryPr>
                        <m:sub>
                          <m:sSup>
                            <m:sSupPr>
                              <m:ctrlPr>
                                <a:rPr lang="en-US" altLang="zh-CN" sz="1500" i="1" dirty="0">
                                  <a:solidFill>
                                    <a:schemeClr val="tx1"/>
                                  </a:solidFill>
                                  <a:latin typeface="Cambria Math" panose="02040503050406030204" pitchFamily="18" charset="0"/>
                                </a:rPr>
                              </m:ctrlPr>
                            </m:sSupPr>
                            <m:e>
                              <m:r>
                                <a:rPr lang="en-US" altLang="zh-CN" sz="1500" i="1" dirty="0">
                                  <a:solidFill>
                                    <a:schemeClr val="tx1"/>
                                  </a:solidFill>
                                  <a:latin typeface="Cambria Math" panose="02040503050406030204" pitchFamily="18" charset="0"/>
                                </a:rPr>
                                <m:t>𝐻</m:t>
                              </m:r>
                            </m:e>
                            <m:sup>
                              <m:r>
                                <a:rPr lang="en-US" altLang="zh-CN" sz="1500" i="1" dirty="0">
                                  <a:solidFill>
                                    <a:schemeClr val="tx1"/>
                                  </a:solidFill>
                                  <a:latin typeface="Cambria Math" panose="02040503050406030204" pitchFamily="18" charset="0"/>
                                </a:rPr>
                                <m:t>2</m:t>
                              </m:r>
                            </m:sup>
                          </m:sSup>
                        </m:sub>
                        <m:sup/>
                        <m:e>
                          <m:r>
                            <a:rPr lang="en-US" altLang="zh-CN" sz="1500" i="1" dirty="0">
                              <a:solidFill>
                                <a:schemeClr val="tx1"/>
                              </a:solidFill>
                              <a:latin typeface="Cambria Math" panose="02040503050406030204" pitchFamily="18" charset="0"/>
                            </a:rPr>
                            <m:t>𝐷</m:t>
                          </m:r>
                          <m:d>
                            <m:dPr>
                              <m:ctrlPr>
                                <a:rPr lang="en-US" altLang="zh-CN" sz="1500" i="1" dirty="0">
                                  <a:solidFill>
                                    <a:schemeClr val="tx1"/>
                                  </a:solidFill>
                                  <a:latin typeface="Cambria Math" panose="02040503050406030204" pitchFamily="18" charset="0"/>
                                </a:rPr>
                              </m:ctrlPr>
                            </m:dPr>
                            <m:e>
                              <m:r>
                                <a:rPr lang="en-US" altLang="zh-CN" sz="1500" b="1" i="1" dirty="0">
                                  <a:solidFill>
                                    <a:schemeClr val="tx1"/>
                                  </a:solidFill>
                                  <a:latin typeface="Cambria Math" panose="02040503050406030204" pitchFamily="18" charset="0"/>
                                </a:rPr>
                                <m:t>𝒎</m:t>
                              </m:r>
                            </m:e>
                          </m:d>
                          <m:r>
                            <m:rPr>
                              <m:lit/>
                            </m:rPr>
                            <a:rPr lang="en-US" altLang="zh-CN" sz="1500" i="1" dirty="0">
                              <a:solidFill>
                                <a:schemeClr val="tx1"/>
                              </a:solidFill>
                              <a:latin typeface="Cambria Math" panose="02040503050406030204" pitchFamily="18" charset="0"/>
                            </a:rPr>
                            <m:t> </m:t>
                          </m:r>
                          <m:sSub>
                            <m:sSubPr>
                              <m:ctrlPr>
                                <a:rPr lang="en-US" altLang="zh-CN" sz="1500" i="1" dirty="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𝐺</m:t>
                              </m:r>
                            </m:e>
                            <m:sub>
                              <m:r>
                                <a:rPr lang="en-US" altLang="zh-CN" sz="1500" i="1" dirty="0">
                                  <a:solidFill>
                                    <a:schemeClr val="tx1"/>
                                  </a:solidFill>
                                  <a:latin typeface="Cambria Math" panose="02040503050406030204" pitchFamily="18" charset="0"/>
                                </a:rPr>
                                <m:t>1</m:t>
                              </m:r>
                            </m:sub>
                          </m:sSub>
                          <m:d>
                            <m:dPr>
                              <m:ctrlPr>
                                <a:rPr lang="en-US" altLang="zh-CN" sz="1500" i="1" dirty="0">
                                  <a:solidFill>
                                    <a:schemeClr val="tx1"/>
                                  </a:solidFill>
                                  <a:latin typeface="Cambria Math" panose="02040503050406030204" pitchFamily="18" charset="0"/>
                                </a:rPr>
                              </m:ctrlPr>
                            </m:dPr>
                            <m:e>
                              <m:r>
                                <a:rPr lang="en-US" altLang="zh-CN" sz="1500" b="1" i="1" dirty="0">
                                  <a:solidFill>
                                    <a:schemeClr val="tx1"/>
                                  </a:solidFill>
                                  <a:latin typeface="Cambria Math" panose="02040503050406030204" pitchFamily="18" charset="0"/>
                                </a:rPr>
                                <m:t>𝒐</m:t>
                              </m:r>
                              <m:r>
                                <a:rPr lang="en-US" altLang="zh-CN" sz="1500" i="1" dirty="0">
                                  <a:solidFill>
                                    <a:schemeClr val="tx1"/>
                                  </a:solidFill>
                                  <a:latin typeface="Cambria Math" panose="02040503050406030204" pitchFamily="18" charset="0"/>
                                </a:rPr>
                                <m:t>,</m:t>
                              </m:r>
                              <m:r>
                                <a:rPr lang="en-US" altLang="zh-CN" sz="1500" b="1" i="1" dirty="0">
                                  <a:solidFill>
                                    <a:schemeClr val="tx1"/>
                                  </a:solidFill>
                                  <a:latin typeface="Cambria Math" panose="02040503050406030204" pitchFamily="18" charset="0"/>
                                </a:rPr>
                                <m:t>𝒎</m:t>
                              </m:r>
                            </m:e>
                          </m:d>
                          <m:r>
                            <a:rPr lang="en-US" altLang="zh-CN" sz="1500" i="1" dirty="0">
                              <a:solidFill>
                                <a:schemeClr val="tx1"/>
                              </a:solidFill>
                              <a:latin typeface="Cambria Math" panose="02040503050406030204" pitchFamily="18" charset="0"/>
                            </a:rPr>
                            <m:t> </m:t>
                          </m:r>
                          <m:d>
                            <m:dPr>
                              <m:begChr m:val="⟨"/>
                              <m:endChr m:val="⟩"/>
                              <m:ctrlPr>
                                <a:rPr lang="en-US" altLang="zh-CN" sz="1500" i="1" dirty="0">
                                  <a:solidFill>
                                    <a:schemeClr val="tx1"/>
                                  </a:solidFill>
                                  <a:latin typeface="Cambria Math" panose="02040503050406030204" pitchFamily="18" charset="0"/>
                                </a:rPr>
                              </m:ctrlPr>
                            </m:dPr>
                            <m:e>
                              <m:r>
                                <a:rPr lang="en-US" altLang="zh-CN" sz="1500" b="1" i="1" dirty="0">
                                  <a:solidFill>
                                    <a:schemeClr val="tx1"/>
                                  </a:solidFill>
                                  <a:latin typeface="Cambria Math" panose="02040503050406030204" pitchFamily="18" charset="0"/>
                                </a:rPr>
                                <m:t>𝒐</m:t>
                              </m:r>
                              <m:r>
                                <a:rPr lang="en-US" altLang="zh-CN" sz="1500" i="1" dirty="0">
                                  <a:solidFill>
                                    <a:schemeClr val="tx1"/>
                                  </a:solidFill>
                                  <a:latin typeface="Cambria Math" panose="02040503050406030204" pitchFamily="18" charset="0"/>
                                </a:rPr>
                                <m:t>,</m:t>
                              </m:r>
                              <m:r>
                                <a:rPr lang="en-US" altLang="zh-CN" sz="1500" b="1" i="1" dirty="0">
                                  <a:solidFill>
                                    <a:schemeClr val="tx1"/>
                                  </a:solidFill>
                                  <a:latin typeface="Cambria Math" panose="02040503050406030204" pitchFamily="18" charset="0"/>
                                </a:rPr>
                                <m:t>𝒎</m:t>
                              </m:r>
                            </m:e>
                          </m:d>
                          <m:r>
                            <a:rPr lang="en-US" altLang="zh-CN" sz="1500" i="1" dirty="0">
                              <a:solidFill>
                                <a:schemeClr val="tx1"/>
                              </a:solidFill>
                              <a:latin typeface="Cambria Math" panose="02040503050406030204" pitchFamily="18" charset="0"/>
                            </a:rPr>
                            <m:t> </m:t>
                          </m:r>
                          <m:r>
                            <a:rPr lang="en-US" altLang="zh-CN" sz="1500" i="1" dirty="0">
                              <a:solidFill>
                                <a:schemeClr val="tx1"/>
                              </a:solidFill>
                              <a:latin typeface="Cambria Math" panose="02040503050406030204" pitchFamily="18" charset="0"/>
                            </a:rPr>
                            <m:t>𝑑</m:t>
                          </m:r>
                          <m:sSub>
                            <m:sSubPr>
                              <m:ctrlPr>
                                <a:rPr lang="en-US" altLang="zh-CN" sz="1500" i="1" dirty="0" err="1">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𝜔</m:t>
                              </m:r>
                            </m:e>
                            <m:sub>
                              <m:r>
                                <a:rPr lang="en-US" altLang="zh-CN" sz="1500" i="1" dirty="0">
                                  <a:solidFill>
                                    <a:schemeClr val="tx1"/>
                                  </a:solidFill>
                                  <a:latin typeface="Cambria Math" panose="02040503050406030204" pitchFamily="18" charset="0"/>
                                </a:rPr>
                                <m:t>𝑚</m:t>
                              </m:r>
                            </m:sub>
                          </m:sSub>
                        </m:e>
                      </m:nary>
                      <m:r>
                        <a:rPr lang="en-US" altLang="zh-CN" sz="1500" i="1" dirty="0">
                          <a:solidFill>
                            <a:schemeClr val="tx1"/>
                          </a:solidFill>
                          <a:latin typeface="Cambria Math" panose="02040503050406030204" pitchFamily="18" charset="0"/>
                        </a:rPr>
                        <m:t>=</m:t>
                      </m:r>
                      <m:r>
                        <a:rPr lang="en-US" altLang="zh-CN" sz="1500" b="1" i="1" dirty="0">
                          <a:solidFill>
                            <a:schemeClr val="tx1"/>
                          </a:solidFill>
                          <a:latin typeface="Cambria Math" panose="02040503050406030204" pitchFamily="18" charset="0"/>
                        </a:rPr>
                        <m:t>𝒐</m:t>
                      </m:r>
                      <m:r>
                        <a:rPr lang="en-US" altLang="zh-CN" sz="1500" i="1" dirty="0">
                          <a:solidFill>
                            <a:schemeClr val="tx1"/>
                          </a:solidFill>
                          <a:latin typeface="Cambria Math" panose="02040503050406030204" pitchFamily="18" charset="0"/>
                        </a:rPr>
                        <m:t>⋅</m:t>
                      </m:r>
                      <m:r>
                        <a:rPr lang="en-US" altLang="zh-CN" sz="1500" b="1" i="1" dirty="0">
                          <a:solidFill>
                            <a:schemeClr val="tx1"/>
                          </a:solidFill>
                          <a:latin typeface="Cambria Math" panose="02040503050406030204" pitchFamily="18" charset="0"/>
                        </a:rPr>
                        <m:t>𝒈</m:t>
                      </m:r>
                    </m:oMath>
                  </m:oMathPara>
                </a14:m>
                <a:endParaRPr lang="en-US" altLang="zh-CN" sz="1500" b="1" i="1" dirty="0">
                  <a:solidFill>
                    <a:schemeClr val="tx1"/>
                  </a:solidFill>
                  <a:latin typeface="Cambria Math" panose="02040503050406030204" pitchFamily="18" charset="0"/>
                </a:endParaRPr>
              </a:p>
              <a:p>
                <a:pPr>
                  <a:lnSpc>
                    <a:spcPct val="150000"/>
                  </a:lnSpc>
                </a:pPr>
                <a:r>
                  <a:rPr lang="en-US" altLang="zh-CN" sz="1500" b="1" i="1" dirty="0">
                    <a:solidFill>
                      <a:schemeClr val="tx1"/>
                    </a:solidFill>
                    <a:latin typeface="Cambria Math" panose="02040503050406030204" pitchFamily="18" charset="0"/>
                  </a:rPr>
                  <a:t>—————————————————————————————</a:t>
                </a:r>
              </a:p>
              <a:p>
                <a:pPr>
                  <a:lnSpc>
                    <a:spcPct val="150000"/>
                  </a:lnSpc>
                </a:pPr>
                <a14:m>
                  <m:oMathPara xmlns:m="http://schemas.openxmlformats.org/officeDocument/2006/math">
                    <m:oMathParaPr>
                      <m:jc m:val="centerGroup"/>
                    </m:oMathParaPr>
                    <m:oMath xmlns:m="http://schemas.openxmlformats.org/officeDocument/2006/math">
                      <m:r>
                        <a:rPr lang="en-US" altLang="zh-CN" sz="1500" b="1" i="1" dirty="0" smtClean="0">
                          <a:solidFill>
                            <a:schemeClr val="tx1"/>
                          </a:solidFill>
                          <a:latin typeface="Cambria Math" panose="02040503050406030204" pitchFamily="18" charset="0"/>
                        </a:rPr>
                        <m:t>𝒐</m:t>
                      </m:r>
                      <m:r>
                        <a:rPr lang="zh-CN" altLang="en-US" sz="1500" b="1" i="1" dirty="0">
                          <a:solidFill>
                            <a:schemeClr val="tx1"/>
                          </a:solidFill>
                          <a:latin typeface="Cambria Math" panose="02040503050406030204" pitchFamily="18" charset="0"/>
                        </a:rPr>
                        <m:t>位于下</m:t>
                      </m:r>
                      <m:r>
                        <a:rPr lang="zh-CN" altLang="en-US" sz="1500" b="1" i="1" dirty="0" smtClean="0">
                          <a:solidFill>
                            <a:schemeClr val="tx1"/>
                          </a:solidFill>
                          <a:latin typeface="Cambria Math" panose="02040503050406030204" pitchFamily="18" charset="0"/>
                        </a:rPr>
                        <m:t>半球</m:t>
                      </m:r>
                      <m:r>
                        <a:rPr lang="zh-CN" altLang="en-US" sz="1500" b="1" i="1" dirty="0">
                          <a:solidFill>
                            <a:schemeClr val="tx1"/>
                          </a:solidFill>
                          <a:latin typeface="Cambria Math" panose="02040503050406030204" pitchFamily="18" charset="0"/>
                        </a:rPr>
                        <m:t>时</m:t>
                      </m:r>
                      <m:r>
                        <a:rPr lang="zh-CN" altLang="en-US" sz="1500" b="1" i="1" dirty="0" smtClean="0">
                          <a:solidFill>
                            <a:schemeClr val="tx1"/>
                          </a:solidFill>
                          <a:latin typeface="Cambria Math" panose="02040503050406030204" pitchFamily="18" charset="0"/>
                        </a:rPr>
                        <m:t>：</m:t>
                      </m:r>
                    </m:oMath>
                  </m:oMathPara>
                </a14:m>
                <a:endParaRPr lang="en-US" altLang="zh-CN" sz="150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nary>
                        <m:naryPr>
                          <m:supHide m:val="on"/>
                          <m:ctrlPr>
                            <a:rPr lang="en-US" altLang="zh-CN" sz="1500" i="1" dirty="0" smtClean="0">
                              <a:solidFill>
                                <a:schemeClr val="tx1"/>
                              </a:solidFill>
                              <a:latin typeface="Cambria Math" panose="02040503050406030204" pitchFamily="18" charset="0"/>
                            </a:rPr>
                          </m:ctrlPr>
                        </m:naryPr>
                        <m:sub>
                          <m:sSup>
                            <m:sSupPr>
                              <m:ctrlPr>
                                <a:rPr lang="en-US" altLang="zh-CN" sz="1500" i="1" dirty="0">
                                  <a:solidFill>
                                    <a:schemeClr val="tx1"/>
                                  </a:solidFill>
                                  <a:latin typeface="Cambria Math" panose="02040503050406030204" pitchFamily="18" charset="0"/>
                                </a:rPr>
                              </m:ctrlPr>
                            </m:sSupPr>
                            <m:e>
                              <m:r>
                                <a:rPr lang="en-US" altLang="zh-CN" sz="1500" i="1" dirty="0">
                                  <a:solidFill>
                                    <a:schemeClr val="tx1"/>
                                  </a:solidFill>
                                  <a:latin typeface="Cambria Math" panose="02040503050406030204" pitchFamily="18" charset="0"/>
                                </a:rPr>
                                <m:t>𝐻</m:t>
                              </m:r>
                            </m:e>
                            <m:sup>
                              <m:r>
                                <a:rPr lang="en-US" altLang="zh-CN" sz="1500" i="1" dirty="0">
                                  <a:solidFill>
                                    <a:schemeClr val="tx1"/>
                                  </a:solidFill>
                                  <a:latin typeface="Cambria Math" panose="02040503050406030204" pitchFamily="18" charset="0"/>
                                </a:rPr>
                                <m:t>2</m:t>
                              </m:r>
                            </m:sup>
                          </m:sSup>
                        </m:sub>
                        <m:sup/>
                        <m:e>
                          <m:sSub>
                            <m:sSubPr>
                              <m:ctrlPr>
                                <a:rPr lang="en-US" altLang="zh-CN" sz="1500" b="0" i="1" dirty="0" smtClean="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𝐴</m:t>
                              </m:r>
                            </m:e>
                            <m:sub>
                              <m:r>
                                <a:rPr lang="en-US" altLang="zh-CN" sz="1500" b="0" i="1" dirty="0" smtClean="0">
                                  <a:solidFill>
                                    <a:schemeClr val="tx1"/>
                                  </a:solidFill>
                                  <a:latin typeface="Cambria Math" panose="02040503050406030204" pitchFamily="18" charset="0"/>
                                </a:rPr>
                                <m:t>𝑀</m:t>
                              </m:r>
                            </m:sub>
                          </m:sSub>
                          <m:r>
                            <m:rPr>
                              <m:lit/>
                            </m:rPr>
                            <a:rPr lang="en-US" altLang="zh-CN" sz="1500" i="1" dirty="0">
                              <a:solidFill>
                                <a:schemeClr val="tx1"/>
                              </a:solidFill>
                              <a:latin typeface="Cambria Math" panose="02040503050406030204" pitchFamily="18" charset="0"/>
                            </a:rPr>
                            <m:t> </m:t>
                          </m:r>
                          <m:r>
                            <a:rPr lang="en-US" altLang="zh-CN" sz="1500" i="1" dirty="0">
                              <a:solidFill>
                                <a:schemeClr val="tx1"/>
                              </a:solidFill>
                              <a:latin typeface="Cambria Math" panose="02040503050406030204" pitchFamily="18" charset="0"/>
                            </a:rPr>
                            <m:t>𝐷</m:t>
                          </m:r>
                          <m:d>
                            <m:dPr>
                              <m:ctrlPr>
                                <a:rPr lang="en-US" altLang="zh-CN" sz="1500" i="1" dirty="0">
                                  <a:solidFill>
                                    <a:schemeClr val="tx1"/>
                                  </a:solidFill>
                                  <a:latin typeface="Cambria Math" panose="02040503050406030204" pitchFamily="18" charset="0"/>
                                </a:rPr>
                              </m:ctrlPr>
                            </m:dPr>
                            <m:e>
                              <m:r>
                                <a:rPr lang="en-US" altLang="zh-CN" sz="1500" b="1" i="1" dirty="0" smtClean="0">
                                  <a:solidFill>
                                    <a:schemeClr val="tx1"/>
                                  </a:solidFill>
                                  <a:latin typeface="Cambria Math" panose="02040503050406030204" pitchFamily="18" charset="0"/>
                                </a:rPr>
                                <m:t>𝒎</m:t>
                              </m:r>
                            </m:e>
                          </m:d>
                          <m:r>
                            <a:rPr lang="en-US" altLang="zh-CN" sz="1500" b="0" i="1" dirty="0" smtClean="0">
                              <a:solidFill>
                                <a:schemeClr val="tx1"/>
                              </a:solidFill>
                              <a:latin typeface="Cambria Math" panose="02040503050406030204" pitchFamily="18" charset="0"/>
                            </a:rPr>
                            <m:t> </m:t>
                          </m:r>
                          <m:sSub>
                            <m:sSubPr>
                              <m:ctrlPr>
                                <a:rPr lang="en-US" altLang="zh-CN" sz="1500" b="0" i="1" dirty="0" smtClean="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𝐺</m:t>
                              </m:r>
                            </m:e>
                            <m:sub>
                              <m:r>
                                <a:rPr lang="en-US" altLang="zh-CN" sz="1500" b="0" i="1" dirty="0" smtClean="0">
                                  <a:solidFill>
                                    <a:schemeClr val="tx1"/>
                                  </a:solidFill>
                                  <a:latin typeface="Cambria Math" panose="02040503050406030204" pitchFamily="18" charset="0"/>
                                </a:rPr>
                                <m:t>1</m:t>
                              </m:r>
                            </m:sub>
                          </m:sSub>
                          <m:d>
                            <m:dPr>
                              <m:ctrlPr>
                                <a:rPr lang="en-US" altLang="zh-CN" sz="1500" i="1" dirty="0">
                                  <a:solidFill>
                                    <a:schemeClr val="tx1"/>
                                  </a:solidFill>
                                  <a:latin typeface="Cambria Math" panose="02040503050406030204" pitchFamily="18" charset="0"/>
                                </a:rPr>
                              </m:ctrlPr>
                            </m:dPr>
                            <m:e>
                              <m:r>
                                <a:rPr lang="en-US" altLang="zh-CN" sz="1500" b="1" i="1" dirty="0" smtClean="0">
                                  <a:solidFill>
                                    <a:schemeClr val="tx1"/>
                                  </a:solidFill>
                                  <a:latin typeface="Cambria Math" panose="02040503050406030204" pitchFamily="18" charset="0"/>
                                </a:rPr>
                                <m:t>𝒐</m:t>
                              </m:r>
                              <m:r>
                                <a:rPr lang="en-US" altLang="zh-CN" sz="1500" i="1" dirty="0">
                                  <a:solidFill>
                                    <a:schemeClr val="tx1"/>
                                  </a:solidFill>
                                  <a:latin typeface="Cambria Math" panose="02040503050406030204" pitchFamily="18" charset="0"/>
                                </a:rPr>
                                <m:t>,</m:t>
                              </m:r>
                              <m:r>
                                <a:rPr lang="en-US" altLang="zh-CN" sz="1500" b="1" i="1" dirty="0" smtClean="0">
                                  <a:solidFill>
                                    <a:schemeClr val="tx1"/>
                                  </a:solidFill>
                                  <a:latin typeface="Cambria Math" panose="02040503050406030204" pitchFamily="18" charset="0"/>
                                </a:rPr>
                                <m:t>𝒎</m:t>
                              </m:r>
                            </m:e>
                          </m:d>
                          <m:r>
                            <a:rPr lang="en-US" altLang="zh-CN" sz="1500" b="0" i="1" dirty="0" smtClean="0">
                              <a:solidFill>
                                <a:schemeClr val="tx1"/>
                              </a:solidFill>
                              <a:latin typeface="Cambria Math" panose="02040503050406030204" pitchFamily="18" charset="0"/>
                            </a:rPr>
                            <m:t> </m:t>
                          </m:r>
                          <m:d>
                            <m:dPr>
                              <m:begChr m:val="⟨"/>
                              <m:endChr m:val="⟩"/>
                              <m:ctrlPr>
                                <a:rPr lang="en-US" altLang="zh-CN" sz="1500" b="0" i="1" dirty="0" smtClean="0">
                                  <a:solidFill>
                                    <a:schemeClr val="tx1"/>
                                  </a:solidFill>
                                  <a:latin typeface="Cambria Math" panose="02040503050406030204" pitchFamily="18" charset="0"/>
                                </a:rPr>
                              </m:ctrlPr>
                            </m:dPr>
                            <m:e>
                              <m:r>
                                <a:rPr lang="en-US" altLang="zh-CN" sz="1500" b="1" i="1" dirty="0">
                                  <a:solidFill>
                                    <a:schemeClr val="tx1"/>
                                  </a:solidFill>
                                  <a:latin typeface="Cambria Math" panose="02040503050406030204" pitchFamily="18" charset="0"/>
                                </a:rPr>
                                <m:t>𝒐</m:t>
                              </m:r>
                              <m:r>
                                <a:rPr lang="en-US" altLang="zh-CN" sz="1500" b="0" i="1" dirty="0" smtClean="0">
                                  <a:solidFill>
                                    <a:schemeClr val="tx1"/>
                                  </a:solidFill>
                                  <a:latin typeface="Cambria Math" panose="02040503050406030204" pitchFamily="18" charset="0"/>
                                </a:rPr>
                                <m:t>,</m:t>
                              </m:r>
                              <m:r>
                                <a:rPr lang="en-US" altLang="zh-CN" sz="1500" b="1" i="1" dirty="0" smtClean="0">
                                  <a:solidFill>
                                    <a:schemeClr val="tx1"/>
                                  </a:solidFill>
                                  <a:latin typeface="Cambria Math" panose="02040503050406030204" pitchFamily="18" charset="0"/>
                                </a:rPr>
                                <m:t>−</m:t>
                              </m:r>
                              <m:r>
                                <a:rPr lang="en-US" altLang="zh-CN" sz="1500" b="1" i="1" dirty="0">
                                  <a:solidFill>
                                    <a:schemeClr val="tx1"/>
                                  </a:solidFill>
                                  <a:latin typeface="Cambria Math" panose="02040503050406030204" pitchFamily="18" charset="0"/>
                                </a:rPr>
                                <m:t>𝒎</m:t>
                              </m:r>
                            </m:e>
                          </m:d>
                          <m:r>
                            <a:rPr lang="en-US" altLang="zh-CN" sz="1500" b="0" i="1" dirty="0" smtClean="0">
                              <a:solidFill>
                                <a:schemeClr val="tx1"/>
                              </a:solidFill>
                              <a:latin typeface="Cambria Math" panose="02040503050406030204" pitchFamily="18" charset="0"/>
                            </a:rPr>
                            <m:t> </m:t>
                          </m:r>
                          <m:r>
                            <a:rPr lang="en-US" altLang="zh-CN" sz="1500" i="1" dirty="0">
                              <a:solidFill>
                                <a:schemeClr val="tx1"/>
                              </a:solidFill>
                              <a:latin typeface="Cambria Math" panose="02040503050406030204" pitchFamily="18" charset="0"/>
                            </a:rPr>
                            <m:t>𝑑</m:t>
                          </m:r>
                          <m:sSub>
                            <m:sSubPr>
                              <m:ctrlPr>
                                <a:rPr lang="en-US" altLang="zh-CN" sz="1500" i="1" dirty="0" err="1">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𝜔</m:t>
                              </m:r>
                            </m:e>
                            <m:sub>
                              <m:r>
                                <a:rPr lang="en-US" altLang="zh-CN" sz="1500" i="1" dirty="0">
                                  <a:solidFill>
                                    <a:schemeClr val="tx1"/>
                                  </a:solidFill>
                                  <a:latin typeface="Cambria Math" panose="02040503050406030204" pitchFamily="18" charset="0"/>
                                </a:rPr>
                                <m:t>𝑚</m:t>
                              </m:r>
                            </m:sub>
                          </m:sSub>
                        </m:e>
                      </m:nary>
                      <m:r>
                        <a:rPr lang="en-US" altLang="zh-CN" sz="1500" i="1" dirty="0">
                          <a:solidFill>
                            <a:schemeClr val="tx1"/>
                          </a:solidFill>
                          <a:latin typeface="Cambria Math" panose="02040503050406030204" pitchFamily="18" charset="0"/>
                        </a:rPr>
                        <m:t>=</m:t>
                      </m:r>
                      <m:d>
                        <m:dPr>
                          <m:ctrlPr>
                            <a:rPr lang="en-US" altLang="zh-CN" sz="1500" i="1" dirty="0">
                              <a:solidFill>
                                <a:schemeClr val="tx1"/>
                              </a:solidFill>
                              <a:latin typeface="Cambria Math" panose="02040503050406030204" pitchFamily="18" charset="0"/>
                            </a:rPr>
                          </m:ctrlPr>
                        </m:dPr>
                        <m:e>
                          <m:r>
                            <a:rPr lang="en-US" altLang="zh-CN" sz="1500" b="1" i="1" dirty="0" smtClean="0">
                              <a:solidFill>
                                <a:schemeClr val="tx1"/>
                              </a:solidFill>
                              <a:latin typeface="Cambria Math" panose="02040503050406030204" pitchFamily="18" charset="0"/>
                            </a:rPr>
                            <m:t>𝒐</m:t>
                          </m:r>
                          <m:r>
                            <a:rPr lang="en-US" altLang="zh-CN" sz="1500" i="1" dirty="0">
                              <a:solidFill>
                                <a:schemeClr val="tx1"/>
                              </a:solidFill>
                              <a:latin typeface="Cambria Math" panose="02040503050406030204" pitchFamily="18" charset="0"/>
                            </a:rPr>
                            <m:t>⋅</m:t>
                          </m:r>
                          <m:r>
                            <a:rPr lang="en-US" altLang="zh-CN" sz="1500" b="0" i="1" dirty="0" smtClean="0">
                              <a:solidFill>
                                <a:schemeClr val="tx1"/>
                              </a:solidFill>
                              <a:latin typeface="Cambria Math" panose="02040503050406030204" pitchFamily="18" charset="0"/>
                            </a:rPr>
                            <m:t>−</m:t>
                          </m:r>
                          <m:r>
                            <a:rPr lang="en-US" altLang="zh-CN" sz="1500" b="1" i="1" dirty="0" smtClean="0">
                              <a:solidFill>
                                <a:schemeClr val="tx1"/>
                              </a:solidFill>
                              <a:latin typeface="Cambria Math" panose="02040503050406030204" pitchFamily="18" charset="0"/>
                            </a:rPr>
                            <m:t>𝒈</m:t>
                          </m:r>
                        </m:e>
                      </m:d>
                      <m:r>
                        <m:rPr>
                          <m:lit/>
                        </m:rPr>
                        <a:rPr lang="en-US" altLang="zh-CN" sz="1500" i="1" dirty="0">
                          <a:solidFill>
                            <a:schemeClr val="tx1"/>
                          </a:solidFill>
                          <a:latin typeface="Cambria Math" panose="02040503050406030204" pitchFamily="18" charset="0"/>
                        </a:rPr>
                        <m:t> </m:t>
                      </m:r>
                      <m:sSub>
                        <m:sSubPr>
                          <m:ctrlPr>
                            <a:rPr lang="en-US" altLang="zh-CN" sz="1500" b="0" i="1" dirty="0" smtClean="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𝐴</m:t>
                          </m:r>
                        </m:e>
                        <m:sub>
                          <m:r>
                            <a:rPr lang="en-US" altLang="zh-CN" sz="1500" b="0" i="1" dirty="0" smtClean="0">
                              <a:solidFill>
                                <a:schemeClr val="tx1"/>
                              </a:solidFill>
                              <a:latin typeface="Cambria Math" panose="02040503050406030204" pitchFamily="18" charset="0"/>
                            </a:rPr>
                            <m:t>𝑀</m:t>
                          </m:r>
                        </m:sub>
                      </m:sSub>
                    </m:oMath>
                  </m:oMathPara>
                </a14:m>
                <a:endParaRPr lang="en-US" altLang="zh-CN" sz="15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zh-CN" altLang="en-US" sz="1500" i="1" dirty="0">
                          <a:solidFill>
                            <a:schemeClr val="tx1"/>
                          </a:solidFill>
                          <a:latin typeface="Cambria Math" panose="02040503050406030204" pitchFamily="18" charset="0"/>
                        </a:rPr>
                        <m:t>消去</m:t>
                      </m:r>
                      <m:sSub>
                        <m:sSubPr>
                          <m:ctrlPr>
                            <a:rPr lang="en-US" altLang="zh-CN" sz="1500" b="0" i="1" dirty="0" smtClean="0">
                              <a:solidFill>
                                <a:schemeClr val="tx1"/>
                              </a:solidFill>
                              <a:latin typeface="Cambria Math" panose="02040503050406030204" pitchFamily="18" charset="0"/>
                            </a:rPr>
                          </m:ctrlPr>
                        </m:sSubPr>
                        <m:e>
                          <m:r>
                            <a:rPr lang="en-US" altLang="zh-CN" sz="1500" b="0" i="1" dirty="0" smtClean="0">
                              <a:solidFill>
                                <a:schemeClr val="tx1"/>
                              </a:solidFill>
                              <a:latin typeface="Cambria Math" panose="02040503050406030204" pitchFamily="18" charset="0"/>
                            </a:rPr>
                            <m:t>𝐴</m:t>
                          </m:r>
                        </m:e>
                        <m:sub>
                          <m:r>
                            <a:rPr lang="en-US" altLang="zh-CN" sz="1500" b="0" i="1" dirty="0" smtClean="0">
                              <a:solidFill>
                                <a:schemeClr val="tx1"/>
                              </a:solidFill>
                              <a:latin typeface="Cambria Math" panose="02040503050406030204" pitchFamily="18" charset="0"/>
                            </a:rPr>
                            <m:t>𝑀</m:t>
                          </m:r>
                        </m:sub>
                      </m:sSub>
                      <m:r>
                        <a:rPr lang="zh-CN" altLang="en-US" sz="1500" i="1" dirty="0">
                          <a:solidFill>
                            <a:schemeClr val="tx1"/>
                          </a:solidFill>
                          <a:latin typeface="Cambria Math" panose="02040503050406030204" pitchFamily="18" charset="0"/>
                        </a:rPr>
                        <m:t>：</m:t>
                      </m:r>
                      <m:nary>
                        <m:naryPr>
                          <m:supHide m:val="on"/>
                          <m:ctrlPr>
                            <a:rPr lang="en-US" altLang="zh-CN" sz="1500" i="1" dirty="0">
                              <a:solidFill>
                                <a:schemeClr val="tx1"/>
                              </a:solidFill>
                              <a:latin typeface="Cambria Math" panose="02040503050406030204" pitchFamily="18" charset="0"/>
                            </a:rPr>
                          </m:ctrlPr>
                        </m:naryPr>
                        <m:sub>
                          <m:sSup>
                            <m:sSupPr>
                              <m:ctrlPr>
                                <a:rPr lang="en-US" altLang="zh-CN" sz="1500" i="1" dirty="0">
                                  <a:solidFill>
                                    <a:schemeClr val="tx1"/>
                                  </a:solidFill>
                                  <a:latin typeface="Cambria Math" panose="02040503050406030204" pitchFamily="18" charset="0"/>
                                </a:rPr>
                              </m:ctrlPr>
                            </m:sSupPr>
                            <m:e>
                              <m:r>
                                <a:rPr lang="en-US" altLang="zh-CN" sz="1500" i="1" dirty="0">
                                  <a:solidFill>
                                    <a:schemeClr val="tx1"/>
                                  </a:solidFill>
                                  <a:latin typeface="Cambria Math" panose="02040503050406030204" pitchFamily="18" charset="0"/>
                                </a:rPr>
                                <m:t>𝐻</m:t>
                              </m:r>
                            </m:e>
                            <m:sup>
                              <m:r>
                                <a:rPr lang="en-US" altLang="zh-CN" sz="1500" i="1" dirty="0">
                                  <a:solidFill>
                                    <a:schemeClr val="tx1"/>
                                  </a:solidFill>
                                  <a:latin typeface="Cambria Math" panose="02040503050406030204" pitchFamily="18" charset="0"/>
                                </a:rPr>
                                <m:t>2</m:t>
                              </m:r>
                            </m:sup>
                          </m:sSup>
                        </m:sub>
                        <m:sup/>
                        <m:e>
                          <m:r>
                            <a:rPr lang="en-US" altLang="zh-CN" sz="1500" i="1" dirty="0">
                              <a:solidFill>
                                <a:schemeClr val="tx1"/>
                              </a:solidFill>
                              <a:latin typeface="Cambria Math" panose="02040503050406030204" pitchFamily="18" charset="0"/>
                            </a:rPr>
                            <m:t>𝐷</m:t>
                          </m:r>
                          <m:d>
                            <m:dPr>
                              <m:ctrlPr>
                                <a:rPr lang="en-US" altLang="zh-CN" sz="1500" i="1" dirty="0">
                                  <a:solidFill>
                                    <a:schemeClr val="tx1"/>
                                  </a:solidFill>
                                  <a:latin typeface="Cambria Math" panose="02040503050406030204" pitchFamily="18" charset="0"/>
                                </a:rPr>
                              </m:ctrlPr>
                            </m:dPr>
                            <m:e>
                              <m:r>
                                <a:rPr lang="en-US" altLang="zh-CN" sz="1500" b="1" i="1" dirty="0">
                                  <a:solidFill>
                                    <a:schemeClr val="tx1"/>
                                  </a:solidFill>
                                  <a:latin typeface="Cambria Math" panose="02040503050406030204" pitchFamily="18" charset="0"/>
                                </a:rPr>
                                <m:t>𝒎</m:t>
                              </m:r>
                            </m:e>
                          </m:d>
                          <m:r>
                            <a:rPr lang="en-US" altLang="zh-CN" sz="1500" i="1" dirty="0">
                              <a:solidFill>
                                <a:schemeClr val="tx1"/>
                              </a:solidFill>
                              <a:latin typeface="Cambria Math" panose="02040503050406030204" pitchFamily="18" charset="0"/>
                            </a:rPr>
                            <m:t> </m:t>
                          </m:r>
                          <m:sSub>
                            <m:sSubPr>
                              <m:ctrlPr>
                                <a:rPr lang="en-US" altLang="zh-CN" sz="1500" i="1" dirty="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𝐺</m:t>
                              </m:r>
                            </m:e>
                            <m:sub>
                              <m:r>
                                <a:rPr lang="en-US" altLang="zh-CN" sz="1500" i="1" dirty="0">
                                  <a:solidFill>
                                    <a:schemeClr val="tx1"/>
                                  </a:solidFill>
                                  <a:latin typeface="Cambria Math" panose="02040503050406030204" pitchFamily="18" charset="0"/>
                                </a:rPr>
                                <m:t>1</m:t>
                              </m:r>
                            </m:sub>
                          </m:sSub>
                          <m:d>
                            <m:dPr>
                              <m:ctrlPr>
                                <a:rPr lang="en-US" altLang="zh-CN" sz="1500" i="1" dirty="0">
                                  <a:solidFill>
                                    <a:schemeClr val="tx1"/>
                                  </a:solidFill>
                                  <a:latin typeface="Cambria Math" panose="02040503050406030204" pitchFamily="18" charset="0"/>
                                </a:rPr>
                              </m:ctrlPr>
                            </m:dPr>
                            <m:e>
                              <m:r>
                                <a:rPr lang="en-US" altLang="zh-CN" sz="1500" b="1" i="1" dirty="0">
                                  <a:solidFill>
                                    <a:schemeClr val="tx1"/>
                                  </a:solidFill>
                                  <a:latin typeface="Cambria Math" panose="02040503050406030204" pitchFamily="18" charset="0"/>
                                </a:rPr>
                                <m:t>𝒐</m:t>
                              </m:r>
                              <m:r>
                                <a:rPr lang="en-US" altLang="zh-CN" sz="1500" i="1" dirty="0">
                                  <a:solidFill>
                                    <a:schemeClr val="tx1"/>
                                  </a:solidFill>
                                  <a:latin typeface="Cambria Math" panose="02040503050406030204" pitchFamily="18" charset="0"/>
                                </a:rPr>
                                <m:t>,</m:t>
                              </m:r>
                              <m:r>
                                <a:rPr lang="en-US" altLang="zh-CN" sz="1500" b="1" i="1" dirty="0">
                                  <a:solidFill>
                                    <a:schemeClr val="tx1"/>
                                  </a:solidFill>
                                  <a:latin typeface="Cambria Math" panose="02040503050406030204" pitchFamily="18" charset="0"/>
                                </a:rPr>
                                <m:t>𝒎</m:t>
                              </m:r>
                            </m:e>
                          </m:d>
                          <m:r>
                            <a:rPr lang="en-US" altLang="zh-CN" sz="1500" i="1" dirty="0">
                              <a:solidFill>
                                <a:schemeClr val="tx1"/>
                              </a:solidFill>
                              <a:latin typeface="Cambria Math" panose="02040503050406030204" pitchFamily="18" charset="0"/>
                            </a:rPr>
                            <m:t> </m:t>
                          </m:r>
                          <m:d>
                            <m:dPr>
                              <m:begChr m:val="⟨"/>
                              <m:endChr m:val="⟩"/>
                              <m:ctrlPr>
                                <a:rPr lang="en-US" altLang="zh-CN" sz="1500" i="1" dirty="0">
                                  <a:solidFill>
                                    <a:schemeClr val="tx1"/>
                                  </a:solidFill>
                                  <a:latin typeface="Cambria Math" panose="02040503050406030204" pitchFamily="18" charset="0"/>
                                </a:rPr>
                              </m:ctrlPr>
                            </m:dPr>
                            <m:e>
                              <m:r>
                                <a:rPr lang="en-US" altLang="zh-CN" sz="1500" b="1" i="1" dirty="0">
                                  <a:solidFill>
                                    <a:schemeClr val="tx1"/>
                                  </a:solidFill>
                                  <a:latin typeface="Cambria Math" panose="02040503050406030204" pitchFamily="18" charset="0"/>
                                </a:rPr>
                                <m:t>𝒐</m:t>
                              </m:r>
                              <m:r>
                                <a:rPr lang="en-US" altLang="zh-CN" sz="1500" i="1" dirty="0">
                                  <a:solidFill>
                                    <a:schemeClr val="tx1"/>
                                  </a:solidFill>
                                  <a:latin typeface="Cambria Math" panose="02040503050406030204" pitchFamily="18" charset="0"/>
                                </a:rPr>
                                <m:t>,</m:t>
                              </m:r>
                              <m:r>
                                <a:rPr lang="en-US" altLang="zh-CN" sz="1500" b="1" i="1" dirty="0" smtClean="0">
                                  <a:solidFill>
                                    <a:schemeClr val="tx1"/>
                                  </a:solidFill>
                                  <a:latin typeface="Cambria Math" panose="02040503050406030204" pitchFamily="18" charset="0"/>
                                </a:rPr>
                                <m:t>−</m:t>
                              </m:r>
                              <m:r>
                                <a:rPr lang="en-US" altLang="zh-CN" sz="1500" b="1" i="1" dirty="0">
                                  <a:solidFill>
                                    <a:schemeClr val="tx1"/>
                                  </a:solidFill>
                                  <a:latin typeface="Cambria Math" panose="02040503050406030204" pitchFamily="18" charset="0"/>
                                </a:rPr>
                                <m:t>𝒎</m:t>
                              </m:r>
                            </m:e>
                          </m:d>
                          <m:r>
                            <a:rPr lang="en-US" altLang="zh-CN" sz="1500" i="1" dirty="0">
                              <a:solidFill>
                                <a:schemeClr val="tx1"/>
                              </a:solidFill>
                              <a:latin typeface="Cambria Math" panose="02040503050406030204" pitchFamily="18" charset="0"/>
                            </a:rPr>
                            <m:t> </m:t>
                          </m:r>
                          <m:r>
                            <a:rPr lang="en-US" altLang="zh-CN" sz="1500" i="1" dirty="0">
                              <a:solidFill>
                                <a:schemeClr val="tx1"/>
                              </a:solidFill>
                              <a:latin typeface="Cambria Math" panose="02040503050406030204" pitchFamily="18" charset="0"/>
                            </a:rPr>
                            <m:t>𝑑</m:t>
                          </m:r>
                          <m:sSub>
                            <m:sSubPr>
                              <m:ctrlPr>
                                <a:rPr lang="en-US" altLang="zh-CN" sz="1500" i="1" dirty="0" err="1">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𝜔</m:t>
                              </m:r>
                            </m:e>
                            <m:sub>
                              <m:r>
                                <a:rPr lang="en-US" altLang="zh-CN" sz="1500" i="1" dirty="0">
                                  <a:solidFill>
                                    <a:schemeClr val="tx1"/>
                                  </a:solidFill>
                                  <a:latin typeface="Cambria Math" panose="02040503050406030204" pitchFamily="18" charset="0"/>
                                </a:rPr>
                                <m:t>𝑚</m:t>
                              </m:r>
                            </m:sub>
                          </m:sSub>
                        </m:e>
                      </m:nary>
                      <m:r>
                        <a:rPr lang="en-US" altLang="zh-CN" sz="1500" i="1" dirty="0">
                          <a:solidFill>
                            <a:schemeClr val="tx1"/>
                          </a:solidFill>
                          <a:latin typeface="Cambria Math" panose="02040503050406030204" pitchFamily="18" charset="0"/>
                        </a:rPr>
                        <m:t>=</m:t>
                      </m:r>
                      <m:d>
                        <m:dPr>
                          <m:ctrlPr>
                            <a:rPr lang="en-US" altLang="zh-CN" sz="1500" i="1" dirty="0">
                              <a:solidFill>
                                <a:schemeClr val="tx1"/>
                              </a:solidFill>
                              <a:latin typeface="Cambria Math" panose="02040503050406030204" pitchFamily="18" charset="0"/>
                            </a:rPr>
                          </m:ctrlPr>
                        </m:dPr>
                        <m:e>
                          <m:r>
                            <a:rPr lang="en-US" altLang="zh-CN" sz="1500" b="1" i="1" dirty="0">
                              <a:solidFill>
                                <a:schemeClr val="tx1"/>
                              </a:solidFill>
                              <a:latin typeface="Cambria Math" panose="02040503050406030204" pitchFamily="18" charset="0"/>
                            </a:rPr>
                            <m:t>𝒐</m:t>
                          </m:r>
                          <m:r>
                            <a:rPr lang="en-US" altLang="zh-CN" sz="1500" i="1" dirty="0">
                              <a:solidFill>
                                <a:schemeClr val="tx1"/>
                              </a:solidFill>
                              <a:latin typeface="Cambria Math" panose="02040503050406030204" pitchFamily="18" charset="0"/>
                            </a:rPr>
                            <m:t>⋅−</m:t>
                          </m:r>
                          <m:r>
                            <a:rPr lang="en-US" altLang="zh-CN" sz="1500" b="1" i="1" dirty="0">
                              <a:solidFill>
                                <a:schemeClr val="tx1"/>
                              </a:solidFill>
                              <a:latin typeface="Cambria Math" panose="02040503050406030204" pitchFamily="18" charset="0"/>
                            </a:rPr>
                            <m:t>𝒈</m:t>
                          </m:r>
                        </m:e>
                      </m:d>
                    </m:oMath>
                  </m:oMathPara>
                </a14:m>
                <a:endParaRPr lang="en-US" altLang="zh-CN" sz="15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zh-CN" altLang="en-US" sz="1500" i="1" dirty="0">
                          <a:solidFill>
                            <a:schemeClr val="tx1"/>
                          </a:solidFill>
                          <a:latin typeface="Cambria Math" panose="02040503050406030204" pitchFamily="18" charset="0"/>
                        </a:rPr>
                        <m:t>整理一下：</m:t>
                      </m:r>
                      <m:nary>
                        <m:naryPr>
                          <m:supHide m:val="on"/>
                          <m:ctrlPr>
                            <a:rPr lang="en-US" altLang="zh-CN" sz="1500" i="1" dirty="0">
                              <a:solidFill>
                                <a:schemeClr val="tx1"/>
                              </a:solidFill>
                              <a:latin typeface="Cambria Math" panose="02040503050406030204" pitchFamily="18" charset="0"/>
                            </a:rPr>
                          </m:ctrlPr>
                        </m:naryPr>
                        <m:sub>
                          <m:sSup>
                            <m:sSupPr>
                              <m:ctrlPr>
                                <a:rPr lang="en-US" altLang="zh-CN" sz="1500" i="1" dirty="0">
                                  <a:solidFill>
                                    <a:schemeClr val="tx1"/>
                                  </a:solidFill>
                                  <a:latin typeface="Cambria Math" panose="02040503050406030204" pitchFamily="18" charset="0"/>
                                </a:rPr>
                              </m:ctrlPr>
                            </m:sSupPr>
                            <m:e>
                              <m:r>
                                <a:rPr lang="en-US" altLang="zh-CN" sz="1500" i="1" dirty="0">
                                  <a:solidFill>
                                    <a:schemeClr val="tx1"/>
                                  </a:solidFill>
                                  <a:latin typeface="Cambria Math" panose="02040503050406030204" pitchFamily="18" charset="0"/>
                                </a:rPr>
                                <m:t>𝐻</m:t>
                              </m:r>
                            </m:e>
                            <m:sup>
                              <m:r>
                                <a:rPr lang="en-US" altLang="zh-CN" sz="1500" i="1" dirty="0">
                                  <a:solidFill>
                                    <a:schemeClr val="tx1"/>
                                  </a:solidFill>
                                  <a:latin typeface="Cambria Math" panose="02040503050406030204" pitchFamily="18" charset="0"/>
                                </a:rPr>
                                <m:t>2</m:t>
                              </m:r>
                            </m:sup>
                          </m:sSup>
                        </m:sub>
                        <m:sup/>
                        <m:e>
                          <m:r>
                            <a:rPr lang="en-US" altLang="zh-CN" sz="1500" i="1" dirty="0">
                              <a:solidFill>
                                <a:schemeClr val="tx1"/>
                              </a:solidFill>
                              <a:latin typeface="Cambria Math" panose="02040503050406030204" pitchFamily="18" charset="0"/>
                            </a:rPr>
                            <m:t>𝐷</m:t>
                          </m:r>
                          <m:d>
                            <m:dPr>
                              <m:ctrlPr>
                                <a:rPr lang="en-US" altLang="zh-CN" sz="1500" i="1" dirty="0">
                                  <a:solidFill>
                                    <a:schemeClr val="tx1"/>
                                  </a:solidFill>
                                  <a:latin typeface="Cambria Math" panose="02040503050406030204" pitchFamily="18" charset="0"/>
                                </a:rPr>
                              </m:ctrlPr>
                            </m:dPr>
                            <m:e>
                              <m:r>
                                <a:rPr lang="en-US" altLang="zh-CN" sz="1500" b="1" i="1" dirty="0">
                                  <a:solidFill>
                                    <a:schemeClr val="tx1"/>
                                  </a:solidFill>
                                  <a:latin typeface="Cambria Math" panose="02040503050406030204" pitchFamily="18" charset="0"/>
                                </a:rPr>
                                <m:t>𝒎</m:t>
                              </m:r>
                            </m:e>
                          </m:d>
                          <m:r>
                            <a:rPr lang="en-US" altLang="zh-CN" sz="1500" i="1" dirty="0">
                              <a:solidFill>
                                <a:schemeClr val="tx1"/>
                              </a:solidFill>
                              <a:latin typeface="Cambria Math" panose="02040503050406030204" pitchFamily="18" charset="0"/>
                            </a:rPr>
                            <m:t> </m:t>
                          </m:r>
                          <m:sSub>
                            <m:sSubPr>
                              <m:ctrlPr>
                                <a:rPr lang="en-US" altLang="zh-CN" sz="1500" i="1" dirty="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𝐺</m:t>
                              </m:r>
                            </m:e>
                            <m:sub>
                              <m:r>
                                <a:rPr lang="en-US" altLang="zh-CN" sz="1500" i="1" dirty="0">
                                  <a:solidFill>
                                    <a:schemeClr val="tx1"/>
                                  </a:solidFill>
                                  <a:latin typeface="Cambria Math" panose="02040503050406030204" pitchFamily="18" charset="0"/>
                                </a:rPr>
                                <m:t>1</m:t>
                              </m:r>
                            </m:sub>
                          </m:sSub>
                          <m:d>
                            <m:dPr>
                              <m:ctrlPr>
                                <a:rPr lang="en-US" altLang="zh-CN" sz="1500" i="1" dirty="0">
                                  <a:solidFill>
                                    <a:schemeClr val="tx1"/>
                                  </a:solidFill>
                                  <a:latin typeface="Cambria Math" panose="02040503050406030204" pitchFamily="18" charset="0"/>
                                </a:rPr>
                              </m:ctrlPr>
                            </m:dPr>
                            <m:e>
                              <m:r>
                                <a:rPr lang="en-US" altLang="zh-CN" sz="1500" b="1" i="1" dirty="0">
                                  <a:solidFill>
                                    <a:schemeClr val="tx1"/>
                                  </a:solidFill>
                                  <a:latin typeface="Cambria Math" panose="02040503050406030204" pitchFamily="18" charset="0"/>
                                </a:rPr>
                                <m:t>𝒐</m:t>
                              </m:r>
                              <m:r>
                                <a:rPr lang="en-US" altLang="zh-CN" sz="1500" i="1" dirty="0">
                                  <a:solidFill>
                                    <a:schemeClr val="tx1"/>
                                  </a:solidFill>
                                  <a:latin typeface="Cambria Math" panose="02040503050406030204" pitchFamily="18" charset="0"/>
                                </a:rPr>
                                <m:t>,</m:t>
                              </m:r>
                              <m:r>
                                <a:rPr lang="en-US" altLang="zh-CN" sz="1500" b="1" i="1" dirty="0">
                                  <a:solidFill>
                                    <a:schemeClr val="tx1"/>
                                  </a:solidFill>
                                  <a:latin typeface="Cambria Math" panose="02040503050406030204" pitchFamily="18" charset="0"/>
                                </a:rPr>
                                <m:t>𝒎</m:t>
                              </m:r>
                            </m:e>
                          </m:d>
                          <m:r>
                            <a:rPr lang="en-US" altLang="zh-CN" sz="1500" i="1" dirty="0">
                              <a:solidFill>
                                <a:schemeClr val="tx1"/>
                              </a:solidFill>
                              <a:latin typeface="Cambria Math" panose="02040503050406030204" pitchFamily="18" charset="0"/>
                            </a:rPr>
                            <m:t> </m:t>
                          </m:r>
                          <m:d>
                            <m:dPr>
                              <m:begChr m:val="⟨"/>
                              <m:endChr m:val="⟩"/>
                              <m:ctrlPr>
                                <a:rPr lang="en-US" altLang="zh-CN" sz="1500" i="1" dirty="0">
                                  <a:solidFill>
                                    <a:schemeClr val="tx1"/>
                                  </a:solidFill>
                                  <a:latin typeface="Cambria Math" panose="02040503050406030204" pitchFamily="18" charset="0"/>
                                </a:rPr>
                              </m:ctrlPr>
                            </m:dPr>
                            <m:e>
                              <m:r>
                                <a:rPr lang="en-US" altLang="zh-CN" sz="1500" b="1" i="1" dirty="0" smtClean="0">
                                  <a:solidFill>
                                    <a:schemeClr val="tx1"/>
                                  </a:solidFill>
                                  <a:latin typeface="Cambria Math" panose="02040503050406030204" pitchFamily="18" charset="0"/>
                                </a:rPr>
                                <m:t>−</m:t>
                              </m:r>
                              <m:r>
                                <a:rPr lang="en-US" altLang="zh-CN" sz="1500" b="1" i="1" dirty="0">
                                  <a:solidFill>
                                    <a:schemeClr val="tx1"/>
                                  </a:solidFill>
                                  <a:latin typeface="Cambria Math" panose="02040503050406030204" pitchFamily="18" charset="0"/>
                                </a:rPr>
                                <m:t>𝒐</m:t>
                              </m:r>
                              <m:r>
                                <a:rPr lang="en-US" altLang="zh-CN" sz="1500" i="1" dirty="0">
                                  <a:solidFill>
                                    <a:schemeClr val="tx1"/>
                                  </a:solidFill>
                                  <a:latin typeface="Cambria Math" panose="02040503050406030204" pitchFamily="18" charset="0"/>
                                </a:rPr>
                                <m:t>,</m:t>
                              </m:r>
                              <m:r>
                                <a:rPr lang="en-US" altLang="zh-CN" sz="1500" b="1" i="1" dirty="0">
                                  <a:solidFill>
                                    <a:schemeClr val="tx1"/>
                                  </a:solidFill>
                                  <a:latin typeface="Cambria Math" panose="02040503050406030204" pitchFamily="18" charset="0"/>
                                </a:rPr>
                                <m:t>𝒎</m:t>
                              </m:r>
                            </m:e>
                          </m:d>
                          <m:r>
                            <a:rPr lang="en-US" altLang="zh-CN" sz="1500" i="1" dirty="0">
                              <a:solidFill>
                                <a:schemeClr val="tx1"/>
                              </a:solidFill>
                              <a:latin typeface="Cambria Math" panose="02040503050406030204" pitchFamily="18" charset="0"/>
                            </a:rPr>
                            <m:t> </m:t>
                          </m:r>
                          <m:r>
                            <a:rPr lang="en-US" altLang="zh-CN" sz="1500" i="1" dirty="0">
                              <a:solidFill>
                                <a:schemeClr val="tx1"/>
                              </a:solidFill>
                              <a:latin typeface="Cambria Math" panose="02040503050406030204" pitchFamily="18" charset="0"/>
                            </a:rPr>
                            <m:t>𝑑</m:t>
                          </m:r>
                          <m:sSub>
                            <m:sSubPr>
                              <m:ctrlPr>
                                <a:rPr lang="en-US" altLang="zh-CN" sz="1500" i="1" dirty="0" err="1">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𝜔</m:t>
                              </m:r>
                            </m:e>
                            <m:sub>
                              <m:r>
                                <a:rPr lang="en-US" altLang="zh-CN" sz="1500" i="1" dirty="0">
                                  <a:solidFill>
                                    <a:schemeClr val="tx1"/>
                                  </a:solidFill>
                                  <a:latin typeface="Cambria Math" panose="02040503050406030204" pitchFamily="18" charset="0"/>
                                </a:rPr>
                                <m:t>𝑚</m:t>
                              </m:r>
                            </m:sub>
                          </m:sSub>
                        </m:e>
                      </m:nary>
                      <m:r>
                        <a:rPr lang="en-US" altLang="zh-CN" sz="1500" i="1" dirty="0">
                          <a:solidFill>
                            <a:schemeClr val="tx1"/>
                          </a:solidFill>
                          <a:latin typeface="Cambria Math" panose="02040503050406030204" pitchFamily="18" charset="0"/>
                        </a:rPr>
                        <m:t>=</m:t>
                      </m:r>
                      <m:d>
                        <m:dPr>
                          <m:begChr m:val="|"/>
                          <m:endChr m:val="|"/>
                          <m:ctrlPr>
                            <a:rPr lang="en-US" altLang="zh-CN" sz="1500" b="0" i="1" dirty="0" smtClean="0">
                              <a:solidFill>
                                <a:schemeClr val="tx1"/>
                              </a:solidFill>
                              <a:latin typeface="Cambria Math" panose="02040503050406030204" pitchFamily="18" charset="0"/>
                            </a:rPr>
                          </m:ctrlPr>
                        </m:dPr>
                        <m:e>
                          <m:r>
                            <a:rPr lang="en-US" altLang="zh-CN" sz="1500" b="1" i="1" dirty="0">
                              <a:solidFill>
                                <a:schemeClr val="tx1"/>
                              </a:solidFill>
                              <a:latin typeface="Cambria Math" panose="02040503050406030204" pitchFamily="18" charset="0"/>
                            </a:rPr>
                            <m:t>𝒐</m:t>
                          </m:r>
                          <m:r>
                            <a:rPr lang="en-US" altLang="zh-CN" sz="1500" i="1" dirty="0">
                              <a:solidFill>
                                <a:schemeClr val="tx1"/>
                              </a:solidFill>
                              <a:latin typeface="Cambria Math" panose="02040503050406030204" pitchFamily="18" charset="0"/>
                            </a:rPr>
                            <m:t>⋅</m:t>
                          </m:r>
                          <m:r>
                            <a:rPr lang="en-US" altLang="zh-CN" sz="1500" b="1" i="1" dirty="0">
                              <a:solidFill>
                                <a:schemeClr val="tx1"/>
                              </a:solidFill>
                              <a:latin typeface="Cambria Math" panose="02040503050406030204" pitchFamily="18" charset="0"/>
                            </a:rPr>
                            <m:t>𝒈</m:t>
                          </m:r>
                        </m:e>
                      </m:d>
                    </m:oMath>
                  </m:oMathPara>
                </a14:m>
                <a:endParaRPr lang="en-US" altLang="zh-CN" sz="1500" dirty="0">
                  <a:solidFill>
                    <a:schemeClr val="tx1"/>
                  </a:solidFill>
                </a:endParaRPr>
              </a:p>
              <a:p>
                <a:pPr>
                  <a:lnSpc>
                    <a:spcPct val="150000"/>
                  </a:lnSpc>
                </a:pPr>
                <a:r>
                  <a:rPr lang="en-US" altLang="zh-CN" sz="1500" b="1" i="1" dirty="0">
                    <a:solidFill>
                      <a:schemeClr val="tx1"/>
                    </a:solidFill>
                    <a:latin typeface="Cambria Math" panose="02040503050406030204" pitchFamily="18" charset="0"/>
                  </a:rPr>
                  <a:t>—————————————————————————————</a:t>
                </a:r>
              </a:p>
              <a:p>
                <a:pPr>
                  <a:lnSpc>
                    <a:spcPct val="150000"/>
                  </a:lnSpc>
                </a:pPr>
                <a14:m>
                  <m:oMathPara xmlns:m="http://schemas.openxmlformats.org/officeDocument/2006/math">
                    <m:oMathParaPr>
                      <m:jc m:val="centerGroup"/>
                    </m:oMathParaPr>
                    <m:oMath xmlns:m="http://schemas.openxmlformats.org/officeDocument/2006/math">
                      <m:r>
                        <a:rPr lang="zh-CN" altLang="en-US" sz="1500" i="1" dirty="0">
                          <a:solidFill>
                            <a:schemeClr val="tx1"/>
                          </a:solidFill>
                          <a:latin typeface="Cambria Math" panose="02040503050406030204" pitchFamily="18" charset="0"/>
                        </a:rPr>
                        <m:t>令</m:t>
                      </m:r>
                      <m:sSup>
                        <m:sSupPr>
                          <m:ctrlPr>
                            <a:rPr lang="en-US" altLang="zh-CN" sz="1500" b="1" i="1" dirty="0" smtClean="0">
                              <a:solidFill>
                                <a:schemeClr val="tx1"/>
                              </a:solidFill>
                              <a:latin typeface="Cambria Math" panose="02040503050406030204" pitchFamily="18" charset="0"/>
                            </a:rPr>
                          </m:ctrlPr>
                        </m:sSupPr>
                        <m:e>
                          <m:r>
                            <a:rPr lang="en-US" altLang="zh-CN" sz="1500" b="1" i="1" dirty="0" smtClean="0">
                              <a:solidFill>
                                <a:schemeClr val="tx1"/>
                              </a:solidFill>
                              <a:latin typeface="Cambria Math" panose="02040503050406030204" pitchFamily="18" charset="0"/>
                            </a:rPr>
                            <m:t>𝒐</m:t>
                          </m:r>
                        </m:e>
                        <m:sup>
                          <m:r>
                            <a:rPr lang="en-US" altLang="zh-CN" sz="1500" b="1" i="1" dirty="0" smtClean="0">
                              <a:solidFill>
                                <a:schemeClr val="tx1"/>
                              </a:solidFill>
                              <a:latin typeface="Cambria Math" panose="02040503050406030204" pitchFamily="18" charset="0"/>
                            </a:rPr>
                            <m:t>+</m:t>
                          </m:r>
                        </m:sup>
                      </m:sSup>
                      <m:r>
                        <a:rPr lang="en-US" altLang="zh-CN" sz="1500" b="0" i="1" dirty="0" smtClean="0">
                          <a:solidFill>
                            <a:schemeClr val="tx1"/>
                          </a:solidFill>
                          <a:latin typeface="Cambria Math" panose="02040503050406030204" pitchFamily="18" charset="0"/>
                        </a:rPr>
                        <m:t>=</m:t>
                      </m:r>
                      <m:d>
                        <m:dPr>
                          <m:begChr m:val="{"/>
                          <m:endChr m:val=""/>
                          <m:ctrlPr>
                            <a:rPr lang="en-US" altLang="zh-CN" sz="1400" i="1" dirty="0">
                              <a:solidFill>
                                <a:schemeClr val="tx1"/>
                              </a:solidFill>
                              <a:latin typeface="Cambria Math" panose="02040503050406030204" pitchFamily="18" charset="0"/>
                            </a:rPr>
                          </m:ctrlPr>
                        </m:dPr>
                        <m:e>
                          <m:eqArr>
                            <m:eqArrPr>
                              <m:ctrlPr>
                                <a:rPr lang="en-US" altLang="zh-CN" sz="1400" i="1" dirty="0">
                                  <a:solidFill>
                                    <a:schemeClr val="tx1"/>
                                  </a:solidFill>
                                  <a:latin typeface="Cambria Math" panose="02040503050406030204" pitchFamily="18" charset="0"/>
                                </a:rPr>
                              </m:ctrlPr>
                            </m:eqArrPr>
                            <m:e>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      </m:t>
                              </m:r>
                              <m:r>
                                <a:rPr lang="en-US" altLang="zh-CN" sz="1400" b="1" i="1" dirty="0" smtClean="0">
                                  <a:solidFill>
                                    <a:schemeClr val="tx1"/>
                                  </a:solidFill>
                                  <a:latin typeface="Cambria Math" panose="02040503050406030204" pitchFamily="18" charset="0"/>
                                </a:rPr>
                                <m:t>𝒐</m:t>
                              </m:r>
                              <m:r>
                                <a:rPr lang="en-US" altLang="zh-CN" sz="1400" b="0" i="1" dirty="0" smtClean="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𝐻</m:t>
                                  </m:r>
                                </m:e>
                                <m:sup>
                                  <m:r>
                                    <a:rPr lang="en-US" altLang="zh-CN" sz="1400" b="0" i="1" dirty="0" smtClean="0">
                                      <a:solidFill>
                                        <a:schemeClr val="tx1"/>
                                      </a:solidFill>
                                      <a:latin typeface="Cambria Math" panose="02040503050406030204" pitchFamily="18" charset="0"/>
                                    </a:rPr>
                                    <m:t>2</m:t>
                                  </m:r>
                                </m:sup>
                              </m:sSup>
                            </m:e>
                            <m:e>
                              <m:r>
                                <a:rPr lang="en-US" altLang="zh-CN" sz="1400" b="0"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𝑜𝑡h𝑒𝑟𝑤𝑖𝑠𝑒</m:t>
                              </m:r>
                            </m:e>
                          </m:eqArr>
                        </m:e>
                      </m:d>
                    </m:oMath>
                  </m:oMathPara>
                </a14:m>
                <a:endParaRPr lang="en-US" altLang="zh-CN" sz="140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合并</m:t>
                      </m:r>
                      <m:r>
                        <a:rPr lang="zh-CN" altLang="en-US" sz="1400" i="1" dirty="0" smtClean="0">
                          <a:solidFill>
                            <a:schemeClr val="tx1"/>
                          </a:solidFill>
                          <a:latin typeface="Cambria Math" panose="02040503050406030204" pitchFamily="18" charset="0"/>
                        </a:rPr>
                        <m:t>两种情况</m:t>
                      </m:r>
                      <m:r>
                        <a:rPr lang="zh-CN" altLang="en-US" sz="1400" i="1" dirty="0">
                          <a:solidFill>
                            <a:schemeClr val="tx1"/>
                          </a:solidFill>
                          <a:latin typeface="Cambria Math" panose="02040503050406030204" pitchFamily="18" charset="0"/>
                        </a:rPr>
                        <m:t>：</m:t>
                      </m:r>
                      <m:nary>
                        <m:naryPr>
                          <m:supHide m:val="on"/>
                          <m:ctrlPr>
                            <a:rPr lang="en-US" altLang="zh-CN" sz="1400" i="1" dirty="0" smtClean="0">
                              <a:solidFill>
                                <a:schemeClr val="tx1"/>
                              </a:solidFill>
                              <a:latin typeface="Cambria Math" panose="02040503050406030204" pitchFamily="18" charset="0"/>
                            </a:rPr>
                          </m:ctrlPr>
                        </m:naryPr>
                        <m:sub>
                          <m:sSup>
                            <m:sSupPr>
                              <m:ctrlPr>
                                <a:rPr lang="en-US" altLang="zh-CN" sz="1400" i="1" dirty="0" smtClean="0">
                                  <a:solidFill>
                                    <a:schemeClr val="tx1"/>
                                  </a:solidFill>
                                  <a:latin typeface="Cambria Math" panose="02040503050406030204" pitchFamily="18" charset="0"/>
                                </a:rPr>
                              </m:ctrlPr>
                            </m:sSupPr>
                            <m:e>
                              <m:r>
                                <a:rPr lang="en-US" altLang="zh-CN" sz="1400" i="1" dirty="0" smtClean="0">
                                  <a:solidFill>
                                    <a:schemeClr val="tx1"/>
                                  </a:solidFill>
                                  <a:latin typeface="Cambria Math" panose="02040503050406030204" pitchFamily="18" charset="0"/>
                                </a:rPr>
                                <m:t>𝐻</m:t>
                              </m:r>
                            </m:e>
                            <m:sup>
                              <m:r>
                                <a:rPr lang="en-US" altLang="zh-CN" sz="1400" i="1" dirty="0" smtClean="0">
                                  <a:solidFill>
                                    <a:schemeClr val="tx1"/>
                                  </a:solidFill>
                                  <a:latin typeface="Cambria Math" panose="02040503050406030204" pitchFamily="18" charset="0"/>
                                </a:rPr>
                                <m:t>2</m:t>
                              </m:r>
                            </m:sup>
                          </m:sSup>
                        </m:sub>
                        <m:sup/>
                        <m:e>
                          <m:r>
                            <a:rPr lang="en-US" altLang="zh-CN" sz="1400" i="1" dirty="0" smtClean="0">
                              <a:solidFill>
                                <a:schemeClr val="tx1"/>
                              </a:solidFill>
                              <a:latin typeface="Cambria Math" panose="02040503050406030204" pitchFamily="18" charset="0"/>
                            </a:rPr>
                            <m:t>𝐷</m:t>
                          </m:r>
                          <m:d>
                            <m:dPr>
                              <m:ctrlPr>
                                <a:rPr lang="en-US" altLang="zh-CN" sz="1400" i="1" dirty="0" smtClean="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m:rPr>
                              <m:lit/>
                            </m:rPr>
                            <a:rPr lang="en-US" altLang="zh-CN" sz="1400" i="1" dirty="0" smtClean="0">
                              <a:solidFill>
                                <a:schemeClr val="tx1"/>
                              </a:solidFill>
                              <a:latin typeface="Cambria Math" panose="02040503050406030204" pitchFamily="18" charset="0"/>
                            </a:rPr>
                            <m:t> </m:t>
                          </m:r>
                          <m:sSub>
                            <m:sSubPr>
                              <m:ctrlPr>
                                <a:rPr lang="en-US" altLang="zh-CN" sz="1400" b="0" i="1" dirty="0" smtClean="0">
                                  <a:solidFill>
                                    <a:schemeClr val="tx1"/>
                                  </a:solidFill>
                                  <a:latin typeface="Cambria Math" panose="02040503050406030204" pitchFamily="18" charset="0"/>
                                </a:rPr>
                              </m:ctrlPr>
                            </m:sSubPr>
                            <m:e>
                              <m:r>
                                <a:rPr lang="en-US" altLang="zh-CN" sz="1400" i="1" dirty="0" smtClean="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Sub>
                          <m:d>
                            <m:dPr>
                              <m:ctrlPr>
                                <a:rPr lang="en-US" altLang="zh-CN" sz="140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smtClean="0">
                                      <a:solidFill>
                                        <a:schemeClr val="tx1"/>
                                      </a:solidFill>
                                      <a:latin typeface="Cambria Math" panose="02040503050406030204" pitchFamily="18" charset="0"/>
                                    </a:rPr>
                                  </m:ctrlPr>
                                </m:sSupPr>
                                <m:e>
                                  <m:r>
                                    <a:rPr lang="en-US" altLang="zh-CN" sz="1400" b="1" i="1" dirty="0" smtClean="0">
                                      <a:solidFill>
                                        <a:schemeClr val="tx1"/>
                                      </a:solidFill>
                                      <a:latin typeface="Cambria Math" panose="02040503050406030204" pitchFamily="18" charset="0"/>
                                    </a:rPr>
                                    <m:t>𝒐</m:t>
                                  </m:r>
                                </m:e>
                                <m:sup>
                                  <m:r>
                                    <a:rPr lang="en-US" altLang="zh-CN" sz="1400" b="1" i="1" dirty="0" smtClean="0">
                                      <a:solidFill>
                                        <a:schemeClr val="tx1"/>
                                      </a:solidFill>
                                      <a:latin typeface="Cambria Math" panose="02040503050406030204" pitchFamily="18" charset="0"/>
                                    </a:rPr>
                                    <m:t>+</m:t>
                                  </m:r>
                                </m:sup>
                              </m:sSup>
                              <m:r>
                                <a:rPr lang="en-US" altLang="zh-CN" sz="1400" b="0"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r>
                            <a:rPr lang="en-US" altLang="zh-CN" sz="1400" i="1" dirty="0" smtClean="0">
                              <a:solidFill>
                                <a:schemeClr val="tx1"/>
                              </a:solidFill>
                              <a:latin typeface="Cambria Math" panose="02040503050406030204" pitchFamily="18" charset="0"/>
                            </a:rPr>
                            <m:t>𝑑</m:t>
                          </m:r>
                          <m:sSub>
                            <m:sSubPr>
                              <m:ctrlPr>
                                <a:rPr lang="en-US" altLang="zh-CN" sz="1400" i="1" dirty="0" err="1" smtClean="0">
                                  <a:solidFill>
                                    <a:schemeClr val="tx1"/>
                                  </a:solidFill>
                                  <a:latin typeface="Cambria Math" panose="02040503050406030204" pitchFamily="18" charset="0"/>
                                </a:rPr>
                              </m:ctrlPr>
                            </m:sSubPr>
                            <m:e>
                              <m:r>
                                <a:rPr lang="en-US" altLang="zh-CN" sz="140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𝑚</m:t>
                              </m:r>
                            </m:sub>
                          </m:sSub>
                        </m:e>
                      </m:nary>
                      <m:r>
                        <a:rPr lang="en-US" altLang="zh-CN" sz="1400" i="1" dirty="0" smtClean="0">
                          <a:solidFill>
                            <a:schemeClr val="tx1"/>
                          </a:solidFill>
                          <a:latin typeface="Cambria Math" panose="02040503050406030204" pitchFamily="18" charset="0"/>
                        </a:rPr>
                        <m:t>=</m:t>
                      </m:r>
                      <m:d>
                        <m:dPr>
                          <m:begChr m:val="|"/>
                          <m:endChr m:val="|"/>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𝒈</m:t>
                          </m:r>
                        </m:e>
                      </m:d>
                    </m:oMath>
                  </m:oMathPara>
                </a14:m>
                <a:endParaRPr lang="en-US" altLang="zh-CN" sz="1500" b="0" dirty="0">
                  <a:solidFill>
                    <a:schemeClr val="tx1"/>
                  </a:solidFill>
                </a:endParaRPr>
              </a:p>
            </p:txBody>
          </p:sp>
        </mc:Choice>
        <mc:Fallback xmlns="">
          <p:sp>
            <p:nvSpPr>
              <p:cNvPr id="3" name="矩形 2">
                <a:extLst>
                  <a:ext uri="{FF2B5EF4-FFF2-40B4-BE49-F238E27FC236}">
                    <a16:creationId xmlns:a16="http://schemas.microsoft.com/office/drawing/2014/main" id="{5BC4D206-092C-44C1-C2E5-D7EDED3E93CA}"/>
                  </a:ext>
                </a:extLst>
              </p:cNvPr>
              <p:cNvSpPr>
                <a:spLocks noRot="1" noChangeAspect="1" noMove="1" noResize="1" noEditPoints="1" noAdjustHandles="1" noChangeArrowheads="1" noChangeShapeType="1" noTextEdit="1"/>
              </p:cNvSpPr>
              <p:nvPr/>
            </p:nvSpPr>
            <p:spPr>
              <a:xfrm>
                <a:off x="478711" y="1060118"/>
                <a:ext cx="5706286" cy="5386745"/>
              </a:xfrm>
              <a:prstGeom prst="rect">
                <a:avLst/>
              </a:prstGeom>
              <a:blipFill>
                <a:blip r:embed="rId2"/>
                <a:stretch>
                  <a:fillRect l="-320"/>
                </a:stretch>
              </a:blipFill>
            </p:spPr>
            <p:txBody>
              <a:bodyPr/>
              <a:lstStyle/>
              <a:p>
                <a:r>
                  <a:rPr lang="zh-CN" altLang="en-US">
                    <a:noFill/>
                  </a:rPr>
                  <a:t> </a:t>
                </a:r>
              </a:p>
            </p:txBody>
          </p:sp>
        </mc:Fallback>
      </mc:AlternateContent>
      <p:grpSp>
        <p:nvGrpSpPr>
          <p:cNvPr id="64" name="组合 63">
            <a:extLst>
              <a:ext uri="{FF2B5EF4-FFF2-40B4-BE49-F238E27FC236}">
                <a16:creationId xmlns:a16="http://schemas.microsoft.com/office/drawing/2014/main" id="{400A44B2-A227-3DE1-FF59-D5274F646376}"/>
              </a:ext>
            </a:extLst>
          </p:cNvPr>
          <p:cNvGrpSpPr/>
          <p:nvPr/>
        </p:nvGrpSpPr>
        <p:grpSpPr>
          <a:xfrm>
            <a:off x="6774127" y="1169274"/>
            <a:ext cx="4308034" cy="3231315"/>
            <a:chOff x="6762531" y="1640384"/>
            <a:chExt cx="4308034" cy="3231315"/>
          </a:xfrm>
        </p:grpSpPr>
        <p:sp>
          <p:nvSpPr>
            <p:cNvPr id="62" name="任意多边形: 形状 61">
              <a:extLst>
                <a:ext uri="{FF2B5EF4-FFF2-40B4-BE49-F238E27FC236}">
                  <a16:creationId xmlns:a16="http://schemas.microsoft.com/office/drawing/2014/main" id="{5BF84224-6457-5510-B049-077706D87B47}"/>
                </a:ext>
              </a:extLst>
            </p:cNvPr>
            <p:cNvSpPr/>
            <p:nvPr/>
          </p:nvSpPr>
          <p:spPr>
            <a:xfrm>
              <a:off x="9381067" y="1659467"/>
              <a:ext cx="406400" cy="520700"/>
            </a:xfrm>
            <a:custGeom>
              <a:avLst/>
              <a:gdLst>
                <a:gd name="connsiteX0" fmla="*/ 406400 w 406400"/>
                <a:gd name="connsiteY0" fmla="*/ 520700 h 520700"/>
                <a:gd name="connsiteX1" fmla="*/ 0 w 406400"/>
                <a:gd name="connsiteY1" fmla="*/ 29633 h 520700"/>
                <a:gd name="connsiteX2" fmla="*/ 71966 w 406400"/>
                <a:gd name="connsiteY2" fmla="*/ 4233 h 520700"/>
                <a:gd name="connsiteX3" fmla="*/ 148166 w 406400"/>
                <a:gd name="connsiteY3" fmla="*/ 0 h 520700"/>
                <a:gd name="connsiteX4" fmla="*/ 203200 w 406400"/>
                <a:gd name="connsiteY4" fmla="*/ 21166 h 520700"/>
                <a:gd name="connsiteX5" fmla="*/ 254000 w 406400"/>
                <a:gd name="connsiteY5" fmla="*/ 80433 h 520700"/>
                <a:gd name="connsiteX6" fmla="*/ 406400 w 406400"/>
                <a:gd name="connsiteY6" fmla="*/ 520700 h 520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6400" h="520700">
                  <a:moveTo>
                    <a:pt x="406400" y="520700"/>
                  </a:moveTo>
                  <a:lnTo>
                    <a:pt x="0" y="29633"/>
                  </a:lnTo>
                  <a:lnTo>
                    <a:pt x="71966" y="4233"/>
                  </a:lnTo>
                  <a:lnTo>
                    <a:pt x="148166" y="0"/>
                  </a:lnTo>
                  <a:lnTo>
                    <a:pt x="203200" y="21166"/>
                  </a:lnTo>
                  <a:lnTo>
                    <a:pt x="254000" y="80433"/>
                  </a:lnTo>
                  <a:lnTo>
                    <a:pt x="406400" y="520700"/>
                  </a:lnTo>
                  <a:close/>
                </a:path>
              </a:pathLst>
            </a:cu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任意多边形: 形状 60">
              <a:extLst>
                <a:ext uri="{FF2B5EF4-FFF2-40B4-BE49-F238E27FC236}">
                  <a16:creationId xmlns:a16="http://schemas.microsoft.com/office/drawing/2014/main" id="{94B12FBF-CBD2-ABBB-9131-6FE17964F659}"/>
                </a:ext>
              </a:extLst>
            </p:cNvPr>
            <p:cNvSpPr/>
            <p:nvPr/>
          </p:nvSpPr>
          <p:spPr>
            <a:xfrm>
              <a:off x="7543800" y="1866900"/>
              <a:ext cx="476786" cy="660400"/>
            </a:xfrm>
            <a:custGeom>
              <a:avLst/>
              <a:gdLst>
                <a:gd name="connsiteX0" fmla="*/ 465667 w 465667"/>
                <a:gd name="connsiteY0" fmla="*/ 660400 h 660400"/>
                <a:gd name="connsiteX1" fmla="*/ 0 w 465667"/>
                <a:gd name="connsiteY1" fmla="*/ 101600 h 660400"/>
                <a:gd name="connsiteX2" fmla="*/ 55033 w 465667"/>
                <a:gd name="connsiteY2" fmla="*/ 33867 h 660400"/>
                <a:gd name="connsiteX3" fmla="*/ 101600 w 465667"/>
                <a:gd name="connsiteY3" fmla="*/ 0 h 660400"/>
                <a:gd name="connsiteX4" fmla="*/ 135467 w 465667"/>
                <a:gd name="connsiteY4" fmla="*/ 0 h 660400"/>
                <a:gd name="connsiteX5" fmla="*/ 160867 w 465667"/>
                <a:gd name="connsiteY5" fmla="*/ 29633 h 660400"/>
                <a:gd name="connsiteX6" fmla="*/ 465667 w 465667"/>
                <a:gd name="connsiteY6" fmla="*/ 660400 h 66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5667" h="660400">
                  <a:moveTo>
                    <a:pt x="465667" y="660400"/>
                  </a:moveTo>
                  <a:lnTo>
                    <a:pt x="0" y="101600"/>
                  </a:lnTo>
                  <a:lnTo>
                    <a:pt x="55033" y="33867"/>
                  </a:lnTo>
                  <a:lnTo>
                    <a:pt x="101600" y="0"/>
                  </a:lnTo>
                  <a:lnTo>
                    <a:pt x="135467" y="0"/>
                  </a:lnTo>
                  <a:lnTo>
                    <a:pt x="160867" y="29633"/>
                  </a:lnTo>
                  <a:lnTo>
                    <a:pt x="465667" y="660400"/>
                  </a:lnTo>
                  <a:close/>
                </a:path>
              </a:pathLst>
            </a:cu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id="{83D27360-3A83-5FC1-BDB9-A55F97AA57B6}"/>
                </a:ext>
              </a:extLst>
            </p:cNvPr>
            <p:cNvSpPr/>
            <p:nvPr/>
          </p:nvSpPr>
          <p:spPr>
            <a:xfrm>
              <a:off x="7380548" y="1640384"/>
              <a:ext cx="3439160" cy="1041945"/>
            </a:xfrm>
            <a:custGeom>
              <a:avLst/>
              <a:gdLst>
                <a:gd name="connsiteX0" fmla="*/ 0 w 3332480"/>
                <a:gd name="connsiteY0" fmla="*/ 1041945 h 1041945"/>
                <a:gd name="connsiteX1" fmla="*/ 279400 w 3332480"/>
                <a:gd name="connsiteY1" fmla="*/ 218985 h 1041945"/>
                <a:gd name="connsiteX2" fmla="*/ 868680 w 3332480"/>
                <a:gd name="connsiteY2" fmla="*/ 1016545 h 1041945"/>
                <a:gd name="connsiteX3" fmla="*/ 2087880 w 3332480"/>
                <a:gd name="connsiteY3" fmla="*/ 5625 h 1041945"/>
                <a:gd name="connsiteX4" fmla="*/ 2494280 w 3332480"/>
                <a:gd name="connsiteY4" fmla="*/ 620305 h 1041945"/>
                <a:gd name="connsiteX5" fmla="*/ 3332480 w 3332480"/>
                <a:gd name="connsiteY5" fmla="*/ 8844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160" h="1041945">
                  <a:moveTo>
                    <a:pt x="0" y="1041945"/>
                  </a:moveTo>
                  <a:cubicBezTo>
                    <a:pt x="67310" y="632581"/>
                    <a:pt x="134620" y="223218"/>
                    <a:pt x="279400" y="218985"/>
                  </a:cubicBezTo>
                  <a:cubicBezTo>
                    <a:pt x="424180" y="214752"/>
                    <a:pt x="567267" y="1052105"/>
                    <a:pt x="868680" y="1016545"/>
                  </a:cubicBezTo>
                  <a:cubicBezTo>
                    <a:pt x="1170093" y="980985"/>
                    <a:pt x="1816947" y="71665"/>
                    <a:pt x="2087880" y="5625"/>
                  </a:cubicBezTo>
                  <a:cubicBezTo>
                    <a:pt x="2358813" y="-60415"/>
                    <a:pt x="2286847" y="473832"/>
                    <a:pt x="2494280" y="620305"/>
                  </a:cubicBezTo>
                  <a:cubicBezTo>
                    <a:pt x="2701713" y="766778"/>
                    <a:pt x="3343487" y="826892"/>
                    <a:pt x="3439160" y="1036865"/>
                  </a:cubicBez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2" name="直接连接符 11">
              <a:extLst>
                <a:ext uri="{FF2B5EF4-FFF2-40B4-BE49-F238E27FC236}">
                  <a16:creationId xmlns:a16="http://schemas.microsoft.com/office/drawing/2014/main" id="{EE6BA7A4-39EC-BD57-EB81-4CD133DB188A}"/>
                </a:ext>
              </a:extLst>
            </p:cNvPr>
            <p:cNvCxnSpPr>
              <a:cxnSpLocks/>
            </p:cNvCxnSpPr>
            <p:nvPr/>
          </p:nvCxnSpPr>
          <p:spPr>
            <a:xfrm>
              <a:off x="10808818" y="2652700"/>
              <a:ext cx="248593" cy="30621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F7539CC9-64F5-92A6-4154-2105DFFDB8AA}"/>
                </a:ext>
              </a:extLst>
            </p:cNvPr>
            <p:cNvCxnSpPr>
              <a:cxnSpLocks/>
            </p:cNvCxnSpPr>
            <p:nvPr/>
          </p:nvCxnSpPr>
          <p:spPr>
            <a:xfrm>
              <a:off x="7536576" y="1953970"/>
              <a:ext cx="1907351" cy="2310071"/>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D19C9778-A4F8-7D93-315E-C1F6D8D68117}"/>
                </a:ext>
              </a:extLst>
            </p:cNvPr>
            <p:cNvCxnSpPr>
              <a:cxnSpLocks/>
            </p:cNvCxnSpPr>
            <p:nvPr/>
          </p:nvCxnSpPr>
          <p:spPr>
            <a:xfrm flipH="1">
              <a:off x="9014825" y="2955066"/>
              <a:ext cx="2055740" cy="167830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6F454039-B2B5-4D36-F093-FCF0577B69A3}"/>
                </a:ext>
              </a:extLst>
            </p:cNvPr>
            <p:cNvCxnSpPr>
              <a:cxnSpLocks/>
            </p:cNvCxnSpPr>
            <p:nvPr/>
          </p:nvCxnSpPr>
          <p:spPr>
            <a:xfrm>
              <a:off x="7399855" y="2682329"/>
              <a:ext cx="1614970" cy="1955959"/>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7E8D2B78-C845-5D8D-763B-BAD595C1B670}"/>
                </a:ext>
              </a:extLst>
            </p:cNvPr>
            <p:cNvCxnSpPr/>
            <p:nvPr/>
          </p:nvCxnSpPr>
          <p:spPr>
            <a:xfrm>
              <a:off x="10020385" y="3826980"/>
              <a:ext cx="314960" cy="381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0E3E3397-5B94-7A3E-8AD1-17766BAA2B39}"/>
                </a:ext>
              </a:extLst>
            </p:cNvPr>
            <p:cNvCxnSpPr>
              <a:cxnSpLocks/>
            </p:cNvCxnSpPr>
            <p:nvPr/>
          </p:nvCxnSpPr>
          <p:spPr>
            <a:xfrm flipH="1" flipV="1">
              <a:off x="8641756" y="1928213"/>
              <a:ext cx="216870" cy="233549"/>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60D67068-1D4D-9B44-3F52-B914B73D3F15}"/>
                </a:ext>
              </a:extLst>
            </p:cNvPr>
            <p:cNvCxnSpPr>
              <a:cxnSpLocks/>
            </p:cNvCxnSpPr>
            <p:nvPr/>
          </p:nvCxnSpPr>
          <p:spPr>
            <a:xfrm flipH="1" flipV="1">
              <a:off x="7160363" y="2308082"/>
              <a:ext cx="283170" cy="66348"/>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F29907CB-4B46-3FB0-BA53-48FF49FB2117}"/>
                    </a:ext>
                  </a:extLst>
                </p:cNvPr>
                <p:cNvSpPr txBox="1"/>
                <p:nvPr/>
              </p:nvSpPr>
              <p:spPr>
                <a:xfrm>
                  <a:off x="6946948" y="2332680"/>
                  <a:ext cx="439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23" name="文本框 22">
                  <a:extLst>
                    <a:ext uri="{FF2B5EF4-FFF2-40B4-BE49-F238E27FC236}">
                      <a16:creationId xmlns:a16="http://schemas.microsoft.com/office/drawing/2014/main" id="{F29907CB-4B46-3FB0-BA53-48FF49FB2117}"/>
                    </a:ext>
                  </a:extLst>
                </p:cNvPr>
                <p:cNvSpPr txBox="1">
                  <a:spLocks noRot="1" noChangeAspect="1" noMove="1" noResize="1" noEditPoints="1" noAdjustHandles="1" noChangeArrowheads="1" noChangeShapeType="1" noTextEdit="1"/>
                </p:cNvSpPr>
                <p:nvPr/>
              </p:nvSpPr>
              <p:spPr>
                <a:xfrm>
                  <a:off x="6946948" y="2332680"/>
                  <a:ext cx="439977" cy="30777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036E4328-AEDA-85FE-0443-0A67155FD9B0}"/>
                    </a:ext>
                  </a:extLst>
                </p:cNvPr>
                <p:cNvSpPr txBox="1"/>
                <p:nvPr/>
              </p:nvSpPr>
              <p:spPr>
                <a:xfrm>
                  <a:off x="8535402" y="1646193"/>
                  <a:ext cx="439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rPr>
                          <m:t>𝒎</m:t>
                        </m:r>
                      </m:oMath>
                    </m:oMathPara>
                  </a14:m>
                  <a:endParaRPr lang="zh-CN" altLang="en-US" sz="1400" b="1" dirty="0"/>
                </a:p>
              </p:txBody>
            </p:sp>
          </mc:Choice>
          <mc:Fallback xmlns="">
            <p:sp>
              <p:nvSpPr>
                <p:cNvPr id="25" name="文本框 24">
                  <a:extLst>
                    <a:ext uri="{FF2B5EF4-FFF2-40B4-BE49-F238E27FC236}">
                      <a16:creationId xmlns:a16="http://schemas.microsoft.com/office/drawing/2014/main" id="{036E4328-AEDA-85FE-0443-0A67155FD9B0}"/>
                    </a:ext>
                  </a:extLst>
                </p:cNvPr>
                <p:cNvSpPr txBox="1">
                  <a:spLocks noRot="1" noChangeAspect="1" noMove="1" noResize="1" noEditPoints="1" noAdjustHandles="1" noChangeArrowheads="1" noChangeShapeType="1" noTextEdit="1"/>
                </p:cNvSpPr>
                <p:nvPr/>
              </p:nvSpPr>
              <p:spPr>
                <a:xfrm>
                  <a:off x="8535402" y="1646193"/>
                  <a:ext cx="439977" cy="307777"/>
                </a:xfrm>
                <a:prstGeom prst="rect">
                  <a:avLst/>
                </a:prstGeom>
                <a:blipFill>
                  <a:blip r:embed="rId4"/>
                  <a:stretch>
                    <a:fillRect/>
                  </a:stretch>
                </a:blipFill>
              </p:spPr>
              <p:txBody>
                <a:bodyPr/>
                <a:lstStyle/>
                <a:p>
                  <a:r>
                    <a:rPr lang="zh-CN" altLang="en-US">
                      <a:noFill/>
                    </a:rPr>
                    <a:t> </a:t>
                  </a:r>
                </a:p>
              </p:txBody>
            </p:sp>
          </mc:Fallback>
        </mc:AlternateContent>
        <p:cxnSp>
          <p:nvCxnSpPr>
            <p:cNvPr id="26" name="直接连接符 25">
              <a:extLst>
                <a:ext uri="{FF2B5EF4-FFF2-40B4-BE49-F238E27FC236}">
                  <a16:creationId xmlns:a16="http://schemas.microsoft.com/office/drawing/2014/main" id="{723401F0-374B-430A-2256-320786876F64}"/>
                </a:ext>
              </a:extLst>
            </p:cNvPr>
            <p:cNvCxnSpPr>
              <a:cxnSpLocks/>
            </p:cNvCxnSpPr>
            <p:nvPr/>
          </p:nvCxnSpPr>
          <p:spPr>
            <a:xfrm>
              <a:off x="7380548" y="2682329"/>
              <a:ext cx="34556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696F7205-6A3F-EAC0-639B-045BB98DE7A2}"/>
                    </a:ext>
                  </a:extLst>
                </p:cNvPr>
                <p:cNvSpPr txBox="1"/>
                <p:nvPr/>
              </p:nvSpPr>
              <p:spPr>
                <a:xfrm>
                  <a:off x="6762531" y="3994706"/>
                  <a:ext cx="2070360"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𝑝𝑟𝑜𝑗𝑒𝑐𝑡𝑒𝑑</m:t>
                        </m:r>
                        <m:r>
                          <a:rPr lang="en-US" altLang="zh-CN" sz="1600" b="0" i="1" smtClean="0">
                            <a:solidFill>
                              <a:schemeClr val="tx1"/>
                            </a:solidFill>
                            <a:latin typeface="Cambria Math" panose="02040503050406030204" pitchFamily="18" charset="0"/>
                          </a:rPr>
                          <m:t> </m:t>
                        </m:r>
                        <m:r>
                          <a:rPr lang="en-US" altLang="zh-CN" sz="1600" b="0" i="1" smtClean="0">
                            <a:solidFill>
                              <a:schemeClr val="tx1"/>
                            </a:solidFill>
                            <a:latin typeface="Cambria Math" panose="02040503050406030204" pitchFamily="18" charset="0"/>
                          </a:rPr>
                          <m:t>𝑎𝑟𝑒𝑎</m:t>
                        </m:r>
                      </m:oMath>
                    </m:oMathPara>
                  </a14:m>
                  <a:endParaRPr lang="en-US" altLang="zh-CN" sz="16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     =</m:t>
                        </m:r>
                        <m:d>
                          <m:dPr>
                            <m:begChr m:val="|"/>
                            <m:endChr m:val="|"/>
                            <m:ctrlPr>
                              <a:rPr lang="en-US" altLang="zh-CN" sz="1600" b="0" i="1" smtClean="0">
                                <a:solidFill>
                                  <a:schemeClr val="tx1"/>
                                </a:solidFill>
                                <a:latin typeface="Cambria Math" panose="02040503050406030204" pitchFamily="18" charset="0"/>
                              </a:rPr>
                            </m:ctrlPr>
                          </m:dPr>
                          <m:e>
                            <m:r>
                              <a:rPr lang="en-US" altLang="zh-CN" sz="1600" b="1" i="1" smtClean="0">
                                <a:latin typeface="Cambria Math" panose="02040503050406030204" pitchFamily="18" charset="0"/>
                              </a:rPr>
                              <m:t>𝒐</m:t>
                            </m:r>
                            <m:r>
                              <a:rPr lang="en-US" altLang="zh-CN" sz="1600" i="1">
                                <a:latin typeface="Cambria Math" panose="02040503050406030204" pitchFamily="18" charset="0"/>
                              </a:rPr>
                              <m:t>⋅</m:t>
                            </m:r>
                            <m:r>
                              <a:rPr lang="en-US" altLang="zh-CN" sz="1600" b="1" i="1" smtClean="0">
                                <a:latin typeface="Cambria Math" panose="02040503050406030204" pitchFamily="18" charset="0"/>
                              </a:rPr>
                              <m:t>𝒈</m:t>
                            </m:r>
                          </m:e>
                        </m:d>
                        <m:r>
                          <a:rPr lang="en-US" altLang="zh-CN" sz="1600" b="0" i="1" smtClean="0">
                            <a:solidFill>
                              <a:schemeClr val="tx1"/>
                            </a:solidFill>
                            <a:latin typeface="Cambria Math" panose="02040503050406030204" pitchFamily="18" charset="0"/>
                          </a:rPr>
                          <m:t> </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𝐴</m:t>
                            </m:r>
                          </m:e>
                          <m:sub>
                            <m:r>
                              <a:rPr lang="en-US" altLang="zh-CN" sz="1600" b="0" i="1" smtClean="0">
                                <a:solidFill>
                                  <a:schemeClr val="tx1"/>
                                </a:solidFill>
                                <a:latin typeface="Cambria Math" panose="02040503050406030204" pitchFamily="18" charset="0"/>
                              </a:rPr>
                              <m:t>𝑀</m:t>
                            </m:r>
                          </m:sub>
                        </m:sSub>
                      </m:oMath>
                    </m:oMathPara>
                  </a14:m>
                  <a:endParaRPr lang="zh-CN" altLang="en-US" sz="1600" dirty="0"/>
                </a:p>
              </p:txBody>
            </p:sp>
          </mc:Choice>
          <mc:Fallback xmlns="">
            <p:sp>
              <p:nvSpPr>
                <p:cNvPr id="7" name="文本框 6">
                  <a:extLst>
                    <a:ext uri="{FF2B5EF4-FFF2-40B4-BE49-F238E27FC236}">
                      <a16:creationId xmlns:a16="http://schemas.microsoft.com/office/drawing/2014/main" id="{696F7205-6A3F-EAC0-639B-045BB98DE7A2}"/>
                    </a:ext>
                  </a:extLst>
                </p:cNvPr>
                <p:cNvSpPr txBox="1">
                  <a:spLocks noRot="1" noChangeAspect="1" noMove="1" noResize="1" noEditPoints="1" noAdjustHandles="1" noChangeArrowheads="1" noChangeShapeType="1" noTextEdit="1"/>
                </p:cNvSpPr>
                <p:nvPr/>
              </p:nvSpPr>
              <p:spPr>
                <a:xfrm>
                  <a:off x="6762531" y="3994706"/>
                  <a:ext cx="2070360" cy="584775"/>
                </a:xfrm>
                <a:prstGeom prst="rect">
                  <a:avLst/>
                </a:prstGeom>
                <a:blipFill>
                  <a:blip r:embed="rId5"/>
                  <a:stretch>
                    <a:fillRect b="-3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687DB399-9D3E-1E5D-C6C7-1CAB5C8F320D}"/>
                    </a:ext>
                  </a:extLst>
                </p:cNvPr>
                <p:cNvSpPr txBox="1"/>
                <p:nvPr/>
              </p:nvSpPr>
              <p:spPr>
                <a:xfrm>
                  <a:off x="9012569" y="4502367"/>
                  <a:ext cx="205799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𝑀𝑎𝑐𝑟𝑜</m:t>
                        </m:r>
                        <m:r>
                          <a:rPr lang="en-US" altLang="zh-CN" sz="1800" b="0" i="1" smtClean="0">
                            <a:solidFill>
                              <a:schemeClr val="tx1"/>
                            </a:solidFill>
                            <a:latin typeface="Cambria Math" panose="02040503050406030204" pitchFamily="18" charset="0"/>
                          </a:rPr>
                          <m:t> </m:t>
                        </m:r>
                        <m:r>
                          <a:rPr lang="en-US" altLang="zh-CN" sz="1800" b="0" i="1" smtClean="0">
                            <a:solidFill>
                              <a:schemeClr val="tx1"/>
                            </a:solidFill>
                            <a:latin typeface="Cambria Math" panose="02040503050406030204" pitchFamily="18" charset="0"/>
                          </a:rPr>
                          <m:t>𝑆𝑢𝑟𝑓𝑎𝑐𝑒</m:t>
                        </m:r>
                        <m:r>
                          <a:rPr lang="en-US" altLang="zh-CN" sz="1800" b="0" i="1" smtClean="0">
                            <a:solidFill>
                              <a:schemeClr val="tx1"/>
                            </a:solidFill>
                            <a:latin typeface="Cambria Math" panose="02040503050406030204" pitchFamily="18" charset="0"/>
                          </a:rPr>
                          <m:t>  </m:t>
                        </m:r>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𝐴</m:t>
                            </m:r>
                          </m:e>
                          <m:sub>
                            <m:r>
                              <a:rPr lang="en-US" altLang="zh-CN" sz="1800" b="0" i="1" smtClean="0">
                                <a:solidFill>
                                  <a:schemeClr val="tx1"/>
                                </a:solidFill>
                                <a:latin typeface="Cambria Math" panose="02040503050406030204" pitchFamily="18" charset="0"/>
                              </a:rPr>
                              <m:t>𝑀</m:t>
                            </m:r>
                          </m:sub>
                        </m:sSub>
                      </m:oMath>
                    </m:oMathPara>
                  </a14:m>
                  <a:endParaRPr lang="zh-CN" altLang="en-US" dirty="0"/>
                </a:p>
              </p:txBody>
            </p:sp>
          </mc:Choice>
          <mc:Fallback xmlns="">
            <p:sp>
              <p:nvSpPr>
                <p:cNvPr id="8" name="文本框 7">
                  <a:extLst>
                    <a:ext uri="{FF2B5EF4-FFF2-40B4-BE49-F238E27FC236}">
                      <a16:creationId xmlns:a16="http://schemas.microsoft.com/office/drawing/2014/main" id="{687DB399-9D3E-1E5D-C6C7-1CAB5C8F320D}"/>
                    </a:ext>
                  </a:extLst>
                </p:cNvPr>
                <p:cNvSpPr txBox="1">
                  <a:spLocks noRot="1" noChangeAspect="1" noMove="1" noResize="1" noEditPoints="1" noAdjustHandles="1" noChangeArrowheads="1" noChangeShapeType="1" noTextEdit="1"/>
                </p:cNvSpPr>
                <p:nvPr/>
              </p:nvSpPr>
              <p:spPr>
                <a:xfrm>
                  <a:off x="9012569" y="4502367"/>
                  <a:ext cx="2057996" cy="369332"/>
                </a:xfrm>
                <a:prstGeom prst="rect">
                  <a:avLst/>
                </a:prstGeom>
                <a:blipFill>
                  <a:blip r:embed="rId6"/>
                  <a:stretch>
                    <a:fillRect l="-888" r="-888" b="-14754"/>
                  </a:stretch>
                </a:blipFill>
              </p:spPr>
              <p:txBody>
                <a:bodyPr/>
                <a:lstStyle/>
                <a:p>
                  <a:r>
                    <a:rPr lang="zh-CN" altLang="en-US">
                      <a:noFill/>
                    </a:rPr>
                    <a:t> </a:t>
                  </a:r>
                </a:p>
              </p:txBody>
            </p:sp>
          </mc:Fallback>
        </mc:AlternateContent>
        <p:cxnSp>
          <p:nvCxnSpPr>
            <p:cNvPr id="46" name="直接连接符 45">
              <a:extLst>
                <a:ext uri="{FF2B5EF4-FFF2-40B4-BE49-F238E27FC236}">
                  <a16:creationId xmlns:a16="http://schemas.microsoft.com/office/drawing/2014/main" id="{57472D68-A7D0-740E-22D7-0BE7B0E04E0D}"/>
                </a:ext>
              </a:extLst>
            </p:cNvPr>
            <p:cNvCxnSpPr>
              <a:cxnSpLocks/>
            </p:cNvCxnSpPr>
            <p:nvPr/>
          </p:nvCxnSpPr>
          <p:spPr>
            <a:xfrm>
              <a:off x="9373442" y="1683837"/>
              <a:ext cx="1299363" cy="15737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B4A091E7-7A50-05D9-C8F5-195F5EA5C07D}"/>
                </a:ext>
              </a:extLst>
            </p:cNvPr>
            <p:cNvCxnSpPr>
              <a:cxnSpLocks/>
            </p:cNvCxnSpPr>
            <p:nvPr/>
          </p:nvCxnSpPr>
          <p:spPr>
            <a:xfrm flipV="1">
              <a:off x="10315695" y="2112899"/>
              <a:ext cx="98305" cy="301798"/>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DDBF9AB9-3139-75B6-9536-A18262C62617}"/>
                    </a:ext>
                  </a:extLst>
                </p:cNvPr>
                <p:cNvSpPr txBox="1"/>
                <p:nvPr/>
              </p:nvSpPr>
              <p:spPr>
                <a:xfrm>
                  <a:off x="10391961" y="2007467"/>
                  <a:ext cx="439977"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a:latin typeface="Cambria Math" panose="02040503050406030204" pitchFamily="18" charset="0"/>
                          </a:rPr>
                          <m:t>𝒎</m:t>
                        </m:r>
                      </m:oMath>
                    </m:oMathPara>
                  </a14:m>
                  <a:endParaRPr lang="zh-CN" altLang="en-US" sz="1400" b="1" dirty="0"/>
                </a:p>
              </p:txBody>
            </p:sp>
          </mc:Choice>
          <mc:Fallback xmlns="">
            <p:sp>
              <p:nvSpPr>
                <p:cNvPr id="53" name="文本框 52">
                  <a:extLst>
                    <a:ext uri="{FF2B5EF4-FFF2-40B4-BE49-F238E27FC236}">
                      <a16:creationId xmlns:a16="http://schemas.microsoft.com/office/drawing/2014/main" id="{DDBF9AB9-3139-75B6-9536-A18262C62617}"/>
                    </a:ext>
                  </a:extLst>
                </p:cNvPr>
                <p:cNvSpPr txBox="1">
                  <a:spLocks noRot="1" noChangeAspect="1" noMove="1" noResize="1" noEditPoints="1" noAdjustHandles="1" noChangeArrowheads="1" noChangeShapeType="1" noTextEdit="1"/>
                </p:cNvSpPr>
                <p:nvPr/>
              </p:nvSpPr>
              <p:spPr>
                <a:xfrm>
                  <a:off x="10391961" y="2007467"/>
                  <a:ext cx="439977" cy="30777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135EC464-2B7B-7551-8752-BBC8E57CFC5E}"/>
                    </a:ext>
                  </a:extLst>
                </p:cNvPr>
                <p:cNvSpPr txBox="1"/>
                <p:nvPr/>
              </p:nvSpPr>
              <p:spPr>
                <a:xfrm>
                  <a:off x="10311140" y="3810040"/>
                  <a:ext cx="439977"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𝒐</m:t>
                        </m:r>
                      </m:oMath>
                    </m:oMathPara>
                  </a14:m>
                  <a:endParaRPr lang="zh-CN" altLang="en-US" b="1" dirty="0"/>
                </a:p>
              </p:txBody>
            </p:sp>
          </mc:Choice>
          <mc:Fallback xmlns="">
            <p:sp>
              <p:nvSpPr>
                <p:cNvPr id="63" name="文本框 62">
                  <a:extLst>
                    <a:ext uri="{FF2B5EF4-FFF2-40B4-BE49-F238E27FC236}">
                      <a16:creationId xmlns:a16="http://schemas.microsoft.com/office/drawing/2014/main" id="{135EC464-2B7B-7551-8752-BBC8E57CFC5E}"/>
                    </a:ext>
                  </a:extLst>
                </p:cNvPr>
                <p:cNvSpPr txBox="1">
                  <a:spLocks noRot="1" noChangeAspect="1" noMove="1" noResize="1" noEditPoints="1" noAdjustHandles="1" noChangeArrowheads="1" noChangeShapeType="1" noTextEdit="1"/>
                </p:cNvSpPr>
                <p:nvPr/>
              </p:nvSpPr>
              <p:spPr>
                <a:xfrm>
                  <a:off x="10311140" y="3810040"/>
                  <a:ext cx="439977" cy="369332"/>
                </a:xfrm>
                <a:prstGeom prst="rect">
                  <a:avLst/>
                </a:prstGeom>
                <a:blipFill>
                  <a:blip r:embed="rId8"/>
                  <a:stretch>
                    <a:fillRect/>
                  </a:stretch>
                </a:blipFill>
              </p:spPr>
              <p:txBody>
                <a:bodyPr/>
                <a:lstStyle/>
                <a:p>
                  <a:r>
                    <a:rPr lang="zh-CN" altLang="en-US">
                      <a:noFill/>
                    </a:rPr>
                    <a:t> </a:t>
                  </a:r>
                </a:p>
              </p:txBody>
            </p:sp>
          </mc:Fallback>
        </mc:AlternateContent>
      </p:grpSp>
      <p:sp>
        <p:nvSpPr>
          <p:cNvPr id="66" name="矩形 65">
            <a:extLst>
              <a:ext uri="{FF2B5EF4-FFF2-40B4-BE49-F238E27FC236}">
                <a16:creationId xmlns:a16="http://schemas.microsoft.com/office/drawing/2014/main" id="{0C372271-897A-52BF-B815-A78DEA7562B0}"/>
              </a:ext>
            </a:extLst>
          </p:cNvPr>
          <p:cNvSpPr/>
          <p:nvPr/>
        </p:nvSpPr>
        <p:spPr>
          <a:xfrm>
            <a:off x="6623147" y="5083496"/>
            <a:ext cx="4994356" cy="1528359"/>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7" name="矩形 66">
                <a:extLst>
                  <a:ext uri="{FF2B5EF4-FFF2-40B4-BE49-F238E27FC236}">
                    <a16:creationId xmlns:a16="http://schemas.microsoft.com/office/drawing/2014/main" id="{F7BD6053-5562-E4BD-BCE3-9830EB796724}"/>
                  </a:ext>
                </a:extLst>
              </p:cNvPr>
              <p:cNvSpPr/>
              <p:nvPr/>
            </p:nvSpPr>
            <p:spPr>
              <a:xfrm>
                <a:off x="6489797" y="4912046"/>
                <a:ext cx="4994356" cy="1528359"/>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zh-CN" b="0" dirty="0">
                    <a:solidFill>
                      <a:schemeClr val="tx1"/>
                    </a:solidFill>
                  </a:rPr>
                  <a:t>        </a:t>
                </a:r>
                <a14:m>
                  <m:oMath xmlns:m="http://schemas.openxmlformats.org/officeDocument/2006/math">
                    <m:r>
                      <a:rPr lang="en-US" altLang="zh-CN" b="1" i="1" dirty="0" smtClean="0">
                        <a:solidFill>
                          <a:schemeClr val="tx1"/>
                        </a:solidFill>
                        <a:latin typeface="Cambria Math" panose="02040503050406030204" pitchFamily="18" charset="0"/>
                      </a:rPr>
                      <m:t>𝒐</m:t>
                    </m:r>
                  </m:oMath>
                </a14:m>
                <a:r>
                  <a:rPr lang="zh-CN" altLang="en-US" dirty="0">
                    <a:solidFill>
                      <a:schemeClr val="tx1"/>
                    </a:solidFill>
                  </a:rPr>
                  <a:t>位于微表面下方时，只有</a:t>
                </a:r>
                <a14:m>
                  <m:oMath xmlns:m="http://schemas.openxmlformats.org/officeDocument/2006/math">
                    <m:r>
                      <a:rPr lang="en-US" altLang="zh-CN" sz="1800" b="1" i="1" dirty="0" smtClean="0">
                        <a:solidFill>
                          <a:schemeClr val="tx1"/>
                        </a:solidFill>
                        <a:latin typeface="Cambria Math" panose="02040503050406030204" pitchFamily="18" charset="0"/>
                      </a:rPr>
                      <m:t>𝒐</m:t>
                    </m:r>
                    <m:r>
                      <a:rPr lang="en-US" altLang="zh-CN" sz="1800" b="0" i="1" dirty="0" smtClean="0">
                        <a:solidFill>
                          <a:schemeClr val="tx1"/>
                        </a:solidFill>
                        <a:latin typeface="Cambria Math" panose="02040503050406030204" pitchFamily="18" charset="0"/>
                      </a:rPr>
                      <m:t>⋅</m:t>
                    </m:r>
                    <m:r>
                      <a:rPr lang="en-US" altLang="zh-CN" sz="1800" b="1" i="1" dirty="0" smtClean="0">
                        <a:solidFill>
                          <a:schemeClr val="tx1"/>
                        </a:solidFill>
                        <a:latin typeface="Cambria Math" panose="02040503050406030204" pitchFamily="18" charset="0"/>
                      </a:rPr>
                      <m:t>𝒎</m:t>
                    </m:r>
                    <m:r>
                      <a:rPr lang="en-US" altLang="zh-CN" sz="1800" b="0" i="1" dirty="0" smtClean="0">
                        <a:solidFill>
                          <a:schemeClr val="tx1"/>
                        </a:solidFill>
                        <a:latin typeface="Cambria Math" panose="02040503050406030204" pitchFamily="18" charset="0"/>
                      </a:rPr>
                      <m:t>&lt;0</m:t>
                    </m:r>
                  </m:oMath>
                </a14:m>
                <a:r>
                  <a:rPr lang="zh-CN" altLang="en-US" dirty="0">
                    <a:solidFill>
                      <a:schemeClr val="tx1"/>
                    </a:solidFill>
                  </a:rPr>
                  <a:t>的微面可以被看见。</a:t>
                </a:r>
                <a:endParaRPr lang="en-US" altLang="zh-CN" dirty="0">
                  <a:solidFill>
                    <a:schemeClr val="tx1"/>
                  </a:solidFill>
                </a:endParaRPr>
              </a:p>
              <a:p>
                <a:r>
                  <a:rPr lang="zh-CN" altLang="en-US" dirty="0">
                    <a:solidFill>
                      <a:schemeClr val="tx1"/>
                    </a:solidFill>
                  </a:rPr>
                  <a:t>        对于任意的</a:t>
                </a:r>
                <a14:m>
                  <m:oMath xmlns:m="http://schemas.openxmlformats.org/officeDocument/2006/math">
                    <m:r>
                      <a:rPr lang="en-US" altLang="zh-CN" sz="1800" b="1" i="1" dirty="0" smtClean="0">
                        <a:solidFill>
                          <a:schemeClr val="tx1"/>
                        </a:solidFill>
                        <a:latin typeface="Cambria Math" panose="02040503050406030204" pitchFamily="18" charset="0"/>
                      </a:rPr>
                      <m:t>𝒐</m:t>
                    </m:r>
                  </m:oMath>
                </a14:m>
                <a:r>
                  <a:rPr lang="zh-CN" altLang="en-US" dirty="0">
                    <a:solidFill>
                      <a:schemeClr val="tx1"/>
                    </a:solidFill>
                  </a:rPr>
                  <a:t>，只有</a:t>
                </a:r>
                <a14:m>
                  <m:oMath xmlns:m="http://schemas.openxmlformats.org/officeDocument/2006/math">
                    <m:sSup>
                      <m:sSupPr>
                        <m:ctrlPr>
                          <a:rPr lang="en-US" altLang="zh-CN" b="1" i="1" dirty="0" smtClean="0">
                            <a:solidFill>
                              <a:schemeClr val="tx1"/>
                            </a:solidFill>
                            <a:latin typeface="Cambria Math" panose="02040503050406030204" pitchFamily="18" charset="0"/>
                          </a:rPr>
                        </m:ctrlPr>
                      </m:sSupPr>
                      <m:e>
                        <m:r>
                          <a:rPr lang="en-US" altLang="zh-CN" b="1" i="1" dirty="0" smtClean="0">
                            <a:solidFill>
                              <a:schemeClr val="tx1"/>
                            </a:solidFill>
                            <a:latin typeface="Cambria Math" panose="02040503050406030204" pitchFamily="18" charset="0"/>
                          </a:rPr>
                          <m:t>𝒐</m:t>
                        </m:r>
                      </m:e>
                      <m:sup>
                        <m:r>
                          <a:rPr lang="en-US" altLang="zh-CN" b="1" i="1" dirty="0" smtClean="0">
                            <a:solidFill>
                              <a:schemeClr val="tx1"/>
                            </a:solidFill>
                            <a:latin typeface="Cambria Math" panose="02040503050406030204" pitchFamily="18" charset="0"/>
                          </a:rPr>
                          <m:t>+</m:t>
                        </m:r>
                      </m:sup>
                    </m:sSup>
                    <m:r>
                      <a:rPr lang="en-US" altLang="zh-CN" b="0"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𝒎</m:t>
                    </m:r>
                    <m:r>
                      <a:rPr lang="en-US" altLang="zh-CN" b="0" i="1" dirty="0" smtClean="0">
                        <a:solidFill>
                          <a:schemeClr val="tx1"/>
                        </a:solidFill>
                        <a:latin typeface="Cambria Math" panose="02040503050406030204" pitchFamily="18" charset="0"/>
                      </a:rPr>
                      <m:t>&gt;0</m:t>
                    </m:r>
                  </m:oMath>
                </a14:m>
                <a:r>
                  <a:rPr lang="zh-CN" altLang="en-US" dirty="0">
                    <a:solidFill>
                      <a:schemeClr val="tx1"/>
                    </a:solidFill>
                  </a:rPr>
                  <a:t>的微面可以被看到。</a:t>
                </a:r>
              </a:p>
            </p:txBody>
          </p:sp>
        </mc:Choice>
        <mc:Fallback xmlns="">
          <p:sp>
            <p:nvSpPr>
              <p:cNvPr id="67" name="矩形 66">
                <a:extLst>
                  <a:ext uri="{FF2B5EF4-FFF2-40B4-BE49-F238E27FC236}">
                    <a16:creationId xmlns:a16="http://schemas.microsoft.com/office/drawing/2014/main" id="{F7BD6053-5562-E4BD-BCE3-9830EB796724}"/>
                  </a:ext>
                </a:extLst>
              </p:cNvPr>
              <p:cNvSpPr>
                <a:spLocks noRot="1" noChangeAspect="1" noMove="1" noResize="1" noEditPoints="1" noAdjustHandles="1" noChangeArrowheads="1" noChangeShapeType="1" noTextEdit="1"/>
              </p:cNvSpPr>
              <p:nvPr/>
            </p:nvSpPr>
            <p:spPr>
              <a:xfrm>
                <a:off x="6489797" y="4912046"/>
                <a:ext cx="4994356" cy="1528359"/>
              </a:xfrm>
              <a:prstGeom prst="rect">
                <a:avLst/>
              </a:prstGeom>
              <a:blipFill>
                <a:blip r:embed="rId9"/>
                <a:stretch>
                  <a:fillRect l="-9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790307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370749-B627-1EB6-8EE1-71D0C9437936}"/>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A72B0033-9B77-6AE6-6D07-1B90437AC258}"/>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掩蔽函数的另一个约束</a:t>
            </a:r>
            <a:endParaRPr lang="en-US" altLang="zh-CN" dirty="0"/>
          </a:p>
        </p:txBody>
      </p:sp>
      <p:pic>
        <p:nvPicPr>
          <p:cNvPr id="54" name="图片 53">
            <a:extLst>
              <a:ext uri="{FF2B5EF4-FFF2-40B4-BE49-F238E27FC236}">
                <a16:creationId xmlns:a16="http://schemas.microsoft.com/office/drawing/2014/main" id="{72F1BA76-97E3-F0CC-697E-3C07A2B46F92}"/>
              </a:ext>
            </a:extLst>
          </p:cNvPr>
          <p:cNvPicPr>
            <a:picLocks noChangeAspect="1"/>
          </p:cNvPicPr>
          <p:nvPr/>
        </p:nvPicPr>
        <p:blipFill>
          <a:blip r:embed="rId2"/>
          <a:srcRect t="-2" b="-1189"/>
          <a:stretch/>
        </p:blipFill>
        <p:spPr>
          <a:xfrm>
            <a:off x="4567918" y="1064694"/>
            <a:ext cx="7471922" cy="5197503"/>
          </a:xfrm>
          <a:prstGeom prst="rect">
            <a:avLst/>
          </a:prstGeom>
        </p:spPr>
      </p:pic>
      <p:sp>
        <p:nvSpPr>
          <p:cNvPr id="57" name="文本框 56">
            <a:extLst>
              <a:ext uri="{FF2B5EF4-FFF2-40B4-BE49-F238E27FC236}">
                <a16:creationId xmlns:a16="http://schemas.microsoft.com/office/drawing/2014/main" id="{F113652D-C57F-4621-0143-2A96C2113EC1}"/>
              </a:ext>
            </a:extLst>
          </p:cNvPr>
          <p:cNvSpPr txBox="1"/>
          <p:nvPr/>
        </p:nvSpPr>
        <p:spPr>
          <a:xfrm>
            <a:off x="7006889" y="6077531"/>
            <a:ext cx="2593980" cy="369332"/>
          </a:xfrm>
          <a:prstGeom prst="rect">
            <a:avLst/>
          </a:prstGeom>
          <a:noFill/>
        </p:spPr>
        <p:txBody>
          <a:bodyPr wrap="none" rtlCol="0">
            <a:spAutoFit/>
          </a:bodyPr>
          <a:lstStyle/>
          <a:p>
            <a:pPr algn="ctr"/>
            <a:r>
              <a:rPr lang="en-US" altLang="zh-CN" b="0" i="0" dirty="0">
                <a:solidFill>
                  <a:srgbClr val="212529"/>
                </a:solidFill>
                <a:effectLst/>
                <a:latin typeface="Domine"/>
              </a:rPr>
              <a:t>Heitz </a:t>
            </a:r>
            <a:r>
              <a:rPr lang="en-US" altLang="zh-CN" dirty="0">
                <a:solidFill>
                  <a:srgbClr val="212529"/>
                </a:solidFill>
                <a:latin typeface="Domine"/>
              </a:rPr>
              <a:t>(2014) </a:t>
            </a:r>
            <a:r>
              <a:rPr lang="en-US" altLang="zh-CN" dirty="0">
                <a:solidFill>
                  <a:srgbClr val="212529"/>
                </a:solidFill>
                <a:latin typeface="Domine"/>
                <a:hlinkClick r:id="rId3" action="ppaction://hlinksldjump"/>
              </a:rPr>
              <a:t>5</a:t>
            </a:r>
            <a:r>
              <a:rPr lang="zh-CN" altLang="en-US" dirty="0">
                <a:solidFill>
                  <a:srgbClr val="212529"/>
                </a:solidFill>
                <a:latin typeface="Domine"/>
              </a:rPr>
              <a:t>，</a:t>
            </a:r>
            <a:r>
              <a:rPr lang="en-US" altLang="zh-CN" dirty="0">
                <a:solidFill>
                  <a:srgbClr val="212529"/>
                </a:solidFill>
                <a:latin typeface="Domine"/>
              </a:rPr>
              <a:t>Figure 4.</a:t>
            </a:r>
            <a:endParaRPr lang="zh-CN" altLang="en-US" dirty="0"/>
          </a:p>
        </p:txBody>
      </p:sp>
      <p:sp>
        <p:nvSpPr>
          <p:cNvPr id="63" name="矩形 62">
            <a:extLst>
              <a:ext uri="{FF2B5EF4-FFF2-40B4-BE49-F238E27FC236}">
                <a16:creationId xmlns:a16="http://schemas.microsoft.com/office/drawing/2014/main" id="{213CA474-E9D9-8EB3-46DD-D8444811E2CA}"/>
              </a:ext>
            </a:extLst>
          </p:cNvPr>
          <p:cNvSpPr/>
          <p:nvPr/>
        </p:nvSpPr>
        <p:spPr>
          <a:xfrm>
            <a:off x="631110" y="1315233"/>
            <a:ext cx="3995261" cy="5302819"/>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ECA0836A-E349-A17F-90F4-685DDE16D0B6}"/>
                  </a:ext>
                </a:extLst>
              </p:cNvPr>
              <p:cNvSpPr/>
              <p:nvPr/>
            </p:nvSpPr>
            <p:spPr>
              <a:xfrm>
                <a:off x="478710" y="1144044"/>
                <a:ext cx="3995261" cy="5302819"/>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600" dirty="0">
                    <a:solidFill>
                      <a:schemeClr val="tx1"/>
                    </a:solidFill>
                  </a:rPr>
                  <a:t>        可以看到，</a:t>
                </a:r>
                <a14:m>
                  <m:oMath xmlns:m="http://schemas.openxmlformats.org/officeDocument/2006/math">
                    <m:r>
                      <a:rPr lang="en-US" altLang="zh-CN" sz="1600" i="1" dirty="0" smtClean="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oMath>
                </a14:m>
                <a:r>
                  <a:rPr lang="zh-CN" altLang="en-US" sz="1600" b="0" dirty="0">
                    <a:solidFill>
                      <a:schemeClr val="tx1"/>
                    </a:solidFill>
                  </a:rPr>
                  <a:t>相同的两种微表面对应着截然不同的掩蔽函数</a:t>
                </a:r>
                <a14:m>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b="0" i="1" dirty="0" smtClean="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oMath>
                </a14:m>
                <a:r>
                  <a:rPr lang="zh-CN" altLang="en-US" sz="1600" b="0" dirty="0">
                    <a:solidFill>
                      <a:schemeClr val="tx1"/>
                    </a:solidFill>
                  </a:rPr>
                  <a:t>。</a:t>
                </a:r>
                <a:r>
                  <a:rPr lang="zh-CN" altLang="en-US" sz="1600" dirty="0">
                    <a:solidFill>
                      <a:schemeClr val="tx1"/>
                    </a:solidFill>
                  </a:rPr>
                  <a:t>而且它们对光的反射行为也截然不同。</a:t>
                </a:r>
                <a:endParaRPr lang="en-US" altLang="zh-CN" sz="1600" b="0" dirty="0">
                  <a:solidFill>
                    <a:schemeClr val="tx1"/>
                  </a:solidFill>
                </a:endParaRPr>
              </a:p>
              <a:p>
                <a:pPr>
                  <a:lnSpc>
                    <a:spcPct val="150000"/>
                  </a:lnSpc>
                </a:pPr>
                <a:endParaRPr lang="en-US" altLang="zh-CN" sz="1600" b="0" dirty="0">
                  <a:solidFill>
                    <a:schemeClr val="tx1"/>
                  </a:solidFill>
                </a:endParaRPr>
              </a:p>
              <a:p>
                <a:pPr>
                  <a:lnSpc>
                    <a:spcPct val="150000"/>
                  </a:lnSpc>
                </a:pPr>
                <a:r>
                  <a:rPr lang="zh-CN" altLang="en-US" sz="1600" dirty="0">
                    <a:solidFill>
                      <a:schemeClr val="tx1"/>
                    </a:solidFill>
                  </a:rPr>
                  <a:t>        这是</a:t>
                </a:r>
                <a:r>
                  <a:rPr lang="zh-CN" altLang="en-US" sz="1600" b="0" dirty="0">
                    <a:solidFill>
                      <a:schemeClr val="tx1"/>
                    </a:solidFill>
                  </a:rPr>
                  <a:t>因为</a:t>
                </a:r>
                <a14:m>
                  <m:oMath xmlns:m="http://schemas.openxmlformats.org/officeDocument/2006/math">
                    <m:r>
                      <a:rPr lang="en-US" altLang="zh-CN" sz="1600" i="1" dirty="0" smtClean="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oMath>
                </a14:m>
                <a:r>
                  <a:rPr lang="zh-CN" altLang="en-US" sz="1600" dirty="0">
                    <a:solidFill>
                      <a:schemeClr val="tx1"/>
                    </a:solidFill>
                  </a:rPr>
                  <a:t>仅仅给出了微面法线的分布情况，而无法决定微面之间的位置关系。如果我们能用一种办法，描述出各个微面之间的位置关系（组织形式），那么便可以与</a:t>
                </a:r>
                <a14:m>
                  <m:oMath xmlns:m="http://schemas.openxmlformats.org/officeDocument/2006/math">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oMath>
                </a14:m>
                <a:r>
                  <a:rPr lang="zh-CN" altLang="en-US" sz="1600" b="0" dirty="0">
                    <a:solidFill>
                      <a:schemeClr val="tx1"/>
                    </a:solidFill>
                  </a:rPr>
                  <a:t>一同确定出唯一的</a:t>
                </a:r>
                <a:r>
                  <a:rPr lang="zh-CN" altLang="en-US" sz="1600" dirty="0">
                    <a:solidFill>
                      <a:schemeClr val="tx1"/>
                    </a:solidFill>
                  </a:rPr>
                  <a:t>掩蔽函数</a:t>
                </a:r>
                <a14:m>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b="0" i="1" dirty="0" smtClean="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oMath>
                </a14:m>
                <a:r>
                  <a:rPr lang="zh-CN" altLang="en-US" sz="1600" b="0" dirty="0">
                    <a:solidFill>
                      <a:schemeClr val="tx1"/>
                    </a:solidFill>
                  </a:rPr>
                  <a:t>。</a:t>
                </a:r>
                <a:endParaRPr lang="en-US" altLang="zh-CN" sz="1600" dirty="0">
                  <a:solidFill>
                    <a:schemeClr val="tx1"/>
                  </a:solidFill>
                </a:endParaRPr>
              </a:p>
              <a:p>
                <a:pPr>
                  <a:lnSpc>
                    <a:spcPct val="150000"/>
                  </a:lnSpc>
                </a:pPr>
                <a:endParaRPr lang="en-US" altLang="zh-CN" sz="1600" b="0" dirty="0">
                  <a:solidFill>
                    <a:schemeClr val="tx1"/>
                  </a:solidFill>
                </a:endParaRPr>
              </a:p>
              <a:p>
                <a:pPr>
                  <a:lnSpc>
                    <a:spcPct val="150000"/>
                  </a:lnSpc>
                </a:pPr>
                <a:r>
                  <a:rPr lang="en-US" altLang="zh-CN" sz="1600" b="0" dirty="0">
                    <a:solidFill>
                      <a:schemeClr val="tx1"/>
                    </a:solidFill>
                  </a:rPr>
                  <a:t>        </a:t>
                </a:r>
                <a:r>
                  <a:rPr lang="zh-CN" altLang="en-US" sz="1600" b="0" dirty="0">
                    <a:solidFill>
                      <a:schemeClr val="tx1"/>
                    </a:solidFill>
                  </a:rPr>
                  <a:t>因此</a:t>
                </a:r>
                <a14:m>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i="1" dirty="0" smtClean="0">
                            <a:solidFill>
                              <a:schemeClr val="tx1"/>
                            </a:solidFill>
                            <a:latin typeface="Cambria Math" panose="02040503050406030204" pitchFamily="18" charset="0"/>
                          </a:rPr>
                          <m:t>𝐺</m:t>
                        </m:r>
                      </m:e>
                      <m:sub>
                        <m:r>
                          <a:rPr lang="en-US" altLang="zh-CN" sz="1600" b="0" i="1" dirty="0" smtClean="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oMath>
                </a14:m>
                <a:r>
                  <a:rPr lang="zh-CN" altLang="en-US" sz="1600" b="0" dirty="0">
                    <a:solidFill>
                      <a:schemeClr val="tx1"/>
                    </a:solidFill>
                  </a:rPr>
                  <a:t>的第二个约束就是微表面上微面的组织形式</a:t>
                </a:r>
                <a:r>
                  <a:rPr lang="zh-CN" altLang="en-US" sz="1600" dirty="0">
                    <a:solidFill>
                      <a:schemeClr val="tx1"/>
                    </a:solidFill>
                  </a:rPr>
                  <a:t>。</a:t>
                </a:r>
                <a:endParaRPr lang="en-US" altLang="zh-CN" sz="1600" b="0" dirty="0">
                  <a:solidFill>
                    <a:schemeClr val="tx1"/>
                  </a:solidFill>
                </a:endParaRPr>
              </a:p>
              <a:p>
                <a:pPr>
                  <a:lnSpc>
                    <a:spcPct val="150000"/>
                  </a:lnSpc>
                </a:pPr>
                <a:endParaRPr lang="en-US" altLang="zh-CN" sz="1600" b="0" dirty="0">
                  <a:solidFill>
                    <a:schemeClr val="tx1"/>
                  </a:solidFill>
                </a:endParaRPr>
              </a:p>
            </p:txBody>
          </p:sp>
        </mc:Choice>
        <mc:Fallback xmlns="">
          <p:sp>
            <p:nvSpPr>
              <p:cNvPr id="64" name="矩形 63">
                <a:extLst>
                  <a:ext uri="{FF2B5EF4-FFF2-40B4-BE49-F238E27FC236}">
                    <a16:creationId xmlns:a16="http://schemas.microsoft.com/office/drawing/2014/main" id="{ECA0836A-E349-A17F-90F4-685DDE16D0B6}"/>
                  </a:ext>
                </a:extLst>
              </p:cNvPr>
              <p:cNvSpPr>
                <a:spLocks noRot="1" noChangeAspect="1" noMove="1" noResize="1" noEditPoints="1" noAdjustHandles="1" noChangeArrowheads="1" noChangeShapeType="1" noTextEdit="1"/>
              </p:cNvSpPr>
              <p:nvPr/>
            </p:nvSpPr>
            <p:spPr>
              <a:xfrm>
                <a:off x="478710" y="1144044"/>
                <a:ext cx="3995261" cy="5302819"/>
              </a:xfrm>
              <a:prstGeom prst="rect">
                <a:avLst/>
              </a:prstGeom>
              <a:blipFill>
                <a:blip r:embed="rId4"/>
                <a:stretch>
                  <a:fillRect l="-7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455596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43D2B-B744-4CD7-45F3-D3B53F1E7887}"/>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8E40C483-0867-553E-8D16-BF6E1A1F0ED2}"/>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微面的组织形式 </a:t>
            </a:r>
            <a:r>
              <a:rPr lang="en-US" altLang="zh-CN" dirty="0"/>
              <a:t>—— Smith Models</a:t>
            </a:r>
          </a:p>
        </p:txBody>
      </p:sp>
      <p:sp>
        <p:nvSpPr>
          <p:cNvPr id="63" name="矩形 62">
            <a:extLst>
              <a:ext uri="{FF2B5EF4-FFF2-40B4-BE49-F238E27FC236}">
                <a16:creationId xmlns:a16="http://schemas.microsoft.com/office/drawing/2014/main" id="{FBCED381-5AD4-D0EA-F405-0D656991304B}"/>
              </a:ext>
            </a:extLst>
          </p:cNvPr>
          <p:cNvSpPr/>
          <p:nvPr/>
        </p:nvSpPr>
        <p:spPr>
          <a:xfrm>
            <a:off x="631110" y="1315233"/>
            <a:ext cx="5274390" cy="5302819"/>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p:sp>
        <p:nvSpPr>
          <p:cNvPr id="64" name="矩形 63">
            <a:extLst>
              <a:ext uri="{FF2B5EF4-FFF2-40B4-BE49-F238E27FC236}">
                <a16:creationId xmlns:a16="http://schemas.microsoft.com/office/drawing/2014/main" id="{9CBA7D08-5BC0-9B83-9E91-4E66D9BCE153}"/>
              </a:ext>
            </a:extLst>
          </p:cNvPr>
          <p:cNvSpPr/>
          <p:nvPr/>
        </p:nvSpPr>
        <p:spPr>
          <a:xfrm>
            <a:off x="478710" y="1144044"/>
            <a:ext cx="5274390" cy="5302819"/>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600" b="0" dirty="0">
                <a:solidFill>
                  <a:schemeClr val="tx1"/>
                </a:solidFill>
              </a:rPr>
              <a:t>        微面的组织形式有多种多样，在这里，我们将采用</a:t>
            </a:r>
            <a:r>
              <a:rPr lang="en-US" altLang="zh-CN" sz="1600" b="0" i="0" dirty="0">
                <a:solidFill>
                  <a:srgbClr val="212529"/>
                </a:solidFill>
                <a:effectLst/>
                <a:latin typeface="Domine"/>
              </a:rPr>
              <a:t>Smith (1967) </a:t>
            </a:r>
            <a:r>
              <a:rPr lang="en-US" altLang="zh-CN" sz="1600" b="0" i="0" dirty="0">
                <a:solidFill>
                  <a:srgbClr val="212529"/>
                </a:solidFill>
                <a:effectLst/>
                <a:latin typeface="Domine"/>
                <a:hlinkClick r:id="rId2" action="ppaction://hlinksldjump"/>
              </a:rPr>
              <a:t>3</a:t>
            </a:r>
            <a:r>
              <a:rPr lang="en-US" altLang="zh-CN" sz="1600" b="0" i="0" dirty="0">
                <a:solidFill>
                  <a:srgbClr val="212529"/>
                </a:solidFill>
                <a:effectLst/>
                <a:latin typeface="Domine"/>
              </a:rPr>
              <a:t> </a:t>
            </a:r>
            <a:r>
              <a:rPr lang="zh-CN" altLang="en-US" sz="1600" dirty="0">
                <a:solidFill>
                  <a:srgbClr val="212529"/>
                </a:solidFill>
                <a:latin typeface="Domine"/>
              </a:rPr>
              <a:t>所假设的组织形式：微面 相对于宏观表面的高度 与 法线朝向 是两个互相独立的随机变量，距离相近的两点，不论距离有多近，它们 相对于宏观表面的高度 以及 法线朝向 没有相关性。</a:t>
            </a:r>
            <a:endParaRPr lang="en-US" altLang="zh-CN" sz="1600" dirty="0">
              <a:solidFill>
                <a:srgbClr val="212529"/>
              </a:solidFill>
              <a:latin typeface="Domine"/>
            </a:endParaRPr>
          </a:p>
          <a:p>
            <a:pPr>
              <a:lnSpc>
                <a:spcPct val="150000"/>
              </a:lnSpc>
            </a:pPr>
            <a:r>
              <a:rPr lang="en-US" altLang="zh-CN" sz="1600" dirty="0">
                <a:solidFill>
                  <a:srgbClr val="212529"/>
                </a:solidFill>
                <a:latin typeface="Domine"/>
              </a:rPr>
              <a:t>        </a:t>
            </a:r>
            <a:r>
              <a:rPr lang="zh-CN" altLang="en-US" sz="1600" dirty="0">
                <a:solidFill>
                  <a:srgbClr val="212529"/>
                </a:solidFill>
                <a:latin typeface="Domine"/>
              </a:rPr>
              <a:t>这种组织形式隐含了微表面不是由连续的微面组成，而是由一组随机分布的微面组成。</a:t>
            </a:r>
            <a:endParaRPr lang="en-US" altLang="zh-CN" sz="1600" dirty="0">
              <a:solidFill>
                <a:srgbClr val="212529"/>
              </a:solidFill>
              <a:latin typeface="Domine"/>
            </a:endParaRPr>
          </a:p>
          <a:p>
            <a:pPr>
              <a:lnSpc>
                <a:spcPct val="150000"/>
              </a:lnSpc>
            </a:pPr>
            <a:r>
              <a:rPr lang="en-US" altLang="zh-CN" sz="1200" b="0" dirty="0">
                <a:solidFill>
                  <a:srgbClr val="212529"/>
                </a:solidFill>
                <a:latin typeface="Domine"/>
              </a:rPr>
              <a:t>        PBR 4</a:t>
            </a:r>
            <a:r>
              <a:rPr lang="en-US" altLang="zh-CN" sz="1200" b="0" baseline="30000" dirty="0">
                <a:solidFill>
                  <a:srgbClr val="212529"/>
                </a:solidFill>
                <a:latin typeface="Domine"/>
              </a:rPr>
              <a:t>th</a:t>
            </a:r>
            <a:r>
              <a:rPr lang="zh-CN" altLang="en-US" sz="1200" b="0" dirty="0">
                <a:solidFill>
                  <a:srgbClr val="212529"/>
                </a:solidFill>
                <a:latin typeface="Domine"/>
              </a:rPr>
              <a:t>：</a:t>
            </a:r>
            <a:r>
              <a:rPr lang="en-US" altLang="zh-CN" sz="1200" b="0" i="0" dirty="0">
                <a:solidFill>
                  <a:srgbClr val="212529"/>
                </a:solidFill>
                <a:effectLst/>
                <a:latin typeface="Domine"/>
              </a:rPr>
              <a:t> the material conceptually turns from a connected surface into an opaque soup of little surface fragments that float in space (hence the name “microfacets”).</a:t>
            </a:r>
          </a:p>
          <a:p>
            <a:pPr>
              <a:lnSpc>
                <a:spcPct val="150000"/>
              </a:lnSpc>
            </a:pPr>
            <a:r>
              <a:rPr lang="en-US" altLang="zh-CN" sz="1200" dirty="0">
                <a:solidFill>
                  <a:srgbClr val="212529"/>
                </a:solidFill>
                <a:latin typeface="Domine"/>
              </a:rPr>
              <a:t>        Heitz (2014)</a:t>
            </a:r>
            <a:r>
              <a:rPr lang="zh-CN" altLang="en-US" sz="1200" dirty="0">
                <a:solidFill>
                  <a:srgbClr val="212529"/>
                </a:solidFill>
                <a:latin typeface="Domine"/>
              </a:rPr>
              <a:t>：</a:t>
            </a:r>
            <a:r>
              <a:rPr lang="en-US" altLang="zh-CN" sz="1200" dirty="0">
                <a:solidFill>
                  <a:srgbClr val="212529"/>
                </a:solidFill>
                <a:latin typeface="Domine"/>
              </a:rPr>
              <a:t> there is no correlation between the height  (or the normal) at one point of the </a:t>
            </a:r>
            <a:r>
              <a:rPr lang="en-US" altLang="zh-CN" sz="1200" dirty="0" err="1">
                <a:solidFill>
                  <a:srgbClr val="212529"/>
                </a:solidFill>
                <a:latin typeface="Domine"/>
              </a:rPr>
              <a:t>microsurface</a:t>
            </a:r>
            <a:r>
              <a:rPr lang="en-US" altLang="zh-CN" sz="1200" dirty="0">
                <a:solidFill>
                  <a:srgbClr val="212529"/>
                </a:solidFill>
                <a:latin typeface="Domine"/>
              </a:rPr>
              <a:t> and the height (or the normal) at any  neighboring point, even the closest ones. This implies a random set of microfacets  rather than a continuous surface—as shown in Figure 7(right), where the heights and  the </a:t>
            </a:r>
            <a:r>
              <a:rPr lang="en-US" altLang="zh-CN" sz="1200" dirty="0" err="1">
                <a:solidFill>
                  <a:srgbClr val="212529"/>
                </a:solidFill>
                <a:latin typeface="Domine"/>
              </a:rPr>
              <a:t>normals</a:t>
            </a:r>
            <a:r>
              <a:rPr lang="en-US" altLang="zh-CN" sz="1200" dirty="0">
                <a:solidFill>
                  <a:srgbClr val="212529"/>
                </a:solidFill>
                <a:latin typeface="Domine"/>
              </a:rPr>
              <a:t> of the </a:t>
            </a:r>
            <a:r>
              <a:rPr lang="en-US" altLang="zh-CN" sz="1200" dirty="0" err="1">
                <a:solidFill>
                  <a:srgbClr val="212529"/>
                </a:solidFill>
                <a:latin typeface="Domine"/>
              </a:rPr>
              <a:t>microsurface</a:t>
            </a:r>
            <a:r>
              <a:rPr lang="en-US" altLang="zh-CN" sz="1200" dirty="0">
                <a:solidFill>
                  <a:srgbClr val="212529"/>
                </a:solidFill>
                <a:latin typeface="Domine"/>
              </a:rPr>
              <a:t> are independent random variables.</a:t>
            </a:r>
            <a:endParaRPr lang="en-US" altLang="zh-CN" sz="1200" b="0" dirty="0">
              <a:solidFill>
                <a:schemeClr val="tx1"/>
              </a:solidFill>
            </a:endParaRPr>
          </a:p>
        </p:txBody>
      </p:sp>
      <p:pic>
        <p:nvPicPr>
          <p:cNvPr id="3" name="图片 2">
            <a:extLst>
              <a:ext uri="{FF2B5EF4-FFF2-40B4-BE49-F238E27FC236}">
                <a16:creationId xmlns:a16="http://schemas.microsoft.com/office/drawing/2014/main" id="{D776BF1D-B700-A545-165D-4C6490520939}"/>
              </a:ext>
            </a:extLst>
          </p:cNvPr>
          <p:cNvPicPr>
            <a:picLocks noChangeAspect="1"/>
          </p:cNvPicPr>
          <p:nvPr/>
        </p:nvPicPr>
        <p:blipFill>
          <a:blip r:embed="rId3"/>
          <a:stretch>
            <a:fillRect/>
          </a:stretch>
        </p:blipFill>
        <p:spPr>
          <a:xfrm>
            <a:off x="6096000" y="4385981"/>
            <a:ext cx="5950256" cy="1784442"/>
          </a:xfrm>
          <a:prstGeom prst="rect">
            <a:avLst/>
          </a:prstGeom>
        </p:spPr>
      </p:pic>
      <p:sp>
        <p:nvSpPr>
          <p:cNvPr id="4" name="文本框 3">
            <a:extLst>
              <a:ext uri="{FF2B5EF4-FFF2-40B4-BE49-F238E27FC236}">
                <a16:creationId xmlns:a16="http://schemas.microsoft.com/office/drawing/2014/main" id="{C3DCE6E7-8664-8274-B018-BB988EDD9BB8}"/>
              </a:ext>
            </a:extLst>
          </p:cNvPr>
          <p:cNvSpPr txBox="1"/>
          <p:nvPr/>
        </p:nvSpPr>
        <p:spPr>
          <a:xfrm>
            <a:off x="7800587" y="6248720"/>
            <a:ext cx="2541081" cy="369332"/>
          </a:xfrm>
          <a:prstGeom prst="rect">
            <a:avLst/>
          </a:prstGeom>
          <a:noFill/>
        </p:spPr>
        <p:txBody>
          <a:bodyPr wrap="none" rtlCol="0">
            <a:spAutoFit/>
          </a:bodyPr>
          <a:lstStyle/>
          <a:p>
            <a:pPr algn="ctr"/>
            <a:r>
              <a:rPr lang="en-US" altLang="zh-CN" b="0" i="0" dirty="0">
                <a:solidFill>
                  <a:srgbClr val="212529"/>
                </a:solidFill>
                <a:effectLst/>
                <a:latin typeface="Domine"/>
              </a:rPr>
              <a:t>Heitz </a:t>
            </a:r>
            <a:r>
              <a:rPr lang="en-US" altLang="zh-CN" dirty="0">
                <a:solidFill>
                  <a:srgbClr val="212529"/>
                </a:solidFill>
                <a:latin typeface="Domine"/>
              </a:rPr>
              <a:t>(2014) </a:t>
            </a:r>
            <a:r>
              <a:rPr lang="en-US" altLang="zh-CN" dirty="0">
                <a:solidFill>
                  <a:srgbClr val="212529"/>
                </a:solidFill>
                <a:latin typeface="Domine"/>
                <a:hlinkClick r:id="rId2" action="ppaction://hlinksldjump"/>
              </a:rPr>
              <a:t>5</a:t>
            </a:r>
            <a:r>
              <a:rPr lang="zh-CN" altLang="en-US" dirty="0">
                <a:solidFill>
                  <a:srgbClr val="212529"/>
                </a:solidFill>
                <a:latin typeface="Domine"/>
              </a:rPr>
              <a:t>，</a:t>
            </a:r>
            <a:r>
              <a:rPr lang="en-US" altLang="zh-CN" dirty="0">
                <a:solidFill>
                  <a:srgbClr val="212529"/>
                </a:solidFill>
                <a:latin typeface="Domine"/>
              </a:rPr>
              <a:t>Figure 7.</a:t>
            </a:r>
            <a:endParaRPr lang="zh-CN" altLang="en-US" dirty="0"/>
          </a:p>
        </p:txBody>
      </p:sp>
      <p:pic>
        <p:nvPicPr>
          <p:cNvPr id="6" name="图片 5">
            <a:extLst>
              <a:ext uri="{FF2B5EF4-FFF2-40B4-BE49-F238E27FC236}">
                <a16:creationId xmlns:a16="http://schemas.microsoft.com/office/drawing/2014/main" id="{34748253-2428-340B-0CBF-1F679C2EC604}"/>
              </a:ext>
            </a:extLst>
          </p:cNvPr>
          <p:cNvPicPr>
            <a:picLocks noChangeAspect="1"/>
          </p:cNvPicPr>
          <p:nvPr/>
        </p:nvPicPr>
        <p:blipFill>
          <a:blip r:embed="rId4"/>
          <a:stretch>
            <a:fillRect/>
          </a:stretch>
        </p:blipFill>
        <p:spPr>
          <a:xfrm>
            <a:off x="7169152" y="1144044"/>
            <a:ext cx="3613336" cy="2660787"/>
          </a:xfrm>
          <a:prstGeom prst="rect">
            <a:avLst/>
          </a:prstGeom>
        </p:spPr>
      </p:pic>
      <p:sp>
        <p:nvSpPr>
          <p:cNvPr id="7" name="文本框 6">
            <a:extLst>
              <a:ext uri="{FF2B5EF4-FFF2-40B4-BE49-F238E27FC236}">
                <a16:creationId xmlns:a16="http://schemas.microsoft.com/office/drawing/2014/main" id="{FE5A25F6-D5C8-133D-5984-B5E57749B8A7}"/>
              </a:ext>
            </a:extLst>
          </p:cNvPr>
          <p:cNvSpPr txBox="1"/>
          <p:nvPr/>
        </p:nvSpPr>
        <p:spPr>
          <a:xfrm>
            <a:off x="7463227" y="3869968"/>
            <a:ext cx="3025187" cy="369332"/>
          </a:xfrm>
          <a:prstGeom prst="rect">
            <a:avLst/>
          </a:prstGeom>
          <a:noFill/>
        </p:spPr>
        <p:txBody>
          <a:bodyPr wrap="none" rtlCol="0">
            <a:spAutoFit/>
          </a:bodyPr>
          <a:lstStyle/>
          <a:p>
            <a:pPr algn="ctr"/>
            <a:r>
              <a:rPr lang="en-US" altLang="zh-CN" b="0" i="0" dirty="0">
                <a:solidFill>
                  <a:srgbClr val="212529"/>
                </a:solidFill>
                <a:effectLst/>
                <a:latin typeface="Domine"/>
              </a:rPr>
              <a:t>ASHIKMIN </a:t>
            </a:r>
            <a:r>
              <a:rPr lang="en-US" altLang="zh-CN" dirty="0">
                <a:solidFill>
                  <a:srgbClr val="212529"/>
                </a:solidFill>
                <a:latin typeface="Domine"/>
              </a:rPr>
              <a:t>(2000) </a:t>
            </a:r>
            <a:r>
              <a:rPr lang="en-US" altLang="zh-CN" dirty="0">
                <a:solidFill>
                  <a:srgbClr val="212529"/>
                </a:solidFill>
                <a:latin typeface="Domine"/>
                <a:hlinkClick r:id="rId2" action="ppaction://hlinksldjump"/>
              </a:rPr>
              <a:t>4</a:t>
            </a:r>
            <a:r>
              <a:rPr lang="zh-CN" altLang="en-US" dirty="0">
                <a:solidFill>
                  <a:srgbClr val="212529"/>
                </a:solidFill>
                <a:latin typeface="Domine"/>
              </a:rPr>
              <a:t>，</a:t>
            </a:r>
            <a:r>
              <a:rPr lang="en-US" altLang="zh-CN" dirty="0">
                <a:solidFill>
                  <a:srgbClr val="212529"/>
                </a:solidFill>
                <a:latin typeface="Domine"/>
              </a:rPr>
              <a:t>Figure 3.</a:t>
            </a:r>
            <a:endParaRPr lang="zh-CN" altLang="en-US" dirty="0"/>
          </a:p>
        </p:txBody>
      </p:sp>
    </p:spTree>
    <p:extLst>
      <p:ext uri="{BB962C8B-B14F-4D97-AF65-F5344CB8AC3E}">
        <p14:creationId xmlns:p14="http://schemas.microsoft.com/office/powerpoint/2010/main" val="12783186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828533-5601-C8A6-8917-438E4E3FC5BF}"/>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80AC2872-EABA-CEA4-841D-72B309FB70B0}"/>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两个约束确定掩蔽函数</a:t>
            </a:r>
            <a:endParaRPr lang="en-US" altLang="zh-CN" dirty="0"/>
          </a:p>
        </p:txBody>
      </p:sp>
      <p:sp>
        <p:nvSpPr>
          <p:cNvPr id="63" name="矩形 62">
            <a:extLst>
              <a:ext uri="{FF2B5EF4-FFF2-40B4-BE49-F238E27FC236}">
                <a16:creationId xmlns:a16="http://schemas.microsoft.com/office/drawing/2014/main" id="{1FA37774-3294-EFFE-FDCC-22DDFA391A1E}"/>
              </a:ext>
            </a:extLst>
          </p:cNvPr>
          <p:cNvSpPr/>
          <p:nvPr/>
        </p:nvSpPr>
        <p:spPr>
          <a:xfrm>
            <a:off x="631110" y="1315233"/>
            <a:ext cx="6290390"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72CA747F-61AE-7770-15BA-621811F64C89}"/>
                  </a:ext>
                </a:extLst>
              </p:cNvPr>
              <p:cNvSpPr/>
              <p:nvPr/>
            </p:nvSpPr>
            <p:spPr>
              <a:xfrm>
                <a:off x="478710" y="1144044"/>
                <a:ext cx="6290390"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400" dirty="0">
                    <a:solidFill>
                      <a:schemeClr val="tx1"/>
                    </a:solidFill>
                  </a:rPr>
                  <a:t>        对于</a:t>
                </a:r>
                <a:r>
                  <a:rPr lang="zh-CN" altLang="en-US" sz="1400" b="0" dirty="0">
                    <a:solidFill>
                      <a:schemeClr val="tx1"/>
                    </a:solidFill>
                  </a:rPr>
                  <a:t>上述的微面组织形式</a:t>
                </a:r>
                <a:r>
                  <a:rPr lang="en-US" altLang="zh-CN" sz="1400" dirty="0">
                    <a:solidFill>
                      <a:schemeClr val="tx1"/>
                    </a:solidFill>
                  </a:rPr>
                  <a:t>(</a:t>
                </a:r>
                <a:r>
                  <a:rPr lang="en-US" altLang="zh-CN" sz="1400" b="0" dirty="0">
                    <a:solidFill>
                      <a:schemeClr val="tx1"/>
                    </a:solidFill>
                  </a:rPr>
                  <a:t>Smith Models)</a:t>
                </a:r>
                <a:r>
                  <a:rPr lang="zh-CN" altLang="en-US" sz="1400" b="0" dirty="0">
                    <a:solidFill>
                      <a:schemeClr val="tx1"/>
                    </a:solidFill>
                  </a:rPr>
                  <a:t>，我们可以得出一个结论：</a:t>
                </a:r>
                <a:r>
                  <a:rPr lang="en-US" altLang="zh-CN" sz="1400" dirty="0">
                    <a:solidFill>
                      <a:schemeClr val="tx1"/>
                    </a:solidFill>
                  </a:rPr>
                  <a:t> </a:t>
                </a:r>
                <a:r>
                  <a:rPr lang="zh-CN" altLang="en-US" sz="1400" dirty="0">
                    <a:solidFill>
                      <a:schemeClr val="tx1"/>
                    </a:solidFill>
                  </a:rPr>
                  <a:t>对于所有满足</a:t>
                </a:r>
                <a14:m>
                  <m:oMath xmlns:m="http://schemas.openxmlformats.org/officeDocument/2006/math">
                    <m:d>
                      <m:dPr>
                        <m:ctrlPr>
                          <a:rPr lang="en-US" altLang="zh-CN" sz="1400" b="0" i="1" dirty="0" smtClean="0">
                            <a:solidFill>
                              <a:schemeClr val="tx1"/>
                            </a:solidFill>
                            <a:latin typeface="Cambria Math" panose="02040503050406030204" pitchFamily="18" charset="0"/>
                          </a:rPr>
                        </m:ctrlPr>
                      </m:dPr>
                      <m:e>
                        <m:sSup>
                          <m:sSupPr>
                            <m:ctrlPr>
                              <a:rPr lang="en-US" altLang="zh-CN" sz="1400" b="1" i="1" dirty="0" smtClean="0">
                                <a:solidFill>
                                  <a:schemeClr val="tx1"/>
                                </a:solidFill>
                                <a:latin typeface="Cambria Math" panose="02040503050406030204" pitchFamily="18" charset="0"/>
                              </a:rPr>
                            </m:ctrlPr>
                          </m:sSupPr>
                          <m:e>
                            <m:r>
                              <a:rPr lang="en-US" altLang="zh-CN" sz="1400" b="1" i="1" dirty="0" smtClean="0">
                                <a:solidFill>
                                  <a:schemeClr val="tx1"/>
                                </a:solidFill>
                                <a:latin typeface="Cambria Math" panose="02040503050406030204" pitchFamily="18" charset="0"/>
                              </a:rPr>
                              <m:t>𝒐</m:t>
                            </m:r>
                          </m:e>
                          <m:sup>
                            <m:r>
                              <a:rPr lang="en-US" altLang="zh-CN" sz="1400" b="1" i="1" dirty="0" smtClean="0">
                                <a:solidFill>
                                  <a:schemeClr val="tx1"/>
                                </a:solidFill>
                                <a:latin typeface="Cambria Math" panose="02040503050406030204" pitchFamily="18" charset="0"/>
                              </a:rPr>
                              <m:t>+</m:t>
                            </m:r>
                          </m:sup>
                        </m:sSup>
                        <m:r>
                          <a:rPr lang="en-US" altLang="zh-CN" sz="1400" b="0"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&gt;</m:t>
                    </m:r>
                    <m:r>
                      <a:rPr lang="en-US" altLang="zh-CN" sz="1400" b="0" i="1" dirty="0" smtClean="0">
                        <a:solidFill>
                          <a:schemeClr val="tx1"/>
                        </a:solidFill>
                        <a:latin typeface="Cambria Math" panose="02040503050406030204" pitchFamily="18" charset="0"/>
                      </a:rPr>
                      <m:t>0</m:t>
                    </m:r>
                  </m:oMath>
                </a14:m>
                <a:r>
                  <a:rPr lang="zh-CN" altLang="en-US" sz="1400" b="0" dirty="0">
                    <a:solidFill>
                      <a:schemeClr val="tx1"/>
                    </a:solidFill>
                  </a:rPr>
                  <a:t>的微面，它们是否被遮挡与它们的法线方向无关。</a:t>
                </a:r>
                <a:r>
                  <a:rPr lang="zh-CN" altLang="en-US" sz="1400" dirty="0">
                    <a:solidFill>
                      <a:schemeClr val="tx1"/>
                    </a:solidFill>
                  </a:rPr>
                  <a:t>具体来说，它们是否被遮挡取决于 微面的局部属性（法线朝向）与 微面的远距离属性（观察方向）。</a:t>
                </a:r>
                <a:endParaRPr lang="en-US" altLang="zh-CN" sz="1400" dirty="0">
                  <a:solidFill>
                    <a:schemeClr val="tx1"/>
                  </a:solidFill>
                </a:endParaRPr>
              </a:p>
              <a:p>
                <a:pPr/>
                <a14:m>
                  <m:oMathPara xmlns:m="http://schemas.openxmlformats.org/officeDocument/2006/math">
                    <m:oMathParaPr>
                      <m:jc m:val="centerGroup"/>
                    </m:oMathParaPr>
                    <m:oMath xmlns:m="http://schemas.openxmlformats.org/officeDocument/2006/math">
                      <m:sSub>
                        <m:sSubPr>
                          <m:ctrlPr>
                            <a:rPr lang="en-US" altLang="zh-CN" sz="1400" b="0" i="1" dirty="0" smtClean="0">
                              <a:solidFill>
                                <a:schemeClr val="tx1"/>
                              </a:solidFill>
                              <a:latin typeface="Cambria Math" panose="02040503050406030204" pitchFamily="18" charset="0"/>
                            </a:rPr>
                          </m:ctrlPr>
                        </m:sSubPr>
                        <m:e>
                          <m:r>
                            <a:rPr lang="en-US" altLang="zh-CN" sz="1400" i="1" dirty="0" smtClean="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Sub>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b="0" i="1" dirty="0" smtClean="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m:t>
                      </m:r>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up>
                          <m:r>
                            <a:rPr lang="en-US" altLang="zh-CN" sz="1400" b="0" i="1" dirty="0" smtClean="0">
                              <a:solidFill>
                                <a:schemeClr val="tx1"/>
                              </a:solidFill>
                              <a:latin typeface="Cambria Math" panose="02040503050406030204" pitchFamily="18" charset="0"/>
                            </a:rPr>
                            <m:t>𝑙𝑜𝑐𝑎𝑙</m:t>
                          </m:r>
                        </m:sup>
                      </m:sSub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m:rPr>
                          <m:lit/>
                        </m:rPr>
                        <a:rPr lang="en-US" altLang="zh-CN" sz="1400" b="0" i="1" dirty="0" smtClean="0">
                          <a:solidFill>
                            <a:schemeClr val="tx1"/>
                          </a:solidFill>
                          <a:latin typeface="Cambria Math" panose="02040503050406030204" pitchFamily="18" charset="0"/>
                        </a:rPr>
                        <m:t> </m:t>
                      </m:r>
                      <m:sSubSup>
                        <m:sSubSupPr>
                          <m:ctrlPr>
                            <a:rPr lang="en-US" altLang="zh-CN" sz="1400" b="0" i="1" dirty="0" smtClean="0">
                              <a:solidFill>
                                <a:schemeClr val="tx1"/>
                              </a:solidFill>
                              <a:latin typeface="Cambria Math" panose="02040503050406030204" pitchFamily="18" charset="0"/>
                            </a:rPr>
                          </m:ctrlPr>
                        </m:sSubSupPr>
                        <m:e>
                          <m:r>
                            <a:rPr lang="en-US" altLang="zh-CN" sz="1400" b="0" i="1" dirty="0" smtClean="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up>
                          <m:r>
                            <a:rPr lang="en-US" altLang="zh-CN" sz="1400" b="0" i="1" dirty="0" smtClean="0">
                              <a:solidFill>
                                <a:schemeClr val="tx1"/>
                              </a:solidFill>
                              <a:latin typeface="Cambria Math" panose="02040503050406030204" pitchFamily="18" charset="0"/>
                            </a:rPr>
                            <m:t>𝑑𝑖𝑠𝑡</m:t>
                          </m:r>
                        </m:sup>
                      </m:sSubSup>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e>
                      </m:d>
                      <m:r>
                        <a:rPr lang="zh-CN" altLang="en-US" sz="1400" i="1" dirty="0">
                          <a:solidFill>
                            <a:schemeClr val="tx1"/>
                          </a:solidFill>
                          <a:latin typeface="Cambria Math" panose="02040503050406030204" pitchFamily="18" charset="0"/>
                        </a:rPr>
                        <m:t>，</m:t>
                      </m:r>
                    </m:oMath>
                  </m:oMathPara>
                </a14:m>
                <a:endParaRPr lang="en-US" altLang="zh-CN" sz="14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up>
                          <m:r>
                            <a:rPr lang="en-US" altLang="zh-CN" sz="1400" b="0" i="1" dirty="0" smtClean="0">
                              <a:solidFill>
                                <a:schemeClr val="tx1"/>
                              </a:solidFill>
                              <a:latin typeface="Cambria Math" panose="02040503050406030204" pitchFamily="18" charset="0"/>
                            </a:rPr>
                            <m:t>𝑙𝑜𝑐𝑎𝑙</m:t>
                          </m:r>
                        </m:sup>
                      </m:sSub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𝑋</m:t>
                          </m:r>
                        </m:e>
                        <m:sup>
                          <m:r>
                            <a:rPr lang="en-US" altLang="zh-CN" sz="1400" b="0" i="1" dirty="0" smtClean="0">
                              <a:solidFill>
                                <a:schemeClr val="tx1"/>
                              </a:solidFill>
                              <a:latin typeface="Cambria Math" panose="02040503050406030204" pitchFamily="18" charset="0"/>
                            </a:rPr>
                            <m:t>+</m:t>
                          </m:r>
                        </m:sup>
                      </m:sSup>
                      <m:d>
                        <m:dPr>
                          <m:ctrlPr>
                            <a:rPr lang="en-US" altLang="zh-CN" sz="1400" b="0" i="1" dirty="0" smtClean="0">
                              <a:solidFill>
                                <a:schemeClr val="tx1"/>
                              </a:solidFill>
                              <a:latin typeface="Cambria Math" panose="02040503050406030204" pitchFamily="18" charset="0"/>
                            </a:rPr>
                          </m:ctrlPr>
                        </m:dPr>
                        <m:e>
                          <m:sSup>
                            <m:sSupPr>
                              <m:ctrlPr>
                                <a:rPr lang="en-US" altLang="zh-CN" sz="1400" b="1" i="1" dirty="0" smtClean="0">
                                  <a:solidFill>
                                    <a:schemeClr val="tx1"/>
                                  </a:solidFill>
                                  <a:latin typeface="Cambria Math" panose="02040503050406030204" pitchFamily="18" charset="0"/>
                                </a:rPr>
                              </m:ctrlPr>
                            </m:sSupPr>
                            <m:e>
                              <m:r>
                                <a:rPr lang="en-US" altLang="zh-CN" sz="1400" b="1" i="1" dirty="0" smtClean="0">
                                  <a:solidFill>
                                    <a:schemeClr val="tx1"/>
                                  </a:solidFill>
                                  <a:latin typeface="Cambria Math" panose="02040503050406030204" pitchFamily="18" charset="0"/>
                                </a:rPr>
                                <m:t>𝒐</m:t>
                              </m:r>
                            </m:e>
                            <m:sup>
                              <m:r>
                                <a:rPr lang="en-US" altLang="zh-CN" sz="1400" b="1" i="1" dirty="0" smtClean="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oMath>
                  </m:oMathPara>
                </a14:m>
                <a:endParaRPr lang="en-US" altLang="zh-CN" sz="1400" dirty="0">
                  <a:solidFill>
                    <a:schemeClr val="tx1"/>
                  </a:solidFill>
                </a:endParaRPr>
              </a:p>
              <a:p>
                <a:pPr/>
                <a14:m>
                  <m:oMathPara xmlns:m="http://schemas.openxmlformats.org/officeDocument/2006/math">
                    <m:oMathParaPr>
                      <m:jc m:val="centerGroup"/>
                    </m:oMathParaPr>
                    <m:oMath xmlns:m="http://schemas.openxmlformats.org/officeDocument/2006/math">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𝑋</m:t>
                          </m:r>
                        </m:e>
                        <m:sup>
                          <m:r>
                            <a:rPr lang="en-US" altLang="zh-CN" sz="1400" b="0" i="1" dirty="0" smtClean="0">
                              <a:solidFill>
                                <a:schemeClr val="tx1"/>
                              </a:solidFill>
                              <a:latin typeface="Cambria Math" panose="02040503050406030204" pitchFamily="18" charset="0"/>
                            </a:rPr>
                            <m:t>+</m:t>
                          </m:r>
                        </m:sup>
                      </m:sSup>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𝑎</m:t>
                      </m:r>
                      <m:r>
                        <a:rPr lang="en-US" altLang="zh-CN" sz="1400" b="0" i="1" dirty="0" smtClean="0">
                          <a:solidFill>
                            <a:schemeClr val="tx1"/>
                          </a:solidFill>
                          <a:latin typeface="Cambria Math" panose="02040503050406030204" pitchFamily="18" charset="0"/>
                        </a:rPr>
                        <m:t>)=</m:t>
                      </m:r>
                      <m:d>
                        <m:dPr>
                          <m:begChr m:val="{"/>
                          <m:endChr m:val=""/>
                          <m:ctrlPr>
                            <a:rPr lang="en-US" altLang="zh-CN" sz="1400" i="1" dirty="0">
                              <a:solidFill>
                                <a:schemeClr val="tx1"/>
                              </a:solidFill>
                              <a:latin typeface="Cambria Math" panose="02040503050406030204" pitchFamily="18" charset="0"/>
                            </a:rPr>
                          </m:ctrlPr>
                        </m:dPr>
                        <m:e>
                          <m:eqArr>
                            <m:eqArrPr>
                              <m:ctrlPr>
                                <a:rPr lang="en-US" altLang="zh-CN" sz="1400" i="1" dirty="0">
                                  <a:solidFill>
                                    <a:schemeClr val="tx1"/>
                                  </a:solidFill>
                                  <a:latin typeface="Cambria Math" panose="02040503050406030204" pitchFamily="18" charset="0"/>
                                </a:rPr>
                              </m:ctrlPr>
                            </m:eqArrPr>
                            <m:e>
                              <m:r>
                                <a:rPr lang="en-US" altLang="zh-CN" sz="1400" b="0" i="1" dirty="0" smtClean="0">
                                  <a:solidFill>
                                    <a:schemeClr val="tx1"/>
                                  </a:solidFill>
                                  <a:latin typeface="Cambria Math" panose="02040503050406030204" pitchFamily="18" charset="0"/>
                                </a:rPr>
                                <m:t>1</m:t>
                              </m:r>
                              <m:r>
                                <a:rPr lang="en-US" altLang="zh-CN" sz="1400" i="1" dirty="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𝑎</m:t>
                              </m:r>
                              <m:r>
                                <a:rPr lang="en-US" altLang="zh-CN" sz="1400" i="1" dirty="0">
                                  <a:solidFill>
                                    <a:schemeClr val="tx1"/>
                                  </a:solidFill>
                                  <a:latin typeface="Cambria Math" panose="02040503050406030204" pitchFamily="18" charset="0"/>
                                </a:rPr>
                                <m:t>&gt;</m:t>
                              </m:r>
                              <m:r>
                                <a:rPr lang="en-US" altLang="zh-CN" sz="1400" i="1" dirty="0">
                                  <a:solidFill>
                                    <a:schemeClr val="tx1"/>
                                  </a:solidFill>
                                  <a:latin typeface="Cambria Math" panose="02040503050406030204" pitchFamily="18" charset="0"/>
                                </a:rPr>
                                <m:t>0</m:t>
                              </m:r>
                            </m:e>
                            <m:e>
                              <m:r>
                                <a:rPr lang="en-US" altLang="zh-CN" sz="1400" i="1" dirty="0">
                                  <a:solidFill>
                                    <a:schemeClr val="tx1"/>
                                  </a:solidFill>
                                  <a:latin typeface="Cambria Math" panose="02040503050406030204" pitchFamily="18" charset="0"/>
                                </a:rPr>
                                <m:t>0</m:t>
                              </m:r>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𝑜𝑡</m:t>
                              </m:r>
                              <m:r>
                                <a:rPr lang="en-US" altLang="zh-CN" sz="1400" i="1" dirty="0">
                                  <a:solidFill>
                                    <a:schemeClr val="tx1"/>
                                  </a:solidFill>
                                  <a:latin typeface="Cambria Math" panose="02040503050406030204" pitchFamily="18" charset="0"/>
                                </a:rPr>
                                <m:t>h</m:t>
                              </m:r>
                              <m:r>
                                <a:rPr lang="en-US" altLang="zh-CN" sz="1400" i="1" dirty="0">
                                  <a:solidFill>
                                    <a:schemeClr val="tx1"/>
                                  </a:solidFill>
                                  <a:latin typeface="Cambria Math" panose="02040503050406030204" pitchFamily="18" charset="0"/>
                                </a:rPr>
                                <m:t>𝑒𝑟𝑤𝑖𝑠𝑒</m:t>
                              </m:r>
                            </m:e>
                          </m:eqArr>
                        </m:e>
                      </m:d>
                    </m:oMath>
                  </m:oMathPara>
                </a14:m>
                <a:endParaRPr lang="en-US" altLang="zh-CN" sz="1400" dirty="0">
                  <a:solidFill>
                    <a:schemeClr val="tx1"/>
                  </a:solidFill>
                </a:endParaRPr>
              </a:p>
              <a:p>
                <a:r>
                  <a:rPr lang="zh-CN" altLang="en-US" sz="1400" dirty="0">
                    <a:solidFill>
                      <a:schemeClr val="tx1"/>
                    </a:solidFill>
                  </a:rPr>
                  <a:t>现在将由</a:t>
                </a:r>
                <a:r>
                  <a:rPr lang="en-US" altLang="zh-CN" sz="1400" dirty="0">
                    <a:solidFill>
                      <a:schemeClr val="tx1"/>
                    </a:solidFill>
                  </a:rPr>
                  <a:t>Smith Models</a:t>
                </a:r>
                <a:r>
                  <a:rPr lang="zh-CN" altLang="en-US" sz="1400" dirty="0">
                    <a:solidFill>
                      <a:schemeClr val="tx1"/>
                    </a:solidFill>
                  </a:rPr>
                  <a:t>推导出的</a:t>
                </a:r>
                <a14:m>
                  <m:oMath xmlns:m="http://schemas.openxmlformats.org/officeDocument/2006/math">
                    <m:sSub>
                      <m:sSubPr>
                        <m:ctrlPr>
                          <a:rPr lang="en-US" altLang="zh-CN" sz="1400" b="0" i="1" dirty="0" smtClean="0">
                            <a:solidFill>
                              <a:schemeClr val="tx1"/>
                            </a:solidFill>
                            <a:latin typeface="Cambria Math" panose="02040503050406030204" pitchFamily="18" charset="0"/>
                          </a:rPr>
                        </m:ctrlPr>
                      </m:sSubPr>
                      <m:e>
                        <m:r>
                          <a:rPr lang="en-US" altLang="zh-CN" sz="1400" i="1" dirty="0" smtClean="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Sub>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b="1"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oMath>
                </a14:m>
                <a:r>
                  <a:rPr lang="zh-CN" altLang="en-US" sz="1400" dirty="0">
                    <a:solidFill>
                      <a:schemeClr val="tx1"/>
                    </a:solidFill>
                  </a:rPr>
                  <a:t>代入第一个约束中：</a:t>
                </a:r>
                <a:endParaRPr lang="en-US" altLang="zh-CN" sz="1400" dirty="0">
                  <a:solidFill>
                    <a:schemeClr val="tx1"/>
                  </a:solidFill>
                </a:endParaRPr>
              </a:p>
              <a:p>
                <a:pPr/>
                <a14:m>
                  <m:oMathPara xmlns:m="http://schemas.openxmlformats.org/officeDocument/2006/math">
                    <m:oMathParaPr>
                      <m:jc m:val="centerGroup"/>
                    </m:oMathParaPr>
                    <m:oMath xmlns:m="http://schemas.openxmlformats.org/officeDocument/2006/math">
                      <m:nary>
                        <m:naryPr>
                          <m:supHide m:val="on"/>
                          <m:ctrlPr>
                            <a:rPr lang="en-US" altLang="zh-CN" sz="1400" i="1" dirty="0" smtClean="0">
                              <a:solidFill>
                                <a:schemeClr val="tx1"/>
                              </a:solidFill>
                              <a:latin typeface="Cambria Math" panose="02040503050406030204" pitchFamily="18" charset="0"/>
                            </a:rPr>
                          </m:ctrlPr>
                        </m:naryPr>
                        <m:sub>
                          <m:sSup>
                            <m:sSupPr>
                              <m:ctrlPr>
                                <a:rPr lang="en-US" altLang="zh-CN" sz="1400" i="1" dirty="0" smtClean="0">
                                  <a:solidFill>
                                    <a:schemeClr val="tx1"/>
                                  </a:solidFill>
                                  <a:latin typeface="Cambria Math" panose="02040503050406030204" pitchFamily="18" charset="0"/>
                                </a:rPr>
                              </m:ctrlPr>
                            </m:sSupPr>
                            <m:e>
                              <m:r>
                                <a:rPr lang="en-US" altLang="zh-CN" sz="1400" i="1" dirty="0" smtClean="0">
                                  <a:solidFill>
                                    <a:schemeClr val="tx1"/>
                                  </a:solidFill>
                                  <a:latin typeface="Cambria Math" panose="02040503050406030204" pitchFamily="18" charset="0"/>
                                </a:rPr>
                                <m:t>𝐻</m:t>
                              </m:r>
                            </m:e>
                            <m:sup>
                              <m:r>
                                <a:rPr lang="en-US" altLang="zh-CN" sz="1400" i="1" dirty="0" smtClean="0">
                                  <a:solidFill>
                                    <a:schemeClr val="tx1"/>
                                  </a:solidFill>
                                  <a:latin typeface="Cambria Math" panose="02040503050406030204" pitchFamily="18" charset="0"/>
                                </a:rPr>
                                <m:t>2</m:t>
                              </m:r>
                            </m:sup>
                          </m:sSup>
                        </m:sub>
                        <m:sup/>
                        <m:e>
                          <m:r>
                            <a:rPr lang="en-US" altLang="zh-CN" sz="1400" i="1" dirty="0" smtClean="0">
                              <a:solidFill>
                                <a:schemeClr val="tx1"/>
                              </a:solidFill>
                              <a:latin typeface="Cambria Math" panose="02040503050406030204" pitchFamily="18" charset="0"/>
                            </a:rPr>
                            <m:t>𝐷</m:t>
                          </m:r>
                          <m:d>
                            <m:dPr>
                              <m:ctrlPr>
                                <a:rPr lang="en-US" altLang="zh-CN" sz="1400" i="1" dirty="0" smtClean="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m:rPr>
                              <m:lit/>
                            </m:rPr>
                            <a:rPr lang="en-US" altLang="zh-CN" sz="1400" i="1" dirty="0" smtClean="0">
                              <a:solidFill>
                                <a:schemeClr val="tx1"/>
                              </a:solidFill>
                              <a:latin typeface="Cambria Math" panose="02040503050406030204" pitchFamily="18" charset="0"/>
                            </a:rPr>
                            <m:t> </m:t>
                          </m:r>
                          <m:sSub>
                            <m:sSubPr>
                              <m:ctrlPr>
                                <a:rPr lang="en-US" altLang="zh-CN" sz="1400" b="0" i="1" dirty="0" smtClean="0">
                                  <a:solidFill>
                                    <a:schemeClr val="tx1"/>
                                  </a:solidFill>
                                  <a:latin typeface="Cambria Math" panose="02040503050406030204" pitchFamily="18" charset="0"/>
                                </a:rPr>
                              </m:ctrlPr>
                            </m:sSubPr>
                            <m:e>
                              <m:r>
                                <a:rPr lang="en-US" altLang="zh-CN" sz="1400" i="1" dirty="0" smtClean="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Sub>
                          <m:d>
                            <m:dPr>
                              <m:ctrlPr>
                                <a:rPr lang="en-US" altLang="zh-CN" sz="140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i="1" dirty="0" smtClean="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sSup>
                            <m:sSupPr>
                              <m:ctrlPr>
                                <a:rPr lang="en-US" altLang="zh-CN" sz="1400" b="1" i="1" dirty="0" smtClean="0">
                                  <a:solidFill>
                                    <a:schemeClr val="tx1"/>
                                  </a:solidFill>
                                  <a:latin typeface="Cambria Math" panose="02040503050406030204" pitchFamily="18" charset="0"/>
                                </a:rPr>
                              </m:ctrlPr>
                            </m:sSupPr>
                            <m:e>
                              <m:r>
                                <a:rPr lang="en-US" altLang="zh-CN" sz="1400" b="1" i="1" dirty="0" smtClean="0">
                                  <a:solidFill>
                                    <a:schemeClr val="tx1"/>
                                  </a:solidFill>
                                  <a:latin typeface="Cambria Math" panose="02040503050406030204" pitchFamily="18" charset="0"/>
                                </a:rPr>
                                <m:t>𝒐</m:t>
                              </m:r>
                            </m:e>
                            <m:sup>
                              <m:r>
                                <a:rPr lang="en-US" altLang="zh-CN" sz="1400" b="1" i="1" dirty="0" smtClean="0">
                                  <a:solidFill>
                                    <a:schemeClr val="tx1"/>
                                  </a:solidFill>
                                  <a:latin typeface="Cambria Math" panose="02040503050406030204" pitchFamily="18" charset="0"/>
                                </a:rPr>
                                <m:t>+</m:t>
                              </m:r>
                            </m:sup>
                          </m:sSup>
                          <m:r>
                            <a:rPr lang="en-US" altLang="zh-CN" sz="1400" b="0" i="1" dirty="0" smtClean="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 </m:t>
                          </m:r>
                          <m:r>
                            <a:rPr lang="en-US" altLang="zh-CN" sz="1400" i="1" dirty="0" smtClean="0">
                              <a:solidFill>
                                <a:schemeClr val="tx1"/>
                              </a:solidFill>
                              <a:latin typeface="Cambria Math" panose="02040503050406030204" pitchFamily="18" charset="0"/>
                            </a:rPr>
                            <m:t>𝑑</m:t>
                          </m:r>
                          <m:sSub>
                            <m:sSubPr>
                              <m:ctrlPr>
                                <a:rPr lang="en-US" altLang="zh-CN" sz="1400" i="1" dirty="0" err="1" smtClean="0">
                                  <a:solidFill>
                                    <a:schemeClr val="tx1"/>
                                  </a:solidFill>
                                  <a:latin typeface="Cambria Math" panose="02040503050406030204" pitchFamily="18" charset="0"/>
                                </a:rPr>
                              </m:ctrlPr>
                            </m:sSubPr>
                            <m:e>
                              <m:r>
                                <a:rPr lang="en-US" altLang="zh-CN" sz="140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𝑚</m:t>
                              </m:r>
                            </m:sub>
                          </m:sSub>
                        </m:e>
                      </m:nary>
                      <m:r>
                        <a:rPr lang="en-US" altLang="zh-CN" sz="1400" i="1" dirty="0" smtClean="0">
                          <a:solidFill>
                            <a:schemeClr val="tx1"/>
                          </a:solidFill>
                          <a:latin typeface="Cambria Math" panose="02040503050406030204" pitchFamily="18" charset="0"/>
                        </a:rPr>
                        <m:t>=</m:t>
                      </m:r>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𝒈</m:t>
                          </m:r>
                        </m:e>
                      </m:d>
                    </m:oMath>
                  </m:oMathPara>
                </a14:m>
                <a:endParaRPr lang="en-US" altLang="zh-CN" sz="1400" dirty="0">
                  <a:solidFill>
                    <a:schemeClr val="tx1"/>
                  </a:solidFill>
                </a:endParaRPr>
              </a:p>
              <a:p>
                <a:pPr/>
                <a14:m>
                  <m:oMathPara xmlns:m="http://schemas.openxmlformats.org/officeDocument/2006/math">
                    <m:oMathParaPr>
                      <m:jc m:val="centerGroup"/>
                    </m:oMathParaPr>
                    <m:oMath xmlns:m="http://schemas.openxmlformats.org/officeDocument/2006/math">
                      <m:nary>
                        <m:naryPr>
                          <m:supHide m:val="on"/>
                          <m:ctrlPr>
                            <a:rPr lang="en-US" altLang="zh-CN" sz="1400" i="1" dirty="0" smtClean="0">
                              <a:solidFill>
                                <a:schemeClr val="tx1"/>
                              </a:solidFill>
                              <a:latin typeface="Cambria Math" panose="02040503050406030204" pitchFamily="18" charset="0"/>
                            </a:rPr>
                          </m:ctrlPr>
                        </m:naryPr>
                        <m:sub>
                          <m:sSup>
                            <m:sSupPr>
                              <m:ctrlPr>
                                <a:rPr lang="en-US" altLang="zh-CN" sz="1400" i="1" dirty="0" smtClean="0">
                                  <a:solidFill>
                                    <a:schemeClr val="tx1"/>
                                  </a:solidFill>
                                  <a:latin typeface="Cambria Math" panose="02040503050406030204" pitchFamily="18" charset="0"/>
                                </a:rPr>
                              </m:ctrlPr>
                            </m:sSupPr>
                            <m:e>
                              <m:r>
                                <a:rPr lang="en-US" altLang="zh-CN" sz="1400" i="1" dirty="0" smtClean="0">
                                  <a:solidFill>
                                    <a:schemeClr val="tx1"/>
                                  </a:solidFill>
                                  <a:latin typeface="Cambria Math" panose="02040503050406030204" pitchFamily="18" charset="0"/>
                                </a:rPr>
                                <m:t>𝐻</m:t>
                              </m:r>
                            </m:e>
                            <m:sup>
                              <m:r>
                                <a:rPr lang="en-US" altLang="zh-CN" sz="1400" i="1" dirty="0" smtClean="0">
                                  <a:solidFill>
                                    <a:schemeClr val="tx1"/>
                                  </a:solidFill>
                                  <a:latin typeface="Cambria Math" panose="02040503050406030204" pitchFamily="18" charset="0"/>
                                </a:rPr>
                                <m:t>2</m:t>
                              </m:r>
                            </m:sup>
                          </m:sSup>
                        </m:sub>
                        <m:sup/>
                        <m:e>
                          <m:r>
                            <a:rPr lang="en-US" altLang="zh-CN" sz="1400" i="1" dirty="0" smtClean="0">
                              <a:solidFill>
                                <a:schemeClr val="tx1"/>
                              </a:solidFill>
                              <a:latin typeface="Cambria Math" panose="02040503050406030204" pitchFamily="18" charset="0"/>
                            </a:rPr>
                            <m:t>𝐷</m:t>
                          </m:r>
                          <m:d>
                            <m:dPr>
                              <m:ctrlPr>
                                <a:rPr lang="en-US" altLang="zh-CN" sz="1400" i="1" dirty="0" smtClean="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𝑙𝑜𝑐𝑎𝑙</m:t>
                              </m:r>
                            </m:sup>
                          </m:sSub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m:rPr>
                              <m:lit/>
                            </m:rPr>
                            <a:rPr lang="en-US" altLang="zh-CN" sz="1400" i="1" dirty="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e>
                          </m:d>
                          <m:r>
                            <a:rPr lang="en-US" altLang="zh-CN" sz="1400" i="1" dirty="0">
                              <a:solidFill>
                                <a:schemeClr val="tx1"/>
                              </a:solidFill>
                              <a:latin typeface="Cambria Math" panose="02040503050406030204" pitchFamily="18" charset="0"/>
                            </a:rPr>
                            <m:t> ⟨</m:t>
                          </m:r>
                          <m:sSup>
                            <m:sSupPr>
                              <m:ctrlPr>
                                <a:rPr lang="en-US" altLang="zh-CN" sz="1400" b="1" i="1" dirty="0" smtClean="0">
                                  <a:solidFill>
                                    <a:schemeClr val="tx1"/>
                                  </a:solidFill>
                                  <a:latin typeface="Cambria Math" panose="02040503050406030204" pitchFamily="18" charset="0"/>
                                </a:rPr>
                              </m:ctrlPr>
                            </m:sSupPr>
                            <m:e>
                              <m:r>
                                <a:rPr lang="en-US" altLang="zh-CN" sz="1400" b="1" i="1" dirty="0" smtClean="0">
                                  <a:solidFill>
                                    <a:schemeClr val="tx1"/>
                                  </a:solidFill>
                                  <a:latin typeface="Cambria Math" panose="02040503050406030204" pitchFamily="18" charset="0"/>
                                </a:rPr>
                                <m:t>𝒐</m:t>
                              </m:r>
                            </m:e>
                            <m:sup>
                              <m:r>
                                <a:rPr lang="en-US" altLang="zh-CN" sz="1400" b="1" i="1" dirty="0" smtClean="0">
                                  <a:solidFill>
                                    <a:schemeClr val="tx1"/>
                                  </a:solidFill>
                                  <a:latin typeface="Cambria Math" panose="02040503050406030204" pitchFamily="18" charset="0"/>
                                </a:rPr>
                                <m:t>+</m:t>
                              </m:r>
                            </m:sup>
                          </m:sSup>
                          <m:r>
                            <a:rPr lang="en-US" altLang="zh-CN" sz="1400" b="0" i="1" dirty="0" smtClean="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 </m:t>
                          </m:r>
                          <m:r>
                            <a:rPr lang="en-US" altLang="zh-CN" sz="1400" i="1" dirty="0" smtClean="0">
                              <a:solidFill>
                                <a:schemeClr val="tx1"/>
                              </a:solidFill>
                              <a:latin typeface="Cambria Math" panose="02040503050406030204" pitchFamily="18" charset="0"/>
                            </a:rPr>
                            <m:t>𝑑</m:t>
                          </m:r>
                          <m:sSub>
                            <m:sSubPr>
                              <m:ctrlPr>
                                <a:rPr lang="en-US" altLang="zh-CN" sz="1400" i="1" dirty="0" err="1" smtClean="0">
                                  <a:solidFill>
                                    <a:schemeClr val="tx1"/>
                                  </a:solidFill>
                                  <a:latin typeface="Cambria Math" panose="02040503050406030204" pitchFamily="18" charset="0"/>
                                </a:rPr>
                              </m:ctrlPr>
                            </m:sSubPr>
                            <m:e>
                              <m:r>
                                <a:rPr lang="en-US" altLang="zh-CN" sz="140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𝑚</m:t>
                              </m:r>
                            </m:sub>
                          </m:sSub>
                        </m:e>
                      </m:nary>
                      <m:r>
                        <a:rPr lang="en-US" altLang="zh-CN" sz="1400" i="1" dirty="0" smtClean="0">
                          <a:solidFill>
                            <a:schemeClr val="tx1"/>
                          </a:solidFill>
                          <a:latin typeface="Cambria Math" panose="02040503050406030204" pitchFamily="18" charset="0"/>
                        </a:rPr>
                        <m:t>=</m:t>
                      </m:r>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oMath>
                  </m:oMathPara>
                </a14:m>
                <a:endParaRPr lang="en-US" altLang="zh-CN" sz="1400" dirty="0">
                  <a:solidFill>
                    <a:schemeClr val="tx1"/>
                  </a:solidFill>
                </a:endParaRPr>
              </a:p>
              <a:p>
                <a:pPr/>
                <a14:m>
                  <m:oMathPara xmlns:m="http://schemas.openxmlformats.org/officeDocument/2006/math">
                    <m:oMathParaPr>
                      <m:jc m:val="centerGroup"/>
                    </m:oMathParaPr>
                    <m:oMath xmlns:m="http://schemas.openxmlformats.org/officeDocument/2006/math">
                      <m:nary>
                        <m:naryPr>
                          <m:supHide m:val="on"/>
                          <m:ctrlPr>
                            <a:rPr lang="en-US" altLang="zh-CN" sz="1400" i="1" dirty="0" smtClean="0">
                              <a:solidFill>
                                <a:schemeClr val="tx1"/>
                              </a:solidFill>
                              <a:latin typeface="Cambria Math" panose="02040503050406030204" pitchFamily="18" charset="0"/>
                            </a:rPr>
                          </m:ctrlPr>
                        </m:naryPr>
                        <m:sub>
                          <m:sSup>
                            <m:sSupPr>
                              <m:ctrlPr>
                                <a:rPr lang="en-US" altLang="zh-CN" sz="1400" i="1" dirty="0" smtClean="0">
                                  <a:solidFill>
                                    <a:schemeClr val="tx1"/>
                                  </a:solidFill>
                                  <a:latin typeface="Cambria Math" panose="02040503050406030204" pitchFamily="18" charset="0"/>
                                </a:rPr>
                              </m:ctrlPr>
                            </m:sSupPr>
                            <m:e>
                              <m:r>
                                <a:rPr lang="en-US" altLang="zh-CN" sz="1400" i="1" dirty="0" smtClean="0">
                                  <a:solidFill>
                                    <a:schemeClr val="tx1"/>
                                  </a:solidFill>
                                  <a:latin typeface="Cambria Math" panose="02040503050406030204" pitchFamily="18" charset="0"/>
                                </a:rPr>
                                <m:t>𝐻</m:t>
                              </m:r>
                            </m:e>
                            <m:sup>
                              <m:r>
                                <a:rPr lang="en-US" altLang="zh-CN" sz="1400" i="1" dirty="0" smtClean="0">
                                  <a:solidFill>
                                    <a:schemeClr val="tx1"/>
                                  </a:solidFill>
                                  <a:latin typeface="Cambria Math" panose="02040503050406030204" pitchFamily="18" charset="0"/>
                                </a:rPr>
                                <m:t>2</m:t>
                              </m:r>
                            </m:sup>
                          </m:sSup>
                        </m:sub>
                        <m:sup/>
                        <m:e>
                          <m:r>
                            <a:rPr lang="en-US" altLang="zh-CN" sz="1400" i="1" dirty="0" smtClean="0">
                              <a:solidFill>
                                <a:schemeClr val="tx1"/>
                              </a:solidFill>
                              <a:latin typeface="Cambria Math" panose="02040503050406030204" pitchFamily="18" charset="0"/>
                            </a:rPr>
                            <m:t>𝐷</m:t>
                          </m:r>
                          <m:d>
                            <m:dPr>
                              <m:ctrlPr>
                                <a:rPr lang="en-US" altLang="zh-CN" sz="1400" i="1" dirty="0" smtClean="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i="1" dirty="0">
                              <a:solidFill>
                                <a:schemeClr val="tx1"/>
                              </a:solidFill>
                              <a:latin typeface="Cambria Math" panose="02040503050406030204" pitchFamily="18" charset="0"/>
                            </a:rPr>
                            <m:t> ⟨</m:t>
                          </m:r>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b="0" i="1" dirty="0" smtClean="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 </m:t>
                          </m:r>
                          <m:r>
                            <a:rPr lang="en-US" altLang="zh-CN" sz="1400" i="1" dirty="0" smtClean="0">
                              <a:solidFill>
                                <a:schemeClr val="tx1"/>
                              </a:solidFill>
                              <a:latin typeface="Cambria Math" panose="02040503050406030204" pitchFamily="18" charset="0"/>
                            </a:rPr>
                            <m:t>𝑑</m:t>
                          </m:r>
                          <m:sSub>
                            <m:sSubPr>
                              <m:ctrlPr>
                                <a:rPr lang="en-US" altLang="zh-CN" sz="1400" i="1" dirty="0" err="1" smtClean="0">
                                  <a:solidFill>
                                    <a:schemeClr val="tx1"/>
                                  </a:solidFill>
                                  <a:latin typeface="Cambria Math" panose="02040503050406030204" pitchFamily="18" charset="0"/>
                                </a:rPr>
                              </m:ctrlPr>
                            </m:sSubPr>
                            <m:e>
                              <m:r>
                                <a:rPr lang="en-US" altLang="zh-CN" sz="140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𝑚</m:t>
                              </m:r>
                            </m:sub>
                          </m:sSub>
                        </m:e>
                      </m:nary>
                      <m:r>
                        <a:rPr lang="en-US" altLang="zh-CN" sz="1400" i="1" dirty="0" smtClean="0">
                          <a:solidFill>
                            <a:schemeClr val="tx1"/>
                          </a:solidFill>
                          <a:latin typeface="Cambria Math" panose="02040503050406030204" pitchFamily="18" charset="0"/>
                        </a:rPr>
                        <m:t>=</m:t>
                      </m:r>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oMath>
                  </m:oMathPara>
                </a14:m>
                <a:endParaRPr lang="en-US" altLang="zh-CN" sz="1400" dirty="0">
                  <a:solidFill>
                    <a:schemeClr val="tx1"/>
                  </a:solidFill>
                </a:endParaRPr>
              </a:p>
              <a:p>
                <a:pPr/>
                <a14:m>
                  <m:oMathPara xmlns:m="http://schemas.openxmlformats.org/officeDocument/2006/math">
                    <m:oMathParaPr>
                      <m:jc m:val="centerGroup"/>
                    </m:oMathParaPr>
                    <m:oMath xmlns:m="http://schemas.openxmlformats.org/officeDocument/2006/math">
                      <m:sSubSup>
                        <m:sSubSupPr>
                          <m:ctrlPr>
                            <a:rPr lang="en-US" altLang="zh-CN" sz="140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i="1" dirty="0">
                          <a:solidFill>
                            <a:schemeClr val="tx1"/>
                          </a:solidFill>
                          <a:latin typeface="Cambria Math" panose="02040503050406030204" pitchFamily="18" charset="0"/>
                        </a:rPr>
                        <m:t> </m:t>
                      </m:r>
                      <m:nary>
                        <m:naryPr>
                          <m:supHide m:val="on"/>
                          <m:ctrlPr>
                            <a:rPr lang="en-US" altLang="zh-CN" sz="1400" i="1" dirty="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err="1">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e>
                      </m:nary>
                      <m:r>
                        <a:rPr lang="en-US" altLang="zh-CN" sz="1400" i="1" dirty="0">
                          <a:solidFill>
                            <a:schemeClr val="tx1"/>
                          </a:solidFill>
                          <a:latin typeface="Cambria Math" panose="02040503050406030204" pitchFamily="18" charset="0"/>
                        </a:rPr>
                        <m:t>=</m:t>
                      </m:r>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oMath>
                  </m:oMathPara>
                </a14:m>
                <a:endParaRPr lang="en-US" altLang="zh-CN" sz="1400" dirty="0">
                  <a:solidFill>
                    <a:schemeClr val="tx1"/>
                  </a:solidFill>
                </a:endParaRPr>
              </a:p>
              <a:p>
                <a:pPr/>
                <a14:m>
                  <m:oMathPara xmlns:m="http://schemas.openxmlformats.org/officeDocument/2006/math">
                    <m:oMathParaPr>
                      <m:jc m:val="centerGroup"/>
                    </m:oMathParaPr>
                    <m:oMath xmlns:m="http://schemas.openxmlformats.org/officeDocument/2006/math">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num>
                        <m:den>
                          <m:nary>
                            <m:naryPr>
                              <m:supHide m:val="on"/>
                              <m:ctrlPr>
                                <a:rPr lang="en-US" altLang="zh-CN" sz="1400" i="1" dirty="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err="1">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e>
                          </m:nary>
                        </m:den>
                      </m:f>
                    </m:oMath>
                  </m:oMathPara>
                </a14:m>
                <a:endParaRPr lang="en-US" altLang="zh-CN" sz="1400" dirty="0">
                  <a:solidFill>
                    <a:schemeClr val="tx1"/>
                  </a:solidFill>
                </a:endParaRPr>
              </a:p>
              <a:p>
                <a:pPr/>
                <a14:m>
                  <m:oMathPara xmlns:m="http://schemas.openxmlformats.org/officeDocument/2006/math">
                    <m:oMathParaPr>
                      <m:jc m:val="centerGroup"/>
                    </m:oMathParaPr>
                    <m:oMath xmlns:m="http://schemas.openxmlformats.org/officeDocument/2006/math">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f>
                        <m:fPr>
                          <m:ctrlPr>
                            <a:rPr lang="en-US" altLang="zh-CN" sz="1400" b="0" i="1" dirty="0" smtClean="0">
                              <a:solidFill>
                                <a:schemeClr val="tx1"/>
                              </a:solidFill>
                              <a:latin typeface="Cambria Math" panose="02040503050406030204" pitchFamily="18" charset="0"/>
                            </a:rPr>
                          </m:ctrlPr>
                        </m:fPr>
                        <m:num>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num>
                        <m:den>
                          <m:nary>
                            <m:naryPr>
                              <m:supHide m:val="on"/>
                              <m:ctrlPr>
                                <a:rPr lang="en-US" altLang="zh-CN" sz="1400" i="1" dirty="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err="1">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e>
                          </m:nary>
                        </m:den>
                      </m:f>
                    </m:oMath>
                  </m:oMathPara>
                </a14:m>
                <a:endParaRPr lang="en-US" altLang="zh-CN" sz="1400" b="0" dirty="0">
                  <a:solidFill>
                    <a:schemeClr val="tx1"/>
                  </a:solidFill>
                </a:endParaRPr>
              </a:p>
            </p:txBody>
          </p:sp>
        </mc:Choice>
        <mc:Fallback xmlns="">
          <p:sp>
            <p:nvSpPr>
              <p:cNvPr id="64" name="矩形 63">
                <a:extLst>
                  <a:ext uri="{FF2B5EF4-FFF2-40B4-BE49-F238E27FC236}">
                    <a16:creationId xmlns:a16="http://schemas.microsoft.com/office/drawing/2014/main" id="{72CA747F-61AE-7770-15BA-621811F64C89}"/>
                  </a:ext>
                </a:extLst>
              </p:cNvPr>
              <p:cNvSpPr>
                <a:spLocks noRot="1" noChangeAspect="1" noMove="1" noResize="1" noEditPoints="1" noAdjustHandles="1" noChangeArrowheads="1" noChangeShapeType="1" noTextEdit="1"/>
              </p:cNvSpPr>
              <p:nvPr/>
            </p:nvSpPr>
            <p:spPr>
              <a:xfrm>
                <a:off x="478710" y="1144044"/>
                <a:ext cx="6290390" cy="5402806"/>
              </a:xfrm>
              <a:prstGeom prst="rect">
                <a:avLst/>
              </a:prstGeom>
              <a:blipFill>
                <a:blip r:embed="rId2"/>
                <a:stretch>
                  <a:fillRect l="-194" b="-10473"/>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6B4A47C3-ADAD-C4F6-DE24-24CE2BB2623B}"/>
              </a:ext>
            </a:extLst>
          </p:cNvPr>
          <p:cNvPicPr>
            <a:picLocks noChangeAspect="1"/>
          </p:cNvPicPr>
          <p:nvPr/>
        </p:nvPicPr>
        <p:blipFill>
          <a:blip r:embed="rId3"/>
          <a:srcRect l="50585"/>
          <a:stretch/>
        </p:blipFill>
        <p:spPr>
          <a:xfrm>
            <a:off x="7343308" y="1144044"/>
            <a:ext cx="4217582" cy="2559564"/>
          </a:xfrm>
          <a:prstGeom prst="rect">
            <a:avLst/>
          </a:prstGeom>
        </p:spPr>
      </p:pic>
      <p:sp>
        <p:nvSpPr>
          <p:cNvPr id="4" name="文本框 3">
            <a:extLst>
              <a:ext uri="{FF2B5EF4-FFF2-40B4-BE49-F238E27FC236}">
                <a16:creationId xmlns:a16="http://schemas.microsoft.com/office/drawing/2014/main" id="{31D1F3FE-D169-08A9-1348-5A00C2D28D86}"/>
              </a:ext>
            </a:extLst>
          </p:cNvPr>
          <p:cNvSpPr txBox="1"/>
          <p:nvPr/>
        </p:nvSpPr>
        <p:spPr>
          <a:xfrm>
            <a:off x="8183066" y="3723338"/>
            <a:ext cx="2538067" cy="369332"/>
          </a:xfrm>
          <a:prstGeom prst="rect">
            <a:avLst/>
          </a:prstGeom>
          <a:noFill/>
        </p:spPr>
        <p:txBody>
          <a:bodyPr wrap="none" rtlCol="0">
            <a:spAutoFit/>
          </a:bodyPr>
          <a:lstStyle/>
          <a:p>
            <a:pPr algn="ctr"/>
            <a:r>
              <a:rPr lang="en-US" altLang="zh-CN" b="0" i="0" dirty="0">
                <a:solidFill>
                  <a:srgbClr val="212529"/>
                </a:solidFill>
                <a:effectLst/>
                <a:latin typeface="Domine"/>
              </a:rPr>
              <a:t>Heitz </a:t>
            </a:r>
            <a:r>
              <a:rPr lang="en-US" altLang="zh-CN" dirty="0">
                <a:solidFill>
                  <a:srgbClr val="212529"/>
                </a:solidFill>
                <a:latin typeface="Domine"/>
              </a:rPr>
              <a:t>(2014) </a:t>
            </a:r>
            <a:r>
              <a:rPr lang="en-US" altLang="zh-CN" dirty="0">
                <a:solidFill>
                  <a:srgbClr val="212529"/>
                </a:solidFill>
                <a:latin typeface="Domine"/>
                <a:hlinkClick r:id="rId4" action="ppaction://hlinksldjump"/>
              </a:rPr>
              <a:t>5</a:t>
            </a:r>
            <a:r>
              <a:rPr lang="zh-CN" altLang="en-US" dirty="0">
                <a:solidFill>
                  <a:srgbClr val="212529"/>
                </a:solidFill>
                <a:latin typeface="Domine"/>
              </a:rPr>
              <a:t>，</a:t>
            </a:r>
            <a:r>
              <a:rPr lang="en-US" altLang="zh-CN" dirty="0">
                <a:solidFill>
                  <a:srgbClr val="212529"/>
                </a:solidFill>
                <a:latin typeface="Domine"/>
              </a:rPr>
              <a:t>Figure 6.</a:t>
            </a:r>
            <a:endParaRPr lang="zh-CN" altLang="en-US" dirty="0"/>
          </a:p>
        </p:txBody>
      </p:sp>
      <p:sp>
        <p:nvSpPr>
          <p:cNvPr id="2" name="矩形 1">
            <a:extLst>
              <a:ext uri="{FF2B5EF4-FFF2-40B4-BE49-F238E27FC236}">
                <a16:creationId xmlns:a16="http://schemas.microsoft.com/office/drawing/2014/main" id="{FA5114F8-2DEC-2686-F83D-02AAC36C26C7}"/>
              </a:ext>
            </a:extLst>
          </p:cNvPr>
          <p:cNvSpPr/>
          <p:nvPr/>
        </p:nvSpPr>
        <p:spPr>
          <a:xfrm>
            <a:off x="7476658" y="4496159"/>
            <a:ext cx="4084232" cy="222214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E1F1B93B-BC2C-9C43-6573-B72F98522AE2}"/>
              </a:ext>
            </a:extLst>
          </p:cNvPr>
          <p:cNvSpPr/>
          <p:nvPr/>
        </p:nvSpPr>
        <p:spPr>
          <a:xfrm>
            <a:off x="7343308" y="4324709"/>
            <a:ext cx="4084232" cy="222214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dirty="0">
                <a:solidFill>
                  <a:schemeClr val="tx1"/>
                </a:solidFill>
              </a:rPr>
              <a:t>        可以看到，由</a:t>
            </a:r>
            <a:r>
              <a:rPr lang="en-US" altLang="zh-CN" dirty="0">
                <a:solidFill>
                  <a:schemeClr val="tx1"/>
                </a:solidFill>
              </a:rPr>
              <a:t>Smith</a:t>
            </a:r>
            <a:r>
              <a:rPr lang="zh-CN" altLang="en-US" dirty="0">
                <a:solidFill>
                  <a:schemeClr val="tx1"/>
                </a:solidFill>
              </a:rPr>
              <a:t> </a:t>
            </a:r>
            <a:r>
              <a:rPr lang="en-US" altLang="zh-CN" dirty="0">
                <a:solidFill>
                  <a:schemeClr val="tx1"/>
                </a:solidFill>
              </a:rPr>
              <a:t>Models</a:t>
            </a:r>
            <a:r>
              <a:rPr lang="zh-CN" altLang="en-US" dirty="0">
                <a:solidFill>
                  <a:schemeClr val="tx1"/>
                </a:solidFill>
              </a:rPr>
              <a:t>（约束</a:t>
            </a:r>
            <a:r>
              <a:rPr lang="en-US" altLang="zh-CN" dirty="0">
                <a:solidFill>
                  <a:schemeClr val="tx1"/>
                </a:solidFill>
              </a:rPr>
              <a:t>1</a:t>
            </a:r>
            <a:r>
              <a:rPr lang="zh-CN" altLang="en-US" dirty="0">
                <a:solidFill>
                  <a:schemeClr val="tx1"/>
                </a:solidFill>
              </a:rPr>
              <a:t>）以及 法线分布函数（约束</a:t>
            </a:r>
            <a:r>
              <a:rPr lang="en-US" altLang="zh-CN" dirty="0">
                <a:solidFill>
                  <a:schemeClr val="tx1"/>
                </a:solidFill>
              </a:rPr>
              <a:t>2</a:t>
            </a:r>
            <a:r>
              <a:rPr lang="zh-CN" altLang="en-US" dirty="0">
                <a:solidFill>
                  <a:schemeClr val="tx1"/>
                </a:solidFill>
              </a:rPr>
              <a:t>）这两个约束，可以完全确定出唯一的掩蔽函数。</a:t>
            </a:r>
            <a:endParaRPr lang="en-US" altLang="zh-CN" dirty="0">
              <a:solidFill>
                <a:schemeClr val="tx1"/>
              </a:solidFill>
            </a:endParaRPr>
          </a:p>
        </p:txBody>
      </p:sp>
    </p:spTree>
    <p:extLst>
      <p:ext uri="{BB962C8B-B14F-4D97-AF65-F5344CB8AC3E}">
        <p14:creationId xmlns:p14="http://schemas.microsoft.com/office/powerpoint/2010/main" val="37050238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97531-7031-2C2E-2F92-237D2A130264}"/>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652C86B3-30C5-4DFD-3A8F-95B1C2332AAD}"/>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基于微表面理论的</a:t>
            </a:r>
            <a:r>
              <a:rPr lang="en-US" altLang="zh-CN" dirty="0"/>
              <a:t>BSDF</a:t>
            </a:r>
          </a:p>
        </p:txBody>
      </p:sp>
      <p:sp>
        <p:nvSpPr>
          <p:cNvPr id="63" name="矩形 62">
            <a:extLst>
              <a:ext uri="{FF2B5EF4-FFF2-40B4-BE49-F238E27FC236}">
                <a16:creationId xmlns:a16="http://schemas.microsoft.com/office/drawing/2014/main" id="{6CA65D58-0971-F9F8-3671-7624BE1DDB9F}"/>
              </a:ext>
            </a:extLst>
          </p:cNvPr>
          <p:cNvSpPr/>
          <p:nvPr/>
        </p:nvSpPr>
        <p:spPr>
          <a:xfrm>
            <a:off x="631109" y="1315233"/>
            <a:ext cx="6748783"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FEBCA0D0-BDFA-0F09-8904-8462A227031E}"/>
                  </a:ext>
                </a:extLst>
              </p:cNvPr>
              <p:cNvSpPr/>
              <p:nvPr/>
            </p:nvSpPr>
            <p:spPr>
              <a:xfrm>
                <a:off x="478709" y="1144044"/>
                <a:ext cx="6748783"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300" dirty="0">
                    <a:solidFill>
                      <a:schemeClr val="tx1"/>
                    </a:solidFill>
                  </a:rPr>
                  <a:t>对于光束击中的宏观表面的一块微小面积</a:t>
                </a:r>
                <a14:m>
                  <m:oMath xmlns:m="http://schemas.openxmlformats.org/officeDocument/2006/math">
                    <m:sSub>
                      <m:sSubPr>
                        <m:ctrlPr>
                          <a:rPr lang="en-US" altLang="zh-CN" sz="1300" b="0" i="1" dirty="0" smtClean="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𝐴</m:t>
                        </m:r>
                      </m:e>
                      <m:sub>
                        <m:r>
                          <a:rPr lang="en-US" altLang="zh-CN" sz="1300" b="0" i="1" dirty="0" smtClean="0">
                            <a:solidFill>
                              <a:schemeClr val="tx1"/>
                            </a:solidFill>
                            <a:latin typeface="Cambria Math" panose="02040503050406030204" pitchFamily="18" charset="0"/>
                          </a:rPr>
                          <m:t>𝑀</m:t>
                        </m:r>
                      </m:sub>
                    </m:sSub>
                  </m:oMath>
                </a14:m>
                <a:r>
                  <a:rPr lang="zh-CN" altLang="en-US" sz="1300" dirty="0">
                    <a:solidFill>
                      <a:schemeClr val="tx1"/>
                    </a:solidFill>
                  </a:rPr>
                  <a:t>：</a:t>
                </a:r>
                <a:endParaRPr lang="en-US" altLang="zh-CN" sz="13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m:rPr>
                          <m:nor/>
                        </m:rPr>
                        <a:rPr lang="zh-CN" altLang="en-US" sz="1300" dirty="0">
                          <a:solidFill>
                            <a:schemeClr val="tx1"/>
                          </a:solidFill>
                        </a:rPr>
                        <m:t>朝向</m:t>
                      </m:r>
                      <m:r>
                        <a:rPr lang="zh-CN" altLang="en-US" sz="1300" i="1" dirty="0">
                          <a:solidFill>
                            <a:schemeClr val="tx1"/>
                          </a:solidFill>
                          <a:latin typeface="Cambria Math" panose="02040503050406030204" pitchFamily="18" charset="0"/>
                        </a:rPr>
                        <m:t>为</m:t>
                      </m:r>
                      <m:r>
                        <a:rPr lang="en-US" altLang="zh-CN" sz="1300" b="1" i="1" dirty="0" smtClean="0">
                          <a:solidFill>
                            <a:schemeClr val="tx1"/>
                          </a:solidFill>
                          <a:latin typeface="Cambria Math" panose="02040503050406030204" pitchFamily="18" charset="0"/>
                        </a:rPr>
                        <m:t>𝒎</m:t>
                      </m:r>
                      <m:r>
                        <m:rPr>
                          <m:nor/>
                        </m:rPr>
                        <a:rPr lang="zh-CN" altLang="en-US" sz="1300" dirty="0">
                          <a:solidFill>
                            <a:schemeClr val="tx1"/>
                          </a:solidFill>
                        </a:rPr>
                        <m:t>的微面</m:t>
                      </m:r>
                      <m:r>
                        <a:rPr lang="zh-CN" altLang="en-US" sz="1300" i="1" dirty="0">
                          <a:solidFill>
                            <a:schemeClr val="tx1"/>
                          </a:solidFill>
                          <a:latin typeface="Cambria Math" panose="02040503050406030204" pitchFamily="18" charset="0"/>
                        </a:rPr>
                        <m:t>向</m:t>
                      </m:r>
                      <m:r>
                        <a:rPr lang="en-US" altLang="zh-CN" sz="1300" b="1" i="1" dirty="0" smtClean="0">
                          <a:solidFill>
                            <a:schemeClr val="tx1"/>
                          </a:solidFill>
                          <a:latin typeface="Cambria Math" panose="02040503050406030204" pitchFamily="18" charset="0"/>
                        </a:rPr>
                        <m:t>𝒐</m:t>
                      </m:r>
                      <m:r>
                        <a:rPr lang="zh-CN" altLang="en-US" sz="1300" b="1" i="1" dirty="0">
                          <a:solidFill>
                            <a:schemeClr val="tx1"/>
                          </a:solidFill>
                          <a:latin typeface="Cambria Math" panose="02040503050406030204" pitchFamily="18" charset="0"/>
                        </a:rPr>
                        <m:t>方向</m:t>
                      </m:r>
                      <m:r>
                        <a:rPr lang="zh-CN" altLang="en-US" sz="1300" i="1" dirty="0" smtClean="0">
                          <a:solidFill>
                            <a:schemeClr val="tx1"/>
                          </a:solidFill>
                          <a:latin typeface="Cambria Math" panose="02040503050406030204" pitchFamily="18" charset="0"/>
                        </a:rPr>
                        <m:t>的</m:t>
                      </m:r>
                      <m:r>
                        <a:rPr lang="zh-CN" altLang="en-US" sz="1300" i="1" dirty="0">
                          <a:solidFill>
                            <a:schemeClr val="tx1"/>
                          </a:solidFill>
                          <a:latin typeface="Cambria Math" panose="02040503050406030204" pitchFamily="18" charset="0"/>
                        </a:rPr>
                        <m:t>出射</m:t>
                      </m:r>
                      <m:r>
                        <a:rPr lang="en-US" altLang="zh-CN" sz="1300" b="0" i="1" dirty="0" smtClean="0">
                          <a:solidFill>
                            <a:schemeClr val="tx1"/>
                          </a:solidFill>
                          <a:latin typeface="Cambria Math" panose="02040503050406030204" pitchFamily="18" charset="0"/>
                        </a:rPr>
                        <m:t>𝑅𝑎𝑑𝑖𝑎𝑛𝑐𝑒</m:t>
                      </m:r>
                      <m:r>
                        <a:rPr lang="zh-CN" altLang="en-US" sz="1300" i="1" dirty="0">
                          <a:solidFill>
                            <a:schemeClr val="tx1"/>
                          </a:solidFill>
                          <a:latin typeface="Cambria Math" panose="02040503050406030204" pitchFamily="18" charset="0"/>
                        </a:rPr>
                        <m:t>：</m:t>
                      </m:r>
                      <m:sSubSup>
                        <m:sSubSupPr>
                          <m:ctrlPr>
                            <a:rPr lang="en-US" altLang="zh-CN" sz="1300" b="0" i="1" dirty="0" smtClean="0">
                              <a:solidFill>
                                <a:schemeClr val="tx1"/>
                              </a:solidFill>
                              <a:latin typeface="Cambria Math" panose="02040503050406030204" pitchFamily="18" charset="0"/>
                            </a:rPr>
                          </m:ctrlPr>
                        </m:sSubSupPr>
                        <m:e>
                          <m:r>
                            <a:rPr lang="en-US" altLang="zh-CN" sz="1300" b="0" i="1" dirty="0" smtClean="0">
                              <a:solidFill>
                                <a:schemeClr val="tx1"/>
                              </a:solidFill>
                              <a:latin typeface="Cambria Math" panose="02040503050406030204" pitchFamily="18" charset="0"/>
                            </a:rPr>
                            <m:t>𝐿</m:t>
                          </m:r>
                        </m:e>
                        <m:sub>
                          <m:r>
                            <a:rPr lang="en-US" altLang="zh-CN" sz="1300" b="0" i="1" dirty="0" smtClean="0">
                              <a:solidFill>
                                <a:schemeClr val="tx1"/>
                              </a:solidFill>
                              <a:latin typeface="Cambria Math" panose="02040503050406030204" pitchFamily="18" charset="0"/>
                            </a:rPr>
                            <m:t>𝑜</m:t>
                          </m:r>
                        </m:sub>
                        <m:sup>
                          <m:r>
                            <a:rPr lang="en-US" altLang="zh-CN" sz="1300" b="1" i="1" dirty="0" smtClean="0">
                              <a:solidFill>
                                <a:schemeClr val="tx1"/>
                              </a:solidFill>
                              <a:latin typeface="Cambria Math" panose="02040503050406030204" pitchFamily="18" charset="0"/>
                            </a:rPr>
                            <m:t>𝒎</m:t>
                          </m:r>
                        </m:sup>
                      </m:sSubSup>
                      <m:d>
                        <m:dPr>
                          <m:ctrlPr>
                            <a:rPr lang="en-US" altLang="zh-CN" sz="1300" b="0" i="1" dirty="0" smtClean="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𝒐</m:t>
                          </m:r>
                        </m:e>
                      </m:d>
                      <m:r>
                        <a:rPr lang="en-US" altLang="zh-CN" sz="1300" b="0" i="1" dirty="0" smtClean="0">
                          <a:solidFill>
                            <a:schemeClr val="tx1"/>
                          </a:solidFill>
                          <a:latin typeface="Cambria Math" panose="02040503050406030204" pitchFamily="18" charset="0"/>
                        </a:rPr>
                        <m:t> </m:t>
                      </m:r>
                      <m:d>
                        <m:dPr>
                          <m:begChr m:val="["/>
                          <m:endChr m:val="]"/>
                          <m:ctrlPr>
                            <a:rPr lang="en-US" altLang="zh-CN" sz="1300" b="0" i="1" dirty="0" smtClean="0">
                              <a:solidFill>
                                <a:schemeClr val="tx1"/>
                              </a:solidFill>
                              <a:latin typeface="Cambria Math" panose="02040503050406030204" pitchFamily="18" charset="0"/>
                            </a:rPr>
                          </m:ctrlPr>
                        </m:dPr>
                        <m:e>
                          <m:r>
                            <m:rPr>
                              <m:sty m:val="p"/>
                            </m:rPr>
                            <a:rPr lang="en-US" altLang="zh-CN" sz="1300" i="1" dirty="0">
                              <a:solidFill>
                                <a:schemeClr val="tx1"/>
                              </a:solidFill>
                              <a:latin typeface="Cambria Math" panose="02040503050406030204" pitchFamily="18" charset="0"/>
                            </a:rPr>
                            <m:t>nit</m:t>
                          </m:r>
                        </m:e>
                      </m:d>
                    </m:oMath>
                  </m:oMathPara>
                </a14:m>
                <a:endParaRPr lang="en-US" altLang="zh-CN" sz="1300" b="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zh-CN" altLang="en-US" sz="1300" i="1" dirty="0">
                          <a:solidFill>
                            <a:schemeClr val="tx1"/>
                          </a:solidFill>
                          <a:latin typeface="Cambria Math" panose="02040503050406030204" pitchFamily="18" charset="0"/>
                        </a:rPr>
                        <m:t>计算它们未被遮挡</m:t>
                      </m:r>
                      <m:r>
                        <a:rPr lang="zh-CN" altLang="en-US" sz="1300" i="1" dirty="0" smtClean="0">
                          <a:solidFill>
                            <a:schemeClr val="tx1"/>
                          </a:solidFill>
                          <a:latin typeface="Cambria Math" panose="02040503050406030204" pitchFamily="18" charset="0"/>
                        </a:rPr>
                        <m:t>的</m:t>
                      </m:r>
                      <m:r>
                        <a:rPr lang="zh-CN" altLang="en-US" sz="1300" i="1" dirty="0">
                          <a:solidFill>
                            <a:schemeClr val="tx1"/>
                          </a:solidFill>
                          <a:latin typeface="Cambria Math" panose="02040503050406030204" pitchFamily="18" charset="0"/>
                        </a:rPr>
                        <m:t>出射</m:t>
                      </m:r>
                      <m:r>
                        <m:rPr>
                          <m:sty m:val="p"/>
                        </m:rPr>
                        <a:rPr lang="en-US" altLang="zh-CN" sz="1300" b="0" i="0" dirty="0" smtClean="0">
                          <a:solidFill>
                            <a:schemeClr val="tx1"/>
                          </a:solidFill>
                          <a:latin typeface="Cambria Math" panose="02040503050406030204" pitchFamily="18" charset="0"/>
                        </a:rPr>
                        <m:t>Intensity</m:t>
                      </m:r>
                      <m:r>
                        <a:rPr lang="zh-CN" altLang="en-US" sz="1300" i="1" dirty="0">
                          <a:solidFill>
                            <a:schemeClr val="tx1"/>
                          </a:solidFill>
                          <a:latin typeface="Cambria Math" panose="02040503050406030204" pitchFamily="18" charset="0"/>
                        </a:rPr>
                        <m:t>：</m:t>
                      </m:r>
                    </m:oMath>
                  </m:oMathPara>
                </a14:m>
                <a:endParaRPr lang="en-US" altLang="zh-CN" sz="130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𝐼</m:t>
                          </m:r>
                        </m:e>
                        <m:sub>
                          <m:r>
                            <a:rPr lang="en-US" altLang="zh-CN" sz="1300" b="0" i="1" dirty="0" smtClean="0">
                              <a:solidFill>
                                <a:schemeClr val="tx1"/>
                              </a:solidFill>
                              <a:latin typeface="Cambria Math" panose="02040503050406030204" pitchFamily="18" charset="0"/>
                            </a:rPr>
                            <m:t>𝑜</m:t>
                          </m:r>
                        </m:sub>
                      </m:sSub>
                      <m:d>
                        <m:dPr>
                          <m:ctrlPr>
                            <a:rPr lang="en-US" altLang="zh-CN" sz="1300" b="0" i="1" dirty="0" smtClean="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𝒐</m:t>
                          </m:r>
                          <m:r>
                            <a:rPr lang="en-US" altLang="zh-CN" sz="1300" b="1" i="1" dirty="0" smtClean="0">
                              <a:solidFill>
                                <a:schemeClr val="tx1"/>
                              </a:solidFill>
                              <a:latin typeface="Cambria Math" panose="02040503050406030204" pitchFamily="18" charset="0"/>
                            </a:rPr>
                            <m:t>,</m:t>
                          </m:r>
                          <m:r>
                            <a:rPr lang="en-US" altLang="zh-CN" sz="1300" b="1" i="1" dirty="0" smtClean="0">
                              <a:solidFill>
                                <a:schemeClr val="tx1"/>
                              </a:solidFill>
                              <a:latin typeface="Cambria Math" panose="02040503050406030204" pitchFamily="18" charset="0"/>
                            </a:rPr>
                            <m:t>𝒎</m:t>
                          </m:r>
                        </m:e>
                      </m:d>
                      <m:r>
                        <a:rPr lang="en-US" altLang="zh-CN" sz="1300" b="1" i="1" dirty="0" smtClean="0">
                          <a:solidFill>
                            <a:schemeClr val="tx1"/>
                          </a:solidFill>
                          <a:latin typeface="Cambria Math" panose="02040503050406030204" pitchFamily="18" charset="0"/>
                        </a:rPr>
                        <m:t>=</m:t>
                      </m:r>
                      <m:f>
                        <m:fPr>
                          <m:ctrlPr>
                            <a:rPr lang="en-US" altLang="zh-CN" sz="1300" b="1" i="1" dirty="0" smtClean="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𝑑</m:t>
                          </m:r>
                          <m:sSub>
                            <m:sSubPr>
                              <m:ctrlPr>
                                <a:rPr lang="en-US" altLang="zh-CN" sz="1300" i="1" dirty="0">
                                  <a:solidFill>
                                    <a:schemeClr val="tx1"/>
                                  </a:solidFill>
                                  <a:latin typeface="Cambria Math" panose="02040503050406030204" pitchFamily="18" charset="0"/>
                                </a:rPr>
                              </m:ctrlPr>
                            </m:sSubPr>
                            <m:e>
                              <m:r>
                                <m:rPr>
                                  <m:sty m:val="p"/>
                                </m:rPr>
                                <a:rPr lang="en-US" altLang="zh-CN" sz="1300" dirty="0">
                                  <a:solidFill>
                                    <a:schemeClr val="tx1"/>
                                  </a:solidFill>
                                  <a:latin typeface="Cambria Math" panose="02040503050406030204" pitchFamily="18" charset="0"/>
                                </a:rPr>
                                <m:t>I</m:t>
                              </m:r>
                            </m:e>
                            <m:sub>
                              <m:r>
                                <m:rPr>
                                  <m:sty m:val="p"/>
                                </m:rPr>
                                <a:rPr lang="en-US" altLang="zh-CN" sz="1300" dirty="0">
                                  <a:solidFill>
                                    <a:schemeClr val="tx1"/>
                                  </a:solidFill>
                                  <a:latin typeface="Cambria Math" panose="02040503050406030204" pitchFamily="18" charset="0"/>
                                </a:rPr>
                                <m:t>o</m:t>
                              </m:r>
                            </m:sub>
                          </m:sSub>
                          <m:d>
                            <m:dPr>
                              <m:ctrlPr>
                                <a:rPr lang="en-US" altLang="zh-CN" sz="1300" i="1" dirty="0">
                                  <a:solidFill>
                                    <a:schemeClr val="tx1"/>
                                  </a:solidFill>
                                  <a:latin typeface="Cambria Math" panose="02040503050406030204" pitchFamily="18" charset="0"/>
                                </a:rPr>
                              </m:ctrlPr>
                            </m:dPr>
                            <m:e>
                              <m:r>
                                <a:rPr lang="en-US" altLang="zh-CN" sz="1300" b="1" i="1" dirty="0">
                                  <a:solidFill>
                                    <a:schemeClr val="tx1"/>
                                  </a:solidFill>
                                  <a:latin typeface="Cambria Math" panose="02040503050406030204" pitchFamily="18" charset="0"/>
                                </a:rPr>
                                <m:t>𝒐</m:t>
                              </m:r>
                            </m:e>
                          </m:d>
                        </m:num>
                        <m:den>
                          <m:r>
                            <a:rPr lang="en-US" altLang="zh-CN" sz="1300" i="1" dirty="0">
                              <a:solidFill>
                                <a:schemeClr val="tx1"/>
                              </a:solidFill>
                              <a:latin typeface="Cambria Math" panose="02040503050406030204" pitchFamily="18" charset="0"/>
                            </a:rPr>
                            <m:t>𝑑</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𝜔</m:t>
                              </m:r>
                            </m:e>
                            <m:sub>
                              <m:r>
                                <a:rPr lang="en-US" altLang="zh-CN" sz="1300" i="1" dirty="0">
                                  <a:solidFill>
                                    <a:schemeClr val="tx1"/>
                                  </a:solidFill>
                                  <a:latin typeface="Cambria Math" panose="02040503050406030204" pitchFamily="18" charset="0"/>
                                </a:rPr>
                                <m:t>𝑚</m:t>
                              </m:r>
                            </m:sub>
                          </m:sSub>
                        </m:den>
                      </m:f>
                      <m:r>
                        <a:rPr lang="en-US" altLang="zh-CN" sz="1300" b="0" i="0" dirty="0" smtClean="0">
                          <a:solidFill>
                            <a:schemeClr val="tx1"/>
                          </a:solidFill>
                          <a:latin typeface="Cambria Math" panose="02040503050406030204" pitchFamily="18" charset="0"/>
                        </a:rPr>
                        <m:t>=</m:t>
                      </m:r>
                      <m:sSubSup>
                        <m:sSubSupPr>
                          <m:ctrlPr>
                            <a:rPr lang="en-US" altLang="zh-CN" sz="1300" i="1" dirty="0">
                              <a:solidFill>
                                <a:schemeClr val="tx1"/>
                              </a:solidFill>
                              <a:latin typeface="Cambria Math" panose="02040503050406030204" pitchFamily="18" charset="0"/>
                            </a:rPr>
                          </m:ctrlPr>
                        </m:sSubSupPr>
                        <m:e>
                          <m:r>
                            <a:rPr lang="en-US" altLang="zh-CN" sz="1300" i="1" dirty="0">
                              <a:solidFill>
                                <a:schemeClr val="tx1"/>
                              </a:solidFill>
                              <a:latin typeface="Cambria Math" panose="02040503050406030204" pitchFamily="18" charset="0"/>
                            </a:rPr>
                            <m:t>𝐿</m:t>
                          </m:r>
                        </m:e>
                        <m:sub>
                          <m:r>
                            <a:rPr lang="en-US" altLang="zh-CN" sz="1300" i="1" dirty="0">
                              <a:solidFill>
                                <a:schemeClr val="tx1"/>
                              </a:solidFill>
                              <a:latin typeface="Cambria Math" panose="02040503050406030204" pitchFamily="18" charset="0"/>
                            </a:rPr>
                            <m:t>𝑜</m:t>
                          </m:r>
                        </m:sub>
                        <m:sup>
                          <m:r>
                            <a:rPr lang="en-US" altLang="zh-CN" sz="1300" b="1" i="1" dirty="0">
                              <a:solidFill>
                                <a:schemeClr val="tx1"/>
                              </a:solidFill>
                              <a:latin typeface="Cambria Math" panose="02040503050406030204" pitchFamily="18" charset="0"/>
                            </a:rPr>
                            <m:t>𝒎</m:t>
                          </m:r>
                        </m:sup>
                      </m:sSubSup>
                      <m:d>
                        <m:dPr>
                          <m:ctrlPr>
                            <a:rPr lang="en-US" altLang="zh-CN" sz="1300" i="1" dirty="0">
                              <a:solidFill>
                                <a:schemeClr val="tx1"/>
                              </a:solidFill>
                              <a:latin typeface="Cambria Math" panose="02040503050406030204" pitchFamily="18" charset="0"/>
                            </a:rPr>
                          </m:ctrlPr>
                        </m:dPr>
                        <m:e>
                          <m:r>
                            <a:rPr lang="en-US" altLang="zh-CN" sz="1300" b="1" i="1" dirty="0">
                              <a:solidFill>
                                <a:schemeClr val="tx1"/>
                              </a:solidFill>
                              <a:latin typeface="Cambria Math" panose="02040503050406030204" pitchFamily="18" charset="0"/>
                            </a:rPr>
                            <m:t>𝒐</m:t>
                          </m:r>
                        </m:e>
                      </m:d>
                      <m:r>
                        <a:rPr lang="en-US" altLang="zh-CN" sz="1300" b="0" i="1" dirty="0" smtClean="0">
                          <a:solidFill>
                            <a:schemeClr val="tx1"/>
                          </a:solidFill>
                          <a:latin typeface="Cambria Math" panose="02040503050406030204" pitchFamily="18" charset="0"/>
                        </a:rPr>
                        <m:t> </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𝐴</m:t>
                          </m:r>
                        </m:e>
                        <m:sub>
                          <m:r>
                            <a:rPr lang="en-US" altLang="zh-CN" sz="1300" i="1" dirty="0">
                              <a:solidFill>
                                <a:schemeClr val="tx1"/>
                              </a:solidFill>
                              <a:latin typeface="Cambria Math" panose="02040503050406030204" pitchFamily="18" charset="0"/>
                            </a:rPr>
                            <m:t>𝑝𝑟𝑜𝑗𝑒𝑐𝑡𝑒𝑑</m:t>
                          </m:r>
                          <m:r>
                            <a:rPr lang="en-US" altLang="zh-CN" sz="1300" i="1" dirty="0">
                              <a:solidFill>
                                <a:schemeClr val="tx1"/>
                              </a:solidFill>
                              <a:latin typeface="Cambria Math" panose="02040503050406030204" pitchFamily="18" charset="0"/>
                            </a:rPr>
                            <m:t>_</m:t>
                          </m:r>
                          <m:r>
                            <a:rPr lang="en-US" altLang="zh-CN" sz="1300" i="1" dirty="0">
                              <a:solidFill>
                                <a:schemeClr val="tx1"/>
                              </a:solidFill>
                              <a:latin typeface="Cambria Math" panose="02040503050406030204" pitchFamily="18" charset="0"/>
                            </a:rPr>
                            <m:t>𝑣𝑖𝑠𝑖𝑏𝑙𝑒</m:t>
                          </m:r>
                        </m:sub>
                      </m:sSub>
                      <m:d>
                        <m:dPr>
                          <m:ctrlPr>
                            <a:rPr lang="en-US" altLang="zh-CN" sz="1300" b="0" i="1" dirty="0" smtClean="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𝒐</m:t>
                          </m:r>
                          <m:r>
                            <a:rPr lang="en-US" altLang="zh-CN" sz="1300" b="0" i="1" dirty="0" smtClean="0">
                              <a:solidFill>
                                <a:schemeClr val="tx1"/>
                              </a:solidFill>
                              <a:latin typeface="Cambria Math" panose="02040503050406030204" pitchFamily="18" charset="0"/>
                            </a:rPr>
                            <m:t>,</m:t>
                          </m:r>
                          <m:r>
                            <a:rPr lang="en-US" altLang="zh-CN" sz="1300" b="1" i="1" dirty="0" smtClean="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 </m:t>
                      </m:r>
                      <m:d>
                        <m:dPr>
                          <m:begChr m:val="["/>
                          <m:endChr m:val="]"/>
                          <m:ctrlPr>
                            <a:rPr lang="en-US" altLang="zh-CN" sz="1300" b="0" i="1" dirty="0" smtClean="0">
                              <a:solidFill>
                                <a:schemeClr val="tx1"/>
                              </a:solidFill>
                              <a:latin typeface="Cambria Math" panose="02040503050406030204" pitchFamily="18" charset="0"/>
                            </a:rPr>
                          </m:ctrlPr>
                        </m:dPr>
                        <m:e>
                          <m:r>
                            <a:rPr lang="en-US" altLang="zh-CN" sz="1300" b="0" i="1" dirty="0" smtClean="0">
                              <a:solidFill>
                                <a:schemeClr val="tx1"/>
                              </a:solidFill>
                              <a:latin typeface="Cambria Math" panose="02040503050406030204" pitchFamily="18" charset="0"/>
                            </a:rPr>
                            <m:t>𝑐𝑑</m:t>
                          </m:r>
                          <m:r>
                            <a:rPr lang="en-US" altLang="zh-CN" sz="1300" b="0" i="1" dirty="0" smtClean="0">
                              <a:solidFill>
                                <a:schemeClr val="tx1"/>
                              </a:solidFill>
                              <a:latin typeface="Cambria Math" panose="02040503050406030204" pitchFamily="18" charset="0"/>
                            </a:rPr>
                            <m:t> </m:t>
                          </m:r>
                          <m:r>
                            <a:rPr lang="en-US" altLang="zh-CN" sz="1300" b="0" i="1" dirty="0" smtClean="0">
                              <a:solidFill>
                                <a:schemeClr val="tx1"/>
                              </a:solidFill>
                              <a:latin typeface="Cambria Math" panose="02040503050406030204" pitchFamily="18" charset="0"/>
                            </a:rPr>
                            <m:t>𝑝𝑒𝑟</m:t>
                          </m:r>
                          <m:r>
                            <a:rPr lang="en-US" altLang="zh-CN" sz="1300" b="0" i="1" dirty="0" smtClean="0">
                              <a:solidFill>
                                <a:schemeClr val="tx1"/>
                              </a:solidFill>
                              <a:latin typeface="Cambria Math" panose="02040503050406030204" pitchFamily="18" charset="0"/>
                            </a:rPr>
                            <m:t> </m:t>
                          </m:r>
                          <m:r>
                            <a:rPr lang="en-US" altLang="zh-CN" sz="1300" b="0" i="1" dirty="0" smtClean="0">
                              <a:solidFill>
                                <a:schemeClr val="tx1"/>
                              </a:solidFill>
                              <a:latin typeface="Cambria Math" panose="02040503050406030204" pitchFamily="18" charset="0"/>
                            </a:rPr>
                            <m:t>𝑠𝑟</m:t>
                          </m:r>
                        </m:e>
                      </m:d>
                    </m:oMath>
                  </m:oMathPara>
                </a14:m>
                <a:endParaRPr lang="en-US" altLang="zh-CN" sz="1300" b="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1300" i="1" dirty="0">
                          <a:solidFill>
                            <a:schemeClr val="tx1"/>
                          </a:solidFill>
                          <a:latin typeface="Cambria Math" panose="02040503050406030204" pitchFamily="18" charset="0"/>
                        </a:rPr>
                        <m:t>每</m:t>
                      </m:r>
                      <m:r>
                        <a:rPr lang="zh-CN" altLang="en-US" sz="1300" i="1" dirty="0" smtClean="0">
                          <a:solidFill>
                            <a:schemeClr val="tx1"/>
                          </a:solidFill>
                          <a:latin typeface="Cambria Math" panose="02040503050406030204" pitchFamily="18" charset="0"/>
                        </a:rPr>
                        <m:t>单位立体角</m:t>
                      </m:r>
                      <m:r>
                        <a:rPr lang="zh-CN" altLang="en-US" sz="1300" i="1" dirty="0">
                          <a:solidFill>
                            <a:schemeClr val="tx1"/>
                          </a:solidFill>
                          <a:latin typeface="Cambria Math" panose="02040503050406030204" pitchFamily="18" charset="0"/>
                        </a:rPr>
                        <m:t>可见</m:t>
                      </m:r>
                      <m:r>
                        <a:rPr lang="zh-CN" altLang="en-US" sz="1300" i="1" dirty="0" smtClean="0">
                          <a:solidFill>
                            <a:schemeClr val="tx1"/>
                          </a:solidFill>
                          <a:latin typeface="Cambria Math" panose="02040503050406030204" pitchFamily="18" charset="0"/>
                        </a:rPr>
                        <m:t>投影面积</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𝐴</m:t>
                          </m:r>
                        </m:e>
                        <m:sub>
                          <m:r>
                            <a:rPr lang="en-US" altLang="zh-CN" sz="1300" b="0" i="1" dirty="0" smtClean="0">
                              <a:solidFill>
                                <a:schemeClr val="tx1"/>
                              </a:solidFill>
                              <a:latin typeface="Cambria Math" panose="02040503050406030204" pitchFamily="18" charset="0"/>
                            </a:rPr>
                            <m:t>𝑝𝑟𝑜𝑗𝑒𝑐𝑡𝑒𝑑</m:t>
                          </m:r>
                          <m:r>
                            <a:rPr lang="en-US" altLang="zh-CN" sz="1300" b="0" i="1" dirty="0" smtClean="0">
                              <a:solidFill>
                                <a:schemeClr val="tx1"/>
                              </a:solidFill>
                              <a:latin typeface="Cambria Math" panose="02040503050406030204" pitchFamily="18" charset="0"/>
                            </a:rPr>
                            <m:t>_</m:t>
                          </m:r>
                          <m:r>
                            <a:rPr lang="en-US" altLang="zh-CN" sz="1300" b="0" i="1" dirty="0" smtClean="0">
                              <a:solidFill>
                                <a:schemeClr val="tx1"/>
                              </a:solidFill>
                              <a:latin typeface="Cambria Math" panose="02040503050406030204" pitchFamily="18" charset="0"/>
                            </a:rPr>
                            <m:t>𝑣𝑖𝑠𝑖𝑏𝑙𝑒</m:t>
                          </m:r>
                        </m:sub>
                      </m:sSub>
                      <m:d>
                        <m:dPr>
                          <m:ctrlPr>
                            <a:rPr lang="en-US" altLang="zh-CN" sz="1300" b="0" i="1" dirty="0" smtClean="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𝒐</m:t>
                          </m:r>
                          <m:r>
                            <a:rPr lang="en-US" altLang="zh-CN" sz="1300" i="1" dirty="0">
                              <a:solidFill>
                                <a:schemeClr val="tx1"/>
                              </a:solidFill>
                              <a:latin typeface="Cambria Math" panose="02040503050406030204" pitchFamily="18" charset="0"/>
                            </a:rPr>
                            <m:t>,</m:t>
                          </m:r>
                          <m:r>
                            <a:rPr lang="en-US" altLang="zh-CN" sz="1300" b="1" i="1" dirty="0" smtClean="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𝐴</m:t>
                          </m:r>
                        </m:e>
                        <m:sub>
                          <m:r>
                            <a:rPr lang="en-US" altLang="zh-CN" sz="1300" b="0" i="1" dirty="0" smtClean="0">
                              <a:solidFill>
                                <a:schemeClr val="tx1"/>
                              </a:solidFill>
                              <a:latin typeface="Cambria Math" panose="02040503050406030204" pitchFamily="18" charset="0"/>
                            </a:rPr>
                            <m:t>𝑀</m:t>
                          </m:r>
                        </m:sub>
                      </m:sSub>
                      <m:r>
                        <a:rPr lang="en-US" altLang="zh-CN" sz="1300" b="0" i="1" dirty="0" smtClean="0">
                          <a:solidFill>
                            <a:schemeClr val="tx1"/>
                          </a:solidFill>
                          <a:latin typeface="Cambria Math" panose="02040503050406030204" pitchFamily="18" charset="0"/>
                        </a:rPr>
                        <m:t> </m:t>
                      </m:r>
                      <m:r>
                        <a:rPr lang="en-US" altLang="zh-CN" sz="1300" b="0" i="1" dirty="0" smtClean="0">
                          <a:solidFill>
                            <a:schemeClr val="tx1"/>
                          </a:solidFill>
                          <a:latin typeface="Cambria Math" panose="02040503050406030204" pitchFamily="18" charset="0"/>
                        </a:rPr>
                        <m:t>𝐷</m:t>
                      </m:r>
                      <m:d>
                        <m:dPr>
                          <m:ctrlPr>
                            <a:rPr lang="en-US" altLang="zh-CN" sz="1300" b="0" i="1" dirty="0" smtClean="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 </m:t>
                      </m:r>
                      <m:d>
                        <m:dPr>
                          <m:begChr m:val="⟨"/>
                          <m:endChr m:val="⟩"/>
                          <m:ctrlPr>
                            <a:rPr lang="en-US" altLang="zh-CN" sz="1300" b="0" i="1" dirty="0" smtClean="0">
                              <a:solidFill>
                                <a:schemeClr val="tx1"/>
                              </a:solidFill>
                              <a:latin typeface="Cambria Math" panose="02040503050406030204" pitchFamily="18" charset="0"/>
                            </a:rPr>
                          </m:ctrlPr>
                        </m:dPr>
                        <m:e>
                          <m:sSup>
                            <m:sSupPr>
                              <m:ctrlPr>
                                <a:rPr lang="en-US" altLang="zh-CN" sz="1300" b="1" i="1" dirty="0" smtClean="0">
                                  <a:solidFill>
                                    <a:schemeClr val="tx1"/>
                                  </a:solidFill>
                                  <a:latin typeface="Cambria Math" panose="02040503050406030204" pitchFamily="18" charset="0"/>
                                </a:rPr>
                              </m:ctrlPr>
                            </m:sSupPr>
                            <m:e>
                              <m:r>
                                <a:rPr lang="en-US" altLang="zh-CN" sz="1300" b="1" i="1" dirty="0" smtClean="0">
                                  <a:solidFill>
                                    <a:schemeClr val="tx1"/>
                                  </a:solidFill>
                                  <a:latin typeface="Cambria Math" panose="02040503050406030204" pitchFamily="18" charset="0"/>
                                </a:rPr>
                                <m:t>𝒐</m:t>
                              </m:r>
                            </m:e>
                            <m:sup>
                              <m:r>
                                <a:rPr lang="en-US" altLang="zh-CN" sz="1300" b="1" i="1" dirty="0" smtClean="0">
                                  <a:solidFill>
                                    <a:schemeClr val="tx1"/>
                                  </a:solidFill>
                                  <a:latin typeface="Cambria Math" panose="02040503050406030204" pitchFamily="18" charset="0"/>
                                </a:rPr>
                                <m:t>+</m:t>
                              </m:r>
                            </m:sup>
                          </m:sSup>
                          <m:r>
                            <a:rPr lang="en-US" altLang="zh-CN" sz="1300" i="1" dirty="0">
                              <a:solidFill>
                                <a:schemeClr val="tx1"/>
                              </a:solidFill>
                              <a:latin typeface="Cambria Math" panose="02040503050406030204" pitchFamily="18" charset="0"/>
                            </a:rPr>
                            <m:t>,</m:t>
                          </m:r>
                          <m:r>
                            <a:rPr lang="en-US" altLang="zh-CN" sz="1300" b="1" i="1" dirty="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 </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𝐺</m:t>
                          </m:r>
                        </m:e>
                        <m:sub>
                          <m:r>
                            <a:rPr lang="en-US" altLang="zh-CN" sz="1300" b="0" i="1" dirty="0" smtClean="0">
                              <a:solidFill>
                                <a:schemeClr val="tx1"/>
                              </a:solidFill>
                              <a:latin typeface="Cambria Math" panose="02040503050406030204" pitchFamily="18" charset="0"/>
                            </a:rPr>
                            <m:t>1</m:t>
                          </m:r>
                        </m:sub>
                      </m:sSub>
                      <m:d>
                        <m:dPr>
                          <m:ctrlPr>
                            <a:rPr lang="en-US" altLang="zh-CN" sz="1300" b="0" i="1" dirty="0" smtClean="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𝒐</m:t>
                          </m:r>
                          <m:r>
                            <a:rPr lang="en-US" altLang="zh-CN" sz="1300" b="0" i="1" dirty="0" smtClean="0">
                              <a:solidFill>
                                <a:schemeClr val="tx1"/>
                              </a:solidFill>
                              <a:latin typeface="Cambria Math" panose="02040503050406030204" pitchFamily="18" charset="0"/>
                            </a:rPr>
                            <m:t>,</m:t>
                          </m:r>
                          <m:r>
                            <a:rPr lang="en-US" altLang="zh-CN" sz="1300" b="1" i="1" dirty="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 </m:t>
                      </m:r>
                      <m:d>
                        <m:dPr>
                          <m:begChr m:val="["/>
                          <m:endChr m:val="]"/>
                          <m:ctrlPr>
                            <a:rPr lang="en-US" altLang="zh-CN" sz="1300" b="0" i="1" dirty="0" smtClean="0">
                              <a:solidFill>
                                <a:schemeClr val="tx1"/>
                              </a:solidFill>
                              <a:latin typeface="Cambria Math" panose="02040503050406030204" pitchFamily="18" charset="0"/>
                            </a:rPr>
                          </m:ctrlPr>
                        </m:dPr>
                        <m:e>
                          <m:sSup>
                            <m:sSupPr>
                              <m:ctrlPr>
                                <a:rPr lang="en-US" altLang="zh-CN" sz="1300" b="0" i="1" dirty="0" smtClean="0">
                                  <a:solidFill>
                                    <a:schemeClr val="tx1"/>
                                  </a:solidFill>
                                  <a:latin typeface="Cambria Math" panose="02040503050406030204" pitchFamily="18" charset="0"/>
                                </a:rPr>
                              </m:ctrlPr>
                            </m:sSupPr>
                            <m:e>
                              <m:r>
                                <a:rPr lang="en-US" altLang="zh-CN" sz="1300" b="0" i="1" dirty="0" smtClean="0">
                                  <a:solidFill>
                                    <a:schemeClr val="tx1"/>
                                  </a:solidFill>
                                  <a:latin typeface="Cambria Math" panose="02040503050406030204" pitchFamily="18" charset="0"/>
                                </a:rPr>
                                <m:t>𝑚</m:t>
                              </m:r>
                            </m:e>
                            <m:sup>
                              <m:r>
                                <a:rPr lang="en-US" altLang="zh-CN" sz="1300" b="0" i="1" dirty="0" smtClean="0">
                                  <a:solidFill>
                                    <a:schemeClr val="tx1"/>
                                  </a:solidFill>
                                  <a:latin typeface="Cambria Math" panose="02040503050406030204" pitchFamily="18" charset="0"/>
                                </a:rPr>
                                <m:t>2</m:t>
                              </m:r>
                            </m:sup>
                          </m:sSup>
                          <m:r>
                            <a:rPr lang="en-US" altLang="zh-CN" sz="1300" b="0" i="1" dirty="0" smtClean="0">
                              <a:solidFill>
                                <a:schemeClr val="tx1"/>
                              </a:solidFill>
                              <a:latin typeface="Cambria Math" panose="02040503050406030204" pitchFamily="18" charset="0"/>
                            </a:rPr>
                            <m:t> </m:t>
                          </m:r>
                          <m:r>
                            <a:rPr lang="en-US" altLang="zh-CN" sz="1300" b="0" i="1" dirty="0" smtClean="0">
                              <a:solidFill>
                                <a:schemeClr val="tx1"/>
                              </a:solidFill>
                              <a:latin typeface="Cambria Math" panose="02040503050406030204" pitchFamily="18" charset="0"/>
                            </a:rPr>
                            <m:t>𝑝𝑒𝑟</m:t>
                          </m:r>
                          <m:r>
                            <a:rPr lang="en-US" altLang="zh-CN" sz="1300" b="0" i="1" dirty="0" smtClean="0">
                              <a:solidFill>
                                <a:schemeClr val="tx1"/>
                              </a:solidFill>
                              <a:latin typeface="Cambria Math" panose="02040503050406030204" pitchFamily="18" charset="0"/>
                            </a:rPr>
                            <m:t> </m:t>
                          </m:r>
                          <m:r>
                            <a:rPr lang="en-US" altLang="zh-CN" sz="1300" b="0" i="1" dirty="0" smtClean="0">
                              <a:solidFill>
                                <a:schemeClr val="tx1"/>
                              </a:solidFill>
                              <a:latin typeface="Cambria Math" panose="02040503050406030204" pitchFamily="18" charset="0"/>
                            </a:rPr>
                            <m:t>𝑠𝑟</m:t>
                          </m:r>
                        </m:e>
                      </m:d>
                    </m:oMath>
                  </m:oMathPara>
                </a14:m>
                <a:endParaRPr lang="en-US" altLang="zh-CN" sz="1300" b="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1300" i="1" dirty="0">
                          <a:solidFill>
                            <a:schemeClr val="tx1"/>
                          </a:solidFill>
                          <a:latin typeface="Cambria Math" panose="02040503050406030204" pitchFamily="18" charset="0"/>
                        </a:rPr>
                        <m:t>将上式代入</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𝐴</m:t>
                          </m:r>
                        </m:e>
                        <m:sub>
                          <m:r>
                            <a:rPr lang="en-US" altLang="zh-CN" sz="1300" i="1" dirty="0">
                              <a:solidFill>
                                <a:schemeClr val="tx1"/>
                              </a:solidFill>
                              <a:latin typeface="Cambria Math" panose="02040503050406030204" pitchFamily="18" charset="0"/>
                            </a:rPr>
                            <m:t>𝑝𝑟𝑜𝑗𝑒𝑐𝑡𝑒𝑑</m:t>
                          </m:r>
                          <m:r>
                            <a:rPr lang="en-US" altLang="zh-CN" sz="1300" i="1" dirty="0">
                              <a:solidFill>
                                <a:schemeClr val="tx1"/>
                              </a:solidFill>
                              <a:latin typeface="Cambria Math" panose="02040503050406030204" pitchFamily="18" charset="0"/>
                            </a:rPr>
                            <m:t>_</m:t>
                          </m:r>
                          <m:r>
                            <a:rPr lang="en-US" altLang="zh-CN" sz="1300" i="1" dirty="0">
                              <a:solidFill>
                                <a:schemeClr val="tx1"/>
                              </a:solidFill>
                              <a:latin typeface="Cambria Math" panose="02040503050406030204" pitchFamily="18" charset="0"/>
                            </a:rPr>
                            <m:t>𝑣𝑖𝑠𝑖𝑏𝑙𝑒</m:t>
                          </m:r>
                        </m:sub>
                      </m:sSub>
                      <m:d>
                        <m:dPr>
                          <m:ctrlPr>
                            <a:rPr lang="en-US" altLang="zh-CN" sz="1300" i="1" dirty="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𝒐</m:t>
                          </m:r>
                          <m:r>
                            <a:rPr lang="en-US" altLang="zh-CN" sz="1300" i="1" dirty="0">
                              <a:solidFill>
                                <a:schemeClr val="tx1"/>
                              </a:solidFill>
                              <a:latin typeface="Cambria Math" panose="02040503050406030204" pitchFamily="18" charset="0"/>
                            </a:rPr>
                            <m:t>,</m:t>
                          </m:r>
                          <m:r>
                            <a:rPr lang="en-US" altLang="zh-CN" sz="1300" b="1" i="1" dirty="0" smtClean="0">
                              <a:solidFill>
                                <a:schemeClr val="tx1"/>
                              </a:solidFill>
                              <a:latin typeface="Cambria Math" panose="02040503050406030204" pitchFamily="18" charset="0"/>
                            </a:rPr>
                            <m:t>𝒎</m:t>
                          </m:r>
                        </m:e>
                      </m:d>
                      <m:r>
                        <a:rPr lang="zh-CN" altLang="en-US" sz="1300" i="1" dirty="0" smtClean="0">
                          <a:solidFill>
                            <a:schemeClr val="tx1"/>
                          </a:solidFill>
                          <a:latin typeface="Cambria Math" panose="02040503050406030204" pitchFamily="18" charset="0"/>
                        </a:rPr>
                        <m:t>：</m:t>
                      </m:r>
                    </m:oMath>
                  </m:oMathPara>
                </a14:m>
                <a:endParaRPr lang="en-US" altLang="zh-CN" sz="130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300" i="1" dirty="0">
                              <a:solidFill>
                                <a:schemeClr val="tx1"/>
                              </a:solidFill>
                              <a:latin typeface="Cambria Math" panose="02040503050406030204" pitchFamily="18" charset="0"/>
                            </a:rPr>
                          </m:ctrlPr>
                        </m:sSubPr>
                        <m:e>
                          <m:r>
                            <m:rPr>
                              <m:sty m:val="p"/>
                            </m:rPr>
                            <a:rPr lang="en-US" altLang="zh-CN" sz="1300" dirty="0">
                              <a:solidFill>
                                <a:schemeClr val="tx1"/>
                              </a:solidFill>
                              <a:latin typeface="Cambria Math" panose="02040503050406030204" pitchFamily="18" charset="0"/>
                            </a:rPr>
                            <m:t>I</m:t>
                          </m:r>
                        </m:e>
                        <m:sub>
                          <m:r>
                            <m:rPr>
                              <m:sty m:val="p"/>
                            </m:rPr>
                            <a:rPr lang="en-US" altLang="zh-CN" sz="1300" dirty="0">
                              <a:solidFill>
                                <a:schemeClr val="tx1"/>
                              </a:solidFill>
                              <a:latin typeface="Cambria Math" panose="02040503050406030204" pitchFamily="18" charset="0"/>
                            </a:rPr>
                            <m:t>o</m:t>
                          </m:r>
                        </m:sub>
                      </m:sSub>
                      <m:d>
                        <m:dPr>
                          <m:ctrlPr>
                            <a:rPr lang="en-US" altLang="zh-CN" sz="1300" i="1" dirty="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𝒐</m:t>
                          </m:r>
                          <m:r>
                            <a:rPr lang="en-US" altLang="zh-CN" sz="1300" i="1" dirty="0">
                              <a:solidFill>
                                <a:schemeClr val="tx1"/>
                              </a:solidFill>
                              <a:latin typeface="Cambria Math" panose="02040503050406030204" pitchFamily="18" charset="0"/>
                            </a:rPr>
                            <m:t>,</m:t>
                          </m:r>
                          <m:r>
                            <a:rPr lang="en-US" altLang="zh-CN" sz="1300" b="1" i="1" dirty="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m:t>
                      </m:r>
                      <m:sSubSup>
                        <m:sSubSupPr>
                          <m:ctrlPr>
                            <a:rPr lang="en-US" altLang="zh-CN" sz="1300" i="1" dirty="0">
                              <a:solidFill>
                                <a:schemeClr val="tx1"/>
                              </a:solidFill>
                              <a:latin typeface="Cambria Math" panose="02040503050406030204" pitchFamily="18" charset="0"/>
                            </a:rPr>
                          </m:ctrlPr>
                        </m:sSubSupPr>
                        <m:e>
                          <m:r>
                            <a:rPr lang="en-US" altLang="zh-CN" sz="1300" i="1" dirty="0">
                              <a:solidFill>
                                <a:schemeClr val="tx1"/>
                              </a:solidFill>
                              <a:latin typeface="Cambria Math" panose="02040503050406030204" pitchFamily="18" charset="0"/>
                            </a:rPr>
                            <m:t>𝐿</m:t>
                          </m:r>
                        </m:e>
                        <m:sub>
                          <m:r>
                            <a:rPr lang="en-US" altLang="zh-CN" sz="1300" i="1" dirty="0">
                              <a:solidFill>
                                <a:schemeClr val="tx1"/>
                              </a:solidFill>
                              <a:latin typeface="Cambria Math" panose="02040503050406030204" pitchFamily="18" charset="0"/>
                            </a:rPr>
                            <m:t>𝑜</m:t>
                          </m:r>
                        </m:sub>
                        <m:sup>
                          <m:r>
                            <a:rPr lang="en-US" altLang="zh-CN" sz="1300" b="1" i="1" dirty="0" smtClean="0">
                              <a:solidFill>
                                <a:schemeClr val="tx1"/>
                              </a:solidFill>
                              <a:latin typeface="Cambria Math" panose="02040503050406030204" pitchFamily="18" charset="0"/>
                            </a:rPr>
                            <m:t>𝒎</m:t>
                          </m:r>
                        </m:sup>
                      </m:sSubSup>
                      <m:d>
                        <m:dPr>
                          <m:ctrlPr>
                            <a:rPr lang="en-US" altLang="zh-CN" sz="1300" i="1" dirty="0">
                              <a:solidFill>
                                <a:schemeClr val="tx1"/>
                              </a:solidFill>
                              <a:latin typeface="Cambria Math" panose="02040503050406030204" pitchFamily="18" charset="0"/>
                            </a:rPr>
                          </m:ctrlPr>
                        </m:dPr>
                        <m:e>
                          <m:r>
                            <a:rPr lang="en-US" altLang="zh-CN" sz="1300" b="1" i="1" dirty="0">
                              <a:solidFill>
                                <a:schemeClr val="tx1"/>
                              </a:solidFill>
                              <a:latin typeface="Cambria Math" panose="02040503050406030204" pitchFamily="18" charset="0"/>
                            </a:rPr>
                            <m:t>𝒐</m:t>
                          </m:r>
                        </m:e>
                      </m:d>
                      <m:r>
                        <a:rPr lang="en-US" altLang="zh-CN" sz="1300" b="0" i="1" dirty="0" smtClean="0">
                          <a:solidFill>
                            <a:schemeClr val="tx1"/>
                          </a:solidFill>
                          <a:latin typeface="Cambria Math" panose="02040503050406030204" pitchFamily="18" charset="0"/>
                        </a:rPr>
                        <m:t> </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𝐴</m:t>
                          </m:r>
                        </m:e>
                        <m:sub>
                          <m:r>
                            <a:rPr lang="en-US" altLang="zh-CN" sz="1300" b="0" i="1" dirty="0" smtClean="0">
                              <a:solidFill>
                                <a:schemeClr val="tx1"/>
                              </a:solidFill>
                              <a:latin typeface="Cambria Math" panose="02040503050406030204" pitchFamily="18" charset="0"/>
                            </a:rPr>
                            <m:t>𝑀</m:t>
                          </m:r>
                        </m:sub>
                      </m:sSub>
                      <m:r>
                        <a:rPr lang="en-US" altLang="zh-CN" sz="1300" b="0" i="1" dirty="0" smtClean="0">
                          <a:solidFill>
                            <a:schemeClr val="tx1"/>
                          </a:solidFill>
                          <a:latin typeface="Cambria Math" panose="02040503050406030204" pitchFamily="18" charset="0"/>
                        </a:rPr>
                        <m:t> </m:t>
                      </m:r>
                      <m:r>
                        <a:rPr lang="en-US" altLang="zh-CN" sz="1300" b="0" i="1" dirty="0" smtClean="0">
                          <a:solidFill>
                            <a:schemeClr val="tx1"/>
                          </a:solidFill>
                          <a:latin typeface="Cambria Math" panose="02040503050406030204" pitchFamily="18" charset="0"/>
                        </a:rPr>
                        <m:t>𝐷</m:t>
                      </m:r>
                      <m:d>
                        <m:dPr>
                          <m:ctrlPr>
                            <a:rPr lang="en-US" altLang="zh-CN" sz="1300" b="0" i="1" dirty="0" smtClean="0">
                              <a:solidFill>
                                <a:schemeClr val="tx1"/>
                              </a:solidFill>
                              <a:latin typeface="Cambria Math" panose="02040503050406030204" pitchFamily="18" charset="0"/>
                            </a:rPr>
                          </m:ctrlPr>
                        </m:dPr>
                        <m:e>
                          <m:r>
                            <a:rPr lang="en-US" altLang="zh-CN" sz="1300" b="1" i="1" dirty="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 </m:t>
                      </m:r>
                      <m:d>
                        <m:dPr>
                          <m:begChr m:val="⟨"/>
                          <m:endChr m:val="⟩"/>
                          <m:ctrlPr>
                            <a:rPr lang="en-US" altLang="zh-CN" sz="1300" i="1" dirty="0">
                              <a:solidFill>
                                <a:schemeClr val="tx1"/>
                              </a:solidFill>
                              <a:latin typeface="Cambria Math" panose="02040503050406030204" pitchFamily="18" charset="0"/>
                            </a:rPr>
                          </m:ctrlPr>
                        </m:dPr>
                        <m:e>
                          <m:sSup>
                            <m:sSupPr>
                              <m:ctrlPr>
                                <a:rPr lang="en-US" altLang="zh-CN" sz="1300" b="1" i="1" dirty="0" smtClean="0">
                                  <a:solidFill>
                                    <a:schemeClr val="tx1"/>
                                  </a:solidFill>
                                  <a:latin typeface="Cambria Math" panose="02040503050406030204" pitchFamily="18" charset="0"/>
                                </a:rPr>
                              </m:ctrlPr>
                            </m:sSupPr>
                            <m:e>
                              <m:r>
                                <a:rPr lang="en-US" altLang="zh-CN" sz="1300" b="1" i="1" dirty="0" smtClean="0">
                                  <a:solidFill>
                                    <a:schemeClr val="tx1"/>
                                  </a:solidFill>
                                  <a:latin typeface="Cambria Math" panose="02040503050406030204" pitchFamily="18" charset="0"/>
                                </a:rPr>
                                <m:t>𝒐</m:t>
                              </m:r>
                            </m:e>
                            <m:sup>
                              <m:r>
                                <a:rPr lang="en-US" altLang="zh-CN" sz="1300" b="1" i="1" dirty="0" smtClean="0">
                                  <a:solidFill>
                                    <a:schemeClr val="tx1"/>
                                  </a:solidFill>
                                  <a:latin typeface="Cambria Math" panose="02040503050406030204" pitchFamily="18" charset="0"/>
                                </a:rPr>
                                <m:t>+</m:t>
                              </m:r>
                            </m:sup>
                          </m:sSup>
                          <m:r>
                            <a:rPr lang="en-US" altLang="zh-CN" sz="1300" i="1" dirty="0">
                              <a:solidFill>
                                <a:schemeClr val="tx1"/>
                              </a:solidFill>
                              <a:latin typeface="Cambria Math" panose="02040503050406030204" pitchFamily="18" charset="0"/>
                            </a:rPr>
                            <m:t>,</m:t>
                          </m:r>
                          <m:r>
                            <a:rPr lang="en-US" altLang="zh-CN" sz="1300" b="1" i="1" dirty="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 </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𝐺</m:t>
                          </m:r>
                        </m:e>
                        <m:sub>
                          <m:r>
                            <a:rPr lang="en-US" altLang="zh-CN" sz="1300" b="0" i="1" dirty="0" smtClean="0">
                              <a:solidFill>
                                <a:schemeClr val="tx1"/>
                              </a:solidFill>
                              <a:latin typeface="Cambria Math" panose="02040503050406030204" pitchFamily="18" charset="0"/>
                            </a:rPr>
                            <m:t>1</m:t>
                          </m:r>
                        </m:sub>
                      </m:sSub>
                      <m:d>
                        <m:dPr>
                          <m:ctrlPr>
                            <a:rPr lang="en-US" altLang="zh-CN" sz="1300" b="0" i="1" dirty="0" smtClean="0">
                              <a:solidFill>
                                <a:schemeClr val="tx1"/>
                              </a:solidFill>
                              <a:latin typeface="Cambria Math" panose="02040503050406030204" pitchFamily="18" charset="0"/>
                            </a:rPr>
                          </m:ctrlPr>
                        </m:dPr>
                        <m:e>
                          <m:r>
                            <a:rPr lang="en-US" altLang="zh-CN" sz="1300" b="1" i="1" dirty="0">
                              <a:solidFill>
                                <a:schemeClr val="tx1"/>
                              </a:solidFill>
                              <a:latin typeface="Cambria Math" panose="02040503050406030204" pitchFamily="18" charset="0"/>
                            </a:rPr>
                            <m:t>𝒐</m:t>
                          </m:r>
                          <m:r>
                            <a:rPr lang="en-US" altLang="zh-CN" sz="1300" b="0" i="1" dirty="0" smtClean="0">
                              <a:solidFill>
                                <a:schemeClr val="tx1"/>
                              </a:solidFill>
                              <a:latin typeface="Cambria Math" panose="02040503050406030204" pitchFamily="18" charset="0"/>
                            </a:rPr>
                            <m:t>,</m:t>
                          </m:r>
                          <m:r>
                            <a:rPr lang="en-US" altLang="zh-CN" sz="1300" b="1" i="1" dirty="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 </m:t>
                      </m:r>
                      <m:d>
                        <m:dPr>
                          <m:begChr m:val="["/>
                          <m:endChr m:val="]"/>
                          <m:ctrlPr>
                            <a:rPr lang="en-US" altLang="zh-CN" sz="1300" i="1" dirty="0">
                              <a:solidFill>
                                <a:schemeClr val="tx1"/>
                              </a:solidFill>
                              <a:latin typeface="Cambria Math" panose="02040503050406030204" pitchFamily="18" charset="0"/>
                            </a:rPr>
                          </m:ctrlPr>
                        </m:dPr>
                        <m:e>
                          <m:r>
                            <a:rPr lang="en-US" altLang="zh-CN" sz="1300" b="0" i="1" dirty="0" smtClean="0">
                              <a:solidFill>
                                <a:schemeClr val="tx1"/>
                              </a:solidFill>
                              <a:latin typeface="Cambria Math" panose="02040503050406030204" pitchFamily="18" charset="0"/>
                            </a:rPr>
                            <m:t>𝑐𝑑</m:t>
                          </m:r>
                          <m:r>
                            <a:rPr lang="en-US" altLang="zh-CN" sz="1300" i="1" dirty="0">
                              <a:solidFill>
                                <a:schemeClr val="tx1"/>
                              </a:solidFill>
                              <a:latin typeface="Cambria Math" panose="02040503050406030204" pitchFamily="18" charset="0"/>
                            </a:rPr>
                            <m:t> </m:t>
                          </m:r>
                          <m:r>
                            <a:rPr lang="en-US" altLang="zh-CN" sz="1300" i="1" dirty="0">
                              <a:solidFill>
                                <a:schemeClr val="tx1"/>
                              </a:solidFill>
                              <a:latin typeface="Cambria Math" panose="02040503050406030204" pitchFamily="18" charset="0"/>
                            </a:rPr>
                            <m:t>𝑝𝑒𝑟</m:t>
                          </m:r>
                          <m:r>
                            <a:rPr lang="en-US" altLang="zh-CN" sz="1300" i="1" dirty="0">
                              <a:solidFill>
                                <a:schemeClr val="tx1"/>
                              </a:solidFill>
                              <a:latin typeface="Cambria Math" panose="02040503050406030204" pitchFamily="18" charset="0"/>
                            </a:rPr>
                            <m:t> </m:t>
                          </m:r>
                          <m:r>
                            <a:rPr lang="en-US" altLang="zh-CN" sz="1300" i="1" dirty="0">
                              <a:solidFill>
                                <a:schemeClr val="tx1"/>
                              </a:solidFill>
                              <a:latin typeface="Cambria Math" panose="02040503050406030204" pitchFamily="18" charset="0"/>
                            </a:rPr>
                            <m:t>𝑠𝑟</m:t>
                          </m:r>
                        </m:e>
                      </m:d>
                    </m:oMath>
                  </m:oMathPara>
                </a14:m>
                <a:endParaRPr lang="en-US" altLang="zh-CN" sz="13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zh-CN" altLang="en-US" sz="1300" i="1" dirty="0" smtClean="0">
                          <a:solidFill>
                            <a:schemeClr val="tx1"/>
                          </a:solidFill>
                          <a:latin typeface="Cambria Math" panose="02040503050406030204" pitchFamily="18" charset="0"/>
                        </a:rPr>
                        <m:t>对</m:t>
                      </m:r>
                      <m:r>
                        <a:rPr lang="zh-CN" altLang="en-US" sz="1300" i="1" dirty="0">
                          <a:solidFill>
                            <a:schemeClr val="tx1"/>
                          </a:solidFill>
                          <a:latin typeface="Cambria Math" panose="02040503050406030204" pitchFamily="18" charset="0"/>
                        </a:rPr>
                        <m:t>所有</m:t>
                      </m:r>
                      <m:r>
                        <a:rPr lang="zh-CN" altLang="en-US" sz="1300" i="1" dirty="0" smtClean="0">
                          <a:solidFill>
                            <a:schemeClr val="tx1"/>
                          </a:solidFill>
                          <a:latin typeface="Cambria Math" panose="02040503050406030204" pitchFamily="18" charset="0"/>
                        </a:rPr>
                        <m:t>微面</m:t>
                      </m:r>
                      <m:r>
                        <a:rPr lang="zh-CN" altLang="en-US" sz="1300" i="1" dirty="0">
                          <a:solidFill>
                            <a:schemeClr val="tx1"/>
                          </a:solidFill>
                          <a:latin typeface="Cambria Math" panose="02040503050406030204" pitchFamily="18" charset="0"/>
                        </a:rPr>
                        <m:t>朝向</m:t>
                      </m:r>
                      <m:r>
                        <a:rPr lang="zh-CN" altLang="en-US" sz="1300" i="1" dirty="0" smtClean="0">
                          <a:solidFill>
                            <a:schemeClr val="tx1"/>
                          </a:solidFill>
                          <a:latin typeface="Cambria Math" panose="02040503050406030204" pitchFamily="18" charset="0"/>
                        </a:rPr>
                        <m:t>进行积分</m:t>
                      </m:r>
                      <m:r>
                        <a:rPr lang="zh-CN" altLang="en-US" sz="1300" i="1" dirty="0">
                          <a:solidFill>
                            <a:schemeClr val="tx1"/>
                          </a:solidFill>
                          <a:latin typeface="Cambria Math" panose="02040503050406030204" pitchFamily="18" charset="0"/>
                        </a:rPr>
                        <m:t>，</m:t>
                      </m:r>
                      <m:r>
                        <a:rPr lang="zh-CN" altLang="en-US" sz="1300" i="1" dirty="0" smtClean="0">
                          <a:solidFill>
                            <a:schemeClr val="tx1"/>
                          </a:solidFill>
                          <a:latin typeface="Cambria Math" panose="02040503050406030204" pitchFamily="18" charset="0"/>
                        </a:rPr>
                        <m:t>得到</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𝐴</m:t>
                          </m:r>
                        </m:e>
                        <m:sub>
                          <m:r>
                            <a:rPr lang="en-US" altLang="zh-CN" sz="1300" b="0" i="1" dirty="0" smtClean="0">
                              <a:solidFill>
                                <a:schemeClr val="tx1"/>
                              </a:solidFill>
                              <a:latin typeface="Cambria Math" panose="02040503050406030204" pitchFamily="18" charset="0"/>
                            </a:rPr>
                            <m:t>𝑀</m:t>
                          </m:r>
                        </m:sub>
                      </m:sSub>
                      <m:r>
                        <a:rPr lang="zh-CN" altLang="en-US" sz="1300" i="1" dirty="0">
                          <a:solidFill>
                            <a:schemeClr val="tx1"/>
                          </a:solidFill>
                          <a:latin typeface="Cambria Math" panose="02040503050406030204" pitchFamily="18" charset="0"/>
                        </a:rPr>
                        <m:t>上</m:t>
                      </m:r>
                      <m:r>
                        <a:rPr lang="zh-CN" altLang="en-US" sz="1300" i="1" dirty="0" smtClean="0">
                          <a:solidFill>
                            <a:schemeClr val="tx1"/>
                          </a:solidFill>
                          <a:latin typeface="Cambria Math" panose="02040503050406030204" pitchFamily="18" charset="0"/>
                        </a:rPr>
                        <m:t>的</m:t>
                      </m:r>
                      <m:r>
                        <a:rPr lang="zh-CN" altLang="en-US" sz="1300" i="1" dirty="0">
                          <a:solidFill>
                            <a:schemeClr val="tx1"/>
                          </a:solidFill>
                          <a:latin typeface="Cambria Math" panose="02040503050406030204" pitchFamily="18" charset="0"/>
                        </a:rPr>
                        <m:t>微表面</m:t>
                      </m:r>
                      <m:r>
                        <a:rPr lang="zh-CN" altLang="en-US" sz="1300" i="1" dirty="0" smtClean="0">
                          <a:solidFill>
                            <a:schemeClr val="tx1"/>
                          </a:solidFill>
                          <a:latin typeface="Cambria Math" panose="02040503050406030204" pitchFamily="18" charset="0"/>
                        </a:rPr>
                        <m:t>向</m:t>
                      </m:r>
                      <m:r>
                        <a:rPr lang="en-US" altLang="zh-CN" sz="1300" b="1" i="1" dirty="0">
                          <a:solidFill>
                            <a:schemeClr val="tx1"/>
                          </a:solidFill>
                          <a:latin typeface="Cambria Math" panose="02040503050406030204" pitchFamily="18" charset="0"/>
                        </a:rPr>
                        <m:t>𝒐</m:t>
                      </m:r>
                      <m:r>
                        <a:rPr lang="zh-CN" altLang="en-US" sz="1300" i="1" dirty="0">
                          <a:solidFill>
                            <a:schemeClr val="tx1"/>
                          </a:solidFill>
                          <a:latin typeface="Cambria Math" panose="02040503050406030204" pitchFamily="18" charset="0"/>
                        </a:rPr>
                        <m:t>方向的</m:t>
                      </m:r>
                      <m:r>
                        <a:rPr lang="zh-CN" altLang="en-US" sz="1300" i="1" dirty="0" smtClean="0">
                          <a:solidFill>
                            <a:schemeClr val="tx1"/>
                          </a:solidFill>
                          <a:latin typeface="Cambria Math" panose="02040503050406030204" pitchFamily="18" charset="0"/>
                        </a:rPr>
                        <m:t>未被遮挡</m:t>
                      </m:r>
                      <m:r>
                        <a:rPr lang="zh-CN" altLang="en-US" sz="1300" i="1" dirty="0">
                          <a:solidFill>
                            <a:schemeClr val="tx1"/>
                          </a:solidFill>
                          <a:latin typeface="Cambria Math" panose="02040503050406030204" pitchFamily="18" charset="0"/>
                        </a:rPr>
                        <m:t>的</m:t>
                      </m:r>
                      <m:r>
                        <a:rPr lang="zh-CN" altLang="en-US" sz="1300" i="1" dirty="0" smtClean="0">
                          <a:solidFill>
                            <a:schemeClr val="tx1"/>
                          </a:solidFill>
                          <a:latin typeface="Cambria Math" panose="02040503050406030204" pitchFamily="18" charset="0"/>
                        </a:rPr>
                        <m:t>出射</m:t>
                      </m:r>
                      <m:r>
                        <a:rPr lang="en-US" altLang="zh-CN" sz="1300" b="0" i="1" dirty="0" smtClean="0">
                          <a:solidFill>
                            <a:schemeClr val="tx1"/>
                          </a:solidFill>
                          <a:latin typeface="Cambria Math" panose="02040503050406030204" pitchFamily="18" charset="0"/>
                        </a:rPr>
                        <m:t>𝐼𝑛𝑡𝑒𝑛𝑠𝑖𝑡𝑦</m:t>
                      </m:r>
                      <m:r>
                        <a:rPr lang="zh-CN" altLang="en-US" sz="1300" i="1" dirty="0">
                          <a:solidFill>
                            <a:schemeClr val="tx1"/>
                          </a:solidFill>
                          <a:latin typeface="Cambria Math" panose="02040503050406030204" pitchFamily="18" charset="0"/>
                        </a:rPr>
                        <m:t>：</m:t>
                      </m:r>
                    </m:oMath>
                  </m:oMathPara>
                </a14:m>
                <a:endParaRPr lang="en-US" altLang="zh-CN" sz="130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300" i="1" dirty="0">
                              <a:solidFill>
                                <a:schemeClr val="tx1"/>
                              </a:solidFill>
                              <a:latin typeface="Cambria Math" panose="02040503050406030204" pitchFamily="18" charset="0"/>
                            </a:rPr>
                          </m:ctrlPr>
                        </m:sSubPr>
                        <m:e>
                          <m:r>
                            <m:rPr>
                              <m:sty m:val="p"/>
                            </m:rPr>
                            <a:rPr lang="en-US" altLang="zh-CN" sz="1300" dirty="0">
                              <a:solidFill>
                                <a:schemeClr val="tx1"/>
                              </a:solidFill>
                              <a:latin typeface="Cambria Math" panose="02040503050406030204" pitchFamily="18" charset="0"/>
                            </a:rPr>
                            <m:t>I</m:t>
                          </m:r>
                        </m:e>
                        <m:sub>
                          <m:r>
                            <m:rPr>
                              <m:sty m:val="p"/>
                            </m:rPr>
                            <a:rPr lang="en-US" altLang="zh-CN" sz="1300" dirty="0">
                              <a:solidFill>
                                <a:schemeClr val="tx1"/>
                              </a:solidFill>
                              <a:latin typeface="Cambria Math" panose="02040503050406030204" pitchFamily="18" charset="0"/>
                            </a:rPr>
                            <m:t>o</m:t>
                          </m:r>
                        </m:sub>
                      </m:sSub>
                      <m:d>
                        <m:dPr>
                          <m:ctrlPr>
                            <a:rPr lang="en-US" altLang="zh-CN" sz="1300" i="1" dirty="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𝒐</m:t>
                          </m:r>
                        </m:e>
                      </m:d>
                      <m:r>
                        <a:rPr lang="en-US" altLang="zh-CN" sz="1300" b="0" i="1" dirty="0" smtClean="0">
                          <a:solidFill>
                            <a:schemeClr val="tx1"/>
                          </a:solidFill>
                          <a:latin typeface="Cambria Math" panose="02040503050406030204" pitchFamily="18" charset="0"/>
                        </a:rPr>
                        <m:t>=</m:t>
                      </m:r>
                      <m:nary>
                        <m:naryPr>
                          <m:supHide m:val="on"/>
                          <m:ctrlPr>
                            <a:rPr lang="en-US" altLang="zh-CN" sz="1300" b="0" i="1" dirty="0" smtClean="0">
                              <a:solidFill>
                                <a:schemeClr val="tx1"/>
                              </a:solidFill>
                              <a:latin typeface="Cambria Math" panose="02040503050406030204" pitchFamily="18" charset="0"/>
                            </a:rPr>
                          </m:ctrlPr>
                        </m:naryPr>
                        <m:sub>
                          <m:sSup>
                            <m:sSupPr>
                              <m:ctrlPr>
                                <a:rPr lang="en-US" altLang="zh-CN" sz="1300" b="0" i="1" dirty="0" smtClean="0">
                                  <a:solidFill>
                                    <a:schemeClr val="tx1"/>
                                  </a:solidFill>
                                  <a:latin typeface="Cambria Math" panose="02040503050406030204" pitchFamily="18" charset="0"/>
                                </a:rPr>
                              </m:ctrlPr>
                            </m:sSupPr>
                            <m:e>
                              <m:r>
                                <a:rPr lang="en-US" altLang="zh-CN" sz="1300" b="0" i="1" dirty="0" smtClean="0">
                                  <a:solidFill>
                                    <a:schemeClr val="tx1"/>
                                  </a:solidFill>
                                  <a:latin typeface="Cambria Math" panose="02040503050406030204" pitchFamily="18" charset="0"/>
                                </a:rPr>
                                <m:t>𝐻</m:t>
                              </m:r>
                            </m:e>
                            <m:sup>
                              <m:r>
                                <a:rPr lang="en-US" altLang="zh-CN" sz="1300" b="0" i="1" dirty="0" smtClean="0">
                                  <a:solidFill>
                                    <a:schemeClr val="tx1"/>
                                  </a:solidFill>
                                  <a:latin typeface="Cambria Math" panose="02040503050406030204" pitchFamily="18" charset="0"/>
                                </a:rPr>
                                <m:t>2</m:t>
                              </m:r>
                            </m:sup>
                          </m:sSup>
                        </m:sub>
                        <m:sup/>
                        <m:e>
                          <m:sSub>
                            <m:sSubPr>
                              <m:ctrlPr>
                                <a:rPr lang="en-US" altLang="zh-CN" sz="1300" i="1" dirty="0">
                                  <a:solidFill>
                                    <a:schemeClr val="tx1"/>
                                  </a:solidFill>
                                  <a:latin typeface="Cambria Math" panose="02040503050406030204" pitchFamily="18" charset="0"/>
                                </a:rPr>
                              </m:ctrlPr>
                            </m:sSubPr>
                            <m:e>
                              <m:r>
                                <m:rPr>
                                  <m:sty m:val="p"/>
                                </m:rPr>
                                <a:rPr lang="en-US" altLang="zh-CN" sz="1300" dirty="0">
                                  <a:solidFill>
                                    <a:schemeClr val="tx1"/>
                                  </a:solidFill>
                                  <a:latin typeface="Cambria Math" panose="02040503050406030204" pitchFamily="18" charset="0"/>
                                </a:rPr>
                                <m:t>I</m:t>
                              </m:r>
                            </m:e>
                            <m:sub>
                              <m:r>
                                <m:rPr>
                                  <m:sty m:val="p"/>
                                </m:rPr>
                                <a:rPr lang="en-US" altLang="zh-CN" sz="1300" dirty="0">
                                  <a:solidFill>
                                    <a:schemeClr val="tx1"/>
                                  </a:solidFill>
                                  <a:latin typeface="Cambria Math" panose="02040503050406030204" pitchFamily="18" charset="0"/>
                                </a:rPr>
                                <m:t>o</m:t>
                              </m:r>
                            </m:sub>
                          </m:sSub>
                          <m:d>
                            <m:dPr>
                              <m:ctrlPr>
                                <a:rPr lang="en-US" altLang="zh-CN" sz="1300" i="1" dirty="0">
                                  <a:solidFill>
                                    <a:schemeClr val="tx1"/>
                                  </a:solidFill>
                                  <a:latin typeface="Cambria Math" panose="02040503050406030204" pitchFamily="18" charset="0"/>
                                </a:rPr>
                              </m:ctrlPr>
                            </m:dPr>
                            <m:e>
                              <m:r>
                                <a:rPr lang="en-US" altLang="zh-CN" sz="1300" b="1" i="1" dirty="0">
                                  <a:solidFill>
                                    <a:schemeClr val="tx1"/>
                                  </a:solidFill>
                                  <a:latin typeface="Cambria Math" panose="02040503050406030204" pitchFamily="18" charset="0"/>
                                </a:rPr>
                                <m:t>𝒐</m:t>
                              </m:r>
                              <m:r>
                                <a:rPr lang="en-US" altLang="zh-CN" sz="1300" i="1" dirty="0">
                                  <a:solidFill>
                                    <a:schemeClr val="tx1"/>
                                  </a:solidFill>
                                  <a:latin typeface="Cambria Math" panose="02040503050406030204" pitchFamily="18" charset="0"/>
                                </a:rPr>
                                <m:t>,</m:t>
                              </m:r>
                              <m:r>
                                <a:rPr lang="en-US" altLang="zh-CN" sz="1300" b="1" i="1" dirty="0">
                                  <a:solidFill>
                                    <a:schemeClr val="tx1"/>
                                  </a:solidFill>
                                  <a:latin typeface="Cambria Math" panose="02040503050406030204" pitchFamily="18" charset="0"/>
                                </a:rPr>
                                <m:t>𝒎</m:t>
                              </m:r>
                            </m:e>
                          </m:d>
                          <m:r>
                            <a:rPr lang="en-US" altLang="zh-CN" sz="1300" i="1" dirty="0">
                              <a:solidFill>
                                <a:schemeClr val="tx1"/>
                              </a:solidFill>
                              <a:latin typeface="Cambria Math" panose="02040503050406030204" pitchFamily="18" charset="0"/>
                            </a:rPr>
                            <m:t> </m:t>
                          </m:r>
                          <m:r>
                            <a:rPr lang="en-US" altLang="zh-CN" sz="1300" i="1" dirty="0">
                              <a:solidFill>
                                <a:schemeClr val="tx1"/>
                              </a:solidFill>
                              <a:latin typeface="Cambria Math" panose="02040503050406030204" pitchFamily="18" charset="0"/>
                            </a:rPr>
                            <m:t>𝑑</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𝜔</m:t>
                              </m:r>
                            </m:e>
                            <m:sub>
                              <m:r>
                                <a:rPr lang="en-US" altLang="zh-CN" sz="1300" i="1" dirty="0">
                                  <a:solidFill>
                                    <a:schemeClr val="tx1"/>
                                  </a:solidFill>
                                  <a:latin typeface="Cambria Math" panose="02040503050406030204" pitchFamily="18" charset="0"/>
                                </a:rPr>
                                <m:t>𝑚</m:t>
                              </m:r>
                            </m:sub>
                          </m:sSub>
                        </m:e>
                      </m:nary>
                      <m:r>
                        <a:rPr lang="en-US" altLang="zh-CN" sz="1300" b="0" i="1" dirty="0" smtClean="0">
                          <a:solidFill>
                            <a:schemeClr val="tx1"/>
                          </a:solidFill>
                          <a:latin typeface="Cambria Math" panose="02040503050406030204" pitchFamily="18" charset="0"/>
                        </a:rPr>
                        <m:t>=</m:t>
                      </m:r>
                      <m:nary>
                        <m:naryPr>
                          <m:supHide m:val="on"/>
                          <m:ctrlPr>
                            <a:rPr lang="en-US" altLang="zh-CN" sz="1300" b="0" i="1" dirty="0" smtClean="0">
                              <a:solidFill>
                                <a:schemeClr val="tx1"/>
                              </a:solidFill>
                              <a:latin typeface="Cambria Math" panose="02040503050406030204" pitchFamily="18" charset="0"/>
                            </a:rPr>
                          </m:ctrlPr>
                        </m:naryPr>
                        <m:sub>
                          <m:sSup>
                            <m:sSupPr>
                              <m:ctrlPr>
                                <a:rPr lang="en-US" altLang="zh-CN" sz="1300" b="0" i="1" dirty="0" smtClean="0">
                                  <a:solidFill>
                                    <a:schemeClr val="tx1"/>
                                  </a:solidFill>
                                  <a:latin typeface="Cambria Math" panose="02040503050406030204" pitchFamily="18" charset="0"/>
                                </a:rPr>
                              </m:ctrlPr>
                            </m:sSupPr>
                            <m:e>
                              <m:r>
                                <a:rPr lang="en-US" altLang="zh-CN" sz="1300" b="0" i="1" dirty="0" smtClean="0">
                                  <a:solidFill>
                                    <a:schemeClr val="tx1"/>
                                  </a:solidFill>
                                  <a:latin typeface="Cambria Math" panose="02040503050406030204" pitchFamily="18" charset="0"/>
                                </a:rPr>
                                <m:t>𝐻</m:t>
                              </m:r>
                            </m:e>
                            <m:sup>
                              <m:r>
                                <a:rPr lang="en-US" altLang="zh-CN" sz="1300" b="0" i="1" dirty="0" smtClean="0">
                                  <a:solidFill>
                                    <a:schemeClr val="tx1"/>
                                  </a:solidFill>
                                  <a:latin typeface="Cambria Math" panose="02040503050406030204" pitchFamily="18" charset="0"/>
                                </a:rPr>
                                <m:t>2</m:t>
                              </m:r>
                            </m:sup>
                          </m:sSup>
                        </m:sub>
                        <m:sup/>
                        <m:e>
                          <m:f>
                            <m:fPr>
                              <m:ctrlPr>
                                <a:rPr lang="en-US" altLang="zh-CN" sz="1300" b="1"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𝑑</m:t>
                              </m:r>
                              <m:sSub>
                                <m:sSubPr>
                                  <m:ctrlPr>
                                    <a:rPr lang="en-US" altLang="zh-CN" sz="1300" i="1" dirty="0">
                                      <a:solidFill>
                                        <a:schemeClr val="tx1"/>
                                      </a:solidFill>
                                      <a:latin typeface="Cambria Math" panose="02040503050406030204" pitchFamily="18" charset="0"/>
                                    </a:rPr>
                                  </m:ctrlPr>
                                </m:sSubPr>
                                <m:e>
                                  <m:r>
                                    <m:rPr>
                                      <m:sty m:val="p"/>
                                    </m:rPr>
                                    <a:rPr lang="en-US" altLang="zh-CN" sz="1300" dirty="0">
                                      <a:solidFill>
                                        <a:schemeClr val="tx1"/>
                                      </a:solidFill>
                                      <a:latin typeface="Cambria Math" panose="02040503050406030204" pitchFamily="18" charset="0"/>
                                    </a:rPr>
                                    <m:t>I</m:t>
                                  </m:r>
                                </m:e>
                                <m:sub>
                                  <m:r>
                                    <m:rPr>
                                      <m:sty m:val="p"/>
                                    </m:rPr>
                                    <a:rPr lang="en-US" altLang="zh-CN" sz="1300" dirty="0">
                                      <a:solidFill>
                                        <a:schemeClr val="tx1"/>
                                      </a:solidFill>
                                      <a:latin typeface="Cambria Math" panose="02040503050406030204" pitchFamily="18" charset="0"/>
                                    </a:rPr>
                                    <m:t>o</m:t>
                                  </m:r>
                                </m:sub>
                              </m:sSub>
                              <m:d>
                                <m:dPr>
                                  <m:ctrlPr>
                                    <a:rPr lang="en-US" altLang="zh-CN" sz="1300" i="1" dirty="0">
                                      <a:solidFill>
                                        <a:schemeClr val="tx1"/>
                                      </a:solidFill>
                                      <a:latin typeface="Cambria Math" panose="02040503050406030204" pitchFamily="18" charset="0"/>
                                    </a:rPr>
                                  </m:ctrlPr>
                                </m:dPr>
                                <m:e>
                                  <m:r>
                                    <a:rPr lang="en-US" altLang="zh-CN" sz="1300" b="1" i="1" dirty="0">
                                      <a:solidFill>
                                        <a:schemeClr val="tx1"/>
                                      </a:solidFill>
                                      <a:latin typeface="Cambria Math" panose="02040503050406030204" pitchFamily="18" charset="0"/>
                                    </a:rPr>
                                    <m:t>𝒐</m:t>
                                  </m:r>
                                </m:e>
                              </m:d>
                            </m:num>
                            <m:den>
                              <m:r>
                                <a:rPr lang="en-US" altLang="zh-CN" sz="1300" i="1" dirty="0">
                                  <a:solidFill>
                                    <a:schemeClr val="tx1"/>
                                  </a:solidFill>
                                  <a:latin typeface="Cambria Math" panose="02040503050406030204" pitchFamily="18" charset="0"/>
                                </a:rPr>
                                <m:t>𝑑</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𝜔</m:t>
                                  </m:r>
                                </m:e>
                                <m:sub>
                                  <m:r>
                                    <a:rPr lang="en-US" altLang="zh-CN" sz="1300" i="1" dirty="0">
                                      <a:solidFill>
                                        <a:schemeClr val="tx1"/>
                                      </a:solidFill>
                                      <a:latin typeface="Cambria Math" panose="02040503050406030204" pitchFamily="18" charset="0"/>
                                    </a:rPr>
                                    <m:t>𝑚</m:t>
                                  </m:r>
                                </m:sub>
                              </m:sSub>
                            </m:den>
                          </m:f>
                          <m:r>
                            <a:rPr lang="en-US" altLang="zh-CN" sz="1300" i="1" dirty="0">
                              <a:solidFill>
                                <a:schemeClr val="tx1"/>
                              </a:solidFill>
                              <a:latin typeface="Cambria Math" panose="02040503050406030204" pitchFamily="18" charset="0"/>
                            </a:rPr>
                            <m:t>𝑑</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𝜔</m:t>
                              </m:r>
                            </m:e>
                            <m:sub>
                              <m:r>
                                <a:rPr lang="en-US" altLang="zh-CN" sz="1300" i="1" dirty="0">
                                  <a:solidFill>
                                    <a:schemeClr val="tx1"/>
                                  </a:solidFill>
                                  <a:latin typeface="Cambria Math" panose="02040503050406030204" pitchFamily="18" charset="0"/>
                                </a:rPr>
                                <m:t>𝑚</m:t>
                              </m:r>
                            </m:sub>
                          </m:sSub>
                        </m:e>
                      </m:nary>
                      <m:r>
                        <a:rPr lang="en-US" altLang="zh-CN" sz="1300" b="0" i="1" dirty="0" smtClean="0">
                          <a:solidFill>
                            <a:schemeClr val="tx1"/>
                          </a:solidFill>
                          <a:latin typeface="Cambria Math" panose="02040503050406030204" pitchFamily="18" charset="0"/>
                        </a:rPr>
                        <m:t>=</m:t>
                      </m:r>
                      <m:nary>
                        <m:naryPr>
                          <m:supHide m:val="on"/>
                          <m:ctrlPr>
                            <a:rPr lang="en-US" altLang="zh-CN" sz="1300" i="1" dirty="0">
                              <a:solidFill>
                                <a:schemeClr val="tx1"/>
                              </a:solidFill>
                              <a:latin typeface="Cambria Math" panose="02040503050406030204" pitchFamily="18" charset="0"/>
                            </a:rPr>
                          </m:ctrlPr>
                        </m:naryPr>
                        <m:sub>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𝐻</m:t>
                              </m:r>
                            </m:e>
                            <m:sup>
                              <m:r>
                                <a:rPr lang="en-US" altLang="zh-CN" sz="1300" i="1" dirty="0">
                                  <a:solidFill>
                                    <a:schemeClr val="tx1"/>
                                  </a:solidFill>
                                  <a:latin typeface="Cambria Math" panose="02040503050406030204" pitchFamily="18" charset="0"/>
                                </a:rPr>
                                <m:t>2</m:t>
                              </m:r>
                            </m:sup>
                          </m:sSup>
                        </m:sub>
                        <m:sup/>
                        <m:e>
                          <m:sSubSup>
                            <m:sSubSupPr>
                              <m:ctrlPr>
                                <a:rPr lang="en-US" altLang="zh-CN" sz="1300" i="1" dirty="0">
                                  <a:solidFill>
                                    <a:schemeClr val="tx1"/>
                                  </a:solidFill>
                                  <a:latin typeface="Cambria Math" panose="02040503050406030204" pitchFamily="18" charset="0"/>
                                </a:rPr>
                              </m:ctrlPr>
                            </m:sSubSupPr>
                            <m:e>
                              <m:r>
                                <a:rPr lang="en-US" altLang="zh-CN" sz="1300" i="1" dirty="0">
                                  <a:solidFill>
                                    <a:schemeClr val="tx1"/>
                                  </a:solidFill>
                                  <a:latin typeface="Cambria Math" panose="02040503050406030204" pitchFamily="18" charset="0"/>
                                </a:rPr>
                                <m:t>𝐿</m:t>
                              </m:r>
                            </m:e>
                            <m:sub>
                              <m:r>
                                <a:rPr lang="en-US" altLang="zh-CN" sz="1300" i="1" dirty="0">
                                  <a:solidFill>
                                    <a:schemeClr val="tx1"/>
                                  </a:solidFill>
                                  <a:latin typeface="Cambria Math" panose="02040503050406030204" pitchFamily="18" charset="0"/>
                                </a:rPr>
                                <m:t>𝑜</m:t>
                              </m:r>
                            </m:sub>
                            <m:sup>
                              <m:r>
                                <a:rPr lang="en-US" altLang="zh-CN" sz="1300" b="1" i="1" dirty="0">
                                  <a:solidFill>
                                    <a:schemeClr val="tx1"/>
                                  </a:solidFill>
                                  <a:latin typeface="Cambria Math" panose="02040503050406030204" pitchFamily="18" charset="0"/>
                                </a:rPr>
                                <m:t>𝒎</m:t>
                              </m:r>
                            </m:sup>
                          </m:sSubSup>
                          <m:d>
                            <m:dPr>
                              <m:ctrlPr>
                                <a:rPr lang="en-US" altLang="zh-CN" sz="1300" i="1" dirty="0">
                                  <a:solidFill>
                                    <a:schemeClr val="tx1"/>
                                  </a:solidFill>
                                  <a:latin typeface="Cambria Math" panose="02040503050406030204" pitchFamily="18" charset="0"/>
                                </a:rPr>
                              </m:ctrlPr>
                            </m:dPr>
                            <m:e>
                              <m:r>
                                <a:rPr lang="en-US" altLang="zh-CN" sz="1300" b="1" i="1" dirty="0">
                                  <a:solidFill>
                                    <a:schemeClr val="tx1"/>
                                  </a:solidFill>
                                  <a:latin typeface="Cambria Math" panose="02040503050406030204" pitchFamily="18" charset="0"/>
                                </a:rPr>
                                <m:t>𝒐</m:t>
                              </m:r>
                            </m:e>
                          </m:d>
                          <m:r>
                            <a:rPr lang="en-US" altLang="zh-CN" sz="1300" i="1" dirty="0">
                              <a:solidFill>
                                <a:schemeClr val="tx1"/>
                              </a:solidFill>
                              <a:latin typeface="Cambria Math" panose="02040503050406030204" pitchFamily="18" charset="0"/>
                            </a:rPr>
                            <m:t> </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𝐴</m:t>
                              </m:r>
                            </m:e>
                            <m:sub>
                              <m:r>
                                <a:rPr lang="en-US" altLang="zh-CN" sz="1300" i="1" dirty="0">
                                  <a:solidFill>
                                    <a:schemeClr val="tx1"/>
                                  </a:solidFill>
                                  <a:latin typeface="Cambria Math" panose="02040503050406030204" pitchFamily="18" charset="0"/>
                                </a:rPr>
                                <m:t>𝑀</m:t>
                              </m:r>
                            </m:sub>
                          </m:sSub>
                          <m:r>
                            <a:rPr lang="en-US" altLang="zh-CN" sz="1300" i="1" dirty="0">
                              <a:solidFill>
                                <a:schemeClr val="tx1"/>
                              </a:solidFill>
                              <a:latin typeface="Cambria Math" panose="02040503050406030204" pitchFamily="18" charset="0"/>
                            </a:rPr>
                            <m:t> </m:t>
                          </m:r>
                          <m:r>
                            <a:rPr lang="en-US" altLang="zh-CN" sz="1300" i="1" dirty="0">
                              <a:solidFill>
                                <a:schemeClr val="tx1"/>
                              </a:solidFill>
                              <a:latin typeface="Cambria Math" panose="02040503050406030204" pitchFamily="18" charset="0"/>
                            </a:rPr>
                            <m:t>𝐷</m:t>
                          </m:r>
                          <m:d>
                            <m:dPr>
                              <m:ctrlPr>
                                <a:rPr lang="en-US" altLang="zh-CN" sz="1300" i="1" dirty="0">
                                  <a:solidFill>
                                    <a:schemeClr val="tx1"/>
                                  </a:solidFill>
                                  <a:latin typeface="Cambria Math" panose="02040503050406030204" pitchFamily="18" charset="0"/>
                                </a:rPr>
                              </m:ctrlPr>
                            </m:dPr>
                            <m:e>
                              <m:r>
                                <a:rPr lang="en-US" altLang="zh-CN" sz="1300" b="1" i="1" dirty="0">
                                  <a:solidFill>
                                    <a:schemeClr val="tx1"/>
                                  </a:solidFill>
                                  <a:latin typeface="Cambria Math" panose="02040503050406030204" pitchFamily="18" charset="0"/>
                                </a:rPr>
                                <m:t>𝒎</m:t>
                              </m:r>
                            </m:e>
                          </m:d>
                          <m:r>
                            <a:rPr lang="en-US" altLang="zh-CN" sz="1300" i="1" dirty="0">
                              <a:solidFill>
                                <a:schemeClr val="tx1"/>
                              </a:solidFill>
                              <a:latin typeface="Cambria Math" panose="02040503050406030204" pitchFamily="18" charset="0"/>
                            </a:rPr>
                            <m:t> </m:t>
                          </m:r>
                          <m:d>
                            <m:dPr>
                              <m:begChr m:val="⟨"/>
                              <m:endChr m:val="⟩"/>
                              <m:ctrlPr>
                                <a:rPr lang="en-US" altLang="zh-CN" sz="1300" i="1" dirty="0">
                                  <a:solidFill>
                                    <a:schemeClr val="tx1"/>
                                  </a:solidFill>
                                  <a:latin typeface="Cambria Math" panose="02040503050406030204" pitchFamily="18" charset="0"/>
                                </a:rPr>
                              </m:ctrlPr>
                            </m:dPr>
                            <m:e>
                              <m:sSup>
                                <m:sSupPr>
                                  <m:ctrlPr>
                                    <a:rPr lang="en-US" altLang="zh-CN" sz="1300" b="1" i="1" dirty="0">
                                      <a:solidFill>
                                        <a:schemeClr val="tx1"/>
                                      </a:solidFill>
                                      <a:latin typeface="Cambria Math" panose="02040503050406030204" pitchFamily="18" charset="0"/>
                                    </a:rPr>
                                  </m:ctrlPr>
                                </m:sSupPr>
                                <m:e>
                                  <m:r>
                                    <a:rPr lang="en-US" altLang="zh-CN" sz="1300" b="1" i="1" dirty="0">
                                      <a:solidFill>
                                        <a:schemeClr val="tx1"/>
                                      </a:solidFill>
                                      <a:latin typeface="Cambria Math" panose="02040503050406030204" pitchFamily="18" charset="0"/>
                                    </a:rPr>
                                    <m:t>𝒐</m:t>
                                  </m:r>
                                </m:e>
                                <m:sup>
                                  <m:r>
                                    <a:rPr lang="en-US" altLang="zh-CN" sz="1300" b="1" i="1" dirty="0">
                                      <a:solidFill>
                                        <a:schemeClr val="tx1"/>
                                      </a:solidFill>
                                      <a:latin typeface="Cambria Math" panose="02040503050406030204" pitchFamily="18" charset="0"/>
                                    </a:rPr>
                                    <m:t>+</m:t>
                                  </m:r>
                                </m:sup>
                              </m:sSup>
                              <m:r>
                                <a:rPr lang="en-US" altLang="zh-CN" sz="1300" i="1" dirty="0">
                                  <a:solidFill>
                                    <a:schemeClr val="tx1"/>
                                  </a:solidFill>
                                  <a:latin typeface="Cambria Math" panose="02040503050406030204" pitchFamily="18" charset="0"/>
                                </a:rPr>
                                <m:t>,</m:t>
                              </m:r>
                              <m:r>
                                <a:rPr lang="en-US" altLang="zh-CN" sz="1300" b="1" i="1" dirty="0">
                                  <a:solidFill>
                                    <a:schemeClr val="tx1"/>
                                  </a:solidFill>
                                  <a:latin typeface="Cambria Math" panose="02040503050406030204" pitchFamily="18" charset="0"/>
                                </a:rPr>
                                <m:t>𝒎</m:t>
                              </m:r>
                            </m:e>
                          </m:d>
                          <m:r>
                            <a:rPr lang="en-US" altLang="zh-CN" sz="1300" i="1" dirty="0">
                              <a:solidFill>
                                <a:schemeClr val="tx1"/>
                              </a:solidFill>
                              <a:latin typeface="Cambria Math" panose="02040503050406030204" pitchFamily="18" charset="0"/>
                            </a:rPr>
                            <m:t> </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𝐺</m:t>
                              </m:r>
                            </m:e>
                            <m:sub>
                              <m:r>
                                <a:rPr lang="en-US" altLang="zh-CN" sz="1300" i="1" dirty="0">
                                  <a:solidFill>
                                    <a:schemeClr val="tx1"/>
                                  </a:solidFill>
                                  <a:latin typeface="Cambria Math" panose="02040503050406030204" pitchFamily="18" charset="0"/>
                                </a:rPr>
                                <m:t>1</m:t>
                              </m:r>
                            </m:sub>
                          </m:sSub>
                          <m:d>
                            <m:dPr>
                              <m:ctrlPr>
                                <a:rPr lang="en-US" altLang="zh-CN" sz="1300" i="1" dirty="0">
                                  <a:solidFill>
                                    <a:schemeClr val="tx1"/>
                                  </a:solidFill>
                                  <a:latin typeface="Cambria Math" panose="02040503050406030204" pitchFamily="18" charset="0"/>
                                </a:rPr>
                              </m:ctrlPr>
                            </m:dPr>
                            <m:e>
                              <m:r>
                                <a:rPr lang="en-US" altLang="zh-CN" sz="1300" b="1" i="1" dirty="0">
                                  <a:solidFill>
                                    <a:schemeClr val="tx1"/>
                                  </a:solidFill>
                                  <a:latin typeface="Cambria Math" panose="02040503050406030204" pitchFamily="18" charset="0"/>
                                </a:rPr>
                                <m:t>𝒐</m:t>
                              </m:r>
                              <m:r>
                                <a:rPr lang="en-US" altLang="zh-CN" sz="1300" i="1" dirty="0">
                                  <a:solidFill>
                                    <a:schemeClr val="tx1"/>
                                  </a:solidFill>
                                  <a:latin typeface="Cambria Math" panose="02040503050406030204" pitchFamily="18" charset="0"/>
                                </a:rPr>
                                <m:t>,</m:t>
                              </m:r>
                              <m:r>
                                <a:rPr lang="en-US" altLang="zh-CN" sz="1300" b="1" i="1" dirty="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 </m:t>
                          </m:r>
                          <m:r>
                            <a:rPr lang="en-US" altLang="zh-CN" sz="1300" i="1" dirty="0">
                              <a:solidFill>
                                <a:schemeClr val="tx1"/>
                              </a:solidFill>
                              <a:latin typeface="Cambria Math" panose="02040503050406030204" pitchFamily="18" charset="0"/>
                            </a:rPr>
                            <m:t>𝑑</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𝜔</m:t>
                              </m:r>
                            </m:e>
                            <m:sub>
                              <m:r>
                                <m:rPr>
                                  <m:sty m:val="p"/>
                                </m:rPr>
                                <a:rPr lang="en-US" altLang="zh-CN" sz="1300" i="1" dirty="0">
                                  <a:solidFill>
                                    <a:schemeClr val="tx1"/>
                                  </a:solidFill>
                                  <a:latin typeface="Cambria Math" panose="02040503050406030204" pitchFamily="18" charset="0"/>
                                </a:rPr>
                                <m:t>m</m:t>
                              </m:r>
                            </m:sub>
                          </m:sSub>
                        </m:e>
                      </m:nary>
                      <m:d>
                        <m:dPr>
                          <m:begChr m:val="["/>
                          <m:endChr m:val="]"/>
                          <m:ctrlPr>
                            <a:rPr lang="en-US" altLang="zh-CN" sz="1300" b="0" i="1" dirty="0" smtClean="0">
                              <a:solidFill>
                                <a:schemeClr val="tx1"/>
                              </a:solidFill>
                              <a:latin typeface="Cambria Math" panose="02040503050406030204" pitchFamily="18" charset="0"/>
                            </a:rPr>
                          </m:ctrlPr>
                        </m:dPr>
                        <m:e>
                          <m:r>
                            <a:rPr lang="en-US" altLang="zh-CN" sz="1300" b="0" i="1" dirty="0" smtClean="0">
                              <a:solidFill>
                                <a:schemeClr val="tx1"/>
                              </a:solidFill>
                              <a:latin typeface="Cambria Math" panose="02040503050406030204" pitchFamily="18" charset="0"/>
                            </a:rPr>
                            <m:t>𝑐𝑑</m:t>
                          </m:r>
                        </m:e>
                      </m:d>
                    </m:oMath>
                  </m:oMathPara>
                </a14:m>
                <a:endParaRPr lang="en-US" altLang="zh-CN" sz="13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zh-CN" altLang="en-US" sz="1300" i="1" dirty="0" smtClean="0">
                          <a:solidFill>
                            <a:schemeClr val="tx1"/>
                          </a:solidFill>
                          <a:latin typeface="Cambria Math" panose="02040503050406030204" pitchFamily="18" charset="0"/>
                        </a:rPr>
                        <m:t>上式</m:t>
                      </m:r>
                      <m:r>
                        <a:rPr lang="zh-CN" altLang="en-US" sz="1300" b="0" i="1" dirty="0">
                          <a:solidFill>
                            <a:schemeClr val="tx1"/>
                          </a:solidFill>
                          <a:latin typeface="Cambria Math" panose="02040503050406030204" pitchFamily="18" charset="0"/>
                        </a:rPr>
                        <m:t>除</m:t>
                      </m:r>
                      <m:r>
                        <a:rPr lang="zh-CN" altLang="en-US" sz="1300" i="1" dirty="0" smtClean="0">
                          <a:solidFill>
                            <a:schemeClr val="tx1"/>
                          </a:solidFill>
                          <a:latin typeface="Cambria Math" panose="02040503050406030204" pitchFamily="18" charset="0"/>
                        </a:rPr>
                        <m:t>以</m:t>
                      </m:r>
                      <m:r>
                        <a:rPr lang="zh-CN" altLang="en-US" sz="1300" i="1" dirty="0">
                          <a:solidFill>
                            <a:schemeClr val="tx1"/>
                          </a:solidFill>
                          <a:latin typeface="Cambria Math" panose="02040503050406030204" pitchFamily="18" charset="0"/>
                        </a:rPr>
                        <m:t>所有</m:t>
                      </m:r>
                      <m:r>
                        <a:rPr lang="zh-CN" altLang="en-US" sz="1300" i="1" dirty="0" smtClean="0">
                          <a:solidFill>
                            <a:schemeClr val="tx1"/>
                          </a:solidFill>
                          <a:latin typeface="Cambria Math" panose="02040503050406030204" pitchFamily="18" charset="0"/>
                        </a:rPr>
                        <m:t>未被遮挡</m:t>
                      </m:r>
                      <m:r>
                        <a:rPr lang="zh-CN" altLang="en-US" sz="1300" i="1" dirty="0">
                          <a:solidFill>
                            <a:schemeClr val="tx1"/>
                          </a:solidFill>
                          <a:latin typeface="Cambria Math" panose="02040503050406030204" pitchFamily="18" charset="0"/>
                        </a:rPr>
                        <m:t>的</m:t>
                      </m:r>
                      <m:r>
                        <a:rPr lang="zh-CN" altLang="en-US" sz="1300" i="1" dirty="0" smtClean="0">
                          <a:solidFill>
                            <a:schemeClr val="tx1"/>
                          </a:solidFill>
                          <a:latin typeface="Cambria Math" panose="02040503050406030204" pitchFamily="18" charset="0"/>
                        </a:rPr>
                        <m:t>微面</m:t>
                      </m:r>
                      <m:r>
                        <a:rPr lang="zh-CN" altLang="en-US" sz="1300" i="1" dirty="0">
                          <a:solidFill>
                            <a:schemeClr val="tx1"/>
                          </a:solidFill>
                          <a:latin typeface="Cambria Math" panose="02040503050406030204" pitchFamily="18" charset="0"/>
                        </a:rPr>
                        <m:t>向</m:t>
                      </m:r>
                      <m:r>
                        <a:rPr lang="en-US" altLang="zh-CN" sz="1300" b="1" i="1" dirty="0" smtClean="0">
                          <a:solidFill>
                            <a:schemeClr val="tx1"/>
                          </a:solidFill>
                          <a:latin typeface="Cambria Math" panose="02040503050406030204" pitchFamily="18" charset="0"/>
                        </a:rPr>
                        <m:t>𝒐</m:t>
                      </m:r>
                      <m:r>
                        <a:rPr lang="zh-CN" altLang="en-US" sz="1300" b="1" i="1" dirty="0">
                          <a:solidFill>
                            <a:schemeClr val="tx1"/>
                          </a:solidFill>
                          <a:latin typeface="Cambria Math" panose="02040503050406030204" pitchFamily="18" charset="0"/>
                        </a:rPr>
                        <m:t>方向</m:t>
                      </m:r>
                      <m:r>
                        <a:rPr lang="zh-CN" altLang="en-US" sz="1300" i="1" dirty="0" smtClean="0">
                          <a:solidFill>
                            <a:schemeClr val="tx1"/>
                          </a:solidFill>
                          <a:latin typeface="Cambria Math" panose="02040503050406030204" pitchFamily="18" charset="0"/>
                        </a:rPr>
                        <m:t>的投影</m:t>
                      </m:r>
                      <m:r>
                        <a:rPr lang="zh-CN" altLang="en-US" sz="1300" i="1" dirty="0">
                          <a:solidFill>
                            <a:schemeClr val="tx1"/>
                          </a:solidFill>
                          <a:latin typeface="Cambria Math" panose="02040503050406030204" pitchFamily="18" charset="0"/>
                        </a:rPr>
                        <m:t>面积</m:t>
                      </m:r>
                      <m:r>
                        <a:rPr lang="zh-CN" altLang="en-US" sz="1300" i="1" dirty="0" smtClean="0">
                          <a:solidFill>
                            <a:schemeClr val="tx1"/>
                          </a:solidFill>
                          <a:latin typeface="Cambria Math" panose="02040503050406030204" pitchFamily="18" charset="0"/>
                        </a:rPr>
                        <m:t>，</m:t>
                      </m:r>
                      <m:r>
                        <a:rPr lang="zh-CN" altLang="en-US" sz="1300" i="1" dirty="0">
                          <a:solidFill>
                            <a:schemeClr val="tx1"/>
                          </a:solidFill>
                          <a:latin typeface="Cambria Math" panose="02040503050406030204" pitchFamily="18" charset="0"/>
                        </a:rPr>
                        <m:t>得到</m:t>
                      </m:r>
                      <m:r>
                        <a:rPr lang="zh-CN" altLang="en-US" sz="1300" i="1" dirty="0" smtClean="0">
                          <a:solidFill>
                            <a:schemeClr val="tx1"/>
                          </a:solidFill>
                          <a:latin typeface="Cambria Math" panose="02040503050406030204" pitchFamily="18" charset="0"/>
                        </a:rPr>
                        <m:t>整个</m:t>
                      </m:r>
                      <m:r>
                        <a:rPr lang="zh-CN" altLang="en-US" sz="1300" i="1" dirty="0">
                          <a:solidFill>
                            <a:schemeClr val="tx1"/>
                          </a:solidFill>
                          <a:latin typeface="Cambria Math" panose="02040503050406030204" pitchFamily="18" charset="0"/>
                        </a:rPr>
                        <m:t>微表面</m:t>
                      </m:r>
                      <m:r>
                        <a:rPr lang="zh-CN" altLang="en-US" sz="1300" i="1" dirty="0" smtClean="0">
                          <a:solidFill>
                            <a:schemeClr val="tx1"/>
                          </a:solidFill>
                          <a:latin typeface="Cambria Math" panose="02040503050406030204" pitchFamily="18" charset="0"/>
                        </a:rPr>
                        <m:t>的出射</m:t>
                      </m:r>
                      <m:r>
                        <a:rPr lang="en-US" altLang="zh-CN" sz="1300" b="0" i="1" dirty="0" smtClean="0">
                          <a:solidFill>
                            <a:schemeClr val="tx1"/>
                          </a:solidFill>
                          <a:latin typeface="Cambria Math" panose="02040503050406030204" pitchFamily="18" charset="0"/>
                        </a:rPr>
                        <m:t>𝑅</m:t>
                      </m:r>
                      <m:r>
                        <m:rPr>
                          <m:sty m:val="p"/>
                        </m:rPr>
                        <a:rPr lang="en-US" altLang="zh-CN" sz="1300" i="1" dirty="0">
                          <a:solidFill>
                            <a:schemeClr val="tx1"/>
                          </a:solidFill>
                          <a:latin typeface="Cambria Math" panose="02040503050406030204" pitchFamily="18" charset="0"/>
                        </a:rPr>
                        <m:t>adiance</m:t>
                      </m:r>
                      <m:r>
                        <a:rPr lang="zh-CN" altLang="en-US" sz="1300" i="1" dirty="0" smtClean="0">
                          <a:solidFill>
                            <a:schemeClr val="tx1"/>
                          </a:solidFill>
                          <a:latin typeface="Cambria Math" panose="02040503050406030204" pitchFamily="18" charset="0"/>
                        </a:rPr>
                        <m:t>：</m:t>
                      </m:r>
                    </m:oMath>
                  </m:oMathPara>
                </a14:m>
                <a:endParaRPr lang="en-US" altLang="zh-CN" sz="130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𝐿</m:t>
                          </m:r>
                        </m:e>
                        <m:sub>
                          <m:r>
                            <a:rPr lang="en-US" altLang="zh-CN" sz="1300" b="0" i="1" dirty="0" smtClean="0">
                              <a:solidFill>
                                <a:schemeClr val="tx1"/>
                              </a:solidFill>
                              <a:latin typeface="Cambria Math" panose="02040503050406030204" pitchFamily="18" charset="0"/>
                            </a:rPr>
                            <m:t>𝑜</m:t>
                          </m:r>
                        </m:sub>
                      </m:sSub>
                      <m:d>
                        <m:dPr>
                          <m:ctrlPr>
                            <a:rPr lang="en-US" altLang="zh-CN" sz="1300" b="0" i="1" dirty="0" smtClean="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𝒐</m:t>
                          </m:r>
                        </m:e>
                      </m:d>
                      <m:r>
                        <a:rPr lang="en-US" altLang="zh-CN" sz="1300" b="0" i="1" dirty="0" smtClean="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𝐼</m:t>
                              </m:r>
                            </m:e>
                            <m:sub>
                              <m:r>
                                <a:rPr lang="en-US" altLang="zh-CN" sz="1300" i="1" dirty="0">
                                  <a:solidFill>
                                    <a:schemeClr val="tx1"/>
                                  </a:solidFill>
                                  <a:latin typeface="Cambria Math" panose="02040503050406030204" pitchFamily="18" charset="0"/>
                                </a:rPr>
                                <m:t>𝑜</m:t>
                              </m:r>
                            </m:sub>
                          </m:sSub>
                          <m:d>
                            <m:dPr>
                              <m:ctrlPr>
                                <a:rPr lang="en-US" altLang="zh-CN" sz="1300" i="1" dirty="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𝒐</m:t>
                              </m:r>
                            </m:e>
                          </m:d>
                        </m:num>
                        <m:den>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𝐴</m:t>
                              </m:r>
                            </m:e>
                            <m:sub>
                              <m:r>
                                <a:rPr lang="en-US" altLang="zh-CN" sz="1300" b="0" i="1" dirty="0" smtClean="0">
                                  <a:solidFill>
                                    <a:schemeClr val="tx1"/>
                                  </a:solidFill>
                                  <a:latin typeface="Cambria Math" panose="02040503050406030204" pitchFamily="18" charset="0"/>
                                </a:rPr>
                                <m:t>𝑀</m:t>
                              </m:r>
                            </m:sub>
                          </m:sSub>
                          <m:r>
                            <a:rPr lang="en-US" altLang="zh-CN" sz="1300" b="0" i="1" dirty="0" smtClean="0">
                              <a:solidFill>
                                <a:schemeClr val="tx1"/>
                              </a:solidFill>
                              <a:latin typeface="Cambria Math" panose="02040503050406030204" pitchFamily="18" charset="0"/>
                            </a:rPr>
                            <m:t> </m:t>
                          </m:r>
                          <m:d>
                            <m:dPr>
                              <m:begChr m:val="|"/>
                              <m:endChr m:val="|"/>
                              <m:ctrlPr>
                                <a:rPr lang="en-US" altLang="zh-CN" sz="1300" b="0" i="1" dirty="0" smtClean="0">
                                  <a:solidFill>
                                    <a:schemeClr val="tx1"/>
                                  </a:solidFill>
                                  <a:latin typeface="Cambria Math" panose="02040503050406030204" pitchFamily="18" charset="0"/>
                                </a:rPr>
                              </m:ctrlPr>
                            </m:dPr>
                            <m:e>
                              <m:r>
                                <a:rPr lang="en-US" altLang="zh-CN" sz="1400" b="1" i="1" smtClean="0">
                                  <a:solidFill>
                                    <a:schemeClr val="tx1"/>
                                  </a:solidFill>
                                  <a:latin typeface="Cambria Math" panose="02040503050406030204" pitchFamily="18" charset="0"/>
                                </a:rPr>
                                <m:t>𝒐</m:t>
                              </m:r>
                              <m:r>
                                <a:rPr lang="en-US" altLang="zh-CN" sz="1400" i="1">
                                  <a:solidFill>
                                    <a:schemeClr val="tx1"/>
                                  </a:solidFill>
                                  <a:latin typeface="Cambria Math" panose="02040503050406030204" pitchFamily="18" charset="0"/>
                                </a:rPr>
                                <m:t>⋅</m:t>
                              </m:r>
                              <m:r>
                                <a:rPr lang="en-US" altLang="zh-CN" sz="1400" b="1" i="1" smtClean="0">
                                  <a:solidFill>
                                    <a:schemeClr val="tx1"/>
                                  </a:solidFill>
                                  <a:latin typeface="Cambria Math" panose="02040503050406030204" pitchFamily="18" charset="0"/>
                                </a:rPr>
                                <m:t>𝒈</m:t>
                              </m:r>
                            </m:e>
                          </m:d>
                        </m:den>
                      </m:f>
                      <m:r>
                        <a:rPr lang="en-US" altLang="zh-CN" sz="1300" b="0" i="1" dirty="0" smtClean="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r>
                            <a:rPr lang="en-US" altLang="zh-CN" sz="1300" b="0" i="1" dirty="0" smtClean="0">
                              <a:solidFill>
                                <a:schemeClr val="tx1"/>
                              </a:solidFill>
                              <a:latin typeface="Cambria Math" panose="02040503050406030204" pitchFamily="18" charset="0"/>
                            </a:rPr>
                            <m:t>1</m:t>
                          </m:r>
                        </m:num>
                        <m:den>
                          <m:d>
                            <m:dPr>
                              <m:begChr m:val="|"/>
                              <m:endChr m:val="|"/>
                              <m:ctrlPr>
                                <a:rPr lang="en-US" altLang="zh-CN" sz="1300" b="0" i="1" dirty="0" smtClean="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𝒐</m:t>
                              </m:r>
                              <m:r>
                                <a:rPr lang="en-US" altLang="zh-CN" sz="1300" b="0" i="1" dirty="0" smtClean="0">
                                  <a:solidFill>
                                    <a:schemeClr val="tx1"/>
                                  </a:solidFill>
                                  <a:latin typeface="Cambria Math" panose="02040503050406030204" pitchFamily="18" charset="0"/>
                                </a:rPr>
                                <m:t>⋅</m:t>
                              </m:r>
                              <m:r>
                                <a:rPr lang="en-US" altLang="zh-CN" sz="1300" b="1" i="1" dirty="0" smtClean="0">
                                  <a:solidFill>
                                    <a:schemeClr val="tx1"/>
                                  </a:solidFill>
                                  <a:latin typeface="Cambria Math" panose="02040503050406030204" pitchFamily="18" charset="0"/>
                                </a:rPr>
                                <m:t>𝒈</m:t>
                              </m:r>
                            </m:e>
                          </m:d>
                        </m:den>
                      </m:f>
                      <m:nary>
                        <m:naryPr>
                          <m:supHide m:val="on"/>
                          <m:ctrlPr>
                            <a:rPr lang="en-US" altLang="zh-CN" sz="1300" b="0" i="1" dirty="0" smtClean="0">
                              <a:solidFill>
                                <a:schemeClr val="tx1"/>
                              </a:solidFill>
                              <a:latin typeface="Cambria Math" panose="02040503050406030204" pitchFamily="18" charset="0"/>
                            </a:rPr>
                          </m:ctrlPr>
                        </m:naryPr>
                        <m:sub>
                          <m:sSup>
                            <m:sSupPr>
                              <m:ctrlPr>
                                <a:rPr lang="en-US" altLang="zh-CN" sz="1300" b="0" i="1" dirty="0" smtClean="0">
                                  <a:solidFill>
                                    <a:schemeClr val="tx1"/>
                                  </a:solidFill>
                                  <a:latin typeface="Cambria Math" panose="02040503050406030204" pitchFamily="18" charset="0"/>
                                </a:rPr>
                              </m:ctrlPr>
                            </m:sSupPr>
                            <m:e>
                              <m:r>
                                <a:rPr lang="en-US" altLang="zh-CN" sz="1300" b="0" i="1" dirty="0" smtClean="0">
                                  <a:solidFill>
                                    <a:schemeClr val="tx1"/>
                                  </a:solidFill>
                                  <a:latin typeface="Cambria Math" panose="02040503050406030204" pitchFamily="18" charset="0"/>
                                </a:rPr>
                                <m:t>𝐻</m:t>
                              </m:r>
                            </m:e>
                            <m:sup>
                              <m:r>
                                <a:rPr lang="en-US" altLang="zh-CN" sz="1300" b="0" i="1" dirty="0" smtClean="0">
                                  <a:solidFill>
                                    <a:schemeClr val="tx1"/>
                                  </a:solidFill>
                                  <a:latin typeface="Cambria Math" panose="02040503050406030204" pitchFamily="18" charset="0"/>
                                </a:rPr>
                                <m:t>2</m:t>
                              </m:r>
                            </m:sup>
                          </m:sSup>
                        </m:sub>
                        <m:sup/>
                        <m:e>
                          <m:sSubSup>
                            <m:sSubSupPr>
                              <m:ctrlPr>
                                <a:rPr lang="en-US" altLang="zh-CN" sz="1300" i="1" dirty="0">
                                  <a:solidFill>
                                    <a:schemeClr val="tx1"/>
                                  </a:solidFill>
                                  <a:latin typeface="Cambria Math" panose="02040503050406030204" pitchFamily="18" charset="0"/>
                                </a:rPr>
                              </m:ctrlPr>
                            </m:sSubSupPr>
                            <m:e>
                              <m:r>
                                <a:rPr lang="en-US" altLang="zh-CN" sz="1300" i="1" dirty="0">
                                  <a:solidFill>
                                    <a:schemeClr val="tx1"/>
                                  </a:solidFill>
                                  <a:latin typeface="Cambria Math" panose="02040503050406030204" pitchFamily="18" charset="0"/>
                                </a:rPr>
                                <m:t>𝐿</m:t>
                              </m:r>
                            </m:e>
                            <m:sub>
                              <m:r>
                                <a:rPr lang="en-US" altLang="zh-CN" sz="1300" i="1" dirty="0">
                                  <a:solidFill>
                                    <a:schemeClr val="tx1"/>
                                  </a:solidFill>
                                  <a:latin typeface="Cambria Math" panose="02040503050406030204" pitchFamily="18" charset="0"/>
                                </a:rPr>
                                <m:t>𝑜</m:t>
                              </m:r>
                            </m:sub>
                            <m:sup>
                              <m:r>
                                <a:rPr lang="en-US" altLang="zh-CN" sz="1300" b="1" i="1" dirty="0" smtClean="0">
                                  <a:solidFill>
                                    <a:schemeClr val="tx1"/>
                                  </a:solidFill>
                                  <a:latin typeface="Cambria Math" panose="02040503050406030204" pitchFamily="18" charset="0"/>
                                </a:rPr>
                                <m:t>𝒎</m:t>
                              </m:r>
                            </m:sup>
                          </m:sSubSup>
                          <m:d>
                            <m:dPr>
                              <m:ctrlPr>
                                <a:rPr lang="en-US" altLang="zh-CN" sz="1300" i="1" dirty="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𝒐</m:t>
                              </m:r>
                            </m:e>
                          </m:d>
                          <m:r>
                            <a:rPr lang="en-US" altLang="zh-CN" sz="1300" b="0" i="1" dirty="0" smtClean="0">
                              <a:solidFill>
                                <a:schemeClr val="tx1"/>
                              </a:solidFill>
                              <a:latin typeface="Cambria Math" panose="02040503050406030204" pitchFamily="18" charset="0"/>
                            </a:rPr>
                            <m:t> </m:t>
                          </m:r>
                          <m:r>
                            <a:rPr lang="en-US" altLang="zh-CN" sz="1300" i="1" dirty="0">
                              <a:solidFill>
                                <a:schemeClr val="tx1"/>
                              </a:solidFill>
                              <a:latin typeface="Cambria Math" panose="02040503050406030204" pitchFamily="18" charset="0"/>
                            </a:rPr>
                            <m:t>𝐷</m:t>
                          </m:r>
                          <m:d>
                            <m:dPr>
                              <m:ctrlPr>
                                <a:rPr lang="en-US" altLang="zh-CN" sz="1300" i="1" dirty="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 </m:t>
                          </m:r>
                          <m:d>
                            <m:dPr>
                              <m:begChr m:val="⟨"/>
                              <m:endChr m:val="⟩"/>
                              <m:ctrlPr>
                                <a:rPr lang="en-US" altLang="zh-CN" sz="1300" i="1" dirty="0">
                                  <a:solidFill>
                                    <a:schemeClr val="tx1"/>
                                  </a:solidFill>
                                  <a:latin typeface="Cambria Math" panose="02040503050406030204" pitchFamily="18" charset="0"/>
                                </a:rPr>
                              </m:ctrlPr>
                            </m:dPr>
                            <m:e>
                              <m:sSup>
                                <m:sSupPr>
                                  <m:ctrlPr>
                                    <a:rPr lang="en-US" altLang="zh-CN" sz="1300" b="1" i="1" dirty="0" smtClean="0">
                                      <a:solidFill>
                                        <a:schemeClr val="tx1"/>
                                      </a:solidFill>
                                      <a:latin typeface="Cambria Math" panose="02040503050406030204" pitchFamily="18" charset="0"/>
                                    </a:rPr>
                                  </m:ctrlPr>
                                </m:sSupPr>
                                <m:e>
                                  <m:r>
                                    <a:rPr lang="en-US" altLang="zh-CN" sz="1300" b="1" i="1" dirty="0" smtClean="0">
                                      <a:solidFill>
                                        <a:schemeClr val="tx1"/>
                                      </a:solidFill>
                                      <a:latin typeface="Cambria Math" panose="02040503050406030204" pitchFamily="18" charset="0"/>
                                    </a:rPr>
                                    <m:t>𝒐</m:t>
                                  </m:r>
                                </m:e>
                                <m:sup>
                                  <m:r>
                                    <a:rPr lang="en-US" altLang="zh-CN" sz="1300" b="1" i="1" dirty="0" smtClean="0">
                                      <a:solidFill>
                                        <a:schemeClr val="tx1"/>
                                      </a:solidFill>
                                      <a:latin typeface="Cambria Math" panose="02040503050406030204" pitchFamily="18" charset="0"/>
                                    </a:rPr>
                                    <m:t>+</m:t>
                                  </m:r>
                                </m:sup>
                              </m:sSup>
                              <m:r>
                                <a:rPr lang="en-US" altLang="zh-CN" sz="1300" i="1" dirty="0">
                                  <a:solidFill>
                                    <a:schemeClr val="tx1"/>
                                  </a:solidFill>
                                  <a:latin typeface="Cambria Math" panose="02040503050406030204" pitchFamily="18" charset="0"/>
                                </a:rPr>
                                <m:t>,</m:t>
                              </m:r>
                              <m:r>
                                <a:rPr lang="en-US" altLang="zh-CN" sz="1300" b="1" i="1" dirty="0" smtClean="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 </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𝐺</m:t>
                              </m:r>
                            </m:e>
                            <m:sub>
                              <m:r>
                                <a:rPr lang="en-US" altLang="zh-CN" sz="1300" i="1" dirty="0">
                                  <a:solidFill>
                                    <a:schemeClr val="tx1"/>
                                  </a:solidFill>
                                  <a:latin typeface="Cambria Math" panose="02040503050406030204" pitchFamily="18" charset="0"/>
                                </a:rPr>
                                <m:t>1</m:t>
                              </m:r>
                            </m:sub>
                          </m:sSub>
                          <m:d>
                            <m:dPr>
                              <m:ctrlPr>
                                <a:rPr lang="en-US" altLang="zh-CN" sz="1300" i="1" dirty="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𝒐</m:t>
                              </m:r>
                              <m:r>
                                <a:rPr lang="en-US" altLang="zh-CN" sz="1300" i="1" dirty="0">
                                  <a:solidFill>
                                    <a:schemeClr val="tx1"/>
                                  </a:solidFill>
                                  <a:latin typeface="Cambria Math" panose="02040503050406030204" pitchFamily="18" charset="0"/>
                                </a:rPr>
                                <m:t>,</m:t>
                              </m:r>
                              <m:r>
                                <a:rPr lang="en-US" altLang="zh-CN" sz="1300" b="1" i="1" dirty="0" smtClean="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 </m:t>
                          </m:r>
                          <m:r>
                            <a:rPr lang="en-US" altLang="zh-CN" sz="1300" b="0" i="1" dirty="0" smtClean="0">
                              <a:solidFill>
                                <a:schemeClr val="tx1"/>
                              </a:solidFill>
                              <a:latin typeface="Cambria Math" panose="02040503050406030204" pitchFamily="18" charset="0"/>
                            </a:rPr>
                            <m:t>𝑑</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𝜔</m:t>
                              </m:r>
                            </m:e>
                            <m:sub>
                              <m:r>
                                <m:rPr>
                                  <m:sty m:val="p"/>
                                </m:rPr>
                                <a:rPr lang="en-US" altLang="zh-CN" sz="1300" i="1" dirty="0">
                                  <a:solidFill>
                                    <a:schemeClr val="tx1"/>
                                  </a:solidFill>
                                  <a:latin typeface="Cambria Math" panose="02040503050406030204" pitchFamily="18" charset="0"/>
                                </a:rPr>
                                <m:t>m</m:t>
                              </m:r>
                            </m:sub>
                          </m:sSub>
                        </m:e>
                      </m:nary>
                      <m:r>
                        <a:rPr lang="en-US" altLang="zh-CN" sz="1300" b="0" i="0" dirty="0" smtClean="0">
                          <a:solidFill>
                            <a:schemeClr val="tx1"/>
                          </a:solidFill>
                          <a:latin typeface="Cambria Math" panose="02040503050406030204" pitchFamily="18" charset="0"/>
                        </a:rPr>
                        <m:t> </m:t>
                      </m:r>
                      <m:d>
                        <m:dPr>
                          <m:begChr m:val="["/>
                          <m:endChr m:val="]"/>
                          <m:ctrlPr>
                            <a:rPr lang="en-US" altLang="zh-CN" sz="1300" b="0" i="1" dirty="0" smtClean="0">
                              <a:solidFill>
                                <a:schemeClr val="tx1"/>
                              </a:solidFill>
                              <a:latin typeface="Cambria Math" panose="02040503050406030204" pitchFamily="18" charset="0"/>
                            </a:rPr>
                          </m:ctrlPr>
                        </m:dPr>
                        <m:e>
                          <m:r>
                            <m:rPr>
                              <m:sty m:val="p"/>
                            </m:rPr>
                            <a:rPr lang="en-US" altLang="zh-CN" sz="1300" b="0" i="0" dirty="0" smtClean="0">
                              <a:solidFill>
                                <a:schemeClr val="tx1"/>
                              </a:solidFill>
                              <a:latin typeface="Cambria Math" panose="02040503050406030204" pitchFamily="18" charset="0"/>
                            </a:rPr>
                            <m:t>nit</m:t>
                          </m:r>
                        </m:e>
                      </m:d>
                    </m:oMath>
                  </m:oMathPara>
                </a14:m>
                <a:endParaRPr lang="en-US" altLang="zh-CN" sz="1300" b="0" dirty="0">
                  <a:solidFill>
                    <a:schemeClr val="tx1"/>
                  </a:solidFill>
                </a:endParaRPr>
              </a:p>
            </p:txBody>
          </p:sp>
        </mc:Choice>
        <mc:Fallback xmlns="">
          <p:sp>
            <p:nvSpPr>
              <p:cNvPr id="64" name="矩形 63">
                <a:extLst>
                  <a:ext uri="{FF2B5EF4-FFF2-40B4-BE49-F238E27FC236}">
                    <a16:creationId xmlns:a16="http://schemas.microsoft.com/office/drawing/2014/main" id="{FEBCA0D0-BDFA-0F09-8904-8462A227031E}"/>
                  </a:ext>
                </a:extLst>
              </p:cNvPr>
              <p:cNvSpPr>
                <a:spLocks noRot="1" noChangeAspect="1" noMove="1" noResize="1" noEditPoints="1" noAdjustHandles="1" noChangeArrowheads="1" noChangeShapeType="1" noTextEdit="1"/>
              </p:cNvSpPr>
              <p:nvPr/>
            </p:nvSpPr>
            <p:spPr>
              <a:xfrm>
                <a:off x="478709" y="1144044"/>
                <a:ext cx="6748783" cy="5402806"/>
              </a:xfrm>
              <a:prstGeom prst="rect">
                <a:avLst/>
              </a:prstGeom>
              <a:blipFill>
                <a:blip r:embed="rId2"/>
                <a:stretch>
                  <a:fillRect l="-90"/>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36493DD0-EB74-B1D9-FB81-40BEEEA70B38}"/>
              </a:ext>
            </a:extLst>
          </p:cNvPr>
          <p:cNvSpPr/>
          <p:nvPr/>
        </p:nvSpPr>
        <p:spPr>
          <a:xfrm>
            <a:off x="7772004" y="1716327"/>
            <a:ext cx="4320195" cy="29862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29CAFC2D-A050-D51A-729C-FA7458A25CB5}"/>
              </a:ext>
            </a:extLst>
          </p:cNvPr>
          <p:cNvSpPr/>
          <p:nvPr/>
        </p:nvSpPr>
        <p:spPr>
          <a:xfrm>
            <a:off x="7638654" y="1544877"/>
            <a:ext cx="4320195" cy="298623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a:extLst>
              <a:ext uri="{FF2B5EF4-FFF2-40B4-BE49-F238E27FC236}">
                <a16:creationId xmlns:a16="http://schemas.microsoft.com/office/drawing/2014/main" id="{A1A5A6F9-D38C-81E4-B449-A15D4ABA2FC4}"/>
              </a:ext>
            </a:extLst>
          </p:cNvPr>
          <p:cNvGrpSpPr/>
          <p:nvPr/>
        </p:nvGrpSpPr>
        <p:grpSpPr>
          <a:xfrm>
            <a:off x="7869231" y="1711553"/>
            <a:ext cx="4322769" cy="2757063"/>
            <a:chOff x="7869231" y="1711553"/>
            <a:chExt cx="4322769" cy="2757063"/>
          </a:xfrm>
        </p:grpSpPr>
        <p:grpSp>
          <p:nvGrpSpPr>
            <p:cNvPr id="9" name="组合 8">
              <a:extLst>
                <a:ext uri="{FF2B5EF4-FFF2-40B4-BE49-F238E27FC236}">
                  <a16:creationId xmlns:a16="http://schemas.microsoft.com/office/drawing/2014/main" id="{C8277690-C33C-9FCD-DC18-C76405DF415C}"/>
                </a:ext>
              </a:extLst>
            </p:cNvPr>
            <p:cNvGrpSpPr/>
            <p:nvPr/>
          </p:nvGrpSpPr>
          <p:grpSpPr>
            <a:xfrm>
              <a:off x="8174440" y="1956387"/>
              <a:ext cx="3505629" cy="2091540"/>
              <a:chOff x="7012852" y="1572343"/>
              <a:chExt cx="4052678" cy="2418577"/>
            </a:xfrm>
          </p:grpSpPr>
          <p:sp>
            <p:nvSpPr>
              <p:cNvPr id="12" name="任意多边形: 形状 11">
                <a:extLst>
                  <a:ext uri="{FF2B5EF4-FFF2-40B4-BE49-F238E27FC236}">
                    <a16:creationId xmlns:a16="http://schemas.microsoft.com/office/drawing/2014/main" id="{D3E9C466-6E39-3DE7-285E-466B27681DF0}"/>
                  </a:ext>
                </a:extLst>
              </p:cNvPr>
              <p:cNvSpPr/>
              <p:nvPr/>
            </p:nvSpPr>
            <p:spPr>
              <a:xfrm>
                <a:off x="9886950" y="3022545"/>
                <a:ext cx="577850" cy="698500"/>
              </a:xfrm>
              <a:custGeom>
                <a:avLst/>
                <a:gdLst>
                  <a:gd name="connsiteX0" fmla="*/ 0 w 552450"/>
                  <a:gd name="connsiteY0" fmla="*/ 0 h 679450"/>
                  <a:gd name="connsiteX1" fmla="*/ 552450 w 552450"/>
                  <a:gd name="connsiteY1" fmla="*/ 679450 h 679450"/>
                  <a:gd name="connsiteX2" fmla="*/ 412750 w 552450"/>
                  <a:gd name="connsiteY2" fmla="*/ 622300 h 679450"/>
                  <a:gd name="connsiteX3" fmla="*/ 323850 w 552450"/>
                  <a:gd name="connsiteY3" fmla="*/ 584200 h 679450"/>
                  <a:gd name="connsiteX4" fmla="*/ 228600 w 552450"/>
                  <a:gd name="connsiteY4" fmla="*/ 530225 h 679450"/>
                  <a:gd name="connsiteX5" fmla="*/ 171450 w 552450"/>
                  <a:gd name="connsiteY5" fmla="*/ 479425 h 679450"/>
                  <a:gd name="connsiteX6" fmla="*/ 127000 w 552450"/>
                  <a:gd name="connsiteY6" fmla="*/ 396875 h 679450"/>
                  <a:gd name="connsiteX7" fmla="*/ 0 w 552450"/>
                  <a:gd name="connsiteY7" fmla="*/ 0 h 67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 h="679450">
                    <a:moveTo>
                      <a:pt x="0" y="0"/>
                    </a:moveTo>
                    <a:lnTo>
                      <a:pt x="552450" y="679450"/>
                    </a:lnTo>
                    <a:lnTo>
                      <a:pt x="412750" y="622300"/>
                    </a:lnTo>
                    <a:lnTo>
                      <a:pt x="323850" y="584200"/>
                    </a:lnTo>
                    <a:lnTo>
                      <a:pt x="228600" y="530225"/>
                    </a:lnTo>
                    <a:lnTo>
                      <a:pt x="171450" y="479425"/>
                    </a:lnTo>
                    <a:lnTo>
                      <a:pt x="127000" y="3968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任意多边形: 形状 13">
                <a:extLst>
                  <a:ext uri="{FF2B5EF4-FFF2-40B4-BE49-F238E27FC236}">
                    <a16:creationId xmlns:a16="http://schemas.microsoft.com/office/drawing/2014/main" id="{54A74314-014C-03E7-858A-9208322BE9C8}"/>
                  </a:ext>
                </a:extLst>
              </p:cNvPr>
              <p:cNvSpPr/>
              <p:nvPr/>
            </p:nvSpPr>
            <p:spPr>
              <a:xfrm>
                <a:off x="7962900" y="3219395"/>
                <a:ext cx="596952" cy="733425"/>
              </a:xfrm>
              <a:custGeom>
                <a:avLst/>
                <a:gdLst>
                  <a:gd name="connsiteX0" fmla="*/ 0 w 590550"/>
                  <a:gd name="connsiteY0" fmla="*/ 0 h 733425"/>
                  <a:gd name="connsiteX1" fmla="*/ 590550 w 590550"/>
                  <a:gd name="connsiteY1" fmla="*/ 727075 h 733425"/>
                  <a:gd name="connsiteX2" fmla="*/ 523875 w 590550"/>
                  <a:gd name="connsiteY2" fmla="*/ 733425 h 733425"/>
                  <a:gd name="connsiteX3" fmla="*/ 469900 w 590550"/>
                  <a:gd name="connsiteY3" fmla="*/ 730250 h 733425"/>
                  <a:gd name="connsiteX4" fmla="*/ 400050 w 590550"/>
                  <a:gd name="connsiteY4" fmla="*/ 711200 h 733425"/>
                  <a:gd name="connsiteX5" fmla="*/ 336550 w 590550"/>
                  <a:gd name="connsiteY5" fmla="*/ 638175 h 733425"/>
                  <a:gd name="connsiteX6" fmla="*/ 247650 w 590550"/>
                  <a:gd name="connsiteY6" fmla="*/ 511175 h 733425"/>
                  <a:gd name="connsiteX7" fmla="*/ 0 w 590550"/>
                  <a:gd name="connsiteY7" fmla="*/ 0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550" h="733425">
                    <a:moveTo>
                      <a:pt x="0" y="0"/>
                    </a:moveTo>
                    <a:lnTo>
                      <a:pt x="590550" y="727075"/>
                    </a:lnTo>
                    <a:lnTo>
                      <a:pt x="523875" y="733425"/>
                    </a:lnTo>
                    <a:lnTo>
                      <a:pt x="469900" y="730250"/>
                    </a:lnTo>
                    <a:lnTo>
                      <a:pt x="400050" y="711200"/>
                    </a:lnTo>
                    <a:lnTo>
                      <a:pt x="336550" y="638175"/>
                    </a:lnTo>
                    <a:lnTo>
                      <a:pt x="247650" y="5111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任意多边形: 形状 14">
                <a:extLst>
                  <a:ext uri="{FF2B5EF4-FFF2-40B4-BE49-F238E27FC236}">
                    <a16:creationId xmlns:a16="http://schemas.microsoft.com/office/drawing/2014/main" id="{0A2D8CB5-71BF-F649-BADE-F8686DCCAC53}"/>
                  </a:ext>
                </a:extLst>
              </p:cNvPr>
              <p:cNvSpPr/>
              <p:nvPr/>
            </p:nvSpPr>
            <p:spPr>
              <a:xfrm>
                <a:off x="7609840" y="2948975"/>
                <a:ext cx="3439160" cy="1041945"/>
              </a:xfrm>
              <a:custGeom>
                <a:avLst/>
                <a:gdLst>
                  <a:gd name="connsiteX0" fmla="*/ 0 w 3332480"/>
                  <a:gd name="connsiteY0" fmla="*/ 1041945 h 1041945"/>
                  <a:gd name="connsiteX1" fmla="*/ 279400 w 3332480"/>
                  <a:gd name="connsiteY1" fmla="*/ 218985 h 1041945"/>
                  <a:gd name="connsiteX2" fmla="*/ 868680 w 3332480"/>
                  <a:gd name="connsiteY2" fmla="*/ 1016545 h 1041945"/>
                  <a:gd name="connsiteX3" fmla="*/ 2087880 w 3332480"/>
                  <a:gd name="connsiteY3" fmla="*/ 5625 h 1041945"/>
                  <a:gd name="connsiteX4" fmla="*/ 2494280 w 3332480"/>
                  <a:gd name="connsiteY4" fmla="*/ 620305 h 1041945"/>
                  <a:gd name="connsiteX5" fmla="*/ 3332480 w 3332480"/>
                  <a:gd name="connsiteY5" fmla="*/ 8844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160" h="1041945">
                    <a:moveTo>
                      <a:pt x="0" y="1041945"/>
                    </a:moveTo>
                    <a:cubicBezTo>
                      <a:pt x="67310" y="632581"/>
                      <a:pt x="134620" y="223218"/>
                      <a:pt x="279400" y="218985"/>
                    </a:cubicBezTo>
                    <a:cubicBezTo>
                      <a:pt x="424180" y="214752"/>
                      <a:pt x="567267" y="1052105"/>
                      <a:pt x="868680" y="1016545"/>
                    </a:cubicBezTo>
                    <a:cubicBezTo>
                      <a:pt x="1170093" y="980985"/>
                      <a:pt x="1816947" y="71665"/>
                      <a:pt x="2087880" y="5625"/>
                    </a:cubicBezTo>
                    <a:cubicBezTo>
                      <a:pt x="2358813" y="-60415"/>
                      <a:pt x="2286847" y="473832"/>
                      <a:pt x="2494280" y="620305"/>
                    </a:cubicBezTo>
                    <a:cubicBezTo>
                      <a:pt x="2701713" y="766778"/>
                      <a:pt x="3343487" y="826892"/>
                      <a:pt x="3439160" y="1036865"/>
                    </a:cubicBez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6" name="直接连接符 15">
                <a:extLst>
                  <a:ext uri="{FF2B5EF4-FFF2-40B4-BE49-F238E27FC236}">
                    <a16:creationId xmlns:a16="http://schemas.microsoft.com/office/drawing/2014/main" id="{4DB4C70E-81D6-5604-1B09-A178DCFFD803}"/>
                  </a:ext>
                </a:extLst>
              </p:cNvPr>
              <p:cNvCxnSpPr>
                <a:cxnSpLocks/>
                <a:stCxn id="15" idx="0"/>
              </p:cNvCxnSpPr>
              <p:nvPr/>
            </p:nvCxnSpPr>
            <p:spPr>
              <a:xfrm flipH="1" flipV="1">
                <a:off x="7012852" y="3255565"/>
                <a:ext cx="596988" cy="73535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D8CCD37E-AA44-8C88-EC11-F28EB7C82525}"/>
                  </a:ext>
                </a:extLst>
              </p:cNvPr>
              <p:cNvCxnSpPr>
                <a:cxnSpLocks/>
              </p:cNvCxnSpPr>
              <p:nvPr/>
            </p:nvCxnSpPr>
            <p:spPr>
              <a:xfrm flipH="1" flipV="1">
                <a:off x="7609840" y="2780935"/>
                <a:ext cx="950012" cy="115059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8C488B75-A5F3-8039-1065-36B00AF70BB0}"/>
                  </a:ext>
                </a:extLst>
              </p:cNvPr>
              <p:cNvCxnSpPr>
                <a:cxnSpLocks/>
              </p:cNvCxnSpPr>
              <p:nvPr/>
            </p:nvCxnSpPr>
            <p:spPr>
              <a:xfrm flipH="1" flipV="1">
                <a:off x="8847134" y="1760557"/>
                <a:ext cx="1595118" cy="19319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C9B4B46B-0A2D-5110-AEBC-E1DE806C880D}"/>
                  </a:ext>
                </a:extLst>
              </p:cNvPr>
              <p:cNvCxnSpPr>
                <a:cxnSpLocks/>
              </p:cNvCxnSpPr>
              <p:nvPr/>
            </p:nvCxnSpPr>
            <p:spPr>
              <a:xfrm flipV="1">
                <a:off x="7012852" y="1577258"/>
                <a:ext cx="2055740" cy="167830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EC86E926-177E-F7CD-54A2-29698D90DD6C}"/>
                  </a:ext>
                </a:extLst>
              </p:cNvPr>
              <p:cNvCxnSpPr>
                <a:cxnSpLocks/>
              </p:cNvCxnSpPr>
              <p:nvPr/>
            </p:nvCxnSpPr>
            <p:spPr>
              <a:xfrm flipH="1" flipV="1">
                <a:off x="9068592" y="1572343"/>
                <a:ext cx="1996938" cy="241857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99AE3272-6B3C-00E8-8F5D-918F2EC1D80E}"/>
                  </a:ext>
                </a:extLst>
              </p:cNvPr>
              <p:cNvCxnSpPr/>
              <p:nvPr/>
            </p:nvCxnSpPr>
            <p:spPr>
              <a:xfrm flipH="1" flipV="1">
                <a:off x="7748072" y="2002651"/>
                <a:ext cx="314960" cy="381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BB117674-5DD6-4CA1-D47E-9511DC3B8266}"/>
                      </a:ext>
                    </a:extLst>
                  </p:cNvPr>
                  <p:cNvSpPr txBox="1"/>
                  <p:nvPr/>
                </p:nvSpPr>
                <p:spPr>
                  <a:xfrm>
                    <a:off x="7399694" y="1984426"/>
                    <a:ext cx="439977" cy="4270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𝒐</m:t>
                          </m:r>
                        </m:oMath>
                      </m:oMathPara>
                    </a14:m>
                    <a:endParaRPr lang="zh-CN" altLang="en-US" b="1" dirty="0"/>
                  </a:p>
                </p:txBody>
              </p:sp>
            </mc:Choice>
            <mc:Fallback xmlns="">
              <p:sp>
                <p:nvSpPr>
                  <p:cNvPr id="22" name="文本框 21">
                    <a:extLst>
                      <a:ext uri="{FF2B5EF4-FFF2-40B4-BE49-F238E27FC236}">
                        <a16:creationId xmlns:a16="http://schemas.microsoft.com/office/drawing/2014/main" id="{BB117674-5DD6-4CA1-D47E-9511DC3B8266}"/>
                      </a:ext>
                    </a:extLst>
                  </p:cNvPr>
                  <p:cNvSpPr txBox="1">
                    <a:spLocks noRot="1" noChangeAspect="1" noMove="1" noResize="1" noEditPoints="1" noAdjustHandles="1" noChangeArrowheads="1" noChangeShapeType="1" noTextEdit="1"/>
                  </p:cNvSpPr>
                  <p:nvPr/>
                </p:nvSpPr>
                <p:spPr>
                  <a:xfrm>
                    <a:off x="7399694" y="1984426"/>
                    <a:ext cx="439977" cy="427081"/>
                  </a:xfrm>
                  <a:prstGeom prst="rect">
                    <a:avLst/>
                  </a:prstGeom>
                  <a:blipFill>
                    <a:blip r:embed="rId3"/>
                    <a:stretch>
                      <a:fillRect/>
                    </a:stretch>
                  </a:blipFill>
                </p:spPr>
                <p:txBody>
                  <a:bodyPr/>
                  <a:lstStyle/>
                  <a:p>
                    <a:r>
                      <a:rPr lang="zh-CN" altLang="en-US">
                        <a:noFill/>
                      </a:rPr>
                      <a:t> </a:t>
                    </a:r>
                  </a:p>
                </p:txBody>
              </p:sp>
            </mc:Fallback>
          </mc:AlternateContent>
          <p:cxnSp>
            <p:nvCxnSpPr>
              <p:cNvPr id="23" name="直接箭头连接符 22">
                <a:extLst>
                  <a:ext uri="{FF2B5EF4-FFF2-40B4-BE49-F238E27FC236}">
                    <a16:creationId xmlns:a16="http://schemas.microsoft.com/office/drawing/2014/main" id="{B2C33FAB-240E-6D42-2B4F-31054810B2AF}"/>
                  </a:ext>
                </a:extLst>
              </p:cNvPr>
              <p:cNvCxnSpPr>
                <a:cxnSpLocks/>
              </p:cNvCxnSpPr>
              <p:nvPr/>
            </p:nvCxnSpPr>
            <p:spPr>
              <a:xfrm flipH="1" flipV="1">
                <a:off x="7330440" y="3381320"/>
                <a:ext cx="376414" cy="102503"/>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B7426924-217E-C96D-6BF2-305416117A7F}"/>
                      </a:ext>
                    </a:extLst>
                  </p:cNvPr>
                  <p:cNvSpPr txBox="1"/>
                  <p:nvPr/>
                </p:nvSpPr>
                <p:spPr>
                  <a:xfrm>
                    <a:off x="7356905" y="3073543"/>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24" name="文本框 23">
                    <a:extLst>
                      <a:ext uri="{FF2B5EF4-FFF2-40B4-BE49-F238E27FC236}">
                        <a16:creationId xmlns:a16="http://schemas.microsoft.com/office/drawing/2014/main" id="{B7426924-217E-C96D-6BF2-305416117A7F}"/>
                      </a:ext>
                    </a:extLst>
                  </p:cNvPr>
                  <p:cNvSpPr txBox="1">
                    <a:spLocks noRot="1" noChangeAspect="1" noMove="1" noResize="1" noEditPoints="1" noAdjustHandles="1" noChangeArrowheads="1" noChangeShapeType="1" noTextEdit="1"/>
                  </p:cNvSpPr>
                  <p:nvPr/>
                </p:nvSpPr>
                <p:spPr>
                  <a:xfrm>
                    <a:off x="7356905" y="3073543"/>
                    <a:ext cx="439977" cy="355902"/>
                  </a:xfrm>
                  <a:prstGeom prst="rect">
                    <a:avLst/>
                  </a:prstGeom>
                  <a:blipFill>
                    <a:blip r:embed="rId4"/>
                    <a:stretch>
                      <a:fillRect/>
                    </a:stretch>
                  </a:blipFill>
                </p:spPr>
                <p:txBody>
                  <a:bodyPr/>
                  <a:lstStyle/>
                  <a:p>
                    <a:r>
                      <a:rPr lang="zh-CN" altLang="en-US">
                        <a:noFill/>
                      </a:rPr>
                      <a:t> </a:t>
                    </a:r>
                  </a:p>
                </p:txBody>
              </p:sp>
            </mc:Fallback>
          </mc:AlternateContent>
          <p:cxnSp>
            <p:nvCxnSpPr>
              <p:cNvPr id="25" name="直接箭头连接符 24">
                <a:extLst>
                  <a:ext uri="{FF2B5EF4-FFF2-40B4-BE49-F238E27FC236}">
                    <a16:creationId xmlns:a16="http://schemas.microsoft.com/office/drawing/2014/main" id="{2F6477D2-CBF1-59BB-24EC-ACC8E89A5761}"/>
                  </a:ext>
                </a:extLst>
              </p:cNvPr>
              <p:cNvCxnSpPr>
                <a:cxnSpLocks/>
              </p:cNvCxnSpPr>
              <p:nvPr/>
            </p:nvCxnSpPr>
            <p:spPr>
              <a:xfrm flipH="1" flipV="1">
                <a:off x="8895080" y="3162880"/>
                <a:ext cx="261666" cy="269945"/>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D0150134-C60C-6F24-B32F-97291309D1D3}"/>
                      </a:ext>
                    </a:extLst>
                  </p:cNvPr>
                  <p:cNvSpPr txBox="1"/>
                  <p:nvPr/>
                </p:nvSpPr>
                <p:spPr>
                  <a:xfrm>
                    <a:off x="8921819" y="2940720"/>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26" name="文本框 25">
                    <a:extLst>
                      <a:ext uri="{FF2B5EF4-FFF2-40B4-BE49-F238E27FC236}">
                        <a16:creationId xmlns:a16="http://schemas.microsoft.com/office/drawing/2014/main" id="{D0150134-C60C-6F24-B32F-97291309D1D3}"/>
                      </a:ext>
                    </a:extLst>
                  </p:cNvPr>
                  <p:cNvSpPr txBox="1">
                    <a:spLocks noRot="1" noChangeAspect="1" noMove="1" noResize="1" noEditPoints="1" noAdjustHandles="1" noChangeArrowheads="1" noChangeShapeType="1" noTextEdit="1"/>
                  </p:cNvSpPr>
                  <p:nvPr/>
                </p:nvSpPr>
                <p:spPr>
                  <a:xfrm>
                    <a:off x="8921819" y="2940720"/>
                    <a:ext cx="439977" cy="355902"/>
                  </a:xfrm>
                  <a:prstGeom prst="rect">
                    <a:avLst/>
                  </a:prstGeom>
                  <a:blipFill>
                    <a:blip r:embed="rId5"/>
                    <a:stretch>
                      <a:fillRect/>
                    </a:stretch>
                  </a:blipFill>
                </p:spPr>
                <p:txBody>
                  <a:bodyPr/>
                  <a:lstStyle/>
                  <a:p>
                    <a:r>
                      <a:rPr lang="zh-CN" altLang="en-US">
                        <a:noFill/>
                      </a:rPr>
                      <a:t> </a:t>
                    </a:r>
                  </a:p>
                </p:txBody>
              </p:sp>
            </mc:Fallback>
          </mc:AlternateContent>
          <p:cxnSp>
            <p:nvCxnSpPr>
              <p:cNvPr id="27" name="直接箭头连接符 26">
                <a:extLst>
                  <a:ext uri="{FF2B5EF4-FFF2-40B4-BE49-F238E27FC236}">
                    <a16:creationId xmlns:a16="http://schemas.microsoft.com/office/drawing/2014/main" id="{3517E90F-D784-61BB-0196-C0DED11D48EE}"/>
                  </a:ext>
                </a:extLst>
              </p:cNvPr>
              <p:cNvCxnSpPr>
                <a:cxnSpLocks/>
              </p:cNvCxnSpPr>
              <p:nvPr/>
            </p:nvCxnSpPr>
            <p:spPr>
              <a:xfrm flipV="1">
                <a:off x="10639339" y="3395642"/>
                <a:ext cx="90195" cy="380931"/>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88E0102E-CB15-04AA-1B65-CC6EBBF73902}"/>
                      </a:ext>
                    </a:extLst>
                  </p:cNvPr>
                  <p:cNvSpPr txBox="1"/>
                  <p:nvPr/>
                </p:nvSpPr>
                <p:spPr>
                  <a:xfrm>
                    <a:off x="10599935" y="3470335"/>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28" name="文本框 27">
                    <a:extLst>
                      <a:ext uri="{FF2B5EF4-FFF2-40B4-BE49-F238E27FC236}">
                        <a16:creationId xmlns:a16="http://schemas.microsoft.com/office/drawing/2014/main" id="{88E0102E-CB15-04AA-1B65-CC6EBBF73902}"/>
                      </a:ext>
                    </a:extLst>
                  </p:cNvPr>
                  <p:cNvSpPr txBox="1">
                    <a:spLocks noRot="1" noChangeAspect="1" noMove="1" noResize="1" noEditPoints="1" noAdjustHandles="1" noChangeArrowheads="1" noChangeShapeType="1" noTextEdit="1"/>
                  </p:cNvSpPr>
                  <p:nvPr/>
                </p:nvSpPr>
                <p:spPr>
                  <a:xfrm>
                    <a:off x="10599935" y="3470335"/>
                    <a:ext cx="439977" cy="355902"/>
                  </a:xfrm>
                  <a:prstGeom prst="rect">
                    <a:avLst/>
                  </a:prstGeom>
                  <a:blipFill>
                    <a:blip r:embed="rId5"/>
                    <a:stretch>
                      <a:fillRect/>
                    </a:stretch>
                  </a:blipFill>
                </p:spPr>
                <p:txBody>
                  <a:bodyPr/>
                  <a:lstStyle/>
                  <a:p>
                    <a:r>
                      <a:rPr lang="zh-CN" altLang="en-US">
                        <a:noFill/>
                      </a:rPr>
                      <a:t> </a:t>
                    </a:r>
                  </a:p>
                </p:txBody>
              </p:sp>
            </mc:Fallback>
          </mc:AlternateContent>
          <p:cxnSp>
            <p:nvCxnSpPr>
              <p:cNvPr id="29" name="直接连接符 28">
                <a:extLst>
                  <a:ext uri="{FF2B5EF4-FFF2-40B4-BE49-F238E27FC236}">
                    <a16:creationId xmlns:a16="http://schemas.microsoft.com/office/drawing/2014/main" id="{CF960CA1-01E9-C977-8966-1AD97F003F20}"/>
                  </a:ext>
                </a:extLst>
              </p:cNvPr>
              <p:cNvCxnSpPr>
                <a:cxnSpLocks/>
              </p:cNvCxnSpPr>
              <p:nvPr/>
            </p:nvCxnSpPr>
            <p:spPr>
              <a:xfrm>
                <a:off x="7609840" y="3990920"/>
                <a:ext cx="34556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3AC8D13-6C22-BABB-8996-DF8E944C631D}"/>
                    </a:ext>
                  </a:extLst>
                </p:cNvPr>
                <p:cNvSpPr txBox="1"/>
                <p:nvPr/>
              </p:nvSpPr>
              <p:spPr>
                <a:xfrm>
                  <a:off x="7869231" y="1711553"/>
                  <a:ext cx="1790893"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𝑝𝑟𝑜𝑗𝑒𝑐𝑡𝑒𝑑</m:t>
                        </m:r>
                        <m:r>
                          <a:rPr lang="en-US" altLang="zh-CN" sz="1600" b="0" i="1" smtClean="0">
                            <a:solidFill>
                              <a:schemeClr val="tx1"/>
                            </a:solidFill>
                            <a:latin typeface="Cambria Math" panose="02040503050406030204" pitchFamily="18" charset="0"/>
                          </a:rPr>
                          <m:t> </m:t>
                        </m:r>
                        <m:r>
                          <a:rPr lang="en-US" altLang="zh-CN" sz="1600" b="0" i="1" smtClean="0">
                            <a:solidFill>
                              <a:schemeClr val="tx1"/>
                            </a:solidFill>
                            <a:latin typeface="Cambria Math" panose="02040503050406030204" pitchFamily="18" charset="0"/>
                          </a:rPr>
                          <m:t>𝑎𝑟𝑒𝑎</m:t>
                        </m:r>
                      </m:oMath>
                    </m:oMathPara>
                  </a14:m>
                  <a:endParaRPr lang="en-US" altLang="zh-CN" sz="16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     =</m:t>
                        </m:r>
                        <m:d>
                          <m:dPr>
                            <m:begChr m:val="|"/>
                            <m:endChr m:val="|"/>
                            <m:ctrlPr>
                              <a:rPr lang="en-US" altLang="zh-CN" sz="1600" b="0" i="1" smtClean="0">
                                <a:solidFill>
                                  <a:schemeClr val="tx1"/>
                                </a:solidFill>
                                <a:latin typeface="Cambria Math" panose="02040503050406030204" pitchFamily="18" charset="0"/>
                              </a:rPr>
                            </m:ctrlPr>
                          </m:dPr>
                          <m:e>
                            <m:r>
                              <a:rPr lang="en-US" altLang="zh-CN" sz="1600" b="1" i="1" smtClean="0">
                                <a:latin typeface="Cambria Math" panose="02040503050406030204" pitchFamily="18" charset="0"/>
                              </a:rPr>
                              <m:t>𝒐</m:t>
                            </m:r>
                            <m:r>
                              <a:rPr lang="en-US" altLang="zh-CN" sz="1600" i="1">
                                <a:latin typeface="Cambria Math" panose="02040503050406030204" pitchFamily="18" charset="0"/>
                              </a:rPr>
                              <m:t>⋅</m:t>
                            </m:r>
                            <m:r>
                              <a:rPr lang="en-US" altLang="zh-CN" sz="1600" b="1" i="1" smtClean="0">
                                <a:latin typeface="Cambria Math" panose="02040503050406030204" pitchFamily="18" charset="0"/>
                              </a:rPr>
                              <m:t>𝒈</m:t>
                            </m:r>
                          </m:e>
                        </m:d>
                        <m:r>
                          <a:rPr lang="en-US" altLang="zh-CN" sz="1600" b="0" i="1" smtClean="0">
                            <a:solidFill>
                              <a:schemeClr val="tx1"/>
                            </a:solidFill>
                            <a:latin typeface="Cambria Math" panose="02040503050406030204" pitchFamily="18" charset="0"/>
                          </a:rPr>
                          <m:t> </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𝐴</m:t>
                            </m:r>
                          </m:e>
                          <m:sub>
                            <m:r>
                              <a:rPr lang="en-US" altLang="zh-CN" sz="1600" b="0" i="1" smtClean="0">
                                <a:solidFill>
                                  <a:schemeClr val="tx1"/>
                                </a:solidFill>
                                <a:latin typeface="Cambria Math" panose="02040503050406030204" pitchFamily="18" charset="0"/>
                              </a:rPr>
                              <m:t>𝑀</m:t>
                            </m:r>
                          </m:sub>
                        </m:sSub>
                      </m:oMath>
                    </m:oMathPara>
                  </a14:m>
                  <a:endParaRPr lang="zh-CN" altLang="en-US" sz="1600" dirty="0"/>
                </a:p>
              </p:txBody>
            </p:sp>
          </mc:Choice>
          <mc:Fallback xmlns="">
            <p:sp>
              <p:nvSpPr>
                <p:cNvPr id="10" name="文本框 9">
                  <a:extLst>
                    <a:ext uri="{FF2B5EF4-FFF2-40B4-BE49-F238E27FC236}">
                      <a16:creationId xmlns:a16="http://schemas.microsoft.com/office/drawing/2014/main" id="{D3AC8D13-6C22-BABB-8996-DF8E944C631D}"/>
                    </a:ext>
                  </a:extLst>
                </p:cNvPr>
                <p:cNvSpPr txBox="1">
                  <a:spLocks noRot="1" noChangeAspect="1" noMove="1" noResize="1" noEditPoints="1" noAdjustHandles="1" noChangeArrowheads="1" noChangeShapeType="1" noTextEdit="1"/>
                </p:cNvSpPr>
                <p:nvPr/>
              </p:nvSpPr>
              <p:spPr>
                <a:xfrm>
                  <a:off x="7869231" y="1711553"/>
                  <a:ext cx="1790893" cy="584775"/>
                </a:xfrm>
                <a:prstGeom prst="rect">
                  <a:avLst/>
                </a:prstGeom>
                <a:blipFill>
                  <a:blip r:embed="rId6"/>
                  <a:stretch>
                    <a:fillRect b="-20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FB7194AF-2947-A67B-AD30-FC384A4712A2}"/>
                    </a:ext>
                  </a:extLst>
                </p:cNvPr>
                <p:cNvSpPr txBox="1"/>
                <p:nvPr/>
              </p:nvSpPr>
              <p:spPr>
                <a:xfrm>
                  <a:off x="9793292" y="4099284"/>
                  <a:ext cx="17801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𝑀𝑎𝑐𝑟𝑜</m:t>
                        </m:r>
                        <m:r>
                          <a:rPr lang="en-US" altLang="zh-CN" sz="1800" b="0" i="1" smtClean="0">
                            <a:solidFill>
                              <a:schemeClr val="tx1"/>
                            </a:solidFill>
                            <a:latin typeface="Cambria Math" panose="02040503050406030204" pitchFamily="18" charset="0"/>
                          </a:rPr>
                          <m:t> </m:t>
                        </m:r>
                        <m:r>
                          <a:rPr lang="en-US" altLang="zh-CN" sz="1800" b="0" i="1" smtClean="0">
                            <a:solidFill>
                              <a:schemeClr val="tx1"/>
                            </a:solidFill>
                            <a:latin typeface="Cambria Math" panose="02040503050406030204" pitchFamily="18" charset="0"/>
                          </a:rPr>
                          <m:t>𝑆𝑢𝑟𝑓𝑎𝑐𝑒</m:t>
                        </m:r>
                        <m:r>
                          <a:rPr lang="en-US" altLang="zh-CN" sz="1800" b="0" i="1" smtClean="0">
                            <a:solidFill>
                              <a:schemeClr val="tx1"/>
                            </a:solidFill>
                            <a:latin typeface="Cambria Math" panose="02040503050406030204" pitchFamily="18" charset="0"/>
                          </a:rPr>
                          <m:t>  </m:t>
                        </m:r>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𝐴</m:t>
                            </m:r>
                          </m:e>
                          <m:sub>
                            <m:r>
                              <a:rPr lang="en-US" altLang="zh-CN" sz="1800" b="0" i="1" smtClean="0">
                                <a:solidFill>
                                  <a:schemeClr val="tx1"/>
                                </a:solidFill>
                                <a:latin typeface="Cambria Math" panose="02040503050406030204" pitchFamily="18" charset="0"/>
                              </a:rPr>
                              <m:t>𝑀</m:t>
                            </m:r>
                          </m:sub>
                        </m:sSub>
                      </m:oMath>
                    </m:oMathPara>
                  </a14:m>
                  <a:endParaRPr lang="zh-CN" altLang="en-US" dirty="0"/>
                </a:p>
              </p:txBody>
            </p:sp>
          </mc:Choice>
          <mc:Fallback xmlns="">
            <p:sp>
              <p:nvSpPr>
                <p:cNvPr id="11" name="文本框 10">
                  <a:extLst>
                    <a:ext uri="{FF2B5EF4-FFF2-40B4-BE49-F238E27FC236}">
                      <a16:creationId xmlns:a16="http://schemas.microsoft.com/office/drawing/2014/main" id="{FB7194AF-2947-A67B-AD30-FC384A4712A2}"/>
                    </a:ext>
                  </a:extLst>
                </p:cNvPr>
                <p:cNvSpPr txBox="1">
                  <a:spLocks noRot="1" noChangeAspect="1" noMove="1" noResize="1" noEditPoints="1" noAdjustHandles="1" noChangeArrowheads="1" noChangeShapeType="1" noTextEdit="1"/>
                </p:cNvSpPr>
                <p:nvPr/>
              </p:nvSpPr>
              <p:spPr>
                <a:xfrm>
                  <a:off x="9793292" y="4099284"/>
                  <a:ext cx="1780198" cy="369332"/>
                </a:xfrm>
                <a:prstGeom prst="rect">
                  <a:avLst/>
                </a:prstGeom>
                <a:blipFill>
                  <a:blip r:embed="rId7"/>
                  <a:stretch>
                    <a:fillRect l="-1027" r="-16438" b="-14754"/>
                  </a:stretch>
                </a:blipFill>
              </p:spPr>
              <p:txBody>
                <a:bodyPr/>
                <a:lstStyle/>
                <a:p>
                  <a:r>
                    <a:rPr lang="zh-CN" altLang="en-US">
                      <a:noFill/>
                    </a:rPr>
                    <a:t> </a:t>
                  </a:r>
                </a:p>
              </p:txBody>
            </p:sp>
          </mc:Fallback>
        </mc:AlternateContent>
        <p:cxnSp>
          <p:nvCxnSpPr>
            <p:cNvPr id="31" name="直接连接符 30">
              <a:extLst>
                <a:ext uri="{FF2B5EF4-FFF2-40B4-BE49-F238E27FC236}">
                  <a16:creationId xmlns:a16="http://schemas.microsoft.com/office/drawing/2014/main" id="{BFD99E09-9B23-CCDA-5EB9-88EFFDB0983F}"/>
                </a:ext>
              </a:extLst>
            </p:cNvPr>
            <p:cNvCxnSpPr>
              <a:cxnSpLocks/>
            </p:cNvCxnSpPr>
            <p:nvPr/>
          </p:nvCxnSpPr>
          <p:spPr>
            <a:xfrm flipH="1">
              <a:off x="10375591" y="2695759"/>
              <a:ext cx="191092" cy="160175"/>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7FEFD19A-7990-E7FB-328D-E2337146EDA9}"/>
                    </a:ext>
                  </a:extLst>
                </p:cNvPr>
                <p:cNvSpPr txBox="1"/>
                <p:nvPr/>
              </p:nvSpPr>
              <p:spPr>
                <a:xfrm>
                  <a:off x="10405475" y="2494705"/>
                  <a:ext cx="1786525" cy="3250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dirty="0">
                                <a:solidFill>
                                  <a:srgbClr val="00B050"/>
                                </a:solidFill>
                                <a:latin typeface="Cambria Math" panose="02040503050406030204" pitchFamily="18" charset="0"/>
                              </a:rPr>
                            </m:ctrlPr>
                          </m:sSubPr>
                          <m:e>
                            <m:r>
                              <a:rPr lang="en-US" altLang="zh-CN" sz="1400" i="1" dirty="0">
                                <a:solidFill>
                                  <a:srgbClr val="00B050"/>
                                </a:solidFill>
                                <a:latin typeface="Cambria Math" panose="02040503050406030204" pitchFamily="18" charset="0"/>
                              </a:rPr>
                              <m:t>𝐴</m:t>
                            </m:r>
                          </m:e>
                          <m:sub>
                            <m:r>
                              <a:rPr lang="en-US" altLang="zh-CN" sz="1400" i="1" dirty="0">
                                <a:solidFill>
                                  <a:srgbClr val="00B050"/>
                                </a:solidFill>
                                <a:latin typeface="Cambria Math" panose="02040503050406030204" pitchFamily="18" charset="0"/>
                              </a:rPr>
                              <m:t>𝑝𝑟𝑜𝑗𝑒𝑐𝑡𝑒𝑑</m:t>
                            </m:r>
                            <m:r>
                              <a:rPr lang="en-US" altLang="zh-CN" sz="1400" i="1" dirty="0">
                                <a:solidFill>
                                  <a:srgbClr val="00B050"/>
                                </a:solidFill>
                                <a:latin typeface="Cambria Math" panose="02040503050406030204" pitchFamily="18" charset="0"/>
                              </a:rPr>
                              <m:t>_</m:t>
                            </m:r>
                            <m:r>
                              <a:rPr lang="en-US" altLang="zh-CN" sz="1400" i="1" dirty="0">
                                <a:solidFill>
                                  <a:srgbClr val="00B050"/>
                                </a:solidFill>
                                <a:latin typeface="Cambria Math" panose="02040503050406030204" pitchFamily="18" charset="0"/>
                              </a:rPr>
                              <m:t>𝑣𝑖𝑠𝑖𝑏𝑙𝑒</m:t>
                            </m:r>
                          </m:sub>
                        </m:sSub>
                      </m:oMath>
                    </m:oMathPara>
                  </a14:m>
                  <a:endParaRPr lang="zh-CN" altLang="en-US" sz="1400" dirty="0">
                    <a:solidFill>
                      <a:srgbClr val="00B050"/>
                    </a:solidFill>
                  </a:endParaRPr>
                </a:p>
              </p:txBody>
            </p:sp>
          </mc:Choice>
          <mc:Fallback xmlns="">
            <p:sp>
              <p:nvSpPr>
                <p:cNvPr id="36" name="文本框 35">
                  <a:extLst>
                    <a:ext uri="{FF2B5EF4-FFF2-40B4-BE49-F238E27FC236}">
                      <a16:creationId xmlns:a16="http://schemas.microsoft.com/office/drawing/2014/main" id="{7FEFD19A-7990-E7FB-328D-E2337146EDA9}"/>
                    </a:ext>
                  </a:extLst>
                </p:cNvPr>
                <p:cNvSpPr txBox="1">
                  <a:spLocks noRot="1" noChangeAspect="1" noMove="1" noResize="1" noEditPoints="1" noAdjustHandles="1" noChangeArrowheads="1" noChangeShapeType="1" noTextEdit="1"/>
                </p:cNvSpPr>
                <p:nvPr/>
              </p:nvSpPr>
              <p:spPr>
                <a:xfrm>
                  <a:off x="10405475" y="2494705"/>
                  <a:ext cx="1786525" cy="325089"/>
                </a:xfrm>
                <a:prstGeom prst="rect">
                  <a:avLst/>
                </a:prstGeom>
                <a:blipFill>
                  <a:blip r:embed="rId8"/>
                  <a:stretch>
                    <a:fillRect b="-1852"/>
                  </a:stretch>
                </a:blipFill>
              </p:spPr>
              <p:txBody>
                <a:bodyPr/>
                <a:lstStyle/>
                <a:p>
                  <a:r>
                    <a:rPr lang="zh-CN" altLang="en-US">
                      <a:noFill/>
                    </a:rPr>
                    <a:t> </a:t>
                  </a:r>
                </a:p>
              </p:txBody>
            </p:sp>
          </mc:Fallback>
        </mc:AlternateContent>
        <p:cxnSp>
          <p:nvCxnSpPr>
            <p:cNvPr id="38" name="直接箭头连接符 37">
              <a:extLst>
                <a:ext uri="{FF2B5EF4-FFF2-40B4-BE49-F238E27FC236}">
                  <a16:creationId xmlns:a16="http://schemas.microsoft.com/office/drawing/2014/main" id="{172A67B2-28D2-D5B1-C549-9FD167A5C0EB}"/>
                </a:ext>
              </a:extLst>
            </p:cNvPr>
            <p:cNvCxnSpPr>
              <a:cxnSpLocks/>
            </p:cNvCxnSpPr>
            <p:nvPr/>
          </p:nvCxnSpPr>
          <p:spPr>
            <a:xfrm flipH="1" flipV="1">
              <a:off x="10600882" y="2973876"/>
              <a:ext cx="709637" cy="859022"/>
            </a:xfrm>
            <a:prstGeom prst="straightConnector1">
              <a:avLst/>
            </a:prstGeom>
            <a:ln w="19050">
              <a:solidFill>
                <a:srgbClr val="FFA40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763F6668-AD8C-F083-9511-330CF1D2EEE5}"/>
                    </a:ext>
                  </a:extLst>
                </p:cNvPr>
                <p:cNvSpPr txBox="1"/>
                <p:nvPr/>
              </p:nvSpPr>
              <p:spPr>
                <a:xfrm>
                  <a:off x="10760268" y="2839095"/>
                  <a:ext cx="1222853"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dirty="0" smtClean="0">
                                <a:solidFill>
                                  <a:srgbClr val="FFA401"/>
                                </a:solidFill>
                                <a:latin typeface="Cambria Math" panose="02040503050406030204" pitchFamily="18" charset="0"/>
                              </a:rPr>
                            </m:ctrlPr>
                          </m:sSubSupPr>
                          <m:e>
                            <m:r>
                              <a:rPr lang="en-US" altLang="zh-CN" sz="1400" b="0" i="1" dirty="0" smtClean="0">
                                <a:solidFill>
                                  <a:srgbClr val="FFA401"/>
                                </a:solidFill>
                                <a:latin typeface="Cambria Math" panose="02040503050406030204" pitchFamily="18" charset="0"/>
                              </a:rPr>
                              <m:t>𝐿</m:t>
                            </m:r>
                          </m:e>
                          <m:sub>
                            <m:r>
                              <a:rPr lang="en-US" altLang="zh-CN" sz="1400" b="0" i="1" dirty="0" smtClean="0">
                                <a:solidFill>
                                  <a:srgbClr val="FFA401"/>
                                </a:solidFill>
                                <a:latin typeface="Cambria Math" panose="02040503050406030204" pitchFamily="18" charset="0"/>
                              </a:rPr>
                              <m:t>𝑜</m:t>
                            </m:r>
                          </m:sub>
                          <m:sup>
                            <m:r>
                              <a:rPr lang="en-US" altLang="zh-CN" sz="1400" b="1" i="1" dirty="0" smtClean="0">
                                <a:solidFill>
                                  <a:srgbClr val="FFA401"/>
                                </a:solidFill>
                                <a:latin typeface="Cambria Math" panose="02040503050406030204" pitchFamily="18" charset="0"/>
                              </a:rPr>
                              <m:t>𝒎</m:t>
                            </m:r>
                          </m:sup>
                        </m:sSubSup>
                        <m:d>
                          <m:dPr>
                            <m:ctrlPr>
                              <a:rPr lang="en-US" altLang="zh-CN" sz="1400" b="0" i="1" dirty="0" smtClean="0">
                                <a:solidFill>
                                  <a:srgbClr val="FFA401"/>
                                </a:solidFill>
                                <a:latin typeface="Cambria Math" panose="02040503050406030204" pitchFamily="18" charset="0"/>
                              </a:rPr>
                            </m:ctrlPr>
                          </m:dPr>
                          <m:e>
                            <m:r>
                              <a:rPr lang="en-US" altLang="zh-CN" sz="1400" b="1" i="1" dirty="0" smtClean="0">
                                <a:solidFill>
                                  <a:srgbClr val="FFA401"/>
                                </a:solidFill>
                                <a:latin typeface="Cambria Math" panose="02040503050406030204" pitchFamily="18" charset="0"/>
                              </a:rPr>
                              <m:t>𝒐</m:t>
                            </m:r>
                          </m:e>
                        </m:d>
                      </m:oMath>
                    </m:oMathPara>
                  </a14:m>
                  <a:endParaRPr lang="zh-CN" altLang="en-US" sz="1400" dirty="0">
                    <a:solidFill>
                      <a:srgbClr val="FFA401"/>
                    </a:solidFill>
                  </a:endParaRPr>
                </a:p>
              </p:txBody>
            </p:sp>
          </mc:Choice>
          <mc:Fallback xmlns="">
            <p:sp>
              <p:nvSpPr>
                <p:cNvPr id="40" name="文本框 39">
                  <a:extLst>
                    <a:ext uri="{FF2B5EF4-FFF2-40B4-BE49-F238E27FC236}">
                      <a16:creationId xmlns:a16="http://schemas.microsoft.com/office/drawing/2014/main" id="{763F6668-AD8C-F083-9511-330CF1D2EEE5}"/>
                    </a:ext>
                  </a:extLst>
                </p:cNvPr>
                <p:cNvSpPr txBox="1">
                  <a:spLocks noRot="1" noChangeAspect="1" noMove="1" noResize="1" noEditPoints="1" noAdjustHandles="1" noChangeArrowheads="1" noChangeShapeType="1" noTextEdit="1"/>
                </p:cNvSpPr>
                <p:nvPr/>
              </p:nvSpPr>
              <p:spPr>
                <a:xfrm>
                  <a:off x="10760268" y="2839095"/>
                  <a:ext cx="1222853" cy="307777"/>
                </a:xfrm>
                <a:prstGeom prst="rect">
                  <a:avLst/>
                </a:prstGeom>
                <a:blipFill>
                  <a:blip r:embed="rId9"/>
                  <a:stretch>
                    <a:fillRect/>
                  </a:stretch>
                </a:blipFill>
              </p:spPr>
              <p:txBody>
                <a:bodyPr/>
                <a:lstStyle/>
                <a:p>
                  <a:r>
                    <a:rPr lang="zh-CN" altLang="en-US">
                      <a:noFill/>
                    </a:rPr>
                    <a:t> </a:t>
                  </a:r>
                </a:p>
              </p:txBody>
            </p:sp>
          </mc:Fallback>
        </mc:AlternateContent>
        <p:cxnSp>
          <p:nvCxnSpPr>
            <p:cNvPr id="42" name="直接箭头连接符 41">
              <a:extLst>
                <a:ext uri="{FF2B5EF4-FFF2-40B4-BE49-F238E27FC236}">
                  <a16:creationId xmlns:a16="http://schemas.microsoft.com/office/drawing/2014/main" id="{DD008FEA-8232-EC57-822D-CA0769F9BADF}"/>
                </a:ext>
              </a:extLst>
            </p:cNvPr>
            <p:cNvCxnSpPr>
              <a:cxnSpLocks/>
            </p:cNvCxnSpPr>
            <p:nvPr/>
          </p:nvCxnSpPr>
          <p:spPr>
            <a:xfrm flipH="1" flipV="1">
              <a:off x="10295266" y="2688247"/>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直接箭头连接符 42">
              <a:extLst>
                <a:ext uri="{FF2B5EF4-FFF2-40B4-BE49-F238E27FC236}">
                  <a16:creationId xmlns:a16="http://schemas.microsoft.com/office/drawing/2014/main" id="{80FDB35E-100A-973A-C1B4-C7E7F9C0F657}"/>
                </a:ext>
              </a:extLst>
            </p:cNvPr>
            <p:cNvCxnSpPr/>
            <p:nvPr/>
          </p:nvCxnSpPr>
          <p:spPr>
            <a:xfrm flipH="1" flipV="1">
              <a:off x="10418989" y="2595881"/>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1FEFE0EA-352E-0FED-FCD7-4D44DEC3264C}"/>
                </a:ext>
              </a:extLst>
            </p:cNvPr>
            <p:cNvCxnSpPr/>
            <p:nvPr/>
          </p:nvCxnSpPr>
          <p:spPr>
            <a:xfrm flipH="1" flipV="1">
              <a:off x="10360325" y="2642611"/>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66513805-CA18-A0E9-7F8E-3CCF556A09DC}"/>
                    </a:ext>
                  </a:extLst>
                </p:cNvPr>
                <p:cNvSpPr txBox="1"/>
                <p:nvPr/>
              </p:nvSpPr>
              <p:spPr>
                <a:xfrm>
                  <a:off x="10295266" y="2242512"/>
                  <a:ext cx="117901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dirty="0" smtClean="0">
                                <a:solidFill>
                                  <a:srgbClr val="92D050"/>
                                </a:solidFill>
                                <a:latin typeface="Cambria Math" panose="02040503050406030204" pitchFamily="18" charset="0"/>
                              </a:rPr>
                            </m:ctrlPr>
                          </m:sSubPr>
                          <m:e>
                            <m:r>
                              <m:rPr>
                                <m:sty m:val="p"/>
                              </m:rPr>
                              <a:rPr lang="en-US" altLang="zh-CN" sz="1400" dirty="0">
                                <a:solidFill>
                                  <a:srgbClr val="92D050"/>
                                </a:solidFill>
                                <a:latin typeface="Cambria Math" panose="02040503050406030204" pitchFamily="18" charset="0"/>
                              </a:rPr>
                              <m:t>I</m:t>
                            </m:r>
                          </m:e>
                          <m:sub>
                            <m:r>
                              <m:rPr>
                                <m:sty m:val="p"/>
                              </m:rPr>
                              <a:rPr lang="en-US" altLang="zh-CN" sz="1400" dirty="0">
                                <a:solidFill>
                                  <a:srgbClr val="92D050"/>
                                </a:solidFill>
                                <a:latin typeface="Cambria Math" panose="02040503050406030204" pitchFamily="18" charset="0"/>
                              </a:rPr>
                              <m:t>o</m:t>
                            </m:r>
                          </m:sub>
                        </m:sSub>
                        <m:d>
                          <m:dPr>
                            <m:ctrlPr>
                              <a:rPr lang="en-US" altLang="zh-CN" sz="1400" i="1" dirty="0">
                                <a:solidFill>
                                  <a:srgbClr val="92D050"/>
                                </a:solidFill>
                                <a:latin typeface="Cambria Math" panose="02040503050406030204" pitchFamily="18" charset="0"/>
                              </a:rPr>
                            </m:ctrlPr>
                          </m:dPr>
                          <m:e>
                            <m:r>
                              <a:rPr lang="en-US" altLang="zh-CN" sz="1400" b="1" i="1" dirty="0" smtClean="0">
                                <a:solidFill>
                                  <a:srgbClr val="92D050"/>
                                </a:solidFill>
                                <a:latin typeface="Cambria Math" panose="02040503050406030204" pitchFamily="18" charset="0"/>
                              </a:rPr>
                              <m:t>𝒐</m:t>
                            </m:r>
                            <m:r>
                              <a:rPr lang="en-US" altLang="zh-CN" sz="1400" i="1" dirty="0">
                                <a:solidFill>
                                  <a:srgbClr val="92D050"/>
                                </a:solidFill>
                                <a:latin typeface="Cambria Math" panose="02040503050406030204" pitchFamily="18" charset="0"/>
                              </a:rPr>
                              <m:t>,</m:t>
                            </m:r>
                            <m:r>
                              <a:rPr lang="en-US" altLang="zh-CN" sz="1400" b="1" i="1" dirty="0" smtClean="0">
                                <a:solidFill>
                                  <a:srgbClr val="92D050"/>
                                </a:solidFill>
                                <a:latin typeface="Cambria Math" panose="02040503050406030204" pitchFamily="18" charset="0"/>
                              </a:rPr>
                              <m:t>𝒎</m:t>
                            </m:r>
                          </m:e>
                        </m:d>
                      </m:oMath>
                    </m:oMathPara>
                  </a14:m>
                  <a:endParaRPr lang="zh-CN" altLang="en-US" sz="1400" dirty="0">
                    <a:solidFill>
                      <a:srgbClr val="92D050"/>
                    </a:solidFill>
                  </a:endParaRPr>
                </a:p>
              </p:txBody>
            </p:sp>
          </mc:Choice>
          <mc:Fallback xmlns="">
            <p:sp>
              <p:nvSpPr>
                <p:cNvPr id="47" name="文本框 46">
                  <a:extLst>
                    <a:ext uri="{FF2B5EF4-FFF2-40B4-BE49-F238E27FC236}">
                      <a16:creationId xmlns:a16="http://schemas.microsoft.com/office/drawing/2014/main" id="{66513805-CA18-A0E9-7F8E-3CCF556A09DC}"/>
                    </a:ext>
                  </a:extLst>
                </p:cNvPr>
                <p:cNvSpPr txBox="1">
                  <a:spLocks noRot="1" noChangeAspect="1" noMove="1" noResize="1" noEditPoints="1" noAdjustHandles="1" noChangeArrowheads="1" noChangeShapeType="1" noTextEdit="1"/>
                </p:cNvSpPr>
                <p:nvPr/>
              </p:nvSpPr>
              <p:spPr>
                <a:xfrm>
                  <a:off x="10295266" y="2242512"/>
                  <a:ext cx="1179012" cy="307777"/>
                </a:xfrm>
                <a:prstGeom prst="rect">
                  <a:avLst/>
                </a:prstGeom>
                <a:blipFill>
                  <a:blip r:embed="rId10"/>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470897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D1714-1793-EAD5-306D-FDD678479967}"/>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9B5FCA1E-D703-FA63-7ECB-D1795CA4C94D}"/>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可见法线分布函数</a:t>
            </a:r>
            <a:endParaRPr lang="en-US" altLang="zh-CN" dirty="0"/>
          </a:p>
        </p:txBody>
      </p:sp>
      <p:sp>
        <p:nvSpPr>
          <p:cNvPr id="63" name="矩形 62">
            <a:extLst>
              <a:ext uri="{FF2B5EF4-FFF2-40B4-BE49-F238E27FC236}">
                <a16:creationId xmlns:a16="http://schemas.microsoft.com/office/drawing/2014/main" id="{C9D16434-123B-AF6D-4C50-4F097B9DBFCD}"/>
              </a:ext>
            </a:extLst>
          </p:cNvPr>
          <p:cNvSpPr/>
          <p:nvPr/>
        </p:nvSpPr>
        <p:spPr>
          <a:xfrm>
            <a:off x="631110" y="1315233"/>
            <a:ext cx="6673652"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D847DEF7-87EE-C1F7-9530-7E7C6EDC396F}"/>
                  </a:ext>
                </a:extLst>
              </p:cNvPr>
              <p:cNvSpPr/>
              <p:nvPr/>
            </p:nvSpPr>
            <p:spPr>
              <a:xfrm>
                <a:off x="478710" y="1144044"/>
                <a:ext cx="6673652"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𝐿</m:t>
                          </m:r>
                        </m:e>
                        <m:sub>
                          <m:r>
                            <a:rPr lang="en-US" altLang="zh-CN" sz="1600" b="0" i="1" dirty="0" smtClean="0">
                              <a:solidFill>
                                <a:schemeClr val="tx1"/>
                              </a:solidFill>
                              <a:latin typeface="Cambria Math" panose="02040503050406030204" pitchFamily="18" charset="0"/>
                            </a:rPr>
                            <m:t>𝑜</m:t>
                          </m:r>
                        </m:sub>
                      </m:sSub>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e>
                      </m:d>
                      <m:r>
                        <a:rPr lang="en-US" altLang="zh-CN" sz="1600" b="0" i="1" dirty="0" smtClean="0">
                          <a:solidFill>
                            <a:schemeClr val="tx1"/>
                          </a:solidFill>
                          <a:latin typeface="Cambria Math" panose="02040503050406030204" pitchFamily="18" charset="0"/>
                        </a:rPr>
                        <m:t>=</m:t>
                      </m:r>
                      <m:f>
                        <m:fPr>
                          <m:ctrlPr>
                            <a:rPr lang="en-US" altLang="zh-CN" sz="1600" b="0" i="1" dirty="0" smtClean="0">
                              <a:solidFill>
                                <a:schemeClr val="tx1"/>
                              </a:solidFill>
                              <a:latin typeface="Cambria Math" panose="02040503050406030204" pitchFamily="18" charset="0"/>
                            </a:rPr>
                          </m:ctrlPr>
                        </m:fPr>
                        <m:num>
                          <m:r>
                            <a:rPr lang="en-US" altLang="zh-CN" sz="1600" b="0" i="1" dirty="0" smtClean="0">
                              <a:solidFill>
                                <a:schemeClr val="tx1"/>
                              </a:solidFill>
                              <a:latin typeface="Cambria Math" panose="02040503050406030204" pitchFamily="18" charset="0"/>
                            </a:rPr>
                            <m:t>1</m:t>
                          </m:r>
                        </m:num>
                        <m:den>
                          <m:d>
                            <m:dPr>
                              <m:begChr m:val="|"/>
                              <m:endChr m:val="|"/>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b="0" i="1" dirty="0" smtClean="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𝒈</m:t>
                              </m:r>
                            </m:e>
                          </m:d>
                        </m:den>
                      </m:f>
                      <m:nary>
                        <m:naryPr>
                          <m:supHide m:val="on"/>
                          <m:ctrlPr>
                            <a:rPr lang="en-US" altLang="zh-CN" sz="1600" b="0" i="1" dirty="0" smtClean="0">
                              <a:solidFill>
                                <a:schemeClr val="tx1"/>
                              </a:solidFill>
                              <a:latin typeface="Cambria Math" panose="02040503050406030204" pitchFamily="18" charset="0"/>
                            </a:rPr>
                          </m:ctrlPr>
                        </m:naryPr>
                        <m:sub>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𝐻</m:t>
                              </m:r>
                            </m:e>
                            <m:sup>
                              <m:r>
                                <a:rPr lang="en-US" altLang="zh-CN" sz="1600" b="0" i="1" dirty="0" smtClean="0">
                                  <a:solidFill>
                                    <a:schemeClr val="tx1"/>
                                  </a:solidFill>
                                  <a:latin typeface="Cambria Math" panose="02040503050406030204" pitchFamily="18" charset="0"/>
                                </a:rPr>
                                <m:t>2</m:t>
                              </m:r>
                            </m:sup>
                          </m:sSup>
                        </m:sub>
                        <m:sup/>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𝐿</m:t>
                              </m:r>
                            </m:e>
                            <m:sub>
                              <m:r>
                                <a:rPr lang="en-US" altLang="zh-CN" sz="1600" i="1" dirty="0">
                                  <a:solidFill>
                                    <a:schemeClr val="tx1"/>
                                  </a:solidFill>
                                  <a:latin typeface="Cambria Math" panose="02040503050406030204" pitchFamily="18" charset="0"/>
                                </a:rPr>
                                <m:t>𝑜</m:t>
                              </m:r>
                            </m:sub>
                            <m:sup>
                              <m:r>
                                <a:rPr lang="en-US" altLang="zh-CN" sz="1600" b="1" i="1" dirty="0" smtClean="0">
                                  <a:solidFill>
                                    <a:schemeClr val="tx1"/>
                                  </a:solidFill>
                                  <a:latin typeface="Cambria Math" panose="02040503050406030204" pitchFamily="18" charset="0"/>
                                </a:rPr>
                                <m:t>𝒎</m:t>
                              </m:r>
                            </m:sup>
                          </m:sSubSup>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e>
                          </m:d>
                          <m:r>
                            <a:rPr lang="en-US" altLang="zh-CN" sz="1600" b="0" i="1" dirty="0" smtClean="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𝒐</m:t>
                                  </m:r>
                                </m:e>
                                <m:sup>
                                  <m:r>
                                    <a:rPr lang="en-US" altLang="zh-CN" sz="1600" b="1" i="1" dirty="0" smtClean="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 </m:t>
                          </m:r>
                          <m:r>
                            <a:rPr lang="en-US" altLang="zh-CN" sz="1600" b="0" i="1" dirty="0" smtClean="0">
                              <a:solidFill>
                                <a:schemeClr val="tx1"/>
                              </a:solidFill>
                              <a:latin typeface="Cambria Math" panose="02040503050406030204" pitchFamily="18" charset="0"/>
                            </a:rPr>
                            <m:t>𝑑</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𝜔</m:t>
                              </m:r>
                            </m:e>
                            <m:sub>
                              <m:r>
                                <m:rPr>
                                  <m:sty m:val="p"/>
                                </m:rPr>
                                <a:rPr lang="en-US" altLang="zh-CN" sz="1600" i="1" dirty="0">
                                  <a:solidFill>
                                    <a:schemeClr val="tx1"/>
                                  </a:solidFill>
                                  <a:latin typeface="Cambria Math" panose="02040503050406030204" pitchFamily="18" charset="0"/>
                                </a:rPr>
                                <m:t>m</m:t>
                              </m:r>
                            </m:sub>
                          </m:sSub>
                        </m:e>
                      </m:nary>
                      <m:r>
                        <a:rPr lang="en-US" altLang="zh-CN" sz="1600" b="0" i="0" dirty="0" smtClean="0">
                          <a:solidFill>
                            <a:schemeClr val="tx1"/>
                          </a:solidFill>
                          <a:latin typeface="Cambria Math" panose="02040503050406030204" pitchFamily="18" charset="0"/>
                        </a:rPr>
                        <m:t> </m:t>
                      </m:r>
                      <m:d>
                        <m:dPr>
                          <m:begChr m:val="["/>
                          <m:endChr m:val="]"/>
                          <m:ctrlPr>
                            <a:rPr lang="en-US" altLang="zh-CN" sz="1600" b="0" i="1" dirty="0" smtClean="0">
                              <a:solidFill>
                                <a:schemeClr val="tx1"/>
                              </a:solidFill>
                              <a:latin typeface="Cambria Math" panose="02040503050406030204" pitchFamily="18" charset="0"/>
                            </a:rPr>
                          </m:ctrlPr>
                        </m:dPr>
                        <m:e>
                          <m:r>
                            <m:rPr>
                              <m:sty m:val="p"/>
                            </m:rPr>
                            <a:rPr lang="en-US" altLang="zh-CN" sz="1600" b="0" i="0" dirty="0" smtClean="0">
                              <a:solidFill>
                                <a:schemeClr val="tx1"/>
                              </a:solidFill>
                              <a:latin typeface="Cambria Math" panose="02040503050406030204" pitchFamily="18" charset="0"/>
                            </a:rPr>
                            <m:t>nit</m:t>
                          </m:r>
                        </m:e>
                      </m:d>
                    </m:oMath>
                  </m:oMathPara>
                </a14:m>
                <a:endParaRPr lang="en-US" altLang="zh-CN" sz="1600" b="0" i="0"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𝐿</m:t>
                          </m:r>
                        </m:e>
                        <m:sub>
                          <m:r>
                            <a:rPr lang="en-US" altLang="zh-CN" sz="1600" b="0" i="1" dirty="0" smtClean="0">
                              <a:solidFill>
                                <a:schemeClr val="tx1"/>
                              </a:solidFill>
                              <a:latin typeface="Cambria Math" panose="02040503050406030204" pitchFamily="18" charset="0"/>
                            </a:rPr>
                            <m:t>𝑜</m:t>
                          </m:r>
                        </m:sub>
                      </m:sSub>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e>
                      </m:d>
                      <m:r>
                        <a:rPr lang="en-US" altLang="zh-CN" sz="1600" b="0" i="1" dirty="0" smtClean="0">
                          <a:solidFill>
                            <a:schemeClr val="tx1"/>
                          </a:solidFill>
                          <a:latin typeface="Cambria Math" panose="02040503050406030204" pitchFamily="18" charset="0"/>
                        </a:rPr>
                        <m:t>=</m:t>
                      </m:r>
                      <m:nary>
                        <m:naryPr>
                          <m:supHide m:val="on"/>
                          <m:ctrlPr>
                            <a:rPr lang="en-US" altLang="zh-CN" sz="1600" b="0" i="1" dirty="0" smtClean="0">
                              <a:solidFill>
                                <a:schemeClr val="tx1"/>
                              </a:solidFill>
                              <a:latin typeface="Cambria Math" panose="02040503050406030204" pitchFamily="18" charset="0"/>
                            </a:rPr>
                          </m:ctrlPr>
                        </m:naryPr>
                        <m:sub>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𝐻</m:t>
                              </m:r>
                            </m:e>
                            <m:sup>
                              <m:r>
                                <a:rPr lang="en-US" altLang="zh-CN" sz="1600" b="0" i="1" dirty="0" smtClean="0">
                                  <a:solidFill>
                                    <a:schemeClr val="tx1"/>
                                  </a:solidFill>
                                  <a:latin typeface="Cambria Math" panose="02040503050406030204" pitchFamily="18" charset="0"/>
                                </a:rPr>
                                <m:t>2</m:t>
                              </m:r>
                            </m:sup>
                          </m:sSup>
                        </m:sub>
                        <m:sup/>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𝐿</m:t>
                              </m:r>
                            </m:e>
                            <m:sub>
                              <m:r>
                                <a:rPr lang="en-US" altLang="zh-CN" sz="1600" i="1" dirty="0">
                                  <a:solidFill>
                                    <a:schemeClr val="tx1"/>
                                  </a:solidFill>
                                  <a:latin typeface="Cambria Math" panose="02040503050406030204" pitchFamily="18" charset="0"/>
                                </a:rPr>
                                <m:t>𝑜</m:t>
                              </m:r>
                            </m:sub>
                            <m:sup>
                              <m:r>
                                <a:rPr lang="en-US" altLang="zh-CN" sz="1600" b="1" i="1" dirty="0" smtClean="0">
                                  <a:solidFill>
                                    <a:schemeClr val="tx1"/>
                                  </a:solidFill>
                                  <a:latin typeface="Cambria Math" panose="02040503050406030204" pitchFamily="18" charset="0"/>
                                </a:rPr>
                                <m:t>𝒎</m:t>
                              </m:r>
                            </m:sup>
                          </m:sSubSup>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e>
                          </m:d>
                          <m:r>
                            <a:rPr lang="en-US" altLang="zh-CN" sz="1600" b="0" i="1" dirty="0" smtClean="0">
                              <a:solidFill>
                                <a:schemeClr val="tx1"/>
                              </a:solidFill>
                              <a:latin typeface="Cambria Math" panose="02040503050406030204" pitchFamily="18" charset="0"/>
                            </a:rPr>
                            <m:t> </m:t>
                          </m:r>
                          <m:f>
                            <m:fPr>
                              <m:ctrlPr>
                                <a:rPr lang="en-US" altLang="zh-CN" sz="1600" b="0" i="1" dirty="0" smtClean="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𝒐</m:t>
                                      </m:r>
                                    </m:e>
                                    <m:sup>
                                      <m:r>
                                        <a:rPr lang="en-US" altLang="zh-CN" sz="1600" b="1" i="1" dirty="0" smtClean="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num>
                            <m:den>
                              <m:d>
                                <m:dPr>
                                  <m:begChr m:val="|"/>
                                  <m:endChr m:val="|"/>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b="0" i="1" dirty="0" smtClean="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𝒈</m:t>
                                  </m:r>
                                </m:e>
                              </m:d>
                            </m:den>
                          </m:f>
                          <m:r>
                            <a:rPr lang="en-US" altLang="zh-CN" sz="1600" i="1" dirty="0">
                              <a:solidFill>
                                <a:schemeClr val="tx1"/>
                              </a:solidFill>
                              <a:latin typeface="Cambria Math" panose="02040503050406030204" pitchFamily="18" charset="0"/>
                            </a:rPr>
                            <m:t>𝑑</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m:rPr>
                                  <m:sty m:val="p"/>
                                </m:rPr>
                                <a:rPr lang="en-US" altLang="zh-CN" sz="1600" i="1" dirty="0">
                                  <a:solidFill>
                                    <a:schemeClr val="tx1"/>
                                  </a:solidFill>
                                  <a:latin typeface="Cambria Math" panose="02040503050406030204" pitchFamily="18" charset="0"/>
                                </a:rPr>
                                <m:t>m</m:t>
                              </m:r>
                            </m:sub>
                          </m:sSub>
                        </m:e>
                      </m:nary>
                      <m:r>
                        <a:rPr lang="en-US" altLang="zh-CN" sz="1600" b="0" i="1" dirty="0" smtClean="0">
                          <a:solidFill>
                            <a:schemeClr val="tx1"/>
                          </a:solidFill>
                          <a:latin typeface="Cambria Math" panose="02040503050406030204" pitchFamily="18" charset="0"/>
                        </a:rPr>
                        <m:t> </m:t>
                      </m:r>
                      <m:d>
                        <m:dPr>
                          <m:begChr m:val="["/>
                          <m:endChr m:val="]"/>
                          <m:ctrlPr>
                            <a:rPr lang="en-US" altLang="zh-CN" sz="1600" b="0" i="1" dirty="0" smtClean="0">
                              <a:solidFill>
                                <a:schemeClr val="tx1"/>
                              </a:solidFill>
                              <a:latin typeface="Cambria Math" panose="02040503050406030204" pitchFamily="18" charset="0"/>
                            </a:rPr>
                          </m:ctrlPr>
                        </m:dPr>
                        <m:e>
                          <m:r>
                            <m:rPr>
                              <m:sty m:val="p"/>
                            </m:rPr>
                            <a:rPr lang="en-US" altLang="zh-CN" sz="1600" b="0" i="0" dirty="0" smtClean="0">
                              <a:solidFill>
                                <a:schemeClr val="tx1"/>
                              </a:solidFill>
                              <a:latin typeface="Cambria Math" panose="02040503050406030204" pitchFamily="18" charset="0"/>
                            </a:rPr>
                            <m:t>nit</m:t>
                          </m:r>
                        </m:e>
                      </m:d>
                    </m:oMath>
                  </m:oMathPara>
                </a14:m>
                <a:endParaRPr lang="en-US" altLang="zh-CN" sz="1600" b="0" i="0"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1600" dirty="0">
                          <a:solidFill>
                            <a:schemeClr val="tx1"/>
                          </a:solidFill>
                          <a:latin typeface="Cambria Math" panose="02040503050406030204" pitchFamily="18" charset="0"/>
                        </a:rPr>
                        <m:t>可见</m:t>
                      </m:r>
                      <m:r>
                        <a:rPr lang="zh-CN" altLang="en-US" sz="1600" i="1" dirty="0">
                          <a:solidFill>
                            <a:schemeClr val="tx1"/>
                          </a:solidFill>
                          <a:latin typeface="Cambria Math" panose="02040503050406030204" pitchFamily="18" charset="0"/>
                        </a:rPr>
                        <m:t>法线分布函数：</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𝐷</m:t>
                          </m:r>
                        </m:e>
                        <m:sub>
                          <m:r>
                            <a:rPr lang="en-US" altLang="zh-CN" sz="1600" b="0" i="1" dirty="0" smtClean="0">
                              <a:solidFill>
                                <a:schemeClr val="tx1"/>
                              </a:solidFill>
                              <a:latin typeface="Cambria Math" panose="02040503050406030204" pitchFamily="18" charset="0"/>
                            </a:rPr>
                            <m:t>𝑣</m:t>
                          </m:r>
                        </m:sub>
                      </m:sSub>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b="1" i="1" dirty="0" smtClean="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 </m:t>
                          </m:r>
                          <m:r>
                            <a:rPr lang="en-US" altLang="zh-CN" sz="1600" b="1" i="1" dirty="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𝒐</m:t>
                                  </m:r>
                                </m:e>
                                <m:sup>
                                  <m:r>
                                    <a:rPr lang="en-US" altLang="zh-CN" sz="1600" b="1" i="1" dirty="0" smtClean="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𝒈</m:t>
                              </m:r>
                            </m:e>
                          </m:d>
                        </m:den>
                      </m:f>
                      <m:r>
                        <a:rPr lang="en-US" altLang="zh-CN" sz="1600" b="0" i="1" dirty="0" smtClean="0">
                          <a:solidFill>
                            <a:schemeClr val="tx1"/>
                          </a:solidFill>
                          <a:latin typeface="Cambria Math" panose="02040503050406030204" pitchFamily="18" charset="0"/>
                        </a:rPr>
                        <m:t> </m:t>
                      </m:r>
                      <m:d>
                        <m:dPr>
                          <m:begChr m:val="["/>
                          <m:endChr m:val="]"/>
                          <m:ctrlPr>
                            <a:rPr lang="en-US" altLang="zh-CN" sz="1600" b="0" i="1" dirty="0" smtClean="0">
                              <a:solidFill>
                                <a:schemeClr val="tx1"/>
                              </a:solidFill>
                              <a:latin typeface="Cambria Math" panose="02040503050406030204" pitchFamily="18" charset="0"/>
                            </a:rPr>
                          </m:ctrlPr>
                        </m:dPr>
                        <m:e>
                          <m:f>
                            <m:fPr>
                              <m:ctrlPr>
                                <a:rPr lang="en-US" altLang="zh-CN" sz="1600" b="0" i="1" dirty="0" smtClean="0">
                                  <a:solidFill>
                                    <a:schemeClr val="tx1"/>
                                  </a:solidFill>
                                  <a:latin typeface="Cambria Math" panose="02040503050406030204" pitchFamily="18" charset="0"/>
                                </a:rPr>
                              </m:ctrlPr>
                            </m:fPr>
                            <m:num>
                              <m:r>
                                <a:rPr lang="en-US" altLang="zh-CN" sz="1600" b="0" i="1" dirty="0" smtClean="0">
                                  <a:solidFill>
                                    <a:schemeClr val="tx1"/>
                                  </a:solidFill>
                                  <a:latin typeface="Cambria Math" panose="02040503050406030204" pitchFamily="18" charset="0"/>
                                </a:rPr>
                                <m:t>1</m:t>
                              </m:r>
                            </m:num>
                            <m:den>
                              <m:r>
                                <a:rPr lang="en-US" altLang="zh-CN" sz="1600" b="0" i="1" dirty="0" smtClean="0">
                                  <a:solidFill>
                                    <a:schemeClr val="tx1"/>
                                  </a:solidFill>
                                  <a:latin typeface="Cambria Math" panose="02040503050406030204" pitchFamily="18" charset="0"/>
                                </a:rPr>
                                <m:t>𝑠𝑟</m:t>
                              </m:r>
                            </m:den>
                          </m:f>
                        </m:e>
                      </m:d>
                    </m:oMath>
                  </m:oMathPara>
                </a14:m>
                <a:endParaRPr lang="en-US" altLang="zh-CN" sz="16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nary>
                        <m:naryPr>
                          <m:supHide m:val="on"/>
                          <m:ctrlPr>
                            <a:rPr lang="en-US" altLang="zh-CN" sz="1600" b="0" i="1" dirty="0" smtClean="0">
                              <a:solidFill>
                                <a:schemeClr val="tx1"/>
                              </a:solidFill>
                              <a:latin typeface="Cambria Math" panose="02040503050406030204" pitchFamily="18" charset="0"/>
                            </a:rPr>
                          </m:ctrlPr>
                        </m:naryPr>
                        <m:sub>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𝐻</m:t>
                              </m:r>
                            </m:e>
                            <m:sup>
                              <m:r>
                                <a:rPr lang="en-US" altLang="zh-CN" sz="1600" b="0" i="1" dirty="0" smtClean="0">
                                  <a:solidFill>
                                    <a:schemeClr val="tx1"/>
                                  </a:solidFill>
                                  <a:latin typeface="Cambria Math" panose="02040503050406030204" pitchFamily="18" charset="0"/>
                                </a:rPr>
                                <m:t>2</m:t>
                              </m:r>
                            </m:sup>
                          </m:sSup>
                        </m:sub>
                        <m:sup/>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𝒐</m:t>
                                      </m:r>
                                    </m:e>
                                    <m:sup>
                                      <m:r>
                                        <a:rPr lang="en-US" altLang="zh-CN" sz="1600" b="1" i="1" dirty="0" smtClean="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𝒈</m:t>
                                  </m:r>
                                </m:e>
                              </m:d>
                            </m:den>
                          </m:f>
                          <m:r>
                            <a:rPr lang="en-US" altLang="zh-CN" sz="1600" b="0" i="1" dirty="0" smtClean="0">
                              <a:solidFill>
                                <a:schemeClr val="tx1"/>
                              </a:solidFill>
                              <a:latin typeface="Cambria Math" panose="02040503050406030204" pitchFamily="18" charset="0"/>
                            </a:rPr>
                            <m:t>𝑑</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𝜔</m:t>
                              </m:r>
                            </m:e>
                            <m:sub>
                              <m:r>
                                <a:rPr lang="en-US" altLang="zh-CN" sz="1600" b="0" i="1" dirty="0" smtClean="0">
                                  <a:solidFill>
                                    <a:schemeClr val="tx1"/>
                                  </a:solidFill>
                                  <a:latin typeface="Cambria Math" panose="02040503050406030204" pitchFamily="18" charset="0"/>
                                </a:rPr>
                                <m:t>𝑚</m:t>
                              </m:r>
                            </m:sub>
                          </m:sSub>
                        </m:e>
                      </m:nary>
                      <m:r>
                        <a:rPr lang="en-US" altLang="zh-CN" sz="1600" b="0" i="1" dirty="0" smtClean="0">
                          <a:solidFill>
                            <a:schemeClr val="tx1"/>
                          </a:solidFill>
                          <a:latin typeface="Cambria Math" panose="02040503050406030204" pitchFamily="18" charset="0"/>
                        </a:rPr>
                        <m:t>=1</m:t>
                      </m:r>
                    </m:oMath>
                  </m:oMathPara>
                </a14:m>
                <a:endParaRPr lang="en-US" altLang="zh-CN" sz="1600" b="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𝐿</m:t>
                          </m:r>
                        </m:e>
                        <m:sub>
                          <m:r>
                            <a:rPr lang="en-US" altLang="zh-CN" sz="1600" b="0" i="1" dirty="0" smtClean="0">
                              <a:solidFill>
                                <a:schemeClr val="tx1"/>
                              </a:solidFill>
                              <a:latin typeface="Cambria Math" panose="02040503050406030204" pitchFamily="18" charset="0"/>
                            </a:rPr>
                            <m:t>𝑜</m:t>
                          </m:r>
                        </m:sub>
                      </m:sSub>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e>
                      </m:d>
                      <m:r>
                        <a:rPr lang="en-US" altLang="zh-CN" sz="1600" b="0" i="1" dirty="0" smtClean="0">
                          <a:solidFill>
                            <a:schemeClr val="tx1"/>
                          </a:solidFill>
                          <a:latin typeface="Cambria Math" panose="02040503050406030204" pitchFamily="18" charset="0"/>
                        </a:rPr>
                        <m:t>=</m:t>
                      </m:r>
                      <m:nary>
                        <m:naryPr>
                          <m:supHide m:val="on"/>
                          <m:ctrlPr>
                            <a:rPr lang="en-US" altLang="zh-CN" sz="1600" b="0" i="1" dirty="0" smtClean="0">
                              <a:solidFill>
                                <a:schemeClr val="tx1"/>
                              </a:solidFill>
                              <a:latin typeface="Cambria Math" panose="02040503050406030204" pitchFamily="18" charset="0"/>
                            </a:rPr>
                          </m:ctrlPr>
                        </m:naryPr>
                        <m:sub>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𝐻</m:t>
                              </m:r>
                            </m:e>
                            <m:sup>
                              <m:r>
                                <a:rPr lang="en-US" altLang="zh-CN" sz="1600" b="0" i="1" dirty="0" smtClean="0">
                                  <a:solidFill>
                                    <a:schemeClr val="tx1"/>
                                  </a:solidFill>
                                  <a:latin typeface="Cambria Math" panose="02040503050406030204" pitchFamily="18" charset="0"/>
                                </a:rPr>
                                <m:t>2</m:t>
                              </m:r>
                            </m:sup>
                          </m:sSup>
                        </m:sub>
                        <m:sup/>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𝐿</m:t>
                              </m:r>
                            </m:e>
                            <m:sub>
                              <m:r>
                                <a:rPr lang="en-US" altLang="zh-CN" sz="1600" i="1" dirty="0">
                                  <a:solidFill>
                                    <a:schemeClr val="tx1"/>
                                  </a:solidFill>
                                  <a:latin typeface="Cambria Math" panose="02040503050406030204" pitchFamily="18" charset="0"/>
                                </a:rPr>
                                <m:t>𝑜</m:t>
                              </m:r>
                            </m:sub>
                            <m:sup>
                              <m:r>
                                <a:rPr lang="en-US" altLang="zh-CN" sz="1600" b="1" i="1" dirty="0" smtClean="0">
                                  <a:solidFill>
                                    <a:schemeClr val="tx1"/>
                                  </a:solidFill>
                                  <a:latin typeface="Cambria Math" panose="02040503050406030204" pitchFamily="18" charset="0"/>
                                </a:rPr>
                                <m:t>𝒎</m:t>
                              </m:r>
                            </m:sup>
                          </m:sSubSup>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e>
                          </m:d>
                          <m:r>
                            <a:rPr lang="en-US" altLang="zh-CN" sz="1600" b="0" i="1" dirty="0" smtClean="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𝐷</m:t>
                              </m:r>
                            </m:e>
                            <m:sub>
                              <m:r>
                                <a:rPr lang="en-US" altLang="zh-CN" sz="1600" i="1" dirty="0">
                                  <a:solidFill>
                                    <a:schemeClr val="tx1"/>
                                  </a:solidFill>
                                  <a:latin typeface="Cambria Math" panose="02040503050406030204" pitchFamily="18" charset="0"/>
                                </a:rPr>
                                <m:t>𝑣</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b="1"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 </m:t>
                              </m:r>
                              <m:r>
                                <a:rPr lang="en-US" altLang="zh-CN" sz="1600" b="1" i="1" dirty="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𝑑</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m:rPr>
                                  <m:sty m:val="p"/>
                                </m:rPr>
                                <a:rPr lang="en-US" altLang="zh-CN" sz="1600" i="1" dirty="0">
                                  <a:solidFill>
                                    <a:schemeClr val="tx1"/>
                                  </a:solidFill>
                                  <a:latin typeface="Cambria Math" panose="02040503050406030204" pitchFamily="18" charset="0"/>
                                </a:rPr>
                                <m:t>m</m:t>
                              </m:r>
                            </m:sub>
                          </m:sSub>
                        </m:e>
                      </m:nary>
                      <m:r>
                        <a:rPr lang="en-US" altLang="zh-CN" sz="1600" b="0" i="1" dirty="0" smtClean="0">
                          <a:solidFill>
                            <a:schemeClr val="tx1"/>
                          </a:solidFill>
                          <a:latin typeface="Cambria Math" panose="02040503050406030204" pitchFamily="18" charset="0"/>
                        </a:rPr>
                        <m:t> </m:t>
                      </m:r>
                      <m:d>
                        <m:dPr>
                          <m:begChr m:val="["/>
                          <m:endChr m:val="]"/>
                          <m:ctrlPr>
                            <a:rPr lang="en-US" altLang="zh-CN" sz="1600" b="0" i="1" dirty="0" smtClean="0">
                              <a:solidFill>
                                <a:schemeClr val="tx1"/>
                              </a:solidFill>
                              <a:latin typeface="Cambria Math" panose="02040503050406030204" pitchFamily="18" charset="0"/>
                            </a:rPr>
                          </m:ctrlPr>
                        </m:dPr>
                        <m:e>
                          <m:r>
                            <m:rPr>
                              <m:sty m:val="p"/>
                            </m:rPr>
                            <a:rPr lang="en-US" altLang="zh-CN" sz="1600" b="0" i="0" dirty="0" smtClean="0">
                              <a:solidFill>
                                <a:schemeClr val="tx1"/>
                              </a:solidFill>
                              <a:latin typeface="Cambria Math" panose="02040503050406030204" pitchFamily="18" charset="0"/>
                            </a:rPr>
                            <m:t>nit</m:t>
                          </m:r>
                        </m:e>
                      </m:d>
                    </m:oMath>
                  </m:oMathPara>
                </a14:m>
                <a:endParaRPr lang="en-US" altLang="zh-CN" sz="1600" b="0" dirty="0">
                  <a:solidFill>
                    <a:schemeClr val="tx1"/>
                  </a:solidFill>
                </a:endParaRPr>
              </a:p>
            </p:txBody>
          </p:sp>
        </mc:Choice>
        <mc:Fallback xmlns="">
          <p:sp>
            <p:nvSpPr>
              <p:cNvPr id="64" name="矩形 63">
                <a:extLst>
                  <a:ext uri="{FF2B5EF4-FFF2-40B4-BE49-F238E27FC236}">
                    <a16:creationId xmlns:a16="http://schemas.microsoft.com/office/drawing/2014/main" id="{D847DEF7-87EE-C1F7-9530-7E7C6EDC396F}"/>
                  </a:ext>
                </a:extLst>
              </p:cNvPr>
              <p:cNvSpPr>
                <a:spLocks noRot="1" noChangeAspect="1" noMove="1" noResize="1" noEditPoints="1" noAdjustHandles="1" noChangeArrowheads="1" noChangeShapeType="1" noTextEdit="1"/>
              </p:cNvSpPr>
              <p:nvPr/>
            </p:nvSpPr>
            <p:spPr>
              <a:xfrm>
                <a:off x="478710" y="1144044"/>
                <a:ext cx="6673652" cy="5402806"/>
              </a:xfrm>
              <a:prstGeom prst="rect">
                <a:avLst/>
              </a:prstGeom>
              <a:blipFill>
                <a:blip r:embed="rId2"/>
                <a:stretch>
                  <a:fillRect/>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7362AB30-D7B1-65B3-AF71-D1CA5C5F119F}"/>
              </a:ext>
            </a:extLst>
          </p:cNvPr>
          <p:cNvSpPr/>
          <p:nvPr/>
        </p:nvSpPr>
        <p:spPr>
          <a:xfrm>
            <a:off x="7772004" y="1716327"/>
            <a:ext cx="4320195" cy="29862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0759AED4-306D-121E-4290-CABFE037760A}"/>
              </a:ext>
            </a:extLst>
          </p:cNvPr>
          <p:cNvSpPr/>
          <p:nvPr/>
        </p:nvSpPr>
        <p:spPr>
          <a:xfrm>
            <a:off x="7638654" y="1544877"/>
            <a:ext cx="4320195" cy="298623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 name="组合 5">
            <a:extLst>
              <a:ext uri="{FF2B5EF4-FFF2-40B4-BE49-F238E27FC236}">
                <a16:creationId xmlns:a16="http://schemas.microsoft.com/office/drawing/2014/main" id="{A4959C7B-86EE-F7B3-E14B-BF2724BC12C9}"/>
              </a:ext>
            </a:extLst>
          </p:cNvPr>
          <p:cNvGrpSpPr/>
          <p:nvPr/>
        </p:nvGrpSpPr>
        <p:grpSpPr>
          <a:xfrm>
            <a:off x="7869231" y="1711553"/>
            <a:ext cx="4322769" cy="2757063"/>
            <a:chOff x="7869231" y="1711553"/>
            <a:chExt cx="4322769" cy="2757063"/>
          </a:xfrm>
        </p:grpSpPr>
        <p:grpSp>
          <p:nvGrpSpPr>
            <p:cNvPr id="7" name="组合 6">
              <a:extLst>
                <a:ext uri="{FF2B5EF4-FFF2-40B4-BE49-F238E27FC236}">
                  <a16:creationId xmlns:a16="http://schemas.microsoft.com/office/drawing/2014/main" id="{D0AC80B6-238B-95A9-C298-FAE1297ECD6F}"/>
                </a:ext>
              </a:extLst>
            </p:cNvPr>
            <p:cNvGrpSpPr/>
            <p:nvPr/>
          </p:nvGrpSpPr>
          <p:grpSpPr>
            <a:xfrm>
              <a:off x="8174440" y="1956387"/>
              <a:ext cx="3505629" cy="2091540"/>
              <a:chOff x="7012852" y="1572343"/>
              <a:chExt cx="4052678" cy="2418577"/>
            </a:xfrm>
          </p:grpSpPr>
          <p:sp>
            <p:nvSpPr>
              <p:cNvPr id="19" name="任意多边形: 形状 18">
                <a:extLst>
                  <a:ext uri="{FF2B5EF4-FFF2-40B4-BE49-F238E27FC236}">
                    <a16:creationId xmlns:a16="http://schemas.microsoft.com/office/drawing/2014/main" id="{8DEDA8E2-D189-D57E-CAAB-F4456BBBB8E3}"/>
                  </a:ext>
                </a:extLst>
              </p:cNvPr>
              <p:cNvSpPr/>
              <p:nvPr/>
            </p:nvSpPr>
            <p:spPr>
              <a:xfrm>
                <a:off x="9886950" y="3022545"/>
                <a:ext cx="577850" cy="698500"/>
              </a:xfrm>
              <a:custGeom>
                <a:avLst/>
                <a:gdLst>
                  <a:gd name="connsiteX0" fmla="*/ 0 w 552450"/>
                  <a:gd name="connsiteY0" fmla="*/ 0 h 679450"/>
                  <a:gd name="connsiteX1" fmla="*/ 552450 w 552450"/>
                  <a:gd name="connsiteY1" fmla="*/ 679450 h 679450"/>
                  <a:gd name="connsiteX2" fmla="*/ 412750 w 552450"/>
                  <a:gd name="connsiteY2" fmla="*/ 622300 h 679450"/>
                  <a:gd name="connsiteX3" fmla="*/ 323850 w 552450"/>
                  <a:gd name="connsiteY3" fmla="*/ 584200 h 679450"/>
                  <a:gd name="connsiteX4" fmla="*/ 228600 w 552450"/>
                  <a:gd name="connsiteY4" fmla="*/ 530225 h 679450"/>
                  <a:gd name="connsiteX5" fmla="*/ 171450 w 552450"/>
                  <a:gd name="connsiteY5" fmla="*/ 479425 h 679450"/>
                  <a:gd name="connsiteX6" fmla="*/ 127000 w 552450"/>
                  <a:gd name="connsiteY6" fmla="*/ 396875 h 679450"/>
                  <a:gd name="connsiteX7" fmla="*/ 0 w 552450"/>
                  <a:gd name="connsiteY7" fmla="*/ 0 h 67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 h="679450">
                    <a:moveTo>
                      <a:pt x="0" y="0"/>
                    </a:moveTo>
                    <a:lnTo>
                      <a:pt x="552450" y="679450"/>
                    </a:lnTo>
                    <a:lnTo>
                      <a:pt x="412750" y="622300"/>
                    </a:lnTo>
                    <a:lnTo>
                      <a:pt x="323850" y="584200"/>
                    </a:lnTo>
                    <a:lnTo>
                      <a:pt x="228600" y="530225"/>
                    </a:lnTo>
                    <a:lnTo>
                      <a:pt x="171450" y="479425"/>
                    </a:lnTo>
                    <a:lnTo>
                      <a:pt x="127000" y="3968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19">
                <a:extLst>
                  <a:ext uri="{FF2B5EF4-FFF2-40B4-BE49-F238E27FC236}">
                    <a16:creationId xmlns:a16="http://schemas.microsoft.com/office/drawing/2014/main" id="{B0B2F4AF-76F1-C1E3-4DB1-E97612FD1655}"/>
                  </a:ext>
                </a:extLst>
              </p:cNvPr>
              <p:cNvSpPr/>
              <p:nvPr/>
            </p:nvSpPr>
            <p:spPr>
              <a:xfrm>
                <a:off x="7962900" y="3219395"/>
                <a:ext cx="596952" cy="733425"/>
              </a:xfrm>
              <a:custGeom>
                <a:avLst/>
                <a:gdLst>
                  <a:gd name="connsiteX0" fmla="*/ 0 w 590550"/>
                  <a:gd name="connsiteY0" fmla="*/ 0 h 733425"/>
                  <a:gd name="connsiteX1" fmla="*/ 590550 w 590550"/>
                  <a:gd name="connsiteY1" fmla="*/ 727075 h 733425"/>
                  <a:gd name="connsiteX2" fmla="*/ 523875 w 590550"/>
                  <a:gd name="connsiteY2" fmla="*/ 733425 h 733425"/>
                  <a:gd name="connsiteX3" fmla="*/ 469900 w 590550"/>
                  <a:gd name="connsiteY3" fmla="*/ 730250 h 733425"/>
                  <a:gd name="connsiteX4" fmla="*/ 400050 w 590550"/>
                  <a:gd name="connsiteY4" fmla="*/ 711200 h 733425"/>
                  <a:gd name="connsiteX5" fmla="*/ 336550 w 590550"/>
                  <a:gd name="connsiteY5" fmla="*/ 638175 h 733425"/>
                  <a:gd name="connsiteX6" fmla="*/ 247650 w 590550"/>
                  <a:gd name="connsiteY6" fmla="*/ 511175 h 733425"/>
                  <a:gd name="connsiteX7" fmla="*/ 0 w 590550"/>
                  <a:gd name="connsiteY7" fmla="*/ 0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550" h="733425">
                    <a:moveTo>
                      <a:pt x="0" y="0"/>
                    </a:moveTo>
                    <a:lnTo>
                      <a:pt x="590550" y="727075"/>
                    </a:lnTo>
                    <a:lnTo>
                      <a:pt x="523875" y="733425"/>
                    </a:lnTo>
                    <a:lnTo>
                      <a:pt x="469900" y="730250"/>
                    </a:lnTo>
                    <a:lnTo>
                      <a:pt x="400050" y="711200"/>
                    </a:lnTo>
                    <a:lnTo>
                      <a:pt x="336550" y="638175"/>
                    </a:lnTo>
                    <a:lnTo>
                      <a:pt x="247650" y="5111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a:extLst>
                  <a:ext uri="{FF2B5EF4-FFF2-40B4-BE49-F238E27FC236}">
                    <a16:creationId xmlns:a16="http://schemas.microsoft.com/office/drawing/2014/main" id="{DA581CAF-4563-D30D-EFB6-EDF4570DE7B6}"/>
                  </a:ext>
                </a:extLst>
              </p:cNvPr>
              <p:cNvSpPr/>
              <p:nvPr/>
            </p:nvSpPr>
            <p:spPr>
              <a:xfrm>
                <a:off x="7609840" y="2948975"/>
                <a:ext cx="3439160" cy="1041945"/>
              </a:xfrm>
              <a:custGeom>
                <a:avLst/>
                <a:gdLst>
                  <a:gd name="connsiteX0" fmla="*/ 0 w 3332480"/>
                  <a:gd name="connsiteY0" fmla="*/ 1041945 h 1041945"/>
                  <a:gd name="connsiteX1" fmla="*/ 279400 w 3332480"/>
                  <a:gd name="connsiteY1" fmla="*/ 218985 h 1041945"/>
                  <a:gd name="connsiteX2" fmla="*/ 868680 w 3332480"/>
                  <a:gd name="connsiteY2" fmla="*/ 1016545 h 1041945"/>
                  <a:gd name="connsiteX3" fmla="*/ 2087880 w 3332480"/>
                  <a:gd name="connsiteY3" fmla="*/ 5625 h 1041945"/>
                  <a:gd name="connsiteX4" fmla="*/ 2494280 w 3332480"/>
                  <a:gd name="connsiteY4" fmla="*/ 620305 h 1041945"/>
                  <a:gd name="connsiteX5" fmla="*/ 3332480 w 3332480"/>
                  <a:gd name="connsiteY5" fmla="*/ 8844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160" h="1041945">
                    <a:moveTo>
                      <a:pt x="0" y="1041945"/>
                    </a:moveTo>
                    <a:cubicBezTo>
                      <a:pt x="67310" y="632581"/>
                      <a:pt x="134620" y="223218"/>
                      <a:pt x="279400" y="218985"/>
                    </a:cubicBezTo>
                    <a:cubicBezTo>
                      <a:pt x="424180" y="214752"/>
                      <a:pt x="567267" y="1052105"/>
                      <a:pt x="868680" y="1016545"/>
                    </a:cubicBezTo>
                    <a:cubicBezTo>
                      <a:pt x="1170093" y="980985"/>
                      <a:pt x="1816947" y="71665"/>
                      <a:pt x="2087880" y="5625"/>
                    </a:cubicBezTo>
                    <a:cubicBezTo>
                      <a:pt x="2358813" y="-60415"/>
                      <a:pt x="2286847" y="473832"/>
                      <a:pt x="2494280" y="620305"/>
                    </a:cubicBezTo>
                    <a:cubicBezTo>
                      <a:pt x="2701713" y="766778"/>
                      <a:pt x="3343487" y="826892"/>
                      <a:pt x="3439160" y="1036865"/>
                    </a:cubicBez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2" name="直接连接符 21">
                <a:extLst>
                  <a:ext uri="{FF2B5EF4-FFF2-40B4-BE49-F238E27FC236}">
                    <a16:creationId xmlns:a16="http://schemas.microsoft.com/office/drawing/2014/main" id="{8BF2C4DE-8A71-777A-A855-F04966B4FFFC}"/>
                  </a:ext>
                </a:extLst>
              </p:cNvPr>
              <p:cNvCxnSpPr>
                <a:cxnSpLocks/>
                <a:stCxn id="21" idx="0"/>
              </p:cNvCxnSpPr>
              <p:nvPr/>
            </p:nvCxnSpPr>
            <p:spPr>
              <a:xfrm flipH="1" flipV="1">
                <a:off x="7012852" y="3255565"/>
                <a:ext cx="596988" cy="73535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E5FA6AEB-9C83-1B35-2CE7-1CC9885AEDB5}"/>
                  </a:ext>
                </a:extLst>
              </p:cNvPr>
              <p:cNvCxnSpPr>
                <a:cxnSpLocks/>
              </p:cNvCxnSpPr>
              <p:nvPr/>
            </p:nvCxnSpPr>
            <p:spPr>
              <a:xfrm flipH="1" flipV="1">
                <a:off x="7609840" y="2780935"/>
                <a:ext cx="950012" cy="115059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3DEA7E3F-9D99-4546-229E-BEE4010D62AA}"/>
                  </a:ext>
                </a:extLst>
              </p:cNvPr>
              <p:cNvCxnSpPr>
                <a:cxnSpLocks/>
              </p:cNvCxnSpPr>
              <p:nvPr/>
            </p:nvCxnSpPr>
            <p:spPr>
              <a:xfrm flipH="1" flipV="1">
                <a:off x="8847134" y="1760557"/>
                <a:ext cx="1595118" cy="19319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FF420861-8DA8-73A8-4C08-5EB31CFA74D7}"/>
                  </a:ext>
                </a:extLst>
              </p:cNvPr>
              <p:cNvCxnSpPr>
                <a:cxnSpLocks/>
              </p:cNvCxnSpPr>
              <p:nvPr/>
            </p:nvCxnSpPr>
            <p:spPr>
              <a:xfrm flipV="1">
                <a:off x="7012852" y="1577258"/>
                <a:ext cx="2055740" cy="167830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75B4CAFC-91F6-9C20-8FCF-D344AC67D7D5}"/>
                  </a:ext>
                </a:extLst>
              </p:cNvPr>
              <p:cNvCxnSpPr>
                <a:cxnSpLocks/>
              </p:cNvCxnSpPr>
              <p:nvPr/>
            </p:nvCxnSpPr>
            <p:spPr>
              <a:xfrm flipH="1" flipV="1">
                <a:off x="9068592" y="1572343"/>
                <a:ext cx="1996938" cy="241857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6D5E191D-5D33-8769-90F1-32DD7F0B0289}"/>
                  </a:ext>
                </a:extLst>
              </p:cNvPr>
              <p:cNvCxnSpPr/>
              <p:nvPr/>
            </p:nvCxnSpPr>
            <p:spPr>
              <a:xfrm flipH="1" flipV="1">
                <a:off x="7748072" y="2002651"/>
                <a:ext cx="314960" cy="381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DCC458BA-6E63-B35A-F431-EF82DCDEFD17}"/>
                      </a:ext>
                    </a:extLst>
                  </p:cNvPr>
                  <p:cNvSpPr txBox="1"/>
                  <p:nvPr/>
                </p:nvSpPr>
                <p:spPr>
                  <a:xfrm>
                    <a:off x="7399694" y="1984426"/>
                    <a:ext cx="439977" cy="4270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𝒐</m:t>
                          </m:r>
                        </m:oMath>
                      </m:oMathPara>
                    </a14:m>
                    <a:endParaRPr lang="zh-CN" altLang="en-US" b="1" dirty="0"/>
                  </a:p>
                </p:txBody>
              </p:sp>
            </mc:Choice>
            <mc:Fallback xmlns="">
              <p:sp>
                <p:nvSpPr>
                  <p:cNvPr id="28" name="文本框 27">
                    <a:extLst>
                      <a:ext uri="{FF2B5EF4-FFF2-40B4-BE49-F238E27FC236}">
                        <a16:creationId xmlns:a16="http://schemas.microsoft.com/office/drawing/2014/main" id="{DCC458BA-6E63-B35A-F431-EF82DCDEFD17}"/>
                      </a:ext>
                    </a:extLst>
                  </p:cNvPr>
                  <p:cNvSpPr txBox="1">
                    <a:spLocks noRot="1" noChangeAspect="1" noMove="1" noResize="1" noEditPoints="1" noAdjustHandles="1" noChangeArrowheads="1" noChangeShapeType="1" noTextEdit="1"/>
                  </p:cNvSpPr>
                  <p:nvPr/>
                </p:nvSpPr>
                <p:spPr>
                  <a:xfrm>
                    <a:off x="7399694" y="1984426"/>
                    <a:ext cx="439977" cy="427081"/>
                  </a:xfrm>
                  <a:prstGeom prst="rect">
                    <a:avLst/>
                  </a:prstGeom>
                  <a:blipFill>
                    <a:blip r:embed="rId3"/>
                    <a:stretch>
                      <a:fillRect/>
                    </a:stretch>
                  </a:blipFill>
                </p:spPr>
                <p:txBody>
                  <a:bodyPr/>
                  <a:lstStyle/>
                  <a:p>
                    <a:r>
                      <a:rPr lang="zh-CN" altLang="en-US">
                        <a:noFill/>
                      </a:rPr>
                      <a:t> </a:t>
                    </a:r>
                  </a:p>
                </p:txBody>
              </p:sp>
            </mc:Fallback>
          </mc:AlternateContent>
          <p:cxnSp>
            <p:nvCxnSpPr>
              <p:cNvPr id="29" name="直接箭头连接符 28">
                <a:extLst>
                  <a:ext uri="{FF2B5EF4-FFF2-40B4-BE49-F238E27FC236}">
                    <a16:creationId xmlns:a16="http://schemas.microsoft.com/office/drawing/2014/main" id="{34257011-48CA-D917-7715-5E8661613395}"/>
                  </a:ext>
                </a:extLst>
              </p:cNvPr>
              <p:cNvCxnSpPr>
                <a:cxnSpLocks/>
              </p:cNvCxnSpPr>
              <p:nvPr/>
            </p:nvCxnSpPr>
            <p:spPr>
              <a:xfrm flipH="1" flipV="1">
                <a:off x="7330440" y="3381320"/>
                <a:ext cx="376414" cy="102503"/>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63885C98-BD43-B3A4-2AB9-907E2E308DA6}"/>
                      </a:ext>
                    </a:extLst>
                  </p:cNvPr>
                  <p:cNvSpPr txBox="1"/>
                  <p:nvPr/>
                </p:nvSpPr>
                <p:spPr>
                  <a:xfrm>
                    <a:off x="7356905" y="3073543"/>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31" name="文本框 30">
                    <a:extLst>
                      <a:ext uri="{FF2B5EF4-FFF2-40B4-BE49-F238E27FC236}">
                        <a16:creationId xmlns:a16="http://schemas.microsoft.com/office/drawing/2014/main" id="{63885C98-BD43-B3A4-2AB9-907E2E308DA6}"/>
                      </a:ext>
                    </a:extLst>
                  </p:cNvPr>
                  <p:cNvSpPr txBox="1">
                    <a:spLocks noRot="1" noChangeAspect="1" noMove="1" noResize="1" noEditPoints="1" noAdjustHandles="1" noChangeArrowheads="1" noChangeShapeType="1" noTextEdit="1"/>
                  </p:cNvSpPr>
                  <p:nvPr/>
                </p:nvSpPr>
                <p:spPr>
                  <a:xfrm>
                    <a:off x="7356905" y="3073543"/>
                    <a:ext cx="439977" cy="355902"/>
                  </a:xfrm>
                  <a:prstGeom prst="rect">
                    <a:avLst/>
                  </a:prstGeom>
                  <a:blipFill>
                    <a:blip r:embed="rId4"/>
                    <a:stretch>
                      <a:fillRect/>
                    </a:stretch>
                  </a:blipFill>
                </p:spPr>
                <p:txBody>
                  <a:bodyPr/>
                  <a:lstStyle/>
                  <a:p>
                    <a:r>
                      <a:rPr lang="zh-CN" altLang="en-US">
                        <a:noFill/>
                      </a:rPr>
                      <a:t> </a:t>
                    </a:r>
                  </a:p>
                </p:txBody>
              </p:sp>
            </mc:Fallback>
          </mc:AlternateContent>
          <p:cxnSp>
            <p:nvCxnSpPr>
              <p:cNvPr id="36" name="直接箭头连接符 35">
                <a:extLst>
                  <a:ext uri="{FF2B5EF4-FFF2-40B4-BE49-F238E27FC236}">
                    <a16:creationId xmlns:a16="http://schemas.microsoft.com/office/drawing/2014/main" id="{7EE150D4-BF58-0E3C-A23E-1E51787824C1}"/>
                  </a:ext>
                </a:extLst>
              </p:cNvPr>
              <p:cNvCxnSpPr>
                <a:cxnSpLocks/>
              </p:cNvCxnSpPr>
              <p:nvPr/>
            </p:nvCxnSpPr>
            <p:spPr>
              <a:xfrm flipH="1" flipV="1">
                <a:off x="8895080" y="3162880"/>
                <a:ext cx="261666" cy="269945"/>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2198D2F1-0D85-7D20-6DC8-DD4F5BCA04A4}"/>
                      </a:ext>
                    </a:extLst>
                  </p:cNvPr>
                  <p:cNvSpPr txBox="1"/>
                  <p:nvPr/>
                </p:nvSpPr>
                <p:spPr>
                  <a:xfrm>
                    <a:off x="8921819" y="2940720"/>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38" name="文本框 37">
                    <a:extLst>
                      <a:ext uri="{FF2B5EF4-FFF2-40B4-BE49-F238E27FC236}">
                        <a16:creationId xmlns:a16="http://schemas.microsoft.com/office/drawing/2014/main" id="{2198D2F1-0D85-7D20-6DC8-DD4F5BCA04A4}"/>
                      </a:ext>
                    </a:extLst>
                  </p:cNvPr>
                  <p:cNvSpPr txBox="1">
                    <a:spLocks noRot="1" noChangeAspect="1" noMove="1" noResize="1" noEditPoints="1" noAdjustHandles="1" noChangeArrowheads="1" noChangeShapeType="1" noTextEdit="1"/>
                  </p:cNvSpPr>
                  <p:nvPr/>
                </p:nvSpPr>
                <p:spPr>
                  <a:xfrm>
                    <a:off x="8921819" y="2940720"/>
                    <a:ext cx="439977" cy="355902"/>
                  </a:xfrm>
                  <a:prstGeom prst="rect">
                    <a:avLst/>
                  </a:prstGeom>
                  <a:blipFill>
                    <a:blip r:embed="rId5"/>
                    <a:stretch>
                      <a:fillRect/>
                    </a:stretch>
                  </a:blipFill>
                </p:spPr>
                <p:txBody>
                  <a:bodyPr/>
                  <a:lstStyle/>
                  <a:p>
                    <a:r>
                      <a:rPr lang="zh-CN" altLang="en-US">
                        <a:noFill/>
                      </a:rPr>
                      <a:t> </a:t>
                    </a:r>
                  </a:p>
                </p:txBody>
              </p:sp>
            </mc:Fallback>
          </mc:AlternateContent>
          <p:cxnSp>
            <p:nvCxnSpPr>
              <p:cNvPr id="40" name="直接箭头连接符 39">
                <a:extLst>
                  <a:ext uri="{FF2B5EF4-FFF2-40B4-BE49-F238E27FC236}">
                    <a16:creationId xmlns:a16="http://schemas.microsoft.com/office/drawing/2014/main" id="{8B16DBB5-CB76-7064-BFB4-D9A6B8183050}"/>
                  </a:ext>
                </a:extLst>
              </p:cNvPr>
              <p:cNvCxnSpPr>
                <a:cxnSpLocks/>
              </p:cNvCxnSpPr>
              <p:nvPr/>
            </p:nvCxnSpPr>
            <p:spPr>
              <a:xfrm flipV="1">
                <a:off x="10639339" y="3395642"/>
                <a:ext cx="90195" cy="380931"/>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98861FAA-C48D-6C6E-5C67-B3C32FE14270}"/>
                      </a:ext>
                    </a:extLst>
                  </p:cNvPr>
                  <p:cNvSpPr txBox="1"/>
                  <p:nvPr/>
                </p:nvSpPr>
                <p:spPr>
                  <a:xfrm>
                    <a:off x="10599935" y="3470335"/>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42" name="文本框 41">
                    <a:extLst>
                      <a:ext uri="{FF2B5EF4-FFF2-40B4-BE49-F238E27FC236}">
                        <a16:creationId xmlns:a16="http://schemas.microsoft.com/office/drawing/2014/main" id="{98861FAA-C48D-6C6E-5C67-B3C32FE14270}"/>
                      </a:ext>
                    </a:extLst>
                  </p:cNvPr>
                  <p:cNvSpPr txBox="1">
                    <a:spLocks noRot="1" noChangeAspect="1" noMove="1" noResize="1" noEditPoints="1" noAdjustHandles="1" noChangeArrowheads="1" noChangeShapeType="1" noTextEdit="1"/>
                  </p:cNvSpPr>
                  <p:nvPr/>
                </p:nvSpPr>
                <p:spPr>
                  <a:xfrm>
                    <a:off x="10599935" y="3470335"/>
                    <a:ext cx="439977" cy="355902"/>
                  </a:xfrm>
                  <a:prstGeom prst="rect">
                    <a:avLst/>
                  </a:prstGeom>
                  <a:blipFill>
                    <a:blip r:embed="rId5"/>
                    <a:stretch>
                      <a:fillRect/>
                    </a:stretch>
                  </a:blipFill>
                </p:spPr>
                <p:txBody>
                  <a:bodyPr/>
                  <a:lstStyle/>
                  <a:p>
                    <a:r>
                      <a:rPr lang="zh-CN" altLang="en-US">
                        <a:noFill/>
                      </a:rPr>
                      <a:t> </a:t>
                    </a:r>
                  </a:p>
                </p:txBody>
              </p:sp>
            </mc:Fallback>
          </mc:AlternateContent>
          <p:cxnSp>
            <p:nvCxnSpPr>
              <p:cNvPr id="43" name="直接连接符 42">
                <a:extLst>
                  <a:ext uri="{FF2B5EF4-FFF2-40B4-BE49-F238E27FC236}">
                    <a16:creationId xmlns:a16="http://schemas.microsoft.com/office/drawing/2014/main" id="{927C181C-CA1F-DD02-AC5C-C7A71AE85B66}"/>
                  </a:ext>
                </a:extLst>
              </p:cNvPr>
              <p:cNvCxnSpPr>
                <a:cxnSpLocks/>
              </p:cNvCxnSpPr>
              <p:nvPr/>
            </p:nvCxnSpPr>
            <p:spPr>
              <a:xfrm>
                <a:off x="7609840" y="3990920"/>
                <a:ext cx="34556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676F0EC-3E78-D4CD-C1ED-4D9A59FC3CCA}"/>
                    </a:ext>
                  </a:extLst>
                </p:cNvPr>
                <p:cNvSpPr txBox="1"/>
                <p:nvPr/>
              </p:nvSpPr>
              <p:spPr>
                <a:xfrm>
                  <a:off x="7869231" y="1711553"/>
                  <a:ext cx="1790893"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𝑝𝑟𝑜𝑗𝑒𝑐𝑡𝑒𝑑</m:t>
                        </m:r>
                        <m:r>
                          <a:rPr lang="en-US" altLang="zh-CN" sz="1600" b="0" i="1" smtClean="0">
                            <a:solidFill>
                              <a:schemeClr val="tx1"/>
                            </a:solidFill>
                            <a:latin typeface="Cambria Math" panose="02040503050406030204" pitchFamily="18" charset="0"/>
                          </a:rPr>
                          <m:t> </m:t>
                        </m:r>
                        <m:r>
                          <a:rPr lang="en-US" altLang="zh-CN" sz="1600" b="0" i="1" smtClean="0">
                            <a:solidFill>
                              <a:schemeClr val="tx1"/>
                            </a:solidFill>
                            <a:latin typeface="Cambria Math" panose="02040503050406030204" pitchFamily="18" charset="0"/>
                          </a:rPr>
                          <m:t>𝑎𝑟𝑒𝑎</m:t>
                        </m:r>
                      </m:oMath>
                    </m:oMathPara>
                  </a14:m>
                  <a:endParaRPr lang="en-US" altLang="zh-CN" sz="16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     =</m:t>
                        </m:r>
                        <m:d>
                          <m:dPr>
                            <m:begChr m:val="|"/>
                            <m:endChr m:val="|"/>
                            <m:ctrlPr>
                              <a:rPr lang="en-US" altLang="zh-CN" sz="1600" b="0" i="1" smtClean="0">
                                <a:solidFill>
                                  <a:schemeClr val="tx1"/>
                                </a:solidFill>
                                <a:latin typeface="Cambria Math" panose="02040503050406030204" pitchFamily="18" charset="0"/>
                              </a:rPr>
                            </m:ctrlPr>
                          </m:dPr>
                          <m:e>
                            <m:r>
                              <a:rPr lang="en-US" altLang="zh-CN" sz="1600" b="1" i="1" smtClean="0">
                                <a:latin typeface="Cambria Math" panose="02040503050406030204" pitchFamily="18" charset="0"/>
                              </a:rPr>
                              <m:t>𝒐</m:t>
                            </m:r>
                            <m:r>
                              <a:rPr lang="en-US" altLang="zh-CN" sz="1600" i="1">
                                <a:latin typeface="Cambria Math" panose="02040503050406030204" pitchFamily="18" charset="0"/>
                              </a:rPr>
                              <m:t>⋅</m:t>
                            </m:r>
                            <m:r>
                              <a:rPr lang="en-US" altLang="zh-CN" sz="1600" b="1" i="1" smtClean="0">
                                <a:latin typeface="Cambria Math" panose="02040503050406030204" pitchFamily="18" charset="0"/>
                              </a:rPr>
                              <m:t>𝒈</m:t>
                            </m:r>
                          </m:e>
                        </m:d>
                        <m:r>
                          <a:rPr lang="en-US" altLang="zh-CN" sz="1600" b="0" i="1" smtClean="0">
                            <a:solidFill>
                              <a:schemeClr val="tx1"/>
                            </a:solidFill>
                            <a:latin typeface="Cambria Math" panose="02040503050406030204" pitchFamily="18" charset="0"/>
                          </a:rPr>
                          <m:t> </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𝐴</m:t>
                            </m:r>
                          </m:e>
                          <m:sub>
                            <m:r>
                              <a:rPr lang="en-US" altLang="zh-CN" sz="1600" b="0" i="1" smtClean="0">
                                <a:solidFill>
                                  <a:schemeClr val="tx1"/>
                                </a:solidFill>
                                <a:latin typeface="Cambria Math" panose="02040503050406030204" pitchFamily="18" charset="0"/>
                              </a:rPr>
                              <m:t>𝑀</m:t>
                            </m:r>
                          </m:sub>
                        </m:sSub>
                      </m:oMath>
                    </m:oMathPara>
                  </a14:m>
                  <a:endParaRPr lang="zh-CN" altLang="en-US" sz="1600" dirty="0"/>
                </a:p>
              </p:txBody>
            </p:sp>
          </mc:Choice>
          <mc:Fallback xmlns="">
            <p:sp>
              <p:nvSpPr>
                <p:cNvPr id="8" name="文本框 7">
                  <a:extLst>
                    <a:ext uri="{FF2B5EF4-FFF2-40B4-BE49-F238E27FC236}">
                      <a16:creationId xmlns:a16="http://schemas.microsoft.com/office/drawing/2014/main" id="{A676F0EC-3E78-D4CD-C1ED-4D9A59FC3CCA}"/>
                    </a:ext>
                  </a:extLst>
                </p:cNvPr>
                <p:cNvSpPr txBox="1">
                  <a:spLocks noRot="1" noChangeAspect="1" noMove="1" noResize="1" noEditPoints="1" noAdjustHandles="1" noChangeArrowheads="1" noChangeShapeType="1" noTextEdit="1"/>
                </p:cNvSpPr>
                <p:nvPr/>
              </p:nvSpPr>
              <p:spPr>
                <a:xfrm>
                  <a:off x="7869231" y="1711553"/>
                  <a:ext cx="1790893" cy="584775"/>
                </a:xfrm>
                <a:prstGeom prst="rect">
                  <a:avLst/>
                </a:prstGeom>
                <a:blipFill>
                  <a:blip r:embed="rId6"/>
                  <a:stretch>
                    <a:fillRect b="-20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77755C37-75CB-02A9-B64C-922BA5F821D9}"/>
                    </a:ext>
                  </a:extLst>
                </p:cNvPr>
                <p:cNvSpPr txBox="1"/>
                <p:nvPr/>
              </p:nvSpPr>
              <p:spPr>
                <a:xfrm>
                  <a:off x="9793292" y="4099284"/>
                  <a:ext cx="17801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𝑀𝑎𝑐𝑟𝑜</m:t>
                        </m:r>
                        <m:r>
                          <a:rPr lang="en-US" altLang="zh-CN" sz="1800" b="0" i="1" smtClean="0">
                            <a:solidFill>
                              <a:schemeClr val="tx1"/>
                            </a:solidFill>
                            <a:latin typeface="Cambria Math" panose="02040503050406030204" pitchFamily="18" charset="0"/>
                          </a:rPr>
                          <m:t> </m:t>
                        </m:r>
                        <m:r>
                          <a:rPr lang="en-US" altLang="zh-CN" sz="1800" b="0" i="1" smtClean="0">
                            <a:solidFill>
                              <a:schemeClr val="tx1"/>
                            </a:solidFill>
                            <a:latin typeface="Cambria Math" panose="02040503050406030204" pitchFamily="18" charset="0"/>
                          </a:rPr>
                          <m:t>𝑆𝑢𝑟𝑓𝑎𝑐𝑒</m:t>
                        </m:r>
                        <m:r>
                          <a:rPr lang="en-US" altLang="zh-CN" sz="1800" b="0" i="1" smtClean="0">
                            <a:solidFill>
                              <a:schemeClr val="tx1"/>
                            </a:solidFill>
                            <a:latin typeface="Cambria Math" panose="02040503050406030204" pitchFamily="18" charset="0"/>
                          </a:rPr>
                          <m:t>  </m:t>
                        </m:r>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𝐴</m:t>
                            </m:r>
                          </m:e>
                          <m:sub>
                            <m:r>
                              <a:rPr lang="en-US" altLang="zh-CN" sz="1800" b="0" i="1" smtClean="0">
                                <a:solidFill>
                                  <a:schemeClr val="tx1"/>
                                </a:solidFill>
                                <a:latin typeface="Cambria Math" panose="02040503050406030204" pitchFamily="18" charset="0"/>
                              </a:rPr>
                              <m:t>𝑀</m:t>
                            </m:r>
                          </m:sub>
                        </m:sSub>
                      </m:oMath>
                    </m:oMathPara>
                  </a14:m>
                  <a:endParaRPr lang="zh-CN" altLang="en-US" dirty="0"/>
                </a:p>
              </p:txBody>
            </p:sp>
          </mc:Choice>
          <mc:Fallback xmlns="">
            <p:sp>
              <p:nvSpPr>
                <p:cNvPr id="9" name="文本框 8">
                  <a:extLst>
                    <a:ext uri="{FF2B5EF4-FFF2-40B4-BE49-F238E27FC236}">
                      <a16:creationId xmlns:a16="http://schemas.microsoft.com/office/drawing/2014/main" id="{77755C37-75CB-02A9-B64C-922BA5F821D9}"/>
                    </a:ext>
                  </a:extLst>
                </p:cNvPr>
                <p:cNvSpPr txBox="1">
                  <a:spLocks noRot="1" noChangeAspect="1" noMove="1" noResize="1" noEditPoints="1" noAdjustHandles="1" noChangeArrowheads="1" noChangeShapeType="1" noTextEdit="1"/>
                </p:cNvSpPr>
                <p:nvPr/>
              </p:nvSpPr>
              <p:spPr>
                <a:xfrm>
                  <a:off x="9793292" y="4099284"/>
                  <a:ext cx="1780198" cy="369332"/>
                </a:xfrm>
                <a:prstGeom prst="rect">
                  <a:avLst/>
                </a:prstGeom>
                <a:blipFill>
                  <a:blip r:embed="rId7"/>
                  <a:stretch>
                    <a:fillRect l="-1027" r="-16438" b="-14754"/>
                  </a:stretch>
                </a:blipFill>
              </p:spPr>
              <p:txBody>
                <a:bodyPr/>
                <a:lstStyle/>
                <a:p>
                  <a:r>
                    <a:rPr lang="zh-CN" altLang="en-US">
                      <a:noFill/>
                    </a:rPr>
                    <a:t> </a:t>
                  </a:r>
                </a:p>
              </p:txBody>
            </p:sp>
          </mc:Fallback>
        </mc:AlternateContent>
        <p:cxnSp>
          <p:nvCxnSpPr>
            <p:cNvPr id="10" name="直接连接符 9">
              <a:extLst>
                <a:ext uri="{FF2B5EF4-FFF2-40B4-BE49-F238E27FC236}">
                  <a16:creationId xmlns:a16="http://schemas.microsoft.com/office/drawing/2014/main" id="{478D0589-FE47-9D96-358C-02A280E36B26}"/>
                </a:ext>
              </a:extLst>
            </p:cNvPr>
            <p:cNvCxnSpPr>
              <a:cxnSpLocks/>
            </p:cNvCxnSpPr>
            <p:nvPr/>
          </p:nvCxnSpPr>
          <p:spPr>
            <a:xfrm flipH="1">
              <a:off x="10375591" y="2695759"/>
              <a:ext cx="191092" cy="160175"/>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03B5F69-FCA2-6390-0A8D-119A5842504C}"/>
                    </a:ext>
                  </a:extLst>
                </p:cNvPr>
                <p:cNvSpPr txBox="1"/>
                <p:nvPr/>
              </p:nvSpPr>
              <p:spPr>
                <a:xfrm>
                  <a:off x="10405475" y="2494705"/>
                  <a:ext cx="1786525" cy="3250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dirty="0">
                                <a:solidFill>
                                  <a:srgbClr val="00B050"/>
                                </a:solidFill>
                                <a:latin typeface="Cambria Math" panose="02040503050406030204" pitchFamily="18" charset="0"/>
                              </a:rPr>
                            </m:ctrlPr>
                          </m:sSubPr>
                          <m:e>
                            <m:r>
                              <a:rPr lang="en-US" altLang="zh-CN" sz="1400" i="1" dirty="0">
                                <a:solidFill>
                                  <a:srgbClr val="00B050"/>
                                </a:solidFill>
                                <a:latin typeface="Cambria Math" panose="02040503050406030204" pitchFamily="18" charset="0"/>
                              </a:rPr>
                              <m:t>𝐴</m:t>
                            </m:r>
                          </m:e>
                          <m:sub>
                            <m:r>
                              <a:rPr lang="en-US" altLang="zh-CN" sz="1400" i="1" dirty="0">
                                <a:solidFill>
                                  <a:srgbClr val="00B050"/>
                                </a:solidFill>
                                <a:latin typeface="Cambria Math" panose="02040503050406030204" pitchFamily="18" charset="0"/>
                              </a:rPr>
                              <m:t>𝑝𝑟𝑜𝑗𝑒𝑐𝑡𝑒𝑑</m:t>
                            </m:r>
                            <m:r>
                              <a:rPr lang="en-US" altLang="zh-CN" sz="1400" i="1" dirty="0">
                                <a:solidFill>
                                  <a:srgbClr val="00B050"/>
                                </a:solidFill>
                                <a:latin typeface="Cambria Math" panose="02040503050406030204" pitchFamily="18" charset="0"/>
                              </a:rPr>
                              <m:t>_</m:t>
                            </m:r>
                            <m:r>
                              <a:rPr lang="en-US" altLang="zh-CN" sz="1400" i="1" dirty="0">
                                <a:solidFill>
                                  <a:srgbClr val="00B050"/>
                                </a:solidFill>
                                <a:latin typeface="Cambria Math" panose="02040503050406030204" pitchFamily="18" charset="0"/>
                              </a:rPr>
                              <m:t>𝑣𝑖𝑠𝑖𝑏𝑙𝑒</m:t>
                            </m:r>
                          </m:sub>
                        </m:sSub>
                      </m:oMath>
                    </m:oMathPara>
                  </a14:m>
                  <a:endParaRPr lang="zh-CN" altLang="en-US" sz="1400" dirty="0">
                    <a:solidFill>
                      <a:srgbClr val="00B050"/>
                    </a:solidFill>
                  </a:endParaRPr>
                </a:p>
              </p:txBody>
            </p:sp>
          </mc:Choice>
          <mc:Fallback xmlns="">
            <p:sp>
              <p:nvSpPr>
                <p:cNvPr id="11" name="文本框 10">
                  <a:extLst>
                    <a:ext uri="{FF2B5EF4-FFF2-40B4-BE49-F238E27FC236}">
                      <a16:creationId xmlns:a16="http://schemas.microsoft.com/office/drawing/2014/main" id="{003B5F69-FCA2-6390-0A8D-119A5842504C}"/>
                    </a:ext>
                  </a:extLst>
                </p:cNvPr>
                <p:cNvSpPr txBox="1">
                  <a:spLocks noRot="1" noChangeAspect="1" noMove="1" noResize="1" noEditPoints="1" noAdjustHandles="1" noChangeArrowheads="1" noChangeShapeType="1" noTextEdit="1"/>
                </p:cNvSpPr>
                <p:nvPr/>
              </p:nvSpPr>
              <p:spPr>
                <a:xfrm>
                  <a:off x="10405475" y="2494705"/>
                  <a:ext cx="1786525" cy="325089"/>
                </a:xfrm>
                <a:prstGeom prst="rect">
                  <a:avLst/>
                </a:prstGeom>
                <a:blipFill>
                  <a:blip r:embed="rId8"/>
                  <a:stretch>
                    <a:fillRect b="-1852"/>
                  </a:stretch>
                </a:blipFill>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9B184AD8-225E-07F5-749F-B29C31B6E97E}"/>
                </a:ext>
              </a:extLst>
            </p:cNvPr>
            <p:cNvCxnSpPr>
              <a:cxnSpLocks/>
            </p:cNvCxnSpPr>
            <p:nvPr/>
          </p:nvCxnSpPr>
          <p:spPr>
            <a:xfrm flipH="1" flipV="1">
              <a:off x="10600882" y="2973876"/>
              <a:ext cx="709637" cy="859022"/>
            </a:xfrm>
            <a:prstGeom prst="straightConnector1">
              <a:avLst/>
            </a:prstGeom>
            <a:ln w="19050">
              <a:solidFill>
                <a:srgbClr val="FFA40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F97F1F5-B2E0-EE8C-3290-0D5DB699829D}"/>
                    </a:ext>
                  </a:extLst>
                </p:cNvPr>
                <p:cNvSpPr txBox="1"/>
                <p:nvPr/>
              </p:nvSpPr>
              <p:spPr>
                <a:xfrm>
                  <a:off x="10760268" y="2839095"/>
                  <a:ext cx="1222853"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dirty="0" smtClean="0">
                                <a:solidFill>
                                  <a:srgbClr val="FFA401"/>
                                </a:solidFill>
                                <a:latin typeface="Cambria Math" panose="02040503050406030204" pitchFamily="18" charset="0"/>
                              </a:rPr>
                            </m:ctrlPr>
                          </m:sSubSupPr>
                          <m:e>
                            <m:r>
                              <a:rPr lang="en-US" altLang="zh-CN" sz="1400" b="0" i="1" dirty="0" smtClean="0">
                                <a:solidFill>
                                  <a:srgbClr val="FFA401"/>
                                </a:solidFill>
                                <a:latin typeface="Cambria Math" panose="02040503050406030204" pitchFamily="18" charset="0"/>
                              </a:rPr>
                              <m:t>𝐿</m:t>
                            </m:r>
                          </m:e>
                          <m:sub>
                            <m:r>
                              <a:rPr lang="en-US" altLang="zh-CN" sz="1400" b="0" i="1" dirty="0" smtClean="0">
                                <a:solidFill>
                                  <a:srgbClr val="FFA401"/>
                                </a:solidFill>
                                <a:latin typeface="Cambria Math" panose="02040503050406030204" pitchFamily="18" charset="0"/>
                              </a:rPr>
                              <m:t>𝑜</m:t>
                            </m:r>
                          </m:sub>
                          <m:sup>
                            <m:r>
                              <a:rPr lang="en-US" altLang="zh-CN" sz="1400" b="1" i="1" dirty="0" smtClean="0">
                                <a:solidFill>
                                  <a:srgbClr val="FFA401"/>
                                </a:solidFill>
                                <a:latin typeface="Cambria Math" panose="02040503050406030204" pitchFamily="18" charset="0"/>
                              </a:rPr>
                              <m:t>𝒎</m:t>
                            </m:r>
                          </m:sup>
                        </m:sSubSup>
                        <m:d>
                          <m:dPr>
                            <m:ctrlPr>
                              <a:rPr lang="en-US" altLang="zh-CN" sz="1400" b="0" i="1" dirty="0" smtClean="0">
                                <a:solidFill>
                                  <a:srgbClr val="FFA401"/>
                                </a:solidFill>
                                <a:latin typeface="Cambria Math" panose="02040503050406030204" pitchFamily="18" charset="0"/>
                              </a:rPr>
                            </m:ctrlPr>
                          </m:dPr>
                          <m:e>
                            <m:r>
                              <a:rPr lang="en-US" altLang="zh-CN" sz="1400" b="1" i="1" dirty="0" smtClean="0">
                                <a:solidFill>
                                  <a:srgbClr val="FFA401"/>
                                </a:solidFill>
                                <a:latin typeface="Cambria Math" panose="02040503050406030204" pitchFamily="18" charset="0"/>
                              </a:rPr>
                              <m:t>𝒐</m:t>
                            </m:r>
                          </m:e>
                        </m:d>
                      </m:oMath>
                    </m:oMathPara>
                  </a14:m>
                  <a:endParaRPr lang="zh-CN" altLang="en-US" sz="1400" dirty="0">
                    <a:solidFill>
                      <a:srgbClr val="FFA401"/>
                    </a:solidFill>
                  </a:endParaRPr>
                </a:p>
              </p:txBody>
            </p:sp>
          </mc:Choice>
          <mc:Fallback xmlns="">
            <p:sp>
              <p:nvSpPr>
                <p:cNvPr id="14" name="文本框 13">
                  <a:extLst>
                    <a:ext uri="{FF2B5EF4-FFF2-40B4-BE49-F238E27FC236}">
                      <a16:creationId xmlns:a16="http://schemas.microsoft.com/office/drawing/2014/main" id="{BF97F1F5-B2E0-EE8C-3290-0D5DB699829D}"/>
                    </a:ext>
                  </a:extLst>
                </p:cNvPr>
                <p:cNvSpPr txBox="1">
                  <a:spLocks noRot="1" noChangeAspect="1" noMove="1" noResize="1" noEditPoints="1" noAdjustHandles="1" noChangeArrowheads="1" noChangeShapeType="1" noTextEdit="1"/>
                </p:cNvSpPr>
                <p:nvPr/>
              </p:nvSpPr>
              <p:spPr>
                <a:xfrm>
                  <a:off x="10760268" y="2839095"/>
                  <a:ext cx="1222853" cy="307777"/>
                </a:xfrm>
                <a:prstGeom prst="rect">
                  <a:avLst/>
                </a:prstGeom>
                <a:blipFill>
                  <a:blip r:embed="rId9"/>
                  <a:stretch>
                    <a:fillRect/>
                  </a:stretch>
                </a:blipFill>
              </p:spPr>
              <p:txBody>
                <a:bodyPr/>
                <a:lstStyle/>
                <a:p>
                  <a:r>
                    <a:rPr lang="zh-CN" altLang="en-US">
                      <a:noFill/>
                    </a:rPr>
                    <a:t> </a:t>
                  </a:r>
                </a:p>
              </p:txBody>
            </p:sp>
          </mc:Fallback>
        </mc:AlternateContent>
        <p:cxnSp>
          <p:nvCxnSpPr>
            <p:cNvPr id="15" name="直接箭头连接符 14">
              <a:extLst>
                <a:ext uri="{FF2B5EF4-FFF2-40B4-BE49-F238E27FC236}">
                  <a16:creationId xmlns:a16="http://schemas.microsoft.com/office/drawing/2014/main" id="{46A625E0-875B-1767-C220-EC425A61D057}"/>
                </a:ext>
              </a:extLst>
            </p:cNvPr>
            <p:cNvCxnSpPr>
              <a:cxnSpLocks/>
            </p:cNvCxnSpPr>
            <p:nvPr/>
          </p:nvCxnSpPr>
          <p:spPr>
            <a:xfrm flipH="1" flipV="1">
              <a:off x="10295266" y="2688247"/>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5D454D14-A025-5B16-8DF7-F4B26ABCE6B0}"/>
                </a:ext>
              </a:extLst>
            </p:cNvPr>
            <p:cNvCxnSpPr/>
            <p:nvPr/>
          </p:nvCxnSpPr>
          <p:spPr>
            <a:xfrm flipH="1" flipV="1">
              <a:off x="10418989" y="2595881"/>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EB080D7C-9877-3193-AA44-832CDF55084D}"/>
                </a:ext>
              </a:extLst>
            </p:cNvPr>
            <p:cNvCxnSpPr/>
            <p:nvPr/>
          </p:nvCxnSpPr>
          <p:spPr>
            <a:xfrm flipH="1" flipV="1">
              <a:off x="10360325" y="2642611"/>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14D939C5-2258-0CAE-AD31-8AAB2EABD6C7}"/>
                    </a:ext>
                  </a:extLst>
                </p:cNvPr>
                <p:cNvSpPr txBox="1"/>
                <p:nvPr/>
              </p:nvSpPr>
              <p:spPr>
                <a:xfrm>
                  <a:off x="10295266" y="2242512"/>
                  <a:ext cx="117901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dirty="0" smtClean="0">
                                <a:solidFill>
                                  <a:srgbClr val="92D050"/>
                                </a:solidFill>
                                <a:latin typeface="Cambria Math" panose="02040503050406030204" pitchFamily="18" charset="0"/>
                              </a:rPr>
                            </m:ctrlPr>
                          </m:sSubPr>
                          <m:e>
                            <m:r>
                              <m:rPr>
                                <m:sty m:val="p"/>
                              </m:rPr>
                              <a:rPr lang="en-US" altLang="zh-CN" sz="1400" dirty="0">
                                <a:solidFill>
                                  <a:srgbClr val="92D050"/>
                                </a:solidFill>
                                <a:latin typeface="Cambria Math" panose="02040503050406030204" pitchFamily="18" charset="0"/>
                              </a:rPr>
                              <m:t>I</m:t>
                            </m:r>
                          </m:e>
                          <m:sub>
                            <m:r>
                              <m:rPr>
                                <m:sty m:val="p"/>
                              </m:rPr>
                              <a:rPr lang="en-US" altLang="zh-CN" sz="1400" dirty="0">
                                <a:solidFill>
                                  <a:srgbClr val="92D050"/>
                                </a:solidFill>
                                <a:latin typeface="Cambria Math" panose="02040503050406030204" pitchFamily="18" charset="0"/>
                              </a:rPr>
                              <m:t>o</m:t>
                            </m:r>
                          </m:sub>
                        </m:sSub>
                        <m:d>
                          <m:dPr>
                            <m:ctrlPr>
                              <a:rPr lang="en-US" altLang="zh-CN" sz="1400" i="1" dirty="0">
                                <a:solidFill>
                                  <a:srgbClr val="92D050"/>
                                </a:solidFill>
                                <a:latin typeface="Cambria Math" panose="02040503050406030204" pitchFamily="18" charset="0"/>
                              </a:rPr>
                            </m:ctrlPr>
                          </m:dPr>
                          <m:e>
                            <m:r>
                              <a:rPr lang="en-US" altLang="zh-CN" sz="1400" b="1" i="1" dirty="0" smtClean="0">
                                <a:solidFill>
                                  <a:srgbClr val="92D050"/>
                                </a:solidFill>
                                <a:latin typeface="Cambria Math" panose="02040503050406030204" pitchFamily="18" charset="0"/>
                              </a:rPr>
                              <m:t>𝒐</m:t>
                            </m:r>
                            <m:r>
                              <a:rPr lang="en-US" altLang="zh-CN" sz="1400" i="1" dirty="0">
                                <a:solidFill>
                                  <a:srgbClr val="92D050"/>
                                </a:solidFill>
                                <a:latin typeface="Cambria Math" panose="02040503050406030204" pitchFamily="18" charset="0"/>
                              </a:rPr>
                              <m:t>,</m:t>
                            </m:r>
                            <m:r>
                              <a:rPr lang="en-US" altLang="zh-CN" sz="1400" b="1" i="1" dirty="0" smtClean="0">
                                <a:solidFill>
                                  <a:srgbClr val="92D050"/>
                                </a:solidFill>
                                <a:latin typeface="Cambria Math" panose="02040503050406030204" pitchFamily="18" charset="0"/>
                              </a:rPr>
                              <m:t>𝒎</m:t>
                            </m:r>
                          </m:e>
                        </m:d>
                      </m:oMath>
                    </m:oMathPara>
                  </a14:m>
                  <a:endParaRPr lang="zh-CN" altLang="en-US" sz="1400" dirty="0">
                    <a:solidFill>
                      <a:srgbClr val="92D050"/>
                    </a:solidFill>
                  </a:endParaRPr>
                </a:p>
              </p:txBody>
            </p:sp>
          </mc:Choice>
          <mc:Fallback xmlns="">
            <p:sp>
              <p:nvSpPr>
                <p:cNvPr id="18" name="文本框 17">
                  <a:extLst>
                    <a:ext uri="{FF2B5EF4-FFF2-40B4-BE49-F238E27FC236}">
                      <a16:creationId xmlns:a16="http://schemas.microsoft.com/office/drawing/2014/main" id="{14D939C5-2258-0CAE-AD31-8AAB2EABD6C7}"/>
                    </a:ext>
                  </a:extLst>
                </p:cNvPr>
                <p:cNvSpPr txBox="1">
                  <a:spLocks noRot="1" noChangeAspect="1" noMove="1" noResize="1" noEditPoints="1" noAdjustHandles="1" noChangeArrowheads="1" noChangeShapeType="1" noTextEdit="1"/>
                </p:cNvSpPr>
                <p:nvPr/>
              </p:nvSpPr>
              <p:spPr>
                <a:xfrm>
                  <a:off x="10295266" y="2242512"/>
                  <a:ext cx="1179012" cy="307777"/>
                </a:xfrm>
                <a:prstGeom prst="rect">
                  <a:avLst/>
                </a:prstGeom>
                <a:blipFill>
                  <a:blip r:embed="rId10"/>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2989520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6BB42F-AFF6-B8DE-544E-56A5B30772E2}"/>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976CFE7D-946F-1478-094C-4D7C43FD98FE}"/>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基于微表面理论的</a:t>
            </a:r>
            <a:r>
              <a:rPr lang="en-US" altLang="zh-CN" dirty="0"/>
              <a:t>BSDF</a:t>
            </a:r>
          </a:p>
        </p:txBody>
      </p:sp>
      <p:sp>
        <p:nvSpPr>
          <p:cNvPr id="63" name="矩形 62">
            <a:extLst>
              <a:ext uri="{FF2B5EF4-FFF2-40B4-BE49-F238E27FC236}">
                <a16:creationId xmlns:a16="http://schemas.microsoft.com/office/drawing/2014/main" id="{023AEBCF-3BC0-CE32-9EFD-CF291046FD01}"/>
              </a:ext>
            </a:extLst>
          </p:cNvPr>
          <p:cNvSpPr/>
          <p:nvPr/>
        </p:nvSpPr>
        <p:spPr>
          <a:xfrm>
            <a:off x="1789764" y="1315233"/>
            <a:ext cx="9116227"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B122E40C-D8F5-515A-347A-E70E72DF96D2}"/>
                  </a:ext>
                </a:extLst>
              </p:cNvPr>
              <p:cNvSpPr/>
              <p:nvPr/>
            </p:nvSpPr>
            <p:spPr>
              <a:xfrm>
                <a:off x="1637364" y="1144044"/>
                <a:ext cx="9116227"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zh-CN" altLang="en-US" sz="1400" i="1" dirty="0" smtClean="0">
                          <a:solidFill>
                            <a:schemeClr val="tx1"/>
                          </a:solidFill>
                          <a:latin typeface="Cambria Math" panose="02040503050406030204" pitchFamily="18" charset="0"/>
                        </a:rPr>
                        <m:t>微面</m:t>
                      </m:r>
                      <m:r>
                        <m:rPr>
                          <m:sty m:val="p"/>
                        </m:rPr>
                        <a:rPr lang="en-US" altLang="zh-CN" sz="1400" i="1" dirty="0">
                          <a:solidFill>
                            <a:schemeClr val="tx1"/>
                          </a:solidFill>
                          <a:latin typeface="Cambria Math" panose="02040503050406030204" pitchFamily="18" charset="0"/>
                        </a:rPr>
                        <m:t>B</m:t>
                      </m:r>
                      <m:r>
                        <a:rPr lang="en-US" altLang="zh-CN" sz="1400" b="0" i="1" dirty="0" smtClean="0">
                          <a:solidFill>
                            <a:schemeClr val="tx1"/>
                          </a:solidFill>
                          <a:latin typeface="Cambria Math" panose="02040503050406030204" pitchFamily="18" charset="0"/>
                        </a:rPr>
                        <m:t>𝑆</m:t>
                      </m:r>
                      <m:r>
                        <m:rPr>
                          <m:sty m:val="p"/>
                        </m:rPr>
                        <a:rPr lang="en-US" altLang="zh-CN" sz="1400" i="1" dirty="0">
                          <a:solidFill>
                            <a:schemeClr val="tx1"/>
                          </a:solidFill>
                          <a:latin typeface="Cambria Math" panose="02040503050406030204" pitchFamily="18" charset="0"/>
                        </a:rPr>
                        <m:t>DF</m:t>
                      </m:r>
                      <m:r>
                        <a:rPr lang="zh-CN" altLang="en-US" sz="1400" i="1" dirty="0" smtClean="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𝑓</m:t>
                          </m:r>
                        </m:e>
                        <m:sub>
                          <m:r>
                            <a:rPr lang="en-US" altLang="zh-CN" sz="1400" i="1" dirty="0">
                              <a:solidFill>
                                <a:schemeClr val="tx1"/>
                              </a:solidFill>
                              <a:latin typeface="Cambria Math" panose="02040503050406030204" pitchFamily="18" charset="0"/>
                            </a:rPr>
                            <m:t>𝑚</m:t>
                          </m:r>
                        </m:sub>
                      </m:sSub>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𝑑</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𝐿</m:t>
                              </m:r>
                            </m:e>
                            <m:sub>
                              <m:r>
                                <a:rPr lang="en-US" altLang="zh-CN" sz="1400" i="1" dirty="0">
                                  <a:solidFill>
                                    <a:schemeClr val="tx1"/>
                                  </a:solidFill>
                                  <a:latin typeface="Cambria Math" panose="02040503050406030204" pitchFamily="18" charset="0"/>
                                </a:rPr>
                                <m:t>𝑜</m:t>
                              </m:r>
                            </m:sub>
                            <m:sup>
                              <m:r>
                                <a:rPr lang="en-US" altLang="zh-CN" sz="1400" b="1" i="1" dirty="0" smtClean="0">
                                  <a:solidFill>
                                    <a:schemeClr val="tx1"/>
                                  </a:solidFill>
                                  <a:latin typeface="Cambria Math" panose="02040503050406030204" pitchFamily="18" charset="0"/>
                                </a:rPr>
                                <m:t>𝒎</m:t>
                              </m:r>
                            </m:sup>
                          </m:sSub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e>
                          </m:d>
                        </m:num>
                        <m:den>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𝐸</m:t>
                              </m:r>
                            </m:e>
                            <m:sub>
                              <m:r>
                                <a:rPr lang="en-US" altLang="zh-CN" sz="1400" i="1" dirty="0">
                                  <a:solidFill>
                                    <a:schemeClr val="tx1"/>
                                  </a:solidFill>
                                  <a:latin typeface="Cambria Math" panose="02040503050406030204" pitchFamily="18" charset="0"/>
                                </a:rPr>
                                <m:t>𝑖</m:t>
                              </m:r>
                            </m:sub>
                          </m:sSub>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e>
                          </m:d>
                        </m:den>
                      </m:f>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𝑑</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𝐿</m:t>
                              </m:r>
                            </m:e>
                            <m:sub>
                              <m:r>
                                <a:rPr lang="en-US" altLang="zh-CN" sz="1400" i="1" dirty="0">
                                  <a:solidFill>
                                    <a:schemeClr val="tx1"/>
                                  </a:solidFill>
                                  <a:latin typeface="Cambria Math" panose="02040503050406030204" pitchFamily="18" charset="0"/>
                                </a:rPr>
                                <m:t>𝑜</m:t>
                              </m:r>
                            </m:sub>
                            <m:sup>
                              <m:r>
                                <a:rPr lang="en-US" altLang="zh-CN" sz="1400" b="1" i="1" dirty="0" smtClean="0">
                                  <a:solidFill>
                                    <a:schemeClr val="tx1"/>
                                  </a:solidFill>
                                  <a:latin typeface="Cambria Math" panose="02040503050406030204" pitchFamily="18" charset="0"/>
                                </a:rPr>
                                <m:t>𝒎</m:t>
                              </m:r>
                            </m:sup>
                          </m:sSub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e>
                          </m:d>
                        </m:num>
                        <m:den>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𝐿</m:t>
                              </m:r>
                            </m:e>
                            <m:sub>
                              <m:r>
                                <a:rPr lang="en-US" altLang="zh-CN" sz="1400" i="1" dirty="0">
                                  <a:solidFill>
                                    <a:schemeClr val="tx1"/>
                                  </a:solidFill>
                                  <a:latin typeface="Cambria Math" panose="02040503050406030204" pitchFamily="18" charset="0"/>
                                </a:rPr>
                                <m:t>𝑖</m:t>
                              </m:r>
                            </m:sub>
                          </m:sSub>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e>
                          </m:d>
                          <m:r>
                            <a:rPr lang="en-US" altLang="zh-CN" sz="1400" i="1" dirty="0">
                              <a:solidFill>
                                <a:schemeClr val="tx1"/>
                              </a:solidFill>
                              <a:latin typeface="Cambria Math" panose="02040503050406030204" pitchFamily="18" charset="0"/>
                            </a:rPr>
                            <m:t> </m:t>
                          </m:r>
                          <m:d>
                            <m:dPr>
                              <m:begChr m:val="|"/>
                              <m:endChr m:val="|"/>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𝑖</m:t>
                              </m:r>
                            </m:sub>
                          </m:sSub>
                        </m:den>
                      </m:f>
                      <m:r>
                        <a:rPr lang="en-US" altLang="zh-CN" sz="1400" b="0" i="1" dirty="0" smtClean="0">
                          <a:solidFill>
                            <a:schemeClr val="tx1"/>
                          </a:solidFill>
                          <a:latin typeface="Cambria Math" panose="02040503050406030204" pitchFamily="18" charset="0"/>
                        </a:rPr>
                        <m:t> </m:t>
                      </m:r>
                      <m:d>
                        <m:dPr>
                          <m:begChr m:val="["/>
                          <m:endChr m:val="]"/>
                          <m:ctrlPr>
                            <a:rPr lang="en-US" altLang="zh-CN" sz="1400" b="0" i="1" dirty="0" smtClean="0">
                              <a:solidFill>
                                <a:schemeClr val="tx1"/>
                              </a:solidFill>
                              <a:latin typeface="Cambria Math" panose="02040503050406030204" pitchFamily="18" charset="0"/>
                            </a:rPr>
                          </m:ctrlPr>
                        </m:dPr>
                        <m:e>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r>
                                <a:rPr lang="en-US" altLang="zh-CN" sz="1400" b="0" i="1" dirty="0" smtClean="0">
                                  <a:solidFill>
                                    <a:schemeClr val="tx1"/>
                                  </a:solidFill>
                                  <a:latin typeface="Cambria Math" panose="02040503050406030204" pitchFamily="18" charset="0"/>
                                </a:rPr>
                                <m:t>𝑠𝑟</m:t>
                              </m:r>
                            </m:den>
                          </m:f>
                        </m:e>
                      </m:d>
                    </m:oMath>
                  </m:oMathPara>
                </a14:m>
                <a:endParaRPr lang="en-US" altLang="zh-CN" sz="1400" dirty="0">
                  <a:solidFill>
                    <a:schemeClr val="tx1"/>
                  </a:solidFill>
                </a:endParaRPr>
              </a:p>
              <a:p>
                <a:pPr algn="ctr">
                  <a:lnSpc>
                    <a:spcPct val="130000"/>
                  </a:lnSpc>
                </a:pPr>
                <a14:m>
                  <m:oMathPara xmlns:m="http://schemas.openxmlformats.org/officeDocument/2006/math">
                    <m:oMathParaPr>
                      <m:jc m:val="centerGroup"/>
                    </m:oMathParaPr>
                    <m:oMath xmlns:m="http://schemas.openxmlformats.org/officeDocument/2006/math">
                      <m:r>
                        <a:rPr lang="zh-CN" altLang="en-US" sz="1400" b="0" i="1" dirty="0">
                          <a:solidFill>
                            <a:schemeClr val="tx1"/>
                          </a:solidFill>
                          <a:latin typeface="Cambria Math" panose="02040503050406030204" pitchFamily="18" charset="0"/>
                        </a:rPr>
                        <m:t>宏观表面</m:t>
                      </m:r>
                      <m:r>
                        <m:rPr>
                          <m:sty m:val="p"/>
                        </m:rPr>
                        <a:rPr lang="en-US" altLang="zh-CN" sz="1400" b="0" i="1" dirty="0">
                          <a:solidFill>
                            <a:schemeClr val="tx1"/>
                          </a:solidFill>
                          <a:latin typeface="Cambria Math" panose="02040503050406030204" pitchFamily="18" charset="0"/>
                        </a:rPr>
                        <m:t>B</m:t>
                      </m:r>
                      <m:r>
                        <a:rPr lang="en-US" altLang="zh-CN" sz="1400" b="0" i="1" dirty="0" smtClean="0">
                          <a:solidFill>
                            <a:schemeClr val="tx1"/>
                          </a:solidFill>
                          <a:latin typeface="Cambria Math" panose="02040503050406030204" pitchFamily="18" charset="0"/>
                        </a:rPr>
                        <m:t>𝑆</m:t>
                      </m:r>
                      <m:r>
                        <m:rPr>
                          <m:sty m:val="p"/>
                        </m:rPr>
                        <a:rPr lang="en-US" altLang="zh-CN" sz="1400" b="0" i="1" dirty="0">
                          <a:solidFill>
                            <a:schemeClr val="tx1"/>
                          </a:solidFill>
                          <a:latin typeface="Cambria Math" panose="02040503050406030204" pitchFamily="18" charset="0"/>
                        </a:rPr>
                        <m:t>DF</m:t>
                      </m:r>
                      <m:r>
                        <a:rPr lang="zh-CN" altLang="en-US" sz="140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𝑓</m:t>
                      </m:r>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b="0"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𝒐</m:t>
                          </m:r>
                          <m:r>
                            <a:rPr lang="en-US" altLang="zh-CN" sz="1400" b="0"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𝐿</m:t>
                              </m:r>
                            </m:e>
                            <m:sub>
                              <m:r>
                                <a:rPr lang="en-US" altLang="zh-CN" sz="1400" b="0" i="1" dirty="0" smtClean="0">
                                  <a:solidFill>
                                    <a:schemeClr val="tx1"/>
                                  </a:solidFill>
                                  <a:latin typeface="Cambria Math" panose="02040503050406030204" pitchFamily="18" charset="0"/>
                                </a:rPr>
                                <m:t>𝑜</m:t>
                              </m:r>
                            </m:sub>
                          </m:sSub>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e>
                          </m:d>
                        </m:num>
                        <m:den>
                          <m:r>
                            <a:rPr lang="en-US" altLang="zh-CN" sz="1400" b="0" i="1" dirty="0" smtClean="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𝐸</m:t>
                              </m:r>
                            </m:e>
                            <m:sub>
                              <m:r>
                                <a:rPr lang="en-US" altLang="zh-CN" sz="1400" b="0" i="1" dirty="0" smtClean="0">
                                  <a:solidFill>
                                    <a:schemeClr val="tx1"/>
                                  </a:solidFill>
                                  <a:latin typeface="Cambria Math" panose="02040503050406030204" pitchFamily="18" charset="0"/>
                                </a:rPr>
                                <m:t>𝑖</m:t>
                              </m:r>
                            </m:sub>
                          </m:sSub>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𝒈</m:t>
                              </m:r>
                            </m:e>
                          </m:d>
                        </m:den>
                      </m:f>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𝐿</m:t>
                              </m:r>
                            </m:e>
                            <m:sub>
                              <m:r>
                                <a:rPr lang="en-US" altLang="zh-CN" sz="1400" i="1" dirty="0">
                                  <a:solidFill>
                                    <a:schemeClr val="tx1"/>
                                  </a:solidFill>
                                  <a:latin typeface="Cambria Math" panose="02040503050406030204" pitchFamily="18" charset="0"/>
                                </a:rPr>
                                <m:t>𝑜</m:t>
                              </m:r>
                            </m:sub>
                          </m:sSub>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e>
                          </m:d>
                        </m:num>
                        <m:den>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𝐿</m:t>
                              </m:r>
                            </m:e>
                            <m:sub>
                              <m:r>
                                <a:rPr lang="en-US" altLang="zh-CN" sz="1400" b="0" i="1" dirty="0" smtClean="0">
                                  <a:solidFill>
                                    <a:schemeClr val="tx1"/>
                                  </a:solidFill>
                                  <a:latin typeface="Cambria Math" panose="02040503050406030204" pitchFamily="18" charset="0"/>
                                </a:rPr>
                                <m:t>𝑖</m:t>
                              </m:r>
                            </m:sub>
                          </m:sSub>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e>
                          </m:d>
                          <m:r>
                            <a:rPr lang="en-US" altLang="zh-CN" sz="1400" b="0" i="1" dirty="0" smtClean="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𝑖</m:t>
                              </m:r>
                            </m:sub>
                          </m:sSub>
                        </m:den>
                      </m:f>
                      <m:r>
                        <a:rPr lang="en-US" altLang="zh-CN" sz="1400" b="0" i="1" dirty="0" smtClean="0">
                          <a:solidFill>
                            <a:schemeClr val="tx1"/>
                          </a:solidFill>
                          <a:latin typeface="Cambria Math" panose="02040503050406030204" pitchFamily="18" charset="0"/>
                        </a:rPr>
                        <m:t> </m:t>
                      </m:r>
                      <m:d>
                        <m:dPr>
                          <m:begChr m:val="["/>
                          <m:endChr m:val="]"/>
                          <m:ctrlPr>
                            <a:rPr lang="en-US" altLang="zh-CN" sz="1400" b="0" i="1" dirty="0" smtClean="0">
                              <a:solidFill>
                                <a:schemeClr val="tx1"/>
                              </a:solidFill>
                              <a:latin typeface="Cambria Math" panose="02040503050406030204" pitchFamily="18" charset="0"/>
                            </a:rPr>
                          </m:ctrlPr>
                        </m:dPr>
                        <m:e>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r>
                                <a:rPr lang="en-US" altLang="zh-CN" sz="1400" b="0" i="1" dirty="0" smtClean="0">
                                  <a:solidFill>
                                    <a:schemeClr val="tx1"/>
                                  </a:solidFill>
                                  <a:latin typeface="Cambria Math" panose="02040503050406030204" pitchFamily="18" charset="0"/>
                                </a:rPr>
                                <m:t>𝑠𝑟</m:t>
                              </m:r>
                            </m:den>
                          </m:f>
                        </m:e>
                      </m:d>
                    </m:oMath>
                  </m:oMathPara>
                </a14:m>
                <a:endParaRPr lang="en-US" altLang="zh-CN" sz="1400" b="0" dirty="0">
                  <a:solidFill>
                    <a:schemeClr val="tx1"/>
                  </a:solidFill>
                </a:endParaRPr>
              </a:p>
              <a:p>
                <a:pPr algn="ctr">
                  <a:lnSpc>
                    <a:spcPct val="13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𝑑</m:t>
                      </m:r>
                      <m:sSubSup>
                        <m:sSubSupPr>
                          <m:ctrlPr>
                            <a:rPr lang="en-US" altLang="zh-CN" sz="1400" b="0" i="1" dirty="0" smtClean="0">
                              <a:solidFill>
                                <a:schemeClr val="tx1"/>
                              </a:solidFill>
                              <a:latin typeface="Cambria Math" panose="02040503050406030204" pitchFamily="18" charset="0"/>
                            </a:rPr>
                          </m:ctrlPr>
                        </m:sSubSupPr>
                        <m:e>
                          <m:r>
                            <a:rPr lang="en-US" altLang="zh-CN" sz="1400" b="0" i="1" dirty="0" smtClean="0">
                              <a:solidFill>
                                <a:schemeClr val="tx1"/>
                              </a:solidFill>
                              <a:latin typeface="Cambria Math" panose="02040503050406030204" pitchFamily="18" charset="0"/>
                            </a:rPr>
                            <m:t>𝐿</m:t>
                          </m:r>
                        </m:e>
                        <m:sub>
                          <m:r>
                            <a:rPr lang="en-US" altLang="zh-CN" sz="1400" b="0" i="1" dirty="0" smtClean="0">
                              <a:solidFill>
                                <a:schemeClr val="tx1"/>
                              </a:solidFill>
                              <a:latin typeface="Cambria Math" panose="02040503050406030204" pitchFamily="18" charset="0"/>
                            </a:rPr>
                            <m:t>𝑜</m:t>
                          </m:r>
                        </m:sub>
                        <m:sup>
                          <m:r>
                            <a:rPr lang="en-US" altLang="zh-CN" sz="1400" b="1" i="1" dirty="0" smtClean="0">
                              <a:solidFill>
                                <a:schemeClr val="tx1"/>
                              </a:solidFill>
                              <a:latin typeface="Cambria Math" panose="02040503050406030204" pitchFamily="18" charset="0"/>
                            </a:rPr>
                            <m:t>𝒎</m:t>
                          </m:r>
                        </m:sup>
                      </m:sSubSup>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e>
                      </m:d>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𝑣𝑠</m:t>
                      </m:r>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𝐿</m:t>
                          </m:r>
                        </m:e>
                        <m:sub>
                          <m:r>
                            <a:rPr lang="en-US" altLang="zh-CN" sz="1400" b="0" i="1" dirty="0" smtClean="0">
                              <a:solidFill>
                                <a:schemeClr val="tx1"/>
                              </a:solidFill>
                              <a:latin typeface="Cambria Math" panose="02040503050406030204" pitchFamily="18" charset="0"/>
                            </a:rPr>
                            <m:t>𝑖</m:t>
                          </m:r>
                        </m:sub>
                      </m:sSub>
                      <m:r>
                        <a:rPr lang="en-US" altLang="zh-CN" sz="1400" b="0"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𝒊</m:t>
                      </m:r>
                      <m:r>
                        <a:rPr lang="en-US" altLang="zh-CN" sz="1400" b="1" i="1" dirty="0" smtClean="0">
                          <a:solidFill>
                            <a:schemeClr val="tx1"/>
                          </a:solidFill>
                          <a:latin typeface="Cambria Math" panose="02040503050406030204" pitchFamily="18" charset="0"/>
                        </a:rPr>
                        <m:t>)</m:t>
                      </m:r>
                      <m:r>
                        <a:rPr lang="zh-CN" altLang="en-US" sz="1400" b="0" i="1" dirty="0">
                          <a:solidFill>
                            <a:schemeClr val="tx1"/>
                          </a:solidFill>
                          <a:latin typeface="Cambria Math" panose="02040503050406030204" pitchFamily="18" charset="0"/>
                        </a:rPr>
                        <m:t>：</m:t>
                      </m:r>
                      <m:r>
                        <a:rPr lang="zh-CN" altLang="en-US" sz="1400" i="1" dirty="0" smtClean="0">
                          <a:solidFill>
                            <a:schemeClr val="tx1"/>
                          </a:solidFill>
                          <a:latin typeface="Cambria Math" panose="02040503050406030204" pitchFamily="18" charset="0"/>
                        </a:rPr>
                        <m:t>朝向</m:t>
                      </m:r>
                      <m:r>
                        <m:rPr>
                          <m:nor/>
                        </m:rPr>
                        <a:rPr lang="zh-CN" altLang="en-US" sz="1400" dirty="0">
                          <a:solidFill>
                            <a:schemeClr val="tx1"/>
                          </a:solidFill>
                        </a:rPr>
                        <m:t>不同的微表面对</m:t>
                      </m:r>
                      <m:r>
                        <a:rPr lang="en-US" altLang="zh-CN" sz="1400" b="1" i="1" dirty="0" smtClean="0">
                          <a:solidFill>
                            <a:schemeClr val="tx1"/>
                          </a:solidFill>
                          <a:latin typeface="Cambria Math" panose="02040503050406030204" pitchFamily="18" charset="0"/>
                        </a:rPr>
                        <m:t>𝒐</m:t>
                      </m:r>
                      <m:r>
                        <a:rPr lang="zh-CN" altLang="en-US" sz="1400" b="1" i="1" dirty="0">
                          <a:solidFill>
                            <a:schemeClr val="tx1"/>
                          </a:solidFill>
                          <a:latin typeface="Cambria Math" panose="02040503050406030204" pitchFamily="18" charset="0"/>
                        </a:rPr>
                        <m:t>方向</m:t>
                      </m:r>
                      <m:r>
                        <a:rPr lang="zh-CN" altLang="en-US" sz="1400" b="1" i="1" dirty="0" smtClean="0">
                          <a:solidFill>
                            <a:schemeClr val="tx1"/>
                          </a:solidFill>
                          <a:latin typeface="Cambria Math" panose="02040503050406030204" pitchFamily="18" charset="0"/>
                        </a:rPr>
                        <m:t>的</m:t>
                      </m:r>
                      <m:r>
                        <a:rPr lang="zh-CN" altLang="en-US" sz="1400" b="1" i="1" dirty="0">
                          <a:solidFill>
                            <a:schemeClr val="tx1"/>
                          </a:solidFill>
                          <a:latin typeface="Cambria Math" panose="02040503050406030204" pitchFamily="18" charset="0"/>
                        </a:rPr>
                        <m:t>出射</m:t>
                      </m:r>
                      <m:r>
                        <m:rPr>
                          <m:sty m:val="p"/>
                        </m:rPr>
                        <a:rPr lang="en-US" altLang="zh-CN" sz="1400" b="1" i="1" dirty="0">
                          <a:solidFill>
                            <a:schemeClr val="tx1"/>
                          </a:solidFill>
                          <a:latin typeface="Cambria Math" panose="02040503050406030204" pitchFamily="18" charset="0"/>
                        </a:rPr>
                        <m:t>Radiance</m:t>
                      </m:r>
                      <m:r>
                        <a:rPr lang="zh-CN" altLang="en-US" sz="1400" b="1" i="1" dirty="0">
                          <a:solidFill>
                            <a:schemeClr val="tx1"/>
                          </a:solidFill>
                          <a:latin typeface="Cambria Math" panose="02040503050406030204" pitchFamily="18" charset="0"/>
                        </a:rPr>
                        <m:t>可能不同</m:t>
                      </m:r>
                      <m:r>
                        <a:rPr lang="zh-CN" altLang="en-US" sz="1400" b="1" i="1" dirty="0" smtClean="0">
                          <a:solidFill>
                            <a:schemeClr val="tx1"/>
                          </a:solidFill>
                          <a:latin typeface="Cambria Math" panose="02040503050406030204" pitchFamily="18" charset="0"/>
                        </a:rPr>
                        <m:t>，</m:t>
                      </m:r>
                      <m:r>
                        <a:rPr lang="zh-CN" altLang="en-US" sz="1400" b="1" i="1" dirty="0">
                          <a:solidFill>
                            <a:schemeClr val="tx1"/>
                          </a:solidFill>
                          <a:latin typeface="Cambria Math" panose="02040503050406030204" pitchFamily="18" charset="0"/>
                        </a:rPr>
                        <m:t>但他们的</m:t>
                      </m:r>
                      <m:r>
                        <a:rPr lang="zh-CN" altLang="en-US" sz="1400" b="1" i="1" dirty="0" smtClean="0">
                          <a:solidFill>
                            <a:schemeClr val="tx1"/>
                          </a:solidFill>
                          <a:latin typeface="Cambria Math" panose="02040503050406030204" pitchFamily="18" charset="0"/>
                        </a:rPr>
                        <m:t>入射</m:t>
                      </m:r>
                      <m:r>
                        <m:rPr>
                          <m:sty m:val="p"/>
                        </m:rPr>
                        <a:rPr lang="en-US" altLang="zh-CN" sz="1400" b="1" i="1" dirty="0">
                          <a:solidFill>
                            <a:schemeClr val="tx1"/>
                          </a:solidFill>
                          <a:latin typeface="Cambria Math" panose="02040503050406030204" pitchFamily="18" charset="0"/>
                        </a:rPr>
                        <m:t>Radiance</m:t>
                      </m:r>
                      <m:r>
                        <a:rPr lang="zh-CN" altLang="en-US" sz="1400" b="1" i="1" dirty="0">
                          <a:solidFill>
                            <a:schemeClr val="tx1"/>
                          </a:solidFill>
                          <a:latin typeface="Cambria Math" panose="02040503050406030204" pitchFamily="18" charset="0"/>
                        </a:rPr>
                        <m:t>是</m:t>
                      </m:r>
                      <m:r>
                        <a:rPr lang="zh-CN" altLang="en-US" sz="1400" b="1" i="1" dirty="0" smtClean="0">
                          <a:solidFill>
                            <a:schemeClr val="tx1"/>
                          </a:solidFill>
                          <a:latin typeface="Cambria Math" panose="02040503050406030204" pitchFamily="18" charset="0"/>
                        </a:rPr>
                        <m:t>相同的</m:t>
                      </m:r>
                    </m:oMath>
                  </m:oMathPara>
                </a14:m>
                <a:endParaRPr lang="en-US" altLang="zh-CN" sz="1400" b="0" dirty="0">
                  <a:solidFill>
                    <a:schemeClr val="tx1"/>
                  </a:solidFill>
                </a:endParaRPr>
              </a:p>
              <a:p>
                <a:pPr algn="ctr">
                  <a:lnSpc>
                    <a:spcPct val="130000"/>
                  </a:lnSpc>
                </a:pPr>
                <a14:m>
                  <m:oMathPara xmlns:m="http://schemas.openxmlformats.org/officeDocument/2006/math">
                    <m:oMathParaPr>
                      <m:jc m:val="centerGroup"/>
                    </m:oMathParaPr>
                    <m:oMath xmlns:m="http://schemas.openxmlformats.org/officeDocument/2006/math">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𝐿</m:t>
                          </m:r>
                        </m:e>
                        <m:sub>
                          <m:r>
                            <a:rPr lang="en-US" altLang="zh-CN" sz="1400" b="0" i="1" dirty="0" smtClean="0">
                              <a:solidFill>
                                <a:schemeClr val="tx1"/>
                              </a:solidFill>
                              <a:latin typeface="Cambria Math" panose="02040503050406030204" pitchFamily="18" charset="0"/>
                            </a:rPr>
                            <m:t>𝑜</m:t>
                          </m:r>
                        </m:sub>
                      </m:sSub>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e>
                      </m:d>
                      <m:r>
                        <a:rPr lang="en-US" altLang="zh-CN" sz="1400" b="0" i="1" dirty="0" smtClean="0">
                          <a:solidFill>
                            <a:schemeClr val="tx1"/>
                          </a:solidFill>
                          <a:latin typeface="Cambria Math" panose="02040503050406030204" pitchFamily="18" charset="0"/>
                        </a:rPr>
                        <m:t>=</m:t>
                      </m:r>
                      <m:nary>
                        <m:naryPr>
                          <m:supHide m:val="on"/>
                          <m:ctrlPr>
                            <a:rPr lang="en-US" altLang="zh-CN" sz="1400" b="0" i="1" dirty="0" smtClean="0">
                              <a:solidFill>
                                <a:schemeClr val="tx1"/>
                              </a:solidFill>
                              <a:latin typeface="Cambria Math" panose="02040503050406030204" pitchFamily="18" charset="0"/>
                            </a:rPr>
                          </m:ctrlPr>
                        </m:naryPr>
                        <m:sub>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𝐻</m:t>
                              </m:r>
                            </m:e>
                            <m:sup>
                              <m:r>
                                <a:rPr lang="en-US" altLang="zh-CN" sz="1400" b="0" i="1" dirty="0" smtClean="0">
                                  <a:solidFill>
                                    <a:schemeClr val="tx1"/>
                                  </a:solidFill>
                                  <a:latin typeface="Cambria Math" panose="02040503050406030204" pitchFamily="18" charset="0"/>
                                </a:rPr>
                                <m:t>2</m:t>
                              </m:r>
                            </m:sup>
                          </m:sSup>
                        </m:sub>
                        <m:sup/>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𝐿</m:t>
                              </m:r>
                            </m:e>
                            <m:sub>
                              <m:r>
                                <a:rPr lang="en-US" altLang="zh-CN" sz="1400" i="1" dirty="0">
                                  <a:solidFill>
                                    <a:schemeClr val="tx1"/>
                                  </a:solidFill>
                                  <a:latin typeface="Cambria Math" panose="02040503050406030204" pitchFamily="18" charset="0"/>
                                </a:rPr>
                                <m:t>𝑜</m:t>
                              </m:r>
                            </m:sub>
                            <m:sup>
                              <m:r>
                                <a:rPr lang="en-US" altLang="zh-CN" sz="1400" b="1" i="1" dirty="0" smtClean="0">
                                  <a:solidFill>
                                    <a:schemeClr val="tx1"/>
                                  </a:solidFill>
                                  <a:latin typeface="Cambria Math" panose="02040503050406030204" pitchFamily="18" charset="0"/>
                                </a:rPr>
                                <m:t>𝒎</m:t>
                              </m:r>
                            </m:sup>
                          </m:sSub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e>
                          </m:d>
                          <m:r>
                            <a:rPr lang="en-US" altLang="zh-CN" sz="1400" b="0" i="1" dirty="0" smtClean="0">
                              <a:solidFill>
                                <a:schemeClr val="tx1"/>
                              </a:solidFill>
                              <a:latin typeface="Cambria Math" panose="02040503050406030204" pitchFamily="18" charset="0"/>
                            </a:rPr>
                            <m:t> </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𝐷</m:t>
                              </m:r>
                            </m:e>
                            <m:sub>
                              <m:r>
                                <a:rPr lang="en-US" altLang="zh-CN" sz="1400" b="0" i="1" dirty="0" smtClean="0">
                                  <a:solidFill>
                                    <a:schemeClr val="tx1"/>
                                  </a:solidFill>
                                  <a:latin typeface="Cambria Math" panose="02040503050406030204" pitchFamily="18" charset="0"/>
                                </a:rPr>
                                <m:t>𝑣</m:t>
                              </m:r>
                            </m:sub>
                          </m:sSub>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b="1"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m:rPr>
                                  <m:sty m:val="p"/>
                                </m:rPr>
                                <a:rPr lang="en-US" altLang="zh-CN" sz="1400" i="1" dirty="0">
                                  <a:solidFill>
                                    <a:schemeClr val="tx1"/>
                                  </a:solidFill>
                                  <a:latin typeface="Cambria Math" panose="02040503050406030204" pitchFamily="18" charset="0"/>
                                </a:rPr>
                                <m:t>m</m:t>
                              </m:r>
                            </m:sub>
                          </m:sSub>
                        </m:e>
                      </m:nary>
                      <m:r>
                        <a:rPr lang="en-US" altLang="zh-CN" sz="1400" b="0" i="1" dirty="0" smtClean="0">
                          <a:solidFill>
                            <a:schemeClr val="tx1"/>
                          </a:solidFill>
                          <a:latin typeface="Cambria Math" panose="02040503050406030204" pitchFamily="18" charset="0"/>
                        </a:rPr>
                        <m:t> </m:t>
                      </m:r>
                      <m:d>
                        <m:dPr>
                          <m:begChr m:val="["/>
                          <m:endChr m:val="]"/>
                          <m:ctrlPr>
                            <a:rPr lang="en-US" altLang="zh-CN" sz="1400" b="0" i="1" dirty="0" smtClean="0">
                              <a:solidFill>
                                <a:schemeClr val="tx1"/>
                              </a:solidFill>
                              <a:latin typeface="Cambria Math" panose="02040503050406030204" pitchFamily="18" charset="0"/>
                            </a:rPr>
                          </m:ctrlPr>
                        </m:dPr>
                        <m:e>
                          <m:r>
                            <m:rPr>
                              <m:sty m:val="p"/>
                            </m:rPr>
                            <a:rPr lang="en-US" altLang="zh-CN" sz="1400" b="0" i="0" dirty="0" smtClean="0">
                              <a:solidFill>
                                <a:schemeClr val="tx1"/>
                              </a:solidFill>
                              <a:latin typeface="Cambria Math" panose="02040503050406030204" pitchFamily="18" charset="0"/>
                            </a:rPr>
                            <m:t>nit</m:t>
                          </m:r>
                        </m:e>
                      </m:d>
                    </m:oMath>
                  </m:oMathPara>
                </a14:m>
                <a:endParaRPr lang="en-US" altLang="zh-CN" sz="1400" b="0" dirty="0">
                  <a:solidFill>
                    <a:schemeClr val="tx1"/>
                  </a:solidFill>
                </a:endParaRPr>
              </a:p>
              <a:p>
                <a:pPr algn="ctr">
                  <a:lnSpc>
                    <a:spcPct val="130000"/>
                  </a:lnSpc>
                </a:pPr>
                <a:r>
                  <a:rPr lang="zh-CN" altLang="en-US" sz="1400" b="0" dirty="0">
                    <a:solidFill>
                      <a:schemeClr val="tx1"/>
                    </a:solidFill>
                  </a:rPr>
                  <a:t>上式对入射立体角进行微分</a:t>
                </a:r>
                <a:r>
                  <a:rPr lang="zh-CN" altLang="en-US" sz="1400" dirty="0">
                    <a:solidFill>
                      <a:schemeClr val="tx1"/>
                    </a:solidFill>
                  </a:rPr>
                  <a:t>：</a:t>
                </a:r>
                <a:endParaRPr lang="en-US" altLang="zh-CN" sz="1400" dirty="0">
                  <a:solidFill>
                    <a:schemeClr val="tx1"/>
                  </a:solidFill>
                </a:endParaRPr>
              </a:p>
              <a:p>
                <a:pPr algn="ctr">
                  <a:lnSpc>
                    <a:spcPct val="13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𝐿</m:t>
                          </m:r>
                        </m:e>
                        <m:sub>
                          <m:r>
                            <a:rPr lang="en-US" altLang="zh-CN" sz="1400" b="0" i="1" dirty="0" smtClean="0">
                              <a:solidFill>
                                <a:schemeClr val="tx1"/>
                              </a:solidFill>
                              <a:latin typeface="Cambria Math" panose="02040503050406030204" pitchFamily="18" charset="0"/>
                            </a:rPr>
                            <m:t>𝑜</m:t>
                          </m:r>
                        </m:sub>
                      </m:sSub>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e>
                      </m:d>
                      <m:r>
                        <a:rPr lang="en-US" altLang="zh-CN" sz="1400" b="0" i="1" dirty="0" smtClean="0">
                          <a:solidFill>
                            <a:schemeClr val="tx1"/>
                          </a:solidFill>
                          <a:latin typeface="Cambria Math" panose="02040503050406030204" pitchFamily="18" charset="0"/>
                        </a:rPr>
                        <m:t>=</m:t>
                      </m:r>
                      <m:nary>
                        <m:naryPr>
                          <m:supHide m:val="on"/>
                          <m:ctrlPr>
                            <a:rPr lang="en-US" altLang="zh-CN" sz="1400" b="0" i="1" dirty="0" smtClean="0">
                              <a:solidFill>
                                <a:schemeClr val="tx1"/>
                              </a:solidFill>
                              <a:latin typeface="Cambria Math" panose="02040503050406030204" pitchFamily="18" charset="0"/>
                            </a:rPr>
                          </m:ctrlPr>
                        </m:naryPr>
                        <m:sub>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𝐻</m:t>
                              </m:r>
                            </m:e>
                            <m:sup>
                              <m:r>
                                <a:rPr lang="en-US" altLang="zh-CN" sz="1400" b="0" i="1" dirty="0" smtClean="0">
                                  <a:solidFill>
                                    <a:schemeClr val="tx1"/>
                                  </a:solidFill>
                                  <a:latin typeface="Cambria Math" panose="02040503050406030204" pitchFamily="18" charset="0"/>
                                </a:rPr>
                                <m:t>2</m:t>
                              </m:r>
                            </m:sup>
                          </m:sSup>
                        </m:sub>
                        <m:sup/>
                        <m:e>
                          <m:r>
                            <a:rPr lang="en-US" altLang="zh-CN" sz="1400" b="0" i="1" dirty="0" smtClean="0">
                              <a:solidFill>
                                <a:schemeClr val="tx1"/>
                              </a:solidFill>
                              <a:latin typeface="Cambria Math" panose="02040503050406030204" pitchFamily="18" charset="0"/>
                            </a:rPr>
                            <m:t>𝑑</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𝐿</m:t>
                              </m:r>
                            </m:e>
                            <m:sub>
                              <m:r>
                                <a:rPr lang="en-US" altLang="zh-CN" sz="1400" i="1" dirty="0">
                                  <a:solidFill>
                                    <a:schemeClr val="tx1"/>
                                  </a:solidFill>
                                  <a:latin typeface="Cambria Math" panose="02040503050406030204" pitchFamily="18" charset="0"/>
                                </a:rPr>
                                <m:t>𝑜</m:t>
                              </m:r>
                            </m:sub>
                            <m:sup>
                              <m:r>
                                <a:rPr lang="en-US" altLang="zh-CN" sz="1400" b="1" i="1" dirty="0" smtClean="0">
                                  <a:solidFill>
                                    <a:schemeClr val="tx1"/>
                                  </a:solidFill>
                                  <a:latin typeface="Cambria Math" panose="02040503050406030204" pitchFamily="18" charset="0"/>
                                </a:rPr>
                                <m:t>𝒎</m:t>
                              </m:r>
                            </m:sup>
                          </m:sSub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e>
                          </m:d>
                          <m:r>
                            <a:rPr lang="en-US" altLang="zh-CN" sz="1400" b="0" i="1" dirty="0" smtClean="0">
                              <a:solidFill>
                                <a:schemeClr val="tx1"/>
                              </a:solidFill>
                              <a:latin typeface="Cambria Math" panose="02040503050406030204" pitchFamily="18" charset="0"/>
                            </a:rPr>
                            <m:t> </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𝐷</m:t>
                              </m:r>
                            </m:e>
                            <m:sub>
                              <m:r>
                                <a:rPr lang="en-US" altLang="zh-CN" sz="1400" b="0" i="1" dirty="0" smtClean="0">
                                  <a:solidFill>
                                    <a:schemeClr val="tx1"/>
                                  </a:solidFill>
                                  <a:latin typeface="Cambria Math" panose="02040503050406030204" pitchFamily="18" charset="0"/>
                                </a:rPr>
                                <m:t>𝑣</m:t>
                              </m:r>
                            </m:sub>
                          </m:sSub>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b="1"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m:rPr>
                                  <m:sty m:val="p"/>
                                </m:rPr>
                                <a:rPr lang="en-US" altLang="zh-CN" sz="1400" i="1" dirty="0">
                                  <a:solidFill>
                                    <a:schemeClr val="tx1"/>
                                  </a:solidFill>
                                  <a:latin typeface="Cambria Math" panose="02040503050406030204" pitchFamily="18" charset="0"/>
                                </a:rPr>
                                <m:t>m</m:t>
                              </m:r>
                            </m:sub>
                          </m:sSub>
                        </m:e>
                      </m:nary>
                      <m:r>
                        <a:rPr lang="en-US" altLang="zh-CN" sz="1400" b="0" i="1" dirty="0" smtClean="0">
                          <a:solidFill>
                            <a:schemeClr val="tx1"/>
                          </a:solidFill>
                          <a:latin typeface="Cambria Math" panose="02040503050406030204" pitchFamily="18" charset="0"/>
                        </a:rPr>
                        <m:t> </m:t>
                      </m:r>
                      <m:d>
                        <m:dPr>
                          <m:begChr m:val="["/>
                          <m:endChr m:val="]"/>
                          <m:ctrlPr>
                            <a:rPr lang="en-US" altLang="zh-CN" sz="1400" b="0" i="1" dirty="0" smtClean="0">
                              <a:solidFill>
                                <a:schemeClr val="tx1"/>
                              </a:solidFill>
                              <a:latin typeface="Cambria Math" panose="02040503050406030204" pitchFamily="18" charset="0"/>
                            </a:rPr>
                          </m:ctrlPr>
                        </m:dPr>
                        <m:e>
                          <m:r>
                            <m:rPr>
                              <m:sty m:val="p"/>
                            </m:rPr>
                            <a:rPr lang="en-US" altLang="zh-CN" sz="1400" b="0" i="0" dirty="0" smtClean="0">
                              <a:solidFill>
                                <a:schemeClr val="tx1"/>
                              </a:solidFill>
                              <a:latin typeface="Cambria Math" panose="02040503050406030204" pitchFamily="18" charset="0"/>
                            </a:rPr>
                            <m:t>nit</m:t>
                          </m:r>
                        </m:e>
                      </m:d>
                    </m:oMath>
                  </m:oMathPara>
                </a14:m>
                <a:endParaRPr lang="en-US" altLang="zh-CN" sz="1400" b="0" dirty="0">
                  <a:solidFill>
                    <a:schemeClr val="tx1"/>
                  </a:solidFill>
                </a:endParaRPr>
              </a:p>
              <a:p>
                <a:pPr algn="ctr">
                  <a:lnSpc>
                    <a:spcPct val="13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𝑓</m:t>
                      </m:r>
                      <m:d>
                        <m:dPr>
                          <m:ctrlPr>
                            <a:rPr lang="en-US" altLang="zh-CN" sz="1400" b="0" i="1" dirty="0" smtClean="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r>
                        <a:rPr lang="en-US" altLang="zh-CN" sz="1400" b="0" i="0" dirty="0" smtClean="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𝐿</m:t>
                          </m:r>
                        </m:e>
                        <m:sub>
                          <m:r>
                            <a:rPr lang="en-US" altLang="zh-CN" sz="1400" i="1" dirty="0">
                              <a:solidFill>
                                <a:schemeClr val="tx1"/>
                              </a:solidFill>
                              <a:latin typeface="Cambria Math" panose="02040503050406030204" pitchFamily="18" charset="0"/>
                            </a:rPr>
                            <m:t>𝑖</m:t>
                          </m:r>
                        </m:sub>
                      </m:sSub>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e>
                      </m:d>
                      <m:r>
                        <a:rPr lang="en-US" altLang="zh-CN" sz="1400" b="0" i="1" dirty="0" smtClean="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𝑖</m:t>
                          </m:r>
                        </m:sub>
                      </m:sSub>
                      <m:r>
                        <a:rPr lang="en-US" altLang="zh-CN" sz="1400" b="0" i="1" dirty="0" smtClean="0">
                          <a:solidFill>
                            <a:schemeClr val="tx1"/>
                          </a:solidFill>
                          <a:latin typeface="Cambria Math" panose="02040503050406030204" pitchFamily="18" charset="0"/>
                        </a:rPr>
                        <m:t>=</m:t>
                      </m:r>
                      <m:nary>
                        <m:naryPr>
                          <m:supHide m:val="on"/>
                          <m:ctrlPr>
                            <a:rPr lang="en-US" altLang="zh-CN" sz="1400" i="1" dirty="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𝑓</m:t>
                              </m:r>
                            </m:e>
                            <m:sub>
                              <m:r>
                                <a:rPr lang="en-US" altLang="zh-CN" sz="1400" i="1" dirty="0">
                                  <a:solidFill>
                                    <a:schemeClr val="tx1"/>
                                  </a:solidFill>
                                  <a:latin typeface="Cambria Math" panose="02040503050406030204" pitchFamily="18" charset="0"/>
                                </a:rPr>
                                <m:t>𝑚</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sSub>
                            <m:sSubPr>
                              <m:ctrlPr>
                                <a:rPr lang="en-US" altLang="zh-CN" sz="1400" i="1" dirty="0" smtClean="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𝐿</m:t>
                              </m:r>
                            </m:e>
                            <m:sub>
                              <m:r>
                                <a:rPr lang="en-US" altLang="zh-CN" sz="1400" i="1" dirty="0">
                                  <a:solidFill>
                                    <a:schemeClr val="tx1"/>
                                  </a:solidFill>
                                  <a:latin typeface="Cambria Math" panose="02040503050406030204" pitchFamily="18" charset="0"/>
                                </a:rPr>
                                <m:t>𝑖</m:t>
                              </m:r>
                            </m:sub>
                          </m:sSub>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e>
                          </m:d>
                          <m:r>
                            <a:rPr lang="en-US" altLang="zh-CN" sz="1400" b="0" i="1" dirty="0" smtClean="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𝑖</m:t>
                              </m:r>
                            </m:sub>
                          </m:sSub>
                          <m:r>
                            <a:rPr lang="en-US" altLang="zh-CN" sz="1400" b="0" i="1" dirty="0" smtClean="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𝐷</m:t>
                              </m:r>
                            </m:e>
                            <m:sub>
                              <m:r>
                                <a:rPr lang="en-US" altLang="zh-CN" sz="1400" i="1" dirty="0">
                                  <a:solidFill>
                                    <a:schemeClr val="tx1"/>
                                  </a:solidFill>
                                  <a:latin typeface="Cambria Math" panose="02040503050406030204" pitchFamily="18" charset="0"/>
                                </a:rPr>
                                <m:t>𝑣</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m:rPr>
                                  <m:sty m:val="p"/>
                                </m:rPr>
                                <a:rPr lang="en-US" altLang="zh-CN" sz="1400" i="1" dirty="0">
                                  <a:solidFill>
                                    <a:schemeClr val="tx1"/>
                                  </a:solidFill>
                                  <a:latin typeface="Cambria Math" panose="02040503050406030204" pitchFamily="18" charset="0"/>
                                </a:rPr>
                                <m:t>m</m:t>
                              </m:r>
                            </m:sub>
                          </m:sSub>
                          <m:r>
                            <a:rPr lang="en-US" altLang="zh-CN" sz="1400" b="0" i="1" dirty="0" smtClean="0">
                              <a:solidFill>
                                <a:schemeClr val="tx1"/>
                              </a:solidFill>
                              <a:latin typeface="Cambria Math" panose="02040503050406030204" pitchFamily="18" charset="0"/>
                            </a:rPr>
                            <m:t> </m:t>
                          </m:r>
                          <m:d>
                            <m:dPr>
                              <m:begChr m:val="["/>
                              <m:endChr m:val="]"/>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𝑛𝑖𝑡</m:t>
                              </m:r>
                            </m:e>
                          </m:d>
                        </m:e>
                      </m:nary>
                    </m:oMath>
                  </m:oMathPara>
                </a14:m>
                <a:endParaRPr lang="en-US" altLang="zh-CN" sz="1400" dirty="0">
                  <a:solidFill>
                    <a:schemeClr val="tx1"/>
                  </a:solidFill>
                </a:endParaRPr>
              </a:p>
              <a:p>
                <a:pPr algn="ctr">
                  <a:lnSpc>
                    <a:spcPct val="13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𝑓</m:t>
                      </m:r>
                      <m:d>
                        <m:dPr>
                          <m:ctrlPr>
                            <a:rPr lang="en-US" altLang="zh-CN" sz="1400" b="0" i="1" dirty="0" smtClean="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m:t>
                      </m:r>
                      <m:nary>
                        <m:naryPr>
                          <m:supHide m:val="on"/>
                          <m:ctrlPr>
                            <a:rPr lang="en-US" altLang="zh-CN" sz="1400" i="1" dirty="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𝑓</m:t>
                              </m:r>
                            </m:e>
                            <m:sub>
                              <m:r>
                                <a:rPr lang="en-US" altLang="zh-CN" sz="1400" i="1" dirty="0">
                                  <a:solidFill>
                                    <a:schemeClr val="tx1"/>
                                  </a:solidFill>
                                  <a:latin typeface="Cambria Math" panose="02040503050406030204" pitchFamily="18" charset="0"/>
                                </a:rPr>
                                <m:t>𝑚</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d>
                            <m:dPr>
                              <m:begChr m:val="|"/>
                              <m:endChr m:val="|"/>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𝐷</m:t>
                              </m:r>
                            </m:e>
                            <m:sub>
                              <m:r>
                                <a:rPr lang="en-US" altLang="zh-CN" sz="1400" i="1" dirty="0">
                                  <a:solidFill>
                                    <a:schemeClr val="tx1"/>
                                  </a:solidFill>
                                  <a:latin typeface="Cambria Math" panose="02040503050406030204" pitchFamily="18" charset="0"/>
                                </a:rPr>
                                <m:t>𝑣</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m:rPr>
                                  <m:sty m:val="p"/>
                                </m:rPr>
                                <a:rPr lang="en-US" altLang="zh-CN" sz="1400" i="1" dirty="0">
                                  <a:solidFill>
                                    <a:schemeClr val="tx1"/>
                                  </a:solidFill>
                                  <a:latin typeface="Cambria Math" panose="02040503050406030204" pitchFamily="18" charset="0"/>
                                </a:rPr>
                                <m:t>m</m:t>
                              </m:r>
                            </m:sub>
                          </m:sSub>
                        </m:e>
                      </m:nary>
                    </m:oMath>
                  </m:oMathPara>
                </a14:m>
                <a:endParaRPr lang="en-US" altLang="zh-CN" sz="1400" b="0" dirty="0">
                  <a:solidFill>
                    <a:schemeClr val="tx1"/>
                  </a:solidFill>
                </a:endParaRPr>
              </a:p>
              <a:p>
                <a:pPr algn="ctr">
                  <a:lnSpc>
                    <a:spcPct val="13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𝑓</m:t>
                      </m:r>
                      <m:d>
                        <m:dPr>
                          <m:ctrlPr>
                            <a:rPr lang="en-US" altLang="zh-CN" sz="1400" b="0" i="1" dirty="0" smtClean="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en>
                      </m:f>
                      <m:nary>
                        <m:naryPr>
                          <m:supHide m:val="on"/>
                          <m:ctrlPr>
                            <a:rPr lang="en-US" altLang="zh-CN" sz="1400" i="1" dirty="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𝑓</m:t>
                              </m:r>
                            </m:e>
                            <m:sub>
                              <m:r>
                                <a:rPr lang="en-US" altLang="zh-CN" sz="1400" i="1" dirty="0">
                                  <a:solidFill>
                                    <a:schemeClr val="tx1"/>
                                  </a:solidFill>
                                  <a:latin typeface="Cambria Math" panose="02040503050406030204" pitchFamily="18" charset="0"/>
                                </a:rPr>
                                <m:t>𝑚</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d>
                            <m:dPr>
                              <m:begChr m:val="|"/>
                              <m:endChr m:val="|"/>
                              <m:ctrlPr>
                                <a:rPr lang="en-US" altLang="zh-CN" sz="1400" b="0" i="1" dirty="0" smtClean="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smtClean="0">
                                          <a:solidFill>
                                            <a:schemeClr val="tx1"/>
                                          </a:solidFill>
                                          <a:latin typeface="Cambria Math" panose="02040503050406030204" pitchFamily="18" charset="0"/>
                                        </a:rPr>
                                      </m:ctrlPr>
                                    </m:sSupPr>
                                    <m:e>
                                      <m:r>
                                        <a:rPr lang="en-US" altLang="zh-CN" sz="1400" b="1" i="1" dirty="0" smtClean="0">
                                          <a:solidFill>
                                            <a:schemeClr val="tx1"/>
                                          </a:solidFill>
                                          <a:latin typeface="Cambria Math" panose="02040503050406030204" pitchFamily="18" charset="0"/>
                                        </a:rPr>
                                        <m:t>𝒐</m:t>
                                      </m:r>
                                    </m:e>
                                    <m:sup>
                                      <m:r>
                                        <a:rPr lang="en-US" altLang="zh-CN" sz="1400" b="1" i="1" dirty="0" smtClean="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num>
                            <m:den>
                              <m:d>
                                <m:dPr>
                                  <m:begChr m:val="|"/>
                                  <m:endChr m:val="|"/>
                                  <m:ctrlPr>
                                    <a:rPr lang="en-US" altLang="zh-CN" sz="1400" b="0" i="1" dirty="0" smtClean="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en>
                          </m:f>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m:rPr>
                                  <m:sty m:val="p"/>
                                </m:rPr>
                                <a:rPr lang="en-US" altLang="zh-CN" sz="1400" i="1" dirty="0">
                                  <a:solidFill>
                                    <a:schemeClr val="tx1"/>
                                  </a:solidFill>
                                  <a:latin typeface="Cambria Math" panose="02040503050406030204" pitchFamily="18" charset="0"/>
                                </a:rPr>
                                <m:t>m</m:t>
                              </m:r>
                            </m:sub>
                          </m:sSub>
                        </m:e>
                      </m:nary>
                    </m:oMath>
                  </m:oMathPara>
                </a14:m>
                <a:endParaRPr lang="en-US" altLang="zh-CN" sz="1400" dirty="0">
                  <a:solidFill>
                    <a:schemeClr val="tx1"/>
                  </a:solidFill>
                </a:endParaRPr>
              </a:p>
              <a:p>
                <a:pPr algn="ctr">
                  <a:lnSpc>
                    <a:spcPct val="13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𝑓</m:t>
                      </m:r>
                      <m:d>
                        <m:dPr>
                          <m:ctrlPr>
                            <a:rPr lang="en-US" altLang="zh-CN" sz="1400" b="0" i="1" dirty="0" smtClean="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en>
                      </m:f>
                      <m:r>
                        <a:rPr lang="en-US" altLang="zh-CN" sz="1400" b="0" i="1" dirty="0" smtClean="0">
                          <a:solidFill>
                            <a:schemeClr val="tx1"/>
                          </a:solidFill>
                          <a:latin typeface="Cambria Math" panose="02040503050406030204" pitchFamily="18" charset="0"/>
                        </a:rPr>
                        <m:t> </m:t>
                      </m:r>
                      <m:nary>
                        <m:naryPr>
                          <m:supHide m:val="on"/>
                          <m:ctrlPr>
                            <a:rPr lang="en-US" altLang="zh-CN" sz="1400" i="1" dirty="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𝑓</m:t>
                              </m:r>
                            </m:e>
                            <m:sub>
                              <m:r>
                                <a:rPr lang="en-US" altLang="zh-CN" sz="1400" i="1" dirty="0">
                                  <a:solidFill>
                                    <a:schemeClr val="tx1"/>
                                  </a:solidFill>
                                  <a:latin typeface="Cambria Math" panose="02040503050406030204" pitchFamily="18" charset="0"/>
                                </a:rPr>
                                <m:t>𝑚</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d>
                            <m:dPr>
                              <m:begChr m:val="|"/>
                              <m:endChr m:val="|"/>
                              <m:ctrlPr>
                                <a:rPr lang="en-US" altLang="zh-CN" sz="1400" b="0" i="1" dirty="0" smtClean="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m:rPr>
                                  <m:sty m:val="p"/>
                                </m:rPr>
                                <a:rPr lang="en-US" altLang="zh-CN" sz="1400" i="1" dirty="0">
                                  <a:solidFill>
                                    <a:schemeClr val="tx1"/>
                                  </a:solidFill>
                                  <a:latin typeface="Cambria Math" panose="02040503050406030204" pitchFamily="18" charset="0"/>
                                </a:rPr>
                                <m:t>m</m:t>
                              </m:r>
                            </m:sub>
                          </m:sSub>
                        </m:e>
                      </m:nary>
                    </m:oMath>
                  </m:oMathPara>
                </a14:m>
                <a:endParaRPr lang="en-US" altLang="zh-CN" sz="1400" b="0" dirty="0">
                  <a:solidFill>
                    <a:schemeClr val="tx1"/>
                  </a:solidFill>
                </a:endParaRPr>
              </a:p>
            </p:txBody>
          </p:sp>
        </mc:Choice>
        <mc:Fallback xmlns="">
          <p:sp>
            <p:nvSpPr>
              <p:cNvPr id="64" name="矩形 63">
                <a:extLst>
                  <a:ext uri="{FF2B5EF4-FFF2-40B4-BE49-F238E27FC236}">
                    <a16:creationId xmlns:a16="http://schemas.microsoft.com/office/drawing/2014/main" id="{B122E40C-D8F5-515A-347A-E70E72DF96D2}"/>
                  </a:ext>
                </a:extLst>
              </p:cNvPr>
              <p:cNvSpPr>
                <a:spLocks noRot="1" noChangeAspect="1" noMove="1" noResize="1" noEditPoints="1" noAdjustHandles="1" noChangeArrowheads="1" noChangeShapeType="1" noTextEdit="1"/>
              </p:cNvSpPr>
              <p:nvPr/>
            </p:nvSpPr>
            <p:spPr>
              <a:xfrm>
                <a:off x="1637364" y="1144044"/>
                <a:ext cx="9116227" cy="5402806"/>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693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13C5B-89A3-05E2-CF7A-58C4B038AA91}"/>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7D3291C3-8E44-1F74-AF8C-3B15A8CA5CE7}"/>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基于微表面理论的</a:t>
            </a:r>
            <a:r>
              <a:rPr lang="en-US" altLang="zh-CN" dirty="0"/>
              <a:t>BSDF</a:t>
            </a:r>
          </a:p>
        </p:txBody>
      </p:sp>
      <p:sp>
        <p:nvSpPr>
          <p:cNvPr id="36" name="矩形 35">
            <a:extLst>
              <a:ext uri="{FF2B5EF4-FFF2-40B4-BE49-F238E27FC236}">
                <a16:creationId xmlns:a16="http://schemas.microsoft.com/office/drawing/2014/main" id="{32ED5C3E-7D1D-42AD-3802-17D630D51B6F}"/>
              </a:ext>
            </a:extLst>
          </p:cNvPr>
          <p:cNvSpPr/>
          <p:nvPr/>
        </p:nvSpPr>
        <p:spPr>
          <a:xfrm>
            <a:off x="362259" y="1250096"/>
            <a:ext cx="6666930" cy="538674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EBB023A9-7877-639D-97FF-2175D34D8153}"/>
                  </a:ext>
                </a:extLst>
              </p:cNvPr>
              <p:cNvSpPr/>
              <p:nvPr/>
            </p:nvSpPr>
            <p:spPr>
              <a:xfrm>
                <a:off x="203596" y="1078907"/>
                <a:ext cx="6666930" cy="538674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14:m>
                  <m:oMathPara xmlns:m="http://schemas.openxmlformats.org/officeDocument/2006/math">
                    <m:oMathParaPr>
                      <m:jc m:val="centerGroup"/>
                    </m:oMathParaPr>
                    <m:oMath xmlns:m="http://schemas.openxmlformats.org/officeDocument/2006/math">
                      <m:r>
                        <a:rPr lang="en-US" altLang="zh-CN" sz="1100" i="1" dirty="0" smtClean="0">
                          <a:solidFill>
                            <a:schemeClr val="tx1"/>
                          </a:solidFill>
                          <a:latin typeface="Cambria Math" panose="02040503050406030204" pitchFamily="18" charset="0"/>
                        </a:rPr>
                        <m:t>𝑓</m:t>
                      </m:r>
                      <m:d>
                        <m:dPr>
                          <m:ctrlPr>
                            <a:rPr lang="en-US" altLang="zh-CN" sz="1100" i="1" dirty="0">
                              <a:solidFill>
                                <a:schemeClr val="tx1"/>
                              </a:solidFill>
                              <a:latin typeface="Cambria Math" panose="02040503050406030204" pitchFamily="18" charset="0"/>
                            </a:rPr>
                          </m:ctrlPr>
                        </m:dPr>
                        <m:e>
                          <m:r>
                            <a:rPr lang="en-US" altLang="zh-CN" sz="1100" b="1" i="1" dirty="0">
                              <a:solidFill>
                                <a:schemeClr val="tx1"/>
                              </a:solidFill>
                              <a:latin typeface="Cambria Math" panose="02040503050406030204" pitchFamily="18" charset="0"/>
                            </a:rPr>
                            <m:t>𝒊</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𝒐</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𝒈</m:t>
                          </m:r>
                        </m:e>
                      </m:d>
                      <m:r>
                        <a:rPr lang="en-US" altLang="zh-CN" sz="1100" i="1" dirty="0">
                          <a:solidFill>
                            <a:schemeClr val="tx1"/>
                          </a:solidFill>
                          <a:latin typeface="Cambria Math" panose="02040503050406030204" pitchFamily="18" charset="0"/>
                        </a:rPr>
                        <m:t>=</m:t>
                      </m:r>
                      <m:f>
                        <m:fPr>
                          <m:ctrlPr>
                            <a:rPr lang="en-US" altLang="zh-CN" sz="1100" i="1" dirty="0">
                              <a:solidFill>
                                <a:schemeClr val="tx1"/>
                              </a:solidFill>
                              <a:latin typeface="Cambria Math" panose="02040503050406030204" pitchFamily="18" charset="0"/>
                            </a:rPr>
                          </m:ctrlPr>
                        </m:fPr>
                        <m:num>
                          <m:r>
                            <a:rPr lang="en-US" altLang="zh-CN" sz="1100" i="1" dirty="0">
                              <a:solidFill>
                                <a:schemeClr val="tx1"/>
                              </a:solidFill>
                              <a:latin typeface="Cambria Math" panose="02040503050406030204" pitchFamily="18" charset="0"/>
                            </a:rPr>
                            <m:t>1</m:t>
                          </m:r>
                        </m:num>
                        <m:den>
                          <m:d>
                            <m:dPr>
                              <m:begChr m:val="|"/>
                              <m:endChr m:val="|"/>
                              <m:ctrlPr>
                                <a:rPr lang="en-US" altLang="zh-CN" sz="1100" i="1" dirty="0">
                                  <a:solidFill>
                                    <a:schemeClr val="tx1"/>
                                  </a:solidFill>
                                  <a:latin typeface="Cambria Math" panose="02040503050406030204" pitchFamily="18" charset="0"/>
                                </a:rPr>
                              </m:ctrlPr>
                            </m:dPr>
                            <m:e>
                              <m:r>
                                <a:rPr lang="en-US" altLang="zh-CN" sz="1100" b="1" i="1" dirty="0">
                                  <a:solidFill>
                                    <a:schemeClr val="tx1"/>
                                  </a:solidFill>
                                  <a:latin typeface="Cambria Math" panose="02040503050406030204" pitchFamily="18" charset="0"/>
                                </a:rPr>
                                <m:t>𝒊</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𝒈</m:t>
                              </m:r>
                            </m:e>
                          </m:d>
                          <m:d>
                            <m:dPr>
                              <m:begChr m:val="|"/>
                              <m:endChr m:val="|"/>
                              <m:ctrlPr>
                                <a:rPr lang="en-US" altLang="zh-CN" sz="1100" i="1" dirty="0">
                                  <a:solidFill>
                                    <a:schemeClr val="tx1"/>
                                  </a:solidFill>
                                  <a:latin typeface="Cambria Math" panose="02040503050406030204" pitchFamily="18" charset="0"/>
                                </a:rPr>
                              </m:ctrlPr>
                            </m:dPr>
                            <m:e>
                              <m:r>
                                <a:rPr lang="en-US" altLang="zh-CN" sz="1100" b="1" i="1" dirty="0">
                                  <a:solidFill>
                                    <a:schemeClr val="tx1"/>
                                  </a:solidFill>
                                  <a:latin typeface="Cambria Math" panose="02040503050406030204" pitchFamily="18" charset="0"/>
                                </a:rPr>
                                <m:t>𝒐</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𝒈</m:t>
                              </m:r>
                            </m:e>
                          </m:d>
                        </m:den>
                      </m:f>
                      <m:r>
                        <a:rPr lang="en-US" altLang="zh-CN" sz="1100" i="1" dirty="0">
                          <a:solidFill>
                            <a:schemeClr val="tx1"/>
                          </a:solidFill>
                          <a:latin typeface="Cambria Math" panose="02040503050406030204" pitchFamily="18" charset="0"/>
                        </a:rPr>
                        <m:t> </m:t>
                      </m:r>
                      <m:nary>
                        <m:naryPr>
                          <m:supHide m:val="on"/>
                          <m:ctrlPr>
                            <a:rPr lang="en-US" altLang="zh-CN" sz="1100" i="1" dirty="0">
                              <a:solidFill>
                                <a:schemeClr val="tx1"/>
                              </a:solidFill>
                              <a:latin typeface="Cambria Math" panose="02040503050406030204" pitchFamily="18" charset="0"/>
                            </a:rPr>
                          </m:ctrlPr>
                        </m:naryPr>
                        <m:sub>
                          <m:sSup>
                            <m:sSupPr>
                              <m:ctrlPr>
                                <a:rPr lang="en-US" altLang="zh-CN" sz="1100" i="1" dirty="0">
                                  <a:solidFill>
                                    <a:schemeClr val="tx1"/>
                                  </a:solidFill>
                                  <a:latin typeface="Cambria Math" panose="02040503050406030204" pitchFamily="18" charset="0"/>
                                </a:rPr>
                              </m:ctrlPr>
                            </m:sSupPr>
                            <m:e>
                              <m:r>
                                <a:rPr lang="en-US" altLang="zh-CN" sz="1100" i="1" dirty="0">
                                  <a:solidFill>
                                    <a:schemeClr val="tx1"/>
                                  </a:solidFill>
                                  <a:latin typeface="Cambria Math" panose="02040503050406030204" pitchFamily="18" charset="0"/>
                                </a:rPr>
                                <m:t>𝐻</m:t>
                              </m:r>
                            </m:e>
                            <m:sup>
                              <m:r>
                                <a:rPr lang="en-US" altLang="zh-CN" sz="1100" i="1" dirty="0">
                                  <a:solidFill>
                                    <a:schemeClr val="tx1"/>
                                  </a:solidFill>
                                  <a:latin typeface="Cambria Math" panose="02040503050406030204" pitchFamily="18" charset="0"/>
                                </a:rPr>
                                <m:t>2</m:t>
                              </m:r>
                            </m:sup>
                          </m:sSup>
                        </m:sub>
                        <m:sup/>
                        <m:e>
                          <m:sSub>
                            <m:sSubPr>
                              <m:ctrlPr>
                                <a:rPr lang="en-US" altLang="zh-CN" sz="1100" i="1" dirty="0">
                                  <a:solidFill>
                                    <a:schemeClr val="tx1"/>
                                  </a:solidFill>
                                  <a:latin typeface="Cambria Math" panose="02040503050406030204" pitchFamily="18" charset="0"/>
                                </a:rPr>
                              </m:ctrlPr>
                            </m:sSubPr>
                            <m:e>
                              <m:r>
                                <a:rPr lang="en-US" altLang="zh-CN" sz="1100" i="1" dirty="0">
                                  <a:solidFill>
                                    <a:schemeClr val="tx1"/>
                                  </a:solidFill>
                                  <a:latin typeface="Cambria Math" panose="02040503050406030204" pitchFamily="18" charset="0"/>
                                </a:rPr>
                                <m:t>𝑓</m:t>
                              </m:r>
                            </m:e>
                            <m:sub>
                              <m:r>
                                <a:rPr lang="en-US" altLang="zh-CN" sz="1100" i="1" dirty="0">
                                  <a:solidFill>
                                    <a:schemeClr val="tx1"/>
                                  </a:solidFill>
                                  <a:latin typeface="Cambria Math" panose="02040503050406030204" pitchFamily="18" charset="0"/>
                                </a:rPr>
                                <m:t>𝑚</m:t>
                              </m:r>
                            </m:sub>
                          </m:sSub>
                          <m:d>
                            <m:dPr>
                              <m:ctrlPr>
                                <a:rPr lang="en-US" altLang="zh-CN" sz="1100" i="1" dirty="0">
                                  <a:solidFill>
                                    <a:schemeClr val="tx1"/>
                                  </a:solidFill>
                                  <a:latin typeface="Cambria Math" panose="02040503050406030204" pitchFamily="18" charset="0"/>
                                </a:rPr>
                              </m:ctrlPr>
                            </m:dPr>
                            <m:e>
                              <m:r>
                                <a:rPr lang="en-US" altLang="zh-CN" sz="1100" b="1" i="1" dirty="0">
                                  <a:solidFill>
                                    <a:schemeClr val="tx1"/>
                                  </a:solidFill>
                                  <a:latin typeface="Cambria Math" panose="02040503050406030204" pitchFamily="18" charset="0"/>
                                </a:rPr>
                                <m:t>𝒊</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𝒐</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𝒎</m:t>
                              </m:r>
                            </m:e>
                          </m:d>
                          <m:r>
                            <a:rPr lang="en-US" altLang="zh-CN" sz="1100" i="1" dirty="0">
                              <a:solidFill>
                                <a:schemeClr val="tx1"/>
                              </a:solidFill>
                              <a:latin typeface="Cambria Math" panose="02040503050406030204" pitchFamily="18" charset="0"/>
                            </a:rPr>
                            <m:t> </m:t>
                          </m:r>
                          <m:d>
                            <m:dPr>
                              <m:begChr m:val="|"/>
                              <m:endChr m:val="|"/>
                              <m:ctrlPr>
                                <a:rPr lang="en-US" altLang="zh-CN" sz="1100" i="1" dirty="0">
                                  <a:solidFill>
                                    <a:schemeClr val="tx1"/>
                                  </a:solidFill>
                                  <a:latin typeface="Cambria Math" panose="02040503050406030204" pitchFamily="18" charset="0"/>
                                </a:rPr>
                              </m:ctrlPr>
                            </m:dPr>
                            <m:e>
                              <m:r>
                                <a:rPr lang="en-US" altLang="zh-CN" sz="1100" b="1" i="1" dirty="0">
                                  <a:solidFill>
                                    <a:schemeClr val="tx1"/>
                                  </a:solidFill>
                                  <a:latin typeface="Cambria Math" panose="02040503050406030204" pitchFamily="18" charset="0"/>
                                </a:rPr>
                                <m:t>𝒊</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𝒎</m:t>
                              </m:r>
                            </m:e>
                          </m:d>
                          <m:r>
                            <a:rPr lang="en-US" altLang="zh-CN" sz="1100" i="1" dirty="0">
                              <a:solidFill>
                                <a:schemeClr val="tx1"/>
                              </a:solidFill>
                              <a:latin typeface="Cambria Math" panose="02040503050406030204" pitchFamily="18" charset="0"/>
                            </a:rPr>
                            <m:t> </m:t>
                          </m:r>
                          <m:r>
                            <a:rPr lang="en-US" altLang="zh-CN" sz="1100" i="1" dirty="0">
                              <a:solidFill>
                                <a:schemeClr val="tx1"/>
                              </a:solidFill>
                              <a:latin typeface="Cambria Math" panose="02040503050406030204" pitchFamily="18" charset="0"/>
                            </a:rPr>
                            <m:t>𝐷</m:t>
                          </m:r>
                          <m:d>
                            <m:dPr>
                              <m:ctrlPr>
                                <a:rPr lang="en-US" altLang="zh-CN" sz="1100" i="1" dirty="0">
                                  <a:solidFill>
                                    <a:schemeClr val="tx1"/>
                                  </a:solidFill>
                                  <a:latin typeface="Cambria Math" panose="02040503050406030204" pitchFamily="18" charset="0"/>
                                </a:rPr>
                              </m:ctrlPr>
                            </m:dPr>
                            <m:e>
                              <m:r>
                                <a:rPr lang="en-US" altLang="zh-CN" sz="1100" b="1" i="1" dirty="0">
                                  <a:solidFill>
                                    <a:schemeClr val="tx1"/>
                                  </a:solidFill>
                                  <a:latin typeface="Cambria Math" panose="02040503050406030204" pitchFamily="18" charset="0"/>
                                </a:rPr>
                                <m:t>𝒎</m:t>
                              </m:r>
                            </m:e>
                          </m:d>
                          <m:r>
                            <a:rPr lang="en-US" altLang="zh-CN" sz="1100" i="1" dirty="0">
                              <a:solidFill>
                                <a:schemeClr val="tx1"/>
                              </a:solidFill>
                              <a:latin typeface="Cambria Math" panose="02040503050406030204" pitchFamily="18" charset="0"/>
                            </a:rPr>
                            <m:t> </m:t>
                          </m:r>
                          <m:d>
                            <m:dPr>
                              <m:begChr m:val="⟨"/>
                              <m:endChr m:val="⟩"/>
                              <m:ctrlPr>
                                <a:rPr lang="en-US" altLang="zh-CN" sz="1100" i="1" dirty="0">
                                  <a:solidFill>
                                    <a:schemeClr val="tx1"/>
                                  </a:solidFill>
                                  <a:latin typeface="Cambria Math" panose="02040503050406030204" pitchFamily="18" charset="0"/>
                                </a:rPr>
                              </m:ctrlPr>
                            </m:dPr>
                            <m:e>
                              <m:sSup>
                                <m:sSupPr>
                                  <m:ctrlPr>
                                    <a:rPr lang="en-US" altLang="zh-CN" sz="1100" b="1" i="1" dirty="0">
                                      <a:solidFill>
                                        <a:schemeClr val="tx1"/>
                                      </a:solidFill>
                                      <a:latin typeface="Cambria Math" panose="02040503050406030204" pitchFamily="18" charset="0"/>
                                    </a:rPr>
                                  </m:ctrlPr>
                                </m:sSupPr>
                                <m:e>
                                  <m:r>
                                    <a:rPr lang="en-US" altLang="zh-CN" sz="1100" b="1" i="1" dirty="0">
                                      <a:solidFill>
                                        <a:schemeClr val="tx1"/>
                                      </a:solidFill>
                                      <a:latin typeface="Cambria Math" panose="02040503050406030204" pitchFamily="18" charset="0"/>
                                    </a:rPr>
                                    <m:t>𝒐</m:t>
                                  </m:r>
                                </m:e>
                                <m:sup>
                                  <m:r>
                                    <a:rPr lang="en-US" altLang="zh-CN" sz="1100" b="1" i="1" dirty="0">
                                      <a:solidFill>
                                        <a:schemeClr val="tx1"/>
                                      </a:solidFill>
                                      <a:latin typeface="Cambria Math" panose="02040503050406030204" pitchFamily="18" charset="0"/>
                                    </a:rPr>
                                    <m:t>+</m:t>
                                  </m:r>
                                </m:sup>
                              </m:sSup>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𝒎</m:t>
                              </m:r>
                            </m:e>
                          </m:d>
                          <m:r>
                            <a:rPr lang="en-US" altLang="zh-CN" sz="1100" i="1" dirty="0">
                              <a:solidFill>
                                <a:schemeClr val="tx1"/>
                              </a:solidFill>
                              <a:latin typeface="Cambria Math" panose="02040503050406030204" pitchFamily="18" charset="0"/>
                            </a:rPr>
                            <m:t> </m:t>
                          </m:r>
                          <m:sSub>
                            <m:sSubPr>
                              <m:ctrlPr>
                                <a:rPr lang="en-US" altLang="zh-CN" sz="1100" i="1" dirty="0">
                                  <a:solidFill>
                                    <a:schemeClr val="tx1"/>
                                  </a:solidFill>
                                  <a:latin typeface="Cambria Math" panose="02040503050406030204" pitchFamily="18" charset="0"/>
                                </a:rPr>
                              </m:ctrlPr>
                            </m:sSubPr>
                            <m:e>
                              <m:r>
                                <a:rPr lang="en-US" altLang="zh-CN" sz="1100" i="1" dirty="0">
                                  <a:solidFill>
                                    <a:schemeClr val="tx1"/>
                                  </a:solidFill>
                                  <a:latin typeface="Cambria Math" panose="02040503050406030204" pitchFamily="18" charset="0"/>
                                </a:rPr>
                                <m:t>𝐺</m:t>
                              </m:r>
                            </m:e>
                            <m:sub>
                              <m:r>
                                <a:rPr lang="en-US" altLang="zh-CN" sz="1100" i="1" dirty="0">
                                  <a:solidFill>
                                    <a:schemeClr val="tx1"/>
                                  </a:solidFill>
                                  <a:latin typeface="Cambria Math" panose="02040503050406030204" pitchFamily="18" charset="0"/>
                                </a:rPr>
                                <m:t>1</m:t>
                              </m:r>
                            </m:sub>
                          </m:sSub>
                          <m:d>
                            <m:dPr>
                              <m:ctrlPr>
                                <a:rPr lang="en-US" altLang="zh-CN" sz="1100" i="1" dirty="0">
                                  <a:solidFill>
                                    <a:schemeClr val="tx1"/>
                                  </a:solidFill>
                                  <a:latin typeface="Cambria Math" panose="02040503050406030204" pitchFamily="18" charset="0"/>
                                </a:rPr>
                              </m:ctrlPr>
                            </m:dPr>
                            <m:e>
                              <m:r>
                                <a:rPr lang="en-US" altLang="zh-CN" sz="1100" b="1" i="1" dirty="0">
                                  <a:solidFill>
                                    <a:schemeClr val="tx1"/>
                                  </a:solidFill>
                                  <a:latin typeface="Cambria Math" panose="02040503050406030204" pitchFamily="18" charset="0"/>
                                </a:rPr>
                                <m:t>𝒐</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𝒎</m:t>
                              </m:r>
                            </m:e>
                          </m:d>
                          <m:r>
                            <a:rPr lang="en-US" altLang="zh-CN" sz="1100" i="1" dirty="0">
                              <a:solidFill>
                                <a:schemeClr val="tx1"/>
                              </a:solidFill>
                              <a:latin typeface="Cambria Math" panose="02040503050406030204" pitchFamily="18" charset="0"/>
                            </a:rPr>
                            <m:t> </m:t>
                          </m:r>
                          <m:r>
                            <a:rPr lang="en-US" altLang="zh-CN" sz="1100" i="1" dirty="0">
                              <a:solidFill>
                                <a:schemeClr val="tx1"/>
                              </a:solidFill>
                              <a:latin typeface="Cambria Math" panose="02040503050406030204" pitchFamily="18" charset="0"/>
                            </a:rPr>
                            <m:t>𝑑</m:t>
                          </m:r>
                          <m:sSub>
                            <m:sSubPr>
                              <m:ctrlPr>
                                <a:rPr lang="en-US" altLang="zh-CN" sz="1100" i="1" dirty="0">
                                  <a:solidFill>
                                    <a:schemeClr val="tx1"/>
                                  </a:solidFill>
                                  <a:latin typeface="Cambria Math" panose="02040503050406030204" pitchFamily="18" charset="0"/>
                                </a:rPr>
                              </m:ctrlPr>
                            </m:sSubPr>
                            <m:e>
                              <m:r>
                                <a:rPr lang="en-US" altLang="zh-CN" sz="1100" i="1" dirty="0">
                                  <a:solidFill>
                                    <a:schemeClr val="tx1"/>
                                  </a:solidFill>
                                  <a:latin typeface="Cambria Math" panose="02040503050406030204" pitchFamily="18" charset="0"/>
                                </a:rPr>
                                <m:t>𝜔</m:t>
                              </m:r>
                            </m:e>
                            <m:sub>
                              <m:r>
                                <m:rPr>
                                  <m:sty m:val="p"/>
                                </m:rPr>
                                <a:rPr lang="en-US" altLang="zh-CN" sz="1100" i="1" dirty="0">
                                  <a:solidFill>
                                    <a:schemeClr val="tx1"/>
                                  </a:solidFill>
                                  <a:latin typeface="Cambria Math" panose="02040503050406030204" pitchFamily="18" charset="0"/>
                                </a:rPr>
                                <m:t>m</m:t>
                              </m:r>
                            </m:sub>
                          </m:sSub>
                        </m:e>
                      </m:nary>
                    </m:oMath>
                  </m:oMathPara>
                </a14:m>
                <a:endParaRPr lang="en-US" altLang="zh-CN" sz="1100" dirty="0">
                  <a:solidFill>
                    <a:schemeClr val="tx1"/>
                  </a:solidFill>
                </a:endParaRPr>
              </a:p>
              <a:p>
                <a:pPr>
                  <a:lnSpc>
                    <a:spcPct val="150000"/>
                  </a:lnSpc>
                </a:pPr>
                <a:r>
                  <a:rPr lang="zh-CN" altLang="en-US" sz="1500" dirty="0">
                    <a:solidFill>
                      <a:schemeClr val="tx1"/>
                    </a:solidFill>
                  </a:rPr>
                  <a:t>        在上述的推导中，我们并没有考虑阴影函数</a:t>
                </a:r>
                <a14:m>
                  <m:oMath xmlns:m="http://schemas.openxmlformats.org/officeDocument/2006/math">
                    <m:sSub>
                      <m:sSubPr>
                        <m:ctrlPr>
                          <a:rPr lang="en-US" altLang="zh-CN" sz="1500" i="1" dirty="0" smtClean="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𝐺</m:t>
                        </m:r>
                      </m:e>
                      <m:sub>
                        <m:r>
                          <a:rPr lang="en-US" altLang="zh-CN" sz="1500" i="1" dirty="0" smtClean="0">
                            <a:solidFill>
                              <a:schemeClr val="tx1"/>
                            </a:solidFill>
                            <a:latin typeface="Cambria Math" panose="02040503050406030204" pitchFamily="18" charset="0"/>
                          </a:rPr>
                          <m:t>1</m:t>
                        </m:r>
                      </m:sub>
                    </m:sSub>
                    <m:d>
                      <m:dPr>
                        <m:ctrlPr>
                          <a:rPr lang="en-US" altLang="zh-CN" sz="1500" i="1" dirty="0">
                            <a:solidFill>
                              <a:schemeClr val="tx1"/>
                            </a:solidFill>
                            <a:latin typeface="Cambria Math" panose="02040503050406030204" pitchFamily="18" charset="0"/>
                          </a:rPr>
                        </m:ctrlPr>
                      </m:dPr>
                      <m:e>
                        <m:r>
                          <a:rPr lang="en-US" altLang="zh-CN" sz="1500" b="1" i="1" dirty="0" smtClean="0">
                            <a:solidFill>
                              <a:schemeClr val="tx1"/>
                            </a:solidFill>
                            <a:latin typeface="Cambria Math" panose="02040503050406030204" pitchFamily="18" charset="0"/>
                          </a:rPr>
                          <m:t>𝒊</m:t>
                        </m:r>
                        <m:r>
                          <a:rPr lang="en-US" altLang="zh-CN" sz="1500" i="1" dirty="0">
                            <a:solidFill>
                              <a:schemeClr val="tx1"/>
                            </a:solidFill>
                            <a:latin typeface="Cambria Math" panose="02040503050406030204" pitchFamily="18" charset="0"/>
                          </a:rPr>
                          <m:t>,</m:t>
                        </m:r>
                        <m:r>
                          <a:rPr lang="en-US" altLang="zh-CN" sz="1500" b="1" i="1" dirty="0" smtClean="0">
                            <a:solidFill>
                              <a:schemeClr val="tx1"/>
                            </a:solidFill>
                            <a:latin typeface="Cambria Math" panose="02040503050406030204" pitchFamily="18" charset="0"/>
                          </a:rPr>
                          <m:t>𝒎</m:t>
                        </m:r>
                      </m:e>
                    </m:d>
                  </m:oMath>
                </a14:m>
                <a:r>
                  <a:rPr lang="zh-CN" altLang="en-US" sz="1500" b="0" dirty="0">
                    <a:solidFill>
                      <a:schemeClr val="tx1"/>
                    </a:solidFill>
                  </a:rPr>
                  <a:t>，对应右图</a:t>
                </a:r>
                <a:r>
                  <a:rPr lang="en-US" altLang="zh-CN" sz="1500" b="0" dirty="0">
                    <a:solidFill>
                      <a:schemeClr val="tx1"/>
                    </a:solidFill>
                  </a:rPr>
                  <a:t>(b)</a:t>
                </a:r>
                <a:r>
                  <a:rPr lang="zh-CN" altLang="en-US" sz="1500" b="0" dirty="0">
                    <a:solidFill>
                      <a:schemeClr val="tx1"/>
                    </a:solidFill>
                  </a:rPr>
                  <a:t>，将观察方向</a:t>
                </a:r>
                <a14:m>
                  <m:oMath xmlns:m="http://schemas.openxmlformats.org/officeDocument/2006/math">
                    <m:r>
                      <a:rPr lang="en-US" altLang="zh-CN" sz="1500" b="1" i="1" dirty="0" smtClean="0">
                        <a:solidFill>
                          <a:schemeClr val="tx1"/>
                        </a:solidFill>
                        <a:latin typeface="Cambria Math" panose="02040503050406030204" pitchFamily="18" charset="0"/>
                      </a:rPr>
                      <m:t>𝒐</m:t>
                    </m:r>
                  </m:oMath>
                </a14:m>
                <a:r>
                  <a:rPr lang="zh-CN" altLang="en-US" sz="1500" b="0" dirty="0">
                    <a:solidFill>
                      <a:schemeClr val="tx1"/>
                    </a:solidFill>
                  </a:rPr>
                  <a:t>投射到微表面上后，得到的各个入射方向</a:t>
                </a:r>
                <a14:m>
                  <m:oMath xmlns:m="http://schemas.openxmlformats.org/officeDocument/2006/math">
                    <m:r>
                      <a:rPr lang="en-US" altLang="zh-CN" sz="1500" b="1" i="1" smtClean="0">
                        <a:solidFill>
                          <a:schemeClr val="tx1"/>
                        </a:solidFill>
                        <a:latin typeface="Cambria Math" panose="02040503050406030204" pitchFamily="18" charset="0"/>
                      </a:rPr>
                      <m:t>𝒊</m:t>
                    </m:r>
                  </m:oMath>
                </a14:m>
                <a:r>
                  <a:rPr lang="zh-CN" altLang="en-US" sz="1500" b="0" dirty="0">
                    <a:solidFill>
                      <a:schemeClr val="tx1"/>
                    </a:solidFill>
                  </a:rPr>
                  <a:t>将穿过微面，直接抵达光源。</a:t>
                </a:r>
                <a:endParaRPr lang="en-US" altLang="zh-CN" sz="1500" b="0" dirty="0">
                  <a:solidFill>
                    <a:schemeClr val="tx1"/>
                  </a:solidFill>
                </a:endParaRPr>
              </a:p>
              <a:p>
                <a:pPr>
                  <a:lnSpc>
                    <a:spcPct val="150000"/>
                  </a:lnSpc>
                </a:pPr>
                <a:r>
                  <a:rPr lang="en-US" altLang="zh-CN" sz="1500" dirty="0">
                    <a:solidFill>
                      <a:schemeClr val="tx1"/>
                    </a:solidFill>
                  </a:rPr>
                  <a:t>        </a:t>
                </a:r>
                <a:r>
                  <a:rPr lang="zh-CN" altLang="en-US" sz="1500" dirty="0">
                    <a:solidFill>
                      <a:schemeClr val="tx1"/>
                    </a:solidFill>
                  </a:rPr>
                  <a:t>显然这是错误的，所以我们需要考虑阴影函数</a:t>
                </a:r>
                <a14:m>
                  <m:oMath xmlns:m="http://schemas.openxmlformats.org/officeDocument/2006/math">
                    <m:sSub>
                      <m:sSubPr>
                        <m:ctrlPr>
                          <a:rPr lang="en-US" altLang="zh-CN" sz="1500" i="1" dirty="0" smtClean="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𝐺</m:t>
                        </m:r>
                      </m:e>
                      <m:sub>
                        <m:r>
                          <a:rPr lang="en-US" altLang="zh-CN" sz="1500" i="1" dirty="0" smtClean="0">
                            <a:solidFill>
                              <a:schemeClr val="tx1"/>
                            </a:solidFill>
                            <a:latin typeface="Cambria Math" panose="02040503050406030204" pitchFamily="18" charset="0"/>
                          </a:rPr>
                          <m:t>1</m:t>
                        </m:r>
                      </m:sub>
                    </m:sSub>
                    <m:d>
                      <m:dPr>
                        <m:ctrlPr>
                          <a:rPr lang="en-US" altLang="zh-CN" sz="1500" i="1" dirty="0">
                            <a:solidFill>
                              <a:schemeClr val="tx1"/>
                            </a:solidFill>
                            <a:latin typeface="Cambria Math" panose="02040503050406030204" pitchFamily="18" charset="0"/>
                          </a:rPr>
                        </m:ctrlPr>
                      </m:dPr>
                      <m:e>
                        <m:r>
                          <a:rPr lang="en-US" altLang="zh-CN" sz="1500" b="1" i="1" dirty="0" smtClean="0">
                            <a:solidFill>
                              <a:schemeClr val="tx1"/>
                            </a:solidFill>
                            <a:latin typeface="Cambria Math" panose="02040503050406030204" pitchFamily="18" charset="0"/>
                          </a:rPr>
                          <m:t>𝒊</m:t>
                        </m:r>
                        <m:r>
                          <a:rPr lang="en-US" altLang="zh-CN" sz="1500" b="1" i="1" dirty="0" smtClean="0">
                            <a:solidFill>
                              <a:schemeClr val="tx1"/>
                            </a:solidFill>
                            <a:latin typeface="Cambria Math" panose="02040503050406030204" pitchFamily="18" charset="0"/>
                          </a:rPr>
                          <m:t>,</m:t>
                        </m:r>
                        <m:r>
                          <a:rPr lang="en-US" altLang="zh-CN" sz="1500" b="1" i="1" dirty="0" smtClean="0">
                            <a:solidFill>
                              <a:schemeClr val="tx1"/>
                            </a:solidFill>
                            <a:latin typeface="Cambria Math" panose="02040503050406030204" pitchFamily="18" charset="0"/>
                          </a:rPr>
                          <m:t>𝒎</m:t>
                        </m:r>
                      </m:e>
                    </m:d>
                  </m:oMath>
                </a14:m>
                <a:r>
                  <a:rPr lang="zh-CN" altLang="en-US" sz="1500" b="0" dirty="0">
                    <a:solidFill>
                      <a:schemeClr val="tx1"/>
                    </a:solidFill>
                  </a:rPr>
                  <a:t>，也就是把上式的掩蔽函数</a:t>
                </a:r>
                <a14:m>
                  <m:oMath xmlns:m="http://schemas.openxmlformats.org/officeDocument/2006/math">
                    <m:sSub>
                      <m:sSubPr>
                        <m:ctrlPr>
                          <a:rPr lang="en-US" altLang="zh-CN" sz="1500" i="1" dirty="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𝐺</m:t>
                        </m:r>
                      </m:e>
                      <m:sub>
                        <m:r>
                          <a:rPr lang="en-US" altLang="zh-CN" sz="1500" i="1" dirty="0">
                            <a:solidFill>
                              <a:schemeClr val="tx1"/>
                            </a:solidFill>
                            <a:latin typeface="Cambria Math" panose="02040503050406030204" pitchFamily="18" charset="0"/>
                          </a:rPr>
                          <m:t>1</m:t>
                        </m:r>
                      </m:sub>
                    </m:sSub>
                    <m:d>
                      <m:dPr>
                        <m:ctrlPr>
                          <a:rPr lang="en-US" altLang="zh-CN" sz="1500" i="1" dirty="0">
                            <a:solidFill>
                              <a:schemeClr val="tx1"/>
                            </a:solidFill>
                            <a:latin typeface="Cambria Math" panose="02040503050406030204" pitchFamily="18" charset="0"/>
                          </a:rPr>
                        </m:ctrlPr>
                      </m:dPr>
                      <m:e>
                        <m:r>
                          <a:rPr lang="en-US" altLang="zh-CN" sz="1500" b="1" i="1" dirty="0" smtClean="0">
                            <a:solidFill>
                              <a:schemeClr val="tx1"/>
                            </a:solidFill>
                            <a:latin typeface="Cambria Math" panose="02040503050406030204" pitchFamily="18" charset="0"/>
                          </a:rPr>
                          <m:t>𝒐</m:t>
                        </m:r>
                        <m:r>
                          <a:rPr lang="en-US" altLang="zh-CN" sz="1500" i="1" dirty="0">
                            <a:solidFill>
                              <a:schemeClr val="tx1"/>
                            </a:solidFill>
                            <a:latin typeface="Cambria Math" panose="02040503050406030204" pitchFamily="18" charset="0"/>
                          </a:rPr>
                          <m:t>,</m:t>
                        </m:r>
                        <m:r>
                          <a:rPr lang="en-US" altLang="zh-CN" sz="1500" b="1" i="1" dirty="0" smtClean="0">
                            <a:solidFill>
                              <a:schemeClr val="tx1"/>
                            </a:solidFill>
                            <a:latin typeface="Cambria Math" panose="02040503050406030204" pitchFamily="18" charset="0"/>
                          </a:rPr>
                          <m:t>𝒎</m:t>
                        </m:r>
                      </m:e>
                    </m:d>
                  </m:oMath>
                </a14:m>
                <a:r>
                  <a:rPr lang="zh-CN" altLang="en-US" sz="1500" b="0" dirty="0">
                    <a:solidFill>
                      <a:schemeClr val="tx1"/>
                    </a:solidFill>
                  </a:rPr>
                  <a:t>替换为掩蔽</a:t>
                </a:r>
                <a:r>
                  <a:rPr lang="en-US" altLang="zh-CN" sz="1500" b="0" dirty="0">
                    <a:solidFill>
                      <a:schemeClr val="tx1"/>
                    </a:solidFill>
                  </a:rPr>
                  <a:t>-</a:t>
                </a:r>
                <a:r>
                  <a:rPr lang="zh-CN" altLang="en-US" sz="1500" b="0" dirty="0">
                    <a:solidFill>
                      <a:schemeClr val="tx1"/>
                    </a:solidFill>
                  </a:rPr>
                  <a:t>阴影函数</a:t>
                </a:r>
                <a14:m>
                  <m:oMath xmlns:m="http://schemas.openxmlformats.org/officeDocument/2006/math">
                    <m:sSub>
                      <m:sSubPr>
                        <m:ctrlPr>
                          <a:rPr lang="en-US" altLang="zh-CN" sz="1500" i="1" dirty="0">
                            <a:solidFill>
                              <a:schemeClr val="tx1"/>
                            </a:solidFill>
                            <a:latin typeface="Cambria Math" panose="02040503050406030204" pitchFamily="18" charset="0"/>
                          </a:rPr>
                        </m:ctrlPr>
                      </m:sSubPr>
                      <m:e>
                        <m:r>
                          <a:rPr lang="en-US" altLang="zh-CN" sz="1500" i="1" dirty="0">
                            <a:solidFill>
                              <a:schemeClr val="tx1"/>
                            </a:solidFill>
                            <a:latin typeface="Cambria Math" panose="02040503050406030204" pitchFamily="18" charset="0"/>
                          </a:rPr>
                          <m:t>𝐺</m:t>
                        </m:r>
                      </m:e>
                      <m:sub>
                        <m:r>
                          <a:rPr lang="en-US" altLang="zh-CN" sz="1500" b="0" i="1" dirty="0" smtClean="0">
                            <a:solidFill>
                              <a:schemeClr val="tx1"/>
                            </a:solidFill>
                            <a:latin typeface="Cambria Math" panose="02040503050406030204" pitchFamily="18" charset="0"/>
                          </a:rPr>
                          <m:t>2</m:t>
                        </m:r>
                      </m:sub>
                    </m:sSub>
                    <m:d>
                      <m:dPr>
                        <m:ctrlPr>
                          <a:rPr lang="en-US" altLang="zh-CN" sz="15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b="1"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oMath>
                </a14:m>
                <a:r>
                  <a:rPr lang="zh-CN" altLang="en-US" sz="1500" b="0" dirty="0">
                    <a:solidFill>
                      <a:schemeClr val="tx1"/>
                    </a:solidFill>
                  </a:rPr>
                  <a:t>，对应右图</a:t>
                </a:r>
                <a:r>
                  <a:rPr lang="en-US" altLang="zh-CN" sz="1500" b="0" dirty="0">
                    <a:solidFill>
                      <a:schemeClr val="tx1"/>
                    </a:solidFill>
                  </a:rPr>
                  <a:t>(c)</a:t>
                </a:r>
                <a:r>
                  <a:rPr lang="zh-CN" altLang="en-US" sz="1500" b="0" dirty="0">
                    <a:solidFill>
                      <a:schemeClr val="tx1"/>
                    </a:solidFill>
                  </a:rPr>
                  <a:t>：</a:t>
                </a:r>
                <a:endParaRPr lang="en-US" altLang="zh-CN" sz="1500" b="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100" i="1" dirty="0">
                          <a:solidFill>
                            <a:schemeClr val="tx1"/>
                          </a:solidFill>
                          <a:latin typeface="Cambria Math" panose="02040503050406030204" pitchFamily="18" charset="0"/>
                        </a:rPr>
                        <m:t>𝑓</m:t>
                      </m:r>
                      <m:d>
                        <m:dPr>
                          <m:ctrlPr>
                            <a:rPr lang="en-US" altLang="zh-CN" sz="1100" i="1" dirty="0">
                              <a:solidFill>
                                <a:schemeClr val="tx1"/>
                              </a:solidFill>
                              <a:latin typeface="Cambria Math" panose="02040503050406030204" pitchFamily="18" charset="0"/>
                            </a:rPr>
                          </m:ctrlPr>
                        </m:dPr>
                        <m:e>
                          <m:r>
                            <a:rPr lang="en-US" altLang="zh-CN" sz="1100" b="1" i="1" dirty="0">
                              <a:solidFill>
                                <a:schemeClr val="tx1"/>
                              </a:solidFill>
                              <a:latin typeface="Cambria Math" panose="02040503050406030204" pitchFamily="18" charset="0"/>
                            </a:rPr>
                            <m:t>𝒊</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𝒐</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𝒈</m:t>
                          </m:r>
                        </m:e>
                      </m:d>
                      <m:r>
                        <a:rPr lang="en-US" altLang="zh-CN" sz="1100" i="1" dirty="0">
                          <a:solidFill>
                            <a:schemeClr val="tx1"/>
                          </a:solidFill>
                          <a:latin typeface="Cambria Math" panose="02040503050406030204" pitchFamily="18" charset="0"/>
                        </a:rPr>
                        <m:t>=</m:t>
                      </m:r>
                      <m:f>
                        <m:fPr>
                          <m:ctrlPr>
                            <a:rPr lang="en-US" altLang="zh-CN" sz="1100" i="1" dirty="0">
                              <a:solidFill>
                                <a:schemeClr val="tx1"/>
                              </a:solidFill>
                              <a:latin typeface="Cambria Math" panose="02040503050406030204" pitchFamily="18" charset="0"/>
                            </a:rPr>
                          </m:ctrlPr>
                        </m:fPr>
                        <m:num>
                          <m:r>
                            <a:rPr lang="en-US" altLang="zh-CN" sz="1100" i="1" dirty="0">
                              <a:solidFill>
                                <a:schemeClr val="tx1"/>
                              </a:solidFill>
                              <a:latin typeface="Cambria Math" panose="02040503050406030204" pitchFamily="18" charset="0"/>
                            </a:rPr>
                            <m:t>1</m:t>
                          </m:r>
                        </m:num>
                        <m:den>
                          <m:d>
                            <m:dPr>
                              <m:begChr m:val="|"/>
                              <m:endChr m:val="|"/>
                              <m:ctrlPr>
                                <a:rPr lang="en-US" altLang="zh-CN" sz="1100" i="1" dirty="0">
                                  <a:solidFill>
                                    <a:schemeClr val="tx1"/>
                                  </a:solidFill>
                                  <a:latin typeface="Cambria Math" panose="02040503050406030204" pitchFamily="18" charset="0"/>
                                </a:rPr>
                              </m:ctrlPr>
                            </m:dPr>
                            <m:e>
                              <m:r>
                                <a:rPr lang="en-US" altLang="zh-CN" sz="1100" b="1" i="1" dirty="0">
                                  <a:solidFill>
                                    <a:schemeClr val="tx1"/>
                                  </a:solidFill>
                                  <a:latin typeface="Cambria Math" panose="02040503050406030204" pitchFamily="18" charset="0"/>
                                </a:rPr>
                                <m:t>𝒊</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𝒈</m:t>
                              </m:r>
                            </m:e>
                          </m:d>
                          <m:d>
                            <m:dPr>
                              <m:begChr m:val="|"/>
                              <m:endChr m:val="|"/>
                              <m:ctrlPr>
                                <a:rPr lang="en-US" altLang="zh-CN" sz="1100" i="1" dirty="0">
                                  <a:solidFill>
                                    <a:schemeClr val="tx1"/>
                                  </a:solidFill>
                                  <a:latin typeface="Cambria Math" panose="02040503050406030204" pitchFamily="18" charset="0"/>
                                </a:rPr>
                              </m:ctrlPr>
                            </m:dPr>
                            <m:e>
                              <m:r>
                                <a:rPr lang="en-US" altLang="zh-CN" sz="1100" b="1" i="1" dirty="0">
                                  <a:solidFill>
                                    <a:schemeClr val="tx1"/>
                                  </a:solidFill>
                                  <a:latin typeface="Cambria Math" panose="02040503050406030204" pitchFamily="18" charset="0"/>
                                </a:rPr>
                                <m:t>𝒐</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𝒈</m:t>
                              </m:r>
                            </m:e>
                          </m:d>
                        </m:den>
                      </m:f>
                      <m:r>
                        <a:rPr lang="en-US" altLang="zh-CN" sz="1100" i="1" dirty="0">
                          <a:solidFill>
                            <a:schemeClr val="tx1"/>
                          </a:solidFill>
                          <a:latin typeface="Cambria Math" panose="02040503050406030204" pitchFamily="18" charset="0"/>
                        </a:rPr>
                        <m:t> </m:t>
                      </m:r>
                      <m:nary>
                        <m:naryPr>
                          <m:supHide m:val="on"/>
                          <m:ctrlPr>
                            <a:rPr lang="en-US" altLang="zh-CN" sz="1100" i="1" dirty="0">
                              <a:solidFill>
                                <a:schemeClr val="tx1"/>
                              </a:solidFill>
                              <a:latin typeface="Cambria Math" panose="02040503050406030204" pitchFamily="18" charset="0"/>
                            </a:rPr>
                          </m:ctrlPr>
                        </m:naryPr>
                        <m:sub>
                          <m:sSup>
                            <m:sSupPr>
                              <m:ctrlPr>
                                <a:rPr lang="en-US" altLang="zh-CN" sz="1100" i="1" dirty="0">
                                  <a:solidFill>
                                    <a:schemeClr val="tx1"/>
                                  </a:solidFill>
                                  <a:latin typeface="Cambria Math" panose="02040503050406030204" pitchFamily="18" charset="0"/>
                                </a:rPr>
                              </m:ctrlPr>
                            </m:sSupPr>
                            <m:e>
                              <m:r>
                                <a:rPr lang="en-US" altLang="zh-CN" sz="1100" i="1" dirty="0">
                                  <a:solidFill>
                                    <a:schemeClr val="tx1"/>
                                  </a:solidFill>
                                  <a:latin typeface="Cambria Math" panose="02040503050406030204" pitchFamily="18" charset="0"/>
                                </a:rPr>
                                <m:t>𝐻</m:t>
                              </m:r>
                            </m:e>
                            <m:sup>
                              <m:r>
                                <a:rPr lang="en-US" altLang="zh-CN" sz="1100" i="1" dirty="0">
                                  <a:solidFill>
                                    <a:schemeClr val="tx1"/>
                                  </a:solidFill>
                                  <a:latin typeface="Cambria Math" panose="02040503050406030204" pitchFamily="18" charset="0"/>
                                </a:rPr>
                                <m:t>2</m:t>
                              </m:r>
                            </m:sup>
                          </m:sSup>
                        </m:sub>
                        <m:sup/>
                        <m:e>
                          <m:sSub>
                            <m:sSubPr>
                              <m:ctrlPr>
                                <a:rPr lang="en-US" altLang="zh-CN" sz="1100" i="1" dirty="0">
                                  <a:solidFill>
                                    <a:schemeClr val="tx1"/>
                                  </a:solidFill>
                                  <a:latin typeface="Cambria Math" panose="02040503050406030204" pitchFamily="18" charset="0"/>
                                </a:rPr>
                              </m:ctrlPr>
                            </m:sSubPr>
                            <m:e>
                              <m:r>
                                <a:rPr lang="en-US" altLang="zh-CN" sz="1100" i="1" dirty="0">
                                  <a:solidFill>
                                    <a:schemeClr val="tx1"/>
                                  </a:solidFill>
                                  <a:latin typeface="Cambria Math" panose="02040503050406030204" pitchFamily="18" charset="0"/>
                                </a:rPr>
                                <m:t>𝑓</m:t>
                              </m:r>
                            </m:e>
                            <m:sub>
                              <m:r>
                                <a:rPr lang="en-US" altLang="zh-CN" sz="1100" i="1" dirty="0">
                                  <a:solidFill>
                                    <a:schemeClr val="tx1"/>
                                  </a:solidFill>
                                  <a:latin typeface="Cambria Math" panose="02040503050406030204" pitchFamily="18" charset="0"/>
                                </a:rPr>
                                <m:t>𝑚</m:t>
                              </m:r>
                            </m:sub>
                          </m:sSub>
                          <m:d>
                            <m:dPr>
                              <m:ctrlPr>
                                <a:rPr lang="en-US" altLang="zh-CN" sz="1100" i="1" dirty="0">
                                  <a:solidFill>
                                    <a:schemeClr val="tx1"/>
                                  </a:solidFill>
                                  <a:latin typeface="Cambria Math" panose="02040503050406030204" pitchFamily="18" charset="0"/>
                                </a:rPr>
                              </m:ctrlPr>
                            </m:dPr>
                            <m:e>
                              <m:r>
                                <a:rPr lang="en-US" altLang="zh-CN" sz="1100" b="1" i="1" dirty="0">
                                  <a:solidFill>
                                    <a:schemeClr val="tx1"/>
                                  </a:solidFill>
                                  <a:latin typeface="Cambria Math" panose="02040503050406030204" pitchFamily="18" charset="0"/>
                                </a:rPr>
                                <m:t>𝒊</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𝒐</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𝒎</m:t>
                              </m:r>
                            </m:e>
                          </m:d>
                          <m:r>
                            <a:rPr lang="en-US" altLang="zh-CN" sz="1100" i="1" dirty="0">
                              <a:solidFill>
                                <a:schemeClr val="tx1"/>
                              </a:solidFill>
                              <a:latin typeface="Cambria Math" panose="02040503050406030204" pitchFamily="18" charset="0"/>
                            </a:rPr>
                            <m:t> </m:t>
                          </m:r>
                          <m:d>
                            <m:dPr>
                              <m:begChr m:val="|"/>
                              <m:endChr m:val="|"/>
                              <m:ctrlPr>
                                <a:rPr lang="en-US" altLang="zh-CN" sz="1100" i="1" dirty="0">
                                  <a:solidFill>
                                    <a:schemeClr val="tx1"/>
                                  </a:solidFill>
                                  <a:latin typeface="Cambria Math" panose="02040503050406030204" pitchFamily="18" charset="0"/>
                                </a:rPr>
                              </m:ctrlPr>
                            </m:dPr>
                            <m:e>
                              <m:r>
                                <a:rPr lang="en-US" altLang="zh-CN" sz="1100" b="1" i="1" dirty="0">
                                  <a:solidFill>
                                    <a:schemeClr val="tx1"/>
                                  </a:solidFill>
                                  <a:latin typeface="Cambria Math" panose="02040503050406030204" pitchFamily="18" charset="0"/>
                                </a:rPr>
                                <m:t>𝒊</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𝒎</m:t>
                              </m:r>
                            </m:e>
                          </m:d>
                          <m:r>
                            <a:rPr lang="en-US" altLang="zh-CN" sz="1100" i="1" dirty="0">
                              <a:solidFill>
                                <a:schemeClr val="tx1"/>
                              </a:solidFill>
                              <a:latin typeface="Cambria Math" panose="02040503050406030204" pitchFamily="18" charset="0"/>
                            </a:rPr>
                            <m:t> </m:t>
                          </m:r>
                          <m:r>
                            <a:rPr lang="en-US" altLang="zh-CN" sz="1100" i="1" dirty="0">
                              <a:solidFill>
                                <a:schemeClr val="tx1"/>
                              </a:solidFill>
                              <a:latin typeface="Cambria Math" panose="02040503050406030204" pitchFamily="18" charset="0"/>
                            </a:rPr>
                            <m:t>𝐷</m:t>
                          </m:r>
                          <m:d>
                            <m:dPr>
                              <m:ctrlPr>
                                <a:rPr lang="en-US" altLang="zh-CN" sz="1100" i="1" dirty="0">
                                  <a:solidFill>
                                    <a:schemeClr val="tx1"/>
                                  </a:solidFill>
                                  <a:latin typeface="Cambria Math" panose="02040503050406030204" pitchFamily="18" charset="0"/>
                                </a:rPr>
                              </m:ctrlPr>
                            </m:dPr>
                            <m:e>
                              <m:r>
                                <a:rPr lang="en-US" altLang="zh-CN" sz="1100" b="1" i="1" dirty="0">
                                  <a:solidFill>
                                    <a:schemeClr val="tx1"/>
                                  </a:solidFill>
                                  <a:latin typeface="Cambria Math" panose="02040503050406030204" pitchFamily="18" charset="0"/>
                                </a:rPr>
                                <m:t>𝒎</m:t>
                              </m:r>
                            </m:e>
                          </m:d>
                          <m:r>
                            <a:rPr lang="en-US" altLang="zh-CN" sz="1100" i="1" dirty="0">
                              <a:solidFill>
                                <a:schemeClr val="tx1"/>
                              </a:solidFill>
                              <a:latin typeface="Cambria Math" panose="02040503050406030204" pitchFamily="18" charset="0"/>
                            </a:rPr>
                            <m:t> </m:t>
                          </m:r>
                          <m:d>
                            <m:dPr>
                              <m:begChr m:val="⟨"/>
                              <m:endChr m:val="⟩"/>
                              <m:ctrlPr>
                                <a:rPr lang="en-US" altLang="zh-CN" sz="1100" i="1" dirty="0">
                                  <a:solidFill>
                                    <a:schemeClr val="tx1"/>
                                  </a:solidFill>
                                  <a:latin typeface="Cambria Math" panose="02040503050406030204" pitchFamily="18" charset="0"/>
                                </a:rPr>
                              </m:ctrlPr>
                            </m:dPr>
                            <m:e>
                              <m:sSup>
                                <m:sSupPr>
                                  <m:ctrlPr>
                                    <a:rPr lang="en-US" altLang="zh-CN" sz="1100" b="1" i="1" dirty="0">
                                      <a:solidFill>
                                        <a:schemeClr val="tx1"/>
                                      </a:solidFill>
                                      <a:latin typeface="Cambria Math" panose="02040503050406030204" pitchFamily="18" charset="0"/>
                                    </a:rPr>
                                  </m:ctrlPr>
                                </m:sSupPr>
                                <m:e>
                                  <m:r>
                                    <a:rPr lang="en-US" altLang="zh-CN" sz="1100" b="1" i="1" dirty="0">
                                      <a:solidFill>
                                        <a:schemeClr val="tx1"/>
                                      </a:solidFill>
                                      <a:latin typeface="Cambria Math" panose="02040503050406030204" pitchFamily="18" charset="0"/>
                                    </a:rPr>
                                    <m:t>𝒐</m:t>
                                  </m:r>
                                </m:e>
                                <m:sup>
                                  <m:r>
                                    <a:rPr lang="en-US" altLang="zh-CN" sz="1100" b="1" i="1" dirty="0">
                                      <a:solidFill>
                                        <a:schemeClr val="tx1"/>
                                      </a:solidFill>
                                      <a:latin typeface="Cambria Math" panose="02040503050406030204" pitchFamily="18" charset="0"/>
                                    </a:rPr>
                                    <m:t>+</m:t>
                                  </m:r>
                                </m:sup>
                              </m:sSup>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𝒎</m:t>
                              </m:r>
                            </m:e>
                          </m:d>
                          <m:r>
                            <a:rPr lang="en-US" altLang="zh-CN" sz="1100" i="1" dirty="0">
                              <a:solidFill>
                                <a:schemeClr val="tx1"/>
                              </a:solidFill>
                              <a:latin typeface="Cambria Math" panose="02040503050406030204" pitchFamily="18" charset="0"/>
                            </a:rPr>
                            <m:t> </m:t>
                          </m:r>
                          <m:sSub>
                            <m:sSubPr>
                              <m:ctrlPr>
                                <a:rPr lang="en-US" altLang="zh-CN" sz="1100" i="1" dirty="0">
                                  <a:solidFill>
                                    <a:schemeClr val="tx1"/>
                                  </a:solidFill>
                                  <a:latin typeface="Cambria Math" panose="02040503050406030204" pitchFamily="18" charset="0"/>
                                </a:rPr>
                              </m:ctrlPr>
                            </m:sSubPr>
                            <m:e>
                              <m:r>
                                <a:rPr lang="en-US" altLang="zh-CN" sz="1100" i="1" dirty="0">
                                  <a:solidFill>
                                    <a:schemeClr val="tx1"/>
                                  </a:solidFill>
                                  <a:latin typeface="Cambria Math" panose="02040503050406030204" pitchFamily="18" charset="0"/>
                                </a:rPr>
                                <m:t>𝐺</m:t>
                              </m:r>
                            </m:e>
                            <m:sub>
                              <m:r>
                                <a:rPr lang="en-US" altLang="zh-CN" sz="1100" b="0" i="1" dirty="0" smtClean="0">
                                  <a:solidFill>
                                    <a:schemeClr val="tx1"/>
                                  </a:solidFill>
                                  <a:latin typeface="Cambria Math" panose="02040503050406030204" pitchFamily="18" charset="0"/>
                                </a:rPr>
                                <m:t>2</m:t>
                              </m:r>
                            </m:sub>
                          </m:sSub>
                          <m:d>
                            <m:dPr>
                              <m:ctrlPr>
                                <a:rPr lang="en-US" altLang="zh-CN" sz="1100" i="1" dirty="0">
                                  <a:solidFill>
                                    <a:schemeClr val="tx1"/>
                                  </a:solidFill>
                                  <a:latin typeface="Cambria Math" panose="02040503050406030204" pitchFamily="18" charset="0"/>
                                </a:rPr>
                              </m:ctrlPr>
                            </m:dPr>
                            <m:e>
                              <m:r>
                                <a:rPr lang="en-US" altLang="zh-CN" sz="1100" b="1" i="1" dirty="0" smtClean="0">
                                  <a:solidFill>
                                    <a:schemeClr val="tx1"/>
                                  </a:solidFill>
                                  <a:latin typeface="Cambria Math" panose="02040503050406030204" pitchFamily="18" charset="0"/>
                                </a:rPr>
                                <m:t>𝒊</m:t>
                              </m:r>
                              <m:r>
                                <a:rPr lang="en-US" altLang="zh-CN" sz="1100" b="1" i="1" dirty="0" smtClean="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𝒐</m:t>
                              </m:r>
                              <m:r>
                                <a:rPr lang="en-US" altLang="zh-CN" sz="1100" i="1" dirty="0">
                                  <a:solidFill>
                                    <a:schemeClr val="tx1"/>
                                  </a:solidFill>
                                  <a:latin typeface="Cambria Math" panose="02040503050406030204" pitchFamily="18" charset="0"/>
                                </a:rPr>
                                <m:t>,</m:t>
                              </m:r>
                              <m:r>
                                <a:rPr lang="en-US" altLang="zh-CN" sz="1100" b="1" i="1" dirty="0">
                                  <a:solidFill>
                                    <a:schemeClr val="tx1"/>
                                  </a:solidFill>
                                  <a:latin typeface="Cambria Math" panose="02040503050406030204" pitchFamily="18" charset="0"/>
                                </a:rPr>
                                <m:t>𝒎</m:t>
                              </m:r>
                            </m:e>
                          </m:d>
                          <m:r>
                            <a:rPr lang="en-US" altLang="zh-CN" sz="1100" i="1" dirty="0">
                              <a:solidFill>
                                <a:schemeClr val="tx1"/>
                              </a:solidFill>
                              <a:latin typeface="Cambria Math" panose="02040503050406030204" pitchFamily="18" charset="0"/>
                            </a:rPr>
                            <m:t> </m:t>
                          </m:r>
                          <m:r>
                            <a:rPr lang="en-US" altLang="zh-CN" sz="1100" i="1" dirty="0">
                              <a:solidFill>
                                <a:schemeClr val="tx1"/>
                              </a:solidFill>
                              <a:latin typeface="Cambria Math" panose="02040503050406030204" pitchFamily="18" charset="0"/>
                            </a:rPr>
                            <m:t>𝑑</m:t>
                          </m:r>
                          <m:sSub>
                            <m:sSubPr>
                              <m:ctrlPr>
                                <a:rPr lang="en-US" altLang="zh-CN" sz="1100" i="1" dirty="0">
                                  <a:solidFill>
                                    <a:schemeClr val="tx1"/>
                                  </a:solidFill>
                                  <a:latin typeface="Cambria Math" panose="02040503050406030204" pitchFamily="18" charset="0"/>
                                </a:rPr>
                              </m:ctrlPr>
                            </m:sSubPr>
                            <m:e>
                              <m:r>
                                <a:rPr lang="en-US" altLang="zh-CN" sz="1100" i="1" dirty="0">
                                  <a:solidFill>
                                    <a:schemeClr val="tx1"/>
                                  </a:solidFill>
                                  <a:latin typeface="Cambria Math" panose="02040503050406030204" pitchFamily="18" charset="0"/>
                                </a:rPr>
                                <m:t>𝜔</m:t>
                              </m:r>
                            </m:e>
                            <m:sub>
                              <m:r>
                                <m:rPr>
                                  <m:sty m:val="p"/>
                                </m:rPr>
                                <a:rPr lang="en-US" altLang="zh-CN" sz="1100" i="1" dirty="0">
                                  <a:solidFill>
                                    <a:schemeClr val="tx1"/>
                                  </a:solidFill>
                                  <a:latin typeface="Cambria Math" panose="02040503050406030204" pitchFamily="18" charset="0"/>
                                </a:rPr>
                                <m:t>m</m:t>
                              </m:r>
                            </m:sub>
                          </m:sSub>
                        </m:e>
                      </m:nary>
                    </m:oMath>
                  </m:oMathPara>
                </a14:m>
                <a:endParaRPr lang="en-US" altLang="zh-CN" sz="1100" dirty="0">
                  <a:solidFill>
                    <a:schemeClr val="tx1"/>
                  </a:solidFill>
                </a:endParaRPr>
              </a:p>
              <a:p>
                <a:pPr>
                  <a:lnSpc>
                    <a:spcPct val="150000"/>
                  </a:lnSpc>
                </a:pPr>
                <a:endParaRPr lang="en-US" altLang="zh-CN" sz="1100" dirty="0">
                  <a:solidFill>
                    <a:schemeClr val="tx1"/>
                  </a:solidFill>
                </a:endParaRPr>
              </a:p>
              <a:p>
                <a:pPr>
                  <a:lnSpc>
                    <a:spcPct val="150000"/>
                  </a:lnSpc>
                </a:pPr>
                <a:r>
                  <a:rPr lang="en-US" altLang="zh-CN" sz="1500" b="0" dirty="0">
                    <a:solidFill>
                      <a:schemeClr val="tx1"/>
                    </a:solidFill>
                  </a:rPr>
                  <a:t>        </a:t>
                </a:r>
                <a:r>
                  <a:rPr lang="zh-CN" altLang="en-US" sz="1500" b="0" dirty="0">
                    <a:solidFill>
                      <a:schemeClr val="tx1"/>
                    </a:solidFill>
                  </a:rPr>
                  <a:t>但这又导致了一个问题，位于阴影中的光线，虽然没能到达它们直接指向的光源，但是它们可以在微表面之间弹射，最终离开微表面并指向其他光源，对应右图</a:t>
                </a:r>
                <a:r>
                  <a:rPr lang="en-US" altLang="zh-CN" sz="1500" b="0" dirty="0">
                    <a:solidFill>
                      <a:schemeClr val="tx1"/>
                    </a:solidFill>
                  </a:rPr>
                  <a:t>(d)</a:t>
                </a:r>
                <a:r>
                  <a:rPr lang="zh-CN" altLang="en-US" sz="1500" b="0" dirty="0">
                    <a:solidFill>
                      <a:schemeClr val="tx1"/>
                    </a:solidFill>
                  </a:rPr>
                  <a:t>。这就意味着我们目前讨论的</a:t>
                </a:r>
                <a:r>
                  <a:rPr lang="en-US" altLang="zh-CN" sz="1500" b="0" dirty="0">
                    <a:solidFill>
                      <a:schemeClr val="tx1"/>
                    </a:solidFill>
                  </a:rPr>
                  <a:t>BSDF</a:t>
                </a:r>
                <a:r>
                  <a:rPr lang="zh-CN" altLang="en-US" sz="1500" b="0" dirty="0">
                    <a:solidFill>
                      <a:schemeClr val="tx1"/>
                    </a:solidFill>
                  </a:rPr>
                  <a:t>只包括了入射光在微表面之间经过一次弹射后离开微表面的情况，而忽略了入射光在微表面之间经过多次弹射后离开微表面的情况。</a:t>
                </a:r>
                <a:endParaRPr lang="en-US" altLang="zh-CN" sz="1500" b="0" dirty="0">
                  <a:solidFill>
                    <a:schemeClr val="tx1"/>
                  </a:solidFill>
                </a:endParaRPr>
              </a:p>
            </p:txBody>
          </p:sp>
        </mc:Choice>
        <mc:Fallback xmlns="">
          <p:sp>
            <p:nvSpPr>
              <p:cNvPr id="37" name="矩形 36">
                <a:extLst>
                  <a:ext uri="{FF2B5EF4-FFF2-40B4-BE49-F238E27FC236}">
                    <a16:creationId xmlns:a16="http://schemas.microsoft.com/office/drawing/2014/main" id="{EBB023A9-7877-639D-97FF-2175D34D8153}"/>
                  </a:ext>
                </a:extLst>
              </p:cNvPr>
              <p:cNvSpPr>
                <a:spLocks noRot="1" noChangeAspect="1" noMove="1" noResize="1" noEditPoints="1" noAdjustHandles="1" noChangeArrowheads="1" noChangeShapeType="1" noTextEdit="1"/>
              </p:cNvSpPr>
              <p:nvPr/>
            </p:nvSpPr>
            <p:spPr>
              <a:xfrm>
                <a:off x="203596" y="1078907"/>
                <a:ext cx="6666930" cy="5386745"/>
              </a:xfrm>
              <a:prstGeom prst="rect">
                <a:avLst/>
              </a:prstGeom>
              <a:blipFill>
                <a:blip r:embed="rId2"/>
                <a:stretch>
                  <a:fillRect l="-274" r="-3011"/>
                </a:stretch>
              </a:blipFill>
            </p:spPr>
            <p:txBody>
              <a:bodyPr/>
              <a:lstStyle/>
              <a:p>
                <a:r>
                  <a:rPr lang="zh-CN" altLang="en-US">
                    <a:noFill/>
                  </a:rPr>
                  <a:t> </a:t>
                </a:r>
              </a:p>
            </p:txBody>
          </p:sp>
        </mc:Fallback>
      </mc:AlternateContent>
      <p:pic>
        <p:nvPicPr>
          <p:cNvPr id="62" name="图片 61">
            <a:extLst>
              <a:ext uri="{FF2B5EF4-FFF2-40B4-BE49-F238E27FC236}">
                <a16:creationId xmlns:a16="http://schemas.microsoft.com/office/drawing/2014/main" id="{FE3D6D4C-7ABC-8F48-215F-4C57D948B5CF}"/>
              </a:ext>
            </a:extLst>
          </p:cNvPr>
          <p:cNvPicPr>
            <a:picLocks noChangeAspect="1"/>
          </p:cNvPicPr>
          <p:nvPr/>
        </p:nvPicPr>
        <p:blipFill>
          <a:blip r:embed="rId3"/>
          <a:stretch>
            <a:fillRect/>
          </a:stretch>
        </p:blipFill>
        <p:spPr>
          <a:xfrm>
            <a:off x="7278388" y="110955"/>
            <a:ext cx="4804030" cy="6354698"/>
          </a:xfrm>
          <a:prstGeom prst="rect">
            <a:avLst/>
          </a:prstGeom>
        </p:spPr>
      </p:pic>
      <p:sp>
        <p:nvSpPr>
          <p:cNvPr id="65" name="文本框 64">
            <a:extLst>
              <a:ext uri="{FF2B5EF4-FFF2-40B4-BE49-F238E27FC236}">
                <a16:creationId xmlns:a16="http://schemas.microsoft.com/office/drawing/2014/main" id="{968E188C-A7FE-8437-506A-4111197A3F14}"/>
              </a:ext>
            </a:extLst>
          </p:cNvPr>
          <p:cNvSpPr txBox="1"/>
          <p:nvPr/>
        </p:nvSpPr>
        <p:spPr>
          <a:xfrm>
            <a:off x="8316170" y="6452175"/>
            <a:ext cx="3170740" cy="369332"/>
          </a:xfrm>
          <a:prstGeom prst="rect">
            <a:avLst/>
          </a:prstGeom>
          <a:noFill/>
        </p:spPr>
        <p:txBody>
          <a:bodyPr wrap="none" rtlCol="0">
            <a:spAutoFit/>
          </a:bodyPr>
          <a:lstStyle/>
          <a:p>
            <a:pPr algn="ctr"/>
            <a:r>
              <a:rPr lang="en-US" altLang="zh-CN" b="0" i="0" dirty="0">
                <a:solidFill>
                  <a:srgbClr val="212529"/>
                </a:solidFill>
                <a:effectLst/>
                <a:latin typeface="Domine"/>
              </a:rPr>
              <a:t>Heitz </a:t>
            </a:r>
            <a:r>
              <a:rPr lang="en-US" altLang="zh-CN" dirty="0">
                <a:solidFill>
                  <a:srgbClr val="212529"/>
                </a:solidFill>
                <a:latin typeface="Domine"/>
              </a:rPr>
              <a:t>(2014) </a:t>
            </a:r>
            <a:r>
              <a:rPr lang="en-US" altLang="zh-CN" dirty="0">
                <a:solidFill>
                  <a:srgbClr val="212529"/>
                </a:solidFill>
                <a:latin typeface="Domine"/>
                <a:hlinkClick r:id="rId4" action="ppaction://hlinksldjump"/>
              </a:rPr>
              <a:t>5</a:t>
            </a:r>
            <a:r>
              <a:rPr lang="zh-CN" altLang="en-US" dirty="0">
                <a:solidFill>
                  <a:srgbClr val="212529"/>
                </a:solidFill>
                <a:latin typeface="Domine"/>
              </a:rPr>
              <a:t>，</a:t>
            </a:r>
            <a:r>
              <a:rPr lang="en-US" altLang="zh-CN" dirty="0">
                <a:solidFill>
                  <a:srgbClr val="212529"/>
                </a:solidFill>
                <a:latin typeface="Domine"/>
              </a:rPr>
              <a:t>Figure 7 (right).</a:t>
            </a:r>
            <a:endParaRPr lang="zh-CN" altLang="en-US" dirty="0"/>
          </a:p>
        </p:txBody>
      </p:sp>
    </p:spTree>
    <p:extLst>
      <p:ext uri="{BB962C8B-B14F-4D97-AF65-F5344CB8AC3E}">
        <p14:creationId xmlns:p14="http://schemas.microsoft.com/office/powerpoint/2010/main" val="2586347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251CA-7C08-FCCE-BC03-51A24CD5E423}"/>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BC2F0A1D-4ED4-C574-214C-808F801B2119}"/>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基于微表面理论的</a:t>
            </a:r>
            <a:r>
              <a:rPr lang="en-US" altLang="zh-CN" dirty="0"/>
              <a:t>BSDF</a:t>
            </a:r>
          </a:p>
        </p:txBody>
      </p:sp>
      <p:sp>
        <p:nvSpPr>
          <p:cNvPr id="63" name="矩形 62">
            <a:extLst>
              <a:ext uri="{FF2B5EF4-FFF2-40B4-BE49-F238E27FC236}">
                <a16:creationId xmlns:a16="http://schemas.microsoft.com/office/drawing/2014/main" id="{2BFDA09B-F0CA-A3F8-9145-C6F4519F9225}"/>
              </a:ext>
            </a:extLst>
          </p:cNvPr>
          <p:cNvSpPr/>
          <p:nvPr/>
        </p:nvSpPr>
        <p:spPr>
          <a:xfrm>
            <a:off x="1789764" y="1315233"/>
            <a:ext cx="9116227"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3CA1ADEA-4EEB-8D55-6FD2-0CDCAEEFEBCC}"/>
                  </a:ext>
                </a:extLst>
              </p:cNvPr>
              <p:cNvSpPr/>
              <p:nvPr/>
            </p:nvSpPr>
            <p:spPr>
              <a:xfrm>
                <a:off x="1637364" y="1144044"/>
                <a:ext cx="9116227"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zh-CN" altLang="en-US" sz="1200" dirty="0" smtClean="0">
                          <a:solidFill>
                            <a:schemeClr val="tx1"/>
                          </a:solidFill>
                          <a:latin typeface="Cambria Math" panose="02040503050406030204" pitchFamily="18" charset="0"/>
                        </a:rPr>
                        <m:t>对于</m:t>
                      </m:r>
                      <m:r>
                        <a:rPr lang="zh-CN" altLang="en-US" sz="1200" i="1" dirty="0">
                          <a:solidFill>
                            <a:schemeClr val="tx1"/>
                          </a:solidFill>
                          <a:latin typeface="Cambria Math" panose="02040503050406030204" pitchFamily="18" charset="0"/>
                        </a:rPr>
                        <m:t>某一</m:t>
                      </m:r>
                      <m:r>
                        <a:rPr lang="zh-CN" altLang="en-US" sz="1200" i="1" dirty="0" smtClean="0">
                          <a:solidFill>
                            <a:schemeClr val="tx1"/>
                          </a:solidFill>
                          <a:latin typeface="Cambria Math" panose="02040503050406030204" pitchFamily="18" charset="0"/>
                        </a:rPr>
                        <m:t>朝向</m:t>
                      </m:r>
                      <m:r>
                        <a:rPr lang="zh-CN" altLang="en-US" sz="1200" i="1" dirty="0">
                          <a:solidFill>
                            <a:schemeClr val="tx1"/>
                          </a:solidFill>
                          <a:latin typeface="Cambria Math" panose="02040503050406030204" pitchFamily="18" charset="0"/>
                        </a:rPr>
                        <m:t>为</m:t>
                      </m:r>
                      <m:r>
                        <a:rPr lang="en-US" altLang="zh-CN" sz="1200" b="1" i="1" dirty="0" smtClean="0">
                          <a:solidFill>
                            <a:schemeClr val="tx1"/>
                          </a:solidFill>
                          <a:latin typeface="Cambria Math" panose="02040503050406030204" pitchFamily="18" charset="0"/>
                        </a:rPr>
                        <m:t>𝒎</m:t>
                      </m:r>
                      <m:r>
                        <a:rPr lang="zh-CN" altLang="en-US" sz="1200" b="1" i="1" dirty="0">
                          <a:solidFill>
                            <a:schemeClr val="tx1"/>
                          </a:solidFill>
                          <a:latin typeface="Cambria Math" panose="02040503050406030204" pitchFamily="18" charset="0"/>
                        </a:rPr>
                        <m:t>的</m:t>
                      </m:r>
                      <m:r>
                        <a:rPr lang="zh-CN" altLang="en-US" sz="1200" i="1" dirty="0">
                          <a:solidFill>
                            <a:schemeClr val="tx1"/>
                          </a:solidFill>
                          <a:latin typeface="Cambria Math" panose="02040503050406030204" pitchFamily="18" charset="0"/>
                        </a:rPr>
                        <m:t>微面</m:t>
                      </m:r>
                      <m:r>
                        <a:rPr lang="zh-CN" altLang="en-US" sz="1200" i="1" dirty="0" smtClean="0">
                          <a:solidFill>
                            <a:schemeClr val="tx1"/>
                          </a:solidFill>
                          <a:latin typeface="Cambria Math" panose="02040503050406030204" pitchFamily="18" charset="0"/>
                        </a:rPr>
                        <m:t>的</m:t>
                      </m:r>
                      <m:r>
                        <m:rPr>
                          <m:nor/>
                        </m:rPr>
                        <a:rPr lang="zh-CN" altLang="en-US" sz="1200" dirty="0" smtClean="0">
                          <a:solidFill>
                            <a:schemeClr val="tx1"/>
                          </a:solidFill>
                          <a:latin typeface="Cambria Math" panose="02040503050406030204" pitchFamily="18" charset="0"/>
                        </a:rPr>
                        <m:t>镜面反射</m:t>
                      </m:r>
                      <m:r>
                        <m:rPr>
                          <m:nor/>
                        </m:rPr>
                        <a:rPr lang="en-US" altLang="zh-CN" sz="1200" dirty="0" smtClean="0">
                          <a:solidFill>
                            <a:schemeClr val="tx1"/>
                          </a:solidFill>
                          <a:latin typeface="Cambria Math" panose="02040503050406030204" pitchFamily="18" charset="0"/>
                        </a:rPr>
                        <m:t>/</m:t>
                      </m:r>
                      <m:r>
                        <m:rPr>
                          <m:nor/>
                        </m:rPr>
                        <a:rPr lang="zh-CN" altLang="en-US" sz="1200" dirty="0" smtClean="0">
                          <a:solidFill>
                            <a:schemeClr val="tx1"/>
                          </a:solidFill>
                          <a:latin typeface="Cambria Math" panose="02040503050406030204" pitchFamily="18" charset="0"/>
                        </a:rPr>
                        <m:t>折射来说，给定观察方向</m:t>
                      </m:r>
                      <m:r>
                        <a:rPr lang="en-US" altLang="zh-CN" sz="1200" b="1" i="1" dirty="0" smtClean="0">
                          <a:solidFill>
                            <a:schemeClr val="tx1"/>
                          </a:solidFill>
                          <a:latin typeface="Cambria Math" panose="02040503050406030204" pitchFamily="18" charset="0"/>
                        </a:rPr>
                        <m:t>𝒐</m:t>
                      </m:r>
                      <m:r>
                        <a:rPr lang="zh-CN" altLang="en-US" sz="1200" i="1" dirty="0">
                          <a:solidFill>
                            <a:schemeClr val="tx1"/>
                          </a:solidFill>
                          <a:latin typeface="Cambria Math" panose="02040503050406030204" pitchFamily="18" charset="0"/>
                        </a:rPr>
                        <m:t>，有且只有一个光线方向</m:t>
                      </m:r>
                      <m:sSup>
                        <m:sSupPr>
                          <m:ctrlPr>
                            <a:rPr lang="en-US" altLang="zh-CN" sz="1200" b="1" i="1" dirty="0" smtClean="0">
                              <a:solidFill>
                                <a:schemeClr val="tx1"/>
                              </a:solidFill>
                              <a:latin typeface="Cambria Math" panose="02040503050406030204" pitchFamily="18" charset="0"/>
                            </a:rPr>
                          </m:ctrlPr>
                        </m:sSupPr>
                        <m:e>
                          <m:r>
                            <a:rPr lang="en-US" altLang="zh-CN" sz="1200" b="1" i="1" dirty="0" smtClean="0">
                              <a:solidFill>
                                <a:schemeClr val="tx1"/>
                              </a:solidFill>
                              <a:latin typeface="Cambria Math" panose="02040503050406030204" pitchFamily="18" charset="0"/>
                            </a:rPr>
                            <m:t>𝒊</m:t>
                          </m:r>
                        </m:e>
                        <m:sup>
                          <m:r>
                            <a:rPr lang="en-US" altLang="zh-CN" sz="1200" b="1" i="1" dirty="0" smtClean="0">
                              <a:solidFill>
                                <a:schemeClr val="tx1"/>
                              </a:solidFill>
                              <a:latin typeface="Cambria Math" panose="02040503050406030204" pitchFamily="18" charset="0"/>
                            </a:rPr>
                            <m:t>∗</m:t>
                          </m:r>
                        </m:sup>
                      </m:sSup>
                      <m:r>
                        <a:rPr lang="zh-CN" altLang="en-US" sz="1200" i="1" dirty="0">
                          <a:solidFill>
                            <a:schemeClr val="tx1"/>
                          </a:solidFill>
                          <a:latin typeface="Cambria Math" panose="02040503050406030204" pitchFamily="18" charset="0"/>
                        </a:rPr>
                        <m:t>，可以反射</m:t>
                      </m:r>
                      <m:r>
                        <a:rPr lang="en-US" altLang="zh-CN" sz="1200" i="1" dirty="0">
                          <a:solidFill>
                            <a:schemeClr val="tx1"/>
                          </a:solidFill>
                          <a:latin typeface="Cambria Math" panose="02040503050406030204" pitchFamily="18" charset="0"/>
                        </a:rPr>
                        <m:t>/</m:t>
                      </m:r>
                      <m:r>
                        <a:rPr lang="zh-CN" altLang="en-US" sz="1200" i="1" dirty="0">
                          <a:solidFill>
                            <a:schemeClr val="tx1"/>
                          </a:solidFill>
                          <a:latin typeface="Cambria Math" panose="02040503050406030204" pitchFamily="18" charset="0"/>
                        </a:rPr>
                        <m:t>折射到</m:t>
                      </m:r>
                      <m:r>
                        <a:rPr lang="en-US" altLang="zh-CN" sz="1200" b="1" i="1" dirty="0" smtClean="0">
                          <a:solidFill>
                            <a:schemeClr val="tx1"/>
                          </a:solidFill>
                          <a:latin typeface="Cambria Math" panose="02040503050406030204" pitchFamily="18" charset="0"/>
                        </a:rPr>
                        <m:t>𝒐</m:t>
                      </m:r>
                      <m:r>
                        <a:rPr lang="zh-CN" altLang="en-US" sz="1200" i="1" dirty="0">
                          <a:solidFill>
                            <a:schemeClr val="tx1"/>
                          </a:solidFill>
                          <a:latin typeface="Cambria Math" panose="02040503050406030204" pitchFamily="18" charset="0"/>
                        </a:rPr>
                        <m:t>方向</m:t>
                      </m:r>
                    </m:oMath>
                  </m:oMathPara>
                </a14:m>
                <a:endParaRPr lang="en-US" altLang="zh-CN" sz="12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nary>
                        <m:naryPr>
                          <m:supHide m:val="on"/>
                          <m:ctrlPr>
                            <a:rPr lang="en-US" altLang="zh-CN" sz="1200" b="0" i="1" dirty="0" smtClean="0">
                              <a:solidFill>
                                <a:schemeClr val="tx1"/>
                              </a:solidFill>
                              <a:latin typeface="Cambria Math" panose="02040503050406030204" pitchFamily="18" charset="0"/>
                            </a:rPr>
                          </m:ctrlPr>
                        </m:naryPr>
                        <m:sub>
                          <m:sSup>
                            <m:sSupPr>
                              <m:ctrlPr>
                                <a:rPr lang="en-US" altLang="zh-CN" sz="1200" b="0" i="1" dirty="0" smtClean="0">
                                  <a:solidFill>
                                    <a:schemeClr val="tx1"/>
                                  </a:solidFill>
                                  <a:latin typeface="Cambria Math" panose="02040503050406030204" pitchFamily="18" charset="0"/>
                                </a:rPr>
                              </m:ctrlPr>
                            </m:sSupPr>
                            <m:e>
                              <m:r>
                                <m:rPr>
                                  <m:brk m:alnAt="7"/>
                                </m:rPr>
                                <a:rPr lang="en-US" altLang="zh-CN" sz="1200" b="0" i="1" dirty="0" smtClean="0">
                                  <a:solidFill>
                                    <a:schemeClr val="tx1"/>
                                  </a:solidFill>
                                  <a:latin typeface="Cambria Math" panose="02040503050406030204" pitchFamily="18" charset="0"/>
                                </a:rPr>
                                <m:t>𝑆</m:t>
                              </m:r>
                            </m:e>
                            <m:sup>
                              <m:r>
                                <m:rPr>
                                  <m:brk m:alnAt="7"/>
                                </m:rPr>
                                <a:rPr lang="en-US" altLang="zh-CN" sz="1200" b="0" i="1" dirty="0" smtClean="0">
                                  <a:solidFill>
                                    <a:schemeClr val="tx1"/>
                                  </a:solidFill>
                                  <a:latin typeface="Cambria Math" panose="02040503050406030204" pitchFamily="18" charset="0"/>
                                </a:rPr>
                                <m:t>2</m:t>
                              </m:r>
                            </m:sup>
                          </m:sSup>
                        </m:sub>
                        <m:sup/>
                        <m:e>
                          <m:sSub>
                            <m:sSubPr>
                              <m:ctrlPr>
                                <a:rPr lang="en-US" altLang="zh-CN" sz="1200" i="1" dirty="0" smtClean="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𝑓</m:t>
                              </m:r>
                            </m:e>
                            <m:sub>
                              <m:r>
                                <m:rPr>
                                  <m:sty m:val="p"/>
                                </m:rPr>
                                <a:rPr lang="en-US" altLang="zh-CN" sz="1200" b="0" i="1" dirty="0">
                                  <a:solidFill>
                                    <a:schemeClr val="tx1"/>
                                  </a:solidFill>
                                  <a:latin typeface="Cambria Math" panose="02040503050406030204" pitchFamily="18" charset="0"/>
                                </a:rPr>
                                <m:t>m</m:t>
                              </m:r>
                            </m:sub>
                          </m:sSub>
                          <m:d>
                            <m:dPr>
                              <m:ctrlPr>
                                <a:rPr lang="en-US" altLang="zh-CN" sz="1200" i="1" dirty="0">
                                  <a:solidFill>
                                    <a:schemeClr val="tx1"/>
                                  </a:solidFill>
                                  <a:latin typeface="Cambria Math" panose="02040503050406030204" pitchFamily="18" charset="0"/>
                                </a:rPr>
                              </m:ctrlPr>
                            </m:dPr>
                            <m:e>
                              <m:r>
                                <a:rPr lang="en-US" altLang="zh-CN" sz="1200" b="1" i="1" dirty="0" smtClean="0">
                                  <a:solidFill>
                                    <a:srgbClr val="00B0F0"/>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𝒐</m:t>
                              </m:r>
                              <m:r>
                                <a:rPr lang="en-US" altLang="zh-CN" sz="1200" i="1" dirty="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𝒎</m:t>
                              </m:r>
                            </m:e>
                          </m:d>
                          <m:r>
                            <a:rPr lang="en-US" altLang="zh-CN" sz="1200" b="0" i="1" dirty="0" smtClean="0">
                              <a:solidFill>
                                <a:schemeClr val="tx1"/>
                              </a:solidFill>
                              <a:latin typeface="Cambria Math" panose="02040503050406030204" pitchFamily="18" charset="0"/>
                            </a:rPr>
                            <m:t> </m:t>
                          </m:r>
                          <m:d>
                            <m:dPr>
                              <m:begChr m:val="|"/>
                              <m:endChr m:val="|"/>
                              <m:ctrlPr>
                                <a:rPr lang="en-US" altLang="zh-CN" sz="1200" b="0" i="1" dirty="0" smtClean="0">
                                  <a:solidFill>
                                    <a:schemeClr val="tx1"/>
                                  </a:solidFill>
                                  <a:latin typeface="Cambria Math" panose="02040503050406030204" pitchFamily="18" charset="0"/>
                                </a:rPr>
                              </m:ctrlPr>
                            </m:dPr>
                            <m:e>
                              <m:r>
                                <a:rPr lang="en-US" altLang="zh-CN" sz="1200" b="1" i="1" dirty="0" smtClean="0">
                                  <a:solidFill>
                                    <a:srgbClr val="00B0F0"/>
                                  </a:solidFill>
                                  <a:latin typeface="Cambria Math" panose="02040503050406030204" pitchFamily="18" charset="0"/>
                                </a:rPr>
                                <m:t>𝒊</m:t>
                              </m:r>
                              <m:r>
                                <a:rPr lang="en-US" altLang="zh-CN" sz="1200" b="0" i="1" dirty="0" smtClean="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𝒎</m:t>
                              </m:r>
                            </m:e>
                          </m:d>
                          <m:r>
                            <a:rPr lang="en-US" altLang="zh-CN" sz="1200" b="0" i="1" dirty="0" smtClean="0">
                              <a:solidFill>
                                <a:schemeClr val="tx1"/>
                              </a:solidFill>
                              <a:latin typeface="Cambria Math" panose="02040503050406030204" pitchFamily="18" charset="0"/>
                            </a:rPr>
                            <m:t> </m:t>
                          </m:r>
                          <m:r>
                            <a:rPr lang="en-US" altLang="zh-CN" sz="1200" b="0" i="1" dirty="0" smtClean="0">
                              <a:solidFill>
                                <a:schemeClr val="accent1">
                                  <a:lumMod val="75000"/>
                                </a:schemeClr>
                              </a:solidFill>
                              <a:latin typeface="Cambria Math" panose="02040503050406030204" pitchFamily="18" charset="0"/>
                            </a:rPr>
                            <m:t>𝑑</m:t>
                          </m:r>
                          <m:sSub>
                            <m:sSubPr>
                              <m:ctrlPr>
                                <a:rPr lang="en-US" altLang="zh-CN" sz="1200" b="0" i="1" dirty="0" smtClean="0">
                                  <a:solidFill>
                                    <a:schemeClr val="accent1">
                                      <a:lumMod val="75000"/>
                                    </a:schemeClr>
                                  </a:solidFill>
                                  <a:latin typeface="Cambria Math" panose="02040503050406030204" pitchFamily="18" charset="0"/>
                                </a:rPr>
                              </m:ctrlPr>
                            </m:sSubPr>
                            <m:e>
                              <m:r>
                                <a:rPr lang="en-US" altLang="zh-CN" sz="1200" b="0" i="1" dirty="0" smtClean="0">
                                  <a:solidFill>
                                    <a:schemeClr val="accent1">
                                      <a:lumMod val="75000"/>
                                    </a:schemeClr>
                                  </a:solidFill>
                                  <a:latin typeface="Cambria Math" panose="02040503050406030204" pitchFamily="18" charset="0"/>
                                </a:rPr>
                                <m:t>𝜔</m:t>
                              </m:r>
                            </m:e>
                            <m:sub>
                              <m:r>
                                <a:rPr lang="en-US" altLang="zh-CN" sz="1200" b="0" i="1" dirty="0" smtClean="0">
                                  <a:solidFill>
                                    <a:schemeClr val="accent1">
                                      <a:lumMod val="75000"/>
                                    </a:schemeClr>
                                  </a:solidFill>
                                  <a:latin typeface="Cambria Math" panose="02040503050406030204" pitchFamily="18" charset="0"/>
                                </a:rPr>
                                <m:t>𝑖</m:t>
                              </m:r>
                            </m:sub>
                          </m:sSub>
                        </m:e>
                      </m:nary>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𝜌</m:t>
                      </m:r>
                    </m:oMath>
                  </m:oMathPara>
                </a14:m>
                <a:endParaRPr lang="en-US" altLang="zh-CN" sz="12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altLang="zh-CN" sz="1200" i="1" dirty="0" smtClean="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𝑓</m:t>
                          </m:r>
                        </m:e>
                        <m:sub>
                          <m:r>
                            <a:rPr lang="en-US" altLang="zh-CN" sz="1200" b="0" i="1" dirty="0" smtClean="0">
                              <a:solidFill>
                                <a:schemeClr val="tx1"/>
                              </a:solidFill>
                              <a:latin typeface="Cambria Math" panose="02040503050406030204" pitchFamily="18" charset="0"/>
                            </a:rPr>
                            <m:t>𝑚</m:t>
                          </m:r>
                        </m:sub>
                      </m:sSub>
                      <m:d>
                        <m:dPr>
                          <m:ctrlPr>
                            <a:rPr lang="en-US" altLang="zh-CN" sz="1200" i="1" dirty="0">
                              <a:solidFill>
                                <a:schemeClr val="tx1"/>
                              </a:solidFill>
                              <a:latin typeface="Cambria Math" panose="02040503050406030204" pitchFamily="18" charset="0"/>
                            </a:rPr>
                          </m:ctrlPr>
                        </m:dPr>
                        <m:e>
                          <m:r>
                            <a:rPr lang="en-US" altLang="zh-CN" sz="1200" b="1" i="1" dirty="0">
                              <a:solidFill>
                                <a:srgbClr val="00B0F0"/>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𝒐</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𝒎</m:t>
                          </m:r>
                        </m:e>
                      </m:d>
                      <m:r>
                        <a:rPr lang="en-US" altLang="zh-CN" sz="1200" b="0" i="1" dirty="0" smtClean="0">
                          <a:solidFill>
                            <a:schemeClr val="tx1"/>
                          </a:solidFill>
                          <a:latin typeface="Cambria Math" panose="02040503050406030204" pitchFamily="18" charset="0"/>
                        </a:rPr>
                        <m:t>=</m:t>
                      </m:r>
                      <m:d>
                        <m:dPr>
                          <m:begChr m:val="{"/>
                          <m:endChr m:val=""/>
                          <m:ctrlPr>
                            <a:rPr lang="en-US" altLang="zh-CN" sz="1200" i="1" dirty="0">
                              <a:solidFill>
                                <a:schemeClr val="tx1"/>
                              </a:solidFill>
                              <a:latin typeface="Cambria Math" panose="02040503050406030204" pitchFamily="18" charset="0"/>
                            </a:rPr>
                          </m:ctrlPr>
                        </m:dPr>
                        <m:e>
                          <m:eqArr>
                            <m:eqArrPr>
                              <m:ctrlPr>
                                <a:rPr lang="en-US" altLang="zh-CN" sz="1200" i="1" dirty="0">
                                  <a:solidFill>
                                    <a:schemeClr val="tx1"/>
                                  </a:solidFill>
                                  <a:latin typeface="Cambria Math" panose="02040503050406030204" pitchFamily="18" charset="0"/>
                                </a:rPr>
                              </m:ctrlPr>
                            </m:eqArrPr>
                            <m:e>
                              <m:r>
                                <m:rPr>
                                  <m:sty m:val="p"/>
                                </m:rPr>
                                <a:rPr lang="en-US" altLang="zh-CN" sz="1200" b="0" i="1" dirty="0">
                                  <a:solidFill>
                                    <a:schemeClr val="tx1"/>
                                  </a:solidFill>
                                  <a:latin typeface="Cambria Math" panose="02040503050406030204" pitchFamily="18" charset="0"/>
                                </a:rPr>
                                <m:t>x</m:t>
                              </m:r>
                              <m:r>
                                <a:rPr lang="en-US" altLang="zh-CN" sz="1200" i="1" dirty="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          </m:t>
                              </m:r>
                              <m:r>
                                <a:rPr lang="en-US" altLang="zh-CN" sz="1200" b="1" i="1" dirty="0" smtClean="0">
                                  <a:solidFill>
                                    <a:srgbClr val="00B0F0"/>
                                  </a:solidFill>
                                  <a:latin typeface="Cambria Math" panose="02040503050406030204" pitchFamily="18" charset="0"/>
                                </a:rPr>
                                <m:t>𝒊</m:t>
                              </m:r>
                              <m:r>
                                <a:rPr lang="en-US" altLang="zh-CN" sz="1200" b="0" i="1" dirty="0" smtClean="0">
                                  <a:solidFill>
                                    <a:schemeClr val="tx1"/>
                                  </a:solidFill>
                                  <a:latin typeface="Cambria Math" panose="02040503050406030204" pitchFamily="18" charset="0"/>
                                </a:rPr>
                                <m:t>=</m:t>
                              </m:r>
                              <m:sSup>
                                <m:sSupPr>
                                  <m:ctrlPr>
                                    <a:rPr lang="en-US" altLang="zh-CN" sz="1200" b="1" i="1" dirty="0" smtClean="0">
                                      <a:solidFill>
                                        <a:schemeClr val="tx1"/>
                                      </a:solidFill>
                                      <a:latin typeface="Cambria Math" panose="02040503050406030204" pitchFamily="18" charset="0"/>
                                    </a:rPr>
                                  </m:ctrlPr>
                                </m:sSupPr>
                                <m:e>
                                  <m:r>
                                    <a:rPr lang="en-US" altLang="zh-CN" sz="1200" b="1" i="1" dirty="0" smtClean="0">
                                      <a:solidFill>
                                        <a:schemeClr val="tx1"/>
                                      </a:solidFill>
                                      <a:latin typeface="Cambria Math" panose="02040503050406030204" pitchFamily="18" charset="0"/>
                                    </a:rPr>
                                    <m:t>𝒊</m:t>
                                  </m:r>
                                </m:e>
                                <m:sup>
                                  <m:r>
                                    <a:rPr lang="en-US" altLang="zh-CN" sz="1200" b="1" i="1" dirty="0" smtClean="0">
                                      <a:solidFill>
                                        <a:schemeClr val="tx1"/>
                                      </a:solidFill>
                                      <a:latin typeface="Cambria Math" panose="02040503050406030204" pitchFamily="18" charset="0"/>
                                    </a:rPr>
                                    <m:t>∗</m:t>
                                  </m:r>
                                </m:sup>
                              </m:sSup>
                            </m:e>
                            <m:e>
                              <m:r>
                                <a:rPr lang="en-US" altLang="zh-CN" sz="1200" i="1" dirty="0">
                                  <a:solidFill>
                                    <a:schemeClr val="tx1"/>
                                  </a:solidFill>
                                  <a:latin typeface="Cambria Math" panose="02040503050406030204" pitchFamily="18" charset="0"/>
                                </a:rPr>
                                <m:t>0,  </m:t>
                              </m:r>
                              <m:r>
                                <a:rPr lang="en-US" altLang="zh-CN" sz="1200" i="1" dirty="0">
                                  <a:solidFill>
                                    <a:schemeClr val="tx1"/>
                                  </a:solidFill>
                                  <a:latin typeface="Cambria Math" panose="02040503050406030204" pitchFamily="18" charset="0"/>
                                </a:rPr>
                                <m:t>𝑜𝑡h𝑒𝑟𝑤𝑖𝑠𝑒</m:t>
                              </m:r>
                            </m:e>
                          </m:eqArr>
                        </m:e>
                      </m:d>
                    </m:oMath>
                  </m:oMathPara>
                </a14:m>
                <a:endParaRPr lang="en-US" altLang="zh-CN" sz="12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1200" i="1" dirty="0">
                          <a:solidFill>
                            <a:schemeClr val="tx1"/>
                          </a:solidFill>
                          <a:latin typeface="Cambria Math" panose="02040503050406030204" pitchFamily="18" charset="0"/>
                        </a:rPr>
                        <m:t>满足</m:t>
                      </m:r>
                      <m:r>
                        <a:rPr lang="zh-CN" altLang="en-US" sz="1200" i="1" dirty="0" smtClean="0">
                          <a:solidFill>
                            <a:schemeClr val="tx1"/>
                          </a:solidFill>
                          <a:latin typeface="Cambria Math" panose="02040503050406030204" pitchFamily="18" charset="0"/>
                        </a:rPr>
                        <m:t>上</m:t>
                      </m:r>
                      <m:r>
                        <a:rPr lang="zh-CN" altLang="en-US" sz="1200" i="1" dirty="0">
                          <a:solidFill>
                            <a:schemeClr val="tx1"/>
                          </a:solidFill>
                          <a:latin typeface="Cambria Math" panose="02040503050406030204" pitchFamily="18" charset="0"/>
                        </a:rPr>
                        <m:t>两式</m:t>
                      </m:r>
                      <m:r>
                        <a:rPr lang="zh-CN" altLang="en-US" sz="1200" i="1" dirty="0" smtClean="0">
                          <a:solidFill>
                            <a:schemeClr val="tx1"/>
                          </a:solidFill>
                          <a:latin typeface="Cambria Math" panose="02040503050406030204" pitchFamily="18" charset="0"/>
                        </a:rPr>
                        <m:t>的</m:t>
                      </m:r>
                      <m:r>
                        <m:rPr>
                          <m:sty m:val="p"/>
                        </m:rPr>
                        <a:rPr lang="en-US" altLang="zh-CN" sz="1200" i="1" dirty="0">
                          <a:solidFill>
                            <a:schemeClr val="tx1"/>
                          </a:solidFill>
                          <a:latin typeface="Cambria Math" panose="02040503050406030204" pitchFamily="18" charset="0"/>
                        </a:rPr>
                        <m:t>BSDF</m:t>
                      </m:r>
                      <m:r>
                        <a:rPr lang="zh-CN" altLang="en-US" sz="1200" i="1" dirty="0" smtClean="0">
                          <a:solidFill>
                            <a:schemeClr val="tx1"/>
                          </a:solidFill>
                          <a:latin typeface="Cambria Math" panose="02040503050406030204" pitchFamily="18" charset="0"/>
                        </a:rPr>
                        <m:t>为</m:t>
                      </m:r>
                      <m:r>
                        <a:rPr lang="zh-CN" altLang="en-US" sz="1200" i="1" dirty="0">
                          <a:solidFill>
                            <a:schemeClr val="tx1"/>
                          </a:solidFill>
                          <a:latin typeface="Cambria Math" panose="02040503050406030204" pitchFamily="18" charset="0"/>
                        </a:rPr>
                        <m:t>：</m:t>
                      </m:r>
                      <m:sSub>
                        <m:sSubPr>
                          <m:ctrlPr>
                            <a:rPr lang="en-US" altLang="zh-CN" sz="1200" i="1" dirty="0" smtClean="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𝑓</m:t>
                          </m:r>
                        </m:e>
                        <m:sub>
                          <m:r>
                            <a:rPr lang="en-US" altLang="zh-CN" sz="1200" b="0" i="1" dirty="0" smtClean="0">
                              <a:solidFill>
                                <a:schemeClr val="tx1"/>
                              </a:solidFill>
                              <a:latin typeface="Cambria Math" panose="02040503050406030204" pitchFamily="18" charset="0"/>
                            </a:rPr>
                            <m:t>𝑚</m:t>
                          </m:r>
                        </m:sub>
                      </m:sSub>
                      <m:d>
                        <m:dPr>
                          <m:ctrlPr>
                            <a:rPr lang="en-US" altLang="zh-CN" sz="1200" i="1" dirty="0">
                              <a:solidFill>
                                <a:schemeClr val="tx1"/>
                              </a:solidFill>
                              <a:latin typeface="Cambria Math" panose="02040503050406030204" pitchFamily="18" charset="0"/>
                            </a:rPr>
                          </m:ctrlPr>
                        </m:dPr>
                        <m:e>
                          <m:r>
                            <a:rPr lang="en-US" altLang="zh-CN" sz="1200" b="1" i="1" dirty="0">
                              <a:solidFill>
                                <a:srgbClr val="00B0F0"/>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𝒐</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𝒎</m:t>
                          </m:r>
                        </m:e>
                      </m:d>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𝜌</m:t>
                      </m:r>
                      <m:f>
                        <m:fPr>
                          <m:ctrlPr>
                            <a:rPr lang="en-US" altLang="zh-CN" sz="1200" b="0" i="1" dirty="0" smtClean="0">
                              <a:solidFill>
                                <a:schemeClr val="tx1"/>
                              </a:solidFill>
                              <a:latin typeface="Cambria Math" panose="02040503050406030204" pitchFamily="18" charset="0"/>
                            </a:rPr>
                          </m:ctrlPr>
                        </m:fPr>
                        <m:num>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𝛿</m:t>
                              </m:r>
                            </m:e>
                            <m:sub>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𝜔</m:t>
                                  </m:r>
                                </m:e>
                                <m:sub>
                                  <m:r>
                                    <a:rPr lang="en-US" altLang="zh-CN" sz="1200" b="0" i="1" dirty="0" smtClean="0">
                                      <a:solidFill>
                                        <a:schemeClr val="tx1"/>
                                      </a:solidFill>
                                      <a:latin typeface="Cambria Math" panose="02040503050406030204" pitchFamily="18" charset="0"/>
                                    </a:rPr>
                                    <m:t>𝑖</m:t>
                                  </m:r>
                                </m:sub>
                              </m:sSub>
                            </m:sub>
                          </m:sSub>
                          <m:d>
                            <m:dPr>
                              <m:ctrlPr>
                                <a:rPr lang="en-US" altLang="zh-CN" sz="1200" b="0" i="1" dirty="0" smtClean="0">
                                  <a:solidFill>
                                    <a:schemeClr val="tx1"/>
                                  </a:solidFill>
                                  <a:latin typeface="Cambria Math" panose="02040503050406030204" pitchFamily="18" charset="0"/>
                                </a:rPr>
                              </m:ctrlPr>
                            </m:dPr>
                            <m:e>
                              <m:r>
                                <a:rPr lang="en-US" altLang="zh-CN" sz="1200" b="1" i="1" dirty="0" smtClean="0">
                                  <a:solidFill>
                                    <a:srgbClr val="00B0F0"/>
                                  </a:solidFill>
                                  <a:latin typeface="Cambria Math" panose="02040503050406030204" pitchFamily="18" charset="0"/>
                                </a:rPr>
                                <m:t>𝒊</m:t>
                              </m:r>
                              <m:r>
                                <a:rPr lang="en-US" altLang="zh-CN" sz="1200" b="0" i="1" dirty="0" smtClean="0">
                                  <a:solidFill>
                                    <a:schemeClr val="tx1"/>
                                  </a:solidFill>
                                  <a:latin typeface="Cambria Math" panose="02040503050406030204" pitchFamily="18" charset="0"/>
                                </a:rPr>
                                <m:t>−</m:t>
                              </m:r>
                              <m:sSup>
                                <m:sSupPr>
                                  <m:ctrlPr>
                                    <a:rPr lang="en-US" altLang="zh-CN" sz="1200" b="1" i="1" dirty="0" smtClean="0">
                                      <a:solidFill>
                                        <a:schemeClr val="tx1"/>
                                      </a:solidFill>
                                      <a:latin typeface="Cambria Math" panose="02040503050406030204" pitchFamily="18" charset="0"/>
                                    </a:rPr>
                                  </m:ctrlPr>
                                </m:sSupPr>
                                <m:e>
                                  <m:r>
                                    <a:rPr lang="en-US" altLang="zh-CN" sz="1200" b="1" i="1" dirty="0" smtClean="0">
                                      <a:solidFill>
                                        <a:schemeClr val="tx1"/>
                                      </a:solidFill>
                                      <a:latin typeface="Cambria Math" panose="02040503050406030204" pitchFamily="18" charset="0"/>
                                    </a:rPr>
                                    <m:t>𝒊</m:t>
                                  </m:r>
                                </m:e>
                                <m:sup>
                                  <m:r>
                                    <a:rPr lang="en-US" altLang="zh-CN" sz="1200" b="1" i="1" dirty="0" smtClean="0">
                                      <a:solidFill>
                                        <a:schemeClr val="tx1"/>
                                      </a:solidFill>
                                      <a:latin typeface="Cambria Math" panose="02040503050406030204" pitchFamily="18" charset="0"/>
                                    </a:rPr>
                                    <m:t>∗</m:t>
                                  </m:r>
                                </m:sup>
                              </m:sSup>
                            </m:e>
                          </m:d>
                        </m:num>
                        <m:den>
                          <m:d>
                            <m:dPr>
                              <m:begChr m:val="|"/>
                              <m:endChr m:val="|"/>
                              <m:ctrlPr>
                                <a:rPr lang="en-US" altLang="zh-CN" sz="1200" b="0" i="1" dirty="0" smtClean="0">
                                  <a:solidFill>
                                    <a:schemeClr val="tx1"/>
                                  </a:solidFill>
                                  <a:latin typeface="Cambria Math" panose="02040503050406030204" pitchFamily="18" charset="0"/>
                                </a:rPr>
                              </m:ctrlPr>
                            </m:dPr>
                            <m:e>
                              <m:sSup>
                                <m:sSupPr>
                                  <m:ctrlPr>
                                    <a:rPr lang="en-US" altLang="zh-CN" sz="1200" b="1" i="1" dirty="0">
                                      <a:solidFill>
                                        <a:schemeClr val="tx1"/>
                                      </a:solidFill>
                                      <a:latin typeface="Cambria Math" panose="02040503050406030204" pitchFamily="18" charset="0"/>
                                    </a:rPr>
                                  </m:ctrlPr>
                                </m:sSupPr>
                                <m:e>
                                  <m:r>
                                    <a:rPr lang="en-US" altLang="zh-CN" sz="1200" b="1" i="1" dirty="0">
                                      <a:solidFill>
                                        <a:schemeClr val="tx1"/>
                                      </a:solidFill>
                                      <a:latin typeface="Cambria Math" panose="02040503050406030204" pitchFamily="18" charset="0"/>
                                    </a:rPr>
                                    <m:t>𝒊</m:t>
                                  </m:r>
                                </m:e>
                                <m:sup>
                                  <m:r>
                                    <a:rPr lang="en-US" altLang="zh-CN" sz="1200" b="1" i="1" dirty="0">
                                      <a:solidFill>
                                        <a:schemeClr val="tx1"/>
                                      </a:solidFill>
                                      <a:latin typeface="Cambria Math" panose="02040503050406030204" pitchFamily="18" charset="0"/>
                                    </a:rPr>
                                    <m:t>∗</m:t>
                                  </m:r>
                                </m:sup>
                              </m:sSup>
                              <m:r>
                                <a:rPr lang="en-US" altLang="zh-CN" sz="1200" b="0" i="1" dirty="0" smtClean="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𝒎</m:t>
                              </m:r>
                            </m:e>
                          </m:d>
                        </m:den>
                      </m:f>
                      <m:r>
                        <a:rPr lang="en-US" altLang="zh-CN" sz="1200" b="0" i="1" dirty="0" smtClean="0">
                          <a:solidFill>
                            <a:schemeClr val="tx1"/>
                          </a:solidFill>
                          <a:latin typeface="Cambria Math" panose="02040503050406030204" pitchFamily="18" charset="0"/>
                        </a:rPr>
                        <m:t> </m:t>
                      </m:r>
                      <m:d>
                        <m:dPr>
                          <m:begChr m:val="["/>
                          <m:endChr m:val="]"/>
                          <m:ctrlPr>
                            <a:rPr lang="en-US" altLang="zh-CN" sz="1200" b="0" i="1" dirty="0" smtClean="0">
                              <a:solidFill>
                                <a:schemeClr val="tx1"/>
                              </a:solidFill>
                              <a:latin typeface="Cambria Math" panose="02040503050406030204" pitchFamily="18" charset="0"/>
                            </a:rPr>
                          </m:ctrlPr>
                        </m:dPr>
                        <m:e>
                          <m:f>
                            <m:fPr>
                              <m:ctrlPr>
                                <a:rPr lang="en-US" altLang="zh-CN" sz="1200" b="0" i="1" dirty="0" smtClean="0">
                                  <a:solidFill>
                                    <a:schemeClr val="tx1"/>
                                  </a:solidFill>
                                  <a:latin typeface="Cambria Math" panose="02040503050406030204" pitchFamily="18" charset="0"/>
                                </a:rPr>
                              </m:ctrlPr>
                            </m:fPr>
                            <m:num>
                              <m:r>
                                <a:rPr lang="en-US" altLang="zh-CN" sz="1200" b="0" i="1" dirty="0" smtClean="0">
                                  <a:solidFill>
                                    <a:schemeClr val="tx1"/>
                                  </a:solidFill>
                                  <a:latin typeface="Cambria Math" panose="02040503050406030204" pitchFamily="18" charset="0"/>
                                </a:rPr>
                                <m:t>1</m:t>
                              </m:r>
                            </m:num>
                            <m:den>
                              <m:r>
                                <a:rPr lang="en-US" altLang="zh-CN" sz="1200" b="0" i="1" dirty="0" smtClean="0">
                                  <a:solidFill>
                                    <a:schemeClr val="tx1"/>
                                  </a:solidFill>
                                  <a:latin typeface="Cambria Math" panose="02040503050406030204" pitchFamily="18" charset="0"/>
                                </a:rPr>
                                <m:t>𝑠𝑟</m:t>
                              </m:r>
                            </m:den>
                          </m:f>
                        </m:e>
                      </m:d>
                    </m:oMath>
                  </m:oMathPara>
                </a14:m>
                <a:endParaRPr lang="en-US" altLang="zh-CN" sz="12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1200" b="0" i="1" dirty="0" smtClean="0">
                          <a:solidFill>
                            <a:schemeClr val="tx1"/>
                          </a:solidFill>
                          <a:latin typeface="Cambria Math" panose="02040503050406030204" pitchFamily="18" charset="0"/>
                        </a:rPr>
                        <m:t>𝛿</m:t>
                      </m:r>
                      <m:r>
                        <a:rPr lang="zh-CN" altLang="en-US" sz="1200" i="1" dirty="0">
                          <a:solidFill>
                            <a:schemeClr val="tx1"/>
                          </a:solidFill>
                          <a:latin typeface="Cambria Math" panose="02040503050406030204" pitchFamily="18" charset="0"/>
                        </a:rPr>
                        <m:t>函数满足：</m:t>
                      </m:r>
                      <m:nary>
                        <m:naryPr>
                          <m:supHide m:val="on"/>
                          <m:ctrlPr>
                            <a:rPr lang="en-US" altLang="zh-CN" sz="1200" b="0" i="1" dirty="0" smtClean="0">
                              <a:solidFill>
                                <a:schemeClr val="tx1"/>
                              </a:solidFill>
                              <a:latin typeface="Cambria Math" panose="02040503050406030204" pitchFamily="18" charset="0"/>
                            </a:rPr>
                          </m:ctrlPr>
                        </m:naryPr>
                        <m:sub>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𝑆</m:t>
                              </m:r>
                            </m:e>
                            <m:sup>
                              <m:r>
                                <a:rPr lang="en-US" altLang="zh-CN" sz="1200" b="0" i="1" dirty="0" smtClean="0">
                                  <a:solidFill>
                                    <a:schemeClr val="tx1"/>
                                  </a:solidFill>
                                  <a:latin typeface="Cambria Math" panose="02040503050406030204" pitchFamily="18" charset="0"/>
                                </a:rPr>
                                <m:t>2</m:t>
                              </m:r>
                            </m:sup>
                          </m:sSup>
                        </m:sub>
                        <m:sup/>
                        <m:e>
                          <m:sSub>
                            <m:sSubPr>
                              <m:ctrlPr>
                                <a:rPr lang="en-US" altLang="zh-CN" sz="1200" b="0" i="1" dirty="0" smtClean="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𝛿</m:t>
                              </m:r>
                            </m:e>
                            <m:sub>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𝜔</m:t>
                                  </m:r>
                                </m:e>
                                <m:sub>
                                  <m:r>
                                    <a:rPr lang="en-US" altLang="zh-CN" sz="1200" b="0" i="1" dirty="0" smtClean="0">
                                      <a:solidFill>
                                        <a:schemeClr val="tx1"/>
                                      </a:solidFill>
                                      <a:latin typeface="Cambria Math" panose="02040503050406030204" pitchFamily="18" charset="0"/>
                                    </a:rPr>
                                    <m:t>𝑖</m:t>
                                  </m:r>
                                </m:sub>
                              </m:sSub>
                            </m:sub>
                          </m:sSub>
                          <m:d>
                            <m:dPr>
                              <m:ctrlPr>
                                <a:rPr lang="en-US" altLang="zh-CN" sz="1200" i="1" dirty="0">
                                  <a:solidFill>
                                    <a:schemeClr val="tx1"/>
                                  </a:solidFill>
                                  <a:latin typeface="Cambria Math" panose="02040503050406030204" pitchFamily="18" charset="0"/>
                                </a:rPr>
                              </m:ctrlPr>
                            </m:dPr>
                            <m:e>
                              <m:r>
                                <a:rPr lang="en-US" altLang="zh-CN" sz="1200" b="1" i="1" dirty="0">
                                  <a:solidFill>
                                    <a:srgbClr val="00B0F0"/>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sSup>
                                <m:sSupPr>
                                  <m:ctrlPr>
                                    <a:rPr lang="en-US" altLang="zh-CN" sz="1200" b="1" i="1" dirty="0">
                                      <a:solidFill>
                                        <a:schemeClr val="tx1"/>
                                      </a:solidFill>
                                      <a:latin typeface="Cambria Math" panose="02040503050406030204" pitchFamily="18" charset="0"/>
                                    </a:rPr>
                                  </m:ctrlPr>
                                </m:sSupPr>
                                <m:e>
                                  <m:r>
                                    <a:rPr lang="en-US" altLang="zh-CN" sz="1200" b="1" i="1" dirty="0">
                                      <a:solidFill>
                                        <a:schemeClr val="tx1"/>
                                      </a:solidFill>
                                      <a:latin typeface="Cambria Math" panose="02040503050406030204" pitchFamily="18" charset="0"/>
                                    </a:rPr>
                                    <m:t>𝒊</m:t>
                                  </m:r>
                                </m:e>
                                <m:sup>
                                  <m:r>
                                    <a:rPr lang="en-US" altLang="zh-CN" sz="1200" b="1" i="1" dirty="0">
                                      <a:solidFill>
                                        <a:schemeClr val="tx1"/>
                                      </a:solidFill>
                                      <a:latin typeface="Cambria Math" panose="02040503050406030204" pitchFamily="18" charset="0"/>
                                    </a:rPr>
                                    <m:t>∗</m:t>
                                  </m:r>
                                </m:sup>
                              </m:sSup>
                            </m:e>
                          </m:d>
                          <m:r>
                            <a:rPr lang="en-US" altLang="zh-CN" sz="1200" b="0" i="1" dirty="0" smtClean="0">
                              <a:solidFill>
                                <a:schemeClr val="tx1"/>
                              </a:solidFill>
                              <a:latin typeface="Cambria Math" panose="02040503050406030204" pitchFamily="18" charset="0"/>
                            </a:rPr>
                            <m:t> </m:t>
                          </m:r>
                          <m:r>
                            <a:rPr lang="en-US" altLang="zh-CN" sz="1200" b="0" i="1" dirty="0" smtClean="0">
                              <a:solidFill>
                                <a:schemeClr val="accent1">
                                  <a:lumMod val="75000"/>
                                </a:schemeClr>
                              </a:solidFill>
                              <a:latin typeface="Cambria Math" panose="02040503050406030204" pitchFamily="18" charset="0"/>
                            </a:rPr>
                            <m:t>𝑑</m:t>
                          </m:r>
                          <m:sSub>
                            <m:sSubPr>
                              <m:ctrlPr>
                                <a:rPr lang="en-US" altLang="zh-CN" sz="1200" b="0" i="1" dirty="0" smtClean="0">
                                  <a:solidFill>
                                    <a:schemeClr val="accent1">
                                      <a:lumMod val="75000"/>
                                    </a:schemeClr>
                                  </a:solidFill>
                                  <a:latin typeface="Cambria Math" panose="02040503050406030204" pitchFamily="18" charset="0"/>
                                </a:rPr>
                              </m:ctrlPr>
                            </m:sSubPr>
                            <m:e>
                              <m:r>
                                <a:rPr lang="en-US" altLang="zh-CN" sz="1200" b="0" i="1" dirty="0" smtClean="0">
                                  <a:solidFill>
                                    <a:schemeClr val="accent1">
                                      <a:lumMod val="75000"/>
                                    </a:schemeClr>
                                  </a:solidFill>
                                  <a:latin typeface="Cambria Math" panose="02040503050406030204" pitchFamily="18" charset="0"/>
                                </a:rPr>
                                <m:t>𝜔</m:t>
                              </m:r>
                            </m:e>
                            <m:sub>
                              <m:r>
                                <a:rPr lang="en-US" altLang="zh-CN" sz="1200" b="0" i="1" dirty="0" smtClean="0">
                                  <a:solidFill>
                                    <a:schemeClr val="accent1">
                                      <a:lumMod val="75000"/>
                                    </a:schemeClr>
                                  </a:solidFill>
                                  <a:latin typeface="Cambria Math" panose="02040503050406030204" pitchFamily="18" charset="0"/>
                                </a:rPr>
                                <m:t>𝑖</m:t>
                              </m:r>
                            </m:sub>
                          </m:sSub>
                        </m:e>
                      </m:nary>
                      <m:r>
                        <a:rPr lang="en-US" altLang="zh-CN" sz="1200" b="0" i="1" dirty="0" smtClean="0">
                          <a:solidFill>
                            <a:schemeClr val="tx1"/>
                          </a:solidFill>
                          <a:latin typeface="Cambria Math" panose="02040503050406030204" pitchFamily="18" charset="0"/>
                        </a:rPr>
                        <m:t>=1  </m:t>
                      </m:r>
                      <m:r>
                        <a:rPr lang="zh-CN" altLang="en-US" sz="1200" i="1" dirty="0">
                          <a:solidFill>
                            <a:schemeClr val="tx1"/>
                          </a:solidFill>
                          <a:latin typeface="Cambria Math" panose="02040503050406030204" pitchFamily="18" charset="0"/>
                        </a:rPr>
                        <m:t>且</m:t>
                      </m:r>
                      <m:r>
                        <a:rPr lang="en-US" altLang="zh-CN" sz="1200" b="0" i="1" dirty="0" smtClean="0">
                          <a:solidFill>
                            <a:schemeClr val="tx1"/>
                          </a:solidFill>
                          <a:latin typeface="Cambria Math" panose="02040503050406030204" pitchFamily="18" charset="0"/>
                        </a:rPr>
                        <m:t>  </m:t>
                      </m:r>
                      <m:r>
                        <a:rPr lang="en-US" altLang="zh-CN" sz="1200" i="1" dirty="0">
                          <a:solidFill>
                            <a:schemeClr val="tx1"/>
                          </a:solidFill>
                          <a:latin typeface="Cambria Math" panose="02040503050406030204" pitchFamily="18" charset="0"/>
                          <a:ea typeface="Cambria Math" panose="02040503050406030204" pitchFamily="18" charset="0"/>
                        </a:rPr>
                        <m:t>∀</m:t>
                      </m:r>
                      <m:r>
                        <a:rPr lang="en-US" altLang="zh-CN" sz="1200" b="1" i="1" dirty="0" smtClean="0">
                          <a:solidFill>
                            <a:srgbClr val="00B0F0"/>
                          </a:solidFill>
                          <a:latin typeface="Cambria Math" panose="02040503050406030204" pitchFamily="18" charset="0"/>
                          <a:ea typeface="Cambria Math" panose="02040503050406030204" pitchFamily="18" charset="0"/>
                        </a:rPr>
                        <m:t>𝒊</m:t>
                      </m:r>
                      <m:r>
                        <a:rPr lang="en-US" altLang="zh-CN" sz="1200" b="0" i="1" dirty="0" smtClean="0">
                          <a:solidFill>
                            <a:schemeClr val="tx1"/>
                          </a:solidFill>
                          <a:latin typeface="Cambria Math" panose="02040503050406030204" pitchFamily="18" charset="0"/>
                          <a:ea typeface="Cambria Math" panose="02040503050406030204" pitchFamily="18" charset="0"/>
                        </a:rPr>
                        <m:t>≠</m:t>
                      </m:r>
                      <m:sSup>
                        <m:sSupPr>
                          <m:ctrlPr>
                            <a:rPr lang="en-US" altLang="zh-CN" sz="1200" b="1" i="1" dirty="0" smtClean="0">
                              <a:solidFill>
                                <a:schemeClr val="tx1"/>
                              </a:solidFill>
                              <a:latin typeface="Cambria Math" panose="02040503050406030204" pitchFamily="18" charset="0"/>
                              <a:ea typeface="Cambria Math" panose="02040503050406030204" pitchFamily="18" charset="0"/>
                            </a:rPr>
                          </m:ctrlPr>
                        </m:sSupPr>
                        <m:e>
                          <m:r>
                            <a:rPr lang="en-US" altLang="zh-CN" sz="1200" b="1" i="1" dirty="0" smtClean="0">
                              <a:solidFill>
                                <a:schemeClr val="tx1"/>
                              </a:solidFill>
                              <a:latin typeface="Cambria Math" panose="02040503050406030204" pitchFamily="18" charset="0"/>
                              <a:ea typeface="Cambria Math" panose="02040503050406030204" pitchFamily="18" charset="0"/>
                            </a:rPr>
                            <m:t>𝒊</m:t>
                          </m:r>
                        </m:e>
                        <m:sup>
                          <m:r>
                            <a:rPr lang="en-US" altLang="zh-CN" sz="1200" b="1" i="1" dirty="0" smtClean="0">
                              <a:solidFill>
                                <a:schemeClr val="tx1"/>
                              </a:solidFill>
                              <a:latin typeface="Cambria Math" panose="02040503050406030204" pitchFamily="18" charset="0"/>
                              <a:ea typeface="Cambria Math" panose="02040503050406030204" pitchFamily="18" charset="0"/>
                            </a:rPr>
                            <m:t>∗</m:t>
                          </m:r>
                        </m:sup>
                      </m:sSup>
                      <m:r>
                        <a:rPr lang="en-US" altLang="zh-CN" sz="1200" b="0" i="1" dirty="0" smtClean="0">
                          <a:solidFill>
                            <a:schemeClr val="tx1"/>
                          </a:solidFill>
                          <a:latin typeface="Cambria Math" panose="02040503050406030204" pitchFamily="18" charset="0"/>
                          <a:ea typeface="Cambria Math" panose="02040503050406030204" pitchFamily="18" charset="0"/>
                        </a:rPr>
                        <m:t>, </m:t>
                      </m:r>
                      <m:sSub>
                        <m:sSubPr>
                          <m:ctrlPr>
                            <a:rPr lang="en-US" altLang="zh-CN" sz="1200" b="0" i="1" dirty="0" smtClean="0">
                              <a:solidFill>
                                <a:schemeClr val="tx1"/>
                              </a:solidFill>
                              <a:latin typeface="Cambria Math" panose="02040503050406030204" pitchFamily="18" charset="0"/>
                              <a:ea typeface="Cambria Math" panose="02040503050406030204" pitchFamily="18" charset="0"/>
                            </a:rPr>
                          </m:ctrlPr>
                        </m:sSubPr>
                        <m:e>
                          <m:r>
                            <a:rPr lang="en-US" altLang="zh-CN" sz="1200" i="1" dirty="0">
                              <a:solidFill>
                                <a:schemeClr val="tx1"/>
                              </a:solidFill>
                              <a:latin typeface="Cambria Math" panose="02040503050406030204" pitchFamily="18" charset="0"/>
                            </a:rPr>
                            <m:t>𝛿</m:t>
                          </m:r>
                        </m:e>
                        <m:sub>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𝜔</m:t>
                              </m:r>
                            </m:e>
                            <m:sub>
                              <m:r>
                                <m:rPr>
                                  <m:sty m:val="p"/>
                                </m:rPr>
                                <a:rPr lang="en-US" altLang="zh-CN" sz="1200" i="1" dirty="0">
                                  <a:solidFill>
                                    <a:schemeClr val="tx1"/>
                                  </a:solidFill>
                                  <a:latin typeface="Cambria Math" panose="02040503050406030204" pitchFamily="18" charset="0"/>
                                </a:rPr>
                                <m:t>i</m:t>
                              </m:r>
                            </m:sub>
                          </m:sSub>
                        </m:sub>
                      </m:sSub>
                      <m:d>
                        <m:dPr>
                          <m:ctrlPr>
                            <a:rPr lang="en-US" altLang="zh-CN" sz="1200" i="1" dirty="0">
                              <a:solidFill>
                                <a:schemeClr val="tx1"/>
                              </a:solidFill>
                              <a:latin typeface="Cambria Math" panose="02040503050406030204" pitchFamily="18" charset="0"/>
                            </a:rPr>
                          </m:ctrlPr>
                        </m:dPr>
                        <m:e>
                          <m:r>
                            <a:rPr lang="en-US" altLang="zh-CN" sz="1200" b="1" i="1" dirty="0">
                              <a:solidFill>
                                <a:srgbClr val="00B0F0"/>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sSup>
                            <m:sSupPr>
                              <m:ctrlPr>
                                <a:rPr lang="en-US" altLang="zh-CN" sz="1200" b="1" i="1" dirty="0">
                                  <a:solidFill>
                                    <a:schemeClr val="tx1"/>
                                  </a:solidFill>
                                  <a:latin typeface="Cambria Math" panose="02040503050406030204" pitchFamily="18" charset="0"/>
                                </a:rPr>
                              </m:ctrlPr>
                            </m:sSupPr>
                            <m:e>
                              <m:r>
                                <a:rPr lang="en-US" altLang="zh-CN" sz="1200" b="1" i="1" dirty="0">
                                  <a:solidFill>
                                    <a:schemeClr val="tx1"/>
                                  </a:solidFill>
                                  <a:latin typeface="Cambria Math" panose="02040503050406030204" pitchFamily="18" charset="0"/>
                                </a:rPr>
                                <m:t>𝒊</m:t>
                              </m:r>
                            </m:e>
                            <m:sup>
                              <m:r>
                                <a:rPr lang="en-US" altLang="zh-CN" sz="1200" b="1" i="1" dirty="0">
                                  <a:solidFill>
                                    <a:schemeClr val="tx1"/>
                                  </a:solidFill>
                                  <a:latin typeface="Cambria Math" panose="02040503050406030204" pitchFamily="18" charset="0"/>
                                </a:rPr>
                                <m:t>∗</m:t>
                              </m:r>
                            </m:sup>
                          </m:sSup>
                        </m:e>
                      </m:d>
                      <m:r>
                        <a:rPr lang="en-US" altLang="zh-CN" sz="1200" b="0" i="1" dirty="0" smtClean="0">
                          <a:solidFill>
                            <a:schemeClr val="tx1"/>
                          </a:solidFill>
                          <a:latin typeface="Cambria Math" panose="02040503050406030204" pitchFamily="18" charset="0"/>
                        </a:rPr>
                        <m:t>=0</m:t>
                      </m:r>
                    </m:oMath>
                  </m:oMathPara>
                </a14:m>
                <a:endParaRPr lang="en-US" altLang="zh-CN" sz="12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1200" b="0" i="1" dirty="0" smtClean="0">
                          <a:solidFill>
                            <a:schemeClr val="tx1"/>
                          </a:solidFill>
                          <a:latin typeface="Cambria Math" panose="02040503050406030204" pitchFamily="18" charset="0"/>
                        </a:rPr>
                        <m:t>𝛿</m:t>
                      </m:r>
                      <m:r>
                        <a:rPr lang="zh-CN" altLang="en-US" sz="1200" i="1" dirty="0">
                          <a:solidFill>
                            <a:schemeClr val="tx1"/>
                          </a:solidFill>
                          <a:latin typeface="Cambria Math" panose="02040503050406030204" pitchFamily="18" charset="0"/>
                        </a:rPr>
                        <m:t>函数</m:t>
                      </m:r>
                      <m:r>
                        <a:rPr lang="zh-CN" altLang="en-US" sz="1200" i="1" dirty="0" smtClean="0">
                          <a:solidFill>
                            <a:schemeClr val="tx1"/>
                          </a:solidFill>
                          <a:latin typeface="Cambria Math" panose="02040503050406030204" pitchFamily="18" charset="0"/>
                        </a:rPr>
                        <m:t>性质</m:t>
                      </m:r>
                      <m:r>
                        <a:rPr lang="zh-CN" altLang="en-US" sz="1200" i="1" dirty="0">
                          <a:solidFill>
                            <a:schemeClr val="tx1"/>
                          </a:solidFill>
                          <a:latin typeface="Cambria Math" panose="02040503050406030204" pitchFamily="18" charset="0"/>
                        </a:rPr>
                        <m:t>：</m:t>
                      </m:r>
                      <m:nary>
                        <m:naryPr>
                          <m:supHide m:val="on"/>
                          <m:ctrlPr>
                            <a:rPr lang="en-US" altLang="zh-CN" sz="1200" b="0" i="1" dirty="0" smtClean="0">
                              <a:solidFill>
                                <a:schemeClr val="tx1"/>
                              </a:solidFill>
                              <a:latin typeface="Cambria Math" panose="02040503050406030204" pitchFamily="18" charset="0"/>
                            </a:rPr>
                          </m:ctrlPr>
                        </m:naryPr>
                        <m:sub>
                          <m:r>
                            <a:rPr lang="en-US" altLang="zh-CN" sz="1200" b="0" i="1" dirty="0" smtClean="0">
                              <a:solidFill>
                                <a:schemeClr val="tx1"/>
                              </a:solidFill>
                              <a:latin typeface="Cambria Math" panose="02040503050406030204" pitchFamily="18" charset="0"/>
                            </a:rPr>
                            <m:t>𝐷</m:t>
                          </m:r>
                        </m:sub>
                        <m:sup/>
                        <m:e>
                          <m:r>
                            <a:rPr lang="en-US" altLang="zh-CN" sz="1200" b="0" i="1" dirty="0" smtClean="0">
                              <a:solidFill>
                                <a:schemeClr val="tx1"/>
                              </a:solidFill>
                              <a:latin typeface="Cambria Math" panose="02040503050406030204" pitchFamily="18" charset="0"/>
                            </a:rPr>
                            <m:t>𝑔</m:t>
                          </m:r>
                          <m:d>
                            <m:dPr>
                              <m:ctrlPr>
                                <a:rPr lang="en-US" altLang="zh-CN" sz="1200" b="0" i="1" dirty="0" smtClean="0">
                                  <a:solidFill>
                                    <a:schemeClr val="tx1"/>
                                  </a:solidFill>
                                  <a:latin typeface="Cambria Math" panose="02040503050406030204" pitchFamily="18" charset="0"/>
                                </a:rPr>
                              </m:ctrlPr>
                            </m:dPr>
                            <m:e>
                              <m:r>
                                <a:rPr lang="en-US" altLang="zh-CN" sz="1200" b="0" i="1" dirty="0" smtClean="0">
                                  <a:solidFill>
                                    <a:schemeClr val="tx1"/>
                                  </a:solidFill>
                                  <a:latin typeface="Cambria Math" panose="02040503050406030204" pitchFamily="18" charset="0"/>
                                </a:rPr>
                                <m:t>𝑥</m:t>
                              </m:r>
                            </m:e>
                          </m:d>
                          <m:r>
                            <a:rPr lang="en-US" altLang="zh-CN" sz="1200" b="0" i="1" dirty="0" smtClean="0">
                              <a:solidFill>
                                <a:schemeClr val="tx1"/>
                              </a:solidFill>
                              <a:latin typeface="Cambria Math" panose="02040503050406030204" pitchFamily="18" charset="0"/>
                            </a:rPr>
                            <m:t> </m:t>
                          </m:r>
                          <m:r>
                            <a:rPr lang="en-US" altLang="zh-CN" sz="1200" i="1" dirty="0">
                              <a:solidFill>
                                <a:schemeClr val="tx1"/>
                              </a:solidFill>
                              <a:latin typeface="Cambria Math" panose="02040503050406030204" pitchFamily="18" charset="0"/>
                            </a:rPr>
                            <m:t>𝛿</m:t>
                          </m:r>
                          <m:d>
                            <m:dPr>
                              <m:ctrlPr>
                                <a:rPr lang="en-US" altLang="zh-CN" sz="1200" i="1" dirty="0">
                                  <a:solidFill>
                                    <a:schemeClr val="tx1"/>
                                  </a:solidFill>
                                  <a:latin typeface="Cambria Math" panose="02040503050406030204" pitchFamily="18" charset="0"/>
                                </a:rPr>
                              </m:ctrlPr>
                            </m:dPr>
                            <m:e>
                              <m:r>
                                <a:rPr lang="en-US" altLang="zh-CN" sz="1200" b="0" i="1" dirty="0" smtClean="0">
                                  <a:solidFill>
                                    <a:schemeClr val="tx1"/>
                                  </a:solidFill>
                                  <a:latin typeface="Cambria Math" panose="02040503050406030204" pitchFamily="18" charset="0"/>
                                </a:rPr>
                                <m:t>𝑥</m:t>
                              </m:r>
                              <m:r>
                                <a:rPr lang="en-US" altLang="zh-CN" sz="1200" b="0" i="1" dirty="0" smtClean="0">
                                  <a:solidFill>
                                    <a:schemeClr val="tx1"/>
                                  </a:solidFill>
                                  <a:latin typeface="Cambria Math" panose="02040503050406030204" pitchFamily="18" charset="0"/>
                                </a:rPr>
                                <m:t>−</m:t>
                              </m:r>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𝑥</m:t>
                                  </m:r>
                                </m:e>
                                <m:sub>
                                  <m:r>
                                    <a:rPr lang="en-US" altLang="zh-CN" sz="1200" b="0" i="1" dirty="0" smtClean="0">
                                      <a:solidFill>
                                        <a:schemeClr val="tx1"/>
                                      </a:solidFill>
                                      <a:latin typeface="Cambria Math" panose="02040503050406030204" pitchFamily="18" charset="0"/>
                                    </a:rPr>
                                    <m:t>0</m:t>
                                  </m:r>
                                </m:sub>
                              </m:sSub>
                            </m:e>
                          </m:d>
                          <m:r>
                            <a:rPr lang="en-US" altLang="zh-CN" sz="1200" b="0" i="1" dirty="0" smtClean="0">
                              <a:solidFill>
                                <a:schemeClr val="tx1"/>
                              </a:solidFill>
                              <a:latin typeface="Cambria Math" panose="02040503050406030204" pitchFamily="18" charset="0"/>
                            </a:rPr>
                            <m:t> </m:t>
                          </m:r>
                          <m:r>
                            <a:rPr lang="en-US" altLang="zh-CN" sz="1200" b="0" i="1" dirty="0" smtClean="0">
                              <a:solidFill>
                                <a:schemeClr val="tx1"/>
                              </a:solidFill>
                              <a:latin typeface="Cambria Math" panose="02040503050406030204" pitchFamily="18" charset="0"/>
                            </a:rPr>
                            <m:t>𝑑𝑥</m:t>
                          </m:r>
                        </m:e>
                      </m:nary>
                      <m:r>
                        <a:rPr lang="en-US" altLang="zh-CN" sz="1200" b="0" i="1" dirty="0" smtClean="0">
                          <a:solidFill>
                            <a:schemeClr val="tx1"/>
                          </a:solidFill>
                          <a:latin typeface="Cambria Math" panose="02040503050406030204" pitchFamily="18" charset="0"/>
                        </a:rPr>
                        <m:t>=</m:t>
                      </m:r>
                      <m:d>
                        <m:dPr>
                          <m:begChr m:val="{"/>
                          <m:endChr m:val=""/>
                          <m:ctrlPr>
                            <a:rPr lang="en-US" altLang="zh-CN" sz="1200" i="1" dirty="0">
                              <a:solidFill>
                                <a:schemeClr val="tx1"/>
                              </a:solidFill>
                              <a:latin typeface="Cambria Math" panose="02040503050406030204" pitchFamily="18" charset="0"/>
                            </a:rPr>
                          </m:ctrlPr>
                        </m:dPr>
                        <m:e>
                          <m:eqArr>
                            <m:eqArrPr>
                              <m:ctrlPr>
                                <a:rPr lang="en-US" altLang="zh-CN" sz="1200" i="1" dirty="0">
                                  <a:solidFill>
                                    <a:schemeClr val="tx1"/>
                                  </a:solidFill>
                                  <a:latin typeface="Cambria Math" panose="02040503050406030204" pitchFamily="18" charset="0"/>
                                </a:rPr>
                              </m:ctrlPr>
                            </m:eqArrPr>
                            <m:e>
                              <m:r>
                                <a:rPr lang="en-US" altLang="zh-CN" sz="1200" b="0" i="1" dirty="0" smtClean="0">
                                  <a:solidFill>
                                    <a:schemeClr val="tx1"/>
                                  </a:solidFill>
                                  <a:latin typeface="Cambria Math" panose="02040503050406030204" pitchFamily="18" charset="0"/>
                                </a:rPr>
                                <m:t>𝑔</m:t>
                              </m:r>
                              <m:d>
                                <m:dPr>
                                  <m:ctrlPr>
                                    <a:rPr lang="en-US" altLang="zh-CN" sz="1200" b="0" i="1" dirty="0" smtClean="0">
                                      <a:solidFill>
                                        <a:schemeClr val="tx1"/>
                                      </a:solidFill>
                                      <a:latin typeface="Cambria Math" panose="02040503050406030204" pitchFamily="18" charset="0"/>
                                    </a:rPr>
                                  </m:ctrlPr>
                                </m:dPr>
                                <m:e>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𝑥</m:t>
                                      </m:r>
                                    </m:e>
                                    <m:sub>
                                      <m:r>
                                        <a:rPr lang="en-US" altLang="zh-CN" sz="1200" b="0" i="1" dirty="0" smtClean="0">
                                          <a:solidFill>
                                            <a:schemeClr val="tx1"/>
                                          </a:solidFill>
                                          <a:latin typeface="Cambria Math" panose="02040503050406030204" pitchFamily="18" charset="0"/>
                                        </a:rPr>
                                        <m:t>0</m:t>
                                      </m:r>
                                    </m:sub>
                                  </m:sSub>
                                </m:e>
                              </m:d>
                              <m:r>
                                <a:rPr lang="en-US" altLang="zh-CN" sz="1200" b="0" i="1" dirty="0" smtClean="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 </m:t>
                              </m:r>
                              <m:r>
                                <a:rPr lang="en-US" altLang="zh-CN" sz="1200" b="0" i="1" dirty="0" smtClean="0">
                                  <a:solidFill>
                                    <a:schemeClr val="tx1"/>
                                  </a:solidFill>
                                  <a:latin typeface="Cambria Math" panose="02040503050406030204" pitchFamily="18" charset="0"/>
                                </a:rPr>
                                <m:t> </m:t>
                              </m:r>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𝑥</m:t>
                                  </m:r>
                                </m:e>
                                <m:sub>
                                  <m:r>
                                    <a:rPr lang="en-US" altLang="zh-CN" sz="1200" b="0" i="1" dirty="0" smtClean="0">
                                      <a:solidFill>
                                        <a:schemeClr val="tx1"/>
                                      </a:solidFill>
                                      <a:latin typeface="Cambria Math" panose="02040503050406030204" pitchFamily="18" charset="0"/>
                                    </a:rPr>
                                    <m:t>0</m:t>
                                  </m:r>
                                </m:sub>
                              </m:sSub>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𝐷</m:t>
                              </m:r>
                            </m:e>
                            <m:e>
                              <m:r>
                                <a:rPr lang="en-US" altLang="zh-CN" sz="1200" i="1" dirty="0">
                                  <a:solidFill>
                                    <a:schemeClr val="tx1"/>
                                  </a:solidFill>
                                  <a:latin typeface="Cambria Math" panose="02040503050406030204" pitchFamily="18" charset="0"/>
                                </a:rPr>
                                <m:t>0,    </m:t>
                              </m:r>
                              <m:r>
                                <a:rPr lang="en-US" altLang="zh-CN" sz="1200" i="1" dirty="0">
                                  <a:solidFill>
                                    <a:schemeClr val="tx1"/>
                                  </a:solidFill>
                                  <a:latin typeface="Cambria Math" panose="02040503050406030204" pitchFamily="18" charset="0"/>
                                </a:rPr>
                                <m:t>𝑜𝑡h𝑒𝑟𝑤𝑖𝑠𝑒</m:t>
                              </m:r>
                            </m:e>
                          </m:eqArr>
                        </m:e>
                      </m:d>
                    </m:oMath>
                  </m:oMathPara>
                </a14:m>
                <a:endParaRPr lang="en-US" altLang="zh-CN" sz="12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1200" b="0" i="1" dirty="0" smtClean="0">
                          <a:solidFill>
                            <a:schemeClr val="tx1"/>
                          </a:solidFill>
                          <a:latin typeface="Cambria Math" panose="02040503050406030204" pitchFamily="18" charset="0"/>
                        </a:rPr>
                        <m:t>𝑓</m:t>
                      </m:r>
                      <m:d>
                        <m:dPr>
                          <m:ctrlPr>
                            <a:rPr lang="en-US" altLang="zh-CN" sz="1200" b="0" i="1" dirty="0" smtClean="0">
                              <a:solidFill>
                                <a:schemeClr val="tx1"/>
                              </a:solidFill>
                              <a:latin typeface="Cambria Math" panose="02040503050406030204" pitchFamily="18" charset="0"/>
                            </a:rPr>
                          </m:ctrlPr>
                        </m:dPr>
                        <m:e>
                          <m:r>
                            <a:rPr lang="en-US" altLang="zh-CN" sz="1200" b="1" i="1" dirty="0" smtClean="0">
                              <a:solidFill>
                                <a:schemeClr val="tx1"/>
                              </a:solidFill>
                              <a:latin typeface="Cambria Math" panose="02040503050406030204" pitchFamily="18" charset="0"/>
                            </a:rPr>
                            <m:t>𝒊</m:t>
                          </m:r>
                          <m:r>
                            <a:rPr lang="en-US" altLang="zh-CN" sz="1200" b="0" i="1" dirty="0" smtClean="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𝒐</m:t>
                          </m:r>
                          <m:r>
                            <a:rPr lang="en-US" altLang="zh-CN" sz="1200" b="0" i="1" dirty="0" smtClean="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𝒈</m:t>
                          </m:r>
                        </m:e>
                      </m:d>
                      <m:r>
                        <a:rPr lang="en-US" altLang="zh-CN" sz="1200" b="0" i="1" dirty="0" smtClean="0">
                          <a:solidFill>
                            <a:schemeClr val="tx1"/>
                          </a:solidFill>
                          <a:latin typeface="Cambria Math" panose="02040503050406030204" pitchFamily="18" charset="0"/>
                        </a:rPr>
                        <m:t>=</m:t>
                      </m:r>
                      <m:f>
                        <m:fPr>
                          <m:ctrlPr>
                            <a:rPr lang="en-US" altLang="zh-CN" sz="1200" b="0" i="1" dirty="0" smtClean="0">
                              <a:solidFill>
                                <a:schemeClr val="tx1"/>
                              </a:solidFill>
                              <a:latin typeface="Cambria Math" panose="02040503050406030204" pitchFamily="18" charset="0"/>
                            </a:rPr>
                          </m:ctrlPr>
                        </m:fPr>
                        <m:num>
                          <m:r>
                            <a:rPr lang="en-US" altLang="zh-CN" sz="1200" b="0" i="1" dirty="0" smtClean="0">
                              <a:solidFill>
                                <a:schemeClr val="tx1"/>
                              </a:solidFill>
                              <a:latin typeface="Cambria Math" panose="02040503050406030204" pitchFamily="18" charset="0"/>
                            </a:rPr>
                            <m:t>1</m:t>
                          </m:r>
                        </m:num>
                        <m:den>
                          <m:d>
                            <m:dPr>
                              <m:begChr m:val="|"/>
                              <m:endChr m:val="|"/>
                              <m:ctrlPr>
                                <a:rPr lang="en-US" altLang="zh-CN" sz="1200" i="1" dirty="0">
                                  <a:solidFill>
                                    <a:schemeClr val="tx1"/>
                                  </a:solidFill>
                                  <a:latin typeface="Cambria Math" panose="02040503050406030204" pitchFamily="18" charset="0"/>
                                </a:rPr>
                              </m:ctrlPr>
                            </m:dPr>
                            <m:e>
                              <m:r>
                                <a:rPr lang="en-US" altLang="zh-CN" sz="1200" b="1" i="1" dirty="0" smtClean="0">
                                  <a:solidFill>
                                    <a:schemeClr val="tx1"/>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𝒈</m:t>
                              </m:r>
                            </m:e>
                          </m:d>
                          <m:d>
                            <m:dPr>
                              <m:begChr m:val="|"/>
                              <m:endChr m:val="|"/>
                              <m:ctrlPr>
                                <a:rPr lang="en-US" altLang="zh-CN" sz="1200" i="1" dirty="0">
                                  <a:solidFill>
                                    <a:schemeClr val="tx1"/>
                                  </a:solidFill>
                                  <a:latin typeface="Cambria Math" panose="02040503050406030204" pitchFamily="18" charset="0"/>
                                </a:rPr>
                              </m:ctrlPr>
                            </m:dPr>
                            <m:e>
                              <m:r>
                                <a:rPr lang="en-US" altLang="zh-CN" sz="1200" b="1" i="1" dirty="0" smtClean="0">
                                  <a:solidFill>
                                    <a:schemeClr val="tx1"/>
                                  </a:solidFill>
                                  <a:latin typeface="Cambria Math" panose="02040503050406030204" pitchFamily="18" charset="0"/>
                                </a:rPr>
                                <m:t>𝒐</m:t>
                              </m:r>
                              <m:r>
                                <a:rPr lang="en-US" altLang="zh-CN" sz="1200" i="1" dirty="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𝒈</m:t>
                              </m:r>
                            </m:e>
                          </m:d>
                        </m:den>
                      </m:f>
                      <m:r>
                        <a:rPr lang="en-US" altLang="zh-CN" sz="1200" b="0" i="1" dirty="0" smtClean="0">
                          <a:solidFill>
                            <a:schemeClr val="tx1"/>
                          </a:solidFill>
                          <a:latin typeface="Cambria Math" panose="02040503050406030204" pitchFamily="18" charset="0"/>
                        </a:rPr>
                        <m:t> </m:t>
                      </m:r>
                      <m:nary>
                        <m:naryPr>
                          <m:supHide m:val="on"/>
                          <m:ctrlPr>
                            <a:rPr lang="en-US" altLang="zh-CN" sz="1200" i="1" dirty="0">
                              <a:solidFill>
                                <a:schemeClr val="tx1"/>
                              </a:solidFill>
                              <a:latin typeface="Cambria Math" panose="02040503050406030204" pitchFamily="18" charset="0"/>
                            </a:rPr>
                          </m:ctrlPr>
                        </m:naryPr>
                        <m:sub>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𝐻</m:t>
                              </m:r>
                            </m:e>
                            <m:sup>
                              <m:r>
                                <a:rPr lang="en-US" altLang="zh-CN" sz="1200" i="1" dirty="0">
                                  <a:solidFill>
                                    <a:schemeClr val="tx1"/>
                                  </a:solidFill>
                                  <a:latin typeface="Cambria Math" panose="02040503050406030204" pitchFamily="18" charset="0"/>
                                </a:rPr>
                                <m:t>2</m:t>
                              </m:r>
                            </m:sup>
                          </m:sSup>
                        </m:sub>
                        <m:sup/>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𝑓</m:t>
                              </m:r>
                            </m:e>
                            <m:sub>
                              <m:r>
                                <a:rPr lang="en-US" altLang="zh-CN" sz="1200" i="1" dirty="0">
                                  <a:solidFill>
                                    <a:schemeClr val="tx1"/>
                                  </a:solidFill>
                                  <a:latin typeface="Cambria Math" panose="02040503050406030204" pitchFamily="18" charset="0"/>
                                </a:rPr>
                                <m:t>𝑚</m:t>
                              </m:r>
                            </m:sub>
                          </m:sSub>
                          <m:d>
                            <m:dPr>
                              <m:ctrlPr>
                                <a:rPr lang="en-US" altLang="zh-CN" sz="1200" i="1" dirty="0">
                                  <a:solidFill>
                                    <a:schemeClr val="tx1"/>
                                  </a:solidFill>
                                  <a:latin typeface="Cambria Math" panose="02040503050406030204" pitchFamily="18" charset="0"/>
                                </a:rPr>
                              </m:ctrlPr>
                            </m:dPr>
                            <m:e>
                              <m:r>
                                <a:rPr lang="en-US" altLang="zh-CN" sz="1200" b="1" i="1" dirty="0" smtClean="0">
                                  <a:solidFill>
                                    <a:schemeClr val="tx1"/>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𝒐</m:t>
                              </m:r>
                              <m:r>
                                <a:rPr lang="en-US" altLang="zh-CN" sz="1200" i="1" dirty="0">
                                  <a:solidFill>
                                    <a:schemeClr val="tx1"/>
                                  </a:solidFill>
                                  <a:latin typeface="Cambria Math" panose="02040503050406030204" pitchFamily="18" charset="0"/>
                                </a:rPr>
                                <m:t>,</m:t>
                              </m:r>
                              <m:r>
                                <a:rPr lang="en-US" altLang="zh-CN" sz="1200" i="1" dirty="0" smtClean="0">
                                  <a:solidFill>
                                    <a:srgbClr val="00B050"/>
                                  </a:solidFill>
                                  <a:latin typeface="Cambria Math" panose="02040503050406030204" pitchFamily="18" charset="0"/>
                                </a:rPr>
                                <m:t> </m:t>
                              </m:r>
                              <m:r>
                                <a:rPr lang="en-US" altLang="zh-CN" sz="1200" b="1" i="1" dirty="0" smtClean="0">
                                  <a:solidFill>
                                    <a:srgbClr val="00B050"/>
                                  </a:solidFill>
                                  <a:latin typeface="Cambria Math" panose="02040503050406030204" pitchFamily="18" charset="0"/>
                                </a:rPr>
                                <m:t>𝒎</m:t>
                              </m:r>
                            </m:e>
                          </m:d>
                          <m:r>
                            <a:rPr lang="en-US" altLang="zh-CN" sz="1200" b="0" i="1" dirty="0" smtClean="0">
                              <a:solidFill>
                                <a:schemeClr val="tx1"/>
                              </a:solidFill>
                              <a:latin typeface="Cambria Math" panose="02040503050406030204" pitchFamily="18" charset="0"/>
                            </a:rPr>
                            <m:t> </m:t>
                          </m:r>
                          <m:d>
                            <m:dPr>
                              <m:begChr m:val="|"/>
                              <m:endChr m:val="|"/>
                              <m:ctrlPr>
                                <a:rPr lang="en-US" altLang="zh-CN" sz="1200" b="0" i="1" dirty="0" smtClean="0">
                                  <a:solidFill>
                                    <a:schemeClr val="tx1"/>
                                  </a:solidFill>
                                  <a:latin typeface="Cambria Math" panose="02040503050406030204" pitchFamily="18" charset="0"/>
                                </a:rPr>
                              </m:ctrlPr>
                            </m:dPr>
                            <m:e>
                              <m:r>
                                <a:rPr lang="en-US" altLang="zh-CN" sz="1200" b="1" i="1" dirty="0" smtClean="0">
                                  <a:solidFill>
                                    <a:schemeClr val="tx1"/>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r>
                                <a:rPr lang="en-US" altLang="zh-CN" sz="1200" b="1" i="1" dirty="0" smtClean="0">
                                  <a:solidFill>
                                    <a:srgbClr val="00B050"/>
                                  </a:solidFill>
                                  <a:latin typeface="Cambria Math" panose="02040503050406030204" pitchFamily="18" charset="0"/>
                                </a:rPr>
                                <m:t>𝒎</m:t>
                              </m:r>
                            </m:e>
                          </m:d>
                          <m:r>
                            <a:rPr lang="en-US" altLang="zh-CN" sz="1200" b="0" i="1" dirty="0" smtClean="0">
                              <a:solidFill>
                                <a:schemeClr val="tx1"/>
                              </a:solidFill>
                              <a:latin typeface="Cambria Math" panose="02040503050406030204" pitchFamily="18" charset="0"/>
                            </a:rPr>
                            <m:t> </m:t>
                          </m:r>
                          <m:r>
                            <a:rPr lang="en-US" altLang="zh-CN" sz="1200" i="1" dirty="0">
                              <a:solidFill>
                                <a:schemeClr val="tx1"/>
                              </a:solidFill>
                              <a:latin typeface="Cambria Math" panose="02040503050406030204" pitchFamily="18" charset="0"/>
                            </a:rPr>
                            <m:t>𝐷</m:t>
                          </m:r>
                          <m:d>
                            <m:dPr>
                              <m:ctrlPr>
                                <a:rPr lang="en-US" altLang="zh-CN" sz="1200" i="1" dirty="0">
                                  <a:solidFill>
                                    <a:schemeClr val="tx1"/>
                                  </a:solidFill>
                                  <a:latin typeface="Cambria Math" panose="02040503050406030204" pitchFamily="18" charset="0"/>
                                </a:rPr>
                              </m:ctrlPr>
                            </m:dPr>
                            <m:e>
                              <m:r>
                                <a:rPr lang="en-US" altLang="zh-CN" sz="1200" b="1" i="1" dirty="0">
                                  <a:solidFill>
                                    <a:srgbClr val="00B050"/>
                                  </a:solidFill>
                                  <a:latin typeface="Cambria Math" panose="02040503050406030204" pitchFamily="18" charset="0"/>
                                </a:rPr>
                                <m:t>𝒎</m:t>
                              </m:r>
                            </m:e>
                          </m:d>
                          <m:r>
                            <a:rPr lang="en-US" altLang="zh-CN" sz="1200" i="1" dirty="0">
                              <a:solidFill>
                                <a:schemeClr val="tx1"/>
                              </a:solidFill>
                              <a:latin typeface="Cambria Math" panose="02040503050406030204" pitchFamily="18" charset="0"/>
                            </a:rPr>
                            <m:t> </m:t>
                          </m:r>
                          <m:d>
                            <m:dPr>
                              <m:begChr m:val="⟨"/>
                              <m:endChr m:val="⟩"/>
                              <m:ctrlPr>
                                <a:rPr lang="en-US" altLang="zh-CN" sz="1200" i="1" dirty="0">
                                  <a:solidFill>
                                    <a:schemeClr val="tx1"/>
                                  </a:solidFill>
                                  <a:latin typeface="Cambria Math" panose="02040503050406030204" pitchFamily="18" charset="0"/>
                                </a:rPr>
                              </m:ctrlPr>
                            </m:dPr>
                            <m:e>
                              <m:sSup>
                                <m:sSupPr>
                                  <m:ctrlPr>
                                    <a:rPr lang="en-US" altLang="zh-CN" sz="1200" b="1" i="1" dirty="0" smtClean="0">
                                      <a:solidFill>
                                        <a:schemeClr val="tx1"/>
                                      </a:solidFill>
                                      <a:latin typeface="Cambria Math" panose="02040503050406030204" pitchFamily="18" charset="0"/>
                                    </a:rPr>
                                  </m:ctrlPr>
                                </m:sSupPr>
                                <m:e>
                                  <m:r>
                                    <a:rPr lang="en-US" altLang="zh-CN" sz="1200" b="1" i="1" dirty="0" smtClean="0">
                                      <a:solidFill>
                                        <a:schemeClr val="tx1"/>
                                      </a:solidFill>
                                      <a:latin typeface="Cambria Math" panose="02040503050406030204" pitchFamily="18" charset="0"/>
                                    </a:rPr>
                                    <m:t>𝒐</m:t>
                                  </m:r>
                                </m:e>
                                <m:sup>
                                  <m:r>
                                    <a:rPr lang="en-US" altLang="zh-CN" sz="1200" b="1" i="1" dirty="0" smtClean="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r>
                                <a:rPr lang="en-US" altLang="zh-CN" sz="1200" b="1" i="1" dirty="0">
                                  <a:solidFill>
                                    <a:srgbClr val="00B050"/>
                                  </a:solidFill>
                                  <a:latin typeface="Cambria Math" panose="02040503050406030204" pitchFamily="18" charset="0"/>
                                </a:rPr>
                                <m:t>𝒎</m:t>
                              </m:r>
                            </m:e>
                          </m:d>
                          <m:r>
                            <a:rPr lang="en-US" altLang="zh-CN" sz="1200" i="1" dirty="0">
                              <a:solidFill>
                                <a:schemeClr val="tx1"/>
                              </a:solidFill>
                              <a:latin typeface="Cambria Math" panose="02040503050406030204" pitchFamily="18" charset="0"/>
                            </a:rPr>
                            <m:t> </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𝐺</m:t>
                              </m:r>
                            </m:e>
                            <m:sub>
                              <m:r>
                                <a:rPr lang="en-US" altLang="zh-CN" sz="1200" b="0" i="1" dirty="0" smtClean="0">
                                  <a:solidFill>
                                    <a:schemeClr val="tx1"/>
                                  </a:solidFill>
                                  <a:latin typeface="Cambria Math" panose="02040503050406030204" pitchFamily="18" charset="0"/>
                                </a:rPr>
                                <m:t>2</m:t>
                              </m:r>
                            </m:sub>
                          </m:sSub>
                          <m:d>
                            <m:dPr>
                              <m:ctrlPr>
                                <a:rPr lang="en-US" altLang="zh-CN" sz="1200" i="1" dirty="0">
                                  <a:solidFill>
                                    <a:schemeClr val="tx1"/>
                                  </a:solidFill>
                                  <a:latin typeface="Cambria Math" panose="02040503050406030204" pitchFamily="18" charset="0"/>
                                </a:rPr>
                              </m:ctrlPr>
                            </m:dPr>
                            <m:e>
                              <m:r>
                                <a:rPr lang="en-US" altLang="zh-CN" sz="1200" b="1" i="1" dirty="0" smtClean="0">
                                  <a:solidFill>
                                    <a:schemeClr val="tx1"/>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𝒐</m:t>
                              </m:r>
                              <m:r>
                                <a:rPr lang="en-US" altLang="zh-CN" sz="1200" i="1" dirty="0">
                                  <a:solidFill>
                                    <a:schemeClr val="tx1"/>
                                  </a:solidFill>
                                  <a:latin typeface="Cambria Math" panose="02040503050406030204" pitchFamily="18" charset="0"/>
                                </a:rPr>
                                <m:t>,</m:t>
                              </m:r>
                              <m:r>
                                <a:rPr lang="en-US" altLang="zh-CN" sz="1200" b="1" i="1" dirty="0">
                                  <a:solidFill>
                                    <a:srgbClr val="00B050"/>
                                  </a:solidFill>
                                  <a:latin typeface="Cambria Math" panose="02040503050406030204" pitchFamily="18" charset="0"/>
                                </a:rPr>
                                <m:t>𝒎</m:t>
                              </m:r>
                            </m:e>
                          </m:d>
                          <m:r>
                            <a:rPr lang="en-US" altLang="zh-CN" sz="1200" b="0" i="1" dirty="0" smtClean="0">
                              <a:solidFill>
                                <a:schemeClr val="tx1"/>
                              </a:solidFill>
                              <a:latin typeface="Cambria Math" panose="02040503050406030204" pitchFamily="18" charset="0"/>
                            </a:rPr>
                            <m:t> </m:t>
                          </m:r>
                          <m:r>
                            <a:rPr lang="en-US" altLang="zh-CN" sz="1200" i="1" dirty="0" smtClean="0">
                              <a:solidFill>
                                <a:srgbClr val="165602"/>
                              </a:solidFill>
                              <a:latin typeface="Cambria Math" panose="02040503050406030204" pitchFamily="18" charset="0"/>
                            </a:rPr>
                            <m:t>𝑑</m:t>
                          </m:r>
                          <m:sSub>
                            <m:sSubPr>
                              <m:ctrlPr>
                                <a:rPr lang="en-US" altLang="zh-CN" sz="1200" i="1" dirty="0">
                                  <a:solidFill>
                                    <a:srgbClr val="165602"/>
                                  </a:solidFill>
                                  <a:latin typeface="Cambria Math" panose="02040503050406030204" pitchFamily="18" charset="0"/>
                                </a:rPr>
                              </m:ctrlPr>
                            </m:sSubPr>
                            <m:e>
                              <m:r>
                                <a:rPr lang="en-US" altLang="zh-CN" sz="1200" i="1" dirty="0">
                                  <a:solidFill>
                                    <a:srgbClr val="165602"/>
                                  </a:solidFill>
                                  <a:latin typeface="Cambria Math" panose="02040503050406030204" pitchFamily="18" charset="0"/>
                                </a:rPr>
                                <m:t>𝜔</m:t>
                              </m:r>
                            </m:e>
                            <m:sub>
                              <m:r>
                                <m:rPr>
                                  <m:sty m:val="p"/>
                                </m:rPr>
                                <a:rPr lang="en-US" altLang="zh-CN" sz="1200" i="1" dirty="0">
                                  <a:solidFill>
                                    <a:srgbClr val="165602"/>
                                  </a:solidFill>
                                  <a:latin typeface="Cambria Math" panose="02040503050406030204" pitchFamily="18" charset="0"/>
                                </a:rPr>
                                <m:t>m</m:t>
                              </m:r>
                            </m:sub>
                          </m:sSub>
                        </m:e>
                      </m:nary>
                      <m:d>
                        <m:dPr>
                          <m:begChr m:val="["/>
                          <m:endChr m:val="]"/>
                          <m:ctrlPr>
                            <a:rPr lang="en-US" altLang="zh-CN" sz="1200" i="1" dirty="0">
                              <a:solidFill>
                                <a:schemeClr val="tx1"/>
                              </a:solidFill>
                              <a:latin typeface="Cambria Math" panose="02040503050406030204" pitchFamily="18" charset="0"/>
                            </a:rPr>
                          </m:ctrlPr>
                        </m:dPr>
                        <m:e>
                          <m:f>
                            <m:fPr>
                              <m:ctrlPr>
                                <a:rPr lang="en-US" altLang="zh-CN" sz="1200" i="1" dirty="0">
                                  <a:solidFill>
                                    <a:schemeClr val="tx1"/>
                                  </a:solidFill>
                                  <a:latin typeface="Cambria Math" panose="02040503050406030204" pitchFamily="18" charset="0"/>
                                </a:rPr>
                              </m:ctrlPr>
                            </m:fPr>
                            <m:num>
                              <m:r>
                                <a:rPr lang="en-US" altLang="zh-CN" sz="1200" i="1" dirty="0">
                                  <a:solidFill>
                                    <a:schemeClr val="tx1"/>
                                  </a:solidFill>
                                  <a:latin typeface="Cambria Math" panose="02040503050406030204" pitchFamily="18" charset="0"/>
                                </a:rPr>
                                <m:t>1</m:t>
                              </m:r>
                            </m:num>
                            <m:den>
                              <m:r>
                                <a:rPr lang="en-US" altLang="zh-CN" sz="1200" i="1" dirty="0">
                                  <a:solidFill>
                                    <a:schemeClr val="tx1"/>
                                  </a:solidFill>
                                  <a:latin typeface="Cambria Math" panose="02040503050406030204" pitchFamily="18" charset="0"/>
                                </a:rPr>
                                <m:t>𝑠𝑟</m:t>
                              </m:r>
                            </m:den>
                          </m:f>
                        </m:e>
                      </m:d>
                    </m:oMath>
                  </m:oMathPara>
                </a14:m>
                <a:endParaRPr lang="en-US" altLang="zh-CN" sz="12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m:rPr>
                          <m:nor/>
                        </m:rPr>
                        <a:rPr lang="zh-CN" altLang="en-US" sz="1200" dirty="0">
                          <a:solidFill>
                            <a:schemeClr val="tx1"/>
                          </a:solidFill>
                          <a:latin typeface="Cambria Math" panose="02040503050406030204" pitchFamily="18" charset="0"/>
                        </a:rPr>
                        <m:t>给定观察方向</m:t>
                      </m:r>
                      <m:r>
                        <a:rPr lang="en-US" altLang="zh-CN" sz="1200" b="1" i="1" dirty="0" smtClean="0">
                          <a:solidFill>
                            <a:schemeClr val="tx1"/>
                          </a:solidFill>
                          <a:latin typeface="Cambria Math" panose="02040503050406030204" pitchFamily="18" charset="0"/>
                        </a:rPr>
                        <m:t>𝒐</m:t>
                      </m:r>
                      <m:r>
                        <a:rPr lang="zh-CN" altLang="en-US" sz="1200" i="1" dirty="0">
                          <a:solidFill>
                            <a:schemeClr val="tx1"/>
                          </a:solidFill>
                          <a:latin typeface="Cambria Math" panose="02040503050406030204" pitchFamily="18" charset="0"/>
                        </a:rPr>
                        <m:t>和光线方向</m:t>
                      </m:r>
                      <m:r>
                        <a:rPr lang="en-US" altLang="zh-CN" sz="1200" b="1" i="1" dirty="0" smtClean="0">
                          <a:solidFill>
                            <a:schemeClr val="tx1"/>
                          </a:solidFill>
                          <a:latin typeface="Cambria Math" panose="02040503050406030204" pitchFamily="18" charset="0"/>
                        </a:rPr>
                        <m:t>𝒊</m:t>
                      </m:r>
                      <m:r>
                        <a:rPr lang="zh-CN" altLang="en-US" sz="1200" i="1" dirty="0">
                          <a:solidFill>
                            <a:schemeClr val="tx1"/>
                          </a:solidFill>
                          <a:latin typeface="Cambria Math" panose="02040503050406030204" pitchFamily="18" charset="0"/>
                        </a:rPr>
                        <m:t>，有且只有一个微面法线方向</m:t>
                      </m:r>
                      <m:r>
                        <a:rPr lang="en-US" altLang="zh-CN" sz="1200" b="1" i="1" dirty="0" smtClean="0">
                          <a:solidFill>
                            <a:schemeClr val="tx1"/>
                          </a:solidFill>
                          <a:latin typeface="Cambria Math" panose="02040503050406030204" pitchFamily="18" charset="0"/>
                        </a:rPr>
                        <m:t>𝒉</m:t>
                      </m:r>
                      <m:r>
                        <a:rPr lang="zh-CN" altLang="en-US" sz="1200" i="1" dirty="0">
                          <a:solidFill>
                            <a:schemeClr val="tx1"/>
                          </a:solidFill>
                          <a:latin typeface="Cambria Math" panose="02040503050406030204" pitchFamily="18" charset="0"/>
                        </a:rPr>
                        <m:t>，可以将</m:t>
                      </m:r>
                      <m:r>
                        <a:rPr lang="en-US" altLang="zh-CN" sz="1200" b="1" i="1" dirty="0" smtClean="0">
                          <a:solidFill>
                            <a:schemeClr val="tx1"/>
                          </a:solidFill>
                          <a:latin typeface="Cambria Math" panose="02040503050406030204" pitchFamily="18" charset="0"/>
                        </a:rPr>
                        <m:t>𝒊</m:t>
                      </m:r>
                      <m:r>
                        <a:rPr lang="zh-CN" altLang="en-US" sz="1200" i="1" dirty="0">
                          <a:solidFill>
                            <a:schemeClr val="tx1"/>
                          </a:solidFill>
                          <a:latin typeface="Cambria Math" panose="02040503050406030204" pitchFamily="18" charset="0"/>
                        </a:rPr>
                        <m:t>方向光线反射</m:t>
                      </m:r>
                      <m:r>
                        <a:rPr lang="en-US" altLang="zh-CN" sz="1200" i="1" dirty="0">
                          <a:solidFill>
                            <a:schemeClr val="tx1"/>
                          </a:solidFill>
                          <a:latin typeface="Cambria Math" panose="02040503050406030204" pitchFamily="18" charset="0"/>
                        </a:rPr>
                        <m:t>/</m:t>
                      </m:r>
                      <m:r>
                        <a:rPr lang="zh-CN" altLang="en-US" sz="1200" i="1" dirty="0">
                          <a:solidFill>
                            <a:schemeClr val="tx1"/>
                          </a:solidFill>
                          <a:latin typeface="Cambria Math" panose="02040503050406030204" pitchFamily="18" charset="0"/>
                        </a:rPr>
                        <m:t>折射到</m:t>
                      </m:r>
                      <m:r>
                        <a:rPr lang="en-US" altLang="zh-CN" sz="1200" b="1" i="1" dirty="0" smtClean="0">
                          <a:solidFill>
                            <a:schemeClr val="tx1"/>
                          </a:solidFill>
                          <a:latin typeface="Cambria Math" panose="02040503050406030204" pitchFamily="18" charset="0"/>
                        </a:rPr>
                        <m:t>𝒐</m:t>
                      </m:r>
                      <m:r>
                        <a:rPr lang="zh-CN" altLang="en-US" sz="1200" i="1" dirty="0">
                          <a:solidFill>
                            <a:schemeClr val="tx1"/>
                          </a:solidFill>
                          <a:latin typeface="Cambria Math" panose="02040503050406030204" pitchFamily="18" charset="0"/>
                        </a:rPr>
                        <m:t>方向</m:t>
                      </m:r>
                    </m:oMath>
                  </m:oMathPara>
                </a14:m>
                <a:endParaRPr lang="en-US" altLang="zh-CN" sz="12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1200" i="1" dirty="0">
                          <a:solidFill>
                            <a:schemeClr val="tx1"/>
                          </a:solidFill>
                          <a:latin typeface="Cambria Math" panose="02040503050406030204" pitchFamily="18" charset="0"/>
                        </a:rPr>
                        <m:t>一种</m:t>
                      </m:r>
                      <m:r>
                        <a:rPr lang="zh-CN" altLang="en-US" sz="1200" i="1" dirty="0" smtClean="0">
                          <a:solidFill>
                            <a:schemeClr val="tx1"/>
                          </a:solidFill>
                          <a:latin typeface="Cambria Math" panose="02040503050406030204" pitchFamily="18" charset="0"/>
                        </a:rPr>
                        <m:t>错误的</m:t>
                      </m:r>
                      <m:r>
                        <a:rPr lang="zh-CN" altLang="en-US" sz="1200" i="1" dirty="0">
                          <a:solidFill>
                            <a:schemeClr val="tx1"/>
                          </a:solidFill>
                          <a:latin typeface="Cambria Math" panose="02040503050406030204" pitchFamily="18" charset="0"/>
                        </a:rPr>
                        <m:t>推导：</m:t>
                      </m:r>
                      <m:nary>
                        <m:naryPr>
                          <m:supHide m:val="on"/>
                          <m:ctrlPr>
                            <a:rPr lang="en-US" altLang="zh-CN" sz="1200" i="1" dirty="0">
                              <a:solidFill>
                                <a:schemeClr val="tx1"/>
                              </a:solidFill>
                              <a:latin typeface="Cambria Math" panose="02040503050406030204" pitchFamily="18" charset="0"/>
                            </a:rPr>
                          </m:ctrlPr>
                        </m:naryPr>
                        <m:sub>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𝑆</m:t>
                              </m:r>
                            </m:e>
                            <m:sup>
                              <m:r>
                                <a:rPr lang="en-US" altLang="zh-CN" sz="1200" i="1" dirty="0">
                                  <a:solidFill>
                                    <a:schemeClr val="tx1"/>
                                  </a:solidFill>
                                  <a:latin typeface="Cambria Math" panose="02040503050406030204" pitchFamily="18" charset="0"/>
                                </a:rPr>
                                <m:t>2</m:t>
                              </m:r>
                            </m:sup>
                          </m:sSup>
                        </m:sub>
                        <m:sup/>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𝑓</m:t>
                              </m:r>
                            </m:e>
                            <m:sub>
                              <m:r>
                                <a:rPr lang="en-US" altLang="zh-CN" sz="1200" i="1" dirty="0">
                                  <a:solidFill>
                                    <a:schemeClr val="tx1"/>
                                  </a:solidFill>
                                  <a:latin typeface="Cambria Math" panose="02040503050406030204" pitchFamily="18" charset="0"/>
                                </a:rPr>
                                <m:t>𝑚</m:t>
                              </m:r>
                            </m:sub>
                          </m:sSub>
                          <m:d>
                            <m:dPr>
                              <m:ctrlPr>
                                <a:rPr lang="en-US" altLang="zh-CN" sz="1200" i="1" dirty="0">
                                  <a:solidFill>
                                    <a:schemeClr val="tx1"/>
                                  </a:solidFill>
                                  <a:latin typeface="Cambria Math" panose="02040503050406030204" pitchFamily="18" charset="0"/>
                                </a:rPr>
                              </m:ctrlPr>
                            </m:dPr>
                            <m:e>
                              <m:r>
                                <a:rPr lang="en-US" altLang="zh-CN" sz="1200" b="1" i="1" dirty="0">
                                  <a:solidFill>
                                    <a:schemeClr val="tx1"/>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𝒐</m:t>
                              </m:r>
                              <m:r>
                                <a:rPr lang="en-US" altLang="zh-CN" sz="1200" i="1" dirty="0">
                                  <a:solidFill>
                                    <a:schemeClr val="tx1"/>
                                  </a:solidFill>
                                  <a:latin typeface="Cambria Math" panose="02040503050406030204" pitchFamily="18" charset="0"/>
                                </a:rPr>
                                <m:t>,</m:t>
                              </m:r>
                              <m:r>
                                <a:rPr lang="en-US" altLang="zh-CN" sz="1200" i="1" dirty="0">
                                  <a:solidFill>
                                    <a:srgbClr val="00B050"/>
                                  </a:solidFill>
                                  <a:latin typeface="Cambria Math" panose="02040503050406030204" pitchFamily="18" charset="0"/>
                                </a:rPr>
                                <m:t> </m:t>
                              </m:r>
                              <m:r>
                                <a:rPr lang="en-US" altLang="zh-CN" sz="1200" b="1" i="1" dirty="0">
                                  <a:solidFill>
                                    <a:srgbClr val="00B050"/>
                                  </a:solidFill>
                                  <a:latin typeface="Cambria Math" panose="02040503050406030204" pitchFamily="18" charset="0"/>
                                </a:rPr>
                                <m:t>𝒎</m:t>
                              </m:r>
                            </m:e>
                          </m:d>
                          <m:d>
                            <m:dPr>
                              <m:begChr m:val="|"/>
                              <m:endChr m:val="|"/>
                              <m:ctrlPr>
                                <a:rPr lang="en-US" altLang="zh-CN" sz="1200" i="1" dirty="0">
                                  <a:solidFill>
                                    <a:schemeClr val="tx1"/>
                                  </a:solidFill>
                                  <a:latin typeface="Cambria Math" panose="02040503050406030204" pitchFamily="18" charset="0"/>
                                </a:rPr>
                              </m:ctrlPr>
                            </m:dPr>
                            <m:e>
                              <m:r>
                                <a:rPr lang="en-US" altLang="zh-CN" sz="1200" b="1" i="1" dirty="0" smtClean="0">
                                  <a:solidFill>
                                    <a:schemeClr val="tx1"/>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r>
                                <a:rPr lang="en-US" altLang="zh-CN" sz="1200" b="1" i="1" dirty="0" smtClean="0">
                                  <a:solidFill>
                                    <a:srgbClr val="00B050"/>
                                  </a:solidFill>
                                  <a:latin typeface="Cambria Math" panose="02040503050406030204" pitchFamily="18" charset="0"/>
                                </a:rPr>
                                <m:t>𝒎</m:t>
                              </m:r>
                            </m:e>
                          </m:d>
                          <m:r>
                            <a:rPr lang="en-US" altLang="zh-CN" sz="1200" i="1" dirty="0">
                              <a:solidFill>
                                <a:srgbClr val="165602"/>
                              </a:solidFill>
                              <a:latin typeface="Cambria Math" panose="02040503050406030204" pitchFamily="18" charset="0"/>
                            </a:rPr>
                            <m:t>𝑑</m:t>
                          </m:r>
                          <m:sSub>
                            <m:sSubPr>
                              <m:ctrlPr>
                                <a:rPr lang="en-US" altLang="zh-CN" sz="1200" i="1" dirty="0">
                                  <a:solidFill>
                                    <a:srgbClr val="165602"/>
                                  </a:solidFill>
                                  <a:latin typeface="Cambria Math" panose="02040503050406030204" pitchFamily="18" charset="0"/>
                                </a:rPr>
                              </m:ctrlPr>
                            </m:sSubPr>
                            <m:e>
                              <m:r>
                                <a:rPr lang="en-US" altLang="zh-CN" sz="1200" i="1" dirty="0">
                                  <a:solidFill>
                                    <a:srgbClr val="165602"/>
                                  </a:solidFill>
                                  <a:latin typeface="Cambria Math" panose="02040503050406030204" pitchFamily="18" charset="0"/>
                                </a:rPr>
                                <m:t>𝜔</m:t>
                              </m:r>
                            </m:e>
                            <m:sub>
                              <m:r>
                                <a:rPr lang="en-US" altLang="zh-CN" sz="1200" i="1" dirty="0">
                                  <a:solidFill>
                                    <a:srgbClr val="165602"/>
                                  </a:solidFill>
                                  <a:latin typeface="Cambria Math" panose="02040503050406030204" pitchFamily="18" charset="0"/>
                                </a:rPr>
                                <m:t>𝑚</m:t>
                              </m:r>
                            </m:sub>
                          </m:sSub>
                        </m:e>
                      </m:nary>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𝜌</m:t>
                      </m:r>
                      <m:r>
                        <a:rPr lang="en-US" altLang="zh-CN" sz="1200" b="0" i="1" dirty="0" smtClean="0">
                          <a:solidFill>
                            <a:schemeClr val="tx1"/>
                          </a:solidFill>
                          <a:latin typeface="Cambria Math" panose="02040503050406030204" pitchFamily="18" charset="0"/>
                        </a:rPr>
                        <m:t>,  </m:t>
                      </m:r>
                      <m:sSub>
                        <m:sSubPr>
                          <m:ctrlPr>
                            <a:rPr lang="en-US" altLang="zh-CN" sz="1200" i="1" dirty="0" smtClean="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𝑓</m:t>
                          </m:r>
                        </m:e>
                        <m:sub>
                          <m:r>
                            <a:rPr lang="en-US" altLang="zh-CN" sz="1200" i="1" dirty="0">
                              <a:solidFill>
                                <a:schemeClr val="tx1"/>
                              </a:solidFill>
                              <a:latin typeface="Cambria Math" panose="02040503050406030204" pitchFamily="18" charset="0"/>
                            </a:rPr>
                            <m:t>𝑚</m:t>
                          </m:r>
                        </m:sub>
                      </m:sSub>
                      <m:d>
                        <m:dPr>
                          <m:ctrlPr>
                            <a:rPr lang="en-US" altLang="zh-CN" sz="1200" i="1" dirty="0">
                              <a:solidFill>
                                <a:schemeClr val="tx1"/>
                              </a:solidFill>
                              <a:latin typeface="Cambria Math" panose="02040503050406030204" pitchFamily="18" charset="0"/>
                            </a:rPr>
                          </m:ctrlPr>
                        </m:dPr>
                        <m:e>
                          <m:r>
                            <a:rPr lang="en-US" altLang="zh-CN" sz="1200" b="1" i="1" dirty="0">
                              <a:solidFill>
                                <a:schemeClr val="tx1"/>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𝒐</m:t>
                          </m:r>
                          <m:r>
                            <a:rPr lang="en-US" altLang="zh-CN" sz="1200" i="1" dirty="0">
                              <a:solidFill>
                                <a:schemeClr val="tx1"/>
                              </a:solidFill>
                              <a:latin typeface="Cambria Math" panose="02040503050406030204" pitchFamily="18" charset="0"/>
                            </a:rPr>
                            <m:t>,</m:t>
                          </m:r>
                          <m:r>
                            <a:rPr lang="en-US" altLang="zh-CN" sz="1200" i="1" dirty="0">
                              <a:solidFill>
                                <a:srgbClr val="00B050"/>
                              </a:solidFill>
                              <a:latin typeface="Cambria Math" panose="02040503050406030204" pitchFamily="18" charset="0"/>
                            </a:rPr>
                            <m:t> </m:t>
                          </m:r>
                          <m:r>
                            <a:rPr lang="en-US" altLang="zh-CN" sz="1200" b="1" i="1" dirty="0">
                              <a:solidFill>
                                <a:srgbClr val="00B050"/>
                              </a:solidFill>
                              <a:latin typeface="Cambria Math" panose="02040503050406030204" pitchFamily="18" charset="0"/>
                            </a:rPr>
                            <m:t>𝒎</m:t>
                          </m:r>
                        </m:e>
                      </m:d>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𝜌</m:t>
                      </m:r>
                      <m:f>
                        <m:fPr>
                          <m:ctrlPr>
                            <a:rPr lang="en-US" altLang="zh-CN" sz="1200" b="0" i="1" dirty="0" smtClean="0">
                              <a:solidFill>
                                <a:schemeClr val="tx1"/>
                              </a:solidFill>
                              <a:latin typeface="Cambria Math" panose="02040503050406030204" pitchFamily="18" charset="0"/>
                            </a:rPr>
                          </m:ctrlPr>
                        </m:fPr>
                        <m:num>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𝛿</m:t>
                              </m:r>
                            </m:e>
                            <m:sub>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𝜔</m:t>
                                  </m:r>
                                </m:e>
                                <m:sub>
                                  <m:r>
                                    <a:rPr lang="en-US" altLang="zh-CN" sz="1200" b="0" i="1" dirty="0" smtClean="0">
                                      <a:solidFill>
                                        <a:schemeClr val="tx1"/>
                                      </a:solidFill>
                                      <a:latin typeface="Cambria Math" panose="02040503050406030204" pitchFamily="18" charset="0"/>
                                    </a:rPr>
                                    <m:t>𝑚</m:t>
                                  </m:r>
                                </m:sub>
                              </m:sSub>
                            </m:sub>
                          </m:sSub>
                          <m:r>
                            <a:rPr lang="en-US" altLang="zh-CN" sz="1200" b="0" i="1" dirty="0" smtClean="0">
                              <a:solidFill>
                                <a:schemeClr val="tx1"/>
                              </a:solidFill>
                              <a:latin typeface="Cambria Math" panose="02040503050406030204" pitchFamily="18" charset="0"/>
                            </a:rPr>
                            <m:t>(</m:t>
                          </m:r>
                          <m:r>
                            <a:rPr lang="en-US" altLang="zh-CN" sz="1200" b="1" i="1" dirty="0" smtClean="0">
                              <a:solidFill>
                                <a:srgbClr val="00B050"/>
                              </a:solidFill>
                              <a:latin typeface="Cambria Math" panose="02040503050406030204" pitchFamily="18" charset="0"/>
                            </a:rPr>
                            <m:t>𝒎</m:t>
                          </m:r>
                          <m:r>
                            <a:rPr lang="en-US" altLang="zh-CN" sz="1200" b="0" i="1" dirty="0" smtClean="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𝒉</m:t>
                          </m:r>
                          <m:r>
                            <a:rPr lang="en-US" altLang="zh-CN" sz="1200" b="0" i="1" dirty="0" smtClean="0">
                              <a:solidFill>
                                <a:schemeClr val="tx1"/>
                              </a:solidFill>
                              <a:latin typeface="Cambria Math" panose="02040503050406030204" pitchFamily="18" charset="0"/>
                            </a:rPr>
                            <m:t>)</m:t>
                          </m:r>
                        </m:num>
                        <m:den>
                          <m:d>
                            <m:dPr>
                              <m:begChr m:val="|"/>
                              <m:endChr m:val="|"/>
                              <m:ctrlPr>
                                <a:rPr lang="en-US" altLang="zh-CN" sz="1200" b="0" i="1" dirty="0" smtClean="0">
                                  <a:solidFill>
                                    <a:schemeClr val="tx1"/>
                                  </a:solidFill>
                                  <a:latin typeface="Cambria Math" panose="02040503050406030204" pitchFamily="18" charset="0"/>
                                </a:rPr>
                              </m:ctrlPr>
                            </m:dPr>
                            <m:e>
                              <m:r>
                                <a:rPr lang="en-US" altLang="zh-CN" sz="1200" b="1" i="1" dirty="0" smtClean="0">
                                  <a:solidFill>
                                    <a:schemeClr val="tx1"/>
                                  </a:solidFill>
                                  <a:latin typeface="Cambria Math" panose="02040503050406030204" pitchFamily="18" charset="0"/>
                                </a:rPr>
                                <m:t>𝒊</m:t>
                              </m:r>
                              <m:r>
                                <a:rPr lang="en-US" altLang="zh-CN" sz="1200" b="0" i="1" dirty="0" smtClean="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𝒉</m:t>
                              </m:r>
                            </m:e>
                          </m:d>
                        </m:den>
                      </m:f>
                      <m:r>
                        <a:rPr lang="en-US" altLang="zh-CN" sz="1200" b="0" i="1" dirty="0" smtClean="0">
                          <a:solidFill>
                            <a:schemeClr val="tx1"/>
                          </a:solidFill>
                          <a:latin typeface="Cambria Math" panose="02040503050406030204" pitchFamily="18" charset="0"/>
                        </a:rPr>
                        <m:t> </m:t>
                      </m:r>
                      <m:d>
                        <m:dPr>
                          <m:begChr m:val="["/>
                          <m:endChr m:val="]"/>
                          <m:ctrlPr>
                            <a:rPr lang="en-US" altLang="zh-CN" sz="1200" b="0" i="1" dirty="0" smtClean="0">
                              <a:solidFill>
                                <a:schemeClr val="tx1"/>
                              </a:solidFill>
                              <a:latin typeface="Cambria Math" panose="02040503050406030204" pitchFamily="18" charset="0"/>
                            </a:rPr>
                          </m:ctrlPr>
                        </m:dPr>
                        <m:e>
                          <m:f>
                            <m:fPr>
                              <m:ctrlPr>
                                <a:rPr lang="en-US" altLang="zh-CN" sz="1200" b="0" i="1" dirty="0" smtClean="0">
                                  <a:solidFill>
                                    <a:schemeClr val="tx1"/>
                                  </a:solidFill>
                                  <a:latin typeface="Cambria Math" panose="02040503050406030204" pitchFamily="18" charset="0"/>
                                </a:rPr>
                              </m:ctrlPr>
                            </m:fPr>
                            <m:num>
                              <m:r>
                                <a:rPr lang="en-US" altLang="zh-CN" sz="1200" b="0" i="1" dirty="0" smtClean="0">
                                  <a:solidFill>
                                    <a:schemeClr val="tx1"/>
                                  </a:solidFill>
                                  <a:latin typeface="Cambria Math" panose="02040503050406030204" pitchFamily="18" charset="0"/>
                                </a:rPr>
                                <m:t>1</m:t>
                              </m:r>
                            </m:num>
                            <m:den>
                              <m:r>
                                <a:rPr lang="en-US" altLang="zh-CN" sz="1200" b="0" i="1" dirty="0" smtClean="0">
                                  <a:solidFill>
                                    <a:schemeClr val="tx1"/>
                                  </a:solidFill>
                                  <a:latin typeface="Cambria Math" panose="02040503050406030204" pitchFamily="18" charset="0"/>
                                </a:rPr>
                                <m:t>𝑠𝑟</m:t>
                              </m:r>
                            </m:den>
                          </m:f>
                        </m:e>
                      </m:d>
                    </m:oMath>
                  </m:oMathPara>
                </a14:m>
                <a:endParaRPr lang="en-US" altLang="zh-CN" sz="12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1200" i="1" dirty="0">
                          <a:solidFill>
                            <a:schemeClr val="tx1"/>
                          </a:solidFill>
                          <a:latin typeface="Cambria Math" panose="02040503050406030204" pitchFamily="18" charset="0"/>
                        </a:rPr>
                        <m:t>因为上式</m:t>
                      </m:r>
                      <m:r>
                        <a:rPr lang="zh-CN" altLang="en-US" sz="1200" i="1" dirty="0" smtClean="0">
                          <a:solidFill>
                            <a:schemeClr val="tx1"/>
                          </a:solidFill>
                          <a:latin typeface="Cambria Math" panose="02040503050406030204" pitchFamily="18" charset="0"/>
                        </a:rPr>
                        <m:t>并不满足</m:t>
                      </m:r>
                      <m:r>
                        <a:rPr lang="en-US" altLang="zh-CN" sz="1200" b="0" i="1" dirty="0" smtClean="0">
                          <a:solidFill>
                            <a:schemeClr val="tx1"/>
                          </a:solidFill>
                          <a:latin typeface="Cambria Math" panose="02040503050406030204" pitchFamily="18" charset="0"/>
                        </a:rPr>
                        <m:t>𝐵𝑆𝐷𝐹</m:t>
                      </m:r>
                      <m:r>
                        <a:rPr lang="zh-CN" altLang="en-US" sz="1200" i="1" dirty="0">
                          <a:solidFill>
                            <a:schemeClr val="tx1"/>
                          </a:solidFill>
                          <a:latin typeface="Cambria Math" panose="02040503050406030204" pitchFamily="18" charset="0"/>
                        </a:rPr>
                        <m:t>的</m:t>
                      </m:r>
                      <m:r>
                        <a:rPr lang="zh-CN" altLang="en-US" sz="1200" i="1" dirty="0" smtClean="0">
                          <a:solidFill>
                            <a:schemeClr val="tx1"/>
                          </a:solidFill>
                          <a:latin typeface="Cambria Math" panose="02040503050406030204" pitchFamily="18" charset="0"/>
                        </a:rPr>
                        <m:t>约束</m:t>
                      </m:r>
                      <m:r>
                        <a:rPr lang="zh-CN" altLang="en-US" sz="1200" i="1" dirty="0">
                          <a:solidFill>
                            <a:schemeClr val="tx1"/>
                          </a:solidFill>
                          <a:latin typeface="Cambria Math" panose="02040503050406030204" pitchFamily="18" charset="0"/>
                        </a:rPr>
                        <m:t>：</m:t>
                      </m:r>
                      <m:nary>
                        <m:naryPr>
                          <m:supHide m:val="on"/>
                          <m:ctrlPr>
                            <a:rPr lang="en-US" altLang="zh-CN" sz="1200" b="0" i="1" dirty="0" smtClean="0">
                              <a:solidFill>
                                <a:schemeClr val="tx1"/>
                              </a:solidFill>
                              <a:latin typeface="Cambria Math" panose="02040503050406030204" pitchFamily="18" charset="0"/>
                            </a:rPr>
                          </m:ctrlPr>
                        </m:naryPr>
                        <m:sub>
                          <m:sSup>
                            <m:sSupPr>
                              <m:ctrlPr>
                                <a:rPr lang="en-US" altLang="zh-CN" sz="1200" b="0" i="1" dirty="0" smtClean="0">
                                  <a:solidFill>
                                    <a:schemeClr val="tx1"/>
                                  </a:solidFill>
                                  <a:latin typeface="Cambria Math" panose="02040503050406030204" pitchFamily="18" charset="0"/>
                                </a:rPr>
                              </m:ctrlPr>
                            </m:sSupPr>
                            <m:e>
                              <m:r>
                                <m:rPr>
                                  <m:brk m:alnAt="7"/>
                                </m:rPr>
                                <a:rPr lang="en-US" altLang="zh-CN" sz="1200" b="0" i="1" dirty="0" smtClean="0">
                                  <a:solidFill>
                                    <a:schemeClr val="tx1"/>
                                  </a:solidFill>
                                  <a:latin typeface="Cambria Math" panose="02040503050406030204" pitchFamily="18" charset="0"/>
                                </a:rPr>
                                <m:t>𝑆</m:t>
                              </m:r>
                            </m:e>
                            <m:sup>
                              <m:r>
                                <m:rPr>
                                  <m:brk m:alnAt="7"/>
                                </m:rPr>
                                <a:rPr lang="en-US" altLang="zh-CN" sz="1200" b="0" i="1" dirty="0" smtClean="0">
                                  <a:solidFill>
                                    <a:schemeClr val="tx1"/>
                                  </a:solidFill>
                                  <a:latin typeface="Cambria Math" panose="02040503050406030204" pitchFamily="18" charset="0"/>
                                </a:rPr>
                                <m:t>2</m:t>
                              </m:r>
                            </m:sup>
                          </m:sSup>
                        </m:sub>
                        <m:sup/>
                        <m:e>
                          <m:r>
                            <a:rPr lang="en-US" altLang="zh-CN" sz="1200" i="1" dirty="0">
                              <a:solidFill>
                                <a:schemeClr val="tx1"/>
                              </a:solidFill>
                              <a:latin typeface="Cambria Math" panose="02040503050406030204" pitchFamily="18" charset="0"/>
                            </a:rPr>
                            <m:t>𝜌</m:t>
                          </m:r>
                          <m:f>
                            <m:fPr>
                              <m:ctrlPr>
                                <a:rPr lang="en-US" altLang="zh-CN" sz="1200" i="1" dirty="0">
                                  <a:solidFill>
                                    <a:schemeClr val="tx1"/>
                                  </a:solidFill>
                                  <a:latin typeface="Cambria Math" panose="02040503050406030204" pitchFamily="18" charset="0"/>
                                </a:rPr>
                              </m:ctrlPr>
                            </m:fPr>
                            <m:num>
                              <m:sSub>
                                <m:sSubPr>
                                  <m:ctrlPr>
                                    <a:rPr lang="en-US" altLang="zh-CN" sz="1200" b="0" i="1" dirty="0" smtClean="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𝛿</m:t>
                                  </m:r>
                                </m:e>
                                <m:sub>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𝜔</m:t>
                                      </m:r>
                                    </m:e>
                                    <m:sub>
                                      <m:r>
                                        <a:rPr lang="en-US" altLang="zh-CN" sz="1200" b="0" i="1" dirty="0" smtClean="0">
                                          <a:solidFill>
                                            <a:schemeClr val="tx1"/>
                                          </a:solidFill>
                                          <a:latin typeface="Cambria Math" panose="02040503050406030204" pitchFamily="18" charset="0"/>
                                        </a:rPr>
                                        <m:t>𝑚</m:t>
                                      </m:r>
                                    </m:sub>
                                  </m:sSub>
                                </m:sub>
                              </m:sSub>
                              <m:r>
                                <a:rPr lang="en-US" altLang="zh-CN" sz="1200" i="1" dirty="0">
                                  <a:solidFill>
                                    <a:schemeClr val="tx1"/>
                                  </a:solidFill>
                                  <a:latin typeface="Cambria Math" panose="02040503050406030204" pitchFamily="18" charset="0"/>
                                </a:rPr>
                                <m:t>(</m:t>
                              </m:r>
                              <m:r>
                                <a:rPr lang="en-US" altLang="zh-CN" sz="1200" b="1" i="1" dirty="0">
                                  <a:solidFill>
                                    <a:srgbClr val="00B050"/>
                                  </a:solidFill>
                                  <a:latin typeface="Cambria Math" panose="02040503050406030204" pitchFamily="18" charset="0"/>
                                </a:rPr>
                                <m:t>𝒎</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𝒉</m:t>
                              </m:r>
                              <m:r>
                                <a:rPr lang="en-US" altLang="zh-CN" sz="1200" i="1" dirty="0">
                                  <a:solidFill>
                                    <a:schemeClr val="tx1"/>
                                  </a:solidFill>
                                  <a:latin typeface="Cambria Math" panose="02040503050406030204" pitchFamily="18" charset="0"/>
                                </a:rPr>
                                <m:t>)</m:t>
                              </m:r>
                            </m:num>
                            <m:den>
                              <m:d>
                                <m:dPr>
                                  <m:begChr m:val="|"/>
                                  <m:endChr m:val="|"/>
                                  <m:ctrlPr>
                                    <a:rPr lang="en-US" altLang="zh-CN" sz="1200" i="1" dirty="0">
                                      <a:solidFill>
                                        <a:schemeClr val="tx1"/>
                                      </a:solidFill>
                                      <a:latin typeface="Cambria Math" panose="02040503050406030204" pitchFamily="18" charset="0"/>
                                    </a:rPr>
                                  </m:ctrlPr>
                                </m:dPr>
                                <m:e>
                                  <m:r>
                                    <a:rPr lang="en-US" altLang="zh-CN" sz="1200" b="1" i="1" dirty="0">
                                      <a:solidFill>
                                        <a:schemeClr val="tx1"/>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𝒉</m:t>
                                  </m:r>
                                </m:e>
                              </m:d>
                            </m:den>
                          </m:f>
                          <m:d>
                            <m:dPr>
                              <m:begChr m:val="|"/>
                              <m:endChr m:val="|"/>
                              <m:ctrlPr>
                                <a:rPr lang="en-US" altLang="zh-CN" sz="1200" b="0" i="1" dirty="0" smtClean="0">
                                  <a:solidFill>
                                    <a:schemeClr val="tx1"/>
                                  </a:solidFill>
                                  <a:latin typeface="Cambria Math" panose="02040503050406030204" pitchFamily="18" charset="0"/>
                                </a:rPr>
                              </m:ctrlPr>
                            </m:dPr>
                            <m:e>
                              <m:r>
                                <a:rPr lang="en-US" altLang="zh-CN" sz="1200" b="1" i="1" dirty="0">
                                  <a:solidFill>
                                    <a:schemeClr val="tx1"/>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r>
                                <a:rPr lang="en-US" altLang="zh-CN" sz="1200" b="1" i="1" dirty="0">
                                  <a:solidFill>
                                    <a:srgbClr val="00B050"/>
                                  </a:solidFill>
                                  <a:latin typeface="Cambria Math" panose="02040503050406030204" pitchFamily="18" charset="0"/>
                                </a:rPr>
                                <m:t>𝒎</m:t>
                              </m:r>
                            </m:e>
                          </m:d>
                          <m:r>
                            <a:rPr lang="en-US" altLang="zh-CN" sz="1200" b="0" i="1" dirty="0" smtClean="0">
                              <a:solidFill>
                                <a:schemeClr val="tx1"/>
                              </a:solidFill>
                              <a:latin typeface="Cambria Math" panose="02040503050406030204" pitchFamily="18" charset="0"/>
                            </a:rPr>
                            <m:t> </m:t>
                          </m:r>
                          <m:r>
                            <a:rPr lang="en-US" altLang="zh-CN" sz="1200" b="0" i="1" dirty="0" smtClean="0">
                              <a:solidFill>
                                <a:schemeClr val="accent1">
                                  <a:lumMod val="75000"/>
                                </a:schemeClr>
                              </a:solidFill>
                              <a:latin typeface="Cambria Math" panose="02040503050406030204" pitchFamily="18" charset="0"/>
                            </a:rPr>
                            <m:t>𝑑</m:t>
                          </m:r>
                          <m:sSub>
                            <m:sSubPr>
                              <m:ctrlPr>
                                <a:rPr lang="en-US" altLang="zh-CN" sz="1200" b="0" i="1" dirty="0" smtClean="0">
                                  <a:solidFill>
                                    <a:schemeClr val="accent1">
                                      <a:lumMod val="75000"/>
                                    </a:schemeClr>
                                  </a:solidFill>
                                  <a:latin typeface="Cambria Math" panose="02040503050406030204" pitchFamily="18" charset="0"/>
                                </a:rPr>
                              </m:ctrlPr>
                            </m:sSubPr>
                            <m:e>
                              <m:r>
                                <a:rPr lang="en-US" altLang="zh-CN" sz="1200" b="0" i="1" dirty="0" smtClean="0">
                                  <a:solidFill>
                                    <a:schemeClr val="accent1">
                                      <a:lumMod val="75000"/>
                                    </a:schemeClr>
                                  </a:solidFill>
                                  <a:latin typeface="Cambria Math" panose="02040503050406030204" pitchFamily="18" charset="0"/>
                                </a:rPr>
                                <m:t>𝜔</m:t>
                              </m:r>
                            </m:e>
                            <m:sub>
                              <m:r>
                                <a:rPr lang="en-US" altLang="zh-CN" sz="1200" b="0" i="1" dirty="0" smtClean="0">
                                  <a:solidFill>
                                    <a:schemeClr val="accent1">
                                      <a:lumMod val="75000"/>
                                    </a:schemeClr>
                                  </a:solidFill>
                                  <a:latin typeface="Cambria Math" panose="02040503050406030204" pitchFamily="18" charset="0"/>
                                </a:rPr>
                                <m:t>𝑖</m:t>
                              </m:r>
                            </m:sub>
                          </m:sSub>
                        </m:e>
                      </m:nary>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𝜌</m:t>
                      </m:r>
                      <m:r>
                        <a:rPr lang="en-US" altLang="zh-CN" sz="1200" b="0" i="1" dirty="0" smtClean="0">
                          <a:solidFill>
                            <a:schemeClr val="tx1"/>
                          </a:solidFill>
                          <a:latin typeface="Cambria Math" panose="02040503050406030204" pitchFamily="18" charset="0"/>
                        </a:rPr>
                        <m:t>,  </m:t>
                      </m:r>
                      <m:nary>
                        <m:naryPr>
                          <m:ctrlPr>
                            <a:rPr lang="en-US" altLang="zh-CN" sz="1200" b="0" i="1" dirty="0" smtClean="0">
                              <a:solidFill>
                                <a:schemeClr val="tx1"/>
                              </a:solidFill>
                              <a:latin typeface="Cambria Math" panose="02040503050406030204" pitchFamily="18" charset="0"/>
                            </a:rPr>
                          </m:ctrlPr>
                        </m:naryPr>
                        <m:sub>
                          <m:r>
                            <a:rPr lang="en-US" altLang="zh-CN" sz="1200" b="0" i="1" dirty="0" smtClean="0">
                              <a:solidFill>
                                <a:schemeClr val="tx1"/>
                              </a:solidFill>
                              <a:latin typeface="Cambria Math" panose="02040503050406030204" pitchFamily="18" charset="0"/>
                            </a:rPr>
                            <m:t>0</m:t>
                          </m:r>
                        </m:sub>
                        <m:sup>
                          <m:r>
                            <a:rPr lang="en-US" altLang="zh-CN" sz="1200" b="0" i="1" dirty="0" smtClean="0">
                              <a:solidFill>
                                <a:schemeClr val="tx1"/>
                              </a:solidFill>
                              <a:latin typeface="Cambria Math" panose="02040503050406030204" pitchFamily="18" charset="0"/>
                            </a:rPr>
                            <m:t>1</m:t>
                          </m:r>
                        </m:sup>
                        <m:e>
                          <m:r>
                            <a:rPr lang="en-US" altLang="zh-CN" sz="1200" i="1" dirty="0">
                              <a:solidFill>
                                <a:schemeClr val="tx1"/>
                              </a:solidFill>
                              <a:latin typeface="Cambria Math" panose="02040503050406030204" pitchFamily="18" charset="0"/>
                            </a:rPr>
                            <m:t>𝑓</m:t>
                          </m:r>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𝑥</m:t>
                              </m:r>
                            </m:e>
                          </m:d>
                          <m:r>
                            <a:rPr lang="en-US" altLang="zh-CN" sz="1200" i="1" dirty="0">
                              <a:solidFill>
                                <a:schemeClr val="tx1"/>
                              </a:solidFill>
                              <a:latin typeface="Cambria Math" panose="02040503050406030204" pitchFamily="18" charset="0"/>
                            </a:rPr>
                            <m:t> </m:t>
                          </m:r>
                          <m:r>
                            <a:rPr lang="en-US" altLang="zh-CN" sz="1200" i="1" dirty="0">
                              <a:solidFill>
                                <a:schemeClr val="tx1"/>
                              </a:solidFill>
                              <a:latin typeface="Cambria Math" panose="02040503050406030204" pitchFamily="18" charset="0"/>
                            </a:rPr>
                            <m:t>𝑑𝑥</m:t>
                          </m:r>
                        </m:e>
                      </m:nary>
                      <m:r>
                        <a:rPr lang="en-US" altLang="zh-CN" sz="1200" b="0" i="1" dirty="0" smtClean="0">
                          <a:solidFill>
                            <a:schemeClr val="tx1"/>
                          </a:solidFill>
                          <a:latin typeface="Cambria Math" panose="02040503050406030204" pitchFamily="18" charset="0"/>
                        </a:rPr>
                        <m:t>≠</m:t>
                      </m:r>
                      <m:nary>
                        <m:naryPr>
                          <m:ctrlPr>
                            <a:rPr lang="en-US" altLang="zh-CN" sz="1200" b="0" i="1" dirty="0" smtClean="0">
                              <a:solidFill>
                                <a:schemeClr val="tx1"/>
                              </a:solidFill>
                              <a:latin typeface="Cambria Math" panose="02040503050406030204" pitchFamily="18" charset="0"/>
                            </a:rPr>
                          </m:ctrlPr>
                        </m:naryPr>
                        <m:sub>
                          <m:r>
                            <a:rPr lang="en-US" altLang="zh-CN" sz="1200" b="0" i="1" dirty="0" smtClean="0">
                              <a:solidFill>
                                <a:schemeClr val="tx1"/>
                              </a:solidFill>
                              <a:latin typeface="Cambria Math" panose="02040503050406030204" pitchFamily="18" charset="0"/>
                            </a:rPr>
                            <m:t>0</m:t>
                          </m:r>
                        </m:sub>
                        <m:sup>
                          <m:r>
                            <a:rPr lang="en-US" altLang="zh-CN" sz="1200" b="0" i="1" dirty="0" smtClean="0">
                              <a:solidFill>
                                <a:schemeClr val="tx1"/>
                              </a:solidFill>
                              <a:latin typeface="Cambria Math" panose="02040503050406030204" pitchFamily="18" charset="0"/>
                            </a:rPr>
                            <m:t>1</m:t>
                          </m:r>
                        </m:sup>
                        <m:e>
                          <m:r>
                            <a:rPr lang="en-US" altLang="zh-CN" sz="1200" i="1" dirty="0">
                              <a:solidFill>
                                <a:schemeClr val="tx1"/>
                              </a:solidFill>
                              <a:latin typeface="Cambria Math" panose="02040503050406030204" pitchFamily="18" charset="0"/>
                            </a:rPr>
                            <m:t>𝑓</m:t>
                          </m:r>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𝑥</m:t>
                              </m:r>
                            </m:e>
                          </m:d>
                          <m:r>
                            <a:rPr lang="en-US" altLang="zh-CN" sz="1200" i="1" dirty="0">
                              <a:solidFill>
                                <a:schemeClr val="tx1"/>
                              </a:solidFill>
                              <a:latin typeface="Cambria Math" panose="02040503050406030204" pitchFamily="18" charset="0"/>
                            </a:rPr>
                            <m:t> </m:t>
                          </m:r>
                          <m:r>
                            <a:rPr lang="en-US" altLang="zh-CN" sz="1200" i="1" dirty="0">
                              <a:solidFill>
                                <a:schemeClr val="tx1"/>
                              </a:solidFill>
                              <a:latin typeface="Cambria Math" panose="02040503050406030204" pitchFamily="18" charset="0"/>
                            </a:rPr>
                            <m:t>𝑑</m:t>
                          </m:r>
                          <m:d>
                            <m:dPr>
                              <m:ctrlPr>
                                <a:rPr lang="en-US" altLang="zh-CN" sz="1200" i="1" dirty="0">
                                  <a:solidFill>
                                    <a:schemeClr val="tx1"/>
                                  </a:solidFill>
                                  <a:latin typeface="Cambria Math" panose="02040503050406030204" pitchFamily="18" charset="0"/>
                                </a:rPr>
                              </m:ctrlPr>
                            </m:dPr>
                            <m:e>
                              <m:sSup>
                                <m:sSupPr>
                                  <m:ctrlPr>
                                    <a:rPr lang="en-US" altLang="zh-CN" sz="1200" b="0" i="1" dirty="0" smtClean="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𝑥</m:t>
                                  </m:r>
                                </m:e>
                                <m:sup>
                                  <m:r>
                                    <a:rPr lang="en-US" altLang="zh-CN" sz="1200" b="0" i="1" dirty="0" smtClean="0">
                                      <a:solidFill>
                                        <a:schemeClr val="tx1"/>
                                      </a:solidFill>
                                      <a:latin typeface="Cambria Math" panose="02040503050406030204" pitchFamily="18" charset="0"/>
                                    </a:rPr>
                                    <m:t>2</m:t>
                                  </m:r>
                                </m:sup>
                              </m:sSup>
                            </m:e>
                          </m:d>
                        </m:e>
                      </m:nary>
                    </m:oMath>
                  </m:oMathPara>
                </a14:m>
                <a:endParaRPr lang="en-US" altLang="zh-CN" sz="12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nary>
                        <m:naryPr>
                          <m:supHide m:val="on"/>
                          <m:ctrlPr>
                            <a:rPr lang="en-US" altLang="zh-CN" sz="1200" b="0" i="1" dirty="0" smtClean="0">
                              <a:solidFill>
                                <a:schemeClr val="tx1"/>
                              </a:solidFill>
                              <a:latin typeface="Cambria Math" panose="02040503050406030204" pitchFamily="18" charset="0"/>
                            </a:rPr>
                          </m:ctrlPr>
                        </m:naryPr>
                        <m:sub>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𝑆</m:t>
                              </m:r>
                            </m:e>
                            <m:sup>
                              <m:r>
                                <a:rPr lang="en-US" altLang="zh-CN" sz="1200" b="0" i="1" dirty="0" smtClean="0">
                                  <a:solidFill>
                                    <a:schemeClr val="tx1"/>
                                  </a:solidFill>
                                  <a:latin typeface="Cambria Math" panose="02040503050406030204" pitchFamily="18" charset="0"/>
                                </a:rPr>
                                <m:t>2</m:t>
                              </m:r>
                            </m:sup>
                          </m:sSup>
                        </m:sub>
                        <m:sup/>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𝛿</m:t>
                              </m:r>
                            </m:e>
                            <m:sub>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𝜔</m:t>
                                  </m:r>
                                </m:e>
                                <m:sub>
                                  <m:r>
                                    <a:rPr lang="en-US" altLang="zh-CN" sz="1200" i="1" dirty="0">
                                      <a:solidFill>
                                        <a:schemeClr val="tx1"/>
                                      </a:solidFill>
                                      <a:latin typeface="Cambria Math" panose="02040503050406030204" pitchFamily="18" charset="0"/>
                                    </a:rPr>
                                    <m:t>𝑚</m:t>
                                  </m:r>
                                </m:sub>
                              </m:sSub>
                            </m:sub>
                          </m:sSub>
                          <m:d>
                            <m:dPr>
                              <m:ctrlPr>
                                <a:rPr lang="en-US" altLang="zh-CN" sz="1200" i="1" dirty="0">
                                  <a:solidFill>
                                    <a:schemeClr val="tx1"/>
                                  </a:solidFill>
                                  <a:latin typeface="Cambria Math" panose="02040503050406030204" pitchFamily="18" charset="0"/>
                                </a:rPr>
                              </m:ctrlPr>
                            </m:dPr>
                            <m:e>
                              <m:r>
                                <a:rPr lang="en-US" altLang="zh-CN" sz="1200" b="1" i="1" dirty="0">
                                  <a:solidFill>
                                    <a:srgbClr val="00B050"/>
                                  </a:solidFill>
                                  <a:latin typeface="Cambria Math" panose="02040503050406030204" pitchFamily="18" charset="0"/>
                                </a:rPr>
                                <m:t>𝒎</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𝒉</m:t>
                              </m:r>
                            </m:e>
                          </m:d>
                          <m:r>
                            <a:rPr lang="en-US" altLang="zh-CN" sz="1200" b="0" i="1" dirty="0" smtClean="0">
                              <a:solidFill>
                                <a:schemeClr val="tx1"/>
                              </a:solidFill>
                              <a:latin typeface="Cambria Math" panose="02040503050406030204" pitchFamily="18" charset="0"/>
                            </a:rPr>
                            <m:t> </m:t>
                          </m:r>
                          <m:r>
                            <a:rPr lang="en-US" altLang="zh-CN" sz="1200" b="0" i="1" dirty="0" smtClean="0">
                              <a:solidFill>
                                <a:srgbClr val="165602"/>
                              </a:solidFill>
                              <a:latin typeface="Cambria Math" panose="02040503050406030204" pitchFamily="18" charset="0"/>
                            </a:rPr>
                            <m:t>𝑑</m:t>
                          </m:r>
                          <m:sSub>
                            <m:sSubPr>
                              <m:ctrlPr>
                                <a:rPr lang="en-US" altLang="zh-CN" sz="1200" b="0" i="1" dirty="0" smtClean="0">
                                  <a:solidFill>
                                    <a:srgbClr val="165602"/>
                                  </a:solidFill>
                                  <a:latin typeface="Cambria Math" panose="02040503050406030204" pitchFamily="18" charset="0"/>
                                </a:rPr>
                              </m:ctrlPr>
                            </m:sSubPr>
                            <m:e>
                              <m:r>
                                <a:rPr lang="en-US" altLang="zh-CN" sz="1200" b="0" i="1" dirty="0" smtClean="0">
                                  <a:solidFill>
                                    <a:srgbClr val="165602"/>
                                  </a:solidFill>
                                  <a:latin typeface="Cambria Math" panose="02040503050406030204" pitchFamily="18" charset="0"/>
                                </a:rPr>
                                <m:t>𝜔</m:t>
                              </m:r>
                            </m:e>
                            <m:sub>
                              <m:r>
                                <a:rPr lang="en-US" altLang="zh-CN" sz="1200" b="0" i="1" dirty="0" smtClean="0">
                                  <a:solidFill>
                                    <a:srgbClr val="165602"/>
                                  </a:solidFill>
                                  <a:latin typeface="Cambria Math" panose="02040503050406030204" pitchFamily="18" charset="0"/>
                                </a:rPr>
                                <m:t>𝑚</m:t>
                              </m:r>
                            </m:sub>
                          </m:sSub>
                        </m:e>
                      </m:nary>
                      <m:r>
                        <a:rPr lang="en-US" altLang="zh-CN" sz="1200" b="0" i="1" dirty="0" smtClean="0">
                          <a:solidFill>
                            <a:schemeClr val="tx1"/>
                          </a:solidFill>
                          <a:latin typeface="Cambria Math" panose="02040503050406030204" pitchFamily="18" charset="0"/>
                        </a:rPr>
                        <m:t>=1,</m:t>
                      </m:r>
                      <m:r>
                        <a:rPr lang="en-US" altLang="zh-CN" sz="1200" b="0" i="0" dirty="0" smtClean="0">
                          <a:solidFill>
                            <a:schemeClr val="tx1"/>
                          </a:solidFill>
                          <a:latin typeface="Cambria Math" panose="02040503050406030204" pitchFamily="18" charset="0"/>
                        </a:rPr>
                        <m:t>  </m:t>
                      </m:r>
                      <m:nary>
                        <m:naryPr>
                          <m:supHide m:val="on"/>
                          <m:ctrlPr>
                            <a:rPr lang="en-US" altLang="zh-CN" sz="1200" i="1" dirty="0">
                              <a:solidFill>
                                <a:schemeClr val="tx1"/>
                              </a:solidFill>
                              <a:latin typeface="Cambria Math" panose="02040503050406030204" pitchFamily="18" charset="0"/>
                            </a:rPr>
                          </m:ctrlPr>
                        </m:naryPr>
                        <m:sub>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𝑆</m:t>
                              </m:r>
                            </m:e>
                            <m:sup>
                              <m:r>
                                <a:rPr lang="en-US" altLang="zh-CN" sz="1200" i="1" dirty="0">
                                  <a:solidFill>
                                    <a:schemeClr val="tx1"/>
                                  </a:solidFill>
                                  <a:latin typeface="Cambria Math" panose="02040503050406030204" pitchFamily="18" charset="0"/>
                                </a:rPr>
                                <m:t>2</m:t>
                              </m:r>
                            </m:sup>
                          </m:sSup>
                        </m:sub>
                        <m:sup/>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𝛿</m:t>
                              </m:r>
                            </m:e>
                            <m:sub>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𝜔</m:t>
                                  </m:r>
                                </m:e>
                                <m:sub>
                                  <m:r>
                                    <a:rPr lang="en-US" altLang="zh-CN" sz="1200" i="1" dirty="0">
                                      <a:solidFill>
                                        <a:schemeClr val="tx1"/>
                                      </a:solidFill>
                                      <a:latin typeface="Cambria Math" panose="02040503050406030204" pitchFamily="18" charset="0"/>
                                    </a:rPr>
                                    <m:t>𝑚</m:t>
                                  </m:r>
                                </m:sub>
                              </m:sSub>
                            </m:sub>
                          </m:sSub>
                          <m:d>
                            <m:dPr>
                              <m:ctrlPr>
                                <a:rPr lang="en-US" altLang="zh-CN" sz="1200" i="1" dirty="0">
                                  <a:solidFill>
                                    <a:schemeClr val="tx1"/>
                                  </a:solidFill>
                                  <a:latin typeface="Cambria Math" panose="02040503050406030204" pitchFamily="18" charset="0"/>
                                </a:rPr>
                              </m:ctrlPr>
                            </m:dPr>
                            <m:e>
                              <m:r>
                                <a:rPr lang="en-US" altLang="zh-CN" sz="1200" b="1" i="1" dirty="0">
                                  <a:solidFill>
                                    <a:srgbClr val="00B050"/>
                                  </a:solidFill>
                                  <a:latin typeface="Cambria Math" panose="02040503050406030204" pitchFamily="18" charset="0"/>
                                </a:rPr>
                                <m:t>𝒎</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𝒉</m:t>
                              </m:r>
                            </m:e>
                          </m:d>
                          <m:r>
                            <a:rPr lang="en-US" altLang="zh-CN" sz="1200" i="1" dirty="0">
                              <a:solidFill>
                                <a:schemeClr val="tx1"/>
                              </a:solidFill>
                              <a:latin typeface="Cambria Math" panose="02040503050406030204" pitchFamily="18" charset="0"/>
                            </a:rPr>
                            <m:t> </m:t>
                          </m:r>
                          <m:r>
                            <a:rPr lang="en-US" altLang="zh-CN" sz="1200" i="1" dirty="0" smtClean="0">
                              <a:solidFill>
                                <a:schemeClr val="accent1">
                                  <a:lumMod val="75000"/>
                                </a:schemeClr>
                              </a:solidFill>
                              <a:latin typeface="Cambria Math" panose="02040503050406030204" pitchFamily="18" charset="0"/>
                            </a:rPr>
                            <m:t>𝑑</m:t>
                          </m:r>
                          <m:sSub>
                            <m:sSubPr>
                              <m:ctrlPr>
                                <a:rPr lang="en-US" altLang="zh-CN" sz="1200" i="1" dirty="0">
                                  <a:solidFill>
                                    <a:schemeClr val="accent1">
                                      <a:lumMod val="75000"/>
                                    </a:schemeClr>
                                  </a:solidFill>
                                  <a:latin typeface="Cambria Math" panose="02040503050406030204" pitchFamily="18" charset="0"/>
                                </a:rPr>
                              </m:ctrlPr>
                            </m:sSubPr>
                            <m:e>
                              <m:r>
                                <a:rPr lang="en-US" altLang="zh-CN" sz="1200" i="1" dirty="0">
                                  <a:solidFill>
                                    <a:schemeClr val="accent1">
                                      <a:lumMod val="75000"/>
                                    </a:schemeClr>
                                  </a:solidFill>
                                  <a:latin typeface="Cambria Math" panose="02040503050406030204" pitchFamily="18" charset="0"/>
                                </a:rPr>
                                <m:t>𝜔</m:t>
                              </m:r>
                            </m:e>
                            <m:sub>
                              <m:r>
                                <a:rPr lang="en-US" altLang="zh-CN" sz="1200" b="0" i="1" dirty="0" smtClean="0">
                                  <a:solidFill>
                                    <a:schemeClr val="accent1">
                                      <a:lumMod val="75000"/>
                                    </a:schemeClr>
                                  </a:solidFill>
                                  <a:latin typeface="Cambria Math" panose="02040503050406030204" pitchFamily="18" charset="0"/>
                                </a:rPr>
                                <m:t>𝑖</m:t>
                              </m:r>
                            </m:sub>
                          </m:sSub>
                        </m:e>
                      </m:nary>
                      <m:r>
                        <a:rPr lang="en-US" altLang="zh-CN" sz="1200" b="0" i="1" dirty="0" smtClean="0">
                          <a:solidFill>
                            <a:schemeClr val="tx1"/>
                          </a:solidFill>
                          <a:latin typeface="Cambria Math" panose="02040503050406030204" pitchFamily="18" charset="0"/>
                        </a:rPr>
                        <m:t>=</m:t>
                      </m:r>
                      <m:r>
                        <a:rPr lang="zh-CN" altLang="en-US" sz="1200" i="1" dirty="0" smtClean="0">
                          <a:solidFill>
                            <a:schemeClr val="tx1"/>
                          </a:solidFill>
                          <a:latin typeface="Cambria Math" panose="02040503050406030204" pitchFamily="18" charset="0"/>
                        </a:rPr>
                        <m:t>？</m:t>
                      </m:r>
                    </m:oMath>
                  </m:oMathPara>
                </a14:m>
                <a:endParaRPr lang="en-US" altLang="zh-CN" sz="12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nary>
                        <m:naryPr>
                          <m:supHide m:val="on"/>
                          <m:ctrlPr>
                            <a:rPr lang="en-US" altLang="zh-CN" sz="1200" i="1" dirty="0" smtClean="0">
                              <a:solidFill>
                                <a:schemeClr val="tx1"/>
                              </a:solidFill>
                              <a:latin typeface="Cambria Math" panose="02040503050406030204" pitchFamily="18" charset="0"/>
                            </a:rPr>
                          </m:ctrlPr>
                        </m:naryPr>
                        <m:sub>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𝑆</m:t>
                              </m:r>
                            </m:e>
                            <m:sup>
                              <m:r>
                                <a:rPr lang="en-US" altLang="zh-CN" sz="1200" i="1" dirty="0">
                                  <a:solidFill>
                                    <a:schemeClr val="tx1"/>
                                  </a:solidFill>
                                  <a:latin typeface="Cambria Math" panose="02040503050406030204" pitchFamily="18" charset="0"/>
                                </a:rPr>
                                <m:t>2</m:t>
                              </m:r>
                            </m:sup>
                          </m:sSup>
                        </m:sub>
                        <m:sup/>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𝛿</m:t>
                              </m:r>
                            </m:e>
                            <m:sub>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𝜔</m:t>
                                  </m:r>
                                </m:e>
                                <m:sub>
                                  <m:r>
                                    <a:rPr lang="en-US" altLang="zh-CN" sz="1200" i="1" dirty="0">
                                      <a:solidFill>
                                        <a:schemeClr val="tx1"/>
                                      </a:solidFill>
                                      <a:latin typeface="Cambria Math" panose="02040503050406030204" pitchFamily="18" charset="0"/>
                                    </a:rPr>
                                    <m:t>𝑚</m:t>
                                  </m:r>
                                </m:sub>
                              </m:sSub>
                            </m:sub>
                          </m:sSub>
                          <m:d>
                            <m:dPr>
                              <m:ctrlPr>
                                <a:rPr lang="en-US" altLang="zh-CN" sz="1200" i="1" dirty="0">
                                  <a:solidFill>
                                    <a:schemeClr val="tx1"/>
                                  </a:solidFill>
                                  <a:latin typeface="Cambria Math" panose="02040503050406030204" pitchFamily="18" charset="0"/>
                                </a:rPr>
                              </m:ctrlPr>
                            </m:dPr>
                            <m:e>
                              <m:r>
                                <a:rPr lang="en-US" altLang="zh-CN" sz="1200" b="1" i="1" dirty="0">
                                  <a:solidFill>
                                    <a:srgbClr val="00B050"/>
                                  </a:solidFill>
                                  <a:latin typeface="Cambria Math" panose="02040503050406030204" pitchFamily="18" charset="0"/>
                                </a:rPr>
                                <m:t>𝒎</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𝒉</m:t>
                              </m:r>
                            </m:e>
                          </m:d>
                          <m:r>
                            <a:rPr lang="en-US" altLang="zh-CN" sz="1200" i="1" dirty="0">
                              <a:solidFill>
                                <a:schemeClr val="tx1"/>
                              </a:solidFill>
                              <a:latin typeface="Cambria Math" panose="02040503050406030204" pitchFamily="18" charset="0"/>
                            </a:rPr>
                            <m:t> </m:t>
                          </m:r>
                          <m:r>
                            <m:rPr>
                              <m:sty m:val="p"/>
                            </m:rPr>
                            <a:rPr lang="en-US" altLang="zh-CN" sz="1200" i="1" dirty="0" smtClean="0">
                              <a:solidFill>
                                <a:srgbClr val="165602"/>
                              </a:solidFill>
                              <a:latin typeface="Cambria Math" panose="02040503050406030204" pitchFamily="18" charset="0"/>
                            </a:rPr>
                            <m:t>d</m:t>
                          </m:r>
                          <m:sSub>
                            <m:sSubPr>
                              <m:ctrlPr>
                                <a:rPr lang="en-US" altLang="zh-CN" sz="1200" b="0" i="1" dirty="0" smtClean="0">
                                  <a:solidFill>
                                    <a:srgbClr val="165602"/>
                                  </a:solidFill>
                                  <a:latin typeface="Cambria Math" panose="02040503050406030204" pitchFamily="18" charset="0"/>
                                </a:rPr>
                              </m:ctrlPr>
                            </m:sSubPr>
                            <m:e>
                              <m:r>
                                <a:rPr lang="en-US" altLang="zh-CN" sz="1200" b="0" i="1" dirty="0" smtClean="0">
                                  <a:solidFill>
                                    <a:srgbClr val="165602"/>
                                  </a:solidFill>
                                  <a:latin typeface="Cambria Math" panose="02040503050406030204" pitchFamily="18" charset="0"/>
                                </a:rPr>
                                <m:t>𝜔</m:t>
                              </m:r>
                            </m:e>
                            <m:sub>
                              <m:r>
                                <a:rPr lang="en-US" altLang="zh-CN" sz="1200" b="0" i="1" dirty="0" smtClean="0">
                                  <a:solidFill>
                                    <a:srgbClr val="165602"/>
                                  </a:solidFill>
                                  <a:latin typeface="Cambria Math" panose="02040503050406030204" pitchFamily="18" charset="0"/>
                                </a:rPr>
                                <m:t>𝑚</m:t>
                              </m:r>
                            </m:sub>
                          </m:sSub>
                          <m:r>
                            <a:rPr lang="en-US" altLang="zh-CN" sz="1200" b="0" i="1" dirty="0" smtClean="0">
                              <a:solidFill>
                                <a:srgbClr val="165602"/>
                              </a:solidFill>
                              <a:latin typeface="Cambria Math" panose="02040503050406030204" pitchFamily="18" charset="0"/>
                            </a:rPr>
                            <m:t> </m:t>
                          </m:r>
                          <m:f>
                            <m:fPr>
                              <m:ctrlPr>
                                <a:rPr lang="en-US" altLang="zh-CN" sz="1200" b="0" i="1" dirty="0" smtClean="0">
                                  <a:solidFill>
                                    <a:schemeClr val="accent1">
                                      <a:lumMod val="75000"/>
                                    </a:schemeClr>
                                  </a:solidFill>
                                  <a:latin typeface="Cambria Math" panose="02040503050406030204" pitchFamily="18" charset="0"/>
                                </a:rPr>
                              </m:ctrlPr>
                            </m:fPr>
                            <m:num>
                              <m:r>
                                <a:rPr lang="en-US" altLang="zh-CN" sz="1200" i="1" dirty="0" smtClean="0">
                                  <a:solidFill>
                                    <a:schemeClr val="accent1">
                                      <a:lumMod val="75000"/>
                                    </a:schemeClr>
                                  </a:solidFill>
                                  <a:latin typeface="Cambria Math" panose="02040503050406030204" pitchFamily="18" charset="0"/>
                                </a:rPr>
                                <m:t>𝑑</m:t>
                              </m:r>
                              <m:sSub>
                                <m:sSubPr>
                                  <m:ctrlPr>
                                    <a:rPr lang="en-US" altLang="zh-CN" sz="1200" i="1" dirty="0">
                                      <a:solidFill>
                                        <a:schemeClr val="accent1">
                                          <a:lumMod val="75000"/>
                                        </a:schemeClr>
                                      </a:solidFill>
                                      <a:latin typeface="Cambria Math" panose="02040503050406030204" pitchFamily="18" charset="0"/>
                                    </a:rPr>
                                  </m:ctrlPr>
                                </m:sSubPr>
                                <m:e>
                                  <m:r>
                                    <a:rPr lang="en-US" altLang="zh-CN" sz="1200" i="1" dirty="0">
                                      <a:solidFill>
                                        <a:schemeClr val="accent1">
                                          <a:lumMod val="75000"/>
                                        </a:schemeClr>
                                      </a:solidFill>
                                      <a:latin typeface="Cambria Math" panose="02040503050406030204" pitchFamily="18" charset="0"/>
                                    </a:rPr>
                                    <m:t>𝜔</m:t>
                                  </m:r>
                                </m:e>
                                <m:sub>
                                  <m:r>
                                    <a:rPr lang="en-US" altLang="zh-CN" sz="1200" b="0" i="1" dirty="0" smtClean="0">
                                      <a:solidFill>
                                        <a:schemeClr val="accent1">
                                          <a:lumMod val="75000"/>
                                        </a:schemeClr>
                                      </a:solidFill>
                                      <a:latin typeface="Cambria Math" panose="02040503050406030204" pitchFamily="18" charset="0"/>
                                    </a:rPr>
                                    <m:t>𝑖</m:t>
                                  </m:r>
                                </m:sub>
                              </m:sSub>
                            </m:num>
                            <m:den>
                              <m:r>
                                <a:rPr lang="en-US" altLang="zh-CN" sz="1200" i="1" dirty="0">
                                  <a:solidFill>
                                    <a:schemeClr val="accent1">
                                      <a:lumMod val="75000"/>
                                    </a:schemeClr>
                                  </a:solidFill>
                                  <a:latin typeface="Cambria Math" panose="02040503050406030204" pitchFamily="18" charset="0"/>
                                </a:rPr>
                                <m:t>𝑑</m:t>
                              </m:r>
                              <m:sSub>
                                <m:sSubPr>
                                  <m:ctrlPr>
                                    <a:rPr lang="en-US" altLang="zh-CN" sz="1200" i="1" dirty="0">
                                      <a:solidFill>
                                        <a:schemeClr val="accent1">
                                          <a:lumMod val="75000"/>
                                        </a:schemeClr>
                                      </a:solidFill>
                                      <a:latin typeface="Cambria Math" panose="02040503050406030204" pitchFamily="18" charset="0"/>
                                    </a:rPr>
                                  </m:ctrlPr>
                                </m:sSubPr>
                                <m:e>
                                  <m:r>
                                    <a:rPr lang="en-US" altLang="zh-CN" sz="1200" i="1" dirty="0">
                                      <a:solidFill>
                                        <a:schemeClr val="accent1">
                                          <a:lumMod val="75000"/>
                                        </a:schemeClr>
                                      </a:solidFill>
                                      <a:latin typeface="Cambria Math" panose="02040503050406030204" pitchFamily="18" charset="0"/>
                                    </a:rPr>
                                    <m:t>𝜔</m:t>
                                  </m:r>
                                </m:e>
                                <m:sub>
                                  <m:r>
                                    <a:rPr lang="en-US" altLang="zh-CN" sz="1200" i="1" dirty="0">
                                      <a:solidFill>
                                        <a:schemeClr val="accent1">
                                          <a:lumMod val="75000"/>
                                        </a:schemeClr>
                                      </a:solidFill>
                                      <a:latin typeface="Cambria Math" panose="02040503050406030204" pitchFamily="18" charset="0"/>
                                    </a:rPr>
                                    <m:t>𝑖</m:t>
                                  </m:r>
                                </m:sub>
                              </m:sSub>
                            </m:den>
                          </m:f>
                        </m:e>
                      </m:nary>
                      <m:r>
                        <a:rPr lang="en-US" altLang="zh-CN" sz="1200" b="0" i="1" dirty="0" smtClean="0">
                          <a:solidFill>
                            <a:schemeClr val="tx1"/>
                          </a:solidFill>
                          <a:latin typeface="Cambria Math" panose="02040503050406030204" pitchFamily="18" charset="0"/>
                        </a:rPr>
                        <m:t>=1,  </m:t>
                      </m:r>
                      <m:nary>
                        <m:naryPr>
                          <m:supHide m:val="on"/>
                          <m:ctrlPr>
                            <a:rPr lang="en-US" altLang="zh-CN" sz="1200" i="1" dirty="0">
                              <a:solidFill>
                                <a:schemeClr val="tx1"/>
                              </a:solidFill>
                              <a:latin typeface="Cambria Math" panose="02040503050406030204" pitchFamily="18" charset="0"/>
                            </a:rPr>
                          </m:ctrlPr>
                        </m:naryPr>
                        <m:sub>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𝑆</m:t>
                              </m:r>
                            </m:e>
                            <m:sup>
                              <m:r>
                                <a:rPr lang="en-US" altLang="zh-CN" sz="1200" i="1" dirty="0">
                                  <a:solidFill>
                                    <a:schemeClr val="tx1"/>
                                  </a:solidFill>
                                  <a:latin typeface="Cambria Math" panose="02040503050406030204" pitchFamily="18" charset="0"/>
                                </a:rPr>
                                <m:t>2</m:t>
                              </m:r>
                            </m:sup>
                          </m:sSup>
                        </m:sub>
                        <m:sup/>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𝛿</m:t>
                              </m:r>
                            </m:e>
                            <m:sub>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𝜔</m:t>
                                  </m:r>
                                </m:e>
                                <m:sub>
                                  <m:r>
                                    <a:rPr lang="en-US" altLang="zh-CN" sz="1200" i="1" dirty="0">
                                      <a:solidFill>
                                        <a:schemeClr val="tx1"/>
                                      </a:solidFill>
                                      <a:latin typeface="Cambria Math" panose="02040503050406030204" pitchFamily="18" charset="0"/>
                                    </a:rPr>
                                    <m:t>𝑚</m:t>
                                  </m:r>
                                </m:sub>
                              </m:sSub>
                            </m:sub>
                          </m:sSub>
                          <m:d>
                            <m:dPr>
                              <m:ctrlPr>
                                <a:rPr lang="en-US" altLang="zh-CN" sz="1200" i="1" dirty="0">
                                  <a:solidFill>
                                    <a:schemeClr val="tx1"/>
                                  </a:solidFill>
                                  <a:latin typeface="Cambria Math" panose="02040503050406030204" pitchFamily="18" charset="0"/>
                                </a:rPr>
                              </m:ctrlPr>
                            </m:dPr>
                            <m:e>
                              <m:r>
                                <a:rPr lang="en-US" altLang="zh-CN" sz="1200" b="1" i="1" dirty="0">
                                  <a:solidFill>
                                    <a:srgbClr val="00B050"/>
                                  </a:solidFill>
                                  <a:latin typeface="Cambria Math" panose="02040503050406030204" pitchFamily="18" charset="0"/>
                                </a:rPr>
                                <m:t>𝒎</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𝒉</m:t>
                              </m:r>
                            </m:e>
                          </m:d>
                          <m:r>
                            <a:rPr lang="en-US" altLang="zh-CN" sz="1200" i="1" dirty="0">
                              <a:solidFill>
                                <a:schemeClr val="tx1"/>
                              </a:solidFill>
                              <a:latin typeface="Cambria Math" panose="02040503050406030204" pitchFamily="18" charset="0"/>
                            </a:rPr>
                            <m:t> </m:t>
                          </m:r>
                          <m:f>
                            <m:fPr>
                              <m:ctrlPr>
                                <a:rPr lang="en-US" altLang="zh-CN" sz="1200" i="1" dirty="0">
                                  <a:solidFill>
                                    <a:schemeClr val="accent1">
                                      <a:lumMod val="75000"/>
                                    </a:schemeClr>
                                  </a:solidFill>
                                  <a:latin typeface="Cambria Math" panose="02040503050406030204" pitchFamily="18" charset="0"/>
                                </a:rPr>
                              </m:ctrlPr>
                            </m:fPr>
                            <m:num>
                              <m:r>
                                <m:rPr>
                                  <m:sty m:val="p"/>
                                </m:rPr>
                                <a:rPr lang="en-US" altLang="zh-CN" sz="1200" i="1" dirty="0" smtClean="0">
                                  <a:solidFill>
                                    <a:srgbClr val="165602"/>
                                  </a:solidFill>
                                  <a:latin typeface="Cambria Math" panose="02040503050406030204" pitchFamily="18" charset="0"/>
                                </a:rPr>
                                <m:t>d</m:t>
                              </m:r>
                              <m:sSub>
                                <m:sSubPr>
                                  <m:ctrlPr>
                                    <a:rPr lang="en-US" altLang="zh-CN" sz="1200" i="1" dirty="0">
                                      <a:solidFill>
                                        <a:srgbClr val="165602"/>
                                      </a:solidFill>
                                      <a:latin typeface="Cambria Math" panose="02040503050406030204" pitchFamily="18" charset="0"/>
                                    </a:rPr>
                                  </m:ctrlPr>
                                </m:sSubPr>
                                <m:e>
                                  <m:r>
                                    <a:rPr lang="en-US" altLang="zh-CN" sz="1200" i="1" dirty="0">
                                      <a:solidFill>
                                        <a:srgbClr val="165602"/>
                                      </a:solidFill>
                                      <a:latin typeface="Cambria Math" panose="02040503050406030204" pitchFamily="18" charset="0"/>
                                    </a:rPr>
                                    <m:t>𝜔</m:t>
                                  </m:r>
                                </m:e>
                                <m:sub>
                                  <m:r>
                                    <a:rPr lang="en-US" altLang="zh-CN" sz="1200" i="1" dirty="0">
                                      <a:solidFill>
                                        <a:srgbClr val="165602"/>
                                      </a:solidFill>
                                      <a:latin typeface="Cambria Math" panose="02040503050406030204" pitchFamily="18" charset="0"/>
                                    </a:rPr>
                                    <m:t>𝑚</m:t>
                                  </m:r>
                                </m:sub>
                              </m:sSub>
                            </m:num>
                            <m:den>
                              <m:r>
                                <a:rPr lang="en-US" altLang="zh-CN" sz="1200" i="1" dirty="0">
                                  <a:solidFill>
                                    <a:schemeClr val="accent1">
                                      <a:lumMod val="75000"/>
                                    </a:schemeClr>
                                  </a:solidFill>
                                  <a:latin typeface="Cambria Math" panose="02040503050406030204" pitchFamily="18" charset="0"/>
                                </a:rPr>
                                <m:t>𝑑</m:t>
                              </m:r>
                              <m:sSub>
                                <m:sSubPr>
                                  <m:ctrlPr>
                                    <a:rPr lang="en-US" altLang="zh-CN" sz="1200" i="1" dirty="0">
                                      <a:solidFill>
                                        <a:schemeClr val="accent1">
                                          <a:lumMod val="75000"/>
                                        </a:schemeClr>
                                      </a:solidFill>
                                      <a:latin typeface="Cambria Math" panose="02040503050406030204" pitchFamily="18" charset="0"/>
                                    </a:rPr>
                                  </m:ctrlPr>
                                </m:sSubPr>
                                <m:e>
                                  <m:r>
                                    <a:rPr lang="en-US" altLang="zh-CN" sz="1200" i="1" dirty="0">
                                      <a:solidFill>
                                        <a:schemeClr val="accent1">
                                          <a:lumMod val="75000"/>
                                        </a:schemeClr>
                                      </a:solidFill>
                                      <a:latin typeface="Cambria Math" panose="02040503050406030204" pitchFamily="18" charset="0"/>
                                    </a:rPr>
                                    <m:t>𝜔</m:t>
                                  </m:r>
                                </m:e>
                                <m:sub>
                                  <m:r>
                                    <a:rPr lang="en-US" altLang="zh-CN" sz="1200" i="1" dirty="0">
                                      <a:solidFill>
                                        <a:schemeClr val="accent1">
                                          <a:lumMod val="75000"/>
                                        </a:schemeClr>
                                      </a:solidFill>
                                      <a:latin typeface="Cambria Math" panose="02040503050406030204" pitchFamily="18" charset="0"/>
                                    </a:rPr>
                                    <m:t>𝑖</m:t>
                                  </m:r>
                                </m:sub>
                              </m:sSub>
                            </m:den>
                          </m:f>
                          <m:r>
                            <a:rPr lang="en-US" altLang="zh-CN" sz="1200" b="0" i="1" dirty="0" smtClean="0">
                              <a:solidFill>
                                <a:schemeClr val="accent1">
                                  <a:lumMod val="75000"/>
                                </a:schemeClr>
                              </a:solidFill>
                              <a:latin typeface="Cambria Math" panose="02040503050406030204" pitchFamily="18" charset="0"/>
                            </a:rPr>
                            <m:t> </m:t>
                          </m:r>
                          <m:r>
                            <a:rPr lang="en-US" altLang="zh-CN" sz="1200" i="1" dirty="0">
                              <a:solidFill>
                                <a:schemeClr val="accent1">
                                  <a:lumMod val="75000"/>
                                </a:schemeClr>
                              </a:solidFill>
                              <a:latin typeface="Cambria Math" panose="02040503050406030204" pitchFamily="18" charset="0"/>
                            </a:rPr>
                            <m:t>𝑑</m:t>
                          </m:r>
                          <m:sSub>
                            <m:sSubPr>
                              <m:ctrlPr>
                                <a:rPr lang="en-US" altLang="zh-CN" sz="1200" i="1" dirty="0">
                                  <a:solidFill>
                                    <a:schemeClr val="accent1">
                                      <a:lumMod val="75000"/>
                                    </a:schemeClr>
                                  </a:solidFill>
                                  <a:latin typeface="Cambria Math" panose="02040503050406030204" pitchFamily="18" charset="0"/>
                                </a:rPr>
                              </m:ctrlPr>
                            </m:sSubPr>
                            <m:e>
                              <m:r>
                                <a:rPr lang="en-US" altLang="zh-CN" sz="1200" i="1" dirty="0">
                                  <a:solidFill>
                                    <a:schemeClr val="accent1">
                                      <a:lumMod val="75000"/>
                                    </a:schemeClr>
                                  </a:solidFill>
                                  <a:latin typeface="Cambria Math" panose="02040503050406030204" pitchFamily="18" charset="0"/>
                                </a:rPr>
                                <m:t>𝜔</m:t>
                              </m:r>
                            </m:e>
                            <m:sub>
                              <m:r>
                                <a:rPr lang="en-US" altLang="zh-CN" sz="1200" i="1" dirty="0">
                                  <a:solidFill>
                                    <a:schemeClr val="accent1">
                                      <a:lumMod val="75000"/>
                                    </a:schemeClr>
                                  </a:solidFill>
                                  <a:latin typeface="Cambria Math" panose="02040503050406030204" pitchFamily="18" charset="0"/>
                                </a:rPr>
                                <m:t>𝑖</m:t>
                              </m:r>
                            </m:sub>
                          </m:sSub>
                        </m:e>
                      </m:nary>
                      <m:r>
                        <a:rPr lang="en-US" altLang="zh-CN" sz="1200" b="0" i="1" dirty="0" smtClean="0">
                          <a:solidFill>
                            <a:schemeClr val="tx1"/>
                          </a:solidFill>
                          <a:latin typeface="Cambria Math" panose="02040503050406030204" pitchFamily="18" charset="0"/>
                        </a:rPr>
                        <m:t>=1</m:t>
                      </m:r>
                    </m:oMath>
                  </m:oMathPara>
                </a14:m>
                <a:endParaRPr lang="en-US" altLang="zh-CN" sz="12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1200" i="1" dirty="0">
                          <a:solidFill>
                            <a:schemeClr val="tx1"/>
                          </a:solidFill>
                          <a:latin typeface="Cambria Math" panose="02040503050406030204" pitchFamily="18" charset="0"/>
                        </a:rPr>
                        <m:t>最终</m:t>
                      </m:r>
                      <m:r>
                        <a:rPr lang="zh-CN" altLang="en-US" sz="1200" i="1" dirty="0" smtClean="0">
                          <a:solidFill>
                            <a:schemeClr val="tx1"/>
                          </a:solidFill>
                          <a:latin typeface="Cambria Math" panose="02040503050406030204" pitchFamily="18" charset="0"/>
                        </a:rPr>
                        <m:t>正确的</m:t>
                      </m:r>
                      <m:r>
                        <a:rPr lang="zh-CN" altLang="en-US" sz="1200" i="1" dirty="0">
                          <a:solidFill>
                            <a:schemeClr val="tx1"/>
                          </a:solidFill>
                          <a:latin typeface="Cambria Math" panose="02040503050406030204" pitchFamily="18" charset="0"/>
                        </a:rPr>
                        <m:t>微面</m:t>
                      </m:r>
                      <m:r>
                        <a:rPr lang="en-US" altLang="zh-CN" sz="1200" b="0" i="1" dirty="0" smtClean="0">
                          <a:solidFill>
                            <a:schemeClr val="tx1"/>
                          </a:solidFill>
                          <a:latin typeface="Cambria Math" panose="02040503050406030204" pitchFamily="18" charset="0"/>
                        </a:rPr>
                        <m:t>𝐵𝑆𝐷𝐹</m:t>
                      </m:r>
                      <m:r>
                        <a:rPr lang="zh-CN" altLang="en-US" sz="1200" i="1" dirty="0">
                          <a:solidFill>
                            <a:schemeClr val="tx1"/>
                          </a:solidFill>
                          <a:latin typeface="Cambria Math" panose="02040503050406030204" pitchFamily="18" charset="0"/>
                        </a:rPr>
                        <m:t>为</m:t>
                      </m:r>
                      <m:r>
                        <a:rPr lang="zh-CN" altLang="en-US" sz="1200" i="1" dirty="0" smtClean="0">
                          <a:solidFill>
                            <a:schemeClr val="tx1"/>
                          </a:solidFill>
                          <a:latin typeface="Cambria Math" panose="02040503050406030204" pitchFamily="18" charset="0"/>
                        </a:rPr>
                        <m:t>：</m:t>
                      </m:r>
                      <m:sSub>
                        <m:sSubPr>
                          <m:ctrlPr>
                            <a:rPr lang="en-US" altLang="zh-CN" sz="1200" i="1" dirty="0" smtClean="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𝑓</m:t>
                          </m:r>
                        </m:e>
                        <m:sub>
                          <m:r>
                            <a:rPr lang="en-US" altLang="zh-CN" sz="1200" i="1" dirty="0">
                              <a:solidFill>
                                <a:schemeClr val="tx1"/>
                              </a:solidFill>
                              <a:latin typeface="Cambria Math" panose="02040503050406030204" pitchFamily="18" charset="0"/>
                            </a:rPr>
                            <m:t>𝑚</m:t>
                          </m:r>
                        </m:sub>
                      </m:sSub>
                      <m:d>
                        <m:dPr>
                          <m:ctrlPr>
                            <a:rPr lang="en-US" altLang="zh-CN" sz="1200" i="1" dirty="0" smtClean="0">
                              <a:solidFill>
                                <a:schemeClr val="tx1"/>
                              </a:solidFill>
                              <a:latin typeface="Cambria Math" panose="02040503050406030204" pitchFamily="18" charset="0"/>
                            </a:rPr>
                          </m:ctrlPr>
                        </m:dPr>
                        <m:e>
                          <m:r>
                            <a:rPr lang="en-US" altLang="zh-CN" sz="1200" b="1" i="1" dirty="0" smtClean="0">
                              <a:solidFill>
                                <a:schemeClr val="tx1"/>
                              </a:solidFill>
                              <a:latin typeface="Cambria Math" panose="02040503050406030204" pitchFamily="18" charset="0"/>
                            </a:rPr>
                            <m:t>𝒊</m:t>
                          </m:r>
                          <m:r>
                            <a:rPr lang="en-US" altLang="zh-CN" sz="1200" b="1" i="1" dirty="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𝒐</m:t>
                          </m:r>
                          <m:r>
                            <a:rPr lang="en-US" altLang="zh-CN" sz="1200" b="1" i="1" dirty="0">
                              <a:solidFill>
                                <a:schemeClr val="tx1"/>
                              </a:solidFill>
                              <a:latin typeface="Cambria Math" panose="02040503050406030204" pitchFamily="18" charset="0"/>
                            </a:rPr>
                            <m:t>,</m:t>
                          </m:r>
                          <m:r>
                            <a:rPr lang="en-US" altLang="zh-CN" sz="1200" b="1" i="1" dirty="0" smtClean="0">
                              <a:solidFill>
                                <a:schemeClr val="tx1"/>
                              </a:solidFill>
                              <a:latin typeface="Cambria Math" panose="02040503050406030204" pitchFamily="18" charset="0"/>
                            </a:rPr>
                            <m:t>𝒎</m:t>
                          </m:r>
                        </m:e>
                      </m:d>
                      <m:r>
                        <a:rPr lang="en-US" altLang="zh-CN" sz="1200" b="0" i="1" dirty="0" smtClean="0">
                          <a:solidFill>
                            <a:schemeClr val="tx1"/>
                          </a:solidFill>
                          <a:latin typeface="Cambria Math" panose="02040503050406030204" pitchFamily="18" charset="0"/>
                        </a:rPr>
                        <m:t>=</m:t>
                      </m:r>
                      <m:f>
                        <m:fPr>
                          <m:ctrlPr>
                            <a:rPr lang="en-US" altLang="zh-CN" sz="1200" i="1" dirty="0">
                              <a:solidFill>
                                <a:schemeClr val="tx1"/>
                              </a:solidFill>
                              <a:latin typeface="Cambria Math" panose="02040503050406030204" pitchFamily="18" charset="0"/>
                            </a:rPr>
                          </m:ctrlPr>
                        </m:fPr>
                        <m:num>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𝛿</m:t>
                              </m:r>
                            </m:e>
                            <m:sub>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𝜔</m:t>
                                  </m:r>
                                </m:e>
                                <m:sub>
                                  <m:r>
                                    <a:rPr lang="en-US" altLang="zh-CN" sz="1200" i="1" dirty="0">
                                      <a:solidFill>
                                        <a:schemeClr val="tx1"/>
                                      </a:solidFill>
                                      <a:latin typeface="Cambria Math" panose="02040503050406030204" pitchFamily="18" charset="0"/>
                                    </a:rPr>
                                    <m:t>𝑚</m:t>
                                  </m:r>
                                </m:sub>
                              </m:sSub>
                            </m:sub>
                          </m:sSub>
                          <m:r>
                            <a:rPr lang="en-US" altLang="zh-CN" sz="1200" i="1" dirty="0">
                              <a:solidFill>
                                <a:schemeClr val="tx1"/>
                              </a:solidFill>
                              <a:latin typeface="Cambria Math" panose="02040503050406030204" pitchFamily="18" charset="0"/>
                            </a:rPr>
                            <m:t>(</m:t>
                          </m:r>
                          <m:r>
                            <a:rPr lang="en-US" altLang="zh-CN" sz="1200" b="1" i="1" dirty="0">
                              <a:solidFill>
                                <a:srgbClr val="00B050"/>
                              </a:solidFill>
                              <a:latin typeface="Cambria Math" panose="02040503050406030204" pitchFamily="18" charset="0"/>
                            </a:rPr>
                            <m:t>𝒎</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𝒉</m:t>
                          </m:r>
                          <m:r>
                            <a:rPr lang="en-US" altLang="zh-CN" sz="1200" i="1" dirty="0">
                              <a:solidFill>
                                <a:schemeClr val="tx1"/>
                              </a:solidFill>
                              <a:latin typeface="Cambria Math" panose="02040503050406030204" pitchFamily="18" charset="0"/>
                            </a:rPr>
                            <m:t>)</m:t>
                          </m:r>
                        </m:num>
                        <m:den>
                          <m:d>
                            <m:dPr>
                              <m:begChr m:val="|"/>
                              <m:endChr m:val="|"/>
                              <m:ctrlPr>
                                <a:rPr lang="en-US" altLang="zh-CN" sz="1200" i="1" dirty="0">
                                  <a:solidFill>
                                    <a:schemeClr val="tx1"/>
                                  </a:solidFill>
                                  <a:latin typeface="Cambria Math" panose="02040503050406030204" pitchFamily="18" charset="0"/>
                                </a:rPr>
                              </m:ctrlPr>
                            </m:dPr>
                            <m:e>
                              <m:r>
                                <a:rPr lang="en-US" altLang="zh-CN" sz="1200" b="1" i="1" dirty="0">
                                  <a:solidFill>
                                    <a:schemeClr val="tx1"/>
                                  </a:solidFill>
                                  <a:latin typeface="Cambria Math" panose="02040503050406030204" pitchFamily="18" charset="0"/>
                                </a:rPr>
                                <m:t>𝒊</m:t>
                              </m:r>
                              <m:r>
                                <a:rPr lang="en-US" altLang="zh-CN" sz="1200"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𝒉</m:t>
                              </m:r>
                            </m:e>
                          </m:d>
                        </m:den>
                      </m:f>
                      <m:f>
                        <m:fPr>
                          <m:ctrlPr>
                            <a:rPr lang="en-US" altLang="zh-CN" sz="1200" i="1" dirty="0">
                              <a:solidFill>
                                <a:schemeClr val="tx1"/>
                              </a:solidFill>
                              <a:latin typeface="Cambria Math" panose="02040503050406030204" pitchFamily="18" charset="0"/>
                            </a:rPr>
                          </m:ctrlPr>
                        </m:fPr>
                        <m:num>
                          <m:r>
                            <m:rPr>
                              <m:sty m:val="p"/>
                            </m:rPr>
                            <a:rPr lang="en-US" altLang="zh-CN" sz="1200" i="1" dirty="0">
                              <a:solidFill>
                                <a:schemeClr val="tx1"/>
                              </a:solidFill>
                              <a:latin typeface="Cambria Math" panose="02040503050406030204" pitchFamily="18" charset="0"/>
                            </a:rPr>
                            <m:t>d</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𝜔</m:t>
                              </m:r>
                            </m:e>
                            <m:sub>
                              <m:r>
                                <a:rPr lang="en-US" altLang="zh-CN" sz="1200" i="1" dirty="0">
                                  <a:solidFill>
                                    <a:schemeClr val="tx1"/>
                                  </a:solidFill>
                                  <a:latin typeface="Cambria Math" panose="02040503050406030204" pitchFamily="18" charset="0"/>
                                </a:rPr>
                                <m:t>𝑚</m:t>
                              </m:r>
                            </m:sub>
                          </m:sSub>
                        </m:num>
                        <m:den>
                          <m:r>
                            <a:rPr lang="en-US" altLang="zh-CN" sz="1200" i="1" dirty="0">
                              <a:solidFill>
                                <a:schemeClr val="tx1"/>
                              </a:solidFill>
                              <a:latin typeface="Cambria Math" panose="02040503050406030204" pitchFamily="18" charset="0"/>
                            </a:rPr>
                            <m:t>𝑑</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𝜔</m:t>
                              </m:r>
                            </m:e>
                            <m:sub>
                              <m:r>
                                <a:rPr lang="en-US" altLang="zh-CN" sz="1200" i="1" dirty="0">
                                  <a:solidFill>
                                    <a:schemeClr val="tx1"/>
                                  </a:solidFill>
                                  <a:latin typeface="Cambria Math" panose="02040503050406030204" pitchFamily="18" charset="0"/>
                                </a:rPr>
                                <m:t>𝑖</m:t>
                              </m:r>
                            </m:sub>
                          </m:sSub>
                        </m:den>
                      </m:f>
                    </m:oMath>
                  </m:oMathPara>
                </a14:m>
                <a:endParaRPr lang="en-US" altLang="zh-CN" sz="1200" i="1" dirty="0">
                  <a:solidFill>
                    <a:schemeClr val="accent1">
                      <a:lumMod val="75000"/>
                    </a:schemeClr>
                  </a:solidFill>
                  <a:latin typeface="Cambria Math" panose="02040503050406030204" pitchFamily="18" charset="0"/>
                </a:endParaRPr>
              </a:p>
            </p:txBody>
          </p:sp>
        </mc:Choice>
        <mc:Fallback xmlns="">
          <p:sp>
            <p:nvSpPr>
              <p:cNvPr id="64" name="矩形 63">
                <a:extLst>
                  <a:ext uri="{FF2B5EF4-FFF2-40B4-BE49-F238E27FC236}">
                    <a16:creationId xmlns:a16="http://schemas.microsoft.com/office/drawing/2014/main" id="{3CA1ADEA-4EEB-8D55-6FD2-0CDCAEEFEBCC}"/>
                  </a:ext>
                </a:extLst>
              </p:cNvPr>
              <p:cNvSpPr>
                <a:spLocks noRot="1" noChangeAspect="1" noMove="1" noResize="1" noEditPoints="1" noAdjustHandles="1" noChangeArrowheads="1" noChangeShapeType="1" noTextEdit="1"/>
              </p:cNvSpPr>
              <p:nvPr/>
            </p:nvSpPr>
            <p:spPr>
              <a:xfrm>
                <a:off x="1637364" y="1144044"/>
                <a:ext cx="9116227" cy="5402806"/>
              </a:xfrm>
              <a:prstGeom prst="rect">
                <a:avLst/>
              </a:prstGeom>
              <a:blipFill>
                <a:blip r:embed="rId2"/>
                <a:stretch>
                  <a:fillRect t="-5068" b="-732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529005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E18DB-F47F-2A28-33C9-6F6E9345BEBB}"/>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93A80D29-A20B-214C-CB50-57DB4E857C72}"/>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雅可比矩阵</a:t>
            </a:r>
            <a:endParaRPr lang="en-US" altLang="zh-CN" dirty="0"/>
          </a:p>
        </p:txBody>
      </p:sp>
      <p:sp>
        <p:nvSpPr>
          <p:cNvPr id="5" name="矩形 4">
            <a:extLst>
              <a:ext uri="{FF2B5EF4-FFF2-40B4-BE49-F238E27FC236}">
                <a16:creationId xmlns:a16="http://schemas.microsoft.com/office/drawing/2014/main" id="{52358541-29E2-C14A-F620-1D2362D2F592}"/>
              </a:ext>
            </a:extLst>
          </p:cNvPr>
          <p:cNvSpPr/>
          <p:nvPr/>
        </p:nvSpPr>
        <p:spPr>
          <a:xfrm>
            <a:off x="631109" y="1315233"/>
            <a:ext cx="6816453"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59E46423-8A2B-962E-EA3D-D2C208EAAD03}"/>
                  </a:ext>
                </a:extLst>
              </p:cNvPr>
              <p:cNvSpPr/>
              <p:nvPr/>
            </p:nvSpPr>
            <p:spPr>
              <a:xfrm>
                <a:off x="478709" y="1144044"/>
                <a:ext cx="6816453"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d>
                        <m:dPr>
                          <m:begChr m:val="（"/>
                          <m:endChr m:val="）"/>
                          <m:ctrlPr>
                            <a:rPr lang="zh-CN" altLang="en-US" sz="1300" b="0" i="1" dirty="0" smtClean="0">
                              <a:solidFill>
                                <a:schemeClr val="tx1"/>
                              </a:solidFill>
                              <a:latin typeface="Cambria Math" panose="02040503050406030204" pitchFamily="18" charset="0"/>
                            </a:rPr>
                          </m:ctrlPr>
                        </m:dPr>
                        <m:e>
                          <m:r>
                            <a:rPr lang="en-US" altLang="zh-CN" sz="1300" b="0" i="1" dirty="0" smtClean="0">
                              <a:solidFill>
                                <a:schemeClr val="tx1"/>
                              </a:solidFill>
                              <a:latin typeface="Cambria Math" panose="02040503050406030204" pitchFamily="18" charset="0"/>
                            </a:rPr>
                            <m:t>𝑢</m:t>
                          </m:r>
                          <m:r>
                            <a:rPr lang="en-US" altLang="zh-CN" sz="1300" b="0" i="1" dirty="0" smtClean="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𝑣</m:t>
                          </m:r>
                        </m:e>
                      </m:d>
                      <m:r>
                        <a:rPr lang="en-US" altLang="zh-CN" sz="1300" b="0" i="1" dirty="0" smtClean="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𝑓</m:t>
                      </m:r>
                      <m:d>
                        <m:dPr>
                          <m:ctrlPr>
                            <a:rPr lang="en-US" altLang="zh-CN" sz="1300" b="0" i="1" dirty="0" smtClean="0">
                              <a:solidFill>
                                <a:schemeClr val="tx1"/>
                              </a:solidFill>
                              <a:latin typeface="Cambria Math" panose="02040503050406030204" pitchFamily="18" charset="0"/>
                            </a:rPr>
                          </m:ctrlPr>
                        </m:dPr>
                        <m:e>
                          <m:r>
                            <a:rPr lang="en-US" altLang="zh-CN" sz="1300" b="0" i="1" dirty="0" smtClean="0">
                              <a:solidFill>
                                <a:schemeClr val="tx1"/>
                              </a:solidFill>
                              <a:latin typeface="Cambria Math" panose="02040503050406030204" pitchFamily="18" charset="0"/>
                            </a:rPr>
                            <m:t>𝑥</m:t>
                          </m:r>
                          <m:r>
                            <a:rPr lang="en-US" altLang="zh-CN" sz="1300" b="0" i="1" dirty="0" smtClean="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𝑦</m:t>
                          </m:r>
                        </m:e>
                      </m:d>
                    </m:oMath>
                  </m:oMathPara>
                </a14:m>
                <a:endParaRPr lang="en-US" altLang="zh-CN" sz="13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d>
                        <m:dPr>
                          <m:ctrlPr>
                            <a:rPr lang="en-US" altLang="zh-CN" sz="1300" b="0" i="1" dirty="0" smtClean="0">
                              <a:solidFill>
                                <a:schemeClr val="tx1"/>
                              </a:solidFill>
                              <a:latin typeface="Cambria Math" panose="02040503050406030204" pitchFamily="18" charset="0"/>
                            </a:rPr>
                          </m:ctrlPr>
                        </m:dPr>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𝑥</m:t>
                              </m:r>
                            </m:e>
                            <m:sub>
                              <m:r>
                                <a:rPr lang="en-US" altLang="zh-CN" sz="1300" b="0" i="1" dirty="0" smtClean="0">
                                  <a:solidFill>
                                    <a:schemeClr val="tx1"/>
                                  </a:solidFill>
                                  <a:latin typeface="Cambria Math" panose="02040503050406030204" pitchFamily="18" charset="0"/>
                                </a:rPr>
                                <m:t>0</m:t>
                              </m:r>
                            </m:sub>
                          </m:sSub>
                          <m:r>
                            <a:rPr lang="en-US" altLang="zh-CN" sz="1300" b="0" i="1" dirty="0" smtClean="0">
                              <a:solidFill>
                                <a:schemeClr val="tx1"/>
                              </a:solidFill>
                              <a:latin typeface="Cambria Math" panose="02040503050406030204" pitchFamily="18" charset="0"/>
                            </a:rPr>
                            <m:t>,</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𝑦</m:t>
                              </m:r>
                            </m:e>
                            <m:sub>
                              <m:r>
                                <a:rPr lang="en-US" altLang="zh-CN" sz="1300" b="0" i="1" dirty="0" smtClean="0">
                                  <a:solidFill>
                                    <a:schemeClr val="tx1"/>
                                  </a:solidFill>
                                  <a:latin typeface="Cambria Math" panose="02040503050406030204" pitchFamily="18" charset="0"/>
                                </a:rPr>
                                <m:t>0</m:t>
                              </m:r>
                            </m:sub>
                          </m:sSub>
                        </m:e>
                      </m:d>
                      <m:r>
                        <a:rPr lang="zh-CN" altLang="en-US" sz="1300" i="1" dirty="0">
                          <a:solidFill>
                            <a:schemeClr val="tx1"/>
                          </a:solidFill>
                          <a:latin typeface="Cambria Math" panose="02040503050406030204" pitchFamily="18" charset="0"/>
                        </a:rPr>
                        <m:t>对应</m:t>
                      </m:r>
                      <m:d>
                        <m:dPr>
                          <m:ctrlPr>
                            <a:rPr lang="en-US" altLang="zh-CN" sz="1300" b="0" i="1" dirty="0" smtClean="0">
                              <a:solidFill>
                                <a:schemeClr val="tx1"/>
                              </a:solidFill>
                              <a:latin typeface="Cambria Math" panose="02040503050406030204" pitchFamily="18" charset="0"/>
                            </a:rPr>
                          </m:ctrlPr>
                        </m:dPr>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𝑢</m:t>
                              </m:r>
                            </m:e>
                            <m:sub>
                              <m:r>
                                <a:rPr lang="en-US" altLang="zh-CN" sz="1300" b="0" i="1" dirty="0" smtClean="0">
                                  <a:solidFill>
                                    <a:schemeClr val="tx1"/>
                                  </a:solidFill>
                                  <a:latin typeface="Cambria Math" panose="02040503050406030204" pitchFamily="18" charset="0"/>
                                </a:rPr>
                                <m:t>0</m:t>
                              </m:r>
                            </m:sub>
                          </m:sSub>
                          <m:r>
                            <a:rPr lang="en-US" altLang="zh-CN" sz="1300" b="0" i="1" dirty="0" smtClean="0">
                              <a:solidFill>
                                <a:schemeClr val="tx1"/>
                              </a:solidFill>
                              <a:latin typeface="Cambria Math" panose="02040503050406030204" pitchFamily="18" charset="0"/>
                            </a:rPr>
                            <m:t>,</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𝑣</m:t>
                              </m:r>
                            </m:e>
                            <m:sub>
                              <m:r>
                                <a:rPr lang="en-US" altLang="zh-CN" sz="1300" b="0" i="1" dirty="0" smtClean="0">
                                  <a:solidFill>
                                    <a:schemeClr val="tx1"/>
                                  </a:solidFill>
                                  <a:latin typeface="Cambria Math" panose="02040503050406030204" pitchFamily="18" charset="0"/>
                                </a:rPr>
                                <m:t>0</m:t>
                              </m:r>
                            </m:sub>
                          </m:sSub>
                        </m:e>
                      </m:d>
                      <m:r>
                        <a:rPr lang="zh-CN" altLang="en-US" sz="1300" i="1" dirty="0">
                          <a:solidFill>
                            <a:schemeClr val="tx1"/>
                          </a:solidFill>
                          <a:latin typeface="Cambria Math" panose="02040503050406030204" pitchFamily="18" charset="0"/>
                        </a:rPr>
                        <m:t>，</m:t>
                      </m:r>
                      <m:r>
                        <a:rPr lang="zh-CN" altLang="en-US" sz="1300" i="1" dirty="0" smtClean="0">
                          <a:solidFill>
                            <a:schemeClr val="tx1"/>
                          </a:solidFill>
                          <a:latin typeface="Cambria Math" panose="02040503050406030204" pitchFamily="18" charset="0"/>
                        </a:rPr>
                        <m:t>当</m:t>
                      </m:r>
                      <m:d>
                        <m:dPr>
                          <m:ctrlPr>
                            <a:rPr lang="en-US" altLang="zh-CN" sz="1300" b="0" i="1" dirty="0" smtClean="0">
                              <a:solidFill>
                                <a:schemeClr val="tx1"/>
                              </a:solidFill>
                              <a:latin typeface="Cambria Math" panose="02040503050406030204" pitchFamily="18" charset="0"/>
                            </a:rPr>
                          </m:ctrlPr>
                        </m:dPr>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𝑥</m:t>
                              </m:r>
                            </m:e>
                            <m:sub>
                              <m:r>
                                <a:rPr lang="en-US" altLang="zh-CN" sz="1300" b="0" i="1" dirty="0" smtClean="0">
                                  <a:solidFill>
                                    <a:schemeClr val="tx1"/>
                                  </a:solidFill>
                                  <a:latin typeface="Cambria Math" panose="02040503050406030204" pitchFamily="18" charset="0"/>
                                </a:rPr>
                                <m:t>0</m:t>
                              </m:r>
                            </m:sub>
                          </m:sSub>
                          <m:r>
                            <a:rPr lang="en-US" altLang="zh-CN" sz="1300" b="0" i="1" dirty="0" smtClean="0">
                              <a:solidFill>
                                <a:schemeClr val="tx1"/>
                              </a:solidFill>
                              <a:latin typeface="Cambria Math" panose="02040503050406030204" pitchFamily="18" charset="0"/>
                            </a:rPr>
                            <m:t>,</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𝑦</m:t>
                              </m:r>
                            </m:e>
                            <m:sub>
                              <m:r>
                                <a:rPr lang="en-US" altLang="zh-CN" sz="1300" b="0" i="1" dirty="0" smtClean="0">
                                  <a:solidFill>
                                    <a:schemeClr val="tx1"/>
                                  </a:solidFill>
                                  <a:latin typeface="Cambria Math" panose="02040503050406030204" pitchFamily="18" charset="0"/>
                                </a:rPr>
                                <m:t>0</m:t>
                              </m:r>
                            </m:sub>
                          </m:sSub>
                        </m:e>
                      </m:d>
                      <m:r>
                        <a:rPr lang="zh-CN" altLang="en-US" sz="1300" i="1" dirty="0">
                          <a:solidFill>
                            <a:schemeClr val="tx1"/>
                          </a:solidFill>
                          <a:latin typeface="Cambria Math" panose="02040503050406030204" pitchFamily="18" charset="0"/>
                        </a:rPr>
                        <m:t>分别</m:t>
                      </m:r>
                      <m:r>
                        <a:rPr lang="zh-CN" altLang="en-US" sz="1300" i="1" dirty="0" smtClean="0">
                          <a:solidFill>
                            <a:schemeClr val="tx1"/>
                          </a:solidFill>
                          <a:latin typeface="Cambria Math" panose="02040503050406030204" pitchFamily="18" charset="0"/>
                        </a:rPr>
                        <m:t>变化</m:t>
                      </m:r>
                      <m:d>
                        <m:dPr>
                          <m:ctrlPr>
                            <a:rPr lang="en-US" altLang="zh-CN" sz="1300" b="0" i="1" dirty="0" smtClean="0">
                              <a:solidFill>
                                <a:schemeClr val="tx1"/>
                              </a:solidFill>
                              <a:latin typeface="Cambria Math" panose="02040503050406030204" pitchFamily="18" charset="0"/>
                            </a:rPr>
                          </m:ctrlPr>
                        </m:dPr>
                        <m:e>
                          <m:r>
                            <a:rPr lang="en-US" altLang="zh-CN" sz="1300" b="0" i="1" dirty="0" smtClean="0">
                              <a:solidFill>
                                <a:schemeClr val="tx1"/>
                              </a:solidFill>
                              <a:latin typeface="Cambria Math" panose="02040503050406030204" pitchFamily="18" charset="0"/>
                            </a:rPr>
                            <m:t>𝑑𝑥</m:t>
                          </m:r>
                          <m:r>
                            <a:rPr lang="en-US" altLang="zh-CN" sz="1300" b="0" i="1" dirty="0" smtClean="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𝑑𝑦</m:t>
                          </m:r>
                        </m:e>
                      </m:d>
                      <m:r>
                        <a:rPr lang="zh-CN" altLang="en-US" sz="1300" i="1" dirty="0">
                          <a:solidFill>
                            <a:schemeClr val="tx1"/>
                          </a:solidFill>
                          <a:latin typeface="Cambria Math" panose="02040503050406030204" pitchFamily="18" charset="0"/>
                        </a:rPr>
                        <m:t>时</m:t>
                      </m:r>
                      <m:r>
                        <a:rPr lang="zh-CN" altLang="en-US" sz="1300" i="1" dirty="0" smtClean="0">
                          <a:solidFill>
                            <a:schemeClr val="tx1"/>
                          </a:solidFill>
                          <a:latin typeface="Cambria Math" panose="02040503050406030204" pitchFamily="18" charset="0"/>
                        </a:rPr>
                        <m:t>，</m:t>
                      </m:r>
                      <m:d>
                        <m:dPr>
                          <m:ctrlPr>
                            <a:rPr lang="en-US" altLang="zh-CN" sz="1300" b="0" i="1" dirty="0" smtClean="0">
                              <a:solidFill>
                                <a:schemeClr val="tx1"/>
                              </a:solidFill>
                              <a:latin typeface="Cambria Math" panose="02040503050406030204" pitchFamily="18" charset="0"/>
                            </a:rPr>
                          </m:ctrlPr>
                        </m:dPr>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𝑢</m:t>
                              </m:r>
                            </m:e>
                            <m:sub>
                              <m:r>
                                <a:rPr lang="en-US" altLang="zh-CN" sz="1300" b="0" i="1" dirty="0" smtClean="0">
                                  <a:solidFill>
                                    <a:schemeClr val="tx1"/>
                                  </a:solidFill>
                                  <a:latin typeface="Cambria Math" panose="02040503050406030204" pitchFamily="18" charset="0"/>
                                </a:rPr>
                                <m:t>0</m:t>
                              </m:r>
                            </m:sub>
                          </m:sSub>
                          <m:r>
                            <a:rPr lang="en-US" altLang="zh-CN" sz="1300" b="0" i="1" dirty="0" smtClean="0">
                              <a:solidFill>
                                <a:schemeClr val="tx1"/>
                              </a:solidFill>
                              <a:latin typeface="Cambria Math" panose="02040503050406030204" pitchFamily="18" charset="0"/>
                            </a:rPr>
                            <m:t>,</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𝑣</m:t>
                              </m:r>
                            </m:e>
                            <m:sub>
                              <m:r>
                                <a:rPr lang="en-US" altLang="zh-CN" sz="1300" b="0" i="1" dirty="0" smtClean="0">
                                  <a:solidFill>
                                    <a:schemeClr val="tx1"/>
                                  </a:solidFill>
                                  <a:latin typeface="Cambria Math" panose="02040503050406030204" pitchFamily="18" charset="0"/>
                                </a:rPr>
                                <m:t>0</m:t>
                              </m:r>
                            </m:sub>
                          </m:sSub>
                        </m:e>
                      </m:d>
                      <m:r>
                        <a:rPr lang="zh-CN" altLang="en-US" sz="1300" i="1" dirty="0">
                          <a:solidFill>
                            <a:schemeClr val="tx1"/>
                          </a:solidFill>
                          <a:latin typeface="Cambria Math" panose="02040503050406030204" pitchFamily="18" charset="0"/>
                        </a:rPr>
                        <m:t>所对应的</m:t>
                      </m:r>
                      <m:r>
                        <a:rPr lang="zh-CN" altLang="en-US" sz="1300" i="1" dirty="0" smtClean="0">
                          <a:solidFill>
                            <a:schemeClr val="tx1"/>
                          </a:solidFill>
                          <a:latin typeface="Cambria Math" panose="02040503050406030204" pitchFamily="18" charset="0"/>
                        </a:rPr>
                        <m:t>变化</m:t>
                      </m:r>
                      <m:r>
                        <a:rPr lang="zh-CN" altLang="en-US" sz="1300" i="1" dirty="0">
                          <a:solidFill>
                            <a:schemeClr val="tx1"/>
                          </a:solidFill>
                          <a:latin typeface="Cambria Math" panose="02040503050406030204" pitchFamily="18" charset="0"/>
                        </a:rPr>
                        <m:t>为</m:t>
                      </m:r>
                      <m:d>
                        <m:dPr>
                          <m:ctrlPr>
                            <a:rPr lang="en-US" altLang="zh-CN" sz="1300" b="0" i="1" dirty="0" smtClean="0">
                              <a:solidFill>
                                <a:schemeClr val="tx1"/>
                              </a:solidFill>
                              <a:latin typeface="Cambria Math" panose="02040503050406030204" pitchFamily="18" charset="0"/>
                            </a:rPr>
                          </m:ctrlPr>
                        </m:dPr>
                        <m:e>
                          <m:r>
                            <m:rPr>
                              <m:sty m:val="p"/>
                            </m:rPr>
                            <a:rPr lang="en-US" altLang="zh-CN" sz="1300" i="1" dirty="0" smtClean="0">
                              <a:solidFill>
                                <a:schemeClr val="tx1"/>
                              </a:solidFill>
                              <a:latin typeface="Cambria Math" panose="02040503050406030204" pitchFamily="18" charset="0"/>
                            </a:rPr>
                            <m:t>d</m:t>
                          </m:r>
                          <m:r>
                            <a:rPr lang="en-US" altLang="zh-CN" sz="1300" b="0" i="1" dirty="0" smtClean="0">
                              <a:solidFill>
                                <a:schemeClr val="tx1"/>
                              </a:solidFill>
                              <a:latin typeface="Cambria Math" panose="02040503050406030204" pitchFamily="18" charset="0"/>
                            </a:rPr>
                            <m:t>𝑢</m:t>
                          </m:r>
                          <m:r>
                            <a:rPr lang="en-US" altLang="zh-CN" sz="1300" b="0" i="1" dirty="0" smtClean="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𝑑𝑣</m:t>
                          </m:r>
                        </m:e>
                      </m:d>
                    </m:oMath>
                  </m:oMathPara>
                </a14:m>
                <a:endParaRPr lang="en-US" altLang="zh-CN" sz="13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d>
                        <m:dPr>
                          <m:ctrlPr>
                            <a:rPr lang="en-US" altLang="zh-CN" sz="1300" b="0" i="1" dirty="0" smtClean="0">
                              <a:solidFill>
                                <a:schemeClr val="tx1"/>
                              </a:solidFill>
                              <a:latin typeface="Cambria Math" panose="02040503050406030204" pitchFamily="18" charset="0"/>
                            </a:rPr>
                          </m:ctrlPr>
                        </m:dPr>
                        <m:e>
                          <m:r>
                            <a:rPr lang="en-US" altLang="zh-CN" sz="1300" b="0" i="1" dirty="0" smtClean="0">
                              <a:solidFill>
                                <a:schemeClr val="tx1"/>
                              </a:solidFill>
                              <a:latin typeface="Cambria Math" panose="02040503050406030204" pitchFamily="18" charset="0"/>
                            </a:rPr>
                            <m:t>𝑑𝑢</m:t>
                          </m:r>
                          <m:r>
                            <a:rPr lang="en-US" altLang="zh-CN" sz="1300" b="0" i="1" dirty="0" smtClean="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𝑑𝑣</m:t>
                          </m:r>
                        </m:e>
                      </m:d>
                      <m:r>
                        <a:rPr lang="zh-CN" altLang="en-US" sz="1300" i="1" dirty="0">
                          <a:solidFill>
                            <a:schemeClr val="tx1"/>
                          </a:solidFill>
                          <a:latin typeface="Cambria Math" panose="02040503050406030204" pitchFamily="18" charset="0"/>
                        </a:rPr>
                        <m:t>与</m:t>
                      </m:r>
                      <m:d>
                        <m:dPr>
                          <m:ctrlPr>
                            <a:rPr lang="en-US" altLang="zh-CN" sz="1300" b="0" i="1" dirty="0" smtClean="0">
                              <a:solidFill>
                                <a:schemeClr val="tx1"/>
                              </a:solidFill>
                              <a:latin typeface="Cambria Math" panose="02040503050406030204" pitchFamily="18" charset="0"/>
                            </a:rPr>
                          </m:ctrlPr>
                        </m:dPr>
                        <m:e>
                          <m:r>
                            <a:rPr lang="en-US" altLang="zh-CN" sz="1300" b="0" i="1" dirty="0" smtClean="0">
                              <a:solidFill>
                                <a:schemeClr val="tx1"/>
                              </a:solidFill>
                              <a:latin typeface="Cambria Math" panose="02040503050406030204" pitchFamily="18" charset="0"/>
                            </a:rPr>
                            <m:t>𝑑𝑥</m:t>
                          </m:r>
                          <m:r>
                            <a:rPr lang="en-US" altLang="zh-CN" sz="1300" b="0" i="1" dirty="0" smtClean="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𝑑𝑦</m:t>
                          </m:r>
                        </m:e>
                      </m:d>
                      <m:r>
                        <a:rPr lang="zh-CN" altLang="en-US" sz="1300" i="1" dirty="0">
                          <a:solidFill>
                            <a:schemeClr val="tx1"/>
                          </a:solidFill>
                          <a:latin typeface="Cambria Math" panose="02040503050406030204" pitchFamily="18" charset="0"/>
                        </a:rPr>
                        <m:t>的</m:t>
                      </m:r>
                      <m:r>
                        <a:rPr lang="zh-CN" altLang="en-US" sz="1300" i="1" dirty="0" smtClean="0">
                          <a:solidFill>
                            <a:schemeClr val="tx1"/>
                          </a:solidFill>
                          <a:latin typeface="Cambria Math" panose="02040503050406030204" pitchFamily="18" charset="0"/>
                        </a:rPr>
                        <m:t>关系</m:t>
                      </m:r>
                      <m:r>
                        <a:rPr lang="zh-CN" altLang="en-US" sz="1300" i="1" dirty="0">
                          <a:solidFill>
                            <a:schemeClr val="tx1"/>
                          </a:solidFill>
                          <a:latin typeface="Cambria Math" panose="02040503050406030204" pitchFamily="18" charset="0"/>
                        </a:rPr>
                        <m:t>可以用</m:t>
                      </m:r>
                      <m:r>
                        <a:rPr lang="zh-CN" altLang="en-US" sz="1300" i="1" dirty="0" smtClean="0">
                          <a:solidFill>
                            <a:schemeClr val="tx1"/>
                          </a:solidFill>
                          <a:latin typeface="Cambria Math" panose="02040503050406030204" pitchFamily="18" charset="0"/>
                        </a:rPr>
                        <m:t>雅可比矩阵</m:t>
                      </m:r>
                      <m:r>
                        <a:rPr lang="zh-CN" altLang="en-US" sz="1300" i="1" dirty="0">
                          <a:solidFill>
                            <a:schemeClr val="tx1"/>
                          </a:solidFill>
                          <a:latin typeface="Cambria Math" panose="02040503050406030204" pitchFamily="18" charset="0"/>
                        </a:rPr>
                        <m:t>表示</m:t>
                      </m:r>
                    </m:oMath>
                  </m:oMathPara>
                </a14:m>
                <a:endParaRPr lang="en-US" altLang="zh-CN" sz="13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d>
                        <m:dPr>
                          <m:ctrlPr>
                            <a:rPr lang="en-US" altLang="zh-CN" sz="1300" i="1" dirty="0" smtClean="0">
                              <a:solidFill>
                                <a:schemeClr val="accent5">
                                  <a:lumMod val="50000"/>
                                </a:schemeClr>
                              </a:solidFill>
                              <a:latin typeface="Cambria Math" panose="02040503050406030204" pitchFamily="18" charset="0"/>
                            </a:rPr>
                          </m:ctrlPr>
                        </m:dPr>
                        <m:e>
                          <m:m>
                            <m:mPr>
                              <m:mcs>
                                <m:mc>
                                  <m:mcPr>
                                    <m:count m:val="2"/>
                                    <m:mcJc m:val="center"/>
                                  </m:mcPr>
                                </m:mc>
                              </m:mcs>
                              <m:ctrlPr>
                                <a:rPr lang="en-US" altLang="zh-CN" sz="1300" i="1" dirty="0" smtClean="0">
                                  <a:solidFill>
                                    <a:schemeClr val="accent5">
                                      <a:lumMod val="50000"/>
                                    </a:schemeClr>
                                  </a:solidFill>
                                  <a:latin typeface="Cambria Math" panose="02040503050406030204" pitchFamily="18" charset="0"/>
                                </a:rPr>
                              </m:ctrlPr>
                            </m:mPr>
                            <m:mr>
                              <m:e>
                                <m:f>
                                  <m:fPr>
                                    <m:ctrlPr>
                                      <a:rPr lang="en-US" altLang="zh-CN" sz="1300" b="0" i="1" dirty="0" smtClean="0">
                                        <a:solidFill>
                                          <a:schemeClr val="accent5">
                                            <a:lumMod val="50000"/>
                                          </a:schemeClr>
                                        </a:solidFill>
                                        <a:latin typeface="Cambria Math" panose="02040503050406030204" pitchFamily="18" charset="0"/>
                                      </a:rPr>
                                    </m:ctrlPr>
                                  </m:fPr>
                                  <m:num>
                                    <m:r>
                                      <a:rPr lang="en-US" altLang="zh-CN" sz="1300" b="0" i="1" dirty="0" smtClean="0">
                                        <a:solidFill>
                                          <a:schemeClr val="accent5">
                                            <a:lumMod val="50000"/>
                                          </a:schemeClr>
                                        </a:solidFill>
                                        <a:latin typeface="Cambria Math" panose="02040503050406030204" pitchFamily="18" charset="0"/>
                                      </a:rPr>
                                      <m:t>𝜕</m:t>
                                    </m:r>
                                    <m:r>
                                      <a:rPr lang="en-US" altLang="zh-CN" sz="1300" b="0" i="1" dirty="0" smtClean="0">
                                        <a:solidFill>
                                          <a:schemeClr val="accent5">
                                            <a:lumMod val="50000"/>
                                          </a:schemeClr>
                                        </a:solidFill>
                                        <a:latin typeface="Cambria Math" panose="02040503050406030204" pitchFamily="18" charset="0"/>
                                      </a:rPr>
                                      <m:t>𝑥</m:t>
                                    </m:r>
                                  </m:num>
                                  <m:den>
                                    <m:r>
                                      <a:rPr lang="en-US" altLang="zh-CN" sz="1300" b="0" i="1" dirty="0" smtClean="0">
                                        <a:solidFill>
                                          <a:schemeClr val="accent5">
                                            <a:lumMod val="50000"/>
                                          </a:schemeClr>
                                        </a:solidFill>
                                        <a:latin typeface="Cambria Math" panose="02040503050406030204" pitchFamily="18" charset="0"/>
                                      </a:rPr>
                                      <m:t>𝜕</m:t>
                                    </m:r>
                                    <m:r>
                                      <a:rPr lang="en-US" altLang="zh-CN" sz="1300" b="0" i="1" dirty="0" smtClean="0">
                                        <a:solidFill>
                                          <a:schemeClr val="accent5">
                                            <a:lumMod val="50000"/>
                                          </a:schemeClr>
                                        </a:solidFill>
                                        <a:latin typeface="Cambria Math" panose="02040503050406030204" pitchFamily="18" charset="0"/>
                                      </a:rPr>
                                      <m:t>𝑢</m:t>
                                    </m:r>
                                  </m:den>
                                </m:f>
                              </m:e>
                              <m:e>
                                <m:f>
                                  <m:fPr>
                                    <m:ctrlPr>
                                      <a:rPr lang="en-US" altLang="zh-CN" sz="1300" i="1" dirty="0">
                                        <a:solidFill>
                                          <a:schemeClr val="accent5">
                                            <a:lumMod val="50000"/>
                                          </a:schemeClr>
                                        </a:solidFill>
                                        <a:latin typeface="Cambria Math" panose="02040503050406030204" pitchFamily="18" charset="0"/>
                                      </a:rPr>
                                    </m:ctrlPr>
                                  </m:fPr>
                                  <m:num>
                                    <m:r>
                                      <a:rPr lang="en-US" altLang="zh-CN" sz="1300" i="1" dirty="0">
                                        <a:solidFill>
                                          <a:schemeClr val="accent5">
                                            <a:lumMod val="50000"/>
                                          </a:schemeClr>
                                        </a:solidFill>
                                        <a:latin typeface="Cambria Math" panose="02040503050406030204" pitchFamily="18" charset="0"/>
                                      </a:rPr>
                                      <m:t>𝜕</m:t>
                                    </m:r>
                                    <m:r>
                                      <a:rPr lang="en-US" altLang="zh-CN" sz="1300" b="0" i="1" dirty="0" smtClean="0">
                                        <a:solidFill>
                                          <a:schemeClr val="accent5">
                                            <a:lumMod val="50000"/>
                                          </a:schemeClr>
                                        </a:solidFill>
                                        <a:latin typeface="Cambria Math" panose="02040503050406030204" pitchFamily="18" charset="0"/>
                                      </a:rPr>
                                      <m:t>𝑥</m:t>
                                    </m:r>
                                  </m:num>
                                  <m:den>
                                    <m:r>
                                      <a:rPr lang="en-US" altLang="zh-CN" sz="1300" i="1" dirty="0">
                                        <a:solidFill>
                                          <a:schemeClr val="accent5">
                                            <a:lumMod val="50000"/>
                                          </a:schemeClr>
                                        </a:solidFill>
                                        <a:latin typeface="Cambria Math" panose="02040503050406030204" pitchFamily="18" charset="0"/>
                                      </a:rPr>
                                      <m:t>𝜕</m:t>
                                    </m:r>
                                    <m:r>
                                      <a:rPr lang="en-US" altLang="zh-CN" sz="1300" b="0" i="1" dirty="0" smtClean="0">
                                        <a:solidFill>
                                          <a:schemeClr val="accent5">
                                            <a:lumMod val="50000"/>
                                          </a:schemeClr>
                                        </a:solidFill>
                                        <a:latin typeface="Cambria Math" panose="02040503050406030204" pitchFamily="18" charset="0"/>
                                      </a:rPr>
                                      <m:t>𝑣</m:t>
                                    </m:r>
                                  </m:den>
                                </m:f>
                              </m:e>
                            </m:mr>
                            <m:mr>
                              <m:e>
                                <m:f>
                                  <m:fPr>
                                    <m:ctrlPr>
                                      <a:rPr lang="en-US" altLang="zh-CN" sz="1300" i="1" dirty="0">
                                        <a:solidFill>
                                          <a:schemeClr val="accent5">
                                            <a:lumMod val="50000"/>
                                          </a:schemeClr>
                                        </a:solidFill>
                                        <a:latin typeface="Cambria Math" panose="02040503050406030204" pitchFamily="18" charset="0"/>
                                      </a:rPr>
                                    </m:ctrlPr>
                                  </m:fPr>
                                  <m:num>
                                    <m:r>
                                      <a:rPr lang="en-US" altLang="zh-CN" sz="1300" i="1" dirty="0">
                                        <a:solidFill>
                                          <a:schemeClr val="accent5">
                                            <a:lumMod val="50000"/>
                                          </a:schemeClr>
                                        </a:solidFill>
                                        <a:latin typeface="Cambria Math" panose="02040503050406030204" pitchFamily="18" charset="0"/>
                                      </a:rPr>
                                      <m:t>𝜕</m:t>
                                    </m:r>
                                    <m:r>
                                      <a:rPr lang="en-US" altLang="zh-CN" sz="1300" b="0" i="1" dirty="0" smtClean="0">
                                        <a:solidFill>
                                          <a:schemeClr val="accent5">
                                            <a:lumMod val="50000"/>
                                          </a:schemeClr>
                                        </a:solidFill>
                                        <a:latin typeface="Cambria Math" panose="02040503050406030204" pitchFamily="18" charset="0"/>
                                      </a:rPr>
                                      <m:t>𝑦</m:t>
                                    </m:r>
                                  </m:num>
                                  <m:den>
                                    <m:r>
                                      <a:rPr lang="en-US" altLang="zh-CN" sz="1300" i="1" dirty="0">
                                        <a:solidFill>
                                          <a:schemeClr val="accent5">
                                            <a:lumMod val="50000"/>
                                          </a:schemeClr>
                                        </a:solidFill>
                                        <a:latin typeface="Cambria Math" panose="02040503050406030204" pitchFamily="18" charset="0"/>
                                      </a:rPr>
                                      <m:t>𝜕</m:t>
                                    </m:r>
                                    <m:r>
                                      <a:rPr lang="en-US" altLang="zh-CN" sz="1300" b="0" i="1" dirty="0" smtClean="0">
                                        <a:solidFill>
                                          <a:schemeClr val="accent5">
                                            <a:lumMod val="50000"/>
                                          </a:schemeClr>
                                        </a:solidFill>
                                        <a:latin typeface="Cambria Math" panose="02040503050406030204" pitchFamily="18" charset="0"/>
                                      </a:rPr>
                                      <m:t>𝑢</m:t>
                                    </m:r>
                                  </m:den>
                                </m:f>
                              </m:e>
                              <m:e>
                                <m:f>
                                  <m:fPr>
                                    <m:ctrlPr>
                                      <a:rPr lang="en-US" altLang="zh-CN" sz="1300" i="1" dirty="0">
                                        <a:solidFill>
                                          <a:schemeClr val="accent5">
                                            <a:lumMod val="50000"/>
                                          </a:schemeClr>
                                        </a:solidFill>
                                        <a:latin typeface="Cambria Math" panose="02040503050406030204" pitchFamily="18" charset="0"/>
                                      </a:rPr>
                                    </m:ctrlPr>
                                  </m:fPr>
                                  <m:num>
                                    <m:r>
                                      <a:rPr lang="en-US" altLang="zh-CN" sz="1300" i="1" dirty="0">
                                        <a:solidFill>
                                          <a:schemeClr val="accent5">
                                            <a:lumMod val="50000"/>
                                          </a:schemeClr>
                                        </a:solidFill>
                                        <a:latin typeface="Cambria Math" panose="02040503050406030204" pitchFamily="18" charset="0"/>
                                      </a:rPr>
                                      <m:t>𝜕</m:t>
                                    </m:r>
                                    <m:r>
                                      <a:rPr lang="en-US" altLang="zh-CN" sz="1300" b="0" i="1" dirty="0" smtClean="0">
                                        <a:solidFill>
                                          <a:schemeClr val="accent5">
                                            <a:lumMod val="50000"/>
                                          </a:schemeClr>
                                        </a:solidFill>
                                        <a:latin typeface="Cambria Math" panose="02040503050406030204" pitchFamily="18" charset="0"/>
                                      </a:rPr>
                                      <m:t>𝑦</m:t>
                                    </m:r>
                                  </m:num>
                                  <m:den>
                                    <m:r>
                                      <a:rPr lang="en-US" altLang="zh-CN" sz="1300" i="1" dirty="0">
                                        <a:solidFill>
                                          <a:schemeClr val="accent5">
                                            <a:lumMod val="50000"/>
                                          </a:schemeClr>
                                        </a:solidFill>
                                        <a:latin typeface="Cambria Math" panose="02040503050406030204" pitchFamily="18" charset="0"/>
                                      </a:rPr>
                                      <m:t>𝜕</m:t>
                                    </m:r>
                                    <m:r>
                                      <a:rPr lang="en-US" altLang="zh-CN" sz="1300" b="0" i="1" dirty="0" smtClean="0">
                                        <a:solidFill>
                                          <a:schemeClr val="accent5">
                                            <a:lumMod val="50000"/>
                                          </a:schemeClr>
                                        </a:solidFill>
                                        <a:latin typeface="Cambria Math" panose="02040503050406030204" pitchFamily="18" charset="0"/>
                                      </a:rPr>
                                      <m:t>𝑣</m:t>
                                    </m:r>
                                  </m:den>
                                </m:f>
                              </m:e>
                            </m:mr>
                          </m:m>
                        </m:e>
                      </m:d>
                      <m:d>
                        <m:dPr>
                          <m:ctrlPr>
                            <a:rPr lang="en-US" altLang="zh-CN" sz="1300" i="1" dirty="0">
                              <a:solidFill>
                                <a:schemeClr val="tx1"/>
                              </a:solidFill>
                              <a:latin typeface="Cambria Math" panose="02040503050406030204" pitchFamily="18" charset="0"/>
                            </a:rPr>
                          </m:ctrlPr>
                        </m:dPr>
                        <m:e>
                          <m:f>
                            <m:fPr>
                              <m:type m:val="noBa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𝑑</m:t>
                              </m:r>
                              <m:r>
                                <a:rPr lang="en-US" altLang="zh-CN" sz="1300" b="0" i="1" dirty="0" smtClean="0">
                                  <a:solidFill>
                                    <a:schemeClr val="tx1"/>
                                  </a:solidFill>
                                  <a:latin typeface="Cambria Math" panose="02040503050406030204" pitchFamily="18" charset="0"/>
                                </a:rPr>
                                <m:t>𝑢</m:t>
                              </m:r>
                            </m:num>
                            <m:den>
                              <m:r>
                                <a:rPr lang="en-US" altLang="zh-CN" sz="1300" i="1" dirty="0">
                                  <a:solidFill>
                                    <a:schemeClr val="tx1"/>
                                  </a:solidFill>
                                  <a:latin typeface="Cambria Math" panose="02040503050406030204" pitchFamily="18" charset="0"/>
                                </a:rPr>
                                <m:t>𝑑</m:t>
                              </m:r>
                              <m:r>
                                <a:rPr lang="en-US" altLang="zh-CN" sz="1300" b="0" i="1" dirty="0" smtClean="0">
                                  <a:solidFill>
                                    <a:schemeClr val="tx1"/>
                                  </a:solidFill>
                                  <a:latin typeface="Cambria Math" panose="02040503050406030204" pitchFamily="18" charset="0"/>
                                </a:rPr>
                                <m:t>𝑣</m:t>
                              </m:r>
                            </m:den>
                          </m:f>
                        </m:e>
                      </m:d>
                      <m:r>
                        <a:rPr lang="en-US" altLang="zh-CN" sz="1300" b="0" i="1" dirty="0" smtClean="0">
                          <a:solidFill>
                            <a:schemeClr val="tx1"/>
                          </a:solidFill>
                          <a:latin typeface="Cambria Math" panose="02040503050406030204" pitchFamily="18" charset="0"/>
                        </a:rPr>
                        <m:t>=</m:t>
                      </m:r>
                      <m:d>
                        <m:dPr>
                          <m:ctrlPr>
                            <a:rPr lang="en-US" altLang="zh-CN" sz="1300" i="1" dirty="0">
                              <a:solidFill>
                                <a:schemeClr val="tx1"/>
                              </a:solidFill>
                              <a:latin typeface="Cambria Math" panose="02040503050406030204" pitchFamily="18" charset="0"/>
                            </a:rPr>
                          </m:ctrlPr>
                        </m:dPr>
                        <m:e>
                          <m:f>
                            <m:fPr>
                              <m:type m:val="noBar"/>
                              <m:ctrlPr>
                                <a:rPr lang="en-US" altLang="zh-CN" sz="1300" i="1" dirty="0">
                                  <a:solidFill>
                                    <a:schemeClr val="tx1"/>
                                  </a:solidFill>
                                  <a:latin typeface="Cambria Math" panose="02040503050406030204" pitchFamily="18" charset="0"/>
                                </a:rPr>
                              </m:ctrlPr>
                            </m:fPr>
                            <m:num>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𝑥</m:t>
                                  </m:r>
                                </m:num>
                                <m:den>
                                  <m:r>
                                    <a:rPr lang="en-US" altLang="zh-CN" sz="1300" i="1" dirty="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𝑢</m:t>
                                  </m:r>
                                </m:den>
                              </m:f>
                              <m:r>
                                <a:rPr lang="en-US" altLang="zh-CN" sz="1300" b="0" i="1" dirty="0" smtClean="0">
                                  <a:solidFill>
                                    <a:schemeClr val="tx1"/>
                                  </a:solidFill>
                                  <a:latin typeface="Cambria Math" panose="02040503050406030204" pitchFamily="18" charset="0"/>
                                </a:rPr>
                                <m:t>𝑑𝑢</m:t>
                              </m:r>
                              <m:r>
                                <a:rPr lang="en-US" altLang="zh-CN" sz="1300" b="0" i="1" dirty="0" smtClean="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𝑥</m:t>
                                  </m:r>
                                </m:num>
                                <m:den>
                                  <m:r>
                                    <a:rPr lang="en-US" altLang="zh-CN" sz="1300" i="1" dirty="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𝑣</m:t>
                                  </m:r>
                                </m:den>
                              </m:f>
                              <m:r>
                                <a:rPr lang="en-US" altLang="zh-CN" sz="1300" b="0" i="1" dirty="0" smtClean="0">
                                  <a:solidFill>
                                    <a:schemeClr val="tx1"/>
                                  </a:solidFill>
                                  <a:latin typeface="Cambria Math" panose="02040503050406030204" pitchFamily="18" charset="0"/>
                                </a:rPr>
                                <m:t>𝑑𝑣</m:t>
                              </m:r>
                            </m:num>
                            <m:den>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𝑦</m:t>
                                  </m:r>
                                </m:num>
                                <m:den>
                                  <m:r>
                                    <a:rPr lang="en-US" altLang="zh-CN" sz="1300" i="1" dirty="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𝑢</m:t>
                                  </m:r>
                                </m:den>
                              </m:f>
                              <m:r>
                                <a:rPr lang="en-US" altLang="zh-CN" sz="1300" b="0" i="1" dirty="0" smtClean="0">
                                  <a:solidFill>
                                    <a:schemeClr val="tx1"/>
                                  </a:solidFill>
                                  <a:latin typeface="Cambria Math" panose="02040503050406030204" pitchFamily="18" charset="0"/>
                                </a:rPr>
                                <m:t>𝑑𝑢</m:t>
                              </m:r>
                              <m:r>
                                <a:rPr lang="en-US" altLang="zh-CN" sz="1300" b="0" i="1" dirty="0" smtClean="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𝑦</m:t>
                                  </m:r>
                                </m:num>
                                <m:den>
                                  <m:r>
                                    <a:rPr lang="en-US" altLang="zh-CN" sz="1300" i="1" dirty="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𝑣</m:t>
                                  </m:r>
                                </m:den>
                              </m:f>
                              <m:r>
                                <a:rPr lang="en-US" altLang="zh-CN" sz="1300" i="1" dirty="0">
                                  <a:solidFill>
                                    <a:schemeClr val="tx1"/>
                                  </a:solidFill>
                                  <a:latin typeface="Cambria Math" panose="02040503050406030204" pitchFamily="18" charset="0"/>
                                </a:rPr>
                                <m:t>𝑑</m:t>
                              </m:r>
                              <m:r>
                                <a:rPr lang="en-US" altLang="zh-CN" sz="1300" b="0" i="1" dirty="0" smtClean="0">
                                  <a:solidFill>
                                    <a:schemeClr val="tx1"/>
                                  </a:solidFill>
                                  <a:latin typeface="Cambria Math" panose="02040503050406030204" pitchFamily="18" charset="0"/>
                                </a:rPr>
                                <m:t>𝑣</m:t>
                              </m:r>
                            </m:den>
                          </m:f>
                        </m:e>
                      </m:d>
                      <m:r>
                        <a:rPr lang="en-US" altLang="zh-CN" sz="1300" b="0" i="1" dirty="0" smtClean="0">
                          <a:solidFill>
                            <a:schemeClr val="tx1"/>
                          </a:solidFill>
                          <a:latin typeface="Cambria Math" panose="02040503050406030204" pitchFamily="18" charset="0"/>
                        </a:rPr>
                        <m:t>=</m:t>
                      </m:r>
                      <m:d>
                        <m:dPr>
                          <m:ctrlPr>
                            <a:rPr lang="en-US" altLang="zh-CN" sz="1300" i="1" dirty="0">
                              <a:solidFill>
                                <a:schemeClr val="tx1"/>
                              </a:solidFill>
                              <a:latin typeface="Cambria Math" panose="02040503050406030204" pitchFamily="18" charset="0"/>
                            </a:rPr>
                          </m:ctrlPr>
                        </m:dPr>
                        <m:e>
                          <m:f>
                            <m:fPr>
                              <m:type m:val="noBa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𝑑</m:t>
                              </m:r>
                              <m:r>
                                <a:rPr lang="en-US" altLang="zh-CN" sz="1300" b="0" i="1" dirty="0" smtClean="0">
                                  <a:solidFill>
                                    <a:schemeClr val="tx1"/>
                                  </a:solidFill>
                                  <a:latin typeface="Cambria Math" panose="02040503050406030204" pitchFamily="18" charset="0"/>
                                </a:rPr>
                                <m:t>𝑥</m:t>
                              </m:r>
                            </m:num>
                            <m:den>
                              <m:r>
                                <a:rPr lang="en-US" altLang="zh-CN" sz="1300" i="1" dirty="0">
                                  <a:solidFill>
                                    <a:schemeClr val="tx1"/>
                                  </a:solidFill>
                                  <a:latin typeface="Cambria Math" panose="02040503050406030204" pitchFamily="18" charset="0"/>
                                </a:rPr>
                                <m:t>𝑑</m:t>
                              </m:r>
                              <m:r>
                                <a:rPr lang="en-US" altLang="zh-CN" sz="1300" b="0" i="1" dirty="0" smtClean="0">
                                  <a:solidFill>
                                    <a:schemeClr val="tx1"/>
                                  </a:solidFill>
                                  <a:latin typeface="Cambria Math" panose="02040503050406030204" pitchFamily="18" charset="0"/>
                                </a:rPr>
                                <m:t>𝑦</m:t>
                              </m:r>
                            </m:den>
                          </m:f>
                        </m:e>
                      </m:d>
                    </m:oMath>
                  </m:oMathPara>
                </a14:m>
                <a:endParaRPr lang="en-US" altLang="zh-CN" sz="13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1300" b="0" i="1" dirty="0" smtClean="0">
                          <a:solidFill>
                            <a:schemeClr val="tx1"/>
                          </a:solidFill>
                          <a:latin typeface="Cambria Math" panose="02040503050406030204" pitchFamily="18" charset="0"/>
                        </a:rPr>
                        <m:t>𝑑𝑢𝑑𝑣</m:t>
                      </m:r>
                      <m:r>
                        <a:rPr lang="zh-CN" altLang="en-US" sz="1300" i="1" dirty="0">
                          <a:solidFill>
                            <a:schemeClr val="tx1"/>
                          </a:solidFill>
                          <a:latin typeface="Cambria Math" panose="02040503050406030204" pitchFamily="18" charset="0"/>
                        </a:rPr>
                        <m:t>与</m:t>
                      </m:r>
                      <m:r>
                        <a:rPr lang="en-US" altLang="zh-CN" sz="1300" b="0" i="1" dirty="0" smtClean="0">
                          <a:solidFill>
                            <a:schemeClr val="tx1"/>
                          </a:solidFill>
                          <a:latin typeface="Cambria Math" panose="02040503050406030204" pitchFamily="18" charset="0"/>
                        </a:rPr>
                        <m:t>𝑑𝑥𝑑𝑦</m:t>
                      </m:r>
                      <m:r>
                        <a:rPr lang="zh-CN" altLang="en-US" sz="1300" i="1" dirty="0">
                          <a:solidFill>
                            <a:schemeClr val="tx1"/>
                          </a:solidFill>
                          <a:latin typeface="Cambria Math" panose="02040503050406030204" pitchFamily="18" charset="0"/>
                        </a:rPr>
                        <m:t>的</m:t>
                      </m:r>
                      <m:r>
                        <a:rPr lang="zh-CN" altLang="en-US" sz="1300" i="1" dirty="0" smtClean="0">
                          <a:solidFill>
                            <a:schemeClr val="tx1"/>
                          </a:solidFill>
                          <a:latin typeface="Cambria Math" panose="02040503050406030204" pitchFamily="18" charset="0"/>
                        </a:rPr>
                        <m:t>面积</m:t>
                      </m:r>
                      <m:r>
                        <a:rPr lang="zh-CN" altLang="en-US" sz="1300" i="1" dirty="0">
                          <a:solidFill>
                            <a:schemeClr val="tx1"/>
                          </a:solidFill>
                          <a:latin typeface="Cambria Math" panose="02040503050406030204" pitchFamily="18" charset="0"/>
                        </a:rPr>
                        <m:t>大小</m:t>
                      </m:r>
                      <m:r>
                        <a:rPr lang="zh-CN" altLang="en-US" sz="1300" i="1" dirty="0" smtClean="0">
                          <a:solidFill>
                            <a:schemeClr val="tx1"/>
                          </a:solidFill>
                          <a:latin typeface="Cambria Math" panose="02040503050406030204" pitchFamily="18" charset="0"/>
                        </a:rPr>
                        <m:t>关系</m:t>
                      </m:r>
                      <m:r>
                        <a:rPr lang="zh-CN" altLang="en-US" sz="1300" i="1" dirty="0">
                          <a:solidFill>
                            <a:schemeClr val="tx1"/>
                          </a:solidFill>
                          <a:latin typeface="Cambria Math" panose="02040503050406030204" pitchFamily="18" charset="0"/>
                        </a:rPr>
                        <m:t>可以用</m:t>
                      </m:r>
                      <m:r>
                        <a:rPr lang="zh-CN" altLang="en-US" sz="1300" i="1" dirty="0" smtClean="0">
                          <a:solidFill>
                            <a:schemeClr val="tx1"/>
                          </a:solidFill>
                          <a:latin typeface="Cambria Math" panose="02040503050406030204" pitchFamily="18" charset="0"/>
                        </a:rPr>
                        <m:t>雅可比</m:t>
                      </m:r>
                      <m:r>
                        <a:rPr lang="zh-CN" altLang="en-US" sz="1300" i="1" dirty="0">
                          <a:solidFill>
                            <a:schemeClr val="tx1"/>
                          </a:solidFill>
                          <a:latin typeface="Cambria Math" panose="02040503050406030204" pitchFamily="18" charset="0"/>
                        </a:rPr>
                        <m:t>行列式</m:t>
                      </m:r>
                      <m:r>
                        <a:rPr lang="zh-CN" altLang="en-US" sz="1300" i="1" dirty="0" smtClean="0">
                          <a:solidFill>
                            <a:schemeClr val="tx1"/>
                          </a:solidFill>
                          <a:latin typeface="Cambria Math" panose="02040503050406030204" pitchFamily="18" charset="0"/>
                        </a:rPr>
                        <m:t>的</m:t>
                      </m:r>
                      <m:r>
                        <a:rPr lang="zh-CN" altLang="en-US" sz="1300" i="1" dirty="0" smtClean="0">
                          <a:solidFill>
                            <a:srgbClr val="F76409"/>
                          </a:solidFill>
                          <a:latin typeface="Cambria Math" panose="02040503050406030204" pitchFamily="18" charset="0"/>
                        </a:rPr>
                        <m:t>绝对值</m:t>
                      </m:r>
                      <m:r>
                        <a:rPr lang="zh-CN" altLang="en-US" sz="1300" i="1" dirty="0">
                          <a:solidFill>
                            <a:schemeClr val="tx1"/>
                          </a:solidFill>
                          <a:latin typeface="Cambria Math" panose="02040503050406030204" pitchFamily="18" charset="0"/>
                        </a:rPr>
                        <m:t>表示</m:t>
                      </m:r>
                    </m:oMath>
                  </m:oMathPara>
                </a14:m>
                <a:endParaRPr lang="en-US" altLang="zh-CN" sz="13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1300" b="0" i="1" dirty="0" smtClean="0">
                          <a:solidFill>
                            <a:schemeClr val="tx1"/>
                          </a:solidFill>
                          <a:latin typeface="Cambria Math" panose="02040503050406030204" pitchFamily="18" charset="0"/>
                        </a:rPr>
                        <m:t>𝑑𝑥𝑑𝑦</m:t>
                      </m:r>
                      <m:r>
                        <a:rPr lang="en-US" altLang="zh-CN" sz="1300" b="0" i="1" dirty="0" smtClean="0">
                          <a:solidFill>
                            <a:schemeClr val="tx1"/>
                          </a:solidFill>
                          <a:latin typeface="Cambria Math" panose="02040503050406030204" pitchFamily="18" charset="0"/>
                        </a:rPr>
                        <m:t>=</m:t>
                      </m:r>
                      <m:d>
                        <m:dPr>
                          <m:begChr m:val="|"/>
                          <m:endChr m:val="|"/>
                          <m:ctrlPr>
                            <a:rPr lang="en-US" altLang="zh-CN" sz="1300" b="0" i="1" dirty="0" smtClean="0">
                              <a:solidFill>
                                <a:schemeClr val="tx1"/>
                              </a:solidFill>
                              <a:latin typeface="Cambria Math" panose="02040503050406030204" pitchFamily="18" charset="0"/>
                            </a:rPr>
                          </m:ctrlPr>
                        </m:dPr>
                        <m:e>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det</m:t>
                              </m:r>
                            </m:fName>
                            <m:e>
                              <m:d>
                                <m:dPr>
                                  <m:ctrlPr>
                                    <a:rPr lang="en-US" altLang="zh-CN" sz="1300" b="0" i="1" dirty="0" smtClean="0">
                                      <a:solidFill>
                                        <a:schemeClr val="tx1"/>
                                      </a:solidFill>
                                      <a:latin typeface="Cambria Math" panose="02040503050406030204" pitchFamily="18" charset="0"/>
                                    </a:rPr>
                                  </m:ctrlPr>
                                </m:dPr>
                                <m:e>
                                  <m:f>
                                    <m:fPr>
                                      <m:ctrlPr>
                                        <a:rPr lang="en-US" altLang="zh-CN" sz="1300" b="0" i="1" dirty="0" smtClean="0">
                                          <a:solidFill>
                                            <a:schemeClr val="accent5">
                                              <a:lumMod val="50000"/>
                                            </a:schemeClr>
                                          </a:solidFill>
                                          <a:latin typeface="Cambria Math" panose="02040503050406030204" pitchFamily="18" charset="0"/>
                                        </a:rPr>
                                      </m:ctrlPr>
                                    </m:fPr>
                                    <m:num>
                                      <m:r>
                                        <a:rPr lang="en-US" altLang="zh-CN" sz="1300" b="0" i="1" dirty="0" smtClean="0">
                                          <a:solidFill>
                                            <a:schemeClr val="accent5">
                                              <a:lumMod val="50000"/>
                                            </a:schemeClr>
                                          </a:solidFill>
                                          <a:latin typeface="Cambria Math" panose="02040503050406030204" pitchFamily="18" charset="0"/>
                                        </a:rPr>
                                        <m:t>𝜕</m:t>
                                      </m:r>
                                      <m:d>
                                        <m:dPr>
                                          <m:ctrlPr>
                                            <a:rPr lang="en-US" altLang="zh-CN" sz="1300" b="0" i="1" dirty="0" smtClean="0">
                                              <a:solidFill>
                                                <a:schemeClr val="accent5">
                                                  <a:lumMod val="50000"/>
                                                </a:schemeClr>
                                              </a:solidFill>
                                              <a:latin typeface="Cambria Math" panose="02040503050406030204" pitchFamily="18" charset="0"/>
                                            </a:rPr>
                                          </m:ctrlPr>
                                        </m:dPr>
                                        <m:e>
                                          <m:r>
                                            <a:rPr lang="en-US" altLang="zh-CN" sz="1300" b="0" i="1" dirty="0" smtClean="0">
                                              <a:solidFill>
                                                <a:schemeClr val="accent5">
                                                  <a:lumMod val="50000"/>
                                                </a:schemeClr>
                                              </a:solidFill>
                                              <a:latin typeface="Cambria Math" panose="02040503050406030204" pitchFamily="18" charset="0"/>
                                            </a:rPr>
                                            <m:t>𝑥</m:t>
                                          </m:r>
                                          <m:r>
                                            <a:rPr lang="en-US" altLang="zh-CN" sz="1300" b="0" i="1" dirty="0" smtClean="0">
                                              <a:solidFill>
                                                <a:schemeClr val="accent5">
                                                  <a:lumMod val="50000"/>
                                                </a:schemeClr>
                                              </a:solidFill>
                                              <a:latin typeface="Cambria Math" panose="02040503050406030204" pitchFamily="18" charset="0"/>
                                            </a:rPr>
                                            <m:t>, </m:t>
                                          </m:r>
                                          <m:r>
                                            <a:rPr lang="en-US" altLang="zh-CN" sz="1300" b="0" i="1" dirty="0" smtClean="0">
                                              <a:solidFill>
                                                <a:schemeClr val="accent5">
                                                  <a:lumMod val="50000"/>
                                                </a:schemeClr>
                                              </a:solidFill>
                                              <a:latin typeface="Cambria Math" panose="02040503050406030204" pitchFamily="18" charset="0"/>
                                            </a:rPr>
                                            <m:t>𝑦</m:t>
                                          </m:r>
                                        </m:e>
                                      </m:d>
                                      <m:r>
                                        <a:rPr lang="en-US" altLang="zh-CN" sz="1300" b="0" i="1" dirty="0" smtClean="0">
                                          <a:solidFill>
                                            <a:schemeClr val="accent5">
                                              <a:lumMod val="50000"/>
                                            </a:schemeClr>
                                          </a:solidFill>
                                          <a:latin typeface="Cambria Math" panose="02040503050406030204" pitchFamily="18" charset="0"/>
                                        </a:rPr>
                                        <m:t> </m:t>
                                      </m:r>
                                    </m:num>
                                    <m:den>
                                      <m:r>
                                        <a:rPr lang="en-US" altLang="zh-CN" sz="1300" b="0" i="1" dirty="0" smtClean="0">
                                          <a:solidFill>
                                            <a:schemeClr val="accent5">
                                              <a:lumMod val="50000"/>
                                            </a:schemeClr>
                                          </a:solidFill>
                                          <a:latin typeface="Cambria Math" panose="02040503050406030204" pitchFamily="18" charset="0"/>
                                        </a:rPr>
                                        <m:t>𝜕</m:t>
                                      </m:r>
                                      <m:d>
                                        <m:dPr>
                                          <m:ctrlPr>
                                            <a:rPr lang="en-US" altLang="zh-CN" sz="1300" b="0" i="1" dirty="0" smtClean="0">
                                              <a:solidFill>
                                                <a:schemeClr val="accent5">
                                                  <a:lumMod val="50000"/>
                                                </a:schemeClr>
                                              </a:solidFill>
                                              <a:latin typeface="Cambria Math" panose="02040503050406030204" pitchFamily="18" charset="0"/>
                                            </a:rPr>
                                          </m:ctrlPr>
                                        </m:dPr>
                                        <m:e>
                                          <m:r>
                                            <a:rPr lang="en-US" altLang="zh-CN" sz="1300" b="0" i="1" dirty="0" smtClean="0">
                                              <a:solidFill>
                                                <a:schemeClr val="accent5">
                                                  <a:lumMod val="50000"/>
                                                </a:schemeClr>
                                              </a:solidFill>
                                              <a:latin typeface="Cambria Math" panose="02040503050406030204" pitchFamily="18" charset="0"/>
                                            </a:rPr>
                                            <m:t>𝑢</m:t>
                                          </m:r>
                                          <m:r>
                                            <a:rPr lang="en-US" altLang="zh-CN" sz="1300" b="0" i="1" dirty="0" smtClean="0">
                                              <a:solidFill>
                                                <a:schemeClr val="accent5">
                                                  <a:lumMod val="50000"/>
                                                </a:schemeClr>
                                              </a:solidFill>
                                              <a:latin typeface="Cambria Math" panose="02040503050406030204" pitchFamily="18" charset="0"/>
                                            </a:rPr>
                                            <m:t>,</m:t>
                                          </m:r>
                                          <m:r>
                                            <a:rPr lang="en-US" altLang="zh-CN" sz="1300" b="0" i="1" dirty="0" smtClean="0">
                                              <a:solidFill>
                                                <a:schemeClr val="accent5">
                                                  <a:lumMod val="50000"/>
                                                </a:schemeClr>
                                              </a:solidFill>
                                              <a:latin typeface="Cambria Math" panose="02040503050406030204" pitchFamily="18" charset="0"/>
                                            </a:rPr>
                                            <m:t>𝑣</m:t>
                                          </m:r>
                                        </m:e>
                                      </m:d>
                                    </m:den>
                                  </m:f>
                                </m:e>
                              </m:d>
                            </m:e>
                          </m:func>
                        </m:e>
                      </m:d>
                      <m:r>
                        <a:rPr lang="en-US" altLang="zh-CN" sz="1300" b="0" i="1" dirty="0" smtClean="0">
                          <a:solidFill>
                            <a:schemeClr val="tx1"/>
                          </a:solidFill>
                          <a:latin typeface="Cambria Math" panose="02040503050406030204" pitchFamily="18" charset="0"/>
                        </a:rPr>
                        <m:t>𝑑𝑢𝑑𝑣</m:t>
                      </m:r>
                    </m:oMath>
                  </m:oMathPara>
                </a14:m>
                <a:endParaRPr lang="en-US" altLang="zh-CN" sz="13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1300" i="1" dirty="0">
                          <a:solidFill>
                            <a:schemeClr val="tx1"/>
                          </a:solidFill>
                          <a:latin typeface="Cambria Math" panose="02040503050406030204" pitchFamily="18" charset="0"/>
                        </a:rPr>
                        <m:t>积分转换：</m:t>
                      </m:r>
                      <m:nary>
                        <m:naryPr>
                          <m:chr m:val="∬"/>
                          <m:supHide m:val="on"/>
                          <m:ctrlPr>
                            <a:rPr lang="en-US" altLang="zh-CN" sz="1300" b="0" i="1" dirty="0" smtClean="0">
                              <a:solidFill>
                                <a:schemeClr val="tx1"/>
                              </a:solidFill>
                              <a:latin typeface="Cambria Math" panose="02040503050406030204" pitchFamily="18" charset="0"/>
                            </a:rPr>
                          </m:ctrlPr>
                        </m:naryPr>
                        <m:sub>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𝐷</m:t>
                              </m:r>
                            </m:e>
                            <m:sub>
                              <m:r>
                                <a:rPr lang="en-US" altLang="zh-CN" sz="1300" b="0" i="1" dirty="0" smtClean="0">
                                  <a:solidFill>
                                    <a:schemeClr val="tx1"/>
                                  </a:solidFill>
                                  <a:latin typeface="Cambria Math" panose="02040503050406030204" pitchFamily="18" charset="0"/>
                                </a:rPr>
                                <m:t>𝑥𝑦</m:t>
                              </m:r>
                            </m:sub>
                          </m:sSub>
                        </m:sub>
                        <m:sup/>
                        <m:e>
                          <m:r>
                            <a:rPr lang="en-US" altLang="zh-CN" sz="1300" i="1" dirty="0">
                              <a:solidFill>
                                <a:schemeClr val="tx1"/>
                              </a:solidFill>
                              <a:latin typeface="Cambria Math" panose="02040503050406030204" pitchFamily="18" charset="0"/>
                            </a:rPr>
                            <m:t>𝑔</m:t>
                          </m:r>
                          <m:d>
                            <m:dPr>
                              <m:ctrlPr>
                                <a:rPr lang="en-US" altLang="zh-CN" sz="1300" i="1" dirty="0">
                                  <a:solidFill>
                                    <a:schemeClr val="tx1"/>
                                  </a:solidFill>
                                  <a:latin typeface="Cambria Math" panose="02040503050406030204" pitchFamily="18" charset="0"/>
                                </a:rPr>
                              </m:ctrlPr>
                            </m:dPr>
                            <m:e>
                              <m:r>
                                <a:rPr lang="en-US" altLang="zh-CN" sz="1300" b="0" i="1" dirty="0" smtClean="0">
                                  <a:solidFill>
                                    <a:schemeClr val="tx1"/>
                                  </a:solidFill>
                                  <a:latin typeface="Cambria Math" panose="02040503050406030204" pitchFamily="18" charset="0"/>
                                </a:rPr>
                                <m:t>𝑥</m:t>
                              </m:r>
                              <m:r>
                                <a:rPr lang="en-US" altLang="zh-CN" sz="1300" b="0" i="1" dirty="0" smtClean="0">
                                  <a:solidFill>
                                    <a:schemeClr val="tx1"/>
                                  </a:solidFill>
                                  <a:latin typeface="Cambria Math" panose="02040503050406030204" pitchFamily="18" charset="0"/>
                                </a:rPr>
                                <m:t>, </m:t>
                              </m:r>
                              <m:r>
                                <a:rPr lang="en-US" altLang="zh-CN" sz="1300" b="0" i="1" dirty="0" smtClean="0">
                                  <a:solidFill>
                                    <a:schemeClr val="tx1"/>
                                  </a:solidFill>
                                  <a:latin typeface="Cambria Math" panose="02040503050406030204" pitchFamily="18" charset="0"/>
                                </a:rPr>
                                <m:t>𝑦</m:t>
                              </m:r>
                            </m:e>
                          </m:d>
                          <m:r>
                            <a:rPr lang="en-US" altLang="zh-CN" sz="1300" b="0" i="1" dirty="0" smtClean="0">
                              <a:solidFill>
                                <a:schemeClr val="tx1"/>
                              </a:solidFill>
                              <a:latin typeface="Cambria Math" panose="02040503050406030204" pitchFamily="18" charset="0"/>
                            </a:rPr>
                            <m:t> </m:t>
                          </m:r>
                          <m:r>
                            <a:rPr lang="en-US" altLang="zh-CN" sz="1300" b="0" i="1" dirty="0" smtClean="0">
                              <a:solidFill>
                                <a:schemeClr val="tx1"/>
                              </a:solidFill>
                              <a:latin typeface="Cambria Math" panose="02040503050406030204" pitchFamily="18" charset="0"/>
                            </a:rPr>
                            <m:t>𝑑𝑥𝑑𝑦</m:t>
                          </m:r>
                        </m:e>
                      </m:nary>
                      <m:r>
                        <a:rPr lang="en-US" altLang="zh-CN" sz="1300" b="0" i="1" dirty="0" smtClean="0">
                          <a:solidFill>
                            <a:schemeClr val="tx1"/>
                          </a:solidFill>
                          <a:latin typeface="Cambria Math" panose="02040503050406030204" pitchFamily="18" charset="0"/>
                        </a:rPr>
                        <m:t>=</m:t>
                      </m:r>
                      <m:nary>
                        <m:naryPr>
                          <m:chr m:val="∬"/>
                          <m:supHide m:val="on"/>
                          <m:ctrlPr>
                            <a:rPr lang="en-US" altLang="zh-CN" sz="1300" i="1" dirty="0">
                              <a:solidFill>
                                <a:schemeClr val="tx1"/>
                              </a:solidFill>
                              <a:latin typeface="Cambria Math" panose="02040503050406030204" pitchFamily="18" charset="0"/>
                            </a:rPr>
                          </m:ctrlPr>
                        </m:naryPr>
                        <m:sub>
                          <m:sSub>
                            <m:sSubPr>
                              <m:ctrlPr>
                                <a:rPr lang="en-US" altLang="zh-CN" sz="1300" i="1" dirty="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𝑓</m:t>
                              </m:r>
                              <m:r>
                                <a:rPr lang="en-US" altLang="zh-CN" sz="1300" b="0" i="1" dirty="0" smtClean="0">
                                  <a:solidFill>
                                    <a:schemeClr val="tx1"/>
                                  </a:solidFill>
                                  <a:latin typeface="Cambria Math" panose="02040503050406030204" pitchFamily="18" charset="0"/>
                                </a:rPr>
                                <m:t>(</m:t>
                              </m:r>
                              <m:r>
                                <a:rPr lang="en-US" altLang="zh-CN" sz="1300" i="1" dirty="0">
                                  <a:solidFill>
                                    <a:schemeClr val="tx1"/>
                                  </a:solidFill>
                                  <a:latin typeface="Cambria Math" panose="02040503050406030204" pitchFamily="18" charset="0"/>
                                </a:rPr>
                                <m:t>𝐷</m:t>
                              </m:r>
                            </m:e>
                            <m:sub>
                              <m:r>
                                <a:rPr lang="en-US" altLang="zh-CN" sz="1300" b="0" i="1" dirty="0" smtClean="0">
                                  <a:solidFill>
                                    <a:schemeClr val="tx1"/>
                                  </a:solidFill>
                                  <a:latin typeface="Cambria Math" panose="02040503050406030204" pitchFamily="18" charset="0"/>
                                </a:rPr>
                                <m:t>𝑥𝑦</m:t>
                              </m:r>
                            </m:sub>
                          </m:sSub>
                          <m:r>
                            <a:rPr lang="en-US" altLang="zh-CN" sz="1300" b="0" i="1" dirty="0" smtClean="0">
                              <a:solidFill>
                                <a:schemeClr val="tx1"/>
                              </a:solidFill>
                              <a:latin typeface="Cambria Math" panose="02040503050406030204" pitchFamily="18" charset="0"/>
                            </a:rPr>
                            <m:t>)</m:t>
                          </m:r>
                        </m:sub>
                        <m:sup/>
                        <m:e>
                          <m:r>
                            <a:rPr lang="en-US" altLang="zh-CN" sz="1300" i="1" dirty="0">
                              <a:solidFill>
                                <a:schemeClr val="tx1"/>
                              </a:solidFill>
                              <a:latin typeface="Cambria Math" panose="02040503050406030204" pitchFamily="18" charset="0"/>
                            </a:rPr>
                            <m:t>𝑔</m:t>
                          </m:r>
                          <m:d>
                            <m:dPr>
                              <m:ctrlPr>
                                <a:rPr lang="en-US" altLang="zh-CN" sz="1300" i="1" dirty="0">
                                  <a:solidFill>
                                    <a:schemeClr val="tx1"/>
                                  </a:solidFill>
                                  <a:latin typeface="Cambria Math" panose="02040503050406030204" pitchFamily="18" charset="0"/>
                                </a:rPr>
                              </m:ctrlPr>
                            </m:dPr>
                            <m:e>
                              <m:sSup>
                                <m:sSupPr>
                                  <m:ctrlPr>
                                    <a:rPr lang="en-US" altLang="zh-CN" sz="1300" b="0" i="1" dirty="0" smtClean="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𝑓</m:t>
                                  </m:r>
                                </m:e>
                                <m:sup>
                                  <m:r>
                                    <a:rPr lang="en-US" altLang="zh-CN" sz="1300" b="0" i="1" dirty="0" smtClean="0">
                                      <a:solidFill>
                                        <a:schemeClr val="tx1"/>
                                      </a:solidFill>
                                      <a:latin typeface="Cambria Math" panose="02040503050406030204" pitchFamily="18" charset="0"/>
                                    </a:rPr>
                                    <m:t>−1</m:t>
                                  </m:r>
                                </m:sup>
                              </m:sSup>
                              <m:d>
                                <m:dPr>
                                  <m:ctrlPr>
                                    <a:rPr lang="en-US" altLang="zh-CN" sz="1300" i="1" dirty="0">
                                      <a:solidFill>
                                        <a:schemeClr val="tx1"/>
                                      </a:solidFill>
                                      <a:latin typeface="Cambria Math" panose="02040503050406030204" pitchFamily="18" charset="0"/>
                                    </a:rPr>
                                  </m:ctrlPr>
                                </m:dPr>
                                <m:e>
                                  <m:r>
                                    <a:rPr lang="en-US" altLang="zh-CN" sz="1300" b="0" i="1" dirty="0" smtClean="0">
                                      <a:solidFill>
                                        <a:schemeClr val="tx1"/>
                                      </a:solidFill>
                                      <a:latin typeface="Cambria Math" panose="02040503050406030204" pitchFamily="18" charset="0"/>
                                    </a:rPr>
                                    <m:t>𝑢</m:t>
                                  </m:r>
                                  <m:r>
                                    <a:rPr lang="en-US" altLang="zh-CN" sz="1300" b="0" i="1" dirty="0" smtClean="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𝑣</m:t>
                                  </m:r>
                                </m:e>
                              </m:d>
                            </m:e>
                          </m:d>
                          <m:d>
                            <m:dPr>
                              <m:begChr m:val="|"/>
                              <m:endChr m:val="|"/>
                              <m:ctrlPr>
                                <a:rPr lang="en-US" altLang="zh-CN" sz="1300" i="1" dirty="0">
                                  <a:solidFill>
                                    <a:schemeClr val="tx1"/>
                                  </a:solidFill>
                                  <a:latin typeface="Cambria Math" panose="02040503050406030204" pitchFamily="18" charset="0"/>
                                </a:rPr>
                              </m:ctrlPr>
                            </m:dPr>
                            <m:e>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det</m:t>
                                  </m:r>
                                </m:fName>
                                <m:e>
                                  <m:d>
                                    <m:dPr>
                                      <m:ctrlPr>
                                        <a:rPr lang="en-US" altLang="zh-CN" sz="1300" i="1" dirty="0">
                                          <a:solidFill>
                                            <a:schemeClr val="tx1"/>
                                          </a:solidFill>
                                          <a:latin typeface="Cambria Math" panose="02040503050406030204" pitchFamily="18" charset="0"/>
                                        </a:rPr>
                                      </m:ctrlPr>
                                    </m:dPr>
                                    <m:e>
                                      <m:f>
                                        <m:fPr>
                                          <m:ctrlPr>
                                            <a:rPr lang="en-US" altLang="zh-CN" sz="1300" i="1" dirty="0">
                                              <a:solidFill>
                                                <a:schemeClr val="accent5">
                                                  <a:lumMod val="50000"/>
                                                </a:schemeClr>
                                              </a:solidFill>
                                              <a:latin typeface="Cambria Math" panose="02040503050406030204" pitchFamily="18" charset="0"/>
                                            </a:rPr>
                                          </m:ctrlPr>
                                        </m:fPr>
                                        <m:num>
                                          <m:r>
                                            <a:rPr lang="en-US" altLang="zh-CN" sz="1300" i="1" dirty="0">
                                              <a:solidFill>
                                                <a:schemeClr val="accent5">
                                                  <a:lumMod val="50000"/>
                                                </a:schemeClr>
                                              </a:solidFill>
                                              <a:latin typeface="Cambria Math" panose="02040503050406030204" pitchFamily="18" charset="0"/>
                                            </a:rPr>
                                            <m:t>𝜕</m:t>
                                          </m:r>
                                          <m:d>
                                            <m:dPr>
                                              <m:ctrlPr>
                                                <a:rPr lang="en-US" altLang="zh-CN" sz="1300" i="1" dirty="0">
                                                  <a:solidFill>
                                                    <a:schemeClr val="accent5">
                                                      <a:lumMod val="50000"/>
                                                    </a:schemeClr>
                                                  </a:solidFill>
                                                  <a:latin typeface="Cambria Math" panose="02040503050406030204" pitchFamily="18" charset="0"/>
                                                </a:rPr>
                                              </m:ctrlPr>
                                            </m:dPr>
                                            <m:e>
                                              <m:r>
                                                <a:rPr lang="en-US" altLang="zh-CN" sz="1300" b="0" i="1" dirty="0" smtClean="0">
                                                  <a:solidFill>
                                                    <a:schemeClr val="accent5">
                                                      <a:lumMod val="50000"/>
                                                    </a:schemeClr>
                                                  </a:solidFill>
                                                  <a:latin typeface="Cambria Math" panose="02040503050406030204" pitchFamily="18" charset="0"/>
                                                </a:rPr>
                                                <m:t>𝑥</m:t>
                                              </m:r>
                                              <m:r>
                                                <a:rPr lang="en-US" altLang="zh-CN" sz="1300" b="0" i="1" dirty="0" smtClean="0">
                                                  <a:solidFill>
                                                    <a:schemeClr val="accent5">
                                                      <a:lumMod val="50000"/>
                                                    </a:schemeClr>
                                                  </a:solidFill>
                                                  <a:latin typeface="Cambria Math" panose="02040503050406030204" pitchFamily="18" charset="0"/>
                                                </a:rPr>
                                                <m:t>, </m:t>
                                              </m:r>
                                              <m:r>
                                                <a:rPr lang="en-US" altLang="zh-CN" sz="1300" b="0" i="1" dirty="0" smtClean="0">
                                                  <a:solidFill>
                                                    <a:schemeClr val="accent5">
                                                      <a:lumMod val="50000"/>
                                                    </a:schemeClr>
                                                  </a:solidFill>
                                                  <a:latin typeface="Cambria Math" panose="02040503050406030204" pitchFamily="18" charset="0"/>
                                                </a:rPr>
                                                <m:t>𝑦</m:t>
                                              </m:r>
                                            </m:e>
                                          </m:d>
                                          <m:r>
                                            <a:rPr lang="en-US" altLang="zh-CN" sz="1300" i="1" dirty="0">
                                              <a:solidFill>
                                                <a:schemeClr val="accent5">
                                                  <a:lumMod val="50000"/>
                                                </a:schemeClr>
                                              </a:solidFill>
                                              <a:latin typeface="Cambria Math" panose="02040503050406030204" pitchFamily="18" charset="0"/>
                                            </a:rPr>
                                            <m:t> </m:t>
                                          </m:r>
                                        </m:num>
                                        <m:den>
                                          <m:r>
                                            <a:rPr lang="en-US" altLang="zh-CN" sz="1300" i="1" dirty="0">
                                              <a:solidFill>
                                                <a:schemeClr val="accent5">
                                                  <a:lumMod val="50000"/>
                                                </a:schemeClr>
                                              </a:solidFill>
                                              <a:latin typeface="Cambria Math" panose="02040503050406030204" pitchFamily="18" charset="0"/>
                                            </a:rPr>
                                            <m:t>𝜕</m:t>
                                          </m:r>
                                          <m:d>
                                            <m:dPr>
                                              <m:ctrlPr>
                                                <a:rPr lang="en-US" altLang="zh-CN" sz="1300" i="1" dirty="0">
                                                  <a:solidFill>
                                                    <a:schemeClr val="accent5">
                                                      <a:lumMod val="50000"/>
                                                    </a:schemeClr>
                                                  </a:solidFill>
                                                  <a:latin typeface="Cambria Math" panose="02040503050406030204" pitchFamily="18" charset="0"/>
                                                </a:rPr>
                                              </m:ctrlPr>
                                            </m:dPr>
                                            <m:e>
                                              <m:r>
                                                <a:rPr lang="en-US" altLang="zh-CN" sz="1300" b="0" i="1" dirty="0" smtClean="0">
                                                  <a:solidFill>
                                                    <a:schemeClr val="accent5">
                                                      <a:lumMod val="50000"/>
                                                    </a:schemeClr>
                                                  </a:solidFill>
                                                  <a:latin typeface="Cambria Math" panose="02040503050406030204" pitchFamily="18" charset="0"/>
                                                </a:rPr>
                                                <m:t>𝑢</m:t>
                                              </m:r>
                                              <m:r>
                                                <a:rPr lang="en-US" altLang="zh-CN" sz="1300" b="0" i="1" dirty="0" smtClean="0">
                                                  <a:solidFill>
                                                    <a:schemeClr val="accent5">
                                                      <a:lumMod val="50000"/>
                                                    </a:schemeClr>
                                                  </a:solidFill>
                                                  <a:latin typeface="Cambria Math" panose="02040503050406030204" pitchFamily="18" charset="0"/>
                                                </a:rPr>
                                                <m:t>, </m:t>
                                              </m:r>
                                              <m:r>
                                                <a:rPr lang="en-US" altLang="zh-CN" sz="1300" b="0" i="1" dirty="0" smtClean="0">
                                                  <a:solidFill>
                                                    <a:schemeClr val="accent5">
                                                      <a:lumMod val="50000"/>
                                                    </a:schemeClr>
                                                  </a:solidFill>
                                                  <a:latin typeface="Cambria Math" panose="02040503050406030204" pitchFamily="18" charset="0"/>
                                                </a:rPr>
                                                <m:t>𝑣</m:t>
                                              </m:r>
                                            </m:e>
                                          </m:d>
                                        </m:den>
                                      </m:f>
                                    </m:e>
                                  </m:d>
                                </m:e>
                              </m:func>
                            </m:e>
                          </m:d>
                          <m:r>
                            <a:rPr lang="en-US" altLang="zh-CN" sz="1300" i="1" dirty="0">
                              <a:solidFill>
                                <a:schemeClr val="tx1"/>
                              </a:solidFill>
                              <a:latin typeface="Cambria Math" panose="02040503050406030204" pitchFamily="18" charset="0"/>
                            </a:rPr>
                            <m:t>𝑑</m:t>
                          </m:r>
                          <m:r>
                            <a:rPr lang="en-US" altLang="zh-CN" sz="1300" b="0" i="1" dirty="0" smtClean="0">
                              <a:solidFill>
                                <a:schemeClr val="tx1"/>
                              </a:solidFill>
                              <a:latin typeface="Cambria Math" panose="02040503050406030204" pitchFamily="18" charset="0"/>
                            </a:rPr>
                            <m:t>𝑢</m:t>
                          </m:r>
                          <m:r>
                            <a:rPr lang="en-US" altLang="zh-CN" sz="1300" i="1" dirty="0">
                              <a:solidFill>
                                <a:schemeClr val="tx1"/>
                              </a:solidFill>
                              <a:latin typeface="Cambria Math" panose="02040503050406030204" pitchFamily="18" charset="0"/>
                            </a:rPr>
                            <m:t>𝑑</m:t>
                          </m:r>
                          <m:r>
                            <a:rPr lang="en-US" altLang="zh-CN" sz="1300" b="0" i="1" dirty="0" smtClean="0">
                              <a:solidFill>
                                <a:schemeClr val="tx1"/>
                              </a:solidFill>
                              <a:latin typeface="Cambria Math" panose="02040503050406030204" pitchFamily="18" charset="0"/>
                            </a:rPr>
                            <m:t>𝑣</m:t>
                          </m:r>
                        </m:e>
                      </m:nary>
                    </m:oMath>
                  </m:oMathPara>
                </a14:m>
                <a:endParaRPr lang="en-US" altLang="zh-CN" sz="1300" i="1" dirty="0">
                  <a:solidFill>
                    <a:schemeClr val="tx1"/>
                  </a:solidFill>
                  <a:latin typeface="Cambria Math" panose="02040503050406030204" pitchFamily="18" charset="0"/>
                </a:endParaRPr>
              </a:p>
              <a:p>
                <a:pPr algn="ctr"/>
                <a:r>
                  <a:rPr lang="en-US" altLang="zh-CN" sz="1300" i="1" dirty="0">
                    <a:solidFill>
                      <a:schemeClr val="tx1"/>
                    </a:solidFill>
                    <a:latin typeface="Cambria Math" panose="02040503050406030204" pitchFamily="18" charset="0"/>
                  </a:rPr>
                  <a:t>——————————————————————————————————————</a:t>
                </a:r>
                <a:br>
                  <a:rPr lang="en-US" altLang="zh-CN" sz="1300" i="1" dirty="0">
                    <a:solidFill>
                      <a:schemeClr val="tx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nary>
                        <m:naryPr>
                          <m:supHide m:val="on"/>
                          <m:ctrlPr>
                            <a:rPr lang="en-US" altLang="zh-CN" sz="1300" i="1" dirty="0" smtClean="0">
                              <a:solidFill>
                                <a:schemeClr val="tx1"/>
                              </a:solidFill>
                              <a:latin typeface="Cambria Math" panose="02040503050406030204" pitchFamily="18" charset="0"/>
                            </a:rPr>
                          </m:ctrlPr>
                        </m:naryPr>
                        <m:sub>
                          <m:sSup>
                            <m:sSupPr>
                              <m:ctrlPr>
                                <a:rPr lang="en-US" altLang="zh-CN" sz="1300" i="1" dirty="0">
                                  <a:solidFill>
                                    <a:schemeClr val="tx1"/>
                                  </a:solidFill>
                                  <a:latin typeface="Cambria Math" panose="02040503050406030204" pitchFamily="18" charset="0"/>
                                </a:rPr>
                              </m:ctrlPr>
                            </m:sSupPr>
                            <m:e>
                              <m:r>
                                <a:rPr lang="en-US" altLang="zh-CN" sz="1300" b="0" i="1" dirty="0" smtClean="0">
                                  <a:solidFill>
                                    <a:schemeClr val="tx1"/>
                                  </a:solidFill>
                                  <a:latin typeface="Cambria Math" panose="02040503050406030204" pitchFamily="18" charset="0"/>
                                </a:rPr>
                                <m:t>𝐻</m:t>
                              </m:r>
                            </m:e>
                            <m:sup>
                              <m:r>
                                <a:rPr lang="en-US" altLang="zh-CN" sz="1300" i="1" dirty="0">
                                  <a:solidFill>
                                    <a:schemeClr val="tx1"/>
                                  </a:solidFill>
                                  <a:latin typeface="Cambria Math" panose="02040503050406030204" pitchFamily="18" charset="0"/>
                                </a:rPr>
                                <m:t>2</m:t>
                              </m:r>
                            </m:sup>
                          </m:sSup>
                        </m:sub>
                        <m:sup/>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𝛿</m:t>
                              </m:r>
                            </m:e>
                            <m:sub>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𝜔</m:t>
                                  </m:r>
                                </m:e>
                                <m:sub>
                                  <m:r>
                                    <a:rPr lang="en-US" altLang="zh-CN" sz="1300" i="1" dirty="0">
                                      <a:solidFill>
                                        <a:schemeClr val="tx1"/>
                                      </a:solidFill>
                                      <a:latin typeface="Cambria Math" panose="02040503050406030204" pitchFamily="18" charset="0"/>
                                    </a:rPr>
                                    <m:t>𝑚</m:t>
                                  </m:r>
                                </m:sub>
                              </m:sSub>
                            </m:sub>
                          </m:sSub>
                          <m:d>
                            <m:dPr>
                              <m:ctrlPr>
                                <a:rPr lang="en-US" altLang="zh-CN" sz="13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𝒉</m:t>
                              </m:r>
                            </m:e>
                          </m:d>
                          <m:r>
                            <a:rPr lang="en-US" altLang="zh-CN" sz="1300" i="1" dirty="0">
                              <a:solidFill>
                                <a:schemeClr val="tx1"/>
                              </a:solidFill>
                              <a:latin typeface="Cambria Math" panose="02040503050406030204" pitchFamily="18" charset="0"/>
                            </a:rPr>
                            <m:t> </m:t>
                          </m:r>
                          <m:r>
                            <a:rPr lang="en-US" altLang="zh-CN" sz="1300" i="1" dirty="0">
                              <a:solidFill>
                                <a:schemeClr val="tx1"/>
                              </a:solidFill>
                              <a:latin typeface="Cambria Math" panose="02040503050406030204" pitchFamily="18" charset="0"/>
                            </a:rPr>
                            <m:t>𝑑</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𝜔</m:t>
                              </m:r>
                            </m:e>
                            <m:sub>
                              <m:r>
                                <a:rPr lang="en-US" altLang="zh-CN" sz="1300" i="1" dirty="0">
                                  <a:solidFill>
                                    <a:schemeClr val="tx1"/>
                                  </a:solidFill>
                                  <a:latin typeface="Cambria Math" panose="02040503050406030204" pitchFamily="18" charset="0"/>
                                </a:rPr>
                                <m:t>𝑚</m:t>
                              </m:r>
                            </m:sub>
                          </m:sSub>
                        </m:e>
                      </m:nary>
                      <m:r>
                        <a:rPr lang="en-US" altLang="zh-CN" sz="1300" i="1" dirty="0">
                          <a:solidFill>
                            <a:schemeClr val="tx1"/>
                          </a:solidFill>
                          <a:latin typeface="Cambria Math" panose="02040503050406030204" pitchFamily="18" charset="0"/>
                        </a:rPr>
                        <m:t>=1</m:t>
                      </m:r>
                    </m:oMath>
                  </m:oMathPara>
                </a14:m>
                <a:endParaRPr lang="en-US" altLang="zh-CN" sz="13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1300" i="1" dirty="0">
                          <a:solidFill>
                            <a:schemeClr val="tx1"/>
                          </a:solidFill>
                          <a:latin typeface="Cambria Math" panose="02040503050406030204" pitchFamily="18" charset="0"/>
                        </a:rPr>
                        <m:t>存在转换</m:t>
                      </m:r>
                      <m:r>
                        <m:rPr>
                          <m:sty m:val="p"/>
                        </m:rPr>
                        <a:rPr lang="en-US" altLang="zh-CN" sz="1300" i="1" dirty="0" smtClean="0">
                          <a:solidFill>
                            <a:schemeClr val="tx1"/>
                          </a:solidFill>
                          <a:latin typeface="Cambria Math" panose="02040503050406030204" pitchFamily="18" charset="0"/>
                        </a:rPr>
                        <m:t>T</m:t>
                      </m:r>
                      <m:r>
                        <a:rPr lang="zh-CN" altLang="en-US" sz="1300" i="1" dirty="0">
                          <a:solidFill>
                            <a:schemeClr val="tx1"/>
                          </a:solidFill>
                          <a:latin typeface="Cambria Math" panose="02040503050406030204" pitchFamily="18" charset="0"/>
                        </a:rPr>
                        <m:t>，</m:t>
                      </m:r>
                      <m:r>
                        <a:rPr lang="zh-CN" altLang="en-US" sz="1300" i="1" dirty="0" smtClean="0">
                          <a:solidFill>
                            <a:schemeClr val="tx1"/>
                          </a:solidFill>
                          <a:latin typeface="Cambria Math" panose="02040503050406030204" pitchFamily="18" charset="0"/>
                        </a:rPr>
                        <m:t>可以将</m:t>
                      </m:r>
                      <m:r>
                        <a:rPr lang="zh-CN" altLang="en-US" sz="1300" i="1" dirty="0">
                          <a:solidFill>
                            <a:schemeClr val="tx1"/>
                          </a:solidFill>
                          <a:latin typeface="Cambria Math" panose="02040503050406030204" pitchFamily="18" charset="0"/>
                        </a:rPr>
                        <m:t>法线方向转换到入射方向</m:t>
                      </m:r>
                      <m:r>
                        <a:rPr lang="en-US" altLang="zh-CN" sz="1300" b="0" i="1" dirty="0" smtClean="0">
                          <a:solidFill>
                            <a:schemeClr val="tx1"/>
                          </a:solidFill>
                          <a:latin typeface="Cambria Math" panose="02040503050406030204" pitchFamily="18" charset="0"/>
                        </a:rPr>
                        <m:t>,  </m:t>
                      </m:r>
                      <m:r>
                        <a:rPr lang="zh-CN" altLang="en-US" sz="1300" i="1" dirty="0" smtClean="0">
                          <a:solidFill>
                            <a:schemeClr val="tx1"/>
                          </a:solidFill>
                          <a:latin typeface="Cambria Math" panose="02040503050406030204" pitchFamily="18" charset="0"/>
                        </a:rPr>
                        <m:t>从</m:t>
                      </m:r>
                      <m:r>
                        <a:rPr lang="zh-CN" altLang="en-US" sz="1300" i="1" dirty="0">
                          <a:solidFill>
                            <a:schemeClr val="tx1"/>
                          </a:solidFill>
                          <a:latin typeface="Cambria Math" panose="02040503050406030204" pitchFamily="18" charset="0"/>
                        </a:rPr>
                        <m:t>对</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𝜔</m:t>
                          </m:r>
                        </m:e>
                        <m:sub>
                          <m:r>
                            <a:rPr lang="en-US" altLang="zh-CN" sz="1300" b="0" i="1" dirty="0" smtClean="0">
                              <a:solidFill>
                                <a:schemeClr val="tx1"/>
                              </a:solidFill>
                              <a:latin typeface="Cambria Math" panose="02040503050406030204" pitchFamily="18" charset="0"/>
                            </a:rPr>
                            <m:t>𝑚</m:t>
                          </m:r>
                        </m:sub>
                      </m:sSub>
                      <m:r>
                        <a:rPr lang="zh-CN" altLang="en-US" sz="1300" i="1" dirty="0">
                          <a:solidFill>
                            <a:schemeClr val="tx1"/>
                          </a:solidFill>
                          <a:latin typeface="Cambria Math" panose="02040503050406030204" pitchFamily="18" charset="0"/>
                        </a:rPr>
                        <m:t>积分转换到对</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𝜔</m:t>
                          </m:r>
                        </m:e>
                        <m:sub>
                          <m:r>
                            <a:rPr lang="en-US" altLang="zh-CN" sz="1300" b="0" i="1" dirty="0" smtClean="0">
                              <a:solidFill>
                                <a:schemeClr val="tx1"/>
                              </a:solidFill>
                              <a:latin typeface="Cambria Math" panose="02040503050406030204" pitchFamily="18" charset="0"/>
                            </a:rPr>
                            <m:t>𝑖</m:t>
                          </m:r>
                        </m:sub>
                      </m:sSub>
                      <m:r>
                        <a:rPr lang="zh-CN" altLang="en-US" sz="1300" i="1" dirty="0">
                          <a:solidFill>
                            <a:schemeClr val="tx1"/>
                          </a:solidFill>
                          <a:latin typeface="Cambria Math" panose="02040503050406030204" pitchFamily="18" charset="0"/>
                        </a:rPr>
                        <m:t>积分：</m:t>
                      </m:r>
                    </m:oMath>
                  </m:oMathPara>
                </a14:m>
                <a:endParaRPr lang="en-US" altLang="zh-CN" sz="13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nary>
                        <m:naryPr>
                          <m:supHide m:val="on"/>
                          <m:ctrlPr>
                            <a:rPr lang="en-US" altLang="zh-CN" sz="1300" i="1" dirty="0" smtClean="0">
                              <a:solidFill>
                                <a:schemeClr val="tx1"/>
                              </a:solidFill>
                              <a:latin typeface="Cambria Math" panose="02040503050406030204" pitchFamily="18" charset="0"/>
                            </a:rPr>
                          </m:ctrlPr>
                        </m:naryPr>
                        <m:sub>
                          <m:r>
                            <a:rPr lang="en-US" altLang="zh-CN" sz="1300" b="0" i="1" dirty="0" smtClean="0">
                              <a:solidFill>
                                <a:schemeClr val="tx1"/>
                              </a:solidFill>
                              <a:latin typeface="Cambria Math" panose="02040503050406030204" pitchFamily="18" charset="0"/>
                            </a:rPr>
                            <m:t>𝑇</m:t>
                          </m:r>
                          <m:r>
                            <a:rPr lang="en-US" altLang="zh-CN" sz="1300" b="0" i="1" dirty="0" smtClean="0">
                              <a:solidFill>
                                <a:schemeClr val="tx1"/>
                              </a:solidFill>
                              <a:latin typeface="Cambria Math" panose="02040503050406030204" pitchFamily="18" charset="0"/>
                            </a:rPr>
                            <m:t>(</m:t>
                          </m:r>
                          <m:sSup>
                            <m:sSupPr>
                              <m:ctrlPr>
                                <a:rPr lang="en-US" altLang="zh-CN" sz="1300" b="0" i="1" dirty="0" smtClean="0">
                                  <a:solidFill>
                                    <a:schemeClr val="tx1"/>
                                  </a:solidFill>
                                  <a:latin typeface="Cambria Math" panose="02040503050406030204" pitchFamily="18" charset="0"/>
                                </a:rPr>
                              </m:ctrlPr>
                            </m:sSupPr>
                            <m:e>
                              <m:r>
                                <a:rPr lang="en-US" altLang="zh-CN" sz="1300" b="0" i="1" dirty="0" smtClean="0">
                                  <a:solidFill>
                                    <a:schemeClr val="tx1"/>
                                  </a:solidFill>
                                  <a:latin typeface="Cambria Math" panose="02040503050406030204" pitchFamily="18" charset="0"/>
                                </a:rPr>
                                <m:t>𝐻</m:t>
                              </m:r>
                            </m:e>
                            <m:sup>
                              <m:r>
                                <a:rPr lang="en-US" altLang="zh-CN" sz="1300" b="0" i="1" dirty="0" smtClean="0">
                                  <a:solidFill>
                                    <a:schemeClr val="tx1"/>
                                  </a:solidFill>
                                  <a:latin typeface="Cambria Math" panose="02040503050406030204" pitchFamily="18" charset="0"/>
                                </a:rPr>
                                <m:t>2</m:t>
                              </m:r>
                            </m:sup>
                          </m:sSup>
                          <m:r>
                            <a:rPr lang="en-US" altLang="zh-CN" sz="1300" b="0" i="1" dirty="0" smtClean="0">
                              <a:solidFill>
                                <a:schemeClr val="tx1"/>
                              </a:solidFill>
                              <a:latin typeface="Cambria Math" panose="02040503050406030204" pitchFamily="18" charset="0"/>
                            </a:rPr>
                            <m:t>)</m:t>
                          </m:r>
                        </m:sub>
                        <m:sup/>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𝛿</m:t>
                              </m:r>
                            </m:e>
                            <m:sub>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𝜔</m:t>
                                  </m:r>
                                </m:e>
                                <m:sub>
                                  <m:r>
                                    <a:rPr lang="en-US" altLang="zh-CN" sz="1300" i="1" dirty="0">
                                      <a:solidFill>
                                        <a:schemeClr val="tx1"/>
                                      </a:solidFill>
                                      <a:latin typeface="Cambria Math" panose="02040503050406030204" pitchFamily="18" charset="0"/>
                                    </a:rPr>
                                    <m:t>𝑚</m:t>
                                  </m:r>
                                </m:sub>
                              </m:sSub>
                            </m:sub>
                          </m:sSub>
                          <m:d>
                            <m:dPr>
                              <m:ctrlPr>
                                <a:rPr lang="en-US" altLang="zh-CN" sz="1300" i="1" dirty="0">
                                  <a:solidFill>
                                    <a:schemeClr val="tx1"/>
                                  </a:solidFill>
                                  <a:latin typeface="Cambria Math" panose="02040503050406030204" pitchFamily="18" charset="0"/>
                                </a:rPr>
                              </m:ctrlPr>
                            </m:dPr>
                            <m:e>
                              <m:sSup>
                                <m:sSupPr>
                                  <m:ctrlPr>
                                    <a:rPr lang="en-US" altLang="zh-CN" sz="1300" b="1" i="1" dirty="0" smtClean="0">
                                      <a:solidFill>
                                        <a:schemeClr val="tx1"/>
                                      </a:solidFill>
                                      <a:latin typeface="Cambria Math" panose="02040503050406030204" pitchFamily="18" charset="0"/>
                                    </a:rPr>
                                  </m:ctrlPr>
                                </m:sSupPr>
                                <m:e>
                                  <m:r>
                                    <a:rPr lang="en-US" altLang="zh-CN" sz="1300" b="1" i="1" dirty="0" smtClean="0">
                                      <a:solidFill>
                                        <a:schemeClr val="tx1"/>
                                      </a:solidFill>
                                      <a:latin typeface="Cambria Math" panose="02040503050406030204" pitchFamily="18" charset="0"/>
                                    </a:rPr>
                                    <m:t>𝑻</m:t>
                                  </m:r>
                                </m:e>
                                <m:sup>
                                  <m:r>
                                    <a:rPr lang="en-US" altLang="zh-CN" sz="1300" b="1" i="1" dirty="0" smtClean="0">
                                      <a:solidFill>
                                        <a:schemeClr val="tx1"/>
                                      </a:solidFill>
                                      <a:latin typeface="Cambria Math" panose="02040503050406030204" pitchFamily="18" charset="0"/>
                                    </a:rPr>
                                    <m:t>−</m:t>
                                  </m:r>
                                  <m:r>
                                    <a:rPr lang="en-US" altLang="zh-CN" sz="1300" b="1" i="1" dirty="0" smtClean="0">
                                      <a:solidFill>
                                        <a:schemeClr val="tx1"/>
                                      </a:solidFill>
                                      <a:latin typeface="Cambria Math" panose="02040503050406030204" pitchFamily="18" charset="0"/>
                                    </a:rPr>
                                    <m:t>𝟏</m:t>
                                  </m:r>
                                </m:sup>
                              </m:sSup>
                              <m:r>
                                <a:rPr lang="en-US" altLang="zh-CN" sz="1300" b="1" i="1" dirty="0" smtClean="0">
                                  <a:solidFill>
                                    <a:schemeClr val="tx1"/>
                                  </a:solidFill>
                                  <a:latin typeface="Cambria Math" panose="02040503050406030204" pitchFamily="18" charset="0"/>
                                </a:rPr>
                                <m:t>(</m:t>
                              </m:r>
                              <m:r>
                                <a:rPr lang="en-US" altLang="zh-CN" sz="1300" b="1" i="1" dirty="0" smtClean="0">
                                  <a:solidFill>
                                    <a:schemeClr val="tx1"/>
                                  </a:solidFill>
                                  <a:latin typeface="Cambria Math" panose="02040503050406030204" pitchFamily="18" charset="0"/>
                                </a:rPr>
                                <m:t>𝒊</m:t>
                              </m:r>
                              <m:r>
                                <a:rPr lang="en-US" altLang="zh-CN" sz="1300" b="1" i="1" dirty="0" smtClean="0">
                                  <a:solidFill>
                                    <a:schemeClr val="tx1"/>
                                  </a:solidFill>
                                  <a:latin typeface="Cambria Math" panose="02040503050406030204" pitchFamily="18" charset="0"/>
                                </a:rPr>
                                <m:t>)</m:t>
                              </m:r>
                              <m:r>
                                <a:rPr lang="en-US" altLang="zh-CN" sz="1300" i="1" dirty="0">
                                  <a:solidFill>
                                    <a:schemeClr val="tx1"/>
                                  </a:solidFill>
                                  <a:latin typeface="Cambria Math" panose="02040503050406030204" pitchFamily="18" charset="0"/>
                                </a:rPr>
                                <m:t>−</m:t>
                              </m:r>
                              <m:r>
                                <a:rPr lang="en-US" altLang="zh-CN" sz="1300" b="1" i="1" dirty="0" smtClean="0">
                                  <a:solidFill>
                                    <a:schemeClr val="tx1"/>
                                  </a:solidFill>
                                  <a:latin typeface="Cambria Math" panose="02040503050406030204" pitchFamily="18" charset="0"/>
                                </a:rPr>
                                <m:t>𝒉</m:t>
                              </m:r>
                            </m:e>
                          </m:d>
                          <m:d>
                            <m:dPr>
                              <m:begChr m:val="|"/>
                              <m:endChr m:val="|"/>
                              <m:ctrlPr>
                                <a:rPr lang="en-US" altLang="zh-CN" sz="1300" b="0" i="1" dirty="0" smtClean="0">
                                  <a:solidFill>
                                    <a:schemeClr val="tx1"/>
                                  </a:solidFill>
                                  <a:latin typeface="Cambria Math" panose="02040503050406030204" pitchFamily="18" charset="0"/>
                                </a:rPr>
                              </m:ctrlPr>
                            </m:dPr>
                            <m:e>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det</m:t>
                                  </m:r>
                                </m:fName>
                                <m:e>
                                  <m:d>
                                    <m:dPr>
                                      <m:ctrlPr>
                                        <a:rPr lang="en-US" altLang="zh-CN" sz="1300" i="1" dirty="0">
                                          <a:solidFill>
                                            <a:schemeClr val="tx1"/>
                                          </a:solidFill>
                                          <a:latin typeface="Cambria Math" panose="02040503050406030204" pitchFamily="18" charset="0"/>
                                        </a:rPr>
                                      </m:ctrlPr>
                                    </m:dPr>
                                    <m:e>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𝜔</m:t>
                                              </m:r>
                                            </m:e>
                                            <m:sub>
                                              <m:r>
                                                <a:rPr lang="en-US" altLang="zh-CN" sz="1300" b="0" i="1" dirty="0" smtClean="0">
                                                  <a:solidFill>
                                                    <a:schemeClr val="tx1"/>
                                                  </a:solidFill>
                                                  <a:latin typeface="Cambria Math" panose="02040503050406030204" pitchFamily="18" charset="0"/>
                                                </a:rPr>
                                                <m:t>𝑚</m:t>
                                              </m:r>
                                            </m:sub>
                                          </m:sSub>
                                        </m:num>
                                        <m:den>
                                          <m:r>
                                            <a:rPr lang="en-US" altLang="zh-CN" sz="1300" i="1" dirty="0">
                                              <a:solidFill>
                                                <a:schemeClr val="tx1"/>
                                              </a:solidFill>
                                              <a:latin typeface="Cambria Math" panose="02040503050406030204" pitchFamily="18" charset="0"/>
                                            </a:rPr>
                                            <m:t>𝜕</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𝜔</m:t>
                                              </m:r>
                                            </m:e>
                                            <m:sub>
                                              <m:r>
                                                <a:rPr lang="en-US" altLang="zh-CN" sz="1300" i="1" dirty="0">
                                                  <a:solidFill>
                                                    <a:schemeClr val="tx1"/>
                                                  </a:solidFill>
                                                  <a:latin typeface="Cambria Math" panose="02040503050406030204" pitchFamily="18" charset="0"/>
                                                </a:rPr>
                                                <m:t>𝑖</m:t>
                                              </m:r>
                                            </m:sub>
                                          </m:sSub>
                                        </m:den>
                                      </m:f>
                                      <m:r>
                                        <a:rPr lang="en-US" altLang="zh-CN" sz="1300" i="1" dirty="0">
                                          <a:solidFill>
                                            <a:schemeClr val="tx1"/>
                                          </a:solidFill>
                                          <a:latin typeface="Cambria Math" panose="02040503050406030204" pitchFamily="18" charset="0"/>
                                        </a:rPr>
                                        <m:t> </m:t>
                                      </m:r>
                                    </m:e>
                                  </m:d>
                                </m:e>
                              </m:func>
                            </m:e>
                          </m:d>
                          <m:r>
                            <a:rPr lang="en-US" altLang="zh-CN" sz="1300" b="0" i="1" dirty="0" smtClean="0">
                              <a:solidFill>
                                <a:schemeClr val="tx1"/>
                              </a:solidFill>
                              <a:latin typeface="Cambria Math" panose="02040503050406030204" pitchFamily="18" charset="0"/>
                            </a:rPr>
                            <m:t>𝑑</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𝜔</m:t>
                              </m:r>
                            </m:e>
                            <m:sub>
                              <m:r>
                                <a:rPr lang="en-US" altLang="zh-CN" sz="1300" b="0" i="1" dirty="0" smtClean="0">
                                  <a:solidFill>
                                    <a:schemeClr val="tx1"/>
                                  </a:solidFill>
                                  <a:latin typeface="Cambria Math" panose="02040503050406030204" pitchFamily="18" charset="0"/>
                                </a:rPr>
                                <m:t>𝑖</m:t>
                              </m:r>
                            </m:sub>
                          </m:sSub>
                        </m:e>
                      </m:nary>
                      <m:r>
                        <a:rPr lang="en-US" altLang="zh-CN" sz="1300" i="1" dirty="0">
                          <a:solidFill>
                            <a:schemeClr val="tx1"/>
                          </a:solidFill>
                          <a:latin typeface="Cambria Math" panose="02040503050406030204" pitchFamily="18" charset="0"/>
                        </a:rPr>
                        <m:t>=1</m:t>
                      </m:r>
                    </m:oMath>
                  </m:oMathPara>
                </a14:m>
                <a:endParaRPr lang="en-US" altLang="zh-CN" sz="13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altLang="zh-CN" sz="1400" i="1" dirty="0" smtClean="0">
                              <a:solidFill>
                                <a:srgbClr val="FF0000"/>
                              </a:solidFill>
                              <a:latin typeface="Cambria Math" panose="02040503050406030204" pitchFamily="18" charset="0"/>
                            </a:rPr>
                          </m:ctrlPr>
                        </m:sSubPr>
                        <m:e>
                          <m:r>
                            <a:rPr lang="en-US" altLang="zh-CN" sz="1400" i="1" dirty="0">
                              <a:solidFill>
                                <a:srgbClr val="FF0000"/>
                              </a:solidFill>
                              <a:latin typeface="Cambria Math" panose="02040503050406030204" pitchFamily="18" charset="0"/>
                            </a:rPr>
                            <m:t>𝑓</m:t>
                          </m:r>
                        </m:e>
                        <m:sub>
                          <m:r>
                            <a:rPr lang="en-US" altLang="zh-CN" sz="1400" i="1" dirty="0">
                              <a:solidFill>
                                <a:srgbClr val="FF0000"/>
                              </a:solidFill>
                              <a:latin typeface="Cambria Math" panose="02040503050406030204" pitchFamily="18" charset="0"/>
                            </a:rPr>
                            <m:t>𝑚</m:t>
                          </m:r>
                        </m:sub>
                      </m:sSub>
                      <m:d>
                        <m:dPr>
                          <m:ctrlPr>
                            <a:rPr lang="en-US" altLang="zh-CN" sz="1400" i="1" dirty="0">
                              <a:solidFill>
                                <a:srgbClr val="FF0000"/>
                              </a:solidFill>
                              <a:latin typeface="Cambria Math" panose="02040503050406030204" pitchFamily="18" charset="0"/>
                            </a:rPr>
                          </m:ctrlPr>
                        </m:dPr>
                        <m:e>
                          <m:r>
                            <a:rPr lang="en-US" altLang="zh-CN" sz="1400" b="1" i="1" dirty="0">
                              <a:solidFill>
                                <a:srgbClr val="FF0000"/>
                              </a:solidFill>
                              <a:latin typeface="Cambria Math" panose="02040503050406030204" pitchFamily="18" charset="0"/>
                            </a:rPr>
                            <m:t>𝒊</m:t>
                          </m:r>
                          <m:r>
                            <a:rPr lang="en-US" altLang="zh-CN" sz="1400" i="1" dirty="0">
                              <a:solidFill>
                                <a:srgbClr val="FF0000"/>
                              </a:solidFill>
                              <a:latin typeface="Cambria Math" panose="02040503050406030204" pitchFamily="18" charset="0"/>
                            </a:rPr>
                            <m:t>→</m:t>
                          </m:r>
                          <m:r>
                            <a:rPr lang="en-US" altLang="zh-CN" sz="1400" b="1" i="1" dirty="0">
                              <a:solidFill>
                                <a:srgbClr val="FF0000"/>
                              </a:solidFill>
                              <a:latin typeface="Cambria Math" panose="02040503050406030204" pitchFamily="18" charset="0"/>
                            </a:rPr>
                            <m:t>𝒐</m:t>
                          </m:r>
                          <m:r>
                            <a:rPr lang="en-US" altLang="zh-CN" sz="1400" i="1" dirty="0">
                              <a:solidFill>
                                <a:srgbClr val="FF0000"/>
                              </a:solidFill>
                              <a:latin typeface="Cambria Math" panose="02040503050406030204" pitchFamily="18" charset="0"/>
                            </a:rPr>
                            <m:t>, </m:t>
                          </m:r>
                          <m:r>
                            <a:rPr lang="en-US" altLang="zh-CN" sz="1400" b="1" i="1" dirty="0">
                              <a:solidFill>
                                <a:srgbClr val="FF0000"/>
                              </a:solidFill>
                              <a:latin typeface="Cambria Math" panose="02040503050406030204" pitchFamily="18" charset="0"/>
                            </a:rPr>
                            <m:t>𝒎</m:t>
                          </m:r>
                        </m:e>
                      </m:d>
                      <m:r>
                        <a:rPr lang="en-US" altLang="zh-CN" sz="1400" i="1" dirty="0">
                          <a:solidFill>
                            <a:srgbClr val="FF0000"/>
                          </a:solidFill>
                          <a:latin typeface="Cambria Math" panose="02040503050406030204" pitchFamily="18" charset="0"/>
                        </a:rPr>
                        <m:t>=</m:t>
                      </m:r>
                      <m:r>
                        <a:rPr lang="en-US" altLang="zh-CN" sz="1400" i="1" dirty="0">
                          <a:solidFill>
                            <a:srgbClr val="FF0000"/>
                          </a:solidFill>
                          <a:latin typeface="Cambria Math" panose="02040503050406030204" pitchFamily="18" charset="0"/>
                        </a:rPr>
                        <m:t>𝜌</m:t>
                      </m:r>
                      <m:f>
                        <m:fPr>
                          <m:ctrlPr>
                            <a:rPr lang="en-US" altLang="zh-CN" sz="1400" i="1" dirty="0">
                              <a:solidFill>
                                <a:srgbClr val="FF0000"/>
                              </a:solidFill>
                              <a:latin typeface="Cambria Math" panose="02040503050406030204" pitchFamily="18" charset="0"/>
                            </a:rPr>
                          </m:ctrlPr>
                        </m:fPr>
                        <m:num>
                          <m:sSub>
                            <m:sSubPr>
                              <m:ctrlPr>
                                <a:rPr lang="en-US" altLang="zh-CN" sz="1400" i="1" dirty="0">
                                  <a:solidFill>
                                    <a:srgbClr val="FF0000"/>
                                  </a:solidFill>
                                  <a:latin typeface="Cambria Math" panose="02040503050406030204" pitchFamily="18" charset="0"/>
                                </a:rPr>
                              </m:ctrlPr>
                            </m:sSubPr>
                            <m:e>
                              <m:r>
                                <a:rPr lang="en-US" altLang="zh-CN" sz="1400" i="1" dirty="0">
                                  <a:solidFill>
                                    <a:srgbClr val="FF0000"/>
                                  </a:solidFill>
                                  <a:latin typeface="Cambria Math" panose="02040503050406030204" pitchFamily="18" charset="0"/>
                                </a:rPr>
                                <m:t>𝛿</m:t>
                              </m:r>
                            </m:e>
                            <m:sub>
                              <m:sSub>
                                <m:sSubPr>
                                  <m:ctrlPr>
                                    <a:rPr lang="en-US" altLang="zh-CN" sz="1400" i="1" dirty="0">
                                      <a:solidFill>
                                        <a:srgbClr val="FF0000"/>
                                      </a:solidFill>
                                      <a:latin typeface="Cambria Math" panose="02040503050406030204" pitchFamily="18" charset="0"/>
                                    </a:rPr>
                                  </m:ctrlPr>
                                </m:sSubPr>
                                <m:e>
                                  <m:r>
                                    <a:rPr lang="en-US" altLang="zh-CN" sz="1400" i="1" dirty="0">
                                      <a:solidFill>
                                        <a:srgbClr val="FF0000"/>
                                      </a:solidFill>
                                      <a:latin typeface="Cambria Math" panose="02040503050406030204" pitchFamily="18" charset="0"/>
                                    </a:rPr>
                                    <m:t>𝜔</m:t>
                                  </m:r>
                                </m:e>
                                <m:sub>
                                  <m:r>
                                    <a:rPr lang="en-US" altLang="zh-CN" sz="1400" i="1" dirty="0">
                                      <a:solidFill>
                                        <a:srgbClr val="FF0000"/>
                                      </a:solidFill>
                                      <a:latin typeface="Cambria Math" panose="02040503050406030204" pitchFamily="18" charset="0"/>
                                    </a:rPr>
                                    <m:t>𝑚</m:t>
                                  </m:r>
                                </m:sub>
                              </m:sSub>
                            </m:sub>
                          </m:sSub>
                          <m:r>
                            <a:rPr lang="en-US" altLang="zh-CN" sz="1400" i="1" dirty="0">
                              <a:solidFill>
                                <a:srgbClr val="FF0000"/>
                              </a:solidFill>
                              <a:latin typeface="Cambria Math" panose="02040503050406030204" pitchFamily="18" charset="0"/>
                            </a:rPr>
                            <m:t>(</m:t>
                          </m:r>
                          <m:r>
                            <a:rPr lang="en-US" altLang="zh-CN" sz="1400" b="1" i="1" dirty="0">
                              <a:solidFill>
                                <a:srgbClr val="FF0000"/>
                              </a:solidFill>
                              <a:latin typeface="Cambria Math" panose="02040503050406030204" pitchFamily="18" charset="0"/>
                            </a:rPr>
                            <m:t>𝒎</m:t>
                          </m:r>
                          <m:r>
                            <a:rPr lang="en-US" altLang="zh-CN" sz="1400" i="1" dirty="0">
                              <a:solidFill>
                                <a:srgbClr val="FF0000"/>
                              </a:solidFill>
                              <a:latin typeface="Cambria Math" panose="02040503050406030204" pitchFamily="18" charset="0"/>
                            </a:rPr>
                            <m:t>−</m:t>
                          </m:r>
                          <m:r>
                            <a:rPr lang="en-US" altLang="zh-CN" sz="1400" b="1" i="1" dirty="0">
                              <a:solidFill>
                                <a:srgbClr val="FF0000"/>
                              </a:solidFill>
                              <a:latin typeface="Cambria Math" panose="02040503050406030204" pitchFamily="18" charset="0"/>
                            </a:rPr>
                            <m:t>𝒉</m:t>
                          </m:r>
                          <m:r>
                            <a:rPr lang="en-US" altLang="zh-CN" sz="1400" i="1" dirty="0">
                              <a:solidFill>
                                <a:srgbClr val="FF0000"/>
                              </a:solidFill>
                              <a:latin typeface="Cambria Math" panose="02040503050406030204" pitchFamily="18" charset="0"/>
                            </a:rPr>
                            <m:t>)</m:t>
                          </m:r>
                        </m:num>
                        <m:den>
                          <m:d>
                            <m:dPr>
                              <m:begChr m:val="|"/>
                              <m:endChr m:val="|"/>
                              <m:ctrlPr>
                                <a:rPr lang="en-US" altLang="zh-CN" sz="1400" i="1" dirty="0">
                                  <a:solidFill>
                                    <a:srgbClr val="FF0000"/>
                                  </a:solidFill>
                                  <a:latin typeface="Cambria Math" panose="02040503050406030204" pitchFamily="18" charset="0"/>
                                </a:rPr>
                              </m:ctrlPr>
                            </m:dPr>
                            <m:e>
                              <m:r>
                                <a:rPr lang="en-US" altLang="zh-CN" sz="1400" b="1" i="1" dirty="0">
                                  <a:solidFill>
                                    <a:srgbClr val="FF0000"/>
                                  </a:solidFill>
                                  <a:latin typeface="Cambria Math" panose="02040503050406030204" pitchFamily="18" charset="0"/>
                                </a:rPr>
                                <m:t>𝒊</m:t>
                              </m:r>
                              <m:r>
                                <a:rPr lang="en-US" altLang="zh-CN" sz="1400" i="1" dirty="0">
                                  <a:solidFill>
                                    <a:srgbClr val="FF0000"/>
                                  </a:solidFill>
                                  <a:latin typeface="Cambria Math" panose="02040503050406030204" pitchFamily="18" charset="0"/>
                                </a:rPr>
                                <m:t>⋅</m:t>
                              </m:r>
                              <m:r>
                                <a:rPr lang="en-US" altLang="zh-CN" sz="1400" b="1" i="1" dirty="0">
                                  <a:solidFill>
                                    <a:srgbClr val="FF0000"/>
                                  </a:solidFill>
                                  <a:latin typeface="Cambria Math" panose="02040503050406030204" pitchFamily="18" charset="0"/>
                                </a:rPr>
                                <m:t>𝒉</m:t>
                              </m:r>
                            </m:e>
                          </m:d>
                        </m:den>
                      </m:f>
                      <m:r>
                        <a:rPr lang="en-US" altLang="zh-CN" sz="1400" b="0" i="1" dirty="0" smtClean="0">
                          <a:solidFill>
                            <a:schemeClr val="tx1"/>
                          </a:solidFill>
                          <a:latin typeface="Cambria Math" panose="02040503050406030204" pitchFamily="18" charset="0"/>
                        </a:rPr>
                        <m:t>,  </m:t>
                      </m:r>
                      <m:sSub>
                        <m:sSubPr>
                          <m:ctrlPr>
                            <a:rPr lang="en-US" altLang="zh-CN" sz="1400" i="1" dirty="0" smtClean="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𝑓</m:t>
                          </m:r>
                        </m:e>
                        <m:sub>
                          <m:r>
                            <a:rPr lang="en-US" altLang="zh-CN" sz="1400" i="1" dirty="0">
                              <a:solidFill>
                                <a:schemeClr val="tx1"/>
                              </a:solidFill>
                              <a:latin typeface="Cambria Math" panose="02040503050406030204" pitchFamily="18" charset="0"/>
                            </a:rPr>
                            <m:t>𝑚</m:t>
                          </m:r>
                        </m:sub>
                      </m:sSub>
                      <m:d>
                        <m:dPr>
                          <m:ctrlPr>
                            <a:rPr lang="en-US" altLang="zh-CN" sz="140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𝜌</m:t>
                      </m:r>
                      <m:r>
                        <a:rPr lang="en-US" altLang="zh-CN" sz="1400" b="0" i="1" dirty="0" smtClean="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𝛿</m:t>
                              </m:r>
                            </m:e>
                            <m:sub>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sub>
                          </m:sSub>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𝒉</m:t>
                          </m:r>
                          <m:r>
                            <a:rPr lang="en-US" altLang="zh-CN" sz="1400" i="1" dirty="0">
                              <a:solidFill>
                                <a:schemeClr val="tx1"/>
                              </a:solidFill>
                              <a:latin typeface="Cambria Math" panose="02040503050406030204" pitchFamily="18" charset="0"/>
                            </a:rPr>
                            <m:t>)</m:t>
                          </m:r>
                        </m:num>
                        <m:den>
                          <m:d>
                            <m:dPr>
                              <m:begChr m:val="|"/>
                              <m:endChr m:val="|"/>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𝒉</m:t>
                              </m:r>
                            </m:e>
                          </m:d>
                        </m:den>
                      </m:f>
                      <m:d>
                        <m:dPr>
                          <m:begChr m:val="|"/>
                          <m:endChr m:val="|"/>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det</m:t>
                              </m:r>
                            </m:fName>
                            <m:e>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𝑖</m:t>
                                          </m:r>
                                        </m:sub>
                                      </m:sSub>
                                    </m:den>
                                  </m:f>
                                  <m:r>
                                    <a:rPr lang="en-US" altLang="zh-CN" sz="1400" i="1" dirty="0">
                                      <a:solidFill>
                                        <a:schemeClr val="tx1"/>
                                      </a:solidFill>
                                      <a:latin typeface="Cambria Math" panose="02040503050406030204" pitchFamily="18" charset="0"/>
                                    </a:rPr>
                                    <m:t> </m:t>
                                  </m:r>
                                </m:e>
                              </m:d>
                            </m:e>
                          </m:func>
                        </m:e>
                      </m:d>
                    </m:oMath>
                  </m:oMathPara>
                </a14:m>
                <a:endParaRPr lang="en-US" altLang="zh-CN" sz="1300" i="1"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59E46423-8A2B-962E-EA3D-D2C208EAAD03}"/>
                  </a:ext>
                </a:extLst>
              </p:cNvPr>
              <p:cNvSpPr>
                <a:spLocks noRot="1" noChangeAspect="1" noMove="1" noResize="1" noEditPoints="1" noAdjustHandles="1" noChangeArrowheads="1" noChangeShapeType="1" noTextEdit="1"/>
              </p:cNvSpPr>
              <p:nvPr/>
            </p:nvSpPr>
            <p:spPr>
              <a:xfrm>
                <a:off x="478709" y="1144044"/>
                <a:ext cx="6816453" cy="5402806"/>
              </a:xfrm>
              <a:prstGeom prst="rect">
                <a:avLst/>
              </a:prstGeom>
              <a:blipFill>
                <a:blip r:embed="rId2"/>
                <a:stretch>
                  <a:fillRect b="-2252"/>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46575021-3504-1782-D0EC-8ACDAEFAFB72}"/>
              </a:ext>
            </a:extLst>
          </p:cNvPr>
          <p:cNvSpPr/>
          <p:nvPr/>
        </p:nvSpPr>
        <p:spPr>
          <a:xfrm>
            <a:off x="7759478" y="3915798"/>
            <a:ext cx="4320195" cy="280224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D35AEF55-7993-E340-50A3-3E9E0560B886}"/>
              </a:ext>
            </a:extLst>
          </p:cNvPr>
          <p:cNvSpPr/>
          <p:nvPr/>
        </p:nvSpPr>
        <p:spPr>
          <a:xfrm>
            <a:off x="7626128" y="3744348"/>
            <a:ext cx="4320195" cy="280224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 name="矩形 118">
            <a:extLst>
              <a:ext uri="{FF2B5EF4-FFF2-40B4-BE49-F238E27FC236}">
                <a16:creationId xmlns:a16="http://schemas.microsoft.com/office/drawing/2014/main" id="{0DBFEC9D-2673-1D93-1373-603A02938CF8}"/>
              </a:ext>
            </a:extLst>
          </p:cNvPr>
          <p:cNvSpPr/>
          <p:nvPr/>
        </p:nvSpPr>
        <p:spPr>
          <a:xfrm>
            <a:off x="7759478" y="1313069"/>
            <a:ext cx="4320195" cy="213720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 name="矩形 119">
            <a:extLst>
              <a:ext uri="{FF2B5EF4-FFF2-40B4-BE49-F238E27FC236}">
                <a16:creationId xmlns:a16="http://schemas.microsoft.com/office/drawing/2014/main" id="{047C5B8A-939A-846A-8393-7DDEDB00E0A2}"/>
              </a:ext>
            </a:extLst>
          </p:cNvPr>
          <p:cNvSpPr/>
          <p:nvPr/>
        </p:nvSpPr>
        <p:spPr>
          <a:xfrm>
            <a:off x="7626128" y="1141619"/>
            <a:ext cx="4320195" cy="213720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78" name="组合 77">
            <a:extLst>
              <a:ext uri="{FF2B5EF4-FFF2-40B4-BE49-F238E27FC236}">
                <a16:creationId xmlns:a16="http://schemas.microsoft.com/office/drawing/2014/main" id="{7E5E86BD-80E7-A888-8F07-74DB268BB1E3}"/>
              </a:ext>
            </a:extLst>
          </p:cNvPr>
          <p:cNvGrpSpPr/>
          <p:nvPr/>
        </p:nvGrpSpPr>
        <p:grpSpPr>
          <a:xfrm>
            <a:off x="7747696" y="1292198"/>
            <a:ext cx="4080856" cy="1808326"/>
            <a:chOff x="7747696" y="1292198"/>
            <a:chExt cx="4080856" cy="1808326"/>
          </a:xfrm>
        </p:grpSpPr>
        <p:sp>
          <p:nvSpPr>
            <p:cNvPr id="79" name="箭头: 右 78">
              <a:extLst>
                <a:ext uri="{FF2B5EF4-FFF2-40B4-BE49-F238E27FC236}">
                  <a16:creationId xmlns:a16="http://schemas.microsoft.com/office/drawing/2014/main" id="{5FDB78A3-F070-C92F-F8B6-A9DD12BE9538}"/>
                </a:ext>
              </a:extLst>
            </p:cNvPr>
            <p:cNvSpPr/>
            <p:nvPr/>
          </p:nvSpPr>
          <p:spPr>
            <a:xfrm>
              <a:off x="9314344" y="2042940"/>
              <a:ext cx="932498" cy="2943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0" name="组合 79">
              <a:extLst>
                <a:ext uri="{FF2B5EF4-FFF2-40B4-BE49-F238E27FC236}">
                  <a16:creationId xmlns:a16="http://schemas.microsoft.com/office/drawing/2014/main" id="{259C48FA-6DE1-A374-00BB-DC96A08CB071}"/>
                </a:ext>
              </a:extLst>
            </p:cNvPr>
            <p:cNvGrpSpPr/>
            <p:nvPr/>
          </p:nvGrpSpPr>
          <p:grpSpPr>
            <a:xfrm>
              <a:off x="7986152" y="1530581"/>
              <a:ext cx="1303346" cy="1198556"/>
              <a:chOff x="7982642" y="1180493"/>
              <a:chExt cx="1721987" cy="1583541"/>
            </a:xfrm>
          </p:grpSpPr>
          <p:sp>
            <p:nvSpPr>
              <p:cNvPr id="99" name="矩形 98">
                <a:extLst>
                  <a:ext uri="{FF2B5EF4-FFF2-40B4-BE49-F238E27FC236}">
                    <a16:creationId xmlns:a16="http://schemas.microsoft.com/office/drawing/2014/main" id="{02251B19-360F-089F-9EAE-33A9EF9801B9}"/>
                  </a:ext>
                </a:extLst>
              </p:cNvPr>
              <p:cNvSpPr/>
              <p:nvPr/>
            </p:nvSpPr>
            <p:spPr>
              <a:xfrm>
                <a:off x="7982642" y="1566744"/>
                <a:ext cx="1197290" cy="11972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00" name="直接箭头连接符 99">
                <a:extLst>
                  <a:ext uri="{FF2B5EF4-FFF2-40B4-BE49-F238E27FC236}">
                    <a16:creationId xmlns:a16="http://schemas.microsoft.com/office/drawing/2014/main" id="{53D51058-072D-418D-B06F-2797121D4E91}"/>
                  </a:ext>
                </a:extLst>
              </p:cNvPr>
              <p:cNvCxnSpPr/>
              <p:nvPr/>
            </p:nvCxnSpPr>
            <p:spPr>
              <a:xfrm flipV="1">
                <a:off x="7982642" y="1180493"/>
                <a:ext cx="0" cy="1583541"/>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直接箭头连接符 100">
                <a:extLst>
                  <a:ext uri="{FF2B5EF4-FFF2-40B4-BE49-F238E27FC236}">
                    <a16:creationId xmlns:a16="http://schemas.microsoft.com/office/drawing/2014/main" id="{47A051EA-018A-ED2C-CE7A-A9BC102D9BDC}"/>
                  </a:ext>
                </a:extLst>
              </p:cNvPr>
              <p:cNvCxnSpPr>
                <a:cxnSpLocks/>
              </p:cNvCxnSpPr>
              <p:nvPr/>
            </p:nvCxnSpPr>
            <p:spPr>
              <a:xfrm>
                <a:off x="7982642" y="2764034"/>
                <a:ext cx="1721987" cy="0"/>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81" name="组合 80">
              <a:extLst>
                <a:ext uri="{FF2B5EF4-FFF2-40B4-BE49-F238E27FC236}">
                  <a16:creationId xmlns:a16="http://schemas.microsoft.com/office/drawing/2014/main" id="{6F21222B-9A4C-50F2-408F-B8FE186409E0}"/>
                </a:ext>
              </a:extLst>
            </p:cNvPr>
            <p:cNvGrpSpPr/>
            <p:nvPr/>
          </p:nvGrpSpPr>
          <p:grpSpPr>
            <a:xfrm>
              <a:off x="10531092" y="1604490"/>
              <a:ext cx="1164110" cy="1158794"/>
              <a:chOff x="10630360" y="1493643"/>
              <a:chExt cx="1164110" cy="1158794"/>
            </a:xfrm>
          </p:grpSpPr>
          <p:sp>
            <p:nvSpPr>
              <p:cNvPr id="96" name="椭圆 95">
                <a:extLst>
                  <a:ext uri="{FF2B5EF4-FFF2-40B4-BE49-F238E27FC236}">
                    <a16:creationId xmlns:a16="http://schemas.microsoft.com/office/drawing/2014/main" id="{9276CDDD-E7CD-7A11-3758-4EAFEDF8D521}"/>
                  </a:ext>
                </a:extLst>
              </p:cNvPr>
              <p:cNvSpPr/>
              <p:nvPr/>
            </p:nvSpPr>
            <p:spPr>
              <a:xfrm>
                <a:off x="10636259" y="1727805"/>
                <a:ext cx="924632" cy="9246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7" name="直接箭头连接符 96">
                <a:extLst>
                  <a:ext uri="{FF2B5EF4-FFF2-40B4-BE49-F238E27FC236}">
                    <a16:creationId xmlns:a16="http://schemas.microsoft.com/office/drawing/2014/main" id="{57E85F4B-10AB-E2DE-6A50-E8DC01957156}"/>
                  </a:ext>
                </a:extLst>
              </p:cNvPr>
              <p:cNvCxnSpPr>
                <a:cxnSpLocks/>
              </p:cNvCxnSpPr>
              <p:nvPr/>
            </p:nvCxnSpPr>
            <p:spPr>
              <a:xfrm flipH="1" flipV="1">
                <a:off x="10630360" y="1493643"/>
                <a:ext cx="1966" cy="1157388"/>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8" name="直接箭头连接符 97">
                <a:extLst>
                  <a:ext uri="{FF2B5EF4-FFF2-40B4-BE49-F238E27FC236}">
                    <a16:creationId xmlns:a16="http://schemas.microsoft.com/office/drawing/2014/main" id="{F2EC3982-DC3D-BB70-DFDA-883B8A399F92}"/>
                  </a:ext>
                </a:extLst>
              </p:cNvPr>
              <p:cNvCxnSpPr>
                <a:cxnSpLocks/>
              </p:cNvCxnSpPr>
              <p:nvPr/>
            </p:nvCxnSpPr>
            <p:spPr>
              <a:xfrm flipV="1">
                <a:off x="10632326" y="2651031"/>
                <a:ext cx="1162144" cy="703"/>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82" name="文本框 81">
              <a:extLst>
                <a:ext uri="{FF2B5EF4-FFF2-40B4-BE49-F238E27FC236}">
                  <a16:creationId xmlns:a16="http://schemas.microsoft.com/office/drawing/2014/main" id="{BB0437CD-0398-E0C9-8EEF-AECFB849A047}"/>
                </a:ext>
              </a:extLst>
            </p:cNvPr>
            <p:cNvSpPr txBox="1"/>
            <p:nvPr/>
          </p:nvSpPr>
          <p:spPr>
            <a:xfrm>
              <a:off x="9107779" y="2672653"/>
              <a:ext cx="301686" cy="369332"/>
            </a:xfrm>
            <a:prstGeom prst="rect">
              <a:avLst/>
            </a:prstGeom>
            <a:noFill/>
          </p:spPr>
          <p:txBody>
            <a:bodyPr wrap="none" rtlCol="0">
              <a:spAutoFit/>
            </a:bodyPr>
            <a:lstStyle/>
            <a:p>
              <a:r>
                <a:rPr lang="en-US" altLang="zh-CN" dirty="0"/>
                <a:t>x</a:t>
              </a:r>
              <a:endParaRPr lang="zh-CN" altLang="en-US" dirty="0"/>
            </a:p>
          </p:txBody>
        </p:sp>
        <p:sp>
          <p:nvSpPr>
            <p:cNvPr id="83" name="文本框 82">
              <a:extLst>
                <a:ext uri="{FF2B5EF4-FFF2-40B4-BE49-F238E27FC236}">
                  <a16:creationId xmlns:a16="http://schemas.microsoft.com/office/drawing/2014/main" id="{D1B897A8-60AA-420D-DE7B-F87718EB6AD7}"/>
                </a:ext>
              </a:extLst>
            </p:cNvPr>
            <p:cNvSpPr txBox="1"/>
            <p:nvPr/>
          </p:nvSpPr>
          <p:spPr>
            <a:xfrm>
              <a:off x="7747696" y="1292198"/>
              <a:ext cx="306494" cy="369332"/>
            </a:xfrm>
            <a:prstGeom prst="rect">
              <a:avLst/>
            </a:prstGeom>
            <a:noFill/>
          </p:spPr>
          <p:txBody>
            <a:bodyPr wrap="none" rtlCol="0">
              <a:spAutoFit/>
            </a:bodyPr>
            <a:lstStyle/>
            <a:p>
              <a:r>
                <a:rPr lang="en-US" altLang="zh-CN" dirty="0"/>
                <a:t>y</a:t>
              </a:r>
              <a:endParaRPr lang="zh-CN" altLang="en-US" dirty="0"/>
            </a:p>
          </p:txBody>
        </p:sp>
        <p:sp>
          <p:nvSpPr>
            <p:cNvPr id="84" name="文本框 83">
              <a:extLst>
                <a:ext uri="{FF2B5EF4-FFF2-40B4-BE49-F238E27FC236}">
                  <a16:creationId xmlns:a16="http://schemas.microsoft.com/office/drawing/2014/main" id="{41A1FB85-B6E3-E8C8-6D43-1EF7C83231DD}"/>
                </a:ext>
              </a:extLst>
            </p:cNvPr>
            <p:cNvSpPr txBox="1"/>
            <p:nvPr/>
          </p:nvSpPr>
          <p:spPr>
            <a:xfrm>
              <a:off x="10531092" y="1387012"/>
              <a:ext cx="327334" cy="369332"/>
            </a:xfrm>
            <a:prstGeom prst="rect">
              <a:avLst/>
            </a:prstGeom>
            <a:noFill/>
          </p:spPr>
          <p:txBody>
            <a:bodyPr wrap="none" rtlCol="0">
              <a:spAutoFit/>
            </a:bodyPr>
            <a:lstStyle/>
            <a:p>
              <a:r>
                <a:rPr lang="en-US" altLang="zh-CN" dirty="0"/>
                <a:t>u</a:t>
              </a:r>
              <a:endParaRPr lang="zh-CN" altLang="en-US" dirty="0"/>
            </a:p>
          </p:txBody>
        </p:sp>
        <p:sp>
          <p:nvSpPr>
            <p:cNvPr id="85" name="矩形 84">
              <a:extLst>
                <a:ext uri="{FF2B5EF4-FFF2-40B4-BE49-F238E27FC236}">
                  <a16:creationId xmlns:a16="http://schemas.microsoft.com/office/drawing/2014/main" id="{4336E5D6-5FB9-3218-FE45-494F2743CC63}"/>
                </a:ext>
              </a:extLst>
            </p:cNvPr>
            <p:cNvSpPr/>
            <p:nvPr/>
          </p:nvSpPr>
          <p:spPr>
            <a:xfrm>
              <a:off x="8297333" y="2164700"/>
              <a:ext cx="215900" cy="231367"/>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a:extLst>
                <a:ext uri="{FF2B5EF4-FFF2-40B4-BE49-F238E27FC236}">
                  <a16:creationId xmlns:a16="http://schemas.microsoft.com/office/drawing/2014/main" id="{91F44888-1187-22FE-8F8B-A577546E239D}"/>
                </a:ext>
              </a:extLst>
            </p:cNvPr>
            <p:cNvSpPr txBox="1"/>
            <p:nvPr/>
          </p:nvSpPr>
          <p:spPr>
            <a:xfrm>
              <a:off x="11522058" y="2731192"/>
              <a:ext cx="306494" cy="369332"/>
            </a:xfrm>
            <a:prstGeom prst="rect">
              <a:avLst/>
            </a:prstGeom>
            <a:noFill/>
          </p:spPr>
          <p:txBody>
            <a:bodyPr wrap="none" rtlCol="0">
              <a:spAutoFit/>
            </a:bodyPr>
            <a:lstStyle/>
            <a:p>
              <a:r>
                <a:rPr lang="en-US" altLang="zh-CN" dirty="0"/>
                <a:t>v</a:t>
              </a:r>
              <a:endParaRPr lang="zh-CN" altLang="en-US" dirty="0"/>
            </a:p>
          </p:txBody>
        </p:sp>
        <p:cxnSp>
          <p:nvCxnSpPr>
            <p:cNvPr id="87" name="直接箭头连接符 86">
              <a:extLst>
                <a:ext uri="{FF2B5EF4-FFF2-40B4-BE49-F238E27FC236}">
                  <a16:creationId xmlns:a16="http://schemas.microsoft.com/office/drawing/2014/main" id="{E5B5E605-28C5-9B75-9735-752BF251D2CE}"/>
                </a:ext>
              </a:extLst>
            </p:cNvPr>
            <p:cNvCxnSpPr>
              <a:cxnSpLocks/>
            </p:cNvCxnSpPr>
            <p:nvPr/>
          </p:nvCxnSpPr>
          <p:spPr>
            <a:xfrm>
              <a:off x="8297333" y="2396067"/>
              <a:ext cx="2159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直接箭头连接符 87">
              <a:extLst>
                <a:ext uri="{FF2B5EF4-FFF2-40B4-BE49-F238E27FC236}">
                  <a16:creationId xmlns:a16="http://schemas.microsoft.com/office/drawing/2014/main" id="{C5EB2C23-5919-C124-A643-16E3B1FD1DED}"/>
                </a:ext>
              </a:extLst>
            </p:cNvPr>
            <p:cNvCxnSpPr>
              <a:cxnSpLocks/>
            </p:cNvCxnSpPr>
            <p:nvPr/>
          </p:nvCxnSpPr>
          <p:spPr>
            <a:xfrm flipV="1">
              <a:off x="8297333" y="2171700"/>
              <a:ext cx="0" cy="22436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89" name="矩形 14">
              <a:extLst>
                <a:ext uri="{FF2B5EF4-FFF2-40B4-BE49-F238E27FC236}">
                  <a16:creationId xmlns:a16="http://schemas.microsoft.com/office/drawing/2014/main" id="{C9DE736B-D653-C6BB-398C-A92562D9E4EA}"/>
                </a:ext>
              </a:extLst>
            </p:cNvPr>
            <p:cNvSpPr/>
            <p:nvPr/>
          </p:nvSpPr>
          <p:spPr>
            <a:xfrm>
              <a:off x="10757191" y="2337301"/>
              <a:ext cx="204788" cy="301215"/>
            </a:xfrm>
            <a:custGeom>
              <a:avLst/>
              <a:gdLst>
                <a:gd name="connsiteX0" fmla="*/ 0 w 215900"/>
                <a:gd name="connsiteY0" fmla="*/ 0 h 231367"/>
                <a:gd name="connsiteX1" fmla="*/ 215900 w 215900"/>
                <a:gd name="connsiteY1" fmla="*/ 0 h 231367"/>
                <a:gd name="connsiteX2" fmla="*/ 215900 w 215900"/>
                <a:gd name="connsiteY2" fmla="*/ 231367 h 231367"/>
                <a:gd name="connsiteX3" fmla="*/ 0 w 215900"/>
                <a:gd name="connsiteY3" fmla="*/ 231367 h 231367"/>
                <a:gd name="connsiteX4" fmla="*/ 0 w 215900"/>
                <a:gd name="connsiteY4" fmla="*/ 0 h 231367"/>
                <a:gd name="connsiteX0" fmla="*/ 50800 w 266700"/>
                <a:gd name="connsiteY0" fmla="*/ 0 h 231367"/>
                <a:gd name="connsiteX1" fmla="*/ 266700 w 266700"/>
                <a:gd name="connsiteY1" fmla="*/ 0 h 231367"/>
                <a:gd name="connsiteX2" fmla="*/ 266700 w 266700"/>
                <a:gd name="connsiteY2" fmla="*/ 231367 h 231367"/>
                <a:gd name="connsiteX3" fmla="*/ 0 w 266700"/>
                <a:gd name="connsiteY3" fmla="*/ 157283 h 231367"/>
                <a:gd name="connsiteX4" fmla="*/ 50800 w 266700"/>
                <a:gd name="connsiteY4" fmla="*/ 0 h 231367"/>
                <a:gd name="connsiteX0" fmla="*/ 50800 w 266700"/>
                <a:gd name="connsiteY0" fmla="*/ 0 h 231367"/>
                <a:gd name="connsiteX1" fmla="*/ 137584 w 266700"/>
                <a:gd name="connsiteY1" fmla="*/ 118534 h 231367"/>
                <a:gd name="connsiteX2" fmla="*/ 266700 w 266700"/>
                <a:gd name="connsiteY2" fmla="*/ 231367 h 231367"/>
                <a:gd name="connsiteX3" fmla="*/ 0 w 266700"/>
                <a:gd name="connsiteY3" fmla="*/ 157283 h 231367"/>
                <a:gd name="connsiteX4" fmla="*/ 50800 w 266700"/>
                <a:gd name="connsiteY4" fmla="*/ 0 h 231367"/>
                <a:gd name="connsiteX0" fmla="*/ 50800 w 137584"/>
                <a:gd name="connsiteY0" fmla="*/ 0 h 332967"/>
                <a:gd name="connsiteX1" fmla="*/ 137584 w 137584"/>
                <a:gd name="connsiteY1" fmla="*/ 118534 h 332967"/>
                <a:gd name="connsiteX2" fmla="*/ 80433 w 137584"/>
                <a:gd name="connsiteY2" fmla="*/ 332967 h 332967"/>
                <a:gd name="connsiteX3" fmla="*/ 0 w 137584"/>
                <a:gd name="connsiteY3" fmla="*/ 157283 h 332967"/>
                <a:gd name="connsiteX4" fmla="*/ 50800 w 137584"/>
                <a:gd name="connsiteY4" fmla="*/ 0 h 332967"/>
                <a:gd name="connsiteX0" fmla="*/ 50800 w 196851"/>
                <a:gd name="connsiteY0" fmla="*/ 0 h 332967"/>
                <a:gd name="connsiteX1" fmla="*/ 196851 w 196851"/>
                <a:gd name="connsiteY1" fmla="*/ 127000 h 332967"/>
                <a:gd name="connsiteX2" fmla="*/ 80433 w 196851"/>
                <a:gd name="connsiteY2" fmla="*/ 332967 h 332967"/>
                <a:gd name="connsiteX3" fmla="*/ 0 w 196851"/>
                <a:gd name="connsiteY3" fmla="*/ 157283 h 332967"/>
                <a:gd name="connsiteX4" fmla="*/ 50800 w 196851"/>
                <a:gd name="connsiteY4" fmla="*/ 0 h 332967"/>
                <a:gd name="connsiteX0" fmla="*/ 50800 w 196851"/>
                <a:gd name="connsiteY0" fmla="*/ 0 h 288517"/>
                <a:gd name="connsiteX1" fmla="*/ 196851 w 196851"/>
                <a:gd name="connsiteY1" fmla="*/ 127000 h 288517"/>
                <a:gd name="connsiteX2" fmla="*/ 152399 w 196851"/>
                <a:gd name="connsiteY2" fmla="*/ 288517 h 288517"/>
                <a:gd name="connsiteX3" fmla="*/ 0 w 196851"/>
                <a:gd name="connsiteY3" fmla="*/ 157283 h 288517"/>
                <a:gd name="connsiteX4" fmla="*/ 50800 w 196851"/>
                <a:gd name="connsiteY4" fmla="*/ 0 h 288517"/>
                <a:gd name="connsiteX0" fmla="*/ 50800 w 196851"/>
                <a:gd name="connsiteY0" fmla="*/ 0 h 286400"/>
                <a:gd name="connsiteX1" fmla="*/ 196851 w 196851"/>
                <a:gd name="connsiteY1" fmla="*/ 127000 h 286400"/>
                <a:gd name="connsiteX2" fmla="*/ 167216 w 196851"/>
                <a:gd name="connsiteY2" fmla="*/ 286400 h 286400"/>
                <a:gd name="connsiteX3" fmla="*/ 0 w 196851"/>
                <a:gd name="connsiteY3" fmla="*/ 157283 h 286400"/>
                <a:gd name="connsiteX4" fmla="*/ 50800 w 196851"/>
                <a:gd name="connsiteY4" fmla="*/ 0 h 286400"/>
                <a:gd name="connsiteX0" fmla="*/ 50800 w 196851"/>
                <a:gd name="connsiteY0" fmla="*/ 0 h 275816"/>
                <a:gd name="connsiteX1" fmla="*/ 196851 w 196851"/>
                <a:gd name="connsiteY1" fmla="*/ 127000 h 275816"/>
                <a:gd name="connsiteX2" fmla="*/ 152399 w 196851"/>
                <a:gd name="connsiteY2" fmla="*/ 275816 h 275816"/>
                <a:gd name="connsiteX3" fmla="*/ 0 w 196851"/>
                <a:gd name="connsiteY3" fmla="*/ 157283 h 275816"/>
                <a:gd name="connsiteX4" fmla="*/ 50800 w 196851"/>
                <a:gd name="connsiteY4" fmla="*/ 0 h 275816"/>
                <a:gd name="connsiteX0" fmla="*/ 50800 w 196851"/>
                <a:gd name="connsiteY0" fmla="*/ 0 h 275816"/>
                <a:gd name="connsiteX1" fmla="*/ 196851 w 196851"/>
                <a:gd name="connsiteY1" fmla="*/ 127000 h 275816"/>
                <a:gd name="connsiteX2" fmla="*/ 136524 w 196851"/>
                <a:gd name="connsiteY2" fmla="*/ 275816 h 275816"/>
                <a:gd name="connsiteX3" fmla="*/ 0 w 196851"/>
                <a:gd name="connsiteY3" fmla="*/ 157283 h 275816"/>
                <a:gd name="connsiteX4" fmla="*/ 50800 w 196851"/>
                <a:gd name="connsiteY4" fmla="*/ 0 h 275816"/>
                <a:gd name="connsiteX0" fmla="*/ 50800 w 196851"/>
                <a:gd name="connsiteY0" fmla="*/ 0 h 280578"/>
                <a:gd name="connsiteX1" fmla="*/ 196851 w 196851"/>
                <a:gd name="connsiteY1" fmla="*/ 127000 h 280578"/>
                <a:gd name="connsiteX2" fmla="*/ 144461 w 196851"/>
                <a:gd name="connsiteY2" fmla="*/ 280578 h 280578"/>
                <a:gd name="connsiteX3" fmla="*/ 0 w 196851"/>
                <a:gd name="connsiteY3" fmla="*/ 157283 h 280578"/>
                <a:gd name="connsiteX4" fmla="*/ 50800 w 196851"/>
                <a:gd name="connsiteY4" fmla="*/ 0 h 280578"/>
                <a:gd name="connsiteX0" fmla="*/ 50800 w 196851"/>
                <a:gd name="connsiteY0" fmla="*/ 0 h 277403"/>
                <a:gd name="connsiteX1" fmla="*/ 196851 w 196851"/>
                <a:gd name="connsiteY1" fmla="*/ 127000 h 277403"/>
                <a:gd name="connsiteX2" fmla="*/ 134936 w 196851"/>
                <a:gd name="connsiteY2" fmla="*/ 277403 h 277403"/>
                <a:gd name="connsiteX3" fmla="*/ 0 w 196851"/>
                <a:gd name="connsiteY3" fmla="*/ 157283 h 277403"/>
                <a:gd name="connsiteX4" fmla="*/ 50800 w 196851"/>
                <a:gd name="connsiteY4" fmla="*/ 0 h 277403"/>
                <a:gd name="connsiteX0" fmla="*/ 55562 w 201613"/>
                <a:gd name="connsiteY0" fmla="*/ 0 h 277403"/>
                <a:gd name="connsiteX1" fmla="*/ 201613 w 201613"/>
                <a:gd name="connsiteY1" fmla="*/ 127000 h 277403"/>
                <a:gd name="connsiteX2" fmla="*/ 139698 w 201613"/>
                <a:gd name="connsiteY2" fmla="*/ 277403 h 277403"/>
                <a:gd name="connsiteX3" fmla="*/ 0 w 201613"/>
                <a:gd name="connsiteY3" fmla="*/ 168396 h 277403"/>
                <a:gd name="connsiteX4" fmla="*/ 55562 w 201613"/>
                <a:gd name="connsiteY4" fmla="*/ 0 h 277403"/>
                <a:gd name="connsiteX0" fmla="*/ 58737 w 204788"/>
                <a:gd name="connsiteY0" fmla="*/ 0 h 277403"/>
                <a:gd name="connsiteX1" fmla="*/ 204788 w 204788"/>
                <a:gd name="connsiteY1" fmla="*/ 127000 h 277403"/>
                <a:gd name="connsiteX2" fmla="*/ 142873 w 204788"/>
                <a:gd name="connsiteY2" fmla="*/ 277403 h 277403"/>
                <a:gd name="connsiteX3" fmla="*/ 0 w 204788"/>
                <a:gd name="connsiteY3" fmla="*/ 176334 h 277403"/>
                <a:gd name="connsiteX4" fmla="*/ 58737 w 204788"/>
                <a:gd name="connsiteY4" fmla="*/ 0 h 277403"/>
                <a:gd name="connsiteX0" fmla="*/ 58737 w 204788"/>
                <a:gd name="connsiteY0" fmla="*/ 0 h 301215"/>
                <a:gd name="connsiteX1" fmla="*/ 204788 w 204788"/>
                <a:gd name="connsiteY1" fmla="*/ 127000 h 301215"/>
                <a:gd name="connsiteX2" fmla="*/ 141285 w 204788"/>
                <a:gd name="connsiteY2" fmla="*/ 301215 h 301215"/>
                <a:gd name="connsiteX3" fmla="*/ 0 w 204788"/>
                <a:gd name="connsiteY3" fmla="*/ 176334 h 301215"/>
                <a:gd name="connsiteX4" fmla="*/ 58737 w 204788"/>
                <a:gd name="connsiteY4" fmla="*/ 0 h 3012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88" h="301215">
                  <a:moveTo>
                    <a:pt x="58737" y="0"/>
                  </a:moveTo>
                  <a:lnTo>
                    <a:pt x="204788" y="127000"/>
                  </a:lnTo>
                  <a:lnTo>
                    <a:pt x="141285" y="301215"/>
                  </a:lnTo>
                  <a:lnTo>
                    <a:pt x="0" y="176334"/>
                  </a:lnTo>
                  <a:lnTo>
                    <a:pt x="58737" y="0"/>
                  </a:lnTo>
                  <a:close/>
                </a:path>
              </a:pathLst>
            </a:cu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0" name="直接箭头连接符 89">
              <a:extLst>
                <a:ext uri="{FF2B5EF4-FFF2-40B4-BE49-F238E27FC236}">
                  <a16:creationId xmlns:a16="http://schemas.microsoft.com/office/drawing/2014/main" id="{7200A654-1F44-262E-E9ED-D4886A092CB9}"/>
                </a:ext>
              </a:extLst>
            </p:cNvPr>
            <p:cNvCxnSpPr>
              <a:cxnSpLocks/>
            </p:cNvCxnSpPr>
            <p:nvPr/>
          </p:nvCxnSpPr>
          <p:spPr>
            <a:xfrm>
              <a:off x="10815928" y="2337302"/>
              <a:ext cx="144172" cy="1285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1" name="直接箭头连接符 90">
              <a:extLst>
                <a:ext uri="{FF2B5EF4-FFF2-40B4-BE49-F238E27FC236}">
                  <a16:creationId xmlns:a16="http://schemas.microsoft.com/office/drawing/2014/main" id="{40FCDDEB-C6D0-CA2F-9B04-04C763DA7515}"/>
                </a:ext>
              </a:extLst>
            </p:cNvPr>
            <p:cNvCxnSpPr>
              <a:cxnSpLocks/>
            </p:cNvCxnSpPr>
            <p:nvPr/>
          </p:nvCxnSpPr>
          <p:spPr>
            <a:xfrm flipH="1">
              <a:off x="10756735" y="2337302"/>
              <a:ext cx="59193" cy="17356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2" name="文本框 91">
                  <a:extLst>
                    <a:ext uri="{FF2B5EF4-FFF2-40B4-BE49-F238E27FC236}">
                      <a16:creationId xmlns:a16="http://schemas.microsoft.com/office/drawing/2014/main" id="{2DC60CED-EFFC-414F-97F9-14E4E830D382}"/>
                    </a:ext>
                  </a:extLst>
                </p:cNvPr>
                <p:cNvSpPr txBox="1"/>
                <p:nvPr/>
              </p:nvSpPr>
              <p:spPr>
                <a:xfrm>
                  <a:off x="8297333" y="2400833"/>
                  <a:ext cx="387734"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100" i="1" dirty="0" smtClean="0">
                            <a:latin typeface="Cambria Math" panose="02040503050406030204" pitchFamily="18" charset="0"/>
                          </a:rPr>
                          <m:t>𝑑𝑥</m:t>
                        </m:r>
                      </m:oMath>
                    </m:oMathPara>
                  </a14:m>
                  <a:endParaRPr lang="zh-CN" altLang="en-US" sz="1100" dirty="0"/>
                </a:p>
              </p:txBody>
            </p:sp>
          </mc:Choice>
          <mc:Fallback xmlns="">
            <p:sp>
              <p:nvSpPr>
                <p:cNvPr id="92" name="文本框 91">
                  <a:extLst>
                    <a:ext uri="{FF2B5EF4-FFF2-40B4-BE49-F238E27FC236}">
                      <a16:creationId xmlns:a16="http://schemas.microsoft.com/office/drawing/2014/main" id="{2DC60CED-EFFC-414F-97F9-14E4E830D382}"/>
                    </a:ext>
                  </a:extLst>
                </p:cNvPr>
                <p:cNvSpPr txBox="1">
                  <a:spLocks noRot="1" noChangeAspect="1" noMove="1" noResize="1" noEditPoints="1" noAdjustHandles="1" noChangeArrowheads="1" noChangeShapeType="1" noTextEdit="1"/>
                </p:cNvSpPr>
                <p:nvPr/>
              </p:nvSpPr>
              <p:spPr>
                <a:xfrm>
                  <a:off x="8297333" y="2400833"/>
                  <a:ext cx="387734" cy="26161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3" name="文本框 92">
                  <a:extLst>
                    <a:ext uri="{FF2B5EF4-FFF2-40B4-BE49-F238E27FC236}">
                      <a16:creationId xmlns:a16="http://schemas.microsoft.com/office/drawing/2014/main" id="{B61CCE5B-A9BE-8231-9AD8-86D44A215A2C}"/>
                    </a:ext>
                  </a:extLst>
                </p:cNvPr>
                <p:cNvSpPr txBox="1"/>
                <p:nvPr/>
              </p:nvSpPr>
              <p:spPr>
                <a:xfrm>
                  <a:off x="7975125" y="2080755"/>
                  <a:ext cx="38908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100" i="1" dirty="0" smtClean="0">
                            <a:solidFill>
                              <a:schemeClr val="bg1"/>
                            </a:solidFill>
                            <a:latin typeface="Cambria Math" panose="02040503050406030204" pitchFamily="18" charset="0"/>
                          </a:rPr>
                          <m:t>𝑑𝑦</m:t>
                        </m:r>
                      </m:oMath>
                    </m:oMathPara>
                  </a14:m>
                  <a:endParaRPr lang="zh-CN" altLang="en-US" sz="1100" dirty="0">
                    <a:solidFill>
                      <a:schemeClr val="bg1"/>
                    </a:solidFill>
                  </a:endParaRPr>
                </a:p>
              </p:txBody>
            </p:sp>
          </mc:Choice>
          <mc:Fallback xmlns="">
            <p:sp>
              <p:nvSpPr>
                <p:cNvPr id="93" name="文本框 92">
                  <a:extLst>
                    <a:ext uri="{FF2B5EF4-FFF2-40B4-BE49-F238E27FC236}">
                      <a16:creationId xmlns:a16="http://schemas.microsoft.com/office/drawing/2014/main" id="{B61CCE5B-A9BE-8231-9AD8-86D44A215A2C}"/>
                    </a:ext>
                  </a:extLst>
                </p:cNvPr>
                <p:cNvSpPr txBox="1">
                  <a:spLocks noRot="1" noChangeAspect="1" noMove="1" noResize="1" noEditPoints="1" noAdjustHandles="1" noChangeArrowheads="1" noChangeShapeType="1" noTextEdit="1"/>
                </p:cNvSpPr>
                <p:nvPr/>
              </p:nvSpPr>
              <p:spPr>
                <a:xfrm>
                  <a:off x="7975125" y="2080755"/>
                  <a:ext cx="389081" cy="261610"/>
                </a:xfrm>
                <a:prstGeom prst="rect">
                  <a:avLst/>
                </a:prstGeom>
                <a:blipFill>
                  <a:blip r:embed="rId8"/>
                  <a:stretch>
                    <a:fillRect b="-69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4" name="文本框 93">
                  <a:extLst>
                    <a:ext uri="{FF2B5EF4-FFF2-40B4-BE49-F238E27FC236}">
                      <a16:creationId xmlns:a16="http://schemas.microsoft.com/office/drawing/2014/main" id="{EFBB3E19-7F72-3EA5-34F0-0FC8D2912BE8}"/>
                    </a:ext>
                  </a:extLst>
                </p:cNvPr>
                <p:cNvSpPr txBox="1"/>
                <p:nvPr/>
              </p:nvSpPr>
              <p:spPr>
                <a:xfrm>
                  <a:off x="10795562" y="2169460"/>
                  <a:ext cx="391839"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100" i="1" dirty="0" smtClean="0">
                            <a:latin typeface="Cambria Math" panose="02040503050406030204" pitchFamily="18" charset="0"/>
                          </a:rPr>
                          <m:t>𝑑</m:t>
                        </m:r>
                        <m:r>
                          <a:rPr lang="en-US" altLang="zh-CN" sz="1100" b="0" i="1" dirty="0" smtClean="0">
                            <a:latin typeface="Cambria Math" panose="02040503050406030204" pitchFamily="18" charset="0"/>
                          </a:rPr>
                          <m:t>𝑢</m:t>
                        </m:r>
                      </m:oMath>
                    </m:oMathPara>
                  </a14:m>
                  <a:endParaRPr lang="zh-CN" altLang="en-US" sz="1100" dirty="0"/>
                </a:p>
              </p:txBody>
            </p:sp>
          </mc:Choice>
          <mc:Fallback xmlns="">
            <p:sp>
              <p:nvSpPr>
                <p:cNvPr id="94" name="文本框 93">
                  <a:extLst>
                    <a:ext uri="{FF2B5EF4-FFF2-40B4-BE49-F238E27FC236}">
                      <a16:creationId xmlns:a16="http://schemas.microsoft.com/office/drawing/2014/main" id="{EFBB3E19-7F72-3EA5-34F0-0FC8D2912BE8}"/>
                    </a:ext>
                  </a:extLst>
                </p:cNvPr>
                <p:cNvSpPr txBox="1">
                  <a:spLocks noRot="1" noChangeAspect="1" noMove="1" noResize="1" noEditPoints="1" noAdjustHandles="1" noChangeArrowheads="1" noChangeShapeType="1" noTextEdit="1"/>
                </p:cNvSpPr>
                <p:nvPr/>
              </p:nvSpPr>
              <p:spPr>
                <a:xfrm>
                  <a:off x="10795562" y="2169460"/>
                  <a:ext cx="391839" cy="26161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5" name="文本框 94">
                  <a:extLst>
                    <a:ext uri="{FF2B5EF4-FFF2-40B4-BE49-F238E27FC236}">
                      <a16:creationId xmlns:a16="http://schemas.microsoft.com/office/drawing/2014/main" id="{46736890-2186-FF9A-E16B-96790C775BFC}"/>
                    </a:ext>
                  </a:extLst>
                </p:cNvPr>
                <p:cNvSpPr txBox="1"/>
                <p:nvPr/>
              </p:nvSpPr>
              <p:spPr>
                <a:xfrm>
                  <a:off x="10501119" y="2240228"/>
                  <a:ext cx="276971"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100" i="1" dirty="0" smtClean="0">
                            <a:solidFill>
                              <a:schemeClr val="bg1"/>
                            </a:solidFill>
                            <a:latin typeface="Cambria Math" panose="02040503050406030204" pitchFamily="18" charset="0"/>
                          </a:rPr>
                          <m:t>𝑑𝑣</m:t>
                        </m:r>
                      </m:oMath>
                    </m:oMathPara>
                  </a14:m>
                  <a:endParaRPr lang="zh-CN" altLang="en-US" sz="1100" dirty="0">
                    <a:solidFill>
                      <a:schemeClr val="bg1"/>
                    </a:solidFill>
                  </a:endParaRPr>
                </a:p>
              </p:txBody>
            </p:sp>
          </mc:Choice>
          <mc:Fallback xmlns="">
            <p:sp>
              <p:nvSpPr>
                <p:cNvPr id="95" name="文本框 94">
                  <a:extLst>
                    <a:ext uri="{FF2B5EF4-FFF2-40B4-BE49-F238E27FC236}">
                      <a16:creationId xmlns:a16="http://schemas.microsoft.com/office/drawing/2014/main" id="{46736890-2186-FF9A-E16B-96790C775BFC}"/>
                    </a:ext>
                  </a:extLst>
                </p:cNvPr>
                <p:cNvSpPr txBox="1">
                  <a:spLocks noRot="1" noChangeAspect="1" noMove="1" noResize="1" noEditPoints="1" noAdjustHandles="1" noChangeArrowheads="1" noChangeShapeType="1" noTextEdit="1"/>
                </p:cNvSpPr>
                <p:nvPr/>
              </p:nvSpPr>
              <p:spPr>
                <a:xfrm>
                  <a:off x="10501119" y="2240228"/>
                  <a:ext cx="276971" cy="261610"/>
                </a:xfrm>
                <a:prstGeom prst="rect">
                  <a:avLst/>
                </a:prstGeom>
                <a:blipFill>
                  <a:blip r:embed="rId10"/>
                  <a:stretch>
                    <a:fillRect r="-8889"/>
                  </a:stretch>
                </a:blipFill>
              </p:spPr>
              <p:txBody>
                <a:bodyPr/>
                <a:lstStyle/>
                <a:p>
                  <a:r>
                    <a:rPr lang="zh-CN" altLang="en-US">
                      <a:noFill/>
                    </a:rPr>
                    <a:t> </a:t>
                  </a:r>
                </a:p>
              </p:txBody>
            </p:sp>
          </mc:Fallback>
        </mc:AlternateContent>
      </p:grpSp>
      <p:grpSp>
        <p:nvGrpSpPr>
          <p:cNvPr id="2" name="组合 1">
            <a:extLst>
              <a:ext uri="{FF2B5EF4-FFF2-40B4-BE49-F238E27FC236}">
                <a16:creationId xmlns:a16="http://schemas.microsoft.com/office/drawing/2014/main" id="{684FAE89-2412-E001-A939-5C0CD6AD818C}"/>
              </a:ext>
            </a:extLst>
          </p:cNvPr>
          <p:cNvGrpSpPr/>
          <p:nvPr/>
        </p:nvGrpSpPr>
        <p:grpSpPr>
          <a:xfrm>
            <a:off x="8079867" y="3831970"/>
            <a:ext cx="3648090" cy="2298993"/>
            <a:chOff x="8079867" y="3831970"/>
            <a:chExt cx="3648090" cy="2298993"/>
          </a:xfrm>
        </p:grpSpPr>
        <p:sp>
          <p:nvSpPr>
            <p:cNvPr id="3" name="矩形 2">
              <a:extLst>
                <a:ext uri="{FF2B5EF4-FFF2-40B4-BE49-F238E27FC236}">
                  <a16:creationId xmlns:a16="http://schemas.microsoft.com/office/drawing/2014/main" id="{DF63AC9B-8E75-F563-5FC7-E1CA5C14FD2C}"/>
                </a:ext>
              </a:extLst>
            </p:cNvPr>
            <p:cNvSpPr/>
            <p:nvPr/>
          </p:nvSpPr>
          <p:spPr>
            <a:xfrm>
              <a:off x="8079867" y="5766397"/>
              <a:ext cx="3331290" cy="4705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箭头连接符 3">
              <a:extLst>
                <a:ext uri="{FF2B5EF4-FFF2-40B4-BE49-F238E27FC236}">
                  <a16:creationId xmlns:a16="http://schemas.microsoft.com/office/drawing/2014/main" id="{365C3441-199F-2DD9-0FE6-C186FB77745F}"/>
                </a:ext>
              </a:extLst>
            </p:cNvPr>
            <p:cNvCxnSpPr>
              <a:cxnSpLocks/>
            </p:cNvCxnSpPr>
            <p:nvPr/>
          </p:nvCxnSpPr>
          <p:spPr>
            <a:xfrm flipV="1">
              <a:off x="9741384" y="4706193"/>
              <a:ext cx="1257923" cy="1060203"/>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直接箭头连接符 9">
              <a:extLst>
                <a:ext uri="{FF2B5EF4-FFF2-40B4-BE49-F238E27FC236}">
                  <a16:creationId xmlns:a16="http://schemas.microsoft.com/office/drawing/2014/main" id="{F84A29DA-5DCB-A865-03D1-A3538B0E83AE}"/>
                </a:ext>
              </a:extLst>
            </p:cNvPr>
            <p:cNvCxnSpPr>
              <a:cxnSpLocks/>
            </p:cNvCxnSpPr>
            <p:nvPr/>
          </p:nvCxnSpPr>
          <p:spPr>
            <a:xfrm flipH="1" flipV="1">
              <a:off x="8561540" y="4722832"/>
              <a:ext cx="1175716" cy="1038799"/>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0AC45E47-E90D-ED31-482B-9B87DDC761D4}"/>
                    </a:ext>
                  </a:extLst>
                </p:cNvPr>
                <p:cNvSpPr txBox="1"/>
                <p:nvPr/>
              </p:nvSpPr>
              <p:spPr>
                <a:xfrm>
                  <a:off x="10876279" y="4613180"/>
                  <a:ext cx="63086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b="1" i="1">
                                <a:solidFill>
                                  <a:srgbClr val="00B0F0"/>
                                </a:solidFill>
                                <a:latin typeface="Cambria Math" panose="02040503050406030204" pitchFamily="18" charset="0"/>
                              </a:rPr>
                            </m:ctrlPr>
                          </m:sSupPr>
                          <m:e>
                            <m:r>
                              <a:rPr lang="en-US" altLang="zh-CN" b="1" i="1">
                                <a:solidFill>
                                  <a:srgbClr val="00B0F0"/>
                                </a:solidFill>
                                <a:latin typeface="Cambria Math" panose="02040503050406030204" pitchFamily="18" charset="0"/>
                              </a:rPr>
                              <m:t>𝒗</m:t>
                            </m:r>
                          </m:e>
                          <m:sup>
                            <m:r>
                              <a:rPr lang="en-US" altLang="zh-CN" b="1" i="1">
                                <a:solidFill>
                                  <a:srgbClr val="00B0F0"/>
                                </a:solidFill>
                                <a:latin typeface="Cambria Math" panose="02040503050406030204" pitchFamily="18" charset="0"/>
                              </a:rPr>
                              <m:t>′</m:t>
                            </m:r>
                          </m:sup>
                        </m:sSup>
                      </m:oMath>
                    </m:oMathPara>
                  </a14:m>
                  <a:endParaRPr lang="zh-CN" altLang="en-US" b="1" dirty="0">
                    <a:solidFill>
                      <a:srgbClr val="00B0F0"/>
                    </a:solidFill>
                  </a:endParaRPr>
                </a:p>
              </p:txBody>
            </p:sp>
          </mc:Choice>
          <mc:Fallback xmlns="">
            <p:sp>
              <p:nvSpPr>
                <p:cNvPr id="11" name="文本框 10">
                  <a:extLst>
                    <a:ext uri="{FF2B5EF4-FFF2-40B4-BE49-F238E27FC236}">
                      <a16:creationId xmlns:a16="http://schemas.microsoft.com/office/drawing/2014/main" id="{0AC45E47-E90D-ED31-482B-9B87DDC761D4}"/>
                    </a:ext>
                  </a:extLst>
                </p:cNvPr>
                <p:cNvSpPr txBox="1">
                  <a:spLocks noRot="1" noChangeAspect="1" noMove="1" noResize="1" noEditPoints="1" noAdjustHandles="1" noChangeArrowheads="1" noChangeShapeType="1" noTextEdit="1"/>
                </p:cNvSpPr>
                <p:nvPr/>
              </p:nvSpPr>
              <p:spPr>
                <a:xfrm>
                  <a:off x="10876279" y="4613180"/>
                  <a:ext cx="630869" cy="3693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3700281E-D0AE-0200-4580-B6AF7797DF4E}"/>
                    </a:ext>
                  </a:extLst>
                </p:cNvPr>
                <p:cNvSpPr txBox="1"/>
                <p:nvPr/>
              </p:nvSpPr>
              <p:spPr>
                <a:xfrm>
                  <a:off x="8117498" y="4687577"/>
                  <a:ext cx="63086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accent4">
                                <a:lumMod val="75000"/>
                              </a:schemeClr>
                            </a:solidFill>
                            <a:latin typeface="Cambria Math" panose="02040503050406030204" pitchFamily="18" charset="0"/>
                          </a:rPr>
                          <m:t>𝒗</m:t>
                        </m:r>
                      </m:oMath>
                    </m:oMathPara>
                  </a14:m>
                  <a:endParaRPr lang="zh-CN" altLang="en-US" b="1" dirty="0">
                    <a:solidFill>
                      <a:schemeClr val="accent4">
                        <a:lumMod val="75000"/>
                      </a:schemeClr>
                    </a:solidFill>
                  </a:endParaRPr>
                </a:p>
              </p:txBody>
            </p:sp>
          </mc:Choice>
          <mc:Fallback xmlns="">
            <p:sp>
              <p:nvSpPr>
                <p:cNvPr id="12" name="文本框 11">
                  <a:extLst>
                    <a:ext uri="{FF2B5EF4-FFF2-40B4-BE49-F238E27FC236}">
                      <a16:creationId xmlns:a16="http://schemas.microsoft.com/office/drawing/2014/main" id="{3700281E-D0AE-0200-4580-B6AF7797DF4E}"/>
                    </a:ext>
                  </a:extLst>
                </p:cNvPr>
                <p:cNvSpPr txBox="1">
                  <a:spLocks noRot="1" noChangeAspect="1" noMove="1" noResize="1" noEditPoints="1" noAdjustHandles="1" noChangeArrowheads="1" noChangeShapeType="1" noTextEdit="1"/>
                </p:cNvSpPr>
                <p:nvPr/>
              </p:nvSpPr>
              <p:spPr>
                <a:xfrm>
                  <a:off x="8117498" y="4687577"/>
                  <a:ext cx="630869" cy="369332"/>
                </a:xfrm>
                <a:prstGeom prst="rect">
                  <a:avLst/>
                </a:prstGeom>
                <a:blipFill>
                  <a:blip r:embed="rId12"/>
                  <a:stretch>
                    <a:fillRect/>
                  </a:stretch>
                </a:blipFill>
              </p:spPr>
              <p:txBody>
                <a:bodyPr/>
                <a:lstStyle/>
                <a:p>
                  <a:r>
                    <a:rPr lang="zh-CN" altLang="en-US">
                      <a:noFill/>
                    </a:rPr>
                    <a:t> </a:t>
                  </a:r>
                </a:p>
              </p:txBody>
            </p:sp>
          </mc:Fallback>
        </mc:AlternateContent>
        <p:sp>
          <p:nvSpPr>
            <p:cNvPr id="14" name="矩形 13">
              <a:extLst>
                <a:ext uri="{FF2B5EF4-FFF2-40B4-BE49-F238E27FC236}">
                  <a16:creationId xmlns:a16="http://schemas.microsoft.com/office/drawing/2014/main" id="{B93C54DB-39A7-1D5A-0EFE-D1A988AEBE84}"/>
                </a:ext>
              </a:extLst>
            </p:cNvPr>
            <p:cNvSpPr/>
            <p:nvPr/>
          </p:nvSpPr>
          <p:spPr>
            <a:xfrm>
              <a:off x="9719797" y="4089400"/>
              <a:ext cx="51430" cy="1724053"/>
            </a:xfrm>
            <a:prstGeom prst="rect">
              <a:avLst/>
            </a:prstGeom>
            <a:solidFill>
              <a:schemeClr val="bg2">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9103B121-9A70-6E8F-8431-A99F1B102C7E}"/>
                </a:ext>
              </a:extLst>
            </p:cNvPr>
            <p:cNvCxnSpPr/>
            <p:nvPr/>
          </p:nvCxnSpPr>
          <p:spPr>
            <a:xfrm>
              <a:off x="11019545" y="5784738"/>
              <a:ext cx="48760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2C6D809-9B2B-84B4-0F92-B9BC090D614E}"/>
                    </a:ext>
                  </a:extLst>
                </p:cNvPr>
                <p:cNvSpPr txBox="1"/>
                <p:nvPr/>
              </p:nvSpPr>
              <p:spPr>
                <a:xfrm>
                  <a:off x="8915355" y="3831970"/>
                  <a:ext cx="9882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lumMod val="50000"/>
                                <a:lumOff val="50000"/>
                              </a:schemeClr>
                            </a:solidFill>
                            <a:latin typeface="Cambria Math" panose="02040503050406030204" pitchFamily="18" charset="0"/>
                          </a:rPr>
                          <m:t>𝑧</m:t>
                        </m:r>
                        <m:r>
                          <a:rPr lang="en-US" altLang="zh-CN" sz="1800" b="0" i="1" smtClean="0">
                            <a:solidFill>
                              <a:schemeClr val="tx1">
                                <a:lumMod val="50000"/>
                                <a:lumOff val="50000"/>
                              </a:schemeClr>
                            </a:solidFill>
                            <a:latin typeface="Cambria Math" panose="02040503050406030204" pitchFamily="18" charset="0"/>
                          </a:rPr>
                          <m:t>=0</m:t>
                        </m:r>
                      </m:oMath>
                    </m:oMathPara>
                  </a14:m>
                  <a:endParaRPr lang="zh-CN" altLang="en-US" dirty="0">
                    <a:solidFill>
                      <a:schemeClr val="tx1">
                        <a:lumMod val="50000"/>
                        <a:lumOff val="50000"/>
                      </a:schemeClr>
                    </a:solidFill>
                  </a:endParaRPr>
                </a:p>
              </p:txBody>
            </p:sp>
          </mc:Choice>
          <mc:Fallback xmlns="">
            <p:sp>
              <p:nvSpPr>
                <p:cNvPr id="16" name="文本框 15">
                  <a:extLst>
                    <a:ext uri="{FF2B5EF4-FFF2-40B4-BE49-F238E27FC236}">
                      <a16:creationId xmlns:a16="http://schemas.microsoft.com/office/drawing/2014/main" id="{32C6D809-9B2B-84B4-0F92-B9BC090D614E}"/>
                    </a:ext>
                  </a:extLst>
                </p:cNvPr>
                <p:cNvSpPr txBox="1">
                  <a:spLocks noRot="1" noChangeAspect="1" noMove="1" noResize="1" noEditPoints="1" noAdjustHandles="1" noChangeArrowheads="1" noChangeShapeType="1" noTextEdit="1"/>
                </p:cNvSpPr>
                <p:nvPr/>
              </p:nvSpPr>
              <p:spPr>
                <a:xfrm>
                  <a:off x="8915355" y="3831970"/>
                  <a:ext cx="988220" cy="369332"/>
                </a:xfrm>
                <a:prstGeom prst="rect">
                  <a:avLst/>
                </a:prstGeom>
                <a:blipFill>
                  <a:blip r:embed="rId1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4E4190AB-39DE-5E43-EC9B-8016DFF27FE4}"/>
                    </a:ext>
                  </a:extLst>
                </p:cNvPr>
                <p:cNvSpPr txBox="1"/>
                <p:nvPr/>
              </p:nvSpPr>
              <p:spPr>
                <a:xfrm>
                  <a:off x="11097088" y="5761631"/>
                  <a:ext cx="63086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𝑧</m:t>
                        </m:r>
                      </m:oMath>
                    </m:oMathPara>
                  </a14:m>
                  <a:endParaRPr lang="zh-CN" altLang="en-US" dirty="0">
                    <a:solidFill>
                      <a:schemeClr val="accent4">
                        <a:lumMod val="75000"/>
                      </a:schemeClr>
                    </a:solidFill>
                  </a:endParaRPr>
                </a:p>
              </p:txBody>
            </p:sp>
          </mc:Choice>
          <mc:Fallback xmlns="">
            <p:sp>
              <p:nvSpPr>
                <p:cNvPr id="40" name="文本框 39">
                  <a:extLst>
                    <a:ext uri="{FF2B5EF4-FFF2-40B4-BE49-F238E27FC236}">
                      <a16:creationId xmlns:a16="http://schemas.microsoft.com/office/drawing/2014/main" id="{88FB4FCA-D779-93F8-4C9C-41B963F0BE5E}"/>
                    </a:ext>
                  </a:extLst>
                </p:cNvPr>
                <p:cNvSpPr txBox="1">
                  <a:spLocks noRot="1" noChangeAspect="1" noMove="1" noResize="1" noEditPoints="1" noAdjustHandles="1" noChangeArrowheads="1" noChangeShapeType="1" noTextEdit="1"/>
                </p:cNvSpPr>
                <p:nvPr/>
              </p:nvSpPr>
              <p:spPr>
                <a:xfrm>
                  <a:off x="11097088" y="5761631"/>
                  <a:ext cx="630869" cy="369332"/>
                </a:xfrm>
                <a:prstGeom prst="rect">
                  <a:avLst/>
                </a:prstGeom>
                <a:blipFill>
                  <a:blip r:embed="rId6"/>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1262411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7837B-71B7-9930-105E-BF5892F484C4}"/>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4D29D25C-3203-3F51-0860-BA4EDE76F49D}"/>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雅可比矩阵行列式</a:t>
            </a:r>
            <a:endParaRPr lang="en-US" altLang="zh-CN" dirty="0"/>
          </a:p>
        </p:txBody>
      </p:sp>
      <p:sp>
        <p:nvSpPr>
          <p:cNvPr id="5" name="矩形 4">
            <a:extLst>
              <a:ext uri="{FF2B5EF4-FFF2-40B4-BE49-F238E27FC236}">
                <a16:creationId xmlns:a16="http://schemas.microsoft.com/office/drawing/2014/main" id="{19B8C0AD-75AE-CDBF-AB7E-4D5B66C68473}"/>
              </a:ext>
            </a:extLst>
          </p:cNvPr>
          <p:cNvSpPr/>
          <p:nvPr/>
        </p:nvSpPr>
        <p:spPr>
          <a:xfrm>
            <a:off x="631109" y="1315233"/>
            <a:ext cx="6816453"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9B0632B3-F3F7-2442-C8D3-81E028FCE9F5}"/>
                  </a:ext>
                </a:extLst>
              </p:cNvPr>
              <p:cNvSpPr/>
              <p:nvPr/>
            </p:nvSpPr>
            <p:spPr>
              <a:xfrm>
                <a:off x="478709" y="1144044"/>
                <a:ext cx="6816453"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𝑚</m:t>
                          </m:r>
                        </m:sub>
                      </m:sSub>
                      <m:r>
                        <a:rPr lang="en-US" altLang="zh-CN" sz="1400" b="0" i="1" dirty="0" smtClean="0">
                          <a:solidFill>
                            <a:schemeClr val="tx1"/>
                          </a:solidFill>
                          <a:latin typeface="Cambria Math" panose="02040503050406030204" pitchFamily="18" charset="0"/>
                        </a:rPr>
                        <m:t>=</m:t>
                      </m:r>
                      <m:d>
                        <m:dPr>
                          <m:begChr m:val="|"/>
                          <m:endChr m:val="|"/>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det</m:t>
                              </m:r>
                            </m:fName>
                            <m:e>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𝑖</m:t>
                                          </m:r>
                                        </m:sub>
                                      </m:sSub>
                                    </m:den>
                                  </m:f>
                                  <m:r>
                                    <a:rPr lang="en-US" altLang="zh-CN" sz="1400" i="1" dirty="0">
                                      <a:solidFill>
                                        <a:schemeClr val="tx1"/>
                                      </a:solidFill>
                                      <a:latin typeface="Cambria Math" panose="02040503050406030204" pitchFamily="18" charset="0"/>
                                    </a:rPr>
                                    <m:t> </m:t>
                                  </m:r>
                                </m:e>
                              </m:d>
                            </m:e>
                          </m:func>
                        </m:e>
                      </m:d>
                      <m:r>
                        <a:rPr lang="en-US" altLang="zh-CN" sz="1400" b="0" i="1" dirty="0" smtClean="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𝑖</m:t>
                          </m:r>
                        </m:sub>
                      </m:sSub>
                      <m:r>
                        <a:rPr lang="en-US" altLang="zh-CN" sz="1400" b="0" i="1" dirty="0" smtClean="0">
                          <a:solidFill>
                            <a:schemeClr val="tx1"/>
                          </a:solidFill>
                          <a:latin typeface="Cambria Math" panose="02040503050406030204" pitchFamily="18" charset="0"/>
                        </a:rPr>
                        <m:t>,  </m:t>
                      </m:r>
                      <m:d>
                        <m:dPr>
                          <m:begChr m:val="|"/>
                          <m:endChr m:val="|"/>
                          <m:ctrlPr>
                            <a:rPr lang="en-US" altLang="zh-CN" sz="1400" i="1" dirty="0" smtClean="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det</m:t>
                              </m:r>
                            </m:fName>
                            <m:e>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𝑖</m:t>
                                          </m:r>
                                        </m:sub>
                                      </m:sSub>
                                    </m:den>
                                  </m:f>
                                  <m:r>
                                    <a:rPr lang="en-US" altLang="zh-CN" sz="1400" i="1" dirty="0">
                                      <a:solidFill>
                                        <a:schemeClr val="tx1"/>
                                      </a:solidFill>
                                      <a:latin typeface="Cambria Math" panose="02040503050406030204" pitchFamily="18" charset="0"/>
                                    </a:rPr>
                                    <m:t> </m:t>
                                  </m:r>
                                </m:e>
                              </m:d>
                            </m:e>
                          </m:func>
                        </m:e>
                      </m:d>
                      <m:r>
                        <a:rPr lang="en-US" altLang="zh-CN" sz="1400" b="0" i="1" dirty="0" smtClean="0">
                          <a:solidFill>
                            <a:schemeClr val="tx1"/>
                          </a:solidFill>
                          <a:latin typeface="Cambria Math" panose="02040503050406030204" pitchFamily="18" charset="0"/>
                        </a:rPr>
                        <m:t>=</m:t>
                      </m:r>
                      <m:r>
                        <a:rPr lang="zh-CN" altLang="en-US" sz="1400" i="1" dirty="0">
                          <a:solidFill>
                            <a:schemeClr val="tx1"/>
                          </a:solidFill>
                          <a:latin typeface="Cambria Math" panose="02040503050406030204" pitchFamily="18" charset="0"/>
                        </a:rPr>
                        <m:t>？</m:t>
                      </m:r>
                    </m:oMath>
                  </m:oMathPara>
                </a14:m>
                <a:endParaRPr lang="en-US" altLang="zh-CN" sz="1400" i="1" dirty="0">
                  <a:solidFill>
                    <a:schemeClr val="tx1"/>
                  </a:solidFill>
                  <a:latin typeface="Cambria Math" panose="02040503050406030204" pitchFamily="18" charset="0"/>
                </a:endParaRPr>
              </a:p>
              <a:p>
                <a:pPr algn="ctr">
                  <a:lnSpc>
                    <a:spcPct val="120000"/>
                  </a:lnSpc>
                </a:pPr>
                <a14:m>
                  <m:oMathPara xmlns:m="http://schemas.openxmlformats.org/officeDocument/2006/math">
                    <m:oMathParaPr>
                      <m:jc m:val="centerGroup"/>
                    </m:oMathParaPr>
                    <m:oMath xmlns:m="http://schemas.openxmlformats.org/officeDocument/2006/math">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m:t>
                      </m:r>
                      <m:r>
                        <a:rPr lang="en-US" altLang="zh-CN" sz="1400" i="1">
                          <a:solidFill>
                            <a:schemeClr val="tx1"/>
                          </a:solidFill>
                          <a:latin typeface="Cambria Math" panose="02040503050406030204" pitchFamily="18" charset="0"/>
                        </a:rPr>
                        <m:t>𝑠𝑖𝑛</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r>
                        <a:rPr lang="en-US" altLang="zh-CN" sz="1400" i="1">
                          <a:solidFill>
                            <a:schemeClr val="tx1"/>
                          </a:solidFill>
                          <a:latin typeface="Cambria Math" panose="02040503050406030204" pitchFamily="18" charset="0"/>
                        </a:rPr>
                        <m:t> </m:t>
                      </m:r>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r>
                        <a:rPr lang="en-US" altLang="zh-CN" sz="1400" i="1">
                          <a:solidFill>
                            <a:schemeClr val="tx1"/>
                          </a:solidFill>
                          <a:latin typeface="Cambria Math" panose="02040503050406030204" pitchFamily="18" charset="0"/>
                        </a:rPr>
                        <m:t> </m:t>
                      </m:r>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𝜙</m:t>
                          </m:r>
                        </m:e>
                        <m:sub>
                          <m:r>
                            <a:rPr lang="en-US" altLang="zh-CN" sz="1400" i="1">
                              <a:solidFill>
                                <a:schemeClr val="tx1"/>
                              </a:solidFill>
                              <a:latin typeface="Cambria Math" panose="02040503050406030204" pitchFamily="18" charset="0"/>
                            </a:rPr>
                            <m:t>𝑚</m:t>
                          </m:r>
                        </m:sub>
                      </m:sSub>
                      <m:r>
                        <a:rPr lang="en-US" altLang="zh-CN" sz="1400" b="0" i="1" smtClean="0">
                          <a:solidFill>
                            <a:schemeClr val="tx1"/>
                          </a:solidFill>
                          <a:latin typeface="Cambria Math" panose="02040503050406030204" pitchFamily="18" charset="0"/>
                        </a:rPr>
                        <m:t>,  </m:t>
                      </m:r>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𝜔</m:t>
                          </m:r>
                        </m:e>
                        <m:sub>
                          <m:r>
                            <a:rPr lang="en-US" altLang="zh-CN" sz="1400" i="1">
                              <a:solidFill>
                                <a:schemeClr val="tx1"/>
                              </a:solidFill>
                              <a:latin typeface="Cambria Math" panose="02040503050406030204" pitchFamily="18" charset="0"/>
                            </a:rPr>
                            <m:t>𝑖</m:t>
                          </m:r>
                        </m:sub>
                      </m:sSub>
                      <m:r>
                        <a:rPr lang="en-US" altLang="zh-CN" sz="1400" i="1">
                          <a:solidFill>
                            <a:schemeClr val="tx1"/>
                          </a:solidFill>
                          <a:latin typeface="Cambria Math" panose="02040503050406030204" pitchFamily="18" charset="0"/>
                        </a:rPr>
                        <m:t>=</m:t>
                      </m:r>
                      <m:r>
                        <a:rPr lang="en-US" altLang="zh-CN" sz="1400" i="1">
                          <a:solidFill>
                            <a:schemeClr val="tx1"/>
                          </a:solidFill>
                          <a:latin typeface="Cambria Math" panose="02040503050406030204" pitchFamily="18" charset="0"/>
                        </a:rPr>
                        <m:t>𝑠𝑖𝑛</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𝑖</m:t>
                          </m:r>
                        </m:sub>
                      </m:sSub>
                      <m:r>
                        <a:rPr lang="en-US" altLang="zh-CN" sz="1400" i="1">
                          <a:solidFill>
                            <a:schemeClr val="tx1"/>
                          </a:solidFill>
                          <a:latin typeface="Cambria Math" panose="02040503050406030204" pitchFamily="18" charset="0"/>
                        </a:rPr>
                        <m:t> </m:t>
                      </m:r>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𝑖</m:t>
                          </m:r>
                        </m:sub>
                      </m:sSub>
                      <m:r>
                        <a:rPr lang="en-US" altLang="zh-CN" sz="1400" i="1">
                          <a:solidFill>
                            <a:schemeClr val="tx1"/>
                          </a:solidFill>
                          <a:latin typeface="Cambria Math" panose="02040503050406030204" pitchFamily="18" charset="0"/>
                        </a:rPr>
                        <m:t> </m:t>
                      </m:r>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𝜙</m:t>
                          </m:r>
                        </m:e>
                        <m:sub>
                          <m:r>
                            <a:rPr lang="en-US" altLang="zh-CN" sz="1400" i="1">
                              <a:solidFill>
                                <a:schemeClr val="tx1"/>
                              </a:solidFill>
                              <a:latin typeface="Cambria Math" panose="02040503050406030204" pitchFamily="18" charset="0"/>
                            </a:rPr>
                            <m:t>𝑖</m:t>
                          </m:r>
                        </m:sub>
                      </m:sSub>
                    </m:oMath>
                  </m:oMathPara>
                </a14:m>
                <a:endParaRPr lang="en-US" altLang="zh-CN" sz="1400" i="1" dirty="0">
                  <a:solidFill>
                    <a:schemeClr val="tx1"/>
                  </a:solidFill>
                  <a:latin typeface="Cambria Math" panose="02040503050406030204" pitchFamily="18" charset="0"/>
                </a:endParaRPr>
              </a:p>
              <a:p>
                <a:pPr algn="ctr">
                  <a:lnSpc>
                    <a:spcPct val="120000"/>
                  </a:lnSpc>
                </a:pPr>
                <a14:m>
                  <m:oMathPara xmlns:m="http://schemas.openxmlformats.org/officeDocument/2006/math">
                    <m:oMathParaPr>
                      <m:jc m:val="centerGroup"/>
                    </m:oMathParaPr>
                    <m:oMath xmlns:m="http://schemas.openxmlformats.org/officeDocument/2006/math">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num>
                        <m:den>
                          <m:r>
                            <a:rPr lang="en-US" altLang="zh-CN" sz="1400" i="1">
                              <a:solidFill>
                                <a:schemeClr val="tx1"/>
                              </a:solidFill>
                              <a:latin typeface="Cambria Math" panose="02040503050406030204" pitchFamily="18" charset="0"/>
                            </a:rPr>
                            <m:t>𝑠𝑖𝑛</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den>
                      </m:f>
                      <m:r>
                        <a:rPr lang="en-US" altLang="zh-CN" sz="1400" i="1" dirty="0">
                          <a:solidFill>
                            <a:schemeClr val="tx1"/>
                          </a:solidFill>
                          <a:latin typeface="Cambria Math" panose="02040503050406030204" pitchFamily="18" charset="0"/>
                        </a:rPr>
                        <m:t>=</m:t>
                      </m:r>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r>
                        <a:rPr lang="en-US" altLang="zh-CN" sz="1400" i="1">
                          <a:solidFill>
                            <a:schemeClr val="tx1"/>
                          </a:solidFill>
                          <a:latin typeface="Cambria Math" panose="02040503050406030204" pitchFamily="18" charset="0"/>
                        </a:rPr>
                        <m:t> </m:t>
                      </m:r>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𝜙</m:t>
                          </m:r>
                        </m:e>
                        <m:sub>
                          <m:r>
                            <a:rPr lang="en-US" altLang="zh-CN" sz="1400" i="1">
                              <a:solidFill>
                                <a:schemeClr val="tx1"/>
                              </a:solidFill>
                              <a:latin typeface="Cambria Math" panose="02040503050406030204" pitchFamily="18" charset="0"/>
                            </a:rPr>
                            <m:t>𝑚</m:t>
                          </m:r>
                        </m:sub>
                      </m:sSub>
                      <m:r>
                        <a:rPr lang="en-US" altLang="zh-CN" sz="1400" b="0" i="1" smtClean="0">
                          <a:solidFill>
                            <a:schemeClr val="tx1"/>
                          </a:solidFill>
                          <a:latin typeface="Cambria Math" panose="02040503050406030204" pitchFamily="18" charset="0"/>
                        </a:rPr>
                        <m:t>,  </m:t>
                      </m:r>
                      <m:f>
                        <m:fPr>
                          <m:ctrlPr>
                            <a:rPr lang="en-US" altLang="zh-CN" sz="1400" b="0" i="1" smtClean="0">
                              <a:solidFill>
                                <a:schemeClr val="tx1"/>
                              </a:solidFill>
                              <a:latin typeface="Cambria Math" panose="02040503050406030204" pitchFamily="18" charset="0"/>
                            </a:rPr>
                          </m:ctrlPr>
                        </m:fPr>
                        <m:num>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𝜔</m:t>
                              </m:r>
                            </m:e>
                            <m:sub>
                              <m:r>
                                <a:rPr lang="en-US" altLang="zh-CN" sz="1400" i="1">
                                  <a:solidFill>
                                    <a:schemeClr val="tx1"/>
                                  </a:solidFill>
                                  <a:latin typeface="Cambria Math" panose="02040503050406030204" pitchFamily="18" charset="0"/>
                                </a:rPr>
                                <m:t>𝑖</m:t>
                              </m:r>
                            </m:sub>
                          </m:sSub>
                        </m:num>
                        <m:den>
                          <m:r>
                            <a:rPr lang="en-US" altLang="zh-CN" sz="1400" i="1">
                              <a:solidFill>
                                <a:schemeClr val="tx1"/>
                              </a:solidFill>
                              <a:latin typeface="Cambria Math" panose="02040503050406030204" pitchFamily="18" charset="0"/>
                            </a:rPr>
                            <m:t>𝑠𝑖𝑛</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𝑖</m:t>
                              </m:r>
                            </m:sub>
                          </m:sSub>
                        </m:den>
                      </m:f>
                      <m:r>
                        <a:rPr lang="en-US" altLang="zh-CN" sz="1400" i="1">
                          <a:solidFill>
                            <a:schemeClr val="tx1"/>
                          </a:solidFill>
                          <a:latin typeface="Cambria Math" panose="02040503050406030204" pitchFamily="18" charset="0"/>
                        </a:rPr>
                        <m:t>=</m:t>
                      </m:r>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𝑖</m:t>
                          </m:r>
                        </m:sub>
                      </m:sSub>
                      <m:r>
                        <a:rPr lang="en-US" altLang="zh-CN" sz="1400" i="1">
                          <a:solidFill>
                            <a:schemeClr val="tx1"/>
                          </a:solidFill>
                          <a:latin typeface="Cambria Math" panose="02040503050406030204" pitchFamily="18" charset="0"/>
                        </a:rPr>
                        <m:t> </m:t>
                      </m:r>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𝜙</m:t>
                          </m:r>
                        </m:e>
                        <m:sub>
                          <m:r>
                            <a:rPr lang="en-US" altLang="zh-CN" sz="1400" i="1">
                              <a:solidFill>
                                <a:schemeClr val="tx1"/>
                              </a:solidFill>
                              <a:latin typeface="Cambria Math" panose="02040503050406030204" pitchFamily="18" charset="0"/>
                            </a:rPr>
                            <m:t>𝑖</m:t>
                          </m:r>
                        </m:sub>
                      </m:sSub>
                    </m:oMath>
                  </m:oMathPara>
                </a14:m>
                <a:endParaRPr lang="en-US" altLang="zh-CN" sz="1400" i="1" dirty="0">
                  <a:solidFill>
                    <a:schemeClr val="tx1"/>
                  </a:solidFill>
                  <a:latin typeface="Cambria Math" panose="02040503050406030204" pitchFamily="18" charset="0"/>
                </a:endParaRPr>
              </a:p>
              <a:p>
                <a:pPr algn="ctr">
                  <a:lnSpc>
                    <a:spcPct val="120000"/>
                  </a:lnSpc>
                </a:pPr>
                <a14:m>
                  <m:oMathPara xmlns:m="http://schemas.openxmlformats.org/officeDocument/2006/math">
                    <m:oMathParaPr>
                      <m:jc m:val="centerGroup"/>
                    </m:oMathParaPr>
                    <m:oMath xmlns:m="http://schemas.openxmlformats.org/officeDocument/2006/math">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r>
                        <a:rPr lang="en-US" altLang="zh-CN" sz="1400" i="1">
                          <a:solidFill>
                            <a:schemeClr val="tx1"/>
                          </a:solidFill>
                          <a:latin typeface="Cambria Math" panose="02040503050406030204" pitchFamily="18" charset="0"/>
                        </a:rPr>
                        <m:t> </m:t>
                      </m:r>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𝜙</m:t>
                          </m:r>
                        </m:e>
                        <m:sub>
                          <m:r>
                            <a:rPr lang="en-US" altLang="zh-CN" sz="1400" i="1">
                              <a:solidFill>
                                <a:schemeClr val="tx1"/>
                              </a:solidFill>
                              <a:latin typeface="Cambria Math" panose="02040503050406030204" pitchFamily="18" charset="0"/>
                            </a:rPr>
                            <m:t>𝑚</m:t>
                          </m:r>
                        </m:sub>
                      </m:sSub>
                      <m:r>
                        <a:rPr lang="en-US" altLang="zh-CN" sz="1400" dirty="0">
                          <a:solidFill>
                            <a:schemeClr val="tx1"/>
                          </a:solidFill>
                          <a:latin typeface="Cambria Math" panose="02040503050406030204" pitchFamily="18" charset="0"/>
                        </a:rPr>
                        <m:t>=</m:t>
                      </m:r>
                      <m:d>
                        <m:dPr>
                          <m:begChr m:val="|"/>
                          <m:endChr m:val="|"/>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det</m:t>
                              </m:r>
                            </m:fName>
                            <m:e>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e>
                                      </m:d>
                                    </m:num>
                                    <m:den>
                                      <m:r>
                                        <a:rPr lang="en-US" altLang="zh-CN" sz="1400" i="1" dirty="0">
                                          <a:solidFill>
                                            <a:schemeClr val="tx1"/>
                                          </a:solidFill>
                                          <a:latin typeface="Cambria Math" panose="02040503050406030204" pitchFamily="18" charset="0"/>
                                        </a:rPr>
                                        <m:t>𝜕</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r>
                                            <a:rPr lang="en-US" altLang="zh-CN" sz="1400" i="1" dirty="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e>
                                      </m:d>
                                    </m:den>
                                  </m:f>
                                  <m:r>
                                    <a:rPr lang="en-US" altLang="zh-CN" sz="1400" i="1" dirty="0">
                                      <a:solidFill>
                                        <a:schemeClr val="tx1"/>
                                      </a:solidFill>
                                      <a:latin typeface="Cambria Math" panose="02040503050406030204" pitchFamily="18" charset="0"/>
                                    </a:rPr>
                                    <m:t> </m:t>
                                  </m:r>
                                </m:e>
                              </m:d>
                            </m:e>
                          </m:func>
                        </m:e>
                      </m:d>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𝑖</m:t>
                          </m:r>
                        </m:sub>
                      </m:sSub>
                      <m:r>
                        <a:rPr lang="en-US" altLang="zh-CN" sz="1400" i="1">
                          <a:solidFill>
                            <a:schemeClr val="tx1"/>
                          </a:solidFill>
                          <a:latin typeface="Cambria Math" panose="02040503050406030204" pitchFamily="18" charset="0"/>
                        </a:rPr>
                        <m:t> </m:t>
                      </m:r>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𝜙</m:t>
                          </m:r>
                        </m:e>
                        <m:sub>
                          <m:r>
                            <a:rPr lang="en-US" altLang="zh-CN" sz="1400" i="1">
                              <a:solidFill>
                                <a:schemeClr val="tx1"/>
                              </a:solidFill>
                              <a:latin typeface="Cambria Math" panose="02040503050406030204" pitchFamily="18" charset="0"/>
                            </a:rPr>
                            <m:t>𝑖</m:t>
                          </m:r>
                        </m:sub>
                      </m:sSub>
                    </m:oMath>
                  </m:oMathPara>
                </a14:m>
                <a:endParaRPr lang="en-US" altLang="zh-CN" sz="1400" i="1" dirty="0">
                  <a:solidFill>
                    <a:schemeClr val="tx1"/>
                  </a:solidFill>
                  <a:latin typeface="Cambria Math" panose="02040503050406030204" pitchFamily="18" charset="0"/>
                </a:endParaRPr>
              </a:p>
              <a:p>
                <a:pPr algn="ctr">
                  <a:lnSpc>
                    <a:spcPct val="120000"/>
                  </a:lnSpc>
                </a:pPr>
                <a14:m>
                  <m:oMathPara xmlns:m="http://schemas.openxmlformats.org/officeDocument/2006/math">
                    <m:oMathParaPr>
                      <m:jc m:val="centerGroup"/>
                    </m:oMathParaPr>
                    <m:oMath xmlns:m="http://schemas.openxmlformats.org/officeDocument/2006/math">
                      <m:d>
                        <m:dPr>
                          <m:begChr m:val="|"/>
                          <m:endChr m:val="|"/>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det</m:t>
                              </m:r>
                            </m:fName>
                            <m:e>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e>
                                      </m:d>
                                    </m:num>
                                    <m:den>
                                      <m:r>
                                        <a:rPr lang="en-US" altLang="zh-CN" sz="1400" i="1" dirty="0">
                                          <a:solidFill>
                                            <a:schemeClr val="tx1"/>
                                          </a:solidFill>
                                          <a:latin typeface="Cambria Math" panose="02040503050406030204" pitchFamily="18" charset="0"/>
                                        </a:rPr>
                                        <m:t>𝜕</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r>
                                            <a:rPr lang="en-US" altLang="zh-CN" sz="1400" i="1" dirty="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e>
                                      </m:d>
                                    </m:den>
                                  </m:f>
                                  <m:r>
                                    <a:rPr lang="en-US" altLang="zh-CN" sz="1400" i="1" dirty="0">
                                      <a:solidFill>
                                        <a:schemeClr val="tx1"/>
                                      </a:solidFill>
                                      <a:latin typeface="Cambria Math" panose="02040503050406030204" pitchFamily="18" charset="0"/>
                                    </a:rPr>
                                    <m:t> </m:t>
                                  </m:r>
                                </m:e>
                              </m:d>
                            </m:e>
                          </m:func>
                        </m:e>
                      </m:d>
                      <m:r>
                        <a:rPr lang="en-US" altLang="zh-CN" sz="1400" b="0" i="1" dirty="0" smtClean="0">
                          <a:solidFill>
                            <a:schemeClr val="tx1"/>
                          </a:solidFill>
                          <a:latin typeface="Cambria Math" panose="02040503050406030204" pitchFamily="18" charset="0"/>
                        </a:rPr>
                        <m:t>=</m:t>
                      </m:r>
                      <m:d>
                        <m:dPr>
                          <m:begChr m:val="|"/>
                          <m:endChr m:val="|"/>
                          <m:ctrlPr>
                            <a:rPr lang="en-US" altLang="zh-CN" sz="1400" i="1" dirty="0" smtClean="0">
                              <a:solidFill>
                                <a:schemeClr val="tx1"/>
                              </a:solidFill>
                              <a:latin typeface="Cambria Math" panose="02040503050406030204" pitchFamily="18" charset="0"/>
                            </a:rPr>
                          </m:ctrlPr>
                        </m:dPr>
                        <m:e>
                          <m:d>
                            <m:dPr>
                              <m:begChr m:val="|"/>
                              <m:endChr m:val="|"/>
                              <m:ctrlPr>
                                <a:rPr lang="en-US" altLang="zh-CN" sz="1400" i="1" dirty="0" smtClean="0">
                                  <a:solidFill>
                                    <a:schemeClr val="tx1"/>
                                  </a:solidFill>
                                  <a:latin typeface="Cambria Math" panose="02040503050406030204" pitchFamily="18" charset="0"/>
                                </a:rPr>
                              </m:ctrlPr>
                            </m:dPr>
                            <m:e>
                              <m:m>
                                <m:mPr>
                                  <m:mcs>
                                    <m:mc>
                                      <m:mcPr>
                                        <m:count m:val="2"/>
                                        <m:mcJc m:val="center"/>
                                      </m:mcPr>
                                    </m:mc>
                                  </m:mcs>
                                  <m:ctrlPr>
                                    <a:rPr lang="en-US" altLang="zh-CN" sz="1400" i="1" dirty="0" smtClean="0">
                                      <a:solidFill>
                                        <a:schemeClr val="tx1"/>
                                      </a:solidFill>
                                      <a:latin typeface="Cambria Math" panose="02040503050406030204" pitchFamily="18" charset="0"/>
                                    </a:rPr>
                                  </m:ctrlPr>
                                </m:mPr>
                                <m:mr>
                                  <m:e>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num>
                                      <m:den>
                                        <m:r>
                                          <a:rPr lang="en-US" altLang="zh-CN" sz="1400" b="0" i="1" dirty="0" smtClean="0">
                                            <a:solidFill>
                                              <a:schemeClr val="tx1"/>
                                            </a:solidFill>
                                            <a:latin typeface="Cambria Math" panose="02040503050406030204" pitchFamily="18" charset="0"/>
                                          </a:rPr>
                                          <m:t>𝜕</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𝑖</m:t>
                                            </m:r>
                                          </m:sub>
                                        </m:sSub>
                                      </m:den>
                                    </m:f>
                                  </m:e>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e>
                                </m:mr>
                                <m:m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den>
                                    </m:f>
                                  </m:e>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e>
                                </m:mr>
                              </m:m>
                            </m:e>
                          </m:d>
                        </m:e>
                      </m:d>
                      <m:r>
                        <a:rPr lang="en-US" altLang="zh-CN" sz="1400" b="0" i="1" dirty="0" smtClean="0">
                          <a:solidFill>
                            <a:schemeClr val="tx1"/>
                          </a:solidFill>
                          <a:latin typeface="Cambria Math" panose="02040503050406030204" pitchFamily="18" charset="0"/>
                        </a:rPr>
                        <m:t>=</m:t>
                      </m:r>
                      <m:d>
                        <m:dPr>
                          <m:begChr m:val="|"/>
                          <m:endChr m:val="|"/>
                          <m:ctrlPr>
                            <a:rPr lang="en-US" altLang="zh-CN" sz="1400" b="0" i="1" dirty="0" smtClean="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den>
                          </m:f>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den>
                          </m:f>
                        </m:e>
                      </m:d>
                    </m:oMath>
                  </m:oMathPara>
                </a14:m>
                <a:endParaRPr lang="en-US" altLang="zh-CN" sz="1400" b="0" i="1" dirty="0">
                  <a:solidFill>
                    <a:schemeClr val="tx1"/>
                  </a:solidFill>
                  <a:latin typeface="Cambria Math" panose="02040503050406030204" pitchFamily="18" charset="0"/>
                </a:endParaRPr>
              </a:p>
              <a:p>
                <a:pPr algn="ctr">
                  <a:lnSpc>
                    <a:spcPct val="120000"/>
                  </a:lnSpc>
                </a:pPr>
                <a14:m>
                  <m:oMathPara xmlns:m="http://schemas.openxmlformats.org/officeDocument/2006/math">
                    <m:oMathParaPr>
                      <m:jc m:val="centerGroup"/>
                    </m:oMathParaPr>
                    <m:oMath xmlns:m="http://schemas.openxmlformats.org/officeDocument/2006/math">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num>
                        <m:den>
                          <m:r>
                            <a:rPr lang="en-US" altLang="zh-CN" sz="1400" i="1">
                              <a:solidFill>
                                <a:schemeClr val="tx1"/>
                              </a:solidFill>
                              <a:latin typeface="Cambria Math" panose="02040503050406030204" pitchFamily="18" charset="0"/>
                            </a:rPr>
                            <m:t>𝑠𝑖𝑛</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den>
                      </m:f>
                      <m:r>
                        <a:rPr lang="en-US" altLang="zh-CN" sz="1400" b="0" i="1" dirty="0" smtClean="0">
                          <a:solidFill>
                            <a:schemeClr val="tx1"/>
                          </a:solidFill>
                          <a:latin typeface="Cambria Math" panose="02040503050406030204" pitchFamily="18" charset="0"/>
                        </a:rPr>
                        <m:t>=</m:t>
                      </m:r>
                      <m:d>
                        <m:dPr>
                          <m:begChr m:val="|"/>
                          <m:endChr m:val="|"/>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den>
                          </m:f>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den>
                          </m:f>
                        </m:e>
                      </m:d>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num>
                        <m:den>
                          <m:r>
                            <a:rPr lang="en-US" altLang="zh-CN" sz="1400" i="1">
                              <a:solidFill>
                                <a:schemeClr val="tx1"/>
                              </a:solidFill>
                              <a:latin typeface="Cambria Math" panose="02040503050406030204" pitchFamily="18" charset="0"/>
                            </a:rPr>
                            <m:t>𝑠𝑖𝑛</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den>
                      </m:f>
                    </m:oMath>
                  </m:oMathPara>
                </a14:m>
                <a:endParaRPr lang="en-US" altLang="zh-CN" sz="1400" i="1" dirty="0">
                  <a:solidFill>
                    <a:schemeClr val="tx1"/>
                  </a:solidFill>
                  <a:latin typeface="Cambria Math" panose="02040503050406030204" pitchFamily="18" charset="0"/>
                </a:endParaRPr>
              </a:p>
              <a:p>
                <a:pPr algn="ctr">
                  <a:lnSpc>
                    <a:spcPct val="12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num>
                        <m:den>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𝑖</m:t>
                                  </m:r>
                                </m:sub>
                              </m:sSub>
                            </m:e>
                          </m:func>
                        </m:den>
                      </m:f>
                      <m:d>
                        <m:dPr>
                          <m:begChr m:val="|"/>
                          <m:endChr m:val="|"/>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den>
                          </m:f>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den>
                          </m:f>
                        </m:e>
                      </m:d>
                      <m:r>
                        <a:rPr lang="en-US" altLang="zh-CN" sz="1400" b="0" i="1" dirty="0" smtClean="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𝑖</m:t>
                          </m:r>
                        </m:sub>
                      </m:sSub>
                    </m:oMath>
                  </m:oMathPara>
                </a14:m>
                <a:endParaRPr lang="en-US" altLang="zh-CN" sz="1400" b="0" i="1" dirty="0">
                  <a:solidFill>
                    <a:schemeClr val="tx1"/>
                  </a:solidFill>
                  <a:latin typeface="Cambria Math" panose="02040503050406030204" pitchFamily="18" charset="0"/>
                </a:endParaRPr>
              </a:p>
              <a:p>
                <a:pPr algn="ctr">
                  <a:lnSpc>
                    <a:spcPct val="120000"/>
                  </a:lnSpc>
                </a:pPr>
                <a14:m>
                  <m:oMathPara xmlns:m="http://schemas.openxmlformats.org/officeDocument/2006/math">
                    <m:oMathParaPr>
                      <m:jc m:val="centerGroup"/>
                    </m:oMathParaPr>
                    <m:oMath xmlns:m="http://schemas.openxmlformats.org/officeDocument/2006/math">
                      <m:d>
                        <m:dPr>
                          <m:begChr m:val="|"/>
                          <m:endChr m:val="|"/>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det</m:t>
                              </m:r>
                            </m:fName>
                            <m:e>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𝑖</m:t>
                                          </m:r>
                                        </m:sub>
                                      </m:sSub>
                                    </m:den>
                                  </m:f>
                                  <m:r>
                                    <a:rPr lang="en-US" altLang="zh-CN" sz="1400" i="1" dirty="0">
                                      <a:solidFill>
                                        <a:schemeClr val="tx1"/>
                                      </a:solidFill>
                                      <a:latin typeface="Cambria Math" panose="02040503050406030204" pitchFamily="18" charset="0"/>
                                    </a:rPr>
                                    <m:t> </m:t>
                                  </m:r>
                                </m:e>
                              </m:d>
                            </m:e>
                          </m:func>
                        </m:e>
                      </m:d>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num>
                        <m:den>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𝑖</m:t>
                                  </m:r>
                                </m:sub>
                              </m:sSub>
                            </m:e>
                          </m:func>
                        </m:den>
                      </m:f>
                      <m:d>
                        <m:dPr>
                          <m:begChr m:val="|"/>
                          <m:endChr m:val="|"/>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den>
                          </m:f>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den>
                          </m:f>
                        </m:e>
                      </m:d>
                    </m:oMath>
                  </m:oMathPara>
                </a14:m>
                <a:endParaRPr lang="en-US" altLang="zh-CN" sz="1400" i="1"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9B0632B3-F3F7-2442-C8D3-81E028FCE9F5}"/>
                  </a:ext>
                </a:extLst>
              </p:cNvPr>
              <p:cNvSpPr>
                <a:spLocks noRot="1" noChangeAspect="1" noMove="1" noResize="1" noEditPoints="1" noAdjustHandles="1" noChangeArrowheads="1" noChangeShapeType="1" noTextEdit="1"/>
              </p:cNvSpPr>
              <p:nvPr/>
            </p:nvSpPr>
            <p:spPr>
              <a:xfrm>
                <a:off x="478709" y="1144044"/>
                <a:ext cx="6816453" cy="5402806"/>
              </a:xfrm>
              <a:prstGeom prst="rect">
                <a:avLst/>
              </a:prstGeom>
              <a:blipFill>
                <a:blip r:embed="rId2"/>
                <a:stretch>
                  <a:fillRect/>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F5CD7EFF-EF11-4176-DDB0-0D97F17D06D2}"/>
              </a:ext>
            </a:extLst>
          </p:cNvPr>
          <p:cNvSpPr/>
          <p:nvPr/>
        </p:nvSpPr>
        <p:spPr>
          <a:xfrm>
            <a:off x="7759478" y="3915798"/>
            <a:ext cx="4320195" cy="280224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36564166-2D74-F0BF-DA62-F1B834035D0A}"/>
              </a:ext>
            </a:extLst>
          </p:cNvPr>
          <p:cNvSpPr/>
          <p:nvPr/>
        </p:nvSpPr>
        <p:spPr>
          <a:xfrm>
            <a:off x="7626128" y="3744348"/>
            <a:ext cx="4320195" cy="280224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 name="矩形 118">
            <a:extLst>
              <a:ext uri="{FF2B5EF4-FFF2-40B4-BE49-F238E27FC236}">
                <a16:creationId xmlns:a16="http://schemas.microsoft.com/office/drawing/2014/main" id="{0784E631-2E56-F2BE-DD7A-A536D2632FD7}"/>
              </a:ext>
            </a:extLst>
          </p:cNvPr>
          <p:cNvSpPr/>
          <p:nvPr/>
        </p:nvSpPr>
        <p:spPr>
          <a:xfrm>
            <a:off x="7759478" y="1313069"/>
            <a:ext cx="4320195" cy="213720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 name="矩形 119">
            <a:extLst>
              <a:ext uri="{FF2B5EF4-FFF2-40B4-BE49-F238E27FC236}">
                <a16:creationId xmlns:a16="http://schemas.microsoft.com/office/drawing/2014/main" id="{6B279146-919C-5C44-7FD8-3E7146E1B785}"/>
              </a:ext>
            </a:extLst>
          </p:cNvPr>
          <p:cNvSpPr/>
          <p:nvPr/>
        </p:nvSpPr>
        <p:spPr>
          <a:xfrm>
            <a:off x="7626128" y="1141619"/>
            <a:ext cx="4320195" cy="213720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54" name="组合 53">
            <a:extLst>
              <a:ext uri="{FF2B5EF4-FFF2-40B4-BE49-F238E27FC236}">
                <a16:creationId xmlns:a16="http://schemas.microsoft.com/office/drawing/2014/main" id="{2F00B686-1C9C-1EE1-9911-C7F81E851C40}"/>
              </a:ext>
            </a:extLst>
          </p:cNvPr>
          <p:cNvGrpSpPr/>
          <p:nvPr/>
        </p:nvGrpSpPr>
        <p:grpSpPr>
          <a:xfrm>
            <a:off x="7747696" y="1292198"/>
            <a:ext cx="4080856" cy="1808326"/>
            <a:chOff x="7747696" y="1292198"/>
            <a:chExt cx="4080856" cy="1808326"/>
          </a:xfrm>
        </p:grpSpPr>
        <p:sp>
          <p:nvSpPr>
            <p:cNvPr id="55" name="箭头: 右 54">
              <a:extLst>
                <a:ext uri="{FF2B5EF4-FFF2-40B4-BE49-F238E27FC236}">
                  <a16:creationId xmlns:a16="http://schemas.microsoft.com/office/drawing/2014/main" id="{D36323B8-B6EC-E48C-9118-3CEB201D5F90}"/>
                </a:ext>
              </a:extLst>
            </p:cNvPr>
            <p:cNvSpPr/>
            <p:nvPr/>
          </p:nvSpPr>
          <p:spPr>
            <a:xfrm>
              <a:off x="9314344" y="2042940"/>
              <a:ext cx="932498" cy="2943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a:extLst>
                <a:ext uri="{FF2B5EF4-FFF2-40B4-BE49-F238E27FC236}">
                  <a16:creationId xmlns:a16="http://schemas.microsoft.com/office/drawing/2014/main" id="{937FAD75-7F41-89B1-818C-066234704F72}"/>
                </a:ext>
              </a:extLst>
            </p:cNvPr>
            <p:cNvGrpSpPr/>
            <p:nvPr/>
          </p:nvGrpSpPr>
          <p:grpSpPr>
            <a:xfrm>
              <a:off x="7986152" y="1530581"/>
              <a:ext cx="1303346" cy="1198556"/>
              <a:chOff x="7982642" y="1180493"/>
              <a:chExt cx="1721987" cy="1583541"/>
            </a:xfrm>
          </p:grpSpPr>
          <p:sp>
            <p:nvSpPr>
              <p:cNvPr id="75" name="矩形 74">
                <a:extLst>
                  <a:ext uri="{FF2B5EF4-FFF2-40B4-BE49-F238E27FC236}">
                    <a16:creationId xmlns:a16="http://schemas.microsoft.com/office/drawing/2014/main" id="{0ED0886B-B08B-7680-B076-57FCE2FA0FAB}"/>
                  </a:ext>
                </a:extLst>
              </p:cNvPr>
              <p:cNvSpPr/>
              <p:nvPr/>
            </p:nvSpPr>
            <p:spPr>
              <a:xfrm>
                <a:off x="7982642" y="1566744"/>
                <a:ext cx="1197290" cy="11972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6" name="直接箭头连接符 75">
                <a:extLst>
                  <a:ext uri="{FF2B5EF4-FFF2-40B4-BE49-F238E27FC236}">
                    <a16:creationId xmlns:a16="http://schemas.microsoft.com/office/drawing/2014/main" id="{341C9297-BD2E-9A69-E831-6DA684938AB3}"/>
                  </a:ext>
                </a:extLst>
              </p:cNvPr>
              <p:cNvCxnSpPr/>
              <p:nvPr/>
            </p:nvCxnSpPr>
            <p:spPr>
              <a:xfrm flipV="1">
                <a:off x="7982642" y="1180493"/>
                <a:ext cx="0" cy="1583541"/>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EA6826DF-88B9-362E-0542-B417D55E9AE3}"/>
                  </a:ext>
                </a:extLst>
              </p:cNvPr>
              <p:cNvCxnSpPr>
                <a:cxnSpLocks/>
              </p:cNvCxnSpPr>
              <p:nvPr/>
            </p:nvCxnSpPr>
            <p:spPr>
              <a:xfrm>
                <a:off x="7982642" y="2764034"/>
                <a:ext cx="1721987" cy="0"/>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57" name="组合 56">
              <a:extLst>
                <a:ext uri="{FF2B5EF4-FFF2-40B4-BE49-F238E27FC236}">
                  <a16:creationId xmlns:a16="http://schemas.microsoft.com/office/drawing/2014/main" id="{15DD9175-1800-DF2F-AABE-5E54FAC8E119}"/>
                </a:ext>
              </a:extLst>
            </p:cNvPr>
            <p:cNvGrpSpPr/>
            <p:nvPr/>
          </p:nvGrpSpPr>
          <p:grpSpPr>
            <a:xfrm>
              <a:off x="10531092" y="1604490"/>
              <a:ext cx="1164110" cy="1158794"/>
              <a:chOff x="10630360" y="1493643"/>
              <a:chExt cx="1164110" cy="1158794"/>
            </a:xfrm>
          </p:grpSpPr>
          <p:sp>
            <p:nvSpPr>
              <p:cNvPr id="72" name="椭圆 71">
                <a:extLst>
                  <a:ext uri="{FF2B5EF4-FFF2-40B4-BE49-F238E27FC236}">
                    <a16:creationId xmlns:a16="http://schemas.microsoft.com/office/drawing/2014/main" id="{BFEFF76A-3572-0263-8A12-E31106562066}"/>
                  </a:ext>
                </a:extLst>
              </p:cNvPr>
              <p:cNvSpPr/>
              <p:nvPr/>
            </p:nvSpPr>
            <p:spPr>
              <a:xfrm>
                <a:off x="10636259" y="1727805"/>
                <a:ext cx="924632" cy="9246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73" name="直接箭头连接符 72">
                <a:extLst>
                  <a:ext uri="{FF2B5EF4-FFF2-40B4-BE49-F238E27FC236}">
                    <a16:creationId xmlns:a16="http://schemas.microsoft.com/office/drawing/2014/main" id="{4F2054CF-365A-CA54-A916-5947AA1D8F00}"/>
                  </a:ext>
                </a:extLst>
              </p:cNvPr>
              <p:cNvCxnSpPr>
                <a:cxnSpLocks/>
              </p:cNvCxnSpPr>
              <p:nvPr/>
            </p:nvCxnSpPr>
            <p:spPr>
              <a:xfrm flipH="1" flipV="1">
                <a:off x="10630360" y="1493643"/>
                <a:ext cx="1966" cy="1157388"/>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4" name="直接箭头连接符 73">
                <a:extLst>
                  <a:ext uri="{FF2B5EF4-FFF2-40B4-BE49-F238E27FC236}">
                    <a16:creationId xmlns:a16="http://schemas.microsoft.com/office/drawing/2014/main" id="{F9DCFB9E-5C95-429A-D87C-4293B81DD4D8}"/>
                  </a:ext>
                </a:extLst>
              </p:cNvPr>
              <p:cNvCxnSpPr>
                <a:cxnSpLocks/>
              </p:cNvCxnSpPr>
              <p:nvPr/>
            </p:nvCxnSpPr>
            <p:spPr>
              <a:xfrm flipV="1">
                <a:off x="10632326" y="2651031"/>
                <a:ext cx="1162144" cy="703"/>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58" name="文本框 57">
              <a:extLst>
                <a:ext uri="{FF2B5EF4-FFF2-40B4-BE49-F238E27FC236}">
                  <a16:creationId xmlns:a16="http://schemas.microsoft.com/office/drawing/2014/main" id="{C6233AA0-9F65-6DA7-4C74-8EFE23FA0980}"/>
                </a:ext>
              </a:extLst>
            </p:cNvPr>
            <p:cNvSpPr txBox="1"/>
            <p:nvPr/>
          </p:nvSpPr>
          <p:spPr>
            <a:xfrm>
              <a:off x="9107779" y="2672653"/>
              <a:ext cx="301686" cy="369332"/>
            </a:xfrm>
            <a:prstGeom prst="rect">
              <a:avLst/>
            </a:prstGeom>
            <a:noFill/>
          </p:spPr>
          <p:txBody>
            <a:bodyPr wrap="none" rtlCol="0">
              <a:spAutoFit/>
            </a:bodyPr>
            <a:lstStyle/>
            <a:p>
              <a:r>
                <a:rPr lang="en-US" altLang="zh-CN" dirty="0"/>
                <a:t>x</a:t>
              </a:r>
              <a:endParaRPr lang="zh-CN" altLang="en-US" dirty="0"/>
            </a:p>
          </p:txBody>
        </p:sp>
        <p:sp>
          <p:nvSpPr>
            <p:cNvPr id="59" name="文本框 58">
              <a:extLst>
                <a:ext uri="{FF2B5EF4-FFF2-40B4-BE49-F238E27FC236}">
                  <a16:creationId xmlns:a16="http://schemas.microsoft.com/office/drawing/2014/main" id="{E5307AE5-9310-3348-644E-4F65D5CF8CB6}"/>
                </a:ext>
              </a:extLst>
            </p:cNvPr>
            <p:cNvSpPr txBox="1"/>
            <p:nvPr/>
          </p:nvSpPr>
          <p:spPr>
            <a:xfrm>
              <a:off x="7747696" y="1292198"/>
              <a:ext cx="306494" cy="369332"/>
            </a:xfrm>
            <a:prstGeom prst="rect">
              <a:avLst/>
            </a:prstGeom>
            <a:noFill/>
          </p:spPr>
          <p:txBody>
            <a:bodyPr wrap="none" rtlCol="0">
              <a:spAutoFit/>
            </a:bodyPr>
            <a:lstStyle/>
            <a:p>
              <a:r>
                <a:rPr lang="en-US" altLang="zh-CN" dirty="0"/>
                <a:t>y</a:t>
              </a:r>
              <a:endParaRPr lang="zh-CN" altLang="en-US" dirty="0"/>
            </a:p>
          </p:txBody>
        </p:sp>
        <p:sp>
          <p:nvSpPr>
            <p:cNvPr id="60" name="文本框 59">
              <a:extLst>
                <a:ext uri="{FF2B5EF4-FFF2-40B4-BE49-F238E27FC236}">
                  <a16:creationId xmlns:a16="http://schemas.microsoft.com/office/drawing/2014/main" id="{5FA6F974-DED2-90BD-AAE9-32F2337F1FA0}"/>
                </a:ext>
              </a:extLst>
            </p:cNvPr>
            <p:cNvSpPr txBox="1"/>
            <p:nvPr/>
          </p:nvSpPr>
          <p:spPr>
            <a:xfrm>
              <a:off x="10531092" y="1387012"/>
              <a:ext cx="327334" cy="369332"/>
            </a:xfrm>
            <a:prstGeom prst="rect">
              <a:avLst/>
            </a:prstGeom>
            <a:noFill/>
          </p:spPr>
          <p:txBody>
            <a:bodyPr wrap="none" rtlCol="0">
              <a:spAutoFit/>
            </a:bodyPr>
            <a:lstStyle/>
            <a:p>
              <a:r>
                <a:rPr lang="en-US" altLang="zh-CN" dirty="0"/>
                <a:t>u</a:t>
              </a:r>
              <a:endParaRPr lang="zh-CN" altLang="en-US" dirty="0"/>
            </a:p>
          </p:txBody>
        </p:sp>
        <p:sp>
          <p:nvSpPr>
            <p:cNvPr id="61" name="矩形 60">
              <a:extLst>
                <a:ext uri="{FF2B5EF4-FFF2-40B4-BE49-F238E27FC236}">
                  <a16:creationId xmlns:a16="http://schemas.microsoft.com/office/drawing/2014/main" id="{1FD12026-EA12-0471-BD51-14AD4F6F9A83}"/>
                </a:ext>
              </a:extLst>
            </p:cNvPr>
            <p:cNvSpPr/>
            <p:nvPr/>
          </p:nvSpPr>
          <p:spPr>
            <a:xfrm>
              <a:off x="8297333" y="2164700"/>
              <a:ext cx="215900" cy="231367"/>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B2DE158F-24DB-00AE-94AF-0021D2DB9C3B}"/>
                </a:ext>
              </a:extLst>
            </p:cNvPr>
            <p:cNvSpPr txBox="1"/>
            <p:nvPr/>
          </p:nvSpPr>
          <p:spPr>
            <a:xfrm>
              <a:off x="11522058" y="2731192"/>
              <a:ext cx="306494" cy="369332"/>
            </a:xfrm>
            <a:prstGeom prst="rect">
              <a:avLst/>
            </a:prstGeom>
            <a:noFill/>
          </p:spPr>
          <p:txBody>
            <a:bodyPr wrap="none" rtlCol="0">
              <a:spAutoFit/>
            </a:bodyPr>
            <a:lstStyle/>
            <a:p>
              <a:r>
                <a:rPr lang="en-US" altLang="zh-CN" dirty="0"/>
                <a:t>v</a:t>
              </a:r>
              <a:endParaRPr lang="zh-CN" altLang="en-US" dirty="0"/>
            </a:p>
          </p:txBody>
        </p:sp>
        <p:cxnSp>
          <p:nvCxnSpPr>
            <p:cNvPr id="63" name="直接箭头连接符 62">
              <a:extLst>
                <a:ext uri="{FF2B5EF4-FFF2-40B4-BE49-F238E27FC236}">
                  <a16:creationId xmlns:a16="http://schemas.microsoft.com/office/drawing/2014/main" id="{33F68C66-4E6F-0CD9-4DE7-393E6EB4E64B}"/>
                </a:ext>
              </a:extLst>
            </p:cNvPr>
            <p:cNvCxnSpPr>
              <a:cxnSpLocks/>
            </p:cNvCxnSpPr>
            <p:nvPr/>
          </p:nvCxnSpPr>
          <p:spPr>
            <a:xfrm>
              <a:off x="8297333" y="2396067"/>
              <a:ext cx="2159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1EA5BC33-A8A5-EC0B-1EBC-DEACA4E93428}"/>
                </a:ext>
              </a:extLst>
            </p:cNvPr>
            <p:cNvCxnSpPr>
              <a:cxnSpLocks/>
            </p:cNvCxnSpPr>
            <p:nvPr/>
          </p:nvCxnSpPr>
          <p:spPr>
            <a:xfrm flipV="1">
              <a:off x="8297333" y="2171700"/>
              <a:ext cx="0" cy="22436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65" name="矩形 14">
              <a:extLst>
                <a:ext uri="{FF2B5EF4-FFF2-40B4-BE49-F238E27FC236}">
                  <a16:creationId xmlns:a16="http://schemas.microsoft.com/office/drawing/2014/main" id="{47F47ECA-44B0-8020-3977-D8031723DF12}"/>
                </a:ext>
              </a:extLst>
            </p:cNvPr>
            <p:cNvSpPr/>
            <p:nvPr/>
          </p:nvSpPr>
          <p:spPr>
            <a:xfrm>
              <a:off x="10757191" y="2337301"/>
              <a:ext cx="204788" cy="301215"/>
            </a:xfrm>
            <a:custGeom>
              <a:avLst/>
              <a:gdLst>
                <a:gd name="connsiteX0" fmla="*/ 0 w 215900"/>
                <a:gd name="connsiteY0" fmla="*/ 0 h 231367"/>
                <a:gd name="connsiteX1" fmla="*/ 215900 w 215900"/>
                <a:gd name="connsiteY1" fmla="*/ 0 h 231367"/>
                <a:gd name="connsiteX2" fmla="*/ 215900 w 215900"/>
                <a:gd name="connsiteY2" fmla="*/ 231367 h 231367"/>
                <a:gd name="connsiteX3" fmla="*/ 0 w 215900"/>
                <a:gd name="connsiteY3" fmla="*/ 231367 h 231367"/>
                <a:gd name="connsiteX4" fmla="*/ 0 w 215900"/>
                <a:gd name="connsiteY4" fmla="*/ 0 h 231367"/>
                <a:gd name="connsiteX0" fmla="*/ 50800 w 266700"/>
                <a:gd name="connsiteY0" fmla="*/ 0 h 231367"/>
                <a:gd name="connsiteX1" fmla="*/ 266700 w 266700"/>
                <a:gd name="connsiteY1" fmla="*/ 0 h 231367"/>
                <a:gd name="connsiteX2" fmla="*/ 266700 w 266700"/>
                <a:gd name="connsiteY2" fmla="*/ 231367 h 231367"/>
                <a:gd name="connsiteX3" fmla="*/ 0 w 266700"/>
                <a:gd name="connsiteY3" fmla="*/ 157283 h 231367"/>
                <a:gd name="connsiteX4" fmla="*/ 50800 w 266700"/>
                <a:gd name="connsiteY4" fmla="*/ 0 h 231367"/>
                <a:gd name="connsiteX0" fmla="*/ 50800 w 266700"/>
                <a:gd name="connsiteY0" fmla="*/ 0 h 231367"/>
                <a:gd name="connsiteX1" fmla="*/ 137584 w 266700"/>
                <a:gd name="connsiteY1" fmla="*/ 118534 h 231367"/>
                <a:gd name="connsiteX2" fmla="*/ 266700 w 266700"/>
                <a:gd name="connsiteY2" fmla="*/ 231367 h 231367"/>
                <a:gd name="connsiteX3" fmla="*/ 0 w 266700"/>
                <a:gd name="connsiteY3" fmla="*/ 157283 h 231367"/>
                <a:gd name="connsiteX4" fmla="*/ 50800 w 266700"/>
                <a:gd name="connsiteY4" fmla="*/ 0 h 231367"/>
                <a:gd name="connsiteX0" fmla="*/ 50800 w 137584"/>
                <a:gd name="connsiteY0" fmla="*/ 0 h 332967"/>
                <a:gd name="connsiteX1" fmla="*/ 137584 w 137584"/>
                <a:gd name="connsiteY1" fmla="*/ 118534 h 332967"/>
                <a:gd name="connsiteX2" fmla="*/ 80433 w 137584"/>
                <a:gd name="connsiteY2" fmla="*/ 332967 h 332967"/>
                <a:gd name="connsiteX3" fmla="*/ 0 w 137584"/>
                <a:gd name="connsiteY3" fmla="*/ 157283 h 332967"/>
                <a:gd name="connsiteX4" fmla="*/ 50800 w 137584"/>
                <a:gd name="connsiteY4" fmla="*/ 0 h 332967"/>
                <a:gd name="connsiteX0" fmla="*/ 50800 w 196851"/>
                <a:gd name="connsiteY0" fmla="*/ 0 h 332967"/>
                <a:gd name="connsiteX1" fmla="*/ 196851 w 196851"/>
                <a:gd name="connsiteY1" fmla="*/ 127000 h 332967"/>
                <a:gd name="connsiteX2" fmla="*/ 80433 w 196851"/>
                <a:gd name="connsiteY2" fmla="*/ 332967 h 332967"/>
                <a:gd name="connsiteX3" fmla="*/ 0 w 196851"/>
                <a:gd name="connsiteY3" fmla="*/ 157283 h 332967"/>
                <a:gd name="connsiteX4" fmla="*/ 50800 w 196851"/>
                <a:gd name="connsiteY4" fmla="*/ 0 h 332967"/>
                <a:gd name="connsiteX0" fmla="*/ 50800 w 196851"/>
                <a:gd name="connsiteY0" fmla="*/ 0 h 288517"/>
                <a:gd name="connsiteX1" fmla="*/ 196851 w 196851"/>
                <a:gd name="connsiteY1" fmla="*/ 127000 h 288517"/>
                <a:gd name="connsiteX2" fmla="*/ 152399 w 196851"/>
                <a:gd name="connsiteY2" fmla="*/ 288517 h 288517"/>
                <a:gd name="connsiteX3" fmla="*/ 0 w 196851"/>
                <a:gd name="connsiteY3" fmla="*/ 157283 h 288517"/>
                <a:gd name="connsiteX4" fmla="*/ 50800 w 196851"/>
                <a:gd name="connsiteY4" fmla="*/ 0 h 288517"/>
                <a:gd name="connsiteX0" fmla="*/ 50800 w 196851"/>
                <a:gd name="connsiteY0" fmla="*/ 0 h 286400"/>
                <a:gd name="connsiteX1" fmla="*/ 196851 w 196851"/>
                <a:gd name="connsiteY1" fmla="*/ 127000 h 286400"/>
                <a:gd name="connsiteX2" fmla="*/ 167216 w 196851"/>
                <a:gd name="connsiteY2" fmla="*/ 286400 h 286400"/>
                <a:gd name="connsiteX3" fmla="*/ 0 w 196851"/>
                <a:gd name="connsiteY3" fmla="*/ 157283 h 286400"/>
                <a:gd name="connsiteX4" fmla="*/ 50800 w 196851"/>
                <a:gd name="connsiteY4" fmla="*/ 0 h 286400"/>
                <a:gd name="connsiteX0" fmla="*/ 50800 w 196851"/>
                <a:gd name="connsiteY0" fmla="*/ 0 h 275816"/>
                <a:gd name="connsiteX1" fmla="*/ 196851 w 196851"/>
                <a:gd name="connsiteY1" fmla="*/ 127000 h 275816"/>
                <a:gd name="connsiteX2" fmla="*/ 152399 w 196851"/>
                <a:gd name="connsiteY2" fmla="*/ 275816 h 275816"/>
                <a:gd name="connsiteX3" fmla="*/ 0 w 196851"/>
                <a:gd name="connsiteY3" fmla="*/ 157283 h 275816"/>
                <a:gd name="connsiteX4" fmla="*/ 50800 w 196851"/>
                <a:gd name="connsiteY4" fmla="*/ 0 h 275816"/>
                <a:gd name="connsiteX0" fmla="*/ 50800 w 196851"/>
                <a:gd name="connsiteY0" fmla="*/ 0 h 275816"/>
                <a:gd name="connsiteX1" fmla="*/ 196851 w 196851"/>
                <a:gd name="connsiteY1" fmla="*/ 127000 h 275816"/>
                <a:gd name="connsiteX2" fmla="*/ 136524 w 196851"/>
                <a:gd name="connsiteY2" fmla="*/ 275816 h 275816"/>
                <a:gd name="connsiteX3" fmla="*/ 0 w 196851"/>
                <a:gd name="connsiteY3" fmla="*/ 157283 h 275816"/>
                <a:gd name="connsiteX4" fmla="*/ 50800 w 196851"/>
                <a:gd name="connsiteY4" fmla="*/ 0 h 275816"/>
                <a:gd name="connsiteX0" fmla="*/ 50800 w 196851"/>
                <a:gd name="connsiteY0" fmla="*/ 0 h 280578"/>
                <a:gd name="connsiteX1" fmla="*/ 196851 w 196851"/>
                <a:gd name="connsiteY1" fmla="*/ 127000 h 280578"/>
                <a:gd name="connsiteX2" fmla="*/ 144461 w 196851"/>
                <a:gd name="connsiteY2" fmla="*/ 280578 h 280578"/>
                <a:gd name="connsiteX3" fmla="*/ 0 w 196851"/>
                <a:gd name="connsiteY3" fmla="*/ 157283 h 280578"/>
                <a:gd name="connsiteX4" fmla="*/ 50800 w 196851"/>
                <a:gd name="connsiteY4" fmla="*/ 0 h 280578"/>
                <a:gd name="connsiteX0" fmla="*/ 50800 w 196851"/>
                <a:gd name="connsiteY0" fmla="*/ 0 h 277403"/>
                <a:gd name="connsiteX1" fmla="*/ 196851 w 196851"/>
                <a:gd name="connsiteY1" fmla="*/ 127000 h 277403"/>
                <a:gd name="connsiteX2" fmla="*/ 134936 w 196851"/>
                <a:gd name="connsiteY2" fmla="*/ 277403 h 277403"/>
                <a:gd name="connsiteX3" fmla="*/ 0 w 196851"/>
                <a:gd name="connsiteY3" fmla="*/ 157283 h 277403"/>
                <a:gd name="connsiteX4" fmla="*/ 50800 w 196851"/>
                <a:gd name="connsiteY4" fmla="*/ 0 h 277403"/>
                <a:gd name="connsiteX0" fmla="*/ 55562 w 201613"/>
                <a:gd name="connsiteY0" fmla="*/ 0 h 277403"/>
                <a:gd name="connsiteX1" fmla="*/ 201613 w 201613"/>
                <a:gd name="connsiteY1" fmla="*/ 127000 h 277403"/>
                <a:gd name="connsiteX2" fmla="*/ 139698 w 201613"/>
                <a:gd name="connsiteY2" fmla="*/ 277403 h 277403"/>
                <a:gd name="connsiteX3" fmla="*/ 0 w 201613"/>
                <a:gd name="connsiteY3" fmla="*/ 168396 h 277403"/>
                <a:gd name="connsiteX4" fmla="*/ 55562 w 201613"/>
                <a:gd name="connsiteY4" fmla="*/ 0 h 277403"/>
                <a:gd name="connsiteX0" fmla="*/ 58737 w 204788"/>
                <a:gd name="connsiteY0" fmla="*/ 0 h 277403"/>
                <a:gd name="connsiteX1" fmla="*/ 204788 w 204788"/>
                <a:gd name="connsiteY1" fmla="*/ 127000 h 277403"/>
                <a:gd name="connsiteX2" fmla="*/ 142873 w 204788"/>
                <a:gd name="connsiteY2" fmla="*/ 277403 h 277403"/>
                <a:gd name="connsiteX3" fmla="*/ 0 w 204788"/>
                <a:gd name="connsiteY3" fmla="*/ 176334 h 277403"/>
                <a:gd name="connsiteX4" fmla="*/ 58737 w 204788"/>
                <a:gd name="connsiteY4" fmla="*/ 0 h 277403"/>
                <a:gd name="connsiteX0" fmla="*/ 58737 w 204788"/>
                <a:gd name="connsiteY0" fmla="*/ 0 h 301215"/>
                <a:gd name="connsiteX1" fmla="*/ 204788 w 204788"/>
                <a:gd name="connsiteY1" fmla="*/ 127000 h 301215"/>
                <a:gd name="connsiteX2" fmla="*/ 141285 w 204788"/>
                <a:gd name="connsiteY2" fmla="*/ 301215 h 301215"/>
                <a:gd name="connsiteX3" fmla="*/ 0 w 204788"/>
                <a:gd name="connsiteY3" fmla="*/ 176334 h 301215"/>
                <a:gd name="connsiteX4" fmla="*/ 58737 w 204788"/>
                <a:gd name="connsiteY4" fmla="*/ 0 h 3012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88" h="301215">
                  <a:moveTo>
                    <a:pt x="58737" y="0"/>
                  </a:moveTo>
                  <a:lnTo>
                    <a:pt x="204788" y="127000"/>
                  </a:lnTo>
                  <a:lnTo>
                    <a:pt x="141285" y="301215"/>
                  </a:lnTo>
                  <a:lnTo>
                    <a:pt x="0" y="176334"/>
                  </a:lnTo>
                  <a:lnTo>
                    <a:pt x="58737" y="0"/>
                  </a:lnTo>
                  <a:close/>
                </a:path>
              </a:pathLst>
            </a:cu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66" name="直接箭头连接符 65">
              <a:extLst>
                <a:ext uri="{FF2B5EF4-FFF2-40B4-BE49-F238E27FC236}">
                  <a16:creationId xmlns:a16="http://schemas.microsoft.com/office/drawing/2014/main" id="{B078E614-409F-0A45-A725-F3F8C3945359}"/>
                </a:ext>
              </a:extLst>
            </p:cNvPr>
            <p:cNvCxnSpPr>
              <a:cxnSpLocks/>
            </p:cNvCxnSpPr>
            <p:nvPr/>
          </p:nvCxnSpPr>
          <p:spPr>
            <a:xfrm>
              <a:off x="10815928" y="2337302"/>
              <a:ext cx="144172" cy="1285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箭头连接符 66">
              <a:extLst>
                <a:ext uri="{FF2B5EF4-FFF2-40B4-BE49-F238E27FC236}">
                  <a16:creationId xmlns:a16="http://schemas.microsoft.com/office/drawing/2014/main" id="{5176AE03-F888-9F6F-FC55-5DA2AC667B1F}"/>
                </a:ext>
              </a:extLst>
            </p:cNvPr>
            <p:cNvCxnSpPr>
              <a:cxnSpLocks/>
            </p:cNvCxnSpPr>
            <p:nvPr/>
          </p:nvCxnSpPr>
          <p:spPr>
            <a:xfrm flipH="1">
              <a:off x="10756735" y="2337302"/>
              <a:ext cx="59193" cy="17356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8" name="文本框 67">
                  <a:extLst>
                    <a:ext uri="{FF2B5EF4-FFF2-40B4-BE49-F238E27FC236}">
                      <a16:creationId xmlns:a16="http://schemas.microsoft.com/office/drawing/2014/main" id="{B2C59826-145C-731B-79E0-8AEE090DE5D6}"/>
                    </a:ext>
                  </a:extLst>
                </p:cNvPr>
                <p:cNvSpPr txBox="1"/>
                <p:nvPr/>
              </p:nvSpPr>
              <p:spPr>
                <a:xfrm>
                  <a:off x="8297333" y="2400833"/>
                  <a:ext cx="387734"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100" i="1" dirty="0" smtClean="0">
                            <a:latin typeface="Cambria Math" panose="02040503050406030204" pitchFamily="18" charset="0"/>
                          </a:rPr>
                          <m:t>𝑑𝑥</m:t>
                        </m:r>
                      </m:oMath>
                    </m:oMathPara>
                  </a14:m>
                  <a:endParaRPr lang="zh-CN" altLang="en-US" sz="1100" dirty="0"/>
                </a:p>
              </p:txBody>
            </p:sp>
          </mc:Choice>
          <mc:Fallback xmlns="">
            <p:sp>
              <p:nvSpPr>
                <p:cNvPr id="68" name="文本框 67">
                  <a:extLst>
                    <a:ext uri="{FF2B5EF4-FFF2-40B4-BE49-F238E27FC236}">
                      <a16:creationId xmlns:a16="http://schemas.microsoft.com/office/drawing/2014/main" id="{B2C59826-145C-731B-79E0-8AEE090DE5D6}"/>
                    </a:ext>
                  </a:extLst>
                </p:cNvPr>
                <p:cNvSpPr txBox="1">
                  <a:spLocks noRot="1" noChangeAspect="1" noMove="1" noResize="1" noEditPoints="1" noAdjustHandles="1" noChangeArrowheads="1" noChangeShapeType="1" noTextEdit="1"/>
                </p:cNvSpPr>
                <p:nvPr/>
              </p:nvSpPr>
              <p:spPr>
                <a:xfrm>
                  <a:off x="8297333" y="2400833"/>
                  <a:ext cx="387734" cy="261610"/>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9" name="文本框 68">
                  <a:extLst>
                    <a:ext uri="{FF2B5EF4-FFF2-40B4-BE49-F238E27FC236}">
                      <a16:creationId xmlns:a16="http://schemas.microsoft.com/office/drawing/2014/main" id="{57448163-2552-865C-9908-12A8B8A1846C}"/>
                    </a:ext>
                  </a:extLst>
                </p:cNvPr>
                <p:cNvSpPr txBox="1"/>
                <p:nvPr/>
              </p:nvSpPr>
              <p:spPr>
                <a:xfrm>
                  <a:off x="7975125" y="2080755"/>
                  <a:ext cx="38908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100" i="1" dirty="0" smtClean="0">
                            <a:solidFill>
                              <a:schemeClr val="bg1"/>
                            </a:solidFill>
                            <a:latin typeface="Cambria Math" panose="02040503050406030204" pitchFamily="18" charset="0"/>
                          </a:rPr>
                          <m:t>𝑑𝑦</m:t>
                        </m:r>
                      </m:oMath>
                    </m:oMathPara>
                  </a14:m>
                  <a:endParaRPr lang="zh-CN" altLang="en-US" sz="1100" dirty="0">
                    <a:solidFill>
                      <a:schemeClr val="bg1"/>
                    </a:solidFill>
                  </a:endParaRPr>
                </a:p>
              </p:txBody>
            </p:sp>
          </mc:Choice>
          <mc:Fallback xmlns="">
            <p:sp>
              <p:nvSpPr>
                <p:cNvPr id="69" name="文本框 68">
                  <a:extLst>
                    <a:ext uri="{FF2B5EF4-FFF2-40B4-BE49-F238E27FC236}">
                      <a16:creationId xmlns:a16="http://schemas.microsoft.com/office/drawing/2014/main" id="{57448163-2552-865C-9908-12A8B8A1846C}"/>
                    </a:ext>
                  </a:extLst>
                </p:cNvPr>
                <p:cNvSpPr txBox="1">
                  <a:spLocks noRot="1" noChangeAspect="1" noMove="1" noResize="1" noEditPoints="1" noAdjustHandles="1" noChangeArrowheads="1" noChangeShapeType="1" noTextEdit="1"/>
                </p:cNvSpPr>
                <p:nvPr/>
              </p:nvSpPr>
              <p:spPr>
                <a:xfrm>
                  <a:off x="7975125" y="2080755"/>
                  <a:ext cx="389081" cy="261610"/>
                </a:xfrm>
                <a:prstGeom prst="rect">
                  <a:avLst/>
                </a:prstGeom>
                <a:blipFill>
                  <a:blip r:embed="rId7"/>
                  <a:stretch>
                    <a:fillRect b="-69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D071D183-D1E3-F03F-8DF7-C881A098E180}"/>
                    </a:ext>
                  </a:extLst>
                </p:cNvPr>
                <p:cNvSpPr txBox="1"/>
                <p:nvPr/>
              </p:nvSpPr>
              <p:spPr>
                <a:xfrm>
                  <a:off x="10795562" y="2169460"/>
                  <a:ext cx="391839"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100" i="1" dirty="0" smtClean="0">
                            <a:latin typeface="Cambria Math" panose="02040503050406030204" pitchFamily="18" charset="0"/>
                          </a:rPr>
                          <m:t>𝑑</m:t>
                        </m:r>
                        <m:r>
                          <a:rPr lang="en-US" altLang="zh-CN" sz="1100" b="0" i="1" dirty="0" smtClean="0">
                            <a:latin typeface="Cambria Math" panose="02040503050406030204" pitchFamily="18" charset="0"/>
                          </a:rPr>
                          <m:t>𝑢</m:t>
                        </m:r>
                      </m:oMath>
                    </m:oMathPara>
                  </a14:m>
                  <a:endParaRPr lang="zh-CN" altLang="en-US" sz="1100" dirty="0"/>
                </a:p>
              </p:txBody>
            </p:sp>
          </mc:Choice>
          <mc:Fallback xmlns="">
            <p:sp>
              <p:nvSpPr>
                <p:cNvPr id="70" name="文本框 69">
                  <a:extLst>
                    <a:ext uri="{FF2B5EF4-FFF2-40B4-BE49-F238E27FC236}">
                      <a16:creationId xmlns:a16="http://schemas.microsoft.com/office/drawing/2014/main" id="{D071D183-D1E3-F03F-8DF7-C881A098E180}"/>
                    </a:ext>
                  </a:extLst>
                </p:cNvPr>
                <p:cNvSpPr txBox="1">
                  <a:spLocks noRot="1" noChangeAspect="1" noMove="1" noResize="1" noEditPoints="1" noAdjustHandles="1" noChangeArrowheads="1" noChangeShapeType="1" noTextEdit="1"/>
                </p:cNvSpPr>
                <p:nvPr/>
              </p:nvSpPr>
              <p:spPr>
                <a:xfrm>
                  <a:off x="10795562" y="2169460"/>
                  <a:ext cx="391839" cy="261610"/>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1" name="文本框 70">
                  <a:extLst>
                    <a:ext uri="{FF2B5EF4-FFF2-40B4-BE49-F238E27FC236}">
                      <a16:creationId xmlns:a16="http://schemas.microsoft.com/office/drawing/2014/main" id="{6FB8C566-D7FE-92F3-900E-5F5AA59158B4}"/>
                    </a:ext>
                  </a:extLst>
                </p:cNvPr>
                <p:cNvSpPr txBox="1"/>
                <p:nvPr/>
              </p:nvSpPr>
              <p:spPr>
                <a:xfrm>
                  <a:off x="10501119" y="2240228"/>
                  <a:ext cx="276971"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100" i="1" dirty="0" smtClean="0">
                            <a:solidFill>
                              <a:schemeClr val="bg1"/>
                            </a:solidFill>
                            <a:latin typeface="Cambria Math" panose="02040503050406030204" pitchFamily="18" charset="0"/>
                          </a:rPr>
                          <m:t>𝑑𝑣</m:t>
                        </m:r>
                      </m:oMath>
                    </m:oMathPara>
                  </a14:m>
                  <a:endParaRPr lang="zh-CN" altLang="en-US" sz="1100" dirty="0">
                    <a:solidFill>
                      <a:schemeClr val="bg1"/>
                    </a:solidFill>
                  </a:endParaRPr>
                </a:p>
              </p:txBody>
            </p:sp>
          </mc:Choice>
          <mc:Fallback xmlns="">
            <p:sp>
              <p:nvSpPr>
                <p:cNvPr id="71" name="文本框 70">
                  <a:extLst>
                    <a:ext uri="{FF2B5EF4-FFF2-40B4-BE49-F238E27FC236}">
                      <a16:creationId xmlns:a16="http://schemas.microsoft.com/office/drawing/2014/main" id="{6FB8C566-D7FE-92F3-900E-5F5AA59158B4}"/>
                    </a:ext>
                  </a:extLst>
                </p:cNvPr>
                <p:cNvSpPr txBox="1">
                  <a:spLocks noRot="1" noChangeAspect="1" noMove="1" noResize="1" noEditPoints="1" noAdjustHandles="1" noChangeArrowheads="1" noChangeShapeType="1" noTextEdit="1"/>
                </p:cNvSpPr>
                <p:nvPr/>
              </p:nvSpPr>
              <p:spPr>
                <a:xfrm>
                  <a:off x="10501119" y="2240228"/>
                  <a:ext cx="276971" cy="261610"/>
                </a:xfrm>
                <a:prstGeom prst="rect">
                  <a:avLst/>
                </a:prstGeom>
                <a:blipFill>
                  <a:blip r:embed="rId9"/>
                  <a:stretch>
                    <a:fillRect r="-8889"/>
                  </a:stretch>
                </a:blipFill>
              </p:spPr>
              <p:txBody>
                <a:bodyPr/>
                <a:lstStyle/>
                <a:p>
                  <a:r>
                    <a:rPr lang="zh-CN" altLang="en-US">
                      <a:noFill/>
                    </a:rPr>
                    <a:t> </a:t>
                  </a:r>
                </a:p>
              </p:txBody>
            </p:sp>
          </mc:Fallback>
        </mc:AlternateContent>
      </p:grpSp>
      <p:grpSp>
        <p:nvGrpSpPr>
          <p:cNvPr id="2" name="组合 1">
            <a:extLst>
              <a:ext uri="{FF2B5EF4-FFF2-40B4-BE49-F238E27FC236}">
                <a16:creationId xmlns:a16="http://schemas.microsoft.com/office/drawing/2014/main" id="{94D9956C-172A-AA04-D150-16F5593D3F7B}"/>
              </a:ext>
            </a:extLst>
          </p:cNvPr>
          <p:cNvGrpSpPr/>
          <p:nvPr/>
        </p:nvGrpSpPr>
        <p:grpSpPr>
          <a:xfrm>
            <a:off x="8079867" y="3831970"/>
            <a:ext cx="3648090" cy="2298993"/>
            <a:chOff x="8079867" y="3831970"/>
            <a:chExt cx="3648090" cy="2298993"/>
          </a:xfrm>
        </p:grpSpPr>
        <p:sp>
          <p:nvSpPr>
            <p:cNvPr id="3" name="矩形 2">
              <a:extLst>
                <a:ext uri="{FF2B5EF4-FFF2-40B4-BE49-F238E27FC236}">
                  <a16:creationId xmlns:a16="http://schemas.microsoft.com/office/drawing/2014/main" id="{7D4459D7-262F-8AB0-AD5B-76CE5B529EE3}"/>
                </a:ext>
              </a:extLst>
            </p:cNvPr>
            <p:cNvSpPr/>
            <p:nvPr/>
          </p:nvSpPr>
          <p:spPr>
            <a:xfrm>
              <a:off x="8079867" y="5766397"/>
              <a:ext cx="3331290" cy="4705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箭头连接符 3">
              <a:extLst>
                <a:ext uri="{FF2B5EF4-FFF2-40B4-BE49-F238E27FC236}">
                  <a16:creationId xmlns:a16="http://schemas.microsoft.com/office/drawing/2014/main" id="{96F9FC51-8507-94BE-B56E-697E6B9C2673}"/>
                </a:ext>
              </a:extLst>
            </p:cNvPr>
            <p:cNvCxnSpPr>
              <a:cxnSpLocks/>
            </p:cNvCxnSpPr>
            <p:nvPr/>
          </p:nvCxnSpPr>
          <p:spPr>
            <a:xfrm flipV="1">
              <a:off x="9741384" y="4706193"/>
              <a:ext cx="1257923" cy="1060203"/>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a:extLst>
                <a:ext uri="{FF2B5EF4-FFF2-40B4-BE49-F238E27FC236}">
                  <a16:creationId xmlns:a16="http://schemas.microsoft.com/office/drawing/2014/main" id="{C160E9B7-AA99-B854-4A74-E89FF3252DFB}"/>
                </a:ext>
              </a:extLst>
            </p:cNvPr>
            <p:cNvCxnSpPr>
              <a:cxnSpLocks/>
            </p:cNvCxnSpPr>
            <p:nvPr/>
          </p:nvCxnSpPr>
          <p:spPr>
            <a:xfrm flipH="1" flipV="1">
              <a:off x="8561540" y="4722832"/>
              <a:ext cx="1175716" cy="1038799"/>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90C8F373-7039-24CA-F084-46548D9F03DF}"/>
                    </a:ext>
                  </a:extLst>
                </p:cNvPr>
                <p:cNvSpPr txBox="1"/>
                <p:nvPr/>
              </p:nvSpPr>
              <p:spPr>
                <a:xfrm>
                  <a:off x="10876279" y="4613180"/>
                  <a:ext cx="630869" cy="3702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b="1" i="1" smtClean="0">
                                <a:solidFill>
                                  <a:srgbClr val="00B0F0"/>
                                </a:solidFill>
                                <a:latin typeface="Cambria Math" panose="02040503050406030204" pitchFamily="18" charset="0"/>
                              </a:rPr>
                            </m:ctrlPr>
                          </m:sSupPr>
                          <m:e>
                            <m:r>
                              <a:rPr lang="en-US" altLang="zh-CN" b="1" i="1" smtClean="0">
                                <a:solidFill>
                                  <a:srgbClr val="00B0F0"/>
                                </a:solidFill>
                                <a:latin typeface="Cambria Math" panose="02040503050406030204" pitchFamily="18" charset="0"/>
                              </a:rPr>
                              <m:t>𝒗</m:t>
                            </m:r>
                          </m:e>
                          <m:sup>
                            <m:r>
                              <a:rPr lang="en-US" altLang="zh-CN" b="1" i="1">
                                <a:solidFill>
                                  <a:srgbClr val="00B0F0"/>
                                </a:solidFill>
                                <a:latin typeface="Cambria Math" panose="02040503050406030204" pitchFamily="18" charset="0"/>
                              </a:rPr>
                              <m:t>′</m:t>
                            </m:r>
                          </m:sup>
                        </m:sSup>
                      </m:oMath>
                    </m:oMathPara>
                  </a14:m>
                  <a:endParaRPr lang="zh-CN" altLang="en-US" b="1" dirty="0">
                    <a:solidFill>
                      <a:srgbClr val="00B0F0"/>
                    </a:solidFill>
                  </a:endParaRPr>
                </a:p>
              </p:txBody>
            </p:sp>
          </mc:Choice>
          <mc:Fallback xmlns="">
            <p:sp>
              <p:nvSpPr>
                <p:cNvPr id="10" name="文本框 9">
                  <a:extLst>
                    <a:ext uri="{FF2B5EF4-FFF2-40B4-BE49-F238E27FC236}">
                      <a16:creationId xmlns:a16="http://schemas.microsoft.com/office/drawing/2014/main" id="{90C8F373-7039-24CA-F084-46548D9F03DF}"/>
                    </a:ext>
                  </a:extLst>
                </p:cNvPr>
                <p:cNvSpPr txBox="1">
                  <a:spLocks noRot="1" noChangeAspect="1" noMove="1" noResize="1" noEditPoints="1" noAdjustHandles="1" noChangeArrowheads="1" noChangeShapeType="1" noTextEdit="1"/>
                </p:cNvSpPr>
                <p:nvPr/>
              </p:nvSpPr>
              <p:spPr>
                <a:xfrm>
                  <a:off x="10876279" y="4613180"/>
                  <a:ext cx="630869" cy="370294"/>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F59981A-7DFB-9771-6406-11BCE76B7E8C}"/>
                    </a:ext>
                  </a:extLst>
                </p:cNvPr>
                <p:cNvSpPr txBox="1"/>
                <p:nvPr/>
              </p:nvSpPr>
              <p:spPr>
                <a:xfrm>
                  <a:off x="8117498" y="4687577"/>
                  <a:ext cx="630869" cy="3702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4">
                                <a:lumMod val="75000"/>
                              </a:schemeClr>
                            </a:solidFill>
                            <a:latin typeface="Cambria Math" panose="02040503050406030204" pitchFamily="18" charset="0"/>
                          </a:rPr>
                          <m:t>𝒗</m:t>
                        </m:r>
                      </m:oMath>
                    </m:oMathPara>
                  </a14:m>
                  <a:endParaRPr lang="zh-CN" altLang="en-US" b="1" dirty="0">
                    <a:solidFill>
                      <a:schemeClr val="accent4">
                        <a:lumMod val="75000"/>
                      </a:schemeClr>
                    </a:solidFill>
                  </a:endParaRPr>
                </a:p>
              </p:txBody>
            </p:sp>
          </mc:Choice>
          <mc:Fallback xmlns="">
            <p:sp>
              <p:nvSpPr>
                <p:cNvPr id="11" name="文本框 10">
                  <a:extLst>
                    <a:ext uri="{FF2B5EF4-FFF2-40B4-BE49-F238E27FC236}">
                      <a16:creationId xmlns:a16="http://schemas.microsoft.com/office/drawing/2014/main" id="{2F59981A-7DFB-9771-6406-11BCE76B7E8C}"/>
                    </a:ext>
                  </a:extLst>
                </p:cNvPr>
                <p:cNvSpPr txBox="1">
                  <a:spLocks noRot="1" noChangeAspect="1" noMove="1" noResize="1" noEditPoints="1" noAdjustHandles="1" noChangeArrowheads="1" noChangeShapeType="1" noTextEdit="1"/>
                </p:cNvSpPr>
                <p:nvPr/>
              </p:nvSpPr>
              <p:spPr>
                <a:xfrm>
                  <a:off x="8117498" y="4687577"/>
                  <a:ext cx="630869" cy="370294"/>
                </a:xfrm>
                <a:prstGeom prst="rect">
                  <a:avLst/>
                </a:prstGeom>
                <a:blipFill>
                  <a:blip r:embed="rId11"/>
                  <a:stretch>
                    <a:fillRect/>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DFB9E865-D85A-1F0F-7CEC-776BA799DCCD}"/>
                </a:ext>
              </a:extLst>
            </p:cNvPr>
            <p:cNvSpPr/>
            <p:nvPr/>
          </p:nvSpPr>
          <p:spPr>
            <a:xfrm>
              <a:off x="9719797" y="4089400"/>
              <a:ext cx="51430" cy="1724053"/>
            </a:xfrm>
            <a:prstGeom prst="rect">
              <a:avLst/>
            </a:prstGeom>
            <a:solidFill>
              <a:schemeClr val="bg2">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a:extLst>
                <a:ext uri="{FF2B5EF4-FFF2-40B4-BE49-F238E27FC236}">
                  <a16:creationId xmlns:a16="http://schemas.microsoft.com/office/drawing/2014/main" id="{36D42FE7-2152-6282-D979-3CE47C071301}"/>
                </a:ext>
              </a:extLst>
            </p:cNvPr>
            <p:cNvCxnSpPr/>
            <p:nvPr/>
          </p:nvCxnSpPr>
          <p:spPr>
            <a:xfrm>
              <a:off x="11019545" y="5784738"/>
              <a:ext cx="48760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E33D0A5E-0F91-72E8-717E-9E6A3132DB00}"/>
                    </a:ext>
                  </a:extLst>
                </p:cNvPr>
                <p:cNvSpPr txBox="1"/>
                <p:nvPr/>
              </p:nvSpPr>
              <p:spPr>
                <a:xfrm>
                  <a:off x="8915355" y="3831970"/>
                  <a:ext cx="9882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lumMod val="50000"/>
                                <a:lumOff val="50000"/>
                              </a:schemeClr>
                            </a:solidFill>
                            <a:latin typeface="Cambria Math" panose="02040503050406030204" pitchFamily="18" charset="0"/>
                          </a:rPr>
                          <m:t>𝑧</m:t>
                        </m:r>
                        <m:r>
                          <a:rPr lang="en-US" altLang="zh-CN" sz="1800" b="0" i="1" smtClean="0">
                            <a:solidFill>
                              <a:schemeClr val="tx1">
                                <a:lumMod val="50000"/>
                                <a:lumOff val="50000"/>
                              </a:schemeClr>
                            </a:solidFill>
                            <a:latin typeface="Cambria Math" panose="02040503050406030204" pitchFamily="18" charset="0"/>
                          </a:rPr>
                          <m:t>=</m:t>
                        </m:r>
                        <m:r>
                          <a:rPr lang="en-US" altLang="zh-CN" sz="1800" b="0" i="1" smtClean="0">
                            <a:solidFill>
                              <a:schemeClr val="tx1">
                                <a:lumMod val="50000"/>
                                <a:lumOff val="50000"/>
                              </a:schemeClr>
                            </a:solidFill>
                            <a:latin typeface="Cambria Math" panose="02040503050406030204" pitchFamily="18" charset="0"/>
                          </a:rPr>
                          <m:t>0</m:t>
                        </m:r>
                      </m:oMath>
                    </m:oMathPara>
                  </a14:m>
                  <a:endParaRPr lang="zh-CN" altLang="en-US" dirty="0">
                    <a:solidFill>
                      <a:schemeClr val="tx1">
                        <a:lumMod val="50000"/>
                        <a:lumOff val="50000"/>
                      </a:schemeClr>
                    </a:solidFill>
                  </a:endParaRPr>
                </a:p>
              </p:txBody>
            </p:sp>
          </mc:Choice>
          <mc:Fallback xmlns="">
            <p:sp>
              <p:nvSpPr>
                <p:cNvPr id="15" name="文本框 14">
                  <a:extLst>
                    <a:ext uri="{FF2B5EF4-FFF2-40B4-BE49-F238E27FC236}">
                      <a16:creationId xmlns:a16="http://schemas.microsoft.com/office/drawing/2014/main" id="{E33D0A5E-0F91-72E8-717E-9E6A3132DB00}"/>
                    </a:ext>
                  </a:extLst>
                </p:cNvPr>
                <p:cNvSpPr txBox="1">
                  <a:spLocks noRot="1" noChangeAspect="1" noMove="1" noResize="1" noEditPoints="1" noAdjustHandles="1" noChangeArrowheads="1" noChangeShapeType="1" noTextEdit="1"/>
                </p:cNvSpPr>
                <p:nvPr/>
              </p:nvSpPr>
              <p:spPr>
                <a:xfrm>
                  <a:off x="8915355" y="3831970"/>
                  <a:ext cx="988220"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C6BD3BF6-DB94-E28C-BF61-2463F3A497FD}"/>
                    </a:ext>
                  </a:extLst>
                </p:cNvPr>
                <p:cNvSpPr txBox="1"/>
                <p:nvPr/>
              </p:nvSpPr>
              <p:spPr>
                <a:xfrm>
                  <a:off x="11097088" y="5761631"/>
                  <a:ext cx="63086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𝑧</m:t>
                        </m:r>
                      </m:oMath>
                    </m:oMathPara>
                  </a14:m>
                  <a:endParaRPr lang="zh-CN" altLang="en-US" dirty="0">
                    <a:solidFill>
                      <a:schemeClr val="accent4">
                        <a:lumMod val="75000"/>
                      </a:schemeClr>
                    </a:solidFill>
                  </a:endParaRPr>
                </a:p>
              </p:txBody>
            </p:sp>
          </mc:Choice>
          <mc:Fallback xmlns="">
            <p:sp>
              <p:nvSpPr>
                <p:cNvPr id="40" name="文本框 39">
                  <a:extLst>
                    <a:ext uri="{FF2B5EF4-FFF2-40B4-BE49-F238E27FC236}">
                      <a16:creationId xmlns:a16="http://schemas.microsoft.com/office/drawing/2014/main" id="{88FB4FCA-D779-93F8-4C9C-41B963F0BE5E}"/>
                    </a:ext>
                  </a:extLst>
                </p:cNvPr>
                <p:cNvSpPr txBox="1">
                  <a:spLocks noRot="1" noChangeAspect="1" noMove="1" noResize="1" noEditPoints="1" noAdjustHandles="1" noChangeArrowheads="1" noChangeShapeType="1" noTextEdit="1"/>
                </p:cNvSpPr>
                <p:nvPr/>
              </p:nvSpPr>
              <p:spPr>
                <a:xfrm>
                  <a:off x="11097088" y="5761631"/>
                  <a:ext cx="630869" cy="369332"/>
                </a:xfrm>
                <a:prstGeom prst="rect">
                  <a:avLst/>
                </a:prstGeom>
                <a:blipFill>
                  <a:blip r:embed="rId13"/>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72396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CD0AF5-51AB-95FC-EE09-DD5891F499D8}"/>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799B806B-09F4-48AA-5A2B-EDC161E2B407}"/>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雅可比矩阵行列式的绝对值</a:t>
            </a:r>
            <a:endParaRPr lang="en-US" altLang="zh-CN" dirty="0"/>
          </a:p>
        </p:txBody>
      </p:sp>
      <p:sp>
        <p:nvSpPr>
          <p:cNvPr id="5" name="矩形 4">
            <a:extLst>
              <a:ext uri="{FF2B5EF4-FFF2-40B4-BE49-F238E27FC236}">
                <a16:creationId xmlns:a16="http://schemas.microsoft.com/office/drawing/2014/main" id="{08698F81-3005-4681-6FAD-BF08A59CAF05}"/>
              </a:ext>
            </a:extLst>
          </p:cNvPr>
          <p:cNvSpPr/>
          <p:nvPr/>
        </p:nvSpPr>
        <p:spPr>
          <a:xfrm>
            <a:off x="631109" y="1315233"/>
            <a:ext cx="6816453"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7F0161D-7BA6-B652-D75B-69E5A6A0517D}"/>
                  </a:ext>
                </a:extLst>
              </p:cNvPr>
              <p:cNvSpPr/>
              <p:nvPr/>
            </p:nvSpPr>
            <p:spPr>
              <a:xfrm>
                <a:off x="478709" y="1144044"/>
                <a:ext cx="6816453"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1600" i="1" dirty="0" smtClean="0">
                              <a:solidFill>
                                <a:schemeClr val="tx1"/>
                              </a:solidFill>
                              <a:latin typeface="Cambria Math" panose="02040503050406030204" pitchFamily="18" charset="0"/>
                            </a:rPr>
                          </m:ctrlPr>
                        </m:dPr>
                        <m:e>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det</m:t>
                              </m:r>
                            </m:fName>
                            <m:e>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num>
                                    <m:den>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𝑖</m:t>
                                          </m:r>
                                        </m:sub>
                                      </m:sSub>
                                    </m:den>
                                  </m:f>
                                  <m:r>
                                    <a:rPr lang="en-US" altLang="zh-CN" sz="1600" i="1" dirty="0">
                                      <a:solidFill>
                                        <a:schemeClr val="tx1"/>
                                      </a:solidFill>
                                      <a:latin typeface="Cambria Math" panose="02040503050406030204" pitchFamily="18" charset="0"/>
                                    </a:rPr>
                                    <m:t> </m:t>
                                  </m:r>
                                </m:e>
                              </m:d>
                            </m:e>
                          </m:func>
                        </m:e>
                      </m:d>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𝑚</m:t>
                                  </m:r>
                                </m:sub>
                              </m:sSub>
                            </m:e>
                          </m:func>
                        </m:num>
                        <m:den>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𝑖</m:t>
                                  </m:r>
                                </m:sub>
                              </m:sSub>
                            </m:e>
                          </m:func>
                        </m:den>
                      </m:f>
                      <m:d>
                        <m:dPr>
                          <m:begChr m:val="|"/>
                          <m:endChr m:val="|"/>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𝑚</m:t>
                                  </m:r>
                                </m:sub>
                              </m:sSub>
                            </m:num>
                            <m:den>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𝑖</m:t>
                                  </m:r>
                                </m:sub>
                              </m:sSub>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𝑚</m:t>
                                  </m:r>
                                </m:sub>
                              </m:sSub>
                            </m:num>
                            <m:den>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𝑖</m:t>
                                  </m:r>
                                </m:sub>
                              </m:sSub>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𝑚</m:t>
                                  </m:r>
                                </m:sub>
                              </m:sSub>
                            </m:num>
                            <m:den>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𝑖</m:t>
                                  </m:r>
                                </m:sub>
                              </m:sSub>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𝑚</m:t>
                                  </m:r>
                                </m:sub>
                              </m:sSub>
                            </m:num>
                            <m:den>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𝑖</m:t>
                                  </m:r>
                                </m:sub>
                              </m:sSub>
                            </m:den>
                          </m:f>
                        </m:e>
                      </m:d>
                      <m:r>
                        <a:rPr lang="zh-CN" altLang="en-US" sz="1600" i="1" dirty="0">
                          <a:solidFill>
                            <a:schemeClr val="tx1"/>
                          </a:solidFill>
                          <a:latin typeface="Cambria Math" panose="02040503050406030204" pitchFamily="18" charset="0"/>
                        </a:rPr>
                        <m:t>，为什么有绝对值？</m:t>
                      </m:r>
                    </m:oMath>
                  </m:oMathPara>
                </a14:m>
                <a:endParaRPr lang="en-US" altLang="zh-CN" sz="16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1600" b="0" i="1" dirty="0" smtClean="0">
                          <a:solidFill>
                            <a:schemeClr val="tx1"/>
                          </a:solidFill>
                          <a:latin typeface="Cambria Math" panose="02040503050406030204" pitchFamily="18" charset="0"/>
                        </a:rPr>
                        <m:t>𝑧</m:t>
                      </m:r>
                      <m:r>
                        <a:rPr lang="en-US" altLang="zh-CN" sz="1600" b="0" i="1" dirty="0" smtClean="0">
                          <a:solidFill>
                            <a:schemeClr val="tx1"/>
                          </a:solidFill>
                          <a:latin typeface="Cambria Math" panose="02040503050406030204" pitchFamily="18" charset="0"/>
                        </a:rPr>
                        <m:t>=0</m:t>
                      </m:r>
                      <m:r>
                        <a:rPr lang="zh-CN" altLang="en-US" sz="1600" i="1" dirty="0">
                          <a:solidFill>
                            <a:schemeClr val="tx1"/>
                          </a:solidFill>
                          <a:latin typeface="Cambria Math" panose="02040503050406030204" pitchFamily="18" charset="0"/>
                        </a:rPr>
                        <m:t>处</m:t>
                      </m:r>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𝑥𝑦</m:t>
                      </m:r>
                      <m:r>
                        <a:rPr lang="zh-CN" altLang="en-US" sz="1600" i="1" dirty="0">
                          <a:solidFill>
                            <a:schemeClr val="tx1"/>
                          </a:solidFill>
                          <a:latin typeface="Cambria Math" panose="02040503050406030204" pitchFamily="18" charset="0"/>
                        </a:rPr>
                        <m:t>平面</m:t>
                      </m:r>
                      <m:r>
                        <a:rPr lang="en-US" altLang="zh-CN" sz="1600" i="1" dirty="0">
                          <a:solidFill>
                            <a:schemeClr val="tx1"/>
                          </a:solidFill>
                          <a:latin typeface="Cambria Math" panose="02040503050406030204" pitchFamily="18" charset="0"/>
                        </a:rPr>
                        <m:t>)</m:t>
                      </m:r>
                      <m:r>
                        <a:rPr lang="zh-CN" altLang="en-US" sz="1600" i="1" dirty="0" smtClean="0">
                          <a:solidFill>
                            <a:schemeClr val="tx1"/>
                          </a:solidFill>
                          <a:latin typeface="Cambria Math" panose="02040503050406030204" pitchFamily="18" charset="0"/>
                        </a:rPr>
                        <m:t>为</m:t>
                      </m:r>
                      <m:r>
                        <a:rPr lang="zh-CN" altLang="en-US" sz="1600" i="1" dirty="0">
                          <a:solidFill>
                            <a:schemeClr val="tx1"/>
                          </a:solidFill>
                          <a:latin typeface="Cambria Math" panose="02040503050406030204" pitchFamily="18" charset="0"/>
                        </a:rPr>
                        <m:t>一面镜子，考虑</m:t>
                      </m:r>
                      <m:r>
                        <a:rPr lang="zh-CN" altLang="en-US" sz="1600" i="1" dirty="0" smtClean="0">
                          <a:solidFill>
                            <a:schemeClr val="tx1"/>
                          </a:solidFill>
                          <a:latin typeface="Cambria Math" panose="02040503050406030204" pitchFamily="18" charset="0"/>
                        </a:rPr>
                        <m:t>从</m:t>
                      </m:r>
                      <m:r>
                        <a:rPr lang="en-US" altLang="zh-CN" sz="1600" b="1" i="1" dirty="0" smtClean="0">
                          <a:solidFill>
                            <a:schemeClr val="tx1"/>
                          </a:solidFill>
                          <a:latin typeface="Cambria Math" panose="02040503050406030204" pitchFamily="18" charset="0"/>
                        </a:rPr>
                        <m:t>𝒗</m:t>
                      </m:r>
                      <m:r>
                        <a:rPr lang="zh-CN" altLang="en-US" sz="1600" i="1" dirty="0">
                          <a:solidFill>
                            <a:schemeClr val="tx1"/>
                          </a:solidFill>
                          <a:latin typeface="Cambria Math" panose="02040503050406030204" pitchFamily="18" charset="0"/>
                        </a:rPr>
                        <m:t>转换</m:t>
                      </m:r>
                      <m:r>
                        <a:rPr lang="zh-CN" altLang="en-US" sz="1600" i="1" dirty="0" smtClean="0">
                          <a:solidFill>
                            <a:schemeClr val="tx1"/>
                          </a:solidFill>
                          <a:latin typeface="Cambria Math" panose="02040503050406030204" pitchFamily="18" charset="0"/>
                        </a:rPr>
                        <m:t>到</m:t>
                      </m:r>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𝒗</m:t>
                          </m:r>
                        </m:e>
                        <m:sup>
                          <m:r>
                            <a:rPr lang="en-US" altLang="zh-CN" sz="1600" b="1" i="1" dirty="0" smtClean="0">
                              <a:solidFill>
                                <a:schemeClr val="tx1"/>
                              </a:solidFill>
                              <a:latin typeface="Cambria Math" panose="02040503050406030204" pitchFamily="18" charset="0"/>
                            </a:rPr>
                            <m:t>′</m:t>
                          </m:r>
                        </m:sup>
                      </m:sSup>
                      <m:r>
                        <a:rPr lang="zh-CN" altLang="en-US" sz="1600" i="1" dirty="0">
                          <a:solidFill>
                            <a:schemeClr val="tx1"/>
                          </a:solidFill>
                          <a:latin typeface="Cambria Math" panose="02040503050406030204" pitchFamily="18" charset="0"/>
                        </a:rPr>
                        <m:t>的</m:t>
                      </m:r>
                      <m:r>
                        <a:rPr lang="zh-CN" altLang="en-US" sz="1600" i="1" dirty="0" smtClean="0">
                          <a:solidFill>
                            <a:schemeClr val="tx1"/>
                          </a:solidFill>
                          <a:latin typeface="Cambria Math" panose="02040503050406030204" pitchFamily="18" charset="0"/>
                        </a:rPr>
                        <m:t>转换</m:t>
                      </m:r>
                      <m:r>
                        <a:rPr lang="zh-CN" altLang="en-US" sz="1600" i="1" dirty="0">
                          <a:solidFill>
                            <a:schemeClr val="tx1"/>
                          </a:solidFill>
                          <a:latin typeface="Cambria Math" panose="02040503050406030204" pitchFamily="18" charset="0"/>
                        </a:rPr>
                        <m:t>，</m:t>
                      </m:r>
                      <m:r>
                        <a:rPr lang="zh-CN" altLang="en-US" sz="1600" i="1" dirty="0" smtClean="0">
                          <a:solidFill>
                            <a:schemeClr val="tx1"/>
                          </a:solidFill>
                          <a:latin typeface="Cambria Math" panose="02040503050406030204" pitchFamily="18" charset="0"/>
                        </a:rPr>
                        <m:t>假如</m:t>
                      </m:r>
                      <m:r>
                        <a:rPr lang="zh-CN" altLang="en-US" sz="1600" i="1" dirty="0">
                          <a:solidFill>
                            <a:schemeClr val="tx1"/>
                          </a:solidFill>
                          <a:latin typeface="Cambria Math" panose="02040503050406030204" pitchFamily="18" charset="0"/>
                        </a:rPr>
                        <m:t>没有</m:t>
                      </m:r>
                      <m:r>
                        <a:rPr lang="zh-CN" altLang="en-US" sz="1600" i="1" dirty="0" smtClean="0">
                          <a:solidFill>
                            <a:schemeClr val="tx1"/>
                          </a:solidFill>
                          <a:latin typeface="Cambria Math" panose="02040503050406030204" pitchFamily="18" charset="0"/>
                        </a:rPr>
                        <m:t>绝对值</m:t>
                      </m:r>
                    </m:oMath>
                  </m:oMathPara>
                </a14:m>
                <a:endParaRPr lang="en-US" altLang="zh-CN" sz="1600" b="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1600" b="0" i="1" dirty="0" smtClean="0">
                          <a:solidFill>
                            <a:schemeClr val="tx1"/>
                          </a:solidFill>
                          <a:latin typeface="Cambria Math" panose="02040503050406030204" pitchFamily="18" charset="0"/>
                        </a:rPr>
                        <m:t>𝑑</m:t>
                      </m:r>
                      <m:r>
                        <a:rPr lang="en-US" altLang="zh-CN" sz="1600" i="1" dirty="0" smtClean="0">
                          <a:solidFill>
                            <a:schemeClr val="tx1"/>
                          </a:solidFill>
                          <a:latin typeface="Cambria Math" panose="02040503050406030204" pitchFamily="18" charset="0"/>
                        </a:rPr>
                        <m:t>𝜔</m:t>
                      </m:r>
                      <m:r>
                        <a:rPr lang="en-US" altLang="zh-CN" sz="1600" b="0" i="1" dirty="0" smtClean="0">
                          <a:solidFill>
                            <a:schemeClr val="tx1"/>
                          </a:solidFill>
                          <a:latin typeface="Cambria Math" panose="02040503050406030204" pitchFamily="18" charset="0"/>
                        </a:rPr>
                        <m:t>=</m:t>
                      </m:r>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det</m:t>
                          </m:r>
                        </m:fName>
                        <m:e>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𝜕𝜔</m:t>
                                  </m:r>
                                </m:num>
                                <m:den>
                                  <m:r>
                                    <a:rPr lang="en-US" altLang="zh-CN" sz="1600" i="1" dirty="0">
                                      <a:solidFill>
                                        <a:schemeClr val="tx1"/>
                                      </a:solidFill>
                                      <a:latin typeface="Cambria Math" panose="02040503050406030204" pitchFamily="18" charset="0"/>
                                    </a:rPr>
                                    <m:t>𝜕</m:t>
                                  </m:r>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𝜔</m:t>
                                      </m:r>
                                    </m:e>
                                    <m:sup>
                                      <m:r>
                                        <a:rPr lang="en-US" altLang="zh-CN" sz="1600" b="0" i="1" dirty="0" smtClean="0">
                                          <a:solidFill>
                                            <a:schemeClr val="tx1"/>
                                          </a:solidFill>
                                          <a:latin typeface="Cambria Math" panose="02040503050406030204" pitchFamily="18" charset="0"/>
                                        </a:rPr>
                                        <m:t>′</m:t>
                                      </m:r>
                                    </m:sup>
                                  </m:sSup>
                                </m:den>
                              </m:f>
                              <m:r>
                                <a:rPr lang="en-US" altLang="zh-CN" sz="1600" i="1" dirty="0">
                                  <a:solidFill>
                                    <a:schemeClr val="tx1"/>
                                  </a:solidFill>
                                  <a:latin typeface="Cambria Math" panose="02040503050406030204" pitchFamily="18" charset="0"/>
                                </a:rPr>
                                <m:t> </m:t>
                              </m:r>
                            </m:e>
                          </m:d>
                        </m:e>
                      </m:func>
                      <m:r>
                        <a:rPr lang="en-US" altLang="zh-CN" sz="1600" b="0" i="1" dirty="0" smtClean="0">
                          <a:solidFill>
                            <a:schemeClr val="tx1"/>
                          </a:solidFill>
                          <a:latin typeface="Cambria Math" panose="02040503050406030204" pitchFamily="18" charset="0"/>
                        </a:rPr>
                        <m:t>𝑑</m:t>
                      </m:r>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𝜔</m:t>
                          </m:r>
                        </m:e>
                        <m:sup>
                          <m:r>
                            <a:rPr lang="en-US" altLang="zh-CN" sz="1600" b="0" i="1" dirty="0" smtClean="0">
                              <a:solidFill>
                                <a:schemeClr val="tx1"/>
                              </a:solidFill>
                              <a:latin typeface="Cambria Math" panose="02040503050406030204" pitchFamily="18" charset="0"/>
                            </a:rPr>
                            <m:t>′</m:t>
                          </m:r>
                        </m:sup>
                      </m:sSup>
                      <m:r>
                        <a:rPr lang="en-US" altLang="zh-CN" sz="1600" b="0" i="1" dirty="0" smtClean="0">
                          <a:solidFill>
                            <a:schemeClr val="tx1"/>
                          </a:solidFill>
                          <a:latin typeface="Cambria Math" panose="02040503050406030204" pitchFamily="18" charset="0"/>
                        </a:rPr>
                        <m:t>,  </m:t>
                      </m:r>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det</m:t>
                          </m:r>
                        </m:fName>
                        <m:e>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𝜕𝜔</m:t>
                                  </m:r>
                                </m:num>
                                <m:den>
                                  <m:r>
                                    <a:rPr lang="en-US" altLang="zh-CN" sz="1600"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𝜔</m:t>
                                      </m:r>
                                    </m:e>
                                    <m:sup>
                                      <m:r>
                                        <a:rPr lang="en-US" altLang="zh-CN" sz="1600" i="1" dirty="0">
                                          <a:solidFill>
                                            <a:schemeClr val="tx1"/>
                                          </a:solidFill>
                                          <a:latin typeface="Cambria Math" panose="02040503050406030204" pitchFamily="18" charset="0"/>
                                        </a:rPr>
                                        <m:t>′</m:t>
                                      </m:r>
                                    </m:sup>
                                  </m:sSup>
                                </m:den>
                              </m:f>
                              <m:r>
                                <a:rPr lang="en-US" altLang="zh-CN" sz="1600" i="1" dirty="0">
                                  <a:solidFill>
                                    <a:schemeClr val="tx1"/>
                                  </a:solidFill>
                                  <a:latin typeface="Cambria Math" panose="02040503050406030204" pitchFamily="18" charset="0"/>
                                </a:rPr>
                                <m:t> </m:t>
                              </m:r>
                            </m:e>
                          </m:d>
                        </m:e>
                      </m:func>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r>
                                <a:rPr lang="en-US" altLang="zh-CN" sz="1600" i="1" dirty="0" smtClean="0">
                                  <a:solidFill>
                                    <a:schemeClr val="tx1"/>
                                  </a:solidFill>
                                  <a:latin typeface="Cambria Math" panose="02040503050406030204" pitchFamily="18" charset="0"/>
                                </a:rPr>
                                <m:t>𝜃</m:t>
                              </m:r>
                            </m:e>
                          </m:func>
                        </m:num>
                        <m:den>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sSup>
                                <m:sSupPr>
                                  <m:ctrlPr>
                                    <a:rPr lang="en-US" altLang="zh-CN" sz="1600" b="0" i="1" dirty="0" smtClean="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𝜃</m:t>
                                  </m:r>
                                </m:e>
                                <m:sup>
                                  <m:r>
                                    <a:rPr lang="en-US" altLang="zh-CN" sz="1600" b="0" i="1" dirty="0" smtClean="0">
                                      <a:solidFill>
                                        <a:schemeClr val="tx1"/>
                                      </a:solidFill>
                                      <a:latin typeface="Cambria Math" panose="02040503050406030204" pitchFamily="18" charset="0"/>
                                    </a:rPr>
                                    <m:t>′</m:t>
                                  </m:r>
                                </m:sup>
                              </m:sSup>
                            </m:e>
                          </m:func>
                        </m:den>
                      </m:f>
                      <m:d>
                        <m:dPr>
                          <m:ctrlPr>
                            <a:rPr lang="en-US" altLang="zh-CN" sz="1600" b="0" i="1" dirty="0" smtClean="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𝜃</m:t>
                              </m:r>
                            </m:num>
                            <m:den>
                              <m:r>
                                <a:rPr lang="en-US" altLang="zh-CN" sz="1600"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𝜃</m:t>
                                  </m:r>
                                </m:e>
                                <m:sup>
                                  <m:r>
                                    <a:rPr lang="en-US" altLang="zh-CN" sz="1600" i="1" dirty="0">
                                      <a:solidFill>
                                        <a:schemeClr val="tx1"/>
                                      </a:solidFill>
                                      <a:latin typeface="Cambria Math" panose="02040503050406030204" pitchFamily="18" charset="0"/>
                                    </a:rPr>
                                    <m:t>′</m:t>
                                  </m:r>
                                </m:sup>
                              </m:s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𝜙</m:t>
                              </m:r>
                            </m:num>
                            <m:den>
                              <m:r>
                                <a:rPr lang="en-US" altLang="zh-CN" sz="1600"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𝜙</m:t>
                                  </m:r>
                                </m:e>
                                <m:sup>
                                  <m:r>
                                    <a:rPr lang="en-US" altLang="zh-CN" sz="1600" i="1" dirty="0">
                                      <a:solidFill>
                                        <a:schemeClr val="tx1"/>
                                      </a:solidFill>
                                      <a:latin typeface="Cambria Math" panose="02040503050406030204" pitchFamily="18" charset="0"/>
                                    </a:rPr>
                                    <m:t>′</m:t>
                                  </m:r>
                                </m:sup>
                              </m:s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smtClean="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𝜃</m:t>
                              </m:r>
                            </m:num>
                            <m:den>
                              <m:r>
                                <a:rPr lang="en-US" altLang="zh-CN" sz="1600"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𝜙</m:t>
                                  </m:r>
                                </m:e>
                                <m:sup>
                                  <m:r>
                                    <a:rPr lang="en-US" altLang="zh-CN" sz="1600" i="1" dirty="0">
                                      <a:solidFill>
                                        <a:schemeClr val="tx1"/>
                                      </a:solidFill>
                                      <a:latin typeface="Cambria Math" panose="02040503050406030204" pitchFamily="18" charset="0"/>
                                    </a:rPr>
                                    <m:t>′</m:t>
                                  </m:r>
                                </m:sup>
                              </m:s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𝜙</m:t>
                              </m:r>
                            </m:num>
                            <m:den>
                              <m:r>
                                <a:rPr lang="en-US" altLang="zh-CN" sz="1600"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𝜃</m:t>
                                  </m:r>
                                </m:e>
                                <m:sup>
                                  <m:r>
                                    <a:rPr lang="en-US" altLang="zh-CN" sz="1600" i="1" dirty="0">
                                      <a:solidFill>
                                        <a:schemeClr val="tx1"/>
                                      </a:solidFill>
                                      <a:latin typeface="Cambria Math" panose="02040503050406030204" pitchFamily="18" charset="0"/>
                                    </a:rPr>
                                    <m:t>′</m:t>
                                  </m:r>
                                </m:sup>
                              </m:sSup>
                            </m:den>
                          </m:f>
                        </m:e>
                      </m:d>
                    </m:oMath>
                  </m:oMathPara>
                </a14:m>
                <a:endParaRPr lang="en-US" altLang="zh-CN" sz="16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zh-CN" altLang="en-US" sz="1600" b="0" i="1" dirty="0">
                          <a:solidFill>
                            <a:schemeClr val="tx1"/>
                          </a:solidFill>
                          <a:latin typeface="Cambria Math" panose="02040503050406030204" pitchFamily="18" charset="0"/>
                        </a:rPr>
                        <m:t>镜像</m:t>
                      </m:r>
                      <m:r>
                        <a:rPr lang="zh-CN" altLang="en-US" sz="1600" i="1" dirty="0" smtClean="0">
                          <a:solidFill>
                            <a:schemeClr val="tx1"/>
                          </a:solidFill>
                          <a:latin typeface="Cambria Math" panose="02040503050406030204" pitchFamily="18" charset="0"/>
                        </a:rPr>
                        <m:t>满足</m:t>
                      </m:r>
                      <m:r>
                        <a:rPr lang="zh-CN" altLang="en-US" sz="1600" i="1" dirty="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𝜃</m:t>
                      </m:r>
                      <m:r>
                        <a:rPr lang="en-US" altLang="zh-CN" sz="1600" b="0" i="1" dirty="0" smtClean="0">
                          <a:solidFill>
                            <a:schemeClr val="tx1"/>
                          </a:solidFill>
                          <a:latin typeface="Cambria Math" panose="02040503050406030204" pitchFamily="18" charset="0"/>
                        </a:rPr>
                        <m:t>=</m:t>
                      </m:r>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𝜃</m:t>
                          </m:r>
                        </m:e>
                        <m:sup>
                          <m:r>
                            <a:rPr lang="en-US" altLang="zh-CN" sz="1600" b="0" i="1" dirty="0" smtClean="0">
                              <a:solidFill>
                                <a:schemeClr val="tx1"/>
                              </a:solidFill>
                              <a:latin typeface="Cambria Math" panose="02040503050406030204" pitchFamily="18" charset="0"/>
                            </a:rPr>
                            <m:t>′</m:t>
                          </m:r>
                        </m:sup>
                      </m:sSup>
                      <m:r>
                        <a:rPr lang="en-US" altLang="zh-CN" sz="1600" b="0" i="1" dirty="0" smtClean="0">
                          <a:solidFill>
                            <a:schemeClr val="tx1"/>
                          </a:solidFill>
                          <a:latin typeface="Cambria Math" panose="02040503050406030204" pitchFamily="18" charset="0"/>
                        </a:rPr>
                        <m:t>,  </m:t>
                      </m:r>
                      <m:r>
                        <a:rPr lang="en-US" altLang="zh-CN" sz="1600" b="0" i="1" dirty="0" smtClean="0">
                          <a:solidFill>
                            <a:schemeClr val="tx1"/>
                          </a:solidFill>
                          <a:latin typeface="Cambria Math" panose="02040503050406030204" pitchFamily="18" charset="0"/>
                        </a:rPr>
                        <m:t>𝜙</m:t>
                      </m:r>
                      <m:r>
                        <a:rPr lang="en-US" altLang="zh-CN" sz="1600" b="0" i="1" dirty="0" smtClean="0">
                          <a:solidFill>
                            <a:schemeClr val="tx1"/>
                          </a:solidFill>
                          <a:latin typeface="Cambria Math" panose="02040503050406030204" pitchFamily="18" charset="0"/>
                        </a:rPr>
                        <m:t>=−</m:t>
                      </m:r>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𝜙</m:t>
                          </m:r>
                        </m:e>
                        <m:sup>
                          <m:r>
                            <a:rPr lang="en-US" altLang="zh-CN" sz="1600" b="0" i="1" dirty="0" smtClean="0">
                              <a:solidFill>
                                <a:schemeClr val="tx1"/>
                              </a:solidFill>
                              <a:latin typeface="Cambria Math" panose="02040503050406030204" pitchFamily="18" charset="0"/>
                            </a:rPr>
                            <m:t>′</m:t>
                          </m:r>
                        </m:sup>
                      </m:sSup>
                    </m:oMath>
                  </m:oMathPara>
                </a14:m>
                <a:endParaRPr lang="en-US" altLang="zh-CN" sz="16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𝜕𝜃</m:t>
                          </m:r>
                        </m:num>
                        <m:den>
                          <m:r>
                            <a:rPr lang="en-US" altLang="zh-CN" sz="1600"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𝜃</m:t>
                              </m:r>
                            </m:e>
                            <m:sup>
                              <m:r>
                                <a:rPr lang="en-US" altLang="zh-CN" sz="1600" i="1" dirty="0">
                                  <a:solidFill>
                                    <a:schemeClr val="tx1"/>
                                  </a:solidFill>
                                  <a:latin typeface="Cambria Math" panose="02040503050406030204" pitchFamily="18" charset="0"/>
                                </a:rPr>
                                <m:t>′</m:t>
                              </m:r>
                            </m:sup>
                          </m:sSup>
                        </m:den>
                      </m:f>
                      <m:r>
                        <a:rPr lang="en-US" altLang="zh-CN" sz="1600" b="0" i="1" dirty="0" smtClean="0">
                          <a:solidFill>
                            <a:schemeClr val="tx1"/>
                          </a:solidFill>
                          <a:latin typeface="Cambria Math" panose="02040503050406030204" pitchFamily="18" charset="0"/>
                        </a:rPr>
                        <m:t>=1,  </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𝜕𝜙</m:t>
                          </m:r>
                        </m:num>
                        <m:den>
                          <m:r>
                            <a:rPr lang="en-US" altLang="zh-CN" sz="1600"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𝜙</m:t>
                              </m:r>
                            </m:e>
                            <m:sup>
                              <m:r>
                                <a:rPr lang="en-US" altLang="zh-CN" sz="1600" i="1" dirty="0">
                                  <a:solidFill>
                                    <a:schemeClr val="tx1"/>
                                  </a:solidFill>
                                  <a:latin typeface="Cambria Math" panose="02040503050406030204" pitchFamily="18" charset="0"/>
                                </a:rPr>
                                <m:t>′</m:t>
                              </m:r>
                            </m:sup>
                          </m:sSup>
                        </m:den>
                      </m:f>
                      <m:r>
                        <a:rPr lang="en-US" altLang="zh-CN" sz="1600" b="0" i="1" dirty="0" smtClean="0">
                          <a:solidFill>
                            <a:schemeClr val="tx1"/>
                          </a:solidFill>
                          <a:latin typeface="Cambria Math" panose="02040503050406030204" pitchFamily="18" charset="0"/>
                        </a:rPr>
                        <m:t>=−1,  </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𝜕𝜃</m:t>
                          </m:r>
                        </m:num>
                        <m:den>
                          <m:r>
                            <a:rPr lang="en-US" altLang="zh-CN" sz="1600"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𝜙</m:t>
                              </m:r>
                            </m:e>
                            <m:sup>
                              <m:r>
                                <a:rPr lang="en-US" altLang="zh-CN" sz="1600" i="1" dirty="0">
                                  <a:solidFill>
                                    <a:schemeClr val="tx1"/>
                                  </a:solidFill>
                                  <a:latin typeface="Cambria Math" panose="02040503050406030204" pitchFamily="18" charset="0"/>
                                </a:rPr>
                                <m:t>′</m:t>
                              </m:r>
                            </m:sup>
                          </m:sSup>
                        </m:den>
                      </m:f>
                      <m:r>
                        <a:rPr lang="en-US" altLang="zh-CN" sz="1600" b="0" i="1" dirty="0" smtClean="0">
                          <a:solidFill>
                            <a:schemeClr val="tx1"/>
                          </a:solidFill>
                          <a:latin typeface="Cambria Math" panose="02040503050406030204" pitchFamily="18" charset="0"/>
                        </a:rPr>
                        <m:t>=0,  </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𝜕𝜙</m:t>
                          </m:r>
                        </m:num>
                        <m:den>
                          <m:r>
                            <a:rPr lang="en-US" altLang="zh-CN" sz="1600"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𝜃</m:t>
                              </m:r>
                            </m:e>
                            <m:sup>
                              <m:r>
                                <a:rPr lang="en-US" altLang="zh-CN" sz="1600" i="1" dirty="0">
                                  <a:solidFill>
                                    <a:schemeClr val="tx1"/>
                                  </a:solidFill>
                                  <a:latin typeface="Cambria Math" panose="02040503050406030204" pitchFamily="18" charset="0"/>
                                </a:rPr>
                                <m:t>′</m:t>
                              </m:r>
                            </m:sup>
                          </m:sSup>
                        </m:den>
                      </m:f>
                      <m:r>
                        <a:rPr lang="en-US" altLang="zh-CN" sz="1600" b="0" i="1" dirty="0" smtClean="0">
                          <a:solidFill>
                            <a:schemeClr val="tx1"/>
                          </a:solidFill>
                          <a:latin typeface="Cambria Math" panose="02040503050406030204" pitchFamily="18" charset="0"/>
                        </a:rPr>
                        <m:t>=0,  </m:t>
                      </m:r>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det</m:t>
                          </m:r>
                        </m:fName>
                        <m:e>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𝜕𝜔</m:t>
                                  </m:r>
                                </m:num>
                                <m:den>
                                  <m:r>
                                    <a:rPr lang="en-US" altLang="zh-CN" sz="1600"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𝜔</m:t>
                                      </m:r>
                                    </m:e>
                                    <m:sup>
                                      <m:r>
                                        <a:rPr lang="en-US" altLang="zh-CN" sz="1600" i="1" dirty="0">
                                          <a:solidFill>
                                            <a:schemeClr val="tx1"/>
                                          </a:solidFill>
                                          <a:latin typeface="Cambria Math" panose="02040503050406030204" pitchFamily="18" charset="0"/>
                                        </a:rPr>
                                        <m:t>′</m:t>
                                      </m:r>
                                    </m:sup>
                                  </m:sSup>
                                </m:den>
                              </m:f>
                              <m:r>
                                <a:rPr lang="en-US" altLang="zh-CN" sz="1600" i="1" dirty="0">
                                  <a:solidFill>
                                    <a:schemeClr val="tx1"/>
                                  </a:solidFill>
                                  <a:latin typeface="Cambria Math" panose="02040503050406030204" pitchFamily="18" charset="0"/>
                                </a:rPr>
                                <m:t> </m:t>
                              </m:r>
                            </m:e>
                          </m:d>
                        </m:e>
                      </m:func>
                      <m:r>
                        <a:rPr lang="en-US" altLang="zh-CN" sz="1600" b="0" i="1" dirty="0" smtClean="0">
                          <a:solidFill>
                            <a:schemeClr val="tx1"/>
                          </a:solidFill>
                          <a:latin typeface="Cambria Math" panose="02040503050406030204" pitchFamily="18" charset="0"/>
                        </a:rPr>
                        <m:t>=−1</m:t>
                      </m:r>
                    </m:oMath>
                  </m:oMathPara>
                </a14:m>
                <a:endParaRPr lang="en-US" altLang="zh-CN" sz="1600" b="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1600" b="0" i="1" dirty="0" smtClean="0">
                          <a:solidFill>
                            <a:schemeClr val="tx1"/>
                          </a:solidFill>
                          <a:latin typeface="Cambria Math" panose="02040503050406030204" pitchFamily="18" charset="0"/>
                        </a:rPr>
                        <m:t>𝑑</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b="0" i="1" dirty="0" smtClean="0">
                              <a:solidFill>
                                <a:schemeClr val="tx1"/>
                              </a:solidFill>
                              <a:latin typeface="Cambria Math" panose="02040503050406030204" pitchFamily="18" charset="0"/>
                            </a:rPr>
                            <m:t>𝑜</m:t>
                          </m:r>
                        </m:sub>
                      </m:sSub>
                      <m:r>
                        <a:rPr lang="en-US" altLang="zh-CN" sz="1600" i="1" dirty="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𝑑</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b="0" i="1" dirty="0" smtClean="0">
                              <a:solidFill>
                                <a:schemeClr val="tx1"/>
                              </a:solidFill>
                              <a:latin typeface="Cambria Math" panose="02040503050406030204" pitchFamily="18" charset="0"/>
                            </a:rPr>
                            <m:t>𝑖</m:t>
                          </m:r>
                        </m:sub>
                      </m:sSub>
                    </m:oMath>
                  </m:oMathPara>
                </a14:m>
                <a:endParaRPr lang="en-US" altLang="zh-CN" sz="1600" b="0" i="1" dirty="0">
                  <a:solidFill>
                    <a:schemeClr val="tx1"/>
                  </a:solidFill>
                  <a:latin typeface="Cambria Math" panose="02040503050406030204" pitchFamily="18" charset="0"/>
                </a:endParaRPr>
              </a:p>
              <a:p>
                <a:pPr>
                  <a:lnSpc>
                    <a:spcPct val="150000"/>
                  </a:lnSpc>
                </a:pPr>
                <a:r>
                  <a:rPr lang="zh-CN" altLang="en-US" sz="1600" dirty="0">
                    <a:solidFill>
                      <a:schemeClr val="tx1"/>
                    </a:solidFill>
                    <a:latin typeface="Cambria Math" panose="02040503050406030204" pitchFamily="18" charset="0"/>
                  </a:rPr>
                  <a:t>        如右图所示，雅可比矩阵行列式为负数，代表变换前后存在空间上的翻转。更确切的说：雅可比矩阵行列式的正负代表变换是否保持定向。</a:t>
                </a:r>
                <a:endParaRPr lang="en-US" altLang="zh-CN" sz="1600" dirty="0">
                  <a:solidFill>
                    <a:schemeClr val="tx1"/>
                  </a:solidFill>
                  <a:latin typeface="Cambria Math" panose="02040503050406030204" pitchFamily="18" charset="0"/>
                </a:endParaRPr>
              </a:p>
              <a:p>
                <a:pPr>
                  <a:lnSpc>
                    <a:spcPct val="150000"/>
                  </a:lnSpc>
                </a:pPr>
                <a:r>
                  <a:rPr lang="zh-CN" altLang="en-US" sz="1600" dirty="0">
                    <a:solidFill>
                      <a:schemeClr val="tx1"/>
                    </a:solidFill>
                    <a:latin typeface="Cambria Math" panose="02040503050406030204" pitchFamily="18" charset="0"/>
                  </a:rPr>
                  <a:t>        然而我们并不关心变换是否保持定向，我们只关心变换前后的大小关系，所以雅可比矩阵行列式要加上绝对值。</a:t>
                </a:r>
                <a:endParaRPr lang="en-US" altLang="zh-CN" sz="1600"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A7F0161D-7BA6-B652-D75B-69E5A6A0517D}"/>
                  </a:ext>
                </a:extLst>
              </p:cNvPr>
              <p:cNvSpPr>
                <a:spLocks noRot="1" noChangeAspect="1" noMove="1" noResize="1" noEditPoints="1" noAdjustHandles="1" noChangeArrowheads="1" noChangeShapeType="1" noTextEdit="1"/>
              </p:cNvSpPr>
              <p:nvPr/>
            </p:nvSpPr>
            <p:spPr>
              <a:xfrm>
                <a:off x="478709" y="1144044"/>
                <a:ext cx="6816453" cy="5402806"/>
              </a:xfrm>
              <a:prstGeom prst="rect">
                <a:avLst/>
              </a:prstGeom>
              <a:blipFill>
                <a:blip r:embed="rId2"/>
                <a:stretch>
                  <a:fillRect l="-446"/>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6828974D-9E03-CB25-4F32-85DD950F2C23}"/>
              </a:ext>
            </a:extLst>
          </p:cNvPr>
          <p:cNvSpPr/>
          <p:nvPr/>
        </p:nvSpPr>
        <p:spPr>
          <a:xfrm>
            <a:off x="7759478" y="3915798"/>
            <a:ext cx="4320195" cy="280224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26A06E87-EF1D-A3C2-BDFC-0AB30EA12145}"/>
              </a:ext>
            </a:extLst>
          </p:cNvPr>
          <p:cNvSpPr/>
          <p:nvPr/>
        </p:nvSpPr>
        <p:spPr>
          <a:xfrm>
            <a:off x="7626128" y="3744348"/>
            <a:ext cx="4320195" cy="280224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 name="矩形 118">
            <a:extLst>
              <a:ext uri="{FF2B5EF4-FFF2-40B4-BE49-F238E27FC236}">
                <a16:creationId xmlns:a16="http://schemas.microsoft.com/office/drawing/2014/main" id="{94F47325-6773-0F21-A7B9-78929CB32479}"/>
              </a:ext>
            </a:extLst>
          </p:cNvPr>
          <p:cNvSpPr/>
          <p:nvPr/>
        </p:nvSpPr>
        <p:spPr>
          <a:xfrm>
            <a:off x="7759478" y="1313069"/>
            <a:ext cx="4320195" cy="213720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 name="矩形 119">
            <a:extLst>
              <a:ext uri="{FF2B5EF4-FFF2-40B4-BE49-F238E27FC236}">
                <a16:creationId xmlns:a16="http://schemas.microsoft.com/office/drawing/2014/main" id="{D51AA40C-BF64-6237-B35B-1A512F149594}"/>
              </a:ext>
            </a:extLst>
          </p:cNvPr>
          <p:cNvSpPr/>
          <p:nvPr/>
        </p:nvSpPr>
        <p:spPr>
          <a:xfrm>
            <a:off x="7626128" y="1141619"/>
            <a:ext cx="4320195" cy="213720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3" name="组合 22">
            <a:extLst>
              <a:ext uri="{FF2B5EF4-FFF2-40B4-BE49-F238E27FC236}">
                <a16:creationId xmlns:a16="http://schemas.microsoft.com/office/drawing/2014/main" id="{5209718C-70DF-65BC-D01F-4D5D628EB7CE}"/>
              </a:ext>
            </a:extLst>
          </p:cNvPr>
          <p:cNvGrpSpPr/>
          <p:nvPr/>
        </p:nvGrpSpPr>
        <p:grpSpPr>
          <a:xfrm>
            <a:off x="8079867" y="3831970"/>
            <a:ext cx="3648090" cy="2298993"/>
            <a:chOff x="8079867" y="3831970"/>
            <a:chExt cx="3648090" cy="2298993"/>
          </a:xfrm>
        </p:grpSpPr>
        <p:sp>
          <p:nvSpPr>
            <p:cNvPr id="25" name="矩形 24">
              <a:extLst>
                <a:ext uri="{FF2B5EF4-FFF2-40B4-BE49-F238E27FC236}">
                  <a16:creationId xmlns:a16="http://schemas.microsoft.com/office/drawing/2014/main" id="{EDB63EF5-62EA-AD66-82AC-7F33086EE864}"/>
                </a:ext>
              </a:extLst>
            </p:cNvPr>
            <p:cNvSpPr/>
            <p:nvPr/>
          </p:nvSpPr>
          <p:spPr>
            <a:xfrm>
              <a:off x="8079867" y="5766397"/>
              <a:ext cx="3331290" cy="4705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7" name="直接箭头连接符 26">
              <a:extLst>
                <a:ext uri="{FF2B5EF4-FFF2-40B4-BE49-F238E27FC236}">
                  <a16:creationId xmlns:a16="http://schemas.microsoft.com/office/drawing/2014/main" id="{E42875B2-6763-8234-8C5F-3224B9392212}"/>
                </a:ext>
              </a:extLst>
            </p:cNvPr>
            <p:cNvCxnSpPr>
              <a:cxnSpLocks/>
            </p:cNvCxnSpPr>
            <p:nvPr/>
          </p:nvCxnSpPr>
          <p:spPr>
            <a:xfrm flipV="1">
              <a:off x="9741384" y="4706193"/>
              <a:ext cx="1257923" cy="1060203"/>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0947BC6-328F-D408-C80B-916D6D0BBF60}"/>
                </a:ext>
              </a:extLst>
            </p:cNvPr>
            <p:cNvCxnSpPr>
              <a:cxnSpLocks/>
            </p:cNvCxnSpPr>
            <p:nvPr/>
          </p:nvCxnSpPr>
          <p:spPr>
            <a:xfrm flipH="1" flipV="1">
              <a:off x="8561540" y="4722832"/>
              <a:ext cx="1175716" cy="1038799"/>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3EB9CC71-A57D-EA18-055A-1A42BF36E290}"/>
                    </a:ext>
                  </a:extLst>
                </p:cNvPr>
                <p:cNvSpPr txBox="1"/>
                <p:nvPr/>
              </p:nvSpPr>
              <p:spPr>
                <a:xfrm>
                  <a:off x="10876279" y="4613180"/>
                  <a:ext cx="630869" cy="37029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en-US" altLang="zh-CN" b="1" i="1">
                                <a:solidFill>
                                  <a:srgbClr val="00B0F0"/>
                                </a:solidFill>
                                <a:latin typeface="Cambria Math" panose="02040503050406030204" pitchFamily="18" charset="0"/>
                              </a:rPr>
                            </m:ctrlPr>
                          </m:sSupPr>
                          <m:e>
                            <m:r>
                              <a:rPr lang="en-US" altLang="zh-CN" b="1" i="1">
                                <a:solidFill>
                                  <a:srgbClr val="00B0F0"/>
                                </a:solidFill>
                                <a:latin typeface="Cambria Math" panose="02040503050406030204" pitchFamily="18" charset="0"/>
                              </a:rPr>
                              <m:t>𝒗</m:t>
                            </m:r>
                          </m:e>
                          <m:sup>
                            <m:r>
                              <a:rPr lang="en-US" altLang="zh-CN" b="1" i="1">
                                <a:solidFill>
                                  <a:srgbClr val="00B0F0"/>
                                </a:solidFill>
                                <a:latin typeface="Cambria Math" panose="02040503050406030204" pitchFamily="18" charset="0"/>
                              </a:rPr>
                              <m:t>′</m:t>
                            </m:r>
                          </m:sup>
                        </m:sSup>
                      </m:oMath>
                    </m:oMathPara>
                  </a14:m>
                  <a:endParaRPr lang="zh-CN" altLang="en-US" b="1" dirty="0">
                    <a:solidFill>
                      <a:srgbClr val="00B0F0"/>
                    </a:solidFill>
                  </a:endParaRPr>
                </a:p>
              </p:txBody>
            </p:sp>
          </mc:Choice>
          <mc:Fallback xmlns="">
            <p:sp>
              <p:nvSpPr>
                <p:cNvPr id="33" name="文本框 32">
                  <a:extLst>
                    <a:ext uri="{FF2B5EF4-FFF2-40B4-BE49-F238E27FC236}">
                      <a16:creationId xmlns:a16="http://schemas.microsoft.com/office/drawing/2014/main" id="{3EB9CC71-A57D-EA18-055A-1A42BF36E290}"/>
                    </a:ext>
                  </a:extLst>
                </p:cNvPr>
                <p:cNvSpPr txBox="1">
                  <a:spLocks noRot="1" noChangeAspect="1" noMove="1" noResize="1" noEditPoints="1" noAdjustHandles="1" noChangeArrowheads="1" noChangeShapeType="1" noTextEdit="1"/>
                </p:cNvSpPr>
                <p:nvPr/>
              </p:nvSpPr>
              <p:spPr>
                <a:xfrm>
                  <a:off x="10876279" y="4613180"/>
                  <a:ext cx="630869" cy="370294"/>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B825CDF3-4B3C-AF59-3EF5-7A772CE2C5A6}"/>
                    </a:ext>
                  </a:extLst>
                </p:cNvPr>
                <p:cNvSpPr txBox="1"/>
                <p:nvPr/>
              </p:nvSpPr>
              <p:spPr>
                <a:xfrm>
                  <a:off x="8117498" y="4687577"/>
                  <a:ext cx="63086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accent4">
                                <a:lumMod val="75000"/>
                              </a:schemeClr>
                            </a:solidFill>
                            <a:latin typeface="Cambria Math" panose="02040503050406030204" pitchFamily="18" charset="0"/>
                          </a:rPr>
                          <m:t>𝒗</m:t>
                        </m:r>
                      </m:oMath>
                    </m:oMathPara>
                  </a14:m>
                  <a:endParaRPr lang="zh-CN" altLang="en-US" b="1" dirty="0">
                    <a:solidFill>
                      <a:schemeClr val="accent4">
                        <a:lumMod val="75000"/>
                      </a:schemeClr>
                    </a:solidFill>
                  </a:endParaRPr>
                </a:p>
              </p:txBody>
            </p:sp>
          </mc:Choice>
          <mc:Fallback xmlns="">
            <p:sp>
              <p:nvSpPr>
                <p:cNvPr id="34" name="文本框 33">
                  <a:extLst>
                    <a:ext uri="{FF2B5EF4-FFF2-40B4-BE49-F238E27FC236}">
                      <a16:creationId xmlns:a16="http://schemas.microsoft.com/office/drawing/2014/main" id="{B825CDF3-4B3C-AF59-3EF5-7A772CE2C5A6}"/>
                    </a:ext>
                  </a:extLst>
                </p:cNvPr>
                <p:cNvSpPr txBox="1">
                  <a:spLocks noRot="1" noChangeAspect="1" noMove="1" noResize="1" noEditPoints="1" noAdjustHandles="1" noChangeArrowheads="1" noChangeShapeType="1" noTextEdit="1"/>
                </p:cNvSpPr>
                <p:nvPr/>
              </p:nvSpPr>
              <p:spPr>
                <a:xfrm>
                  <a:off x="8117498" y="4687577"/>
                  <a:ext cx="630869" cy="369332"/>
                </a:xfrm>
                <a:prstGeom prst="rect">
                  <a:avLst/>
                </a:prstGeom>
                <a:blipFill>
                  <a:blip r:embed="rId4"/>
                  <a:stretch>
                    <a:fillRect/>
                  </a:stretch>
                </a:blipFill>
              </p:spPr>
              <p:txBody>
                <a:bodyPr/>
                <a:lstStyle/>
                <a:p>
                  <a:r>
                    <a:rPr lang="zh-CN" altLang="en-US">
                      <a:noFill/>
                    </a:rPr>
                    <a:t> </a:t>
                  </a:r>
                </a:p>
              </p:txBody>
            </p:sp>
          </mc:Fallback>
        </mc:AlternateContent>
        <p:sp>
          <p:nvSpPr>
            <p:cNvPr id="36" name="矩形 35">
              <a:extLst>
                <a:ext uri="{FF2B5EF4-FFF2-40B4-BE49-F238E27FC236}">
                  <a16:creationId xmlns:a16="http://schemas.microsoft.com/office/drawing/2014/main" id="{44D08133-EDD4-7185-50FB-A7AC75D3B3C0}"/>
                </a:ext>
              </a:extLst>
            </p:cNvPr>
            <p:cNvSpPr/>
            <p:nvPr/>
          </p:nvSpPr>
          <p:spPr>
            <a:xfrm>
              <a:off x="9719797" y="4089400"/>
              <a:ext cx="51430" cy="1724053"/>
            </a:xfrm>
            <a:prstGeom prst="rect">
              <a:avLst/>
            </a:prstGeom>
            <a:solidFill>
              <a:schemeClr val="bg2">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箭头连接符 37">
              <a:extLst>
                <a:ext uri="{FF2B5EF4-FFF2-40B4-BE49-F238E27FC236}">
                  <a16:creationId xmlns:a16="http://schemas.microsoft.com/office/drawing/2014/main" id="{03A3F10F-8810-AE35-C30B-E4E2AD07F704}"/>
                </a:ext>
              </a:extLst>
            </p:cNvPr>
            <p:cNvCxnSpPr/>
            <p:nvPr/>
          </p:nvCxnSpPr>
          <p:spPr>
            <a:xfrm>
              <a:off x="11019545" y="5784738"/>
              <a:ext cx="487603"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871E0E94-39B2-3A36-8FF3-4B63F6787638}"/>
                    </a:ext>
                  </a:extLst>
                </p:cNvPr>
                <p:cNvSpPr txBox="1"/>
                <p:nvPr/>
              </p:nvSpPr>
              <p:spPr>
                <a:xfrm>
                  <a:off x="8915355" y="3831970"/>
                  <a:ext cx="988220"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lumMod val="50000"/>
                                <a:lumOff val="50000"/>
                              </a:schemeClr>
                            </a:solidFill>
                            <a:latin typeface="Cambria Math" panose="02040503050406030204" pitchFamily="18" charset="0"/>
                          </a:rPr>
                          <m:t>𝑧</m:t>
                        </m:r>
                        <m:r>
                          <a:rPr lang="en-US" altLang="zh-CN" sz="1800" b="0" i="1" smtClean="0">
                            <a:solidFill>
                              <a:schemeClr val="tx1">
                                <a:lumMod val="50000"/>
                                <a:lumOff val="50000"/>
                              </a:schemeClr>
                            </a:solidFill>
                            <a:latin typeface="Cambria Math" panose="02040503050406030204" pitchFamily="18" charset="0"/>
                          </a:rPr>
                          <m:t>=0</m:t>
                        </m:r>
                      </m:oMath>
                    </m:oMathPara>
                  </a14:m>
                  <a:endParaRPr lang="zh-CN" altLang="en-US" dirty="0">
                    <a:solidFill>
                      <a:schemeClr val="tx1">
                        <a:lumMod val="50000"/>
                        <a:lumOff val="50000"/>
                      </a:schemeClr>
                    </a:solidFill>
                  </a:endParaRPr>
                </a:p>
              </p:txBody>
            </p:sp>
          </mc:Choice>
          <mc:Fallback xmlns="">
            <p:sp>
              <p:nvSpPr>
                <p:cNvPr id="39" name="文本框 38">
                  <a:extLst>
                    <a:ext uri="{FF2B5EF4-FFF2-40B4-BE49-F238E27FC236}">
                      <a16:creationId xmlns:a16="http://schemas.microsoft.com/office/drawing/2014/main" id="{871E0E94-39B2-3A36-8FF3-4B63F6787638}"/>
                    </a:ext>
                  </a:extLst>
                </p:cNvPr>
                <p:cNvSpPr txBox="1">
                  <a:spLocks noRot="1" noChangeAspect="1" noMove="1" noResize="1" noEditPoints="1" noAdjustHandles="1" noChangeArrowheads="1" noChangeShapeType="1" noTextEdit="1"/>
                </p:cNvSpPr>
                <p:nvPr/>
              </p:nvSpPr>
              <p:spPr>
                <a:xfrm>
                  <a:off x="8915355" y="3831970"/>
                  <a:ext cx="988220" cy="36933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88FB4FCA-D779-93F8-4C9C-41B963F0BE5E}"/>
                    </a:ext>
                  </a:extLst>
                </p:cNvPr>
                <p:cNvSpPr txBox="1"/>
                <p:nvPr/>
              </p:nvSpPr>
              <p:spPr>
                <a:xfrm>
                  <a:off x="11097088" y="5761631"/>
                  <a:ext cx="63086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𝑧</m:t>
                        </m:r>
                      </m:oMath>
                    </m:oMathPara>
                  </a14:m>
                  <a:endParaRPr lang="zh-CN" altLang="en-US" dirty="0">
                    <a:solidFill>
                      <a:schemeClr val="accent4">
                        <a:lumMod val="75000"/>
                      </a:schemeClr>
                    </a:solidFill>
                  </a:endParaRPr>
                </a:p>
              </p:txBody>
            </p:sp>
          </mc:Choice>
          <mc:Fallback xmlns="">
            <p:sp>
              <p:nvSpPr>
                <p:cNvPr id="40" name="文本框 39">
                  <a:extLst>
                    <a:ext uri="{FF2B5EF4-FFF2-40B4-BE49-F238E27FC236}">
                      <a16:creationId xmlns:a16="http://schemas.microsoft.com/office/drawing/2014/main" id="{88FB4FCA-D779-93F8-4C9C-41B963F0BE5E}"/>
                    </a:ext>
                  </a:extLst>
                </p:cNvPr>
                <p:cNvSpPr txBox="1">
                  <a:spLocks noRot="1" noChangeAspect="1" noMove="1" noResize="1" noEditPoints="1" noAdjustHandles="1" noChangeArrowheads="1" noChangeShapeType="1" noTextEdit="1"/>
                </p:cNvSpPr>
                <p:nvPr/>
              </p:nvSpPr>
              <p:spPr>
                <a:xfrm>
                  <a:off x="11097088" y="5761631"/>
                  <a:ext cx="630869" cy="369332"/>
                </a:xfrm>
                <a:prstGeom prst="rect">
                  <a:avLst/>
                </a:prstGeom>
                <a:blipFill>
                  <a:blip r:embed="rId6"/>
                  <a:stretch>
                    <a:fillRect/>
                  </a:stretch>
                </a:blipFill>
              </p:spPr>
              <p:txBody>
                <a:bodyPr/>
                <a:lstStyle/>
                <a:p>
                  <a:r>
                    <a:rPr lang="zh-CN" altLang="en-US">
                      <a:noFill/>
                    </a:rPr>
                    <a:t> </a:t>
                  </a:r>
                </a:p>
              </p:txBody>
            </p:sp>
          </mc:Fallback>
        </mc:AlternateContent>
      </p:grpSp>
      <p:grpSp>
        <p:nvGrpSpPr>
          <p:cNvPr id="19" name="组合 18">
            <a:extLst>
              <a:ext uri="{FF2B5EF4-FFF2-40B4-BE49-F238E27FC236}">
                <a16:creationId xmlns:a16="http://schemas.microsoft.com/office/drawing/2014/main" id="{D51A06ED-E8E7-3EE4-6A40-996B966A0355}"/>
              </a:ext>
            </a:extLst>
          </p:cNvPr>
          <p:cNvGrpSpPr/>
          <p:nvPr/>
        </p:nvGrpSpPr>
        <p:grpSpPr>
          <a:xfrm>
            <a:off x="7747696" y="1292198"/>
            <a:ext cx="4080856" cy="1808326"/>
            <a:chOff x="7747696" y="1292198"/>
            <a:chExt cx="4080856" cy="1808326"/>
          </a:xfrm>
        </p:grpSpPr>
        <p:sp>
          <p:nvSpPr>
            <p:cNvPr id="3" name="箭头: 右 2">
              <a:extLst>
                <a:ext uri="{FF2B5EF4-FFF2-40B4-BE49-F238E27FC236}">
                  <a16:creationId xmlns:a16="http://schemas.microsoft.com/office/drawing/2014/main" id="{7352589E-6BF2-15AA-B232-D5EF3C9AFDDF}"/>
                </a:ext>
              </a:extLst>
            </p:cNvPr>
            <p:cNvSpPr/>
            <p:nvPr/>
          </p:nvSpPr>
          <p:spPr>
            <a:xfrm>
              <a:off x="9314344" y="2042940"/>
              <a:ext cx="932498" cy="29436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7AEB4CB1-3626-573B-3B95-443C54AFDFA0}"/>
                </a:ext>
              </a:extLst>
            </p:cNvPr>
            <p:cNvGrpSpPr/>
            <p:nvPr/>
          </p:nvGrpSpPr>
          <p:grpSpPr>
            <a:xfrm>
              <a:off x="7986152" y="1530581"/>
              <a:ext cx="1303346" cy="1198556"/>
              <a:chOff x="7982642" y="1180493"/>
              <a:chExt cx="1721987" cy="1583541"/>
            </a:xfrm>
          </p:grpSpPr>
          <p:sp>
            <p:nvSpPr>
              <p:cNvPr id="2" name="矩形 1">
                <a:extLst>
                  <a:ext uri="{FF2B5EF4-FFF2-40B4-BE49-F238E27FC236}">
                    <a16:creationId xmlns:a16="http://schemas.microsoft.com/office/drawing/2014/main" id="{4FE63F05-A8D8-9369-DE2C-A1F73C941C3B}"/>
                  </a:ext>
                </a:extLst>
              </p:cNvPr>
              <p:cNvSpPr/>
              <p:nvPr/>
            </p:nvSpPr>
            <p:spPr>
              <a:xfrm>
                <a:off x="7982642" y="1566744"/>
                <a:ext cx="1197290" cy="11972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0" name="直接箭头连接符 9">
                <a:extLst>
                  <a:ext uri="{FF2B5EF4-FFF2-40B4-BE49-F238E27FC236}">
                    <a16:creationId xmlns:a16="http://schemas.microsoft.com/office/drawing/2014/main" id="{3D6D9515-3AD9-8AFF-BE7F-C5B19FD689B3}"/>
                  </a:ext>
                </a:extLst>
              </p:cNvPr>
              <p:cNvCxnSpPr/>
              <p:nvPr/>
            </p:nvCxnSpPr>
            <p:spPr>
              <a:xfrm flipV="1">
                <a:off x="7982642" y="1180493"/>
                <a:ext cx="0" cy="1583541"/>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3909883D-C76C-C20E-46F5-861E970E98B1}"/>
                  </a:ext>
                </a:extLst>
              </p:cNvPr>
              <p:cNvCxnSpPr>
                <a:cxnSpLocks/>
              </p:cNvCxnSpPr>
              <p:nvPr/>
            </p:nvCxnSpPr>
            <p:spPr>
              <a:xfrm>
                <a:off x="7982642" y="2764034"/>
                <a:ext cx="1721987" cy="0"/>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26" name="组合 25">
              <a:extLst>
                <a:ext uri="{FF2B5EF4-FFF2-40B4-BE49-F238E27FC236}">
                  <a16:creationId xmlns:a16="http://schemas.microsoft.com/office/drawing/2014/main" id="{6BB7A576-B83B-D9C5-5484-138866E4D8D9}"/>
                </a:ext>
              </a:extLst>
            </p:cNvPr>
            <p:cNvGrpSpPr/>
            <p:nvPr/>
          </p:nvGrpSpPr>
          <p:grpSpPr>
            <a:xfrm>
              <a:off x="10531092" y="1604490"/>
              <a:ext cx="1164110" cy="1158794"/>
              <a:chOff x="10630360" y="1493643"/>
              <a:chExt cx="1164110" cy="1158794"/>
            </a:xfrm>
          </p:grpSpPr>
          <p:sp>
            <p:nvSpPr>
              <p:cNvPr id="4" name="椭圆 3">
                <a:extLst>
                  <a:ext uri="{FF2B5EF4-FFF2-40B4-BE49-F238E27FC236}">
                    <a16:creationId xmlns:a16="http://schemas.microsoft.com/office/drawing/2014/main" id="{7A00DF25-C788-5F1A-ACB1-E1DCA328689B}"/>
                  </a:ext>
                </a:extLst>
              </p:cNvPr>
              <p:cNvSpPr/>
              <p:nvPr/>
            </p:nvSpPr>
            <p:spPr>
              <a:xfrm>
                <a:off x="10636259" y="1727805"/>
                <a:ext cx="924632" cy="92463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16" name="直接箭头连接符 15">
                <a:extLst>
                  <a:ext uri="{FF2B5EF4-FFF2-40B4-BE49-F238E27FC236}">
                    <a16:creationId xmlns:a16="http://schemas.microsoft.com/office/drawing/2014/main" id="{F84C30A0-2896-2D8A-0198-69EF583DB100}"/>
                  </a:ext>
                </a:extLst>
              </p:cNvPr>
              <p:cNvCxnSpPr>
                <a:cxnSpLocks/>
              </p:cNvCxnSpPr>
              <p:nvPr/>
            </p:nvCxnSpPr>
            <p:spPr>
              <a:xfrm flipH="1" flipV="1">
                <a:off x="10630360" y="1493643"/>
                <a:ext cx="1966" cy="1157388"/>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7C801D12-1495-11EB-FB0D-806B1FE5A8FF}"/>
                  </a:ext>
                </a:extLst>
              </p:cNvPr>
              <p:cNvCxnSpPr>
                <a:cxnSpLocks/>
              </p:cNvCxnSpPr>
              <p:nvPr/>
            </p:nvCxnSpPr>
            <p:spPr>
              <a:xfrm flipV="1">
                <a:off x="10632326" y="2651031"/>
                <a:ext cx="1162144" cy="703"/>
              </a:xfrm>
              <a:prstGeom prst="straightConnector1">
                <a:avLst/>
              </a:prstGeom>
              <a:ln w="28575">
                <a:solidFill>
                  <a:schemeClr val="accent2">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9026CAB9-4AC5-E20E-E03D-016613061794}"/>
                </a:ext>
              </a:extLst>
            </p:cNvPr>
            <p:cNvSpPr txBox="1"/>
            <p:nvPr/>
          </p:nvSpPr>
          <p:spPr>
            <a:xfrm>
              <a:off x="9107779" y="2672653"/>
              <a:ext cx="301686" cy="369332"/>
            </a:xfrm>
            <a:prstGeom prst="rect">
              <a:avLst/>
            </a:prstGeom>
            <a:noFill/>
          </p:spPr>
          <p:txBody>
            <a:bodyPr wrap="none" rtlCol="0">
              <a:spAutoFit/>
            </a:bodyPr>
            <a:lstStyle/>
            <a:p>
              <a:r>
                <a:rPr lang="en-US" altLang="zh-CN" dirty="0"/>
                <a:t>x</a:t>
              </a:r>
              <a:endParaRPr lang="zh-CN" altLang="en-US" dirty="0"/>
            </a:p>
          </p:txBody>
        </p:sp>
        <p:sp>
          <p:nvSpPr>
            <p:cNvPr id="29" name="文本框 28">
              <a:extLst>
                <a:ext uri="{FF2B5EF4-FFF2-40B4-BE49-F238E27FC236}">
                  <a16:creationId xmlns:a16="http://schemas.microsoft.com/office/drawing/2014/main" id="{C5997F65-97DA-2C31-0441-5C34EF3081B8}"/>
                </a:ext>
              </a:extLst>
            </p:cNvPr>
            <p:cNvSpPr txBox="1"/>
            <p:nvPr/>
          </p:nvSpPr>
          <p:spPr>
            <a:xfrm>
              <a:off x="7747696" y="1292198"/>
              <a:ext cx="306494" cy="369332"/>
            </a:xfrm>
            <a:prstGeom prst="rect">
              <a:avLst/>
            </a:prstGeom>
            <a:noFill/>
          </p:spPr>
          <p:txBody>
            <a:bodyPr wrap="none" rtlCol="0">
              <a:spAutoFit/>
            </a:bodyPr>
            <a:lstStyle/>
            <a:p>
              <a:r>
                <a:rPr lang="en-US" altLang="zh-CN" dirty="0"/>
                <a:t>y</a:t>
              </a:r>
              <a:endParaRPr lang="zh-CN" altLang="en-US" dirty="0"/>
            </a:p>
          </p:txBody>
        </p:sp>
        <p:sp>
          <p:nvSpPr>
            <p:cNvPr id="30" name="文本框 29">
              <a:extLst>
                <a:ext uri="{FF2B5EF4-FFF2-40B4-BE49-F238E27FC236}">
                  <a16:creationId xmlns:a16="http://schemas.microsoft.com/office/drawing/2014/main" id="{C3882536-C0E4-ABB7-C616-04EC95E6264E}"/>
                </a:ext>
              </a:extLst>
            </p:cNvPr>
            <p:cNvSpPr txBox="1"/>
            <p:nvPr/>
          </p:nvSpPr>
          <p:spPr>
            <a:xfrm>
              <a:off x="10531092" y="1387012"/>
              <a:ext cx="327334" cy="369332"/>
            </a:xfrm>
            <a:prstGeom prst="rect">
              <a:avLst/>
            </a:prstGeom>
            <a:noFill/>
          </p:spPr>
          <p:txBody>
            <a:bodyPr wrap="none" rtlCol="0">
              <a:spAutoFit/>
            </a:bodyPr>
            <a:lstStyle/>
            <a:p>
              <a:r>
                <a:rPr lang="en-US" altLang="zh-CN" dirty="0"/>
                <a:t>u</a:t>
              </a:r>
              <a:endParaRPr lang="zh-CN" altLang="en-US" dirty="0"/>
            </a:p>
          </p:txBody>
        </p:sp>
        <p:sp>
          <p:nvSpPr>
            <p:cNvPr id="12" name="矩形 11">
              <a:extLst>
                <a:ext uri="{FF2B5EF4-FFF2-40B4-BE49-F238E27FC236}">
                  <a16:creationId xmlns:a16="http://schemas.microsoft.com/office/drawing/2014/main" id="{C01DFFAE-3556-5F59-31A9-7CE81684BB1A}"/>
                </a:ext>
              </a:extLst>
            </p:cNvPr>
            <p:cNvSpPr/>
            <p:nvPr/>
          </p:nvSpPr>
          <p:spPr>
            <a:xfrm>
              <a:off x="8297333" y="2164700"/>
              <a:ext cx="215900" cy="231367"/>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0D35A8C8-934F-27B9-A5E2-9A72947C6771}"/>
                </a:ext>
              </a:extLst>
            </p:cNvPr>
            <p:cNvSpPr txBox="1"/>
            <p:nvPr/>
          </p:nvSpPr>
          <p:spPr>
            <a:xfrm>
              <a:off x="11522058" y="2731192"/>
              <a:ext cx="306494" cy="369332"/>
            </a:xfrm>
            <a:prstGeom prst="rect">
              <a:avLst/>
            </a:prstGeom>
            <a:noFill/>
          </p:spPr>
          <p:txBody>
            <a:bodyPr wrap="none" rtlCol="0">
              <a:spAutoFit/>
            </a:bodyPr>
            <a:lstStyle/>
            <a:p>
              <a:r>
                <a:rPr lang="en-US" altLang="zh-CN" dirty="0"/>
                <a:t>v</a:t>
              </a:r>
              <a:endParaRPr lang="zh-CN" altLang="en-US" dirty="0"/>
            </a:p>
          </p:txBody>
        </p:sp>
        <p:cxnSp>
          <p:nvCxnSpPr>
            <p:cNvPr id="44" name="直接箭头连接符 43">
              <a:extLst>
                <a:ext uri="{FF2B5EF4-FFF2-40B4-BE49-F238E27FC236}">
                  <a16:creationId xmlns:a16="http://schemas.microsoft.com/office/drawing/2014/main" id="{890342F8-41E2-4D45-9EA7-DFB802EA4AED}"/>
                </a:ext>
              </a:extLst>
            </p:cNvPr>
            <p:cNvCxnSpPr>
              <a:cxnSpLocks/>
            </p:cNvCxnSpPr>
            <p:nvPr/>
          </p:nvCxnSpPr>
          <p:spPr>
            <a:xfrm>
              <a:off x="8297333" y="2396067"/>
              <a:ext cx="2159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C3D7A31D-B131-7D38-C06F-5F62C457750B}"/>
                </a:ext>
              </a:extLst>
            </p:cNvPr>
            <p:cNvCxnSpPr>
              <a:cxnSpLocks/>
            </p:cNvCxnSpPr>
            <p:nvPr/>
          </p:nvCxnSpPr>
          <p:spPr>
            <a:xfrm flipV="1">
              <a:off x="8297333" y="2171700"/>
              <a:ext cx="0" cy="22436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5" name="矩形 14">
              <a:extLst>
                <a:ext uri="{FF2B5EF4-FFF2-40B4-BE49-F238E27FC236}">
                  <a16:creationId xmlns:a16="http://schemas.microsoft.com/office/drawing/2014/main" id="{AA57536F-34A9-B7CF-602F-4D3D51345722}"/>
                </a:ext>
              </a:extLst>
            </p:cNvPr>
            <p:cNvSpPr/>
            <p:nvPr/>
          </p:nvSpPr>
          <p:spPr>
            <a:xfrm>
              <a:off x="10757191" y="2337301"/>
              <a:ext cx="204788" cy="301215"/>
            </a:xfrm>
            <a:custGeom>
              <a:avLst/>
              <a:gdLst>
                <a:gd name="connsiteX0" fmla="*/ 0 w 215900"/>
                <a:gd name="connsiteY0" fmla="*/ 0 h 231367"/>
                <a:gd name="connsiteX1" fmla="*/ 215900 w 215900"/>
                <a:gd name="connsiteY1" fmla="*/ 0 h 231367"/>
                <a:gd name="connsiteX2" fmla="*/ 215900 w 215900"/>
                <a:gd name="connsiteY2" fmla="*/ 231367 h 231367"/>
                <a:gd name="connsiteX3" fmla="*/ 0 w 215900"/>
                <a:gd name="connsiteY3" fmla="*/ 231367 h 231367"/>
                <a:gd name="connsiteX4" fmla="*/ 0 w 215900"/>
                <a:gd name="connsiteY4" fmla="*/ 0 h 231367"/>
                <a:gd name="connsiteX0" fmla="*/ 50800 w 266700"/>
                <a:gd name="connsiteY0" fmla="*/ 0 h 231367"/>
                <a:gd name="connsiteX1" fmla="*/ 266700 w 266700"/>
                <a:gd name="connsiteY1" fmla="*/ 0 h 231367"/>
                <a:gd name="connsiteX2" fmla="*/ 266700 w 266700"/>
                <a:gd name="connsiteY2" fmla="*/ 231367 h 231367"/>
                <a:gd name="connsiteX3" fmla="*/ 0 w 266700"/>
                <a:gd name="connsiteY3" fmla="*/ 157283 h 231367"/>
                <a:gd name="connsiteX4" fmla="*/ 50800 w 266700"/>
                <a:gd name="connsiteY4" fmla="*/ 0 h 231367"/>
                <a:gd name="connsiteX0" fmla="*/ 50800 w 266700"/>
                <a:gd name="connsiteY0" fmla="*/ 0 h 231367"/>
                <a:gd name="connsiteX1" fmla="*/ 137584 w 266700"/>
                <a:gd name="connsiteY1" fmla="*/ 118534 h 231367"/>
                <a:gd name="connsiteX2" fmla="*/ 266700 w 266700"/>
                <a:gd name="connsiteY2" fmla="*/ 231367 h 231367"/>
                <a:gd name="connsiteX3" fmla="*/ 0 w 266700"/>
                <a:gd name="connsiteY3" fmla="*/ 157283 h 231367"/>
                <a:gd name="connsiteX4" fmla="*/ 50800 w 266700"/>
                <a:gd name="connsiteY4" fmla="*/ 0 h 231367"/>
                <a:gd name="connsiteX0" fmla="*/ 50800 w 137584"/>
                <a:gd name="connsiteY0" fmla="*/ 0 h 332967"/>
                <a:gd name="connsiteX1" fmla="*/ 137584 w 137584"/>
                <a:gd name="connsiteY1" fmla="*/ 118534 h 332967"/>
                <a:gd name="connsiteX2" fmla="*/ 80433 w 137584"/>
                <a:gd name="connsiteY2" fmla="*/ 332967 h 332967"/>
                <a:gd name="connsiteX3" fmla="*/ 0 w 137584"/>
                <a:gd name="connsiteY3" fmla="*/ 157283 h 332967"/>
                <a:gd name="connsiteX4" fmla="*/ 50800 w 137584"/>
                <a:gd name="connsiteY4" fmla="*/ 0 h 332967"/>
                <a:gd name="connsiteX0" fmla="*/ 50800 w 196851"/>
                <a:gd name="connsiteY0" fmla="*/ 0 h 332967"/>
                <a:gd name="connsiteX1" fmla="*/ 196851 w 196851"/>
                <a:gd name="connsiteY1" fmla="*/ 127000 h 332967"/>
                <a:gd name="connsiteX2" fmla="*/ 80433 w 196851"/>
                <a:gd name="connsiteY2" fmla="*/ 332967 h 332967"/>
                <a:gd name="connsiteX3" fmla="*/ 0 w 196851"/>
                <a:gd name="connsiteY3" fmla="*/ 157283 h 332967"/>
                <a:gd name="connsiteX4" fmla="*/ 50800 w 196851"/>
                <a:gd name="connsiteY4" fmla="*/ 0 h 332967"/>
                <a:gd name="connsiteX0" fmla="*/ 50800 w 196851"/>
                <a:gd name="connsiteY0" fmla="*/ 0 h 288517"/>
                <a:gd name="connsiteX1" fmla="*/ 196851 w 196851"/>
                <a:gd name="connsiteY1" fmla="*/ 127000 h 288517"/>
                <a:gd name="connsiteX2" fmla="*/ 152399 w 196851"/>
                <a:gd name="connsiteY2" fmla="*/ 288517 h 288517"/>
                <a:gd name="connsiteX3" fmla="*/ 0 w 196851"/>
                <a:gd name="connsiteY3" fmla="*/ 157283 h 288517"/>
                <a:gd name="connsiteX4" fmla="*/ 50800 w 196851"/>
                <a:gd name="connsiteY4" fmla="*/ 0 h 288517"/>
                <a:gd name="connsiteX0" fmla="*/ 50800 w 196851"/>
                <a:gd name="connsiteY0" fmla="*/ 0 h 286400"/>
                <a:gd name="connsiteX1" fmla="*/ 196851 w 196851"/>
                <a:gd name="connsiteY1" fmla="*/ 127000 h 286400"/>
                <a:gd name="connsiteX2" fmla="*/ 167216 w 196851"/>
                <a:gd name="connsiteY2" fmla="*/ 286400 h 286400"/>
                <a:gd name="connsiteX3" fmla="*/ 0 w 196851"/>
                <a:gd name="connsiteY3" fmla="*/ 157283 h 286400"/>
                <a:gd name="connsiteX4" fmla="*/ 50800 w 196851"/>
                <a:gd name="connsiteY4" fmla="*/ 0 h 286400"/>
                <a:gd name="connsiteX0" fmla="*/ 50800 w 196851"/>
                <a:gd name="connsiteY0" fmla="*/ 0 h 275816"/>
                <a:gd name="connsiteX1" fmla="*/ 196851 w 196851"/>
                <a:gd name="connsiteY1" fmla="*/ 127000 h 275816"/>
                <a:gd name="connsiteX2" fmla="*/ 152399 w 196851"/>
                <a:gd name="connsiteY2" fmla="*/ 275816 h 275816"/>
                <a:gd name="connsiteX3" fmla="*/ 0 w 196851"/>
                <a:gd name="connsiteY3" fmla="*/ 157283 h 275816"/>
                <a:gd name="connsiteX4" fmla="*/ 50800 w 196851"/>
                <a:gd name="connsiteY4" fmla="*/ 0 h 275816"/>
                <a:gd name="connsiteX0" fmla="*/ 50800 w 196851"/>
                <a:gd name="connsiteY0" fmla="*/ 0 h 275816"/>
                <a:gd name="connsiteX1" fmla="*/ 196851 w 196851"/>
                <a:gd name="connsiteY1" fmla="*/ 127000 h 275816"/>
                <a:gd name="connsiteX2" fmla="*/ 136524 w 196851"/>
                <a:gd name="connsiteY2" fmla="*/ 275816 h 275816"/>
                <a:gd name="connsiteX3" fmla="*/ 0 w 196851"/>
                <a:gd name="connsiteY3" fmla="*/ 157283 h 275816"/>
                <a:gd name="connsiteX4" fmla="*/ 50800 w 196851"/>
                <a:gd name="connsiteY4" fmla="*/ 0 h 275816"/>
                <a:gd name="connsiteX0" fmla="*/ 50800 w 196851"/>
                <a:gd name="connsiteY0" fmla="*/ 0 h 280578"/>
                <a:gd name="connsiteX1" fmla="*/ 196851 w 196851"/>
                <a:gd name="connsiteY1" fmla="*/ 127000 h 280578"/>
                <a:gd name="connsiteX2" fmla="*/ 144461 w 196851"/>
                <a:gd name="connsiteY2" fmla="*/ 280578 h 280578"/>
                <a:gd name="connsiteX3" fmla="*/ 0 w 196851"/>
                <a:gd name="connsiteY3" fmla="*/ 157283 h 280578"/>
                <a:gd name="connsiteX4" fmla="*/ 50800 w 196851"/>
                <a:gd name="connsiteY4" fmla="*/ 0 h 280578"/>
                <a:gd name="connsiteX0" fmla="*/ 50800 w 196851"/>
                <a:gd name="connsiteY0" fmla="*/ 0 h 277403"/>
                <a:gd name="connsiteX1" fmla="*/ 196851 w 196851"/>
                <a:gd name="connsiteY1" fmla="*/ 127000 h 277403"/>
                <a:gd name="connsiteX2" fmla="*/ 134936 w 196851"/>
                <a:gd name="connsiteY2" fmla="*/ 277403 h 277403"/>
                <a:gd name="connsiteX3" fmla="*/ 0 w 196851"/>
                <a:gd name="connsiteY3" fmla="*/ 157283 h 277403"/>
                <a:gd name="connsiteX4" fmla="*/ 50800 w 196851"/>
                <a:gd name="connsiteY4" fmla="*/ 0 h 277403"/>
                <a:gd name="connsiteX0" fmla="*/ 55562 w 201613"/>
                <a:gd name="connsiteY0" fmla="*/ 0 h 277403"/>
                <a:gd name="connsiteX1" fmla="*/ 201613 w 201613"/>
                <a:gd name="connsiteY1" fmla="*/ 127000 h 277403"/>
                <a:gd name="connsiteX2" fmla="*/ 139698 w 201613"/>
                <a:gd name="connsiteY2" fmla="*/ 277403 h 277403"/>
                <a:gd name="connsiteX3" fmla="*/ 0 w 201613"/>
                <a:gd name="connsiteY3" fmla="*/ 168396 h 277403"/>
                <a:gd name="connsiteX4" fmla="*/ 55562 w 201613"/>
                <a:gd name="connsiteY4" fmla="*/ 0 h 277403"/>
                <a:gd name="connsiteX0" fmla="*/ 58737 w 204788"/>
                <a:gd name="connsiteY0" fmla="*/ 0 h 277403"/>
                <a:gd name="connsiteX1" fmla="*/ 204788 w 204788"/>
                <a:gd name="connsiteY1" fmla="*/ 127000 h 277403"/>
                <a:gd name="connsiteX2" fmla="*/ 142873 w 204788"/>
                <a:gd name="connsiteY2" fmla="*/ 277403 h 277403"/>
                <a:gd name="connsiteX3" fmla="*/ 0 w 204788"/>
                <a:gd name="connsiteY3" fmla="*/ 176334 h 277403"/>
                <a:gd name="connsiteX4" fmla="*/ 58737 w 204788"/>
                <a:gd name="connsiteY4" fmla="*/ 0 h 277403"/>
                <a:gd name="connsiteX0" fmla="*/ 58737 w 204788"/>
                <a:gd name="connsiteY0" fmla="*/ 0 h 301215"/>
                <a:gd name="connsiteX1" fmla="*/ 204788 w 204788"/>
                <a:gd name="connsiteY1" fmla="*/ 127000 h 301215"/>
                <a:gd name="connsiteX2" fmla="*/ 141285 w 204788"/>
                <a:gd name="connsiteY2" fmla="*/ 301215 h 301215"/>
                <a:gd name="connsiteX3" fmla="*/ 0 w 204788"/>
                <a:gd name="connsiteY3" fmla="*/ 176334 h 301215"/>
                <a:gd name="connsiteX4" fmla="*/ 58737 w 204788"/>
                <a:gd name="connsiteY4" fmla="*/ 0 h 3012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4788" h="301215">
                  <a:moveTo>
                    <a:pt x="58737" y="0"/>
                  </a:moveTo>
                  <a:lnTo>
                    <a:pt x="204788" y="127000"/>
                  </a:lnTo>
                  <a:lnTo>
                    <a:pt x="141285" y="301215"/>
                  </a:lnTo>
                  <a:lnTo>
                    <a:pt x="0" y="176334"/>
                  </a:lnTo>
                  <a:lnTo>
                    <a:pt x="58737" y="0"/>
                  </a:lnTo>
                  <a:close/>
                </a:path>
              </a:pathLst>
            </a:cu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49" name="直接箭头连接符 48">
              <a:extLst>
                <a:ext uri="{FF2B5EF4-FFF2-40B4-BE49-F238E27FC236}">
                  <a16:creationId xmlns:a16="http://schemas.microsoft.com/office/drawing/2014/main" id="{58A79106-6187-531F-DA8A-418DF02E3BF5}"/>
                </a:ext>
              </a:extLst>
            </p:cNvPr>
            <p:cNvCxnSpPr>
              <a:cxnSpLocks/>
            </p:cNvCxnSpPr>
            <p:nvPr/>
          </p:nvCxnSpPr>
          <p:spPr>
            <a:xfrm>
              <a:off x="10815928" y="2337302"/>
              <a:ext cx="144172" cy="12853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269D3965-8142-B465-B6F1-D56B098BF55C}"/>
                </a:ext>
              </a:extLst>
            </p:cNvPr>
            <p:cNvCxnSpPr>
              <a:cxnSpLocks/>
            </p:cNvCxnSpPr>
            <p:nvPr/>
          </p:nvCxnSpPr>
          <p:spPr>
            <a:xfrm flipH="1">
              <a:off x="10756735" y="2337302"/>
              <a:ext cx="59193" cy="173567"/>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F19A8699-E180-6012-E112-49E21DC114B2}"/>
                    </a:ext>
                  </a:extLst>
                </p:cNvPr>
                <p:cNvSpPr txBox="1"/>
                <p:nvPr/>
              </p:nvSpPr>
              <p:spPr>
                <a:xfrm>
                  <a:off x="8297333" y="2400833"/>
                  <a:ext cx="387734"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100" i="1" dirty="0" smtClean="0">
                            <a:latin typeface="Cambria Math" panose="02040503050406030204" pitchFamily="18" charset="0"/>
                          </a:rPr>
                          <m:t>𝑑𝑥</m:t>
                        </m:r>
                      </m:oMath>
                    </m:oMathPara>
                  </a14:m>
                  <a:endParaRPr lang="zh-CN" altLang="en-US" sz="1100" dirty="0"/>
                </a:p>
              </p:txBody>
            </p:sp>
          </mc:Choice>
          <mc:Fallback xmlns="">
            <p:sp>
              <p:nvSpPr>
                <p:cNvPr id="57" name="文本框 56">
                  <a:extLst>
                    <a:ext uri="{FF2B5EF4-FFF2-40B4-BE49-F238E27FC236}">
                      <a16:creationId xmlns:a16="http://schemas.microsoft.com/office/drawing/2014/main" id="{F19A8699-E180-6012-E112-49E21DC114B2}"/>
                    </a:ext>
                  </a:extLst>
                </p:cNvPr>
                <p:cNvSpPr txBox="1">
                  <a:spLocks noRot="1" noChangeAspect="1" noMove="1" noResize="1" noEditPoints="1" noAdjustHandles="1" noChangeArrowheads="1" noChangeShapeType="1" noTextEdit="1"/>
                </p:cNvSpPr>
                <p:nvPr/>
              </p:nvSpPr>
              <p:spPr>
                <a:xfrm>
                  <a:off x="8297333" y="2400833"/>
                  <a:ext cx="387734" cy="261610"/>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0" name="文本框 59">
                  <a:extLst>
                    <a:ext uri="{FF2B5EF4-FFF2-40B4-BE49-F238E27FC236}">
                      <a16:creationId xmlns:a16="http://schemas.microsoft.com/office/drawing/2014/main" id="{2798F056-DF6D-6A19-2CB2-E88980FFB12C}"/>
                    </a:ext>
                  </a:extLst>
                </p:cNvPr>
                <p:cNvSpPr txBox="1"/>
                <p:nvPr/>
              </p:nvSpPr>
              <p:spPr>
                <a:xfrm>
                  <a:off x="7975125" y="2080755"/>
                  <a:ext cx="389081"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100" i="1" dirty="0" smtClean="0">
                            <a:solidFill>
                              <a:schemeClr val="bg1"/>
                            </a:solidFill>
                            <a:latin typeface="Cambria Math" panose="02040503050406030204" pitchFamily="18" charset="0"/>
                          </a:rPr>
                          <m:t>𝑑𝑦</m:t>
                        </m:r>
                      </m:oMath>
                    </m:oMathPara>
                  </a14:m>
                  <a:endParaRPr lang="zh-CN" altLang="en-US" sz="1100" dirty="0">
                    <a:solidFill>
                      <a:schemeClr val="bg1"/>
                    </a:solidFill>
                  </a:endParaRPr>
                </a:p>
              </p:txBody>
            </p:sp>
          </mc:Choice>
          <mc:Fallback xmlns="">
            <p:sp>
              <p:nvSpPr>
                <p:cNvPr id="60" name="文本框 59">
                  <a:extLst>
                    <a:ext uri="{FF2B5EF4-FFF2-40B4-BE49-F238E27FC236}">
                      <a16:creationId xmlns:a16="http://schemas.microsoft.com/office/drawing/2014/main" id="{2798F056-DF6D-6A19-2CB2-E88980FFB12C}"/>
                    </a:ext>
                  </a:extLst>
                </p:cNvPr>
                <p:cNvSpPr txBox="1">
                  <a:spLocks noRot="1" noChangeAspect="1" noMove="1" noResize="1" noEditPoints="1" noAdjustHandles="1" noChangeArrowheads="1" noChangeShapeType="1" noTextEdit="1"/>
                </p:cNvSpPr>
                <p:nvPr/>
              </p:nvSpPr>
              <p:spPr>
                <a:xfrm>
                  <a:off x="7975125" y="2080755"/>
                  <a:ext cx="389081" cy="261610"/>
                </a:xfrm>
                <a:prstGeom prst="rect">
                  <a:avLst/>
                </a:prstGeom>
                <a:blipFill>
                  <a:blip r:embed="rId8"/>
                  <a:stretch>
                    <a:fillRect b="-69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05F00D0D-A7E3-73CA-D71F-5B2CFE63378D}"/>
                    </a:ext>
                  </a:extLst>
                </p:cNvPr>
                <p:cNvSpPr txBox="1"/>
                <p:nvPr/>
              </p:nvSpPr>
              <p:spPr>
                <a:xfrm>
                  <a:off x="10795562" y="2169460"/>
                  <a:ext cx="391839" cy="2616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sz="1100" i="1" dirty="0" smtClean="0">
                            <a:latin typeface="Cambria Math" panose="02040503050406030204" pitchFamily="18" charset="0"/>
                          </a:rPr>
                          <m:t>𝑑</m:t>
                        </m:r>
                        <m:r>
                          <a:rPr lang="en-US" altLang="zh-CN" sz="1100" b="0" i="1" dirty="0" smtClean="0">
                            <a:latin typeface="Cambria Math" panose="02040503050406030204" pitchFamily="18" charset="0"/>
                          </a:rPr>
                          <m:t>𝑢</m:t>
                        </m:r>
                      </m:oMath>
                    </m:oMathPara>
                  </a14:m>
                  <a:endParaRPr lang="zh-CN" altLang="en-US" sz="1100" dirty="0"/>
                </a:p>
              </p:txBody>
            </p:sp>
          </mc:Choice>
          <mc:Fallback xmlns="">
            <p:sp>
              <p:nvSpPr>
                <p:cNvPr id="61" name="文本框 60">
                  <a:extLst>
                    <a:ext uri="{FF2B5EF4-FFF2-40B4-BE49-F238E27FC236}">
                      <a16:creationId xmlns:a16="http://schemas.microsoft.com/office/drawing/2014/main" id="{05F00D0D-A7E3-73CA-D71F-5B2CFE63378D}"/>
                    </a:ext>
                  </a:extLst>
                </p:cNvPr>
                <p:cNvSpPr txBox="1">
                  <a:spLocks noRot="1" noChangeAspect="1" noMove="1" noResize="1" noEditPoints="1" noAdjustHandles="1" noChangeArrowheads="1" noChangeShapeType="1" noTextEdit="1"/>
                </p:cNvSpPr>
                <p:nvPr/>
              </p:nvSpPr>
              <p:spPr>
                <a:xfrm>
                  <a:off x="10795562" y="2169460"/>
                  <a:ext cx="391839" cy="26161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2" name="文本框 61">
                  <a:extLst>
                    <a:ext uri="{FF2B5EF4-FFF2-40B4-BE49-F238E27FC236}">
                      <a16:creationId xmlns:a16="http://schemas.microsoft.com/office/drawing/2014/main" id="{9CB96D91-C9CF-A541-DA2A-B77362CE2FBF}"/>
                    </a:ext>
                  </a:extLst>
                </p:cNvPr>
                <p:cNvSpPr txBox="1"/>
                <p:nvPr/>
              </p:nvSpPr>
              <p:spPr>
                <a:xfrm>
                  <a:off x="10501119" y="2240228"/>
                  <a:ext cx="276971" cy="26161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100" i="1" dirty="0" smtClean="0">
                            <a:solidFill>
                              <a:schemeClr val="bg1"/>
                            </a:solidFill>
                            <a:latin typeface="Cambria Math" panose="02040503050406030204" pitchFamily="18" charset="0"/>
                          </a:rPr>
                          <m:t>𝑑𝑣</m:t>
                        </m:r>
                      </m:oMath>
                    </m:oMathPara>
                  </a14:m>
                  <a:endParaRPr lang="zh-CN" altLang="en-US" sz="1100" dirty="0">
                    <a:solidFill>
                      <a:schemeClr val="bg1"/>
                    </a:solidFill>
                  </a:endParaRPr>
                </a:p>
              </p:txBody>
            </p:sp>
          </mc:Choice>
          <mc:Fallback xmlns="">
            <p:sp>
              <p:nvSpPr>
                <p:cNvPr id="62" name="文本框 61">
                  <a:extLst>
                    <a:ext uri="{FF2B5EF4-FFF2-40B4-BE49-F238E27FC236}">
                      <a16:creationId xmlns:a16="http://schemas.microsoft.com/office/drawing/2014/main" id="{9CB96D91-C9CF-A541-DA2A-B77362CE2FBF}"/>
                    </a:ext>
                  </a:extLst>
                </p:cNvPr>
                <p:cNvSpPr txBox="1">
                  <a:spLocks noRot="1" noChangeAspect="1" noMove="1" noResize="1" noEditPoints="1" noAdjustHandles="1" noChangeArrowheads="1" noChangeShapeType="1" noTextEdit="1"/>
                </p:cNvSpPr>
                <p:nvPr/>
              </p:nvSpPr>
              <p:spPr>
                <a:xfrm>
                  <a:off x="10501119" y="2240228"/>
                  <a:ext cx="276971" cy="261610"/>
                </a:xfrm>
                <a:prstGeom prst="rect">
                  <a:avLst/>
                </a:prstGeom>
                <a:blipFill>
                  <a:blip r:embed="rId10"/>
                  <a:stretch>
                    <a:fillRect r="-8889"/>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4327342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EAFC7-927B-2C24-F581-6EEED4193A27}"/>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C0D0B4E4-2025-5002-B20E-64187D6A60A4}"/>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基于微表面理论的</a:t>
            </a:r>
            <a:r>
              <a:rPr lang="en-US" altLang="zh-CN" dirty="0"/>
              <a:t>BRDF —— </a:t>
            </a:r>
            <a:r>
              <a:rPr lang="zh-CN" altLang="en-US" dirty="0"/>
              <a:t>计算雅可比行列式</a:t>
            </a:r>
            <a:endParaRPr lang="en-US" altLang="zh-CN" dirty="0"/>
          </a:p>
        </p:txBody>
      </p:sp>
      <p:sp>
        <p:nvSpPr>
          <p:cNvPr id="5" name="矩形 4">
            <a:extLst>
              <a:ext uri="{FF2B5EF4-FFF2-40B4-BE49-F238E27FC236}">
                <a16:creationId xmlns:a16="http://schemas.microsoft.com/office/drawing/2014/main" id="{8FE0728C-C220-FE82-699A-34C502EBF1E7}"/>
              </a:ext>
            </a:extLst>
          </p:cNvPr>
          <p:cNvSpPr/>
          <p:nvPr/>
        </p:nvSpPr>
        <p:spPr>
          <a:xfrm>
            <a:off x="631110" y="1315233"/>
            <a:ext cx="6673652"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431BCA23-95AE-E5C3-A595-69D1E9A4B208}"/>
                  </a:ext>
                </a:extLst>
              </p:cNvPr>
              <p:cNvSpPr/>
              <p:nvPr/>
            </p:nvSpPr>
            <p:spPr>
              <a:xfrm>
                <a:off x="478710" y="1144044"/>
                <a:ext cx="6673652"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14:m>
                  <m:oMathPara xmlns:m="http://schemas.openxmlformats.org/officeDocument/2006/math">
                    <m:oMathParaPr>
                      <m:jc m:val="centerGroup"/>
                    </m:oMathParaPr>
                    <m:oMath xmlns:m="http://schemas.openxmlformats.org/officeDocument/2006/math">
                      <m:r>
                        <a:rPr lang="zh-CN" altLang="en-US" sz="1500" i="1" smtClean="0">
                          <a:solidFill>
                            <a:schemeClr val="tx1"/>
                          </a:solidFill>
                          <a:latin typeface="Cambria Math" panose="02040503050406030204" pitchFamily="18" charset="0"/>
                        </a:rPr>
                        <m:t>对于</m:t>
                      </m:r>
                      <m:r>
                        <a:rPr lang="zh-CN" altLang="en-US" sz="1500" i="1">
                          <a:solidFill>
                            <a:schemeClr val="tx1"/>
                          </a:solidFill>
                          <a:latin typeface="Cambria Math" panose="02040503050406030204" pitchFamily="18" charset="0"/>
                        </a:rPr>
                        <m:t>参考</m:t>
                      </m:r>
                      <m:r>
                        <m:rPr>
                          <m:sty m:val="p"/>
                        </m:rPr>
                        <a:rPr lang="en-US" altLang="zh-CN" sz="1500" i="1">
                          <a:solidFill>
                            <a:schemeClr val="tx1"/>
                          </a:solidFill>
                          <a:latin typeface="Cambria Math" panose="02040503050406030204" pitchFamily="18" charset="0"/>
                        </a:rPr>
                        <m:t>y</m:t>
                      </m:r>
                      <m:r>
                        <a:rPr lang="zh-CN" altLang="en-US" sz="1500" i="1" smtClean="0">
                          <a:solidFill>
                            <a:schemeClr val="tx1"/>
                          </a:solidFill>
                          <a:latin typeface="Cambria Math" panose="02040503050406030204" pitchFamily="18" charset="0"/>
                        </a:rPr>
                        <m:t>轴</m:t>
                      </m:r>
                      <m:r>
                        <a:rPr lang="zh-CN" altLang="en-US" sz="1500" i="1">
                          <a:solidFill>
                            <a:schemeClr val="tx1"/>
                          </a:solidFill>
                          <a:latin typeface="Cambria Math" panose="02040503050406030204" pitchFamily="18" charset="0"/>
                        </a:rPr>
                        <m:t>不同</m:t>
                      </m:r>
                      <m:r>
                        <a:rPr lang="zh-CN" altLang="en-US" sz="1500" i="1" smtClean="0">
                          <a:solidFill>
                            <a:schemeClr val="tx1"/>
                          </a:solidFill>
                          <a:latin typeface="Cambria Math" panose="02040503050406030204" pitchFamily="18" charset="0"/>
                        </a:rPr>
                        <m:t>的</m:t>
                      </m:r>
                      <m:r>
                        <a:rPr lang="zh-CN" altLang="en-US" sz="1500" i="1">
                          <a:solidFill>
                            <a:schemeClr val="tx1"/>
                          </a:solidFill>
                          <a:latin typeface="Cambria Math" panose="02040503050406030204" pitchFamily="18" charset="0"/>
                        </a:rPr>
                        <m:t>球极</m:t>
                      </m:r>
                      <m:r>
                        <a:rPr lang="zh-CN" altLang="en-US" sz="1500" i="1" smtClean="0">
                          <a:solidFill>
                            <a:schemeClr val="tx1"/>
                          </a:solidFill>
                          <a:latin typeface="Cambria Math" panose="02040503050406030204" pitchFamily="18" charset="0"/>
                        </a:rPr>
                        <m:t>坐标系</m:t>
                      </m:r>
                      <m:r>
                        <a:rPr lang="zh-CN" altLang="en-US" sz="1500" i="1">
                          <a:solidFill>
                            <a:schemeClr val="tx1"/>
                          </a:solidFill>
                          <a:latin typeface="Cambria Math" panose="02040503050406030204" pitchFamily="18" charset="0"/>
                        </a:rPr>
                        <m:t>，</m:t>
                      </m:r>
                      <m:r>
                        <a:rPr lang="zh-CN" altLang="en-US" sz="1500" i="1" smtClean="0">
                          <a:solidFill>
                            <a:schemeClr val="tx1"/>
                          </a:solidFill>
                          <a:latin typeface="Cambria Math" panose="02040503050406030204" pitchFamily="18" charset="0"/>
                        </a:rPr>
                        <m:t>它们</m:t>
                      </m:r>
                      <m:r>
                        <a:rPr lang="en-US" altLang="zh-CN" sz="1500" b="0" i="1" smtClean="0">
                          <a:solidFill>
                            <a:schemeClr val="tx1"/>
                          </a:solidFill>
                          <a:latin typeface="Cambria Math" panose="02040503050406030204" pitchFamily="18" charset="0"/>
                        </a:rPr>
                        <m:t>𝑑</m:t>
                      </m:r>
                      <m:sSub>
                        <m:sSubPr>
                          <m:ctrlPr>
                            <a:rPr lang="en-US" altLang="zh-CN" sz="1500" b="0" i="1" smtClean="0">
                              <a:solidFill>
                                <a:schemeClr val="tx1"/>
                              </a:solidFill>
                              <a:latin typeface="Cambria Math" panose="02040503050406030204" pitchFamily="18" charset="0"/>
                            </a:rPr>
                          </m:ctrlPr>
                        </m:sSubPr>
                        <m:e>
                          <m:r>
                            <a:rPr lang="en-US" altLang="zh-CN" sz="1500" b="0" i="1" smtClean="0">
                              <a:solidFill>
                                <a:schemeClr val="tx1"/>
                              </a:solidFill>
                              <a:latin typeface="Cambria Math" panose="02040503050406030204" pitchFamily="18" charset="0"/>
                            </a:rPr>
                            <m:t>𝜔</m:t>
                          </m:r>
                        </m:e>
                        <m:sub>
                          <m:r>
                            <a:rPr lang="en-US" altLang="zh-CN" sz="1500" b="0" i="1" smtClean="0">
                              <a:solidFill>
                                <a:schemeClr val="tx1"/>
                              </a:solidFill>
                              <a:latin typeface="Cambria Math" panose="02040503050406030204" pitchFamily="18" charset="0"/>
                            </a:rPr>
                            <m:t>𝑚</m:t>
                          </m:r>
                        </m:sub>
                      </m:sSub>
                      <m:r>
                        <a:rPr lang="zh-CN" altLang="en-US" sz="1500" i="1">
                          <a:solidFill>
                            <a:schemeClr val="tx1"/>
                          </a:solidFill>
                          <a:latin typeface="Cambria Math" panose="02040503050406030204" pitchFamily="18" charset="0"/>
                        </a:rPr>
                        <m:t>与</m:t>
                      </m:r>
                      <m:r>
                        <a:rPr lang="en-US" altLang="zh-CN" sz="1500" b="0" i="1" smtClean="0">
                          <a:solidFill>
                            <a:schemeClr val="tx1"/>
                          </a:solidFill>
                          <a:latin typeface="Cambria Math" panose="02040503050406030204" pitchFamily="18" charset="0"/>
                        </a:rPr>
                        <m:t>𝑑</m:t>
                      </m:r>
                      <m:sSub>
                        <m:sSubPr>
                          <m:ctrlPr>
                            <a:rPr lang="en-US" altLang="zh-CN" sz="1500" b="0" i="1" smtClean="0">
                              <a:solidFill>
                                <a:schemeClr val="tx1"/>
                              </a:solidFill>
                              <a:latin typeface="Cambria Math" panose="02040503050406030204" pitchFamily="18" charset="0"/>
                            </a:rPr>
                          </m:ctrlPr>
                        </m:sSubPr>
                        <m:e>
                          <m:r>
                            <a:rPr lang="en-US" altLang="zh-CN" sz="1500" b="0" i="1" smtClean="0">
                              <a:solidFill>
                                <a:schemeClr val="tx1"/>
                              </a:solidFill>
                              <a:latin typeface="Cambria Math" panose="02040503050406030204" pitchFamily="18" charset="0"/>
                            </a:rPr>
                            <m:t>𝜔</m:t>
                          </m:r>
                        </m:e>
                        <m:sub>
                          <m:r>
                            <a:rPr lang="en-US" altLang="zh-CN" sz="1500" b="0" i="1" smtClean="0">
                              <a:solidFill>
                                <a:schemeClr val="tx1"/>
                              </a:solidFill>
                              <a:latin typeface="Cambria Math" panose="02040503050406030204" pitchFamily="18" charset="0"/>
                            </a:rPr>
                            <m:t>𝑖</m:t>
                          </m:r>
                        </m:sub>
                      </m:sSub>
                      <m:r>
                        <a:rPr lang="zh-CN" altLang="en-US" sz="1500" i="1">
                          <a:solidFill>
                            <a:schemeClr val="tx1"/>
                          </a:solidFill>
                          <a:latin typeface="Cambria Math" panose="02040503050406030204" pitchFamily="18" charset="0"/>
                        </a:rPr>
                        <m:t>的</m:t>
                      </m:r>
                      <m:r>
                        <a:rPr lang="zh-CN" altLang="en-US" sz="1500" i="1" smtClean="0">
                          <a:solidFill>
                            <a:schemeClr val="tx1"/>
                          </a:solidFill>
                          <a:latin typeface="Cambria Math" panose="02040503050406030204" pitchFamily="18" charset="0"/>
                        </a:rPr>
                        <m:t>关系</m:t>
                      </m:r>
                      <m:r>
                        <a:rPr lang="zh-CN" altLang="en-US" sz="1500" i="1">
                          <a:solidFill>
                            <a:schemeClr val="tx1"/>
                          </a:solidFill>
                          <a:latin typeface="Cambria Math" panose="02040503050406030204" pitchFamily="18" charset="0"/>
                        </a:rPr>
                        <m:t>不会</m:t>
                      </m:r>
                      <m:r>
                        <a:rPr lang="zh-CN" altLang="en-US" sz="1500" i="1" smtClean="0">
                          <a:solidFill>
                            <a:schemeClr val="tx1"/>
                          </a:solidFill>
                          <a:latin typeface="Cambria Math" panose="02040503050406030204" pitchFamily="18" charset="0"/>
                        </a:rPr>
                        <m:t>改变</m:t>
                      </m:r>
                    </m:oMath>
                  </m:oMathPara>
                </a14:m>
                <a:endParaRPr lang="en-US" altLang="zh-CN" sz="150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1500" b="0" i="1" dirty="0">
                          <a:solidFill>
                            <a:schemeClr val="tx1"/>
                          </a:solidFill>
                          <a:latin typeface="Cambria Math" panose="02040503050406030204" pitchFamily="18" charset="0"/>
                        </a:rPr>
                        <m:t>所以</m:t>
                      </m:r>
                      <m:r>
                        <a:rPr lang="zh-CN" altLang="en-US" sz="1500" i="1" dirty="0" smtClean="0">
                          <a:solidFill>
                            <a:schemeClr val="tx1"/>
                          </a:solidFill>
                          <a:latin typeface="Cambria Math" panose="02040503050406030204" pitchFamily="18" charset="0"/>
                        </a:rPr>
                        <m:t>我们</m:t>
                      </m:r>
                      <m:r>
                        <a:rPr lang="zh-CN" altLang="en-US" sz="1500" i="1" dirty="0">
                          <a:solidFill>
                            <a:schemeClr val="tx1"/>
                          </a:solidFill>
                          <a:latin typeface="Cambria Math" panose="02040503050406030204" pitchFamily="18" charset="0"/>
                        </a:rPr>
                        <m:t>将</m:t>
                      </m:r>
                      <m:r>
                        <a:rPr lang="en-US" altLang="zh-CN" sz="1500" b="1" i="1" dirty="0" smtClean="0">
                          <a:solidFill>
                            <a:schemeClr val="tx1"/>
                          </a:solidFill>
                          <a:latin typeface="Cambria Math" panose="02040503050406030204" pitchFamily="18" charset="0"/>
                        </a:rPr>
                        <m:t>𝒐</m:t>
                      </m:r>
                      <m:r>
                        <a:rPr lang="zh-CN" altLang="en-US" sz="1500" i="1" dirty="0">
                          <a:solidFill>
                            <a:schemeClr val="tx1"/>
                          </a:solidFill>
                          <a:latin typeface="Cambria Math" panose="02040503050406030204" pitchFamily="18" charset="0"/>
                        </a:rPr>
                        <m:t>对齐</m:t>
                      </m:r>
                      <m:r>
                        <a:rPr lang="zh-CN" altLang="en-US" sz="1500" i="1" dirty="0" smtClean="0">
                          <a:solidFill>
                            <a:schemeClr val="tx1"/>
                          </a:solidFill>
                          <a:latin typeface="Cambria Math" panose="02040503050406030204" pitchFamily="18" charset="0"/>
                        </a:rPr>
                        <m:t>到</m:t>
                      </m:r>
                      <m:r>
                        <a:rPr lang="en-US" altLang="zh-CN" sz="1500" b="0" i="1" dirty="0" smtClean="0">
                          <a:solidFill>
                            <a:schemeClr val="tx1"/>
                          </a:solidFill>
                          <a:latin typeface="Cambria Math" panose="02040503050406030204" pitchFamily="18" charset="0"/>
                        </a:rPr>
                        <m:t>𝑦</m:t>
                      </m:r>
                      <m:r>
                        <a:rPr lang="zh-CN" altLang="en-US" sz="1500" i="1" dirty="0">
                          <a:solidFill>
                            <a:schemeClr val="tx1"/>
                          </a:solidFill>
                          <a:latin typeface="Cambria Math" panose="02040503050406030204" pitchFamily="18" charset="0"/>
                        </a:rPr>
                        <m:t>轴</m:t>
                      </m:r>
                      <m:r>
                        <a:rPr lang="zh-CN" altLang="en-US" sz="1500" i="1" dirty="0" smtClean="0">
                          <a:solidFill>
                            <a:schemeClr val="tx1"/>
                          </a:solidFill>
                          <a:latin typeface="Cambria Math" panose="02040503050406030204" pitchFamily="18" charset="0"/>
                        </a:rPr>
                        <m:t>，</m:t>
                      </m:r>
                      <m:r>
                        <a:rPr lang="zh-CN" altLang="en-US" sz="1500" i="1" dirty="0">
                          <a:solidFill>
                            <a:schemeClr val="tx1"/>
                          </a:solidFill>
                          <a:latin typeface="Cambria Math" panose="02040503050406030204" pitchFamily="18" charset="0"/>
                        </a:rPr>
                        <m:t>研究</m:t>
                      </m:r>
                      <m:r>
                        <a:rPr lang="en-US" altLang="zh-CN" sz="1500" b="0" i="1" dirty="0" smtClean="0">
                          <a:solidFill>
                            <a:schemeClr val="tx1"/>
                          </a:solidFill>
                          <a:latin typeface="Cambria Math" panose="02040503050406030204" pitchFamily="18" charset="0"/>
                        </a:rPr>
                        <m:t>𝑑</m:t>
                      </m:r>
                      <m:sSub>
                        <m:sSubPr>
                          <m:ctrlPr>
                            <a:rPr lang="en-US" altLang="zh-CN" sz="1500" b="0" i="1" dirty="0" smtClean="0">
                              <a:solidFill>
                                <a:schemeClr val="tx1"/>
                              </a:solidFill>
                              <a:latin typeface="Cambria Math" panose="02040503050406030204" pitchFamily="18" charset="0"/>
                            </a:rPr>
                          </m:ctrlPr>
                        </m:sSubPr>
                        <m:e>
                          <m:r>
                            <a:rPr lang="en-US" altLang="zh-CN" sz="1500" b="0" i="1" dirty="0" smtClean="0">
                              <a:solidFill>
                                <a:schemeClr val="tx1"/>
                              </a:solidFill>
                              <a:latin typeface="Cambria Math" panose="02040503050406030204" pitchFamily="18" charset="0"/>
                            </a:rPr>
                            <m:t>𝜔</m:t>
                          </m:r>
                        </m:e>
                        <m:sub>
                          <m:r>
                            <a:rPr lang="en-US" altLang="zh-CN" sz="1500" b="0" i="1" dirty="0" smtClean="0">
                              <a:solidFill>
                                <a:schemeClr val="tx1"/>
                              </a:solidFill>
                              <a:latin typeface="Cambria Math" panose="02040503050406030204" pitchFamily="18" charset="0"/>
                            </a:rPr>
                            <m:t>𝑚</m:t>
                          </m:r>
                        </m:sub>
                      </m:sSub>
                      <m:r>
                        <a:rPr lang="zh-CN" altLang="en-US" sz="1500" i="1" dirty="0">
                          <a:solidFill>
                            <a:schemeClr val="tx1"/>
                          </a:solidFill>
                          <a:latin typeface="Cambria Math" panose="02040503050406030204" pitchFamily="18" charset="0"/>
                        </a:rPr>
                        <m:t>与</m:t>
                      </m:r>
                      <m:r>
                        <a:rPr lang="en-US" altLang="zh-CN" sz="1500" b="0" i="1" dirty="0" smtClean="0">
                          <a:solidFill>
                            <a:schemeClr val="tx1"/>
                          </a:solidFill>
                          <a:latin typeface="Cambria Math" panose="02040503050406030204" pitchFamily="18" charset="0"/>
                        </a:rPr>
                        <m:t>𝑑</m:t>
                      </m:r>
                      <m:sSub>
                        <m:sSubPr>
                          <m:ctrlPr>
                            <a:rPr lang="en-US" altLang="zh-CN" sz="1500" b="0" i="1" dirty="0" smtClean="0">
                              <a:solidFill>
                                <a:schemeClr val="tx1"/>
                              </a:solidFill>
                              <a:latin typeface="Cambria Math" panose="02040503050406030204" pitchFamily="18" charset="0"/>
                            </a:rPr>
                          </m:ctrlPr>
                        </m:sSubPr>
                        <m:e>
                          <m:r>
                            <a:rPr lang="en-US" altLang="zh-CN" sz="1500" b="0" i="1" dirty="0" smtClean="0">
                              <a:solidFill>
                                <a:schemeClr val="tx1"/>
                              </a:solidFill>
                              <a:latin typeface="Cambria Math" panose="02040503050406030204" pitchFamily="18" charset="0"/>
                            </a:rPr>
                            <m:t>𝜔</m:t>
                          </m:r>
                        </m:e>
                        <m:sub>
                          <m:r>
                            <a:rPr lang="en-US" altLang="zh-CN" sz="1500" b="0" i="1" dirty="0" smtClean="0">
                              <a:solidFill>
                                <a:schemeClr val="tx1"/>
                              </a:solidFill>
                              <a:latin typeface="Cambria Math" panose="02040503050406030204" pitchFamily="18" charset="0"/>
                            </a:rPr>
                            <m:t>𝑖</m:t>
                          </m:r>
                        </m:sub>
                      </m:sSub>
                      <m:r>
                        <a:rPr lang="zh-CN" altLang="en-US" sz="1500" i="1" dirty="0">
                          <a:solidFill>
                            <a:schemeClr val="tx1"/>
                          </a:solidFill>
                          <a:latin typeface="Cambria Math" panose="02040503050406030204" pitchFamily="18" charset="0"/>
                        </a:rPr>
                        <m:t>的</m:t>
                      </m:r>
                      <m:r>
                        <a:rPr lang="zh-CN" altLang="en-US" sz="1500" i="1" dirty="0" smtClean="0">
                          <a:solidFill>
                            <a:schemeClr val="tx1"/>
                          </a:solidFill>
                          <a:latin typeface="Cambria Math" panose="02040503050406030204" pitchFamily="18" charset="0"/>
                        </a:rPr>
                        <m:t>关系</m:t>
                      </m:r>
                    </m:oMath>
                  </m:oMathPara>
                </a14:m>
                <a:endParaRPr lang="en-US" altLang="zh-CN" sz="1500" b="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500" b="0" i="1" smtClean="0">
                              <a:solidFill>
                                <a:schemeClr val="tx1"/>
                              </a:solidFill>
                              <a:latin typeface="Cambria Math" panose="02040503050406030204" pitchFamily="18" charset="0"/>
                            </a:rPr>
                          </m:ctrlPr>
                        </m:sSubPr>
                        <m:e>
                          <m:r>
                            <a:rPr lang="en-US" altLang="zh-CN" sz="1500" b="0" i="1" smtClean="0">
                              <a:solidFill>
                                <a:schemeClr val="tx1"/>
                              </a:solidFill>
                              <a:latin typeface="Cambria Math" panose="02040503050406030204" pitchFamily="18" charset="0"/>
                            </a:rPr>
                            <m:t>𝜃</m:t>
                          </m:r>
                        </m:e>
                        <m:sub>
                          <m:r>
                            <a:rPr lang="en-US" altLang="zh-CN" sz="1500" b="0" i="1" smtClean="0">
                              <a:solidFill>
                                <a:schemeClr val="tx1"/>
                              </a:solidFill>
                              <a:latin typeface="Cambria Math" panose="02040503050406030204" pitchFamily="18" charset="0"/>
                            </a:rPr>
                            <m:t>𝑖</m:t>
                          </m:r>
                        </m:sub>
                      </m:sSub>
                      <m:r>
                        <a:rPr lang="en-US" altLang="zh-CN" sz="1500" b="0" i="1" smtClean="0">
                          <a:solidFill>
                            <a:schemeClr val="tx1"/>
                          </a:solidFill>
                          <a:latin typeface="Cambria Math" panose="02040503050406030204" pitchFamily="18" charset="0"/>
                        </a:rPr>
                        <m:t>=2</m:t>
                      </m:r>
                      <m:sSub>
                        <m:sSubPr>
                          <m:ctrlPr>
                            <a:rPr lang="en-US" altLang="zh-CN" sz="1500" b="0" i="1" smtClean="0">
                              <a:solidFill>
                                <a:schemeClr val="tx1"/>
                              </a:solidFill>
                              <a:latin typeface="Cambria Math" panose="02040503050406030204" pitchFamily="18" charset="0"/>
                            </a:rPr>
                          </m:ctrlPr>
                        </m:sSubPr>
                        <m:e>
                          <m:r>
                            <a:rPr lang="en-US" altLang="zh-CN" sz="1500" b="0" i="1" smtClean="0">
                              <a:solidFill>
                                <a:schemeClr val="tx1"/>
                              </a:solidFill>
                              <a:latin typeface="Cambria Math" panose="02040503050406030204" pitchFamily="18" charset="0"/>
                            </a:rPr>
                            <m:t>𝜃</m:t>
                          </m:r>
                        </m:e>
                        <m:sub>
                          <m:r>
                            <a:rPr lang="en-US" altLang="zh-CN" sz="1500" b="0" i="1" smtClean="0">
                              <a:solidFill>
                                <a:schemeClr val="tx1"/>
                              </a:solidFill>
                              <a:latin typeface="Cambria Math" panose="02040503050406030204" pitchFamily="18" charset="0"/>
                            </a:rPr>
                            <m:t>𝑚</m:t>
                          </m:r>
                        </m:sub>
                      </m:sSub>
                      <m:r>
                        <a:rPr lang="en-US" altLang="zh-CN" sz="1500" b="0" i="1" smtClean="0">
                          <a:solidFill>
                            <a:schemeClr val="tx1"/>
                          </a:solidFill>
                          <a:latin typeface="Cambria Math" panose="02040503050406030204" pitchFamily="18" charset="0"/>
                        </a:rPr>
                        <m:t>,  </m:t>
                      </m:r>
                      <m:sSub>
                        <m:sSubPr>
                          <m:ctrlPr>
                            <a:rPr lang="en-US" altLang="zh-CN" sz="1500" b="0" i="1" smtClean="0">
                              <a:solidFill>
                                <a:schemeClr val="tx1"/>
                              </a:solidFill>
                              <a:latin typeface="Cambria Math" panose="02040503050406030204" pitchFamily="18" charset="0"/>
                            </a:rPr>
                          </m:ctrlPr>
                        </m:sSubPr>
                        <m:e>
                          <m:r>
                            <a:rPr lang="en-US" altLang="zh-CN" sz="1500" b="0" i="1" smtClean="0">
                              <a:solidFill>
                                <a:schemeClr val="tx1"/>
                              </a:solidFill>
                              <a:latin typeface="Cambria Math" panose="02040503050406030204" pitchFamily="18" charset="0"/>
                            </a:rPr>
                            <m:t>𝜙</m:t>
                          </m:r>
                        </m:e>
                        <m:sub>
                          <m:r>
                            <a:rPr lang="en-US" altLang="zh-CN" sz="1500" b="0" i="1" smtClean="0">
                              <a:solidFill>
                                <a:schemeClr val="tx1"/>
                              </a:solidFill>
                              <a:latin typeface="Cambria Math" panose="02040503050406030204" pitchFamily="18" charset="0"/>
                            </a:rPr>
                            <m:t>𝑖</m:t>
                          </m:r>
                        </m:sub>
                      </m:sSub>
                      <m:r>
                        <a:rPr lang="en-US" altLang="zh-CN" sz="1500" b="0" i="1" smtClean="0">
                          <a:solidFill>
                            <a:schemeClr val="tx1"/>
                          </a:solidFill>
                          <a:latin typeface="Cambria Math" panose="02040503050406030204" pitchFamily="18" charset="0"/>
                        </a:rPr>
                        <m:t>=</m:t>
                      </m:r>
                      <m:sSub>
                        <m:sSubPr>
                          <m:ctrlPr>
                            <a:rPr lang="en-US" altLang="zh-CN" sz="1500" b="0" i="1" smtClean="0">
                              <a:solidFill>
                                <a:schemeClr val="tx1"/>
                              </a:solidFill>
                              <a:latin typeface="Cambria Math" panose="02040503050406030204" pitchFamily="18" charset="0"/>
                            </a:rPr>
                          </m:ctrlPr>
                        </m:sSubPr>
                        <m:e>
                          <m:r>
                            <a:rPr lang="en-US" altLang="zh-CN" sz="1500" b="0" i="1" smtClean="0">
                              <a:solidFill>
                                <a:schemeClr val="tx1"/>
                              </a:solidFill>
                              <a:latin typeface="Cambria Math" panose="02040503050406030204" pitchFamily="18" charset="0"/>
                            </a:rPr>
                            <m:t>𝜙</m:t>
                          </m:r>
                        </m:e>
                        <m:sub>
                          <m:r>
                            <a:rPr lang="en-US" altLang="zh-CN" sz="1500" b="0" i="1" smtClean="0">
                              <a:solidFill>
                                <a:schemeClr val="tx1"/>
                              </a:solidFill>
                              <a:latin typeface="Cambria Math" panose="02040503050406030204" pitchFamily="18" charset="0"/>
                            </a:rPr>
                            <m:t>𝑚</m:t>
                          </m:r>
                        </m:sub>
                      </m:sSub>
                    </m:oMath>
                  </m:oMathPara>
                </a14:m>
                <a:endParaRPr lang="en-US" altLang="zh-CN" sz="1500" b="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f>
                        <m:fPr>
                          <m:ctrlPr>
                            <a:rPr lang="en-US" altLang="zh-CN" sz="1500" b="0" i="1" smtClean="0">
                              <a:solidFill>
                                <a:schemeClr val="tx1"/>
                              </a:solidFill>
                              <a:latin typeface="Cambria Math" panose="02040503050406030204" pitchFamily="18" charset="0"/>
                            </a:rPr>
                          </m:ctrlPr>
                        </m:fPr>
                        <m:num>
                          <m:r>
                            <a:rPr lang="en-US" altLang="zh-CN" sz="1500" i="1">
                              <a:solidFill>
                                <a:schemeClr val="tx1"/>
                              </a:solidFill>
                              <a:latin typeface="Cambria Math" panose="02040503050406030204" pitchFamily="18" charset="0"/>
                            </a:rPr>
                            <m:t>𝜕</m:t>
                          </m:r>
                          <m:sSub>
                            <m:sSubPr>
                              <m:ctrlPr>
                                <a:rPr lang="en-US" altLang="zh-CN" sz="1500" b="0" i="1" smtClean="0">
                                  <a:solidFill>
                                    <a:schemeClr val="tx1"/>
                                  </a:solidFill>
                                  <a:latin typeface="Cambria Math" panose="02040503050406030204" pitchFamily="18" charset="0"/>
                                </a:rPr>
                              </m:ctrlPr>
                            </m:sSubPr>
                            <m:e>
                              <m:r>
                                <a:rPr lang="en-US" altLang="zh-CN" sz="1500" b="0" i="1" smtClean="0">
                                  <a:solidFill>
                                    <a:schemeClr val="tx1"/>
                                  </a:solidFill>
                                  <a:latin typeface="Cambria Math" panose="02040503050406030204" pitchFamily="18" charset="0"/>
                                </a:rPr>
                                <m:t>𝜃</m:t>
                              </m:r>
                            </m:e>
                            <m:sub>
                              <m:r>
                                <a:rPr lang="en-US" altLang="zh-CN" sz="1500" b="0" i="1" smtClean="0">
                                  <a:solidFill>
                                    <a:schemeClr val="tx1"/>
                                  </a:solidFill>
                                  <a:latin typeface="Cambria Math" panose="02040503050406030204" pitchFamily="18" charset="0"/>
                                </a:rPr>
                                <m:t>𝑚</m:t>
                              </m:r>
                            </m:sub>
                          </m:sSub>
                        </m:num>
                        <m:den>
                          <m:r>
                            <a:rPr lang="en-US" altLang="zh-CN" sz="1500" i="1">
                              <a:solidFill>
                                <a:schemeClr val="tx1"/>
                              </a:solidFill>
                              <a:latin typeface="Cambria Math" panose="02040503050406030204" pitchFamily="18" charset="0"/>
                            </a:rPr>
                            <m:t>𝜕</m:t>
                          </m:r>
                          <m:sSub>
                            <m:sSubPr>
                              <m:ctrlPr>
                                <a:rPr lang="en-US" altLang="zh-CN" sz="1500" i="1">
                                  <a:solidFill>
                                    <a:schemeClr val="tx1"/>
                                  </a:solidFill>
                                  <a:latin typeface="Cambria Math" panose="02040503050406030204" pitchFamily="18" charset="0"/>
                                </a:rPr>
                              </m:ctrlPr>
                            </m:sSubPr>
                            <m:e>
                              <m:r>
                                <a:rPr lang="en-US" altLang="zh-CN" sz="1500" i="1">
                                  <a:solidFill>
                                    <a:schemeClr val="tx1"/>
                                  </a:solidFill>
                                  <a:latin typeface="Cambria Math" panose="02040503050406030204" pitchFamily="18" charset="0"/>
                                </a:rPr>
                                <m:t>𝜃</m:t>
                              </m:r>
                            </m:e>
                            <m:sub>
                              <m:r>
                                <a:rPr lang="en-US" altLang="zh-CN" sz="1500" b="0" i="1" smtClean="0">
                                  <a:solidFill>
                                    <a:schemeClr val="tx1"/>
                                  </a:solidFill>
                                  <a:latin typeface="Cambria Math" panose="02040503050406030204" pitchFamily="18" charset="0"/>
                                </a:rPr>
                                <m:t>𝑖</m:t>
                              </m:r>
                            </m:sub>
                          </m:sSub>
                        </m:den>
                      </m:f>
                      <m:r>
                        <a:rPr lang="en-US" altLang="zh-CN" sz="1500" b="0" i="1" smtClean="0">
                          <a:solidFill>
                            <a:schemeClr val="tx1"/>
                          </a:solidFill>
                          <a:latin typeface="Cambria Math" panose="02040503050406030204" pitchFamily="18" charset="0"/>
                        </a:rPr>
                        <m:t>=</m:t>
                      </m:r>
                      <m:f>
                        <m:fPr>
                          <m:ctrlPr>
                            <a:rPr lang="en-US" altLang="zh-CN" sz="1500" b="0" i="1" smtClean="0">
                              <a:solidFill>
                                <a:schemeClr val="tx1"/>
                              </a:solidFill>
                              <a:latin typeface="Cambria Math" panose="02040503050406030204" pitchFamily="18" charset="0"/>
                            </a:rPr>
                          </m:ctrlPr>
                        </m:fPr>
                        <m:num>
                          <m:r>
                            <a:rPr lang="en-US" altLang="zh-CN" sz="1500" b="0" i="1" smtClean="0">
                              <a:solidFill>
                                <a:schemeClr val="tx1"/>
                              </a:solidFill>
                              <a:latin typeface="Cambria Math" panose="02040503050406030204" pitchFamily="18" charset="0"/>
                            </a:rPr>
                            <m:t>1</m:t>
                          </m:r>
                        </m:num>
                        <m:den>
                          <m:r>
                            <a:rPr lang="en-US" altLang="zh-CN" sz="1500" b="0" i="1" smtClean="0">
                              <a:solidFill>
                                <a:schemeClr val="tx1"/>
                              </a:solidFill>
                              <a:latin typeface="Cambria Math" panose="02040503050406030204" pitchFamily="18" charset="0"/>
                            </a:rPr>
                            <m:t>2</m:t>
                          </m:r>
                        </m:den>
                      </m:f>
                      <m:r>
                        <a:rPr lang="en-US" altLang="zh-CN" sz="1500" b="0" i="1" smtClean="0">
                          <a:solidFill>
                            <a:schemeClr val="tx1"/>
                          </a:solidFill>
                          <a:latin typeface="Cambria Math" panose="02040503050406030204" pitchFamily="18" charset="0"/>
                        </a:rPr>
                        <m:t>,  </m:t>
                      </m:r>
                      <m:f>
                        <m:fPr>
                          <m:ctrlPr>
                            <a:rPr lang="en-US" altLang="zh-CN" sz="1500" b="0" i="1" smtClean="0">
                              <a:solidFill>
                                <a:schemeClr val="tx1"/>
                              </a:solidFill>
                              <a:latin typeface="Cambria Math" panose="02040503050406030204" pitchFamily="18" charset="0"/>
                            </a:rPr>
                          </m:ctrlPr>
                        </m:fPr>
                        <m:num>
                          <m:sSub>
                            <m:sSubPr>
                              <m:ctrlPr>
                                <a:rPr lang="en-US" altLang="zh-CN" sz="1500" b="0" i="1" smtClean="0">
                                  <a:solidFill>
                                    <a:schemeClr val="tx1"/>
                                  </a:solidFill>
                                  <a:latin typeface="Cambria Math" panose="02040503050406030204" pitchFamily="18" charset="0"/>
                                </a:rPr>
                              </m:ctrlPr>
                            </m:sSubPr>
                            <m:e>
                              <m:r>
                                <a:rPr lang="en-US" altLang="zh-CN" sz="1500" b="0" i="1" smtClean="0">
                                  <a:solidFill>
                                    <a:schemeClr val="tx1"/>
                                  </a:solidFill>
                                  <a:latin typeface="Cambria Math" panose="02040503050406030204" pitchFamily="18" charset="0"/>
                                </a:rPr>
                                <m:t>𝜕𝜙</m:t>
                              </m:r>
                            </m:e>
                            <m:sub>
                              <m:r>
                                <a:rPr lang="en-US" altLang="zh-CN" sz="1500" b="0" i="1" smtClean="0">
                                  <a:solidFill>
                                    <a:schemeClr val="tx1"/>
                                  </a:solidFill>
                                  <a:latin typeface="Cambria Math" panose="02040503050406030204" pitchFamily="18" charset="0"/>
                                </a:rPr>
                                <m:t>𝑚</m:t>
                              </m:r>
                            </m:sub>
                          </m:sSub>
                        </m:num>
                        <m:den>
                          <m:r>
                            <a:rPr lang="en-US" altLang="zh-CN" sz="1500" b="0" i="1" smtClean="0">
                              <a:solidFill>
                                <a:schemeClr val="tx1"/>
                              </a:solidFill>
                              <a:latin typeface="Cambria Math" panose="02040503050406030204" pitchFamily="18" charset="0"/>
                            </a:rPr>
                            <m:t>𝜕</m:t>
                          </m:r>
                          <m:sSub>
                            <m:sSubPr>
                              <m:ctrlPr>
                                <a:rPr lang="en-US" altLang="zh-CN" sz="1500" i="1">
                                  <a:solidFill>
                                    <a:schemeClr val="tx1"/>
                                  </a:solidFill>
                                  <a:latin typeface="Cambria Math" panose="02040503050406030204" pitchFamily="18" charset="0"/>
                                </a:rPr>
                              </m:ctrlPr>
                            </m:sSubPr>
                            <m:e>
                              <m:r>
                                <a:rPr lang="en-US" altLang="zh-CN" sz="1500" i="1">
                                  <a:solidFill>
                                    <a:schemeClr val="tx1"/>
                                  </a:solidFill>
                                  <a:latin typeface="Cambria Math" panose="02040503050406030204" pitchFamily="18" charset="0"/>
                                </a:rPr>
                                <m:t>𝜙</m:t>
                              </m:r>
                            </m:e>
                            <m:sub>
                              <m:r>
                                <a:rPr lang="en-US" altLang="zh-CN" sz="1500" b="0" i="1" smtClean="0">
                                  <a:solidFill>
                                    <a:schemeClr val="tx1"/>
                                  </a:solidFill>
                                  <a:latin typeface="Cambria Math" panose="02040503050406030204" pitchFamily="18" charset="0"/>
                                </a:rPr>
                                <m:t>𝑖</m:t>
                              </m:r>
                            </m:sub>
                          </m:sSub>
                        </m:den>
                      </m:f>
                      <m:r>
                        <a:rPr lang="en-US" altLang="zh-CN" sz="1500" b="0" i="1" smtClean="0">
                          <a:solidFill>
                            <a:schemeClr val="tx1"/>
                          </a:solidFill>
                          <a:latin typeface="Cambria Math" panose="02040503050406030204" pitchFamily="18" charset="0"/>
                        </a:rPr>
                        <m:t>=1,  </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r>
                        <a:rPr lang="en-US" altLang="zh-CN" sz="1400" b="0" i="1" dirty="0" smtClean="0">
                          <a:solidFill>
                            <a:schemeClr val="tx1"/>
                          </a:solidFill>
                          <a:latin typeface="Cambria Math" panose="02040503050406030204" pitchFamily="18" charset="0"/>
                        </a:rPr>
                        <m:t>=0,  </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den>
                      </m:f>
                      <m:r>
                        <a:rPr lang="en-US" altLang="zh-CN" sz="1400" b="0" i="1" dirty="0" smtClean="0">
                          <a:solidFill>
                            <a:schemeClr val="tx1"/>
                          </a:solidFill>
                          <a:latin typeface="Cambria Math" panose="02040503050406030204" pitchFamily="18" charset="0"/>
                        </a:rPr>
                        <m:t>=0</m:t>
                      </m:r>
                    </m:oMath>
                  </m:oMathPara>
                </a14:m>
                <a:endParaRPr lang="en-US" altLang="zh-CN" sz="1500" b="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d>
                        <m:dPr>
                          <m:begChr m:val="|"/>
                          <m:endChr m:val="|"/>
                          <m:ctrlPr>
                            <a:rPr lang="en-US" altLang="zh-CN" sz="1600" i="1" dirty="0">
                              <a:solidFill>
                                <a:schemeClr val="tx1"/>
                              </a:solidFill>
                              <a:latin typeface="Cambria Math" panose="02040503050406030204" pitchFamily="18" charset="0"/>
                            </a:rPr>
                          </m:ctrlPr>
                        </m:dPr>
                        <m:e>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det</m:t>
                              </m:r>
                            </m:fName>
                            <m:e>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num>
                                    <m:den>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𝑖</m:t>
                                          </m:r>
                                        </m:sub>
                                      </m:sSub>
                                    </m:den>
                                  </m:f>
                                  <m:r>
                                    <a:rPr lang="en-US" altLang="zh-CN" sz="1600" i="1" dirty="0">
                                      <a:solidFill>
                                        <a:schemeClr val="tx1"/>
                                      </a:solidFill>
                                      <a:latin typeface="Cambria Math" panose="02040503050406030204" pitchFamily="18" charset="0"/>
                                    </a:rPr>
                                    <m:t> </m:t>
                                  </m:r>
                                </m:e>
                              </m:d>
                            </m:e>
                          </m:func>
                        </m:e>
                      </m:d>
                      <m:r>
                        <a:rPr lang="en-US" altLang="zh-CN" sz="16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num>
                        <m:den>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e>
                          </m:func>
                        </m:den>
                      </m:f>
                      <m:d>
                        <m:dPr>
                          <m:begChr m:val="|"/>
                          <m:endChr m:val="|"/>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den>
                          </m:f>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den>
                          </m:f>
                        </m:e>
                      </m:d>
                    </m:oMath>
                  </m:oMathPara>
                </a14:m>
                <a:endParaRPr lang="en-US" altLang="zh-CN" sz="140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zh-CN" sz="1500" b="0" i="1" smtClean="0">
                          <a:solidFill>
                            <a:schemeClr val="tx1"/>
                          </a:solidFill>
                          <a:latin typeface="Cambria Math" panose="02040503050406030204" pitchFamily="18" charset="0"/>
                        </a:rPr>
                        <m:t>=</m:t>
                      </m:r>
                      <m:f>
                        <m:fPr>
                          <m:ctrlPr>
                            <a:rPr lang="en-US" altLang="zh-CN" sz="1500" b="0" i="1" smtClean="0">
                              <a:solidFill>
                                <a:schemeClr val="tx1"/>
                              </a:solidFill>
                              <a:latin typeface="Cambria Math" panose="02040503050406030204" pitchFamily="18" charset="0"/>
                            </a:rPr>
                          </m:ctrlPr>
                        </m:fPr>
                        <m:num>
                          <m:r>
                            <a:rPr lang="en-US" altLang="zh-CN" sz="1500" b="0" i="1" smtClean="0">
                              <a:solidFill>
                                <a:schemeClr val="tx1"/>
                              </a:solidFill>
                              <a:latin typeface="Cambria Math" panose="02040503050406030204" pitchFamily="18" charset="0"/>
                            </a:rPr>
                            <m:t>𝑠𝑖𝑛</m:t>
                          </m:r>
                          <m:sSub>
                            <m:sSubPr>
                              <m:ctrlPr>
                                <a:rPr lang="en-US" altLang="zh-CN" sz="1500" b="0" i="1" smtClean="0">
                                  <a:solidFill>
                                    <a:schemeClr val="tx1"/>
                                  </a:solidFill>
                                  <a:latin typeface="Cambria Math" panose="02040503050406030204" pitchFamily="18" charset="0"/>
                                </a:rPr>
                              </m:ctrlPr>
                            </m:sSubPr>
                            <m:e>
                              <m:r>
                                <a:rPr lang="en-US" altLang="zh-CN" sz="1500" b="0" i="1" smtClean="0">
                                  <a:solidFill>
                                    <a:schemeClr val="tx1"/>
                                  </a:solidFill>
                                  <a:latin typeface="Cambria Math" panose="02040503050406030204" pitchFamily="18" charset="0"/>
                                </a:rPr>
                                <m:t>𝜃</m:t>
                              </m:r>
                            </m:e>
                            <m:sub>
                              <m:r>
                                <a:rPr lang="en-US" altLang="zh-CN" sz="1500" b="0" i="1" smtClean="0">
                                  <a:solidFill>
                                    <a:schemeClr val="tx1"/>
                                  </a:solidFill>
                                  <a:latin typeface="Cambria Math" panose="02040503050406030204" pitchFamily="18" charset="0"/>
                                </a:rPr>
                                <m:t>𝑚</m:t>
                              </m:r>
                            </m:sub>
                          </m:sSub>
                        </m:num>
                        <m:den>
                          <m:r>
                            <a:rPr lang="en-US" altLang="zh-CN" sz="1500" b="0" i="1" smtClean="0">
                              <a:solidFill>
                                <a:schemeClr val="tx1"/>
                              </a:solidFill>
                              <a:latin typeface="Cambria Math" panose="02040503050406030204" pitchFamily="18" charset="0"/>
                            </a:rPr>
                            <m:t>2 </m:t>
                          </m:r>
                          <m:r>
                            <a:rPr lang="en-US" altLang="zh-CN" sz="1500" b="0" i="1" smtClean="0">
                              <a:solidFill>
                                <a:schemeClr val="tx1"/>
                              </a:solidFill>
                              <a:latin typeface="Cambria Math" panose="02040503050406030204" pitchFamily="18" charset="0"/>
                            </a:rPr>
                            <m:t>𝑠𝑖𝑛</m:t>
                          </m:r>
                          <m:sSub>
                            <m:sSubPr>
                              <m:ctrlPr>
                                <a:rPr lang="en-US" altLang="zh-CN" sz="1500" b="0" i="1" smtClean="0">
                                  <a:solidFill>
                                    <a:schemeClr val="tx1"/>
                                  </a:solidFill>
                                  <a:latin typeface="Cambria Math" panose="02040503050406030204" pitchFamily="18" charset="0"/>
                                </a:rPr>
                              </m:ctrlPr>
                            </m:sSubPr>
                            <m:e>
                              <m:r>
                                <a:rPr lang="en-US" altLang="zh-CN" sz="1500" b="0" i="1" smtClean="0">
                                  <a:solidFill>
                                    <a:schemeClr val="tx1"/>
                                  </a:solidFill>
                                  <a:latin typeface="Cambria Math" panose="02040503050406030204" pitchFamily="18" charset="0"/>
                                </a:rPr>
                                <m:t>𝜃</m:t>
                              </m:r>
                            </m:e>
                            <m:sub>
                              <m:r>
                                <a:rPr lang="en-US" altLang="zh-CN" sz="1500" b="0" i="1" smtClean="0">
                                  <a:solidFill>
                                    <a:schemeClr val="tx1"/>
                                  </a:solidFill>
                                  <a:latin typeface="Cambria Math" panose="02040503050406030204" pitchFamily="18" charset="0"/>
                                </a:rPr>
                                <m:t>𝑖</m:t>
                              </m:r>
                            </m:sub>
                          </m:sSub>
                        </m:den>
                      </m:f>
                      <m:r>
                        <a:rPr lang="en-US" altLang="zh-CN" sz="1500" b="0" i="1" smtClean="0">
                          <a:solidFill>
                            <a:schemeClr val="tx1"/>
                          </a:solidFill>
                          <a:latin typeface="Cambria Math" panose="02040503050406030204" pitchFamily="18" charset="0"/>
                        </a:rPr>
                        <m:t>=</m:t>
                      </m:r>
                      <m:f>
                        <m:fPr>
                          <m:ctrlPr>
                            <a:rPr lang="en-US" altLang="zh-CN" sz="1500" i="1">
                              <a:solidFill>
                                <a:schemeClr val="tx1"/>
                              </a:solidFill>
                              <a:latin typeface="Cambria Math" panose="02040503050406030204" pitchFamily="18" charset="0"/>
                            </a:rPr>
                          </m:ctrlPr>
                        </m:fPr>
                        <m:num>
                          <m:r>
                            <a:rPr lang="en-US" altLang="zh-CN" sz="1500" i="1">
                              <a:solidFill>
                                <a:schemeClr val="tx1"/>
                              </a:solidFill>
                              <a:latin typeface="Cambria Math" panose="02040503050406030204" pitchFamily="18" charset="0"/>
                            </a:rPr>
                            <m:t>𝑠𝑖𝑛</m:t>
                          </m:r>
                          <m:sSub>
                            <m:sSubPr>
                              <m:ctrlPr>
                                <a:rPr lang="en-US" altLang="zh-CN" sz="1500" i="1">
                                  <a:solidFill>
                                    <a:schemeClr val="tx1"/>
                                  </a:solidFill>
                                  <a:latin typeface="Cambria Math" panose="02040503050406030204" pitchFamily="18" charset="0"/>
                                </a:rPr>
                              </m:ctrlPr>
                            </m:sSubPr>
                            <m:e>
                              <m:r>
                                <a:rPr lang="en-US" altLang="zh-CN" sz="1500" i="1">
                                  <a:solidFill>
                                    <a:schemeClr val="tx1"/>
                                  </a:solidFill>
                                  <a:latin typeface="Cambria Math" panose="02040503050406030204" pitchFamily="18" charset="0"/>
                                </a:rPr>
                                <m:t>𝜃</m:t>
                              </m:r>
                            </m:e>
                            <m:sub>
                              <m:r>
                                <a:rPr lang="en-US" altLang="zh-CN" sz="1500" i="1">
                                  <a:solidFill>
                                    <a:schemeClr val="tx1"/>
                                  </a:solidFill>
                                  <a:latin typeface="Cambria Math" panose="02040503050406030204" pitchFamily="18" charset="0"/>
                                </a:rPr>
                                <m:t>𝑚</m:t>
                              </m:r>
                            </m:sub>
                          </m:sSub>
                        </m:num>
                        <m:den>
                          <m:r>
                            <a:rPr lang="en-US" altLang="zh-CN" sz="1500" i="1">
                              <a:solidFill>
                                <a:schemeClr val="tx1"/>
                              </a:solidFill>
                              <a:latin typeface="Cambria Math" panose="02040503050406030204" pitchFamily="18" charset="0"/>
                            </a:rPr>
                            <m:t>2 </m:t>
                          </m:r>
                          <m:r>
                            <a:rPr lang="en-US" altLang="zh-CN" sz="1500" i="1">
                              <a:solidFill>
                                <a:schemeClr val="tx1"/>
                              </a:solidFill>
                              <a:latin typeface="Cambria Math" panose="02040503050406030204" pitchFamily="18" charset="0"/>
                            </a:rPr>
                            <m:t>𝑠𝑖𝑛</m:t>
                          </m:r>
                          <m:r>
                            <a:rPr lang="en-US" altLang="zh-CN" sz="1500" b="0" i="1" smtClean="0">
                              <a:solidFill>
                                <a:schemeClr val="tx1"/>
                              </a:solidFill>
                              <a:latin typeface="Cambria Math" panose="02040503050406030204" pitchFamily="18" charset="0"/>
                            </a:rPr>
                            <m:t>2</m:t>
                          </m:r>
                          <m:sSub>
                            <m:sSubPr>
                              <m:ctrlPr>
                                <a:rPr lang="en-US" altLang="zh-CN" sz="1500" i="1">
                                  <a:solidFill>
                                    <a:schemeClr val="tx1"/>
                                  </a:solidFill>
                                  <a:latin typeface="Cambria Math" panose="02040503050406030204" pitchFamily="18" charset="0"/>
                                </a:rPr>
                              </m:ctrlPr>
                            </m:sSubPr>
                            <m:e>
                              <m:r>
                                <a:rPr lang="en-US" altLang="zh-CN" sz="1500" i="1">
                                  <a:solidFill>
                                    <a:schemeClr val="tx1"/>
                                  </a:solidFill>
                                  <a:latin typeface="Cambria Math" panose="02040503050406030204" pitchFamily="18" charset="0"/>
                                </a:rPr>
                                <m:t>𝜃</m:t>
                              </m:r>
                            </m:e>
                            <m:sub>
                              <m:r>
                                <a:rPr lang="en-US" altLang="zh-CN" sz="1500" b="0" i="1" smtClean="0">
                                  <a:solidFill>
                                    <a:schemeClr val="tx1"/>
                                  </a:solidFill>
                                  <a:latin typeface="Cambria Math" panose="02040503050406030204" pitchFamily="18" charset="0"/>
                                </a:rPr>
                                <m:t>𝑚</m:t>
                              </m:r>
                            </m:sub>
                          </m:sSub>
                        </m:den>
                      </m:f>
                      <m:r>
                        <a:rPr lang="en-US" altLang="zh-CN" sz="1500" b="0" i="1" smtClean="0">
                          <a:solidFill>
                            <a:schemeClr val="tx1"/>
                          </a:solidFill>
                          <a:latin typeface="Cambria Math" panose="02040503050406030204" pitchFamily="18" charset="0"/>
                        </a:rPr>
                        <m:t>=</m:t>
                      </m:r>
                      <m:f>
                        <m:fPr>
                          <m:ctrlPr>
                            <a:rPr lang="en-US" altLang="zh-CN" sz="1500" i="1">
                              <a:solidFill>
                                <a:schemeClr val="tx1"/>
                              </a:solidFill>
                              <a:latin typeface="Cambria Math" panose="02040503050406030204" pitchFamily="18" charset="0"/>
                            </a:rPr>
                          </m:ctrlPr>
                        </m:fPr>
                        <m:num>
                          <m:r>
                            <a:rPr lang="en-US" altLang="zh-CN" sz="1500" i="1">
                              <a:solidFill>
                                <a:schemeClr val="tx1"/>
                              </a:solidFill>
                              <a:latin typeface="Cambria Math" panose="02040503050406030204" pitchFamily="18" charset="0"/>
                            </a:rPr>
                            <m:t>𝑠𝑖𝑛</m:t>
                          </m:r>
                          <m:sSub>
                            <m:sSubPr>
                              <m:ctrlPr>
                                <a:rPr lang="en-US" altLang="zh-CN" sz="1500" i="1">
                                  <a:solidFill>
                                    <a:schemeClr val="tx1"/>
                                  </a:solidFill>
                                  <a:latin typeface="Cambria Math" panose="02040503050406030204" pitchFamily="18" charset="0"/>
                                </a:rPr>
                              </m:ctrlPr>
                            </m:sSubPr>
                            <m:e>
                              <m:r>
                                <a:rPr lang="en-US" altLang="zh-CN" sz="1500" i="1">
                                  <a:solidFill>
                                    <a:schemeClr val="tx1"/>
                                  </a:solidFill>
                                  <a:latin typeface="Cambria Math" panose="02040503050406030204" pitchFamily="18" charset="0"/>
                                </a:rPr>
                                <m:t>𝜃</m:t>
                              </m:r>
                            </m:e>
                            <m:sub>
                              <m:r>
                                <a:rPr lang="en-US" altLang="zh-CN" sz="1500" i="1">
                                  <a:solidFill>
                                    <a:schemeClr val="tx1"/>
                                  </a:solidFill>
                                  <a:latin typeface="Cambria Math" panose="02040503050406030204" pitchFamily="18" charset="0"/>
                                </a:rPr>
                                <m:t>𝑚</m:t>
                              </m:r>
                            </m:sub>
                          </m:sSub>
                        </m:num>
                        <m:den>
                          <m:r>
                            <a:rPr lang="en-US" altLang="zh-CN" sz="1500" b="0" i="1" smtClean="0">
                              <a:solidFill>
                                <a:schemeClr val="tx1"/>
                              </a:solidFill>
                              <a:latin typeface="Cambria Math" panose="02040503050406030204" pitchFamily="18" charset="0"/>
                            </a:rPr>
                            <m:t>4</m:t>
                          </m:r>
                          <m:r>
                            <a:rPr lang="en-US" altLang="zh-CN" sz="1500" i="1">
                              <a:solidFill>
                                <a:schemeClr val="tx1"/>
                              </a:solidFill>
                              <a:latin typeface="Cambria Math" panose="02040503050406030204" pitchFamily="18" charset="0"/>
                            </a:rPr>
                            <m:t> </m:t>
                          </m:r>
                          <m:r>
                            <a:rPr lang="en-US" altLang="zh-CN" sz="1500" i="1">
                              <a:solidFill>
                                <a:schemeClr val="tx1"/>
                              </a:solidFill>
                              <a:latin typeface="Cambria Math" panose="02040503050406030204" pitchFamily="18" charset="0"/>
                            </a:rPr>
                            <m:t>𝑠𝑖𝑛</m:t>
                          </m:r>
                          <m:sSub>
                            <m:sSubPr>
                              <m:ctrlPr>
                                <a:rPr lang="en-US" altLang="zh-CN" sz="1500" i="1">
                                  <a:solidFill>
                                    <a:schemeClr val="tx1"/>
                                  </a:solidFill>
                                  <a:latin typeface="Cambria Math" panose="02040503050406030204" pitchFamily="18" charset="0"/>
                                </a:rPr>
                              </m:ctrlPr>
                            </m:sSubPr>
                            <m:e>
                              <m:r>
                                <a:rPr lang="en-US" altLang="zh-CN" sz="1500" i="1">
                                  <a:solidFill>
                                    <a:schemeClr val="tx1"/>
                                  </a:solidFill>
                                  <a:latin typeface="Cambria Math" panose="02040503050406030204" pitchFamily="18" charset="0"/>
                                </a:rPr>
                                <m:t>𝜃</m:t>
                              </m:r>
                            </m:e>
                            <m:sub>
                              <m:r>
                                <a:rPr lang="en-US" altLang="zh-CN" sz="1500" i="1">
                                  <a:solidFill>
                                    <a:schemeClr val="tx1"/>
                                  </a:solidFill>
                                  <a:latin typeface="Cambria Math" panose="02040503050406030204" pitchFamily="18" charset="0"/>
                                </a:rPr>
                                <m:t>𝑚</m:t>
                              </m:r>
                            </m:sub>
                          </m:sSub>
                          <m:r>
                            <a:rPr lang="en-US" altLang="zh-CN" sz="1500" b="0" i="1" smtClean="0">
                              <a:solidFill>
                                <a:schemeClr val="tx1"/>
                              </a:solidFill>
                              <a:latin typeface="Cambria Math" panose="02040503050406030204" pitchFamily="18" charset="0"/>
                            </a:rPr>
                            <m:t>𝑐𝑜𝑠</m:t>
                          </m:r>
                          <m:sSub>
                            <m:sSubPr>
                              <m:ctrlPr>
                                <a:rPr lang="en-US" altLang="zh-CN" sz="1500" i="1">
                                  <a:solidFill>
                                    <a:schemeClr val="tx1"/>
                                  </a:solidFill>
                                  <a:latin typeface="Cambria Math" panose="02040503050406030204" pitchFamily="18" charset="0"/>
                                </a:rPr>
                              </m:ctrlPr>
                            </m:sSubPr>
                            <m:e>
                              <m:r>
                                <a:rPr lang="en-US" altLang="zh-CN" sz="1500" i="1">
                                  <a:solidFill>
                                    <a:schemeClr val="tx1"/>
                                  </a:solidFill>
                                  <a:latin typeface="Cambria Math" panose="02040503050406030204" pitchFamily="18" charset="0"/>
                                </a:rPr>
                                <m:t>𝜃</m:t>
                              </m:r>
                            </m:e>
                            <m:sub>
                              <m:r>
                                <a:rPr lang="en-US" altLang="zh-CN" sz="1500" i="1">
                                  <a:solidFill>
                                    <a:schemeClr val="tx1"/>
                                  </a:solidFill>
                                  <a:latin typeface="Cambria Math" panose="02040503050406030204" pitchFamily="18" charset="0"/>
                                </a:rPr>
                                <m:t>𝑚</m:t>
                              </m:r>
                            </m:sub>
                          </m:sSub>
                        </m:den>
                      </m:f>
                      <m:r>
                        <a:rPr lang="en-US" altLang="zh-CN" sz="1500" b="0" i="1" smtClean="0">
                          <a:solidFill>
                            <a:schemeClr val="tx1"/>
                          </a:solidFill>
                          <a:latin typeface="Cambria Math" panose="02040503050406030204" pitchFamily="18" charset="0"/>
                        </a:rPr>
                        <m:t>=</m:t>
                      </m:r>
                      <m:f>
                        <m:fPr>
                          <m:ctrlPr>
                            <a:rPr lang="en-US" altLang="zh-CN" sz="1500" i="1">
                              <a:solidFill>
                                <a:schemeClr val="tx1"/>
                              </a:solidFill>
                              <a:latin typeface="Cambria Math" panose="02040503050406030204" pitchFamily="18" charset="0"/>
                            </a:rPr>
                          </m:ctrlPr>
                        </m:fPr>
                        <m:num>
                          <m:r>
                            <a:rPr lang="en-US" altLang="zh-CN" sz="1500" b="0" i="1" smtClean="0">
                              <a:solidFill>
                                <a:schemeClr val="tx1"/>
                              </a:solidFill>
                              <a:latin typeface="Cambria Math" panose="02040503050406030204" pitchFamily="18" charset="0"/>
                            </a:rPr>
                            <m:t>1</m:t>
                          </m:r>
                        </m:num>
                        <m:den>
                          <m:r>
                            <a:rPr lang="en-US" altLang="zh-CN" sz="1500" i="1">
                              <a:solidFill>
                                <a:schemeClr val="tx1"/>
                              </a:solidFill>
                              <a:latin typeface="Cambria Math" panose="02040503050406030204" pitchFamily="18" charset="0"/>
                            </a:rPr>
                            <m:t>4 </m:t>
                          </m:r>
                          <m:r>
                            <a:rPr lang="en-US" altLang="zh-CN" sz="1500" i="1">
                              <a:solidFill>
                                <a:schemeClr val="tx1"/>
                              </a:solidFill>
                              <a:latin typeface="Cambria Math" panose="02040503050406030204" pitchFamily="18" charset="0"/>
                            </a:rPr>
                            <m:t>𝑐𝑜𝑠</m:t>
                          </m:r>
                          <m:sSub>
                            <m:sSubPr>
                              <m:ctrlPr>
                                <a:rPr lang="en-US" altLang="zh-CN" sz="1500" i="1">
                                  <a:solidFill>
                                    <a:schemeClr val="tx1"/>
                                  </a:solidFill>
                                  <a:latin typeface="Cambria Math" panose="02040503050406030204" pitchFamily="18" charset="0"/>
                                </a:rPr>
                              </m:ctrlPr>
                            </m:sSubPr>
                            <m:e>
                              <m:r>
                                <a:rPr lang="en-US" altLang="zh-CN" sz="1500" i="1">
                                  <a:solidFill>
                                    <a:schemeClr val="tx1"/>
                                  </a:solidFill>
                                  <a:latin typeface="Cambria Math" panose="02040503050406030204" pitchFamily="18" charset="0"/>
                                </a:rPr>
                                <m:t>𝜃</m:t>
                              </m:r>
                            </m:e>
                            <m:sub>
                              <m:r>
                                <a:rPr lang="en-US" altLang="zh-CN" sz="1500" i="1">
                                  <a:solidFill>
                                    <a:schemeClr val="tx1"/>
                                  </a:solidFill>
                                  <a:latin typeface="Cambria Math" panose="02040503050406030204" pitchFamily="18" charset="0"/>
                                </a:rPr>
                                <m:t>𝑚</m:t>
                              </m:r>
                            </m:sub>
                          </m:sSub>
                        </m:den>
                      </m:f>
                    </m:oMath>
                  </m:oMathPara>
                </a14:m>
                <a:endParaRPr lang="en-US" altLang="zh-CN" sz="15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500" i="1" smtClean="0">
                              <a:solidFill>
                                <a:schemeClr val="tx1"/>
                              </a:solidFill>
                              <a:latin typeface="Cambria Math" panose="02040503050406030204" pitchFamily="18" charset="0"/>
                            </a:rPr>
                          </m:ctrlPr>
                        </m:sSubPr>
                        <m:e>
                          <m:r>
                            <a:rPr lang="en-US" altLang="zh-CN" sz="1500" i="1">
                              <a:solidFill>
                                <a:schemeClr val="tx1"/>
                              </a:solidFill>
                              <a:latin typeface="Cambria Math" panose="02040503050406030204" pitchFamily="18" charset="0"/>
                            </a:rPr>
                            <m:t>𝜃</m:t>
                          </m:r>
                        </m:e>
                        <m:sub>
                          <m:r>
                            <a:rPr lang="en-US" altLang="zh-CN" sz="1500" i="1">
                              <a:solidFill>
                                <a:schemeClr val="tx1"/>
                              </a:solidFill>
                              <a:latin typeface="Cambria Math" panose="02040503050406030204" pitchFamily="18" charset="0"/>
                            </a:rPr>
                            <m:t>𝑚</m:t>
                          </m:r>
                        </m:sub>
                      </m:sSub>
                      <m:r>
                        <a:rPr lang="zh-CN" altLang="en-US" sz="1500" i="1">
                          <a:solidFill>
                            <a:schemeClr val="tx1"/>
                          </a:solidFill>
                          <a:latin typeface="Cambria Math" panose="02040503050406030204" pitchFamily="18" charset="0"/>
                        </a:rPr>
                        <m:t>为</m:t>
                      </m:r>
                      <m:r>
                        <a:rPr lang="en-US" altLang="zh-CN" sz="1500" b="1" i="1" smtClean="0">
                          <a:solidFill>
                            <a:schemeClr val="tx1"/>
                          </a:solidFill>
                          <a:latin typeface="Cambria Math" panose="02040503050406030204" pitchFamily="18" charset="0"/>
                        </a:rPr>
                        <m:t>𝒐</m:t>
                      </m:r>
                      <m:r>
                        <a:rPr lang="zh-CN" altLang="en-US" sz="1500" i="1">
                          <a:solidFill>
                            <a:schemeClr val="tx1"/>
                          </a:solidFill>
                          <a:latin typeface="Cambria Math" panose="02040503050406030204" pitchFamily="18" charset="0"/>
                        </a:rPr>
                        <m:t>与</m:t>
                      </m:r>
                      <m:r>
                        <a:rPr lang="en-US" altLang="zh-CN" sz="1500" b="1" i="1" smtClean="0">
                          <a:solidFill>
                            <a:schemeClr val="tx1"/>
                          </a:solidFill>
                          <a:latin typeface="Cambria Math" panose="02040503050406030204" pitchFamily="18" charset="0"/>
                        </a:rPr>
                        <m:t>𝒎</m:t>
                      </m:r>
                      <m:r>
                        <a:rPr lang="zh-CN" altLang="en-US" sz="1500" i="1">
                          <a:solidFill>
                            <a:schemeClr val="tx1"/>
                          </a:solidFill>
                          <a:latin typeface="Cambria Math" panose="02040503050406030204" pitchFamily="18" charset="0"/>
                        </a:rPr>
                        <m:t>的</m:t>
                      </m:r>
                      <m:r>
                        <m:rPr>
                          <m:nor/>
                        </m:rPr>
                        <a:rPr lang="zh-CN" altLang="en-US" sz="1500" dirty="0">
                          <a:solidFill>
                            <a:schemeClr val="tx1"/>
                          </a:solidFill>
                        </a:rPr>
                        <m:t>夹角</m:t>
                      </m:r>
                    </m:oMath>
                  </m:oMathPara>
                </a14:m>
                <a:endParaRPr lang="en-US" altLang="zh-CN" sz="15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500" b="1" i="1" dirty="0" smtClean="0">
                          <a:solidFill>
                            <a:schemeClr val="tx1"/>
                          </a:solidFill>
                          <a:latin typeface="Cambria Math" panose="02040503050406030204" pitchFamily="18" charset="0"/>
                        </a:rPr>
                        <m:t>𝒐</m:t>
                      </m:r>
                      <m:r>
                        <a:rPr lang="zh-CN" altLang="en-US" sz="1500" i="1" dirty="0">
                          <a:solidFill>
                            <a:schemeClr val="tx1"/>
                          </a:solidFill>
                          <a:latin typeface="Cambria Math" panose="02040503050406030204" pitchFamily="18" charset="0"/>
                        </a:rPr>
                        <m:t>位于</m:t>
                      </m:r>
                      <m:r>
                        <a:rPr lang="en-US" altLang="zh-CN" sz="1500" b="1" i="1" dirty="0" smtClean="0">
                          <a:solidFill>
                            <a:schemeClr val="tx1"/>
                          </a:solidFill>
                          <a:latin typeface="Cambria Math" panose="02040503050406030204" pitchFamily="18" charset="0"/>
                        </a:rPr>
                        <m:t>𝒈</m:t>
                      </m:r>
                      <m:r>
                        <a:rPr lang="zh-CN" altLang="en-US" sz="1500" i="1" dirty="0">
                          <a:solidFill>
                            <a:schemeClr val="tx1"/>
                          </a:solidFill>
                          <a:latin typeface="Cambria Math" panose="02040503050406030204" pitchFamily="18" charset="0"/>
                        </a:rPr>
                        <m:t>的</m:t>
                      </m:r>
                      <m:r>
                        <a:rPr lang="zh-CN" altLang="en-US" sz="1500" i="1" dirty="0" smtClean="0">
                          <a:solidFill>
                            <a:schemeClr val="tx1"/>
                          </a:solidFill>
                          <a:latin typeface="Cambria Math" panose="02040503050406030204" pitchFamily="18" charset="0"/>
                        </a:rPr>
                        <m:t>反方向</m:t>
                      </m:r>
                      <m:r>
                        <a:rPr lang="zh-CN" altLang="en-US" sz="1500" i="1" dirty="0">
                          <a:solidFill>
                            <a:schemeClr val="tx1"/>
                          </a:solidFill>
                          <a:latin typeface="Cambria Math" panose="02040503050406030204" pitchFamily="18" charset="0"/>
                        </a:rPr>
                        <m:t>时</m:t>
                      </m:r>
                      <m:r>
                        <a:rPr lang="en-US" altLang="zh-CN" sz="1500" b="0" i="1" dirty="0" smtClean="0">
                          <a:solidFill>
                            <a:schemeClr val="tx1"/>
                          </a:solidFill>
                          <a:latin typeface="Cambria Math" panose="02040503050406030204" pitchFamily="18" charset="0"/>
                        </a:rPr>
                        <m:t>,</m:t>
                      </m:r>
                      <m:sSub>
                        <m:sSubPr>
                          <m:ctrlPr>
                            <a:rPr lang="en-US" altLang="zh-CN" sz="1500" i="1">
                              <a:solidFill>
                                <a:schemeClr val="tx1"/>
                              </a:solidFill>
                              <a:latin typeface="Cambria Math" panose="02040503050406030204" pitchFamily="18" charset="0"/>
                            </a:rPr>
                          </m:ctrlPr>
                        </m:sSubPr>
                        <m:e>
                          <m:r>
                            <a:rPr lang="en-US" altLang="zh-CN" sz="1500" i="1">
                              <a:solidFill>
                                <a:schemeClr val="tx1"/>
                              </a:solidFill>
                              <a:latin typeface="Cambria Math" panose="02040503050406030204" pitchFamily="18" charset="0"/>
                            </a:rPr>
                            <m:t>𝜃</m:t>
                          </m:r>
                        </m:e>
                        <m:sub>
                          <m:r>
                            <a:rPr lang="en-US" altLang="zh-CN" sz="1500" i="1">
                              <a:solidFill>
                                <a:schemeClr val="tx1"/>
                              </a:solidFill>
                              <a:latin typeface="Cambria Math" panose="02040503050406030204" pitchFamily="18" charset="0"/>
                            </a:rPr>
                            <m:t>𝑚</m:t>
                          </m:r>
                        </m:sub>
                      </m:sSub>
                      <m:r>
                        <a:rPr lang="zh-CN" altLang="en-US" sz="1500" i="1">
                          <a:solidFill>
                            <a:schemeClr val="tx1"/>
                          </a:solidFill>
                          <a:latin typeface="Cambria Math" panose="02040503050406030204" pitchFamily="18" charset="0"/>
                        </a:rPr>
                        <m:t>为</m:t>
                      </m:r>
                      <m:r>
                        <a:rPr lang="en-US" altLang="zh-CN" sz="1500" b="1" i="1" smtClean="0">
                          <a:solidFill>
                            <a:schemeClr val="tx1"/>
                          </a:solidFill>
                          <a:latin typeface="Cambria Math" panose="02040503050406030204" pitchFamily="18" charset="0"/>
                        </a:rPr>
                        <m:t>𝒐</m:t>
                      </m:r>
                      <m:r>
                        <a:rPr lang="zh-CN" altLang="en-US" sz="1500" i="1">
                          <a:solidFill>
                            <a:schemeClr val="tx1"/>
                          </a:solidFill>
                          <a:latin typeface="Cambria Math" panose="02040503050406030204" pitchFamily="18" charset="0"/>
                        </a:rPr>
                        <m:t>与</m:t>
                      </m:r>
                      <m:r>
                        <a:rPr lang="en-US" altLang="zh-CN" sz="1500" b="1" i="1" smtClean="0">
                          <a:solidFill>
                            <a:schemeClr val="tx1"/>
                          </a:solidFill>
                          <a:latin typeface="Cambria Math" panose="02040503050406030204" pitchFamily="18" charset="0"/>
                        </a:rPr>
                        <m:t>−</m:t>
                      </m:r>
                      <m:r>
                        <a:rPr lang="en-US" altLang="zh-CN" sz="1500" b="1" i="1" smtClean="0">
                          <a:solidFill>
                            <a:schemeClr val="tx1"/>
                          </a:solidFill>
                          <a:latin typeface="Cambria Math" panose="02040503050406030204" pitchFamily="18" charset="0"/>
                        </a:rPr>
                        <m:t>𝒎</m:t>
                      </m:r>
                      <m:r>
                        <a:rPr lang="zh-CN" altLang="en-US" sz="1500" i="1">
                          <a:solidFill>
                            <a:schemeClr val="tx1"/>
                          </a:solidFill>
                          <a:latin typeface="Cambria Math" panose="02040503050406030204" pitchFamily="18" charset="0"/>
                        </a:rPr>
                        <m:t>的</m:t>
                      </m:r>
                      <m:r>
                        <m:rPr>
                          <m:nor/>
                        </m:rPr>
                        <a:rPr lang="zh-CN" altLang="en-US" sz="1500" dirty="0">
                          <a:solidFill>
                            <a:schemeClr val="tx1"/>
                          </a:solidFill>
                        </a:rPr>
                        <m:t>夹角</m:t>
                      </m:r>
                    </m:oMath>
                  </m:oMathPara>
                </a14:m>
                <a:endParaRPr lang="en-US" altLang="zh-CN" sz="150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1500" i="1" dirty="0">
                          <a:solidFill>
                            <a:schemeClr val="tx1"/>
                          </a:solidFill>
                          <a:latin typeface="Cambria Math" panose="02040503050406030204" pitchFamily="18" charset="0"/>
                        </a:rPr>
                        <m:t>同时考虑两种情况，</m:t>
                      </m:r>
                      <m:sSub>
                        <m:sSubPr>
                          <m:ctrlPr>
                            <a:rPr lang="en-US" altLang="zh-CN" sz="1500" b="0" i="1" dirty="0" smtClean="0">
                              <a:solidFill>
                                <a:schemeClr val="tx1"/>
                              </a:solidFill>
                              <a:latin typeface="Cambria Math" panose="02040503050406030204" pitchFamily="18" charset="0"/>
                            </a:rPr>
                          </m:ctrlPr>
                        </m:sSubPr>
                        <m:e>
                          <m:r>
                            <a:rPr lang="en-US" altLang="zh-CN" sz="1500" b="0" i="1" dirty="0" smtClean="0">
                              <a:solidFill>
                                <a:schemeClr val="tx1"/>
                              </a:solidFill>
                              <a:latin typeface="Cambria Math" panose="02040503050406030204" pitchFamily="18" charset="0"/>
                            </a:rPr>
                            <m:t>𝜃</m:t>
                          </m:r>
                        </m:e>
                        <m:sub>
                          <m:r>
                            <a:rPr lang="en-US" altLang="zh-CN" sz="1500" b="0" i="1" dirty="0" smtClean="0">
                              <a:solidFill>
                                <a:schemeClr val="tx1"/>
                              </a:solidFill>
                              <a:latin typeface="Cambria Math" panose="02040503050406030204" pitchFamily="18" charset="0"/>
                            </a:rPr>
                            <m:t>𝑚</m:t>
                          </m:r>
                        </m:sub>
                      </m:sSub>
                      <m:r>
                        <a:rPr lang="zh-CN" altLang="en-US" sz="1500" i="1" dirty="0">
                          <a:solidFill>
                            <a:schemeClr val="tx1"/>
                          </a:solidFill>
                          <a:latin typeface="Cambria Math" panose="02040503050406030204" pitchFamily="18" charset="0"/>
                        </a:rPr>
                        <m:t>应</m:t>
                      </m:r>
                      <m:r>
                        <a:rPr lang="zh-CN" altLang="en-US" sz="1500" i="1" dirty="0" smtClean="0">
                          <a:solidFill>
                            <a:schemeClr val="tx1"/>
                          </a:solidFill>
                          <a:latin typeface="Cambria Math" panose="02040503050406030204" pitchFamily="18" charset="0"/>
                        </a:rPr>
                        <m:t>当</m:t>
                      </m:r>
                      <m:r>
                        <a:rPr lang="zh-CN" altLang="en-US" sz="1500" i="1" dirty="0">
                          <a:solidFill>
                            <a:schemeClr val="tx1"/>
                          </a:solidFill>
                          <a:latin typeface="Cambria Math" panose="02040503050406030204" pitchFamily="18" charset="0"/>
                        </a:rPr>
                        <m:t>为</m:t>
                      </m:r>
                      <m:sSup>
                        <m:sSupPr>
                          <m:ctrlPr>
                            <a:rPr lang="en-US" altLang="zh-CN" sz="1500" b="1" i="1" dirty="0" smtClean="0">
                              <a:solidFill>
                                <a:schemeClr val="tx1"/>
                              </a:solidFill>
                              <a:latin typeface="Cambria Math" panose="02040503050406030204" pitchFamily="18" charset="0"/>
                            </a:rPr>
                          </m:ctrlPr>
                        </m:sSupPr>
                        <m:e>
                          <m:r>
                            <a:rPr lang="en-US" altLang="zh-CN" sz="1500" b="1" i="1" dirty="0" smtClean="0">
                              <a:solidFill>
                                <a:schemeClr val="tx1"/>
                              </a:solidFill>
                              <a:latin typeface="Cambria Math" panose="02040503050406030204" pitchFamily="18" charset="0"/>
                            </a:rPr>
                            <m:t>𝒐</m:t>
                          </m:r>
                        </m:e>
                        <m:sup>
                          <m:r>
                            <a:rPr lang="en-US" altLang="zh-CN" sz="1500" b="1" i="1" dirty="0" smtClean="0">
                              <a:solidFill>
                                <a:schemeClr val="tx1"/>
                              </a:solidFill>
                              <a:latin typeface="Cambria Math" panose="02040503050406030204" pitchFamily="18" charset="0"/>
                            </a:rPr>
                            <m:t>+</m:t>
                          </m:r>
                        </m:sup>
                      </m:sSup>
                      <m:r>
                        <a:rPr lang="zh-CN" altLang="en-US" sz="1500" i="1" dirty="0">
                          <a:solidFill>
                            <a:schemeClr val="tx1"/>
                          </a:solidFill>
                          <a:latin typeface="Cambria Math" panose="02040503050406030204" pitchFamily="18" charset="0"/>
                        </a:rPr>
                        <m:t>与</m:t>
                      </m:r>
                      <m:r>
                        <a:rPr lang="en-US" altLang="zh-CN" sz="1500" b="1" i="1" dirty="0" smtClean="0">
                          <a:solidFill>
                            <a:schemeClr val="tx1"/>
                          </a:solidFill>
                          <a:latin typeface="Cambria Math" panose="02040503050406030204" pitchFamily="18" charset="0"/>
                        </a:rPr>
                        <m:t>𝒎</m:t>
                      </m:r>
                      <m:r>
                        <a:rPr lang="zh-CN" altLang="en-US" sz="1500" i="1" dirty="0">
                          <a:solidFill>
                            <a:schemeClr val="tx1"/>
                          </a:solidFill>
                          <a:latin typeface="Cambria Math" panose="02040503050406030204" pitchFamily="18" charset="0"/>
                        </a:rPr>
                        <m:t>的</m:t>
                      </m:r>
                      <m:r>
                        <a:rPr lang="zh-CN" altLang="en-US" sz="1500" i="1" dirty="0" smtClean="0">
                          <a:solidFill>
                            <a:schemeClr val="tx1"/>
                          </a:solidFill>
                          <a:latin typeface="Cambria Math" panose="02040503050406030204" pitchFamily="18" charset="0"/>
                        </a:rPr>
                        <m:t>夹角</m:t>
                      </m:r>
                      <m:r>
                        <a:rPr lang="zh-CN" altLang="en-US" sz="1500" i="1" dirty="0">
                          <a:solidFill>
                            <a:schemeClr val="tx1"/>
                          </a:solidFill>
                          <a:latin typeface="Cambria Math" panose="02040503050406030204" pitchFamily="18" charset="0"/>
                        </a:rPr>
                        <m:t>，</m:t>
                      </m:r>
                      <m:r>
                        <a:rPr lang="zh-CN" altLang="en-US" sz="1500" i="1" dirty="0" smtClean="0">
                          <a:solidFill>
                            <a:schemeClr val="tx1"/>
                          </a:solidFill>
                          <a:latin typeface="Cambria Math" panose="02040503050406030204" pitchFamily="18" charset="0"/>
                        </a:rPr>
                        <m:t>记为</m:t>
                      </m:r>
                      <m:sSubSup>
                        <m:sSubSupPr>
                          <m:ctrlPr>
                            <a:rPr lang="en-US" altLang="zh-CN" sz="1500" b="0" i="1" dirty="0" smtClean="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𝜃</m:t>
                          </m:r>
                        </m:e>
                        <m:sub>
                          <m:r>
                            <a:rPr lang="en-US" altLang="zh-CN" sz="1500" i="1" dirty="0">
                              <a:solidFill>
                                <a:schemeClr val="tx1"/>
                              </a:solidFill>
                              <a:latin typeface="Cambria Math" panose="02040503050406030204" pitchFamily="18" charset="0"/>
                            </a:rPr>
                            <m:t>𝑚</m:t>
                          </m:r>
                        </m:sub>
                        <m:sup>
                          <m:r>
                            <a:rPr lang="en-US" altLang="zh-CN" sz="1500" b="0" i="1" dirty="0" smtClean="0">
                              <a:solidFill>
                                <a:schemeClr val="tx1"/>
                              </a:solidFill>
                              <a:latin typeface="Cambria Math" panose="02040503050406030204" pitchFamily="18" charset="0"/>
                            </a:rPr>
                            <m:t>+</m:t>
                          </m:r>
                        </m:sup>
                      </m:sSubSup>
                    </m:oMath>
                  </m:oMathPara>
                </a14:m>
                <a:endParaRPr lang="en-US" altLang="zh-CN" sz="150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1500" i="1" dirty="0">
                          <a:solidFill>
                            <a:schemeClr val="tx1"/>
                          </a:solidFill>
                          <a:latin typeface="Cambria Math" panose="02040503050406030204" pitchFamily="18" charset="0"/>
                        </a:rPr>
                        <m:t>因为对于</m:t>
                      </m:r>
                      <m:r>
                        <a:rPr lang="en-US" altLang="zh-CN" sz="1500" b="1" i="1" dirty="0" smtClean="0">
                          <a:solidFill>
                            <a:schemeClr val="tx1"/>
                          </a:solidFill>
                          <a:latin typeface="Cambria Math" panose="02040503050406030204" pitchFamily="18" charset="0"/>
                        </a:rPr>
                        <m:t>𝒐</m:t>
                      </m:r>
                      <m:r>
                        <a:rPr lang="zh-CN" altLang="en-US" sz="1500" i="1" dirty="0">
                          <a:solidFill>
                            <a:schemeClr val="tx1"/>
                          </a:solidFill>
                          <a:latin typeface="Cambria Math" panose="02040503050406030204" pitchFamily="18" charset="0"/>
                        </a:rPr>
                        <m:t>来说</m:t>
                      </m:r>
                      <m:r>
                        <a:rPr lang="en-US" altLang="zh-CN" sz="1500" b="1" i="1" dirty="0" smtClean="0">
                          <a:solidFill>
                            <a:schemeClr val="tx1"/>
                          </a:solidFill>
                          <a:latin typeface="Cambria Math" panose="02040503050406030204" pitchFamily="18" charset="0"/>
                        </a:rPr>
                        <m:t>𝒎</m:t>
                      </m:r>
                      <m:r>
                        <a:rPr lang="zh-CN" altLang="en-US" sz="1500" i="1" dirty="0">
                          <a:solidFill>
                            <a:schemeClr val="tx1"/>
                          </a:solidFill>
                          <a:latin typeface="Cambria Math" panose="02040503050406030204" pitchFamily="18" charset="0"/>
                        </a:rPr>
                        <m:t>是</m:t>
                      </m:r>
                      <m:r>
                        <a:rPr lang="zh-CN" altLang="en-US" sz="1500" i="1" dirty="0" smtClean="0">
                          <a:solidFill>
                            <a:schemeClr val="tx1"/>
                          </a:solidFill>
                          <a:latin typeface="Cambria Math" panose="02040503050406030204" pitchFamily="18" charset="0"/>
                        </a:rPr>
                        <m:t>可见</m:t>
                      </m:r>
                      <m:r>
                        <a:rPr lang="zh-CN" altLang="en-US" sz="1500" i="1" dirty="0">
                          <a:solidFill>
                            <a:schemeClr val="tx1"/>
                          </a:solidFill>
                          <a:latin typeface="Cambria Math" panose="02040503050406030204" pitchFamily="18" charset="0"/>
                        </a:rPr>
                        <m:t>的，所以</m:t>
                      </m:r>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𝜃</m:t>
                          </m:r>
                        </m:e>
                        <m:sub>
                          <m:r>
                            <a:rPr lang="en-US" altLang="zh-CN" sz="1500" i="1" dirty="0">
                              <a:solidFill>
                                <a:schemeClr val="tx1"/>
                              </a:solidFill>
                              <a:latin typeface="Cambria Math" panose="02040503050406030204" pitchFamily="18" charset="0"/>
                            </a:rPr>
                            <m:t>𝑚</m:t>
                          </m:r>
                        </m:sub>
                        <m:sup>
                          <m:r>
                            <a:rPr lang="en-US" altLang="zh-CN" sz="1500" i="1" dirty="0">
                              <a:solidFill>
                                <a:schemeClr val="tx1"/>
                              </a:solidFill>
                              <a:latin typeface="Cambria Math" panose="02040503050406030204" pitchFamily="18" charset="0"/>
                            </a:rPr>
                            <m:t>+</m:t>
                          </m:r>
                        </m:sup>
                      </m:sSubSup>
                      <m:r>
                        <a:rPr lang="zh-CN" altLang="en-US" sz="1500" i="1" dirty="0">
                          <a:solidFill>
                            <a:schemeClr val="tx1"/>
                          </a:solidFill>
                          <a:latin typeface="Cambria Math" panose="02040503050406030204" pitchFamily="18" charset="0"/>
                        </a:rPr>
                        <m:t>应当小于</m:t>
                      </m:r>
                      <m:r>
                        <a:rPr lang="en-US" altLang="zh-CN" sz="1500" i="1" dirty="0">
                          <a:solidFill>
                            <a:schemeClr val="tx1"/>
                          </a:solidFill>
                          <a:latin typeface="Cambria Math" panose="02040503050406030204" pitchFamily="18" charset="0"/>
                        </a:rPr>
                        <m:t>90°</m:t>
                      </m:r>
                      <m:r>
                        <a:rPr lang="zh-CN" altLang="en-US" sz="1500" i="1" dirty="0">
                          <a:solidFill>
                            <a:schemeClr val="tx1"/>
                          </a:solidFill>
                          <a:latin typeface="Cambria Math" panose="02040503050406030204" pitchFamily="18" charset="0"/>
                        </a:rPr>
                        <m:t>，</m:t>
                      </m:r>
                    </m:oMath>
                  </m:oMathPara>
                </a14:m>
                <a:endParaRPr lang="en-US" altLang="zh-CN" sz="15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zh-CN" altLang="en-US" sz="1500" i="1" dirty="0">
                          <a:solidFill>
                            <a:schemeClr val="tx1"/>
                          </a:solidFill>
                          <a:latin typeface="Cambria Math" panose="02040503050406030204" pitchFamily="18" charset="0"/>
                        </a:rPr>
                        <m:t>所以</m:t>
                      </m:r>
                      <m:r>
                        <a:rPr lang="zh-CN" altLang="en-US" sz="1500" i="1" dirty="0" smtClean="0">
                          <a:solidFill>
                            <a:schemeClr val="tx1"/>
                          </a:solidFill>
                          <a:latin typeface="Cambria Math" panose="02040503050406030204" pitchFamily="18" charset="0"/>
                        </a:rPr>
                        <m:t>：</m:t>
                      </m:r>
                      <m:func>
                        <m:funcPr>
                          <m:ctrlPr>
                            <a:rPr lang="en-US" altLang="zh-CN" sz="1500" b="0" i="1" smtClean="0">
                              <a:solidFill>
                                <a:schemeClr val="tx1"/>
                              </a:solidFill>
                              <a:latin typeface="Cambria Math" panose="02040503050406030204" pitchFamily="18" charset="0"/>
                            </a:rPr>
                          </m:ctrlPr>
                        </m:funcPr>
                        <m:fName>
                          <m:r>
                            <m:rPr>
                              <m:sty m:val="p"/>
                            </m:rPr>
                            <a:rPr lang="en-US" altLang="zh-CN" sz="1500" i="0" smtClean="0">
                              <a:solidFill>
                                <a:schemeClr val="tx1"/>
                              </a:solidFill>
                              <a:latin typeface="Cambria Math" panose="02040503050406030204" pitchFamily="18" charset="0"/>
                            </a:rPr>
                            <m:t>cos</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𝜃</m:t>
                              </m:r>
                            </m:e>
                            <m:sub>
                              <m:r>
                                <a:rPr lang="en-US" altLang="zh-CN" sz="1500" i="1" dirty="0">
                                  <a:solidFill>
                                    <a:schemeClr val="tx1"/>
                                  </a:solidFill>
                                  <a:latin typeface="Cambria Math" panose="02040503050406030204" pitchFamily="18" charset="0"/>
                                </a:rPr>
                                <m:t>𝑚</m:t>
                              </m:r>
                            </m:sub>
                            <m:sup>
                              <m:r>
                                <a:rPr lang="en-US" altLang="zh-CN" sz="1500" i="1" dirty="0">
                                  <a:solidFill>
                                    <a:schemeClr val="tx1"/>
                                  </a:solidFill>
                                  <a:latin typeface="Cambria Math" panose="02040503050406030204" pitchFamily="18" charset="0"/>
                                </a:rPr>
                                <m:t>+</m:t>
                              </m:r>
                            </m:sup>
                          </m:sSubSup>
                        </m:e>
                      </m:func>
                      <m:r>
                        <a:rPr lang="en-US" altLang="zh-CN" sz="1500" b="0" i="1" smtClean="0">
                          <a:solidFill>
                            <a:schemeClr val="tx1"/>
                          </a:solidFill>
                          <a:latin typeface="Cambria Math" panose="02040503050406030204" pitchFamily="18" charset="0"/>
                        </a:rPr>
                        <m:t>=</m:t>
                      </m:r>
                      <m:d>
                        <m:dPr>
                          <m:begChr m:val="|"/>
                          <m:endChr m:val="|"/>
                          <m:ctrlPr>
                            <a:rPr lang="en-US" altLang="zh-CN" sz="1500" b="0" i="1" smtClean="0">
                              <a:solidFill>
                                <a:schemeClr val="tx1"/>
                              </a:solidFill>
                              <a:latin typeface="Cambria Math" panose="02040503050406030204" pitchFamily="18" charset="0"/>
                            </a:rPr>
                          </m:ctrlPr>
                        </m:dPr>
                        <m:e>
                          <m:r>
                            <a:rPr lang="en-US" altLang="zh-CN" sz="1500" b="1" i="1" smtClean="0">
                              <a:solidFill>
                                <a:schemeClr val="tx1"/>
                              </a:solidFill>
                              <a:latin typeface="Cambria Math" panose="02040503050406030204" pitchFamily="18" charset="0"/>
                            </a:rPr>
                            <m:t>𝒐</m:t>
                          </m:r>
                          <m:r>
                            <a:rPr lang="en-US" altLang="zh-CN" sz="1500" b="0" i="1" smtClean="0">
                              <a:solidFill>
                                <a:schemeClr val="tx1"/>
                              </a:solidFill>
                              <a:latin typeface="Cambria Math" panose="02040503050406030204" pitchFamily="18" charset="0"/>
                            </a:rPr>
                            <m:t>⋅</m:t>
                          </m:r>
                          <m:r>
                            <a:rPr lang="en-US" altLang="zh-CN" sz="1500" b="1" i="1" smtClean="0">
                              <a:solidFill>
                                <a:schemeClr val="tx1"/>
                              </a:solidFill>
                              <a:latin typeface="Cambria Math" panose="02040503050406030204" pitchFamily="18" charset="0"/>
                            </a:rPr>
                            <m:t>𝒎</m:t>
                          </m:r>
                        </m:e>
                      </m:d>
                      <m:r>
                        <a:rPr lang="en-US" altLang="zh-CN" sz="1500" b="0" i="1" smtClean="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det</m:t>
                              </m:r>
                            </m:fName>
                            <m:e>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𝑖</m:t>
                                          </m:r>
                                        </m:sub>
                                      </m:sSub>
                                    </m:den>
                                  </m:f>
                                  <m:r>
                                    <a:rPr lang="en-US" altLang="zh-CN" sz="1400" i="1" dirty="0">
                                      <a:solidFill>
                                        <a:schemeClr val="tx1"/>
                                      </a:solidFill>
                                      <a:latin typeface="Cambria Math" panose="02040503050406030204" pitchFamily="18" charset="0"/>
                                    </a:rPr>
                                    <m:t> </m:t>
                                  </m:r>
                                </m:e>
                              </m:d>
                            </m:e>
                          </m:func>
                        </m:e>
                      </m:d>
                      <m:r>
                        <a:rPr lang="en-US" altLang="zh-CN" sz="1500" b="0" i="1" smtClean="0">
                          <a:solidFill>
                            <a:schemeClr val="tx1"/>
                          </a:solidFill>
                          <a:latin typeface="Cambria Math" panose="02040503050406030204" pitchFamily="18" charset="0"/>
                        </a:rPr>
                        <m:t>=</m:t>
                      </m:r>
                      <m:f>
                        <m:fPr>
                          <m:ctrlPr>
                            <a:rPr lang="en-US" altLang="zh-CN" sz="1500" b="0" i="1" smtClean="0">
                              <a:solidFill>
                                <a:schemeClr val="tx1"/>
                              </a:solidFill>
                              <a:latin typeface="Cambria Math" panose="02040503050406030204" pitchFamily="18" charset="0"/>
                            </a:rPr>
                          </m:ctrlPr>
                        </m:fPr>
                        <m:num>
                          <m:r>
                            <a:rPr lang="en-US" altLang="zh-CN" sz="1500" b="0" i="1" smtClean="0">
                              <a:solidFill>
                                <a:schemeClr val="tx1"/>
                              </a:solidFill>
                              <a:latin typeface="Cambria Math" panose="02040503050406030204" pitchFamily="18" charset="0"/>
                            </a:rPr>
                            <m:t>1</m:t>
                          </m:r>
                        </m:num>
                        <m:den>
                          <m:r>
                            <a:rPr lang="en-US" altLang="zh-CN" sz="1500" b="0" i="1" smtClean="0">
                              <a:solidFill>
                                <a:schemeClr val="tx1"/>
                              </a:solidFill>
                              <a:latin typeface="Cambria Math" panose="02040503050406030204" pitchFamily="18" charset="0"/>
                            </a:rPr>
                            <m:t>4 </m:t>
                          </m:r>
                          <m:d>
                            <m:dPr>
                              <m:begChr m:val="|"/>
                              <m:endChr m:val="|"/>
                              <m:ctrlPr>
                                <a:rPr lang="en-US" altLang="zh-CN" sz="1500" i="1">
                                  <a:solidFill>
                                    <a:schemeClr val="tx1"/>
                                  </a:solidFill>
                                  <a:latin typeface="Cambria Math" panose="02040503050406030204" pitchFamily="18" charset="0"/>
                                </a:rPr>
                              </m:ctrlPr>
                            </m:dPr>
                            <m:e>
                              <m:r>
                                <a:rPr lang="en-US" altLang="zh-CN" sz="1500" b="1" i="1" smtClean="0">
                                  <a:solidFill>
                                    <a:schemeClr val="tx1"/>
                                  </a:solidFill>
                                  <a:latin typeface="Cambria Math" panose="02040503050406030204" pitchFamily="18" charset="0"/>
                                </a:rPr>
                                <m:t>𝒐</m:t>
                              </m:r>
                              <m:r>
                                <a:rPr lang="en-US" altLang="zh-CN" sz="1500" i="1">
                                  <a:solidFill>
                                    <a:schemeClr val="tx1"/>
                                  </a:solidFill>
                                  <a:latin typeface="Cambria Math" panose="02040503050406030204" pitchFamily="18" charset="0"/>
                                </a:rPr>
                                <m:t>⋅</m:t>
                              </m:r>
                              <m:r>
                                <a:rPr lang="en-US" altLang="zh-CN" sz="1500" b="1" i="1" smtClean="0">
                                  <a:solidFill>
                                    <a:schemeClr val="tx1"/>
                                  </a:solidFill>
                                  <a:latin typeface="Cambria Math" panose="02040503050406030204" pitchFamily="18" charset="0"/>
                                </a:rPr>
                                <m:t>𝒎</m:t>
                              </m:r>
                            </m:e>
                          </m:d>
                        </m:den>
                      </m:f>
                    </m:oMath>
                  </m:oMathPara>
                </a14:m>
                <a:endParaRPr lang="en-US" altLang="zh-CN" sz="1500" b="0" dirty="0">
                  <a:solidFill>
                    <a:schemeClr val="tx1"/>
                  </a:solidFill>
                </a:endParaRPr>
              </a:p>
            </p:txBody>
          </p:sp>
        </mc:Choice>
        <mc:Fallback xmlns="">
          <p:sp>
            <p:nvSpPr>
              <p:cNvPr id="6" name="矩形 5">
                <a:extLst>
                  <a:ext uri="{FF2B5EF4-FFF2-40B4-BE49-F238E27FC236}">
                    <a16:creationId xmlns:a16="http://schemas.microsoft.com/office/drawing/2014/main" id="{431BCA23-95AE-E5C3-A595-69D1E9A4B208}"/>
                  </a:ext>
                </a:extLst>
              </p:cNvPr>
              <p:cNvSpPr>
                <a:spLocks noRot="1" noChangeAspect="1" noMove="1" noResize="1" noEditPoints="1" noAdjustHandles="1" noChangeArrowheads="1" noChangeShapeType="1" noTextEdit="1"/>
              </p:cNvSpPr>
              <p:nvPr/>
            </p:nvSpPr>
            <p:spPr>
              <a:xfrm>
                <a:off x="478710" y="1144044"/>
                <a:ext cx="6673652" cy="5402806"/>
              </a:xfrm>
              <a:prstGeom prst="rect">
                <a:avLst/>
              </a:prstGeom>
              <a:blipFill>
                <a:blip r:embed="rId2"/>
                <a:stretch>
                  <a:fillRect/>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0064A748-A2CB-C8B6-BDEB-654DE880CEF4}"/>
              </a:ext>
            </a:extLst>
          </p:cNvPr>
          <p:cNvSpPr/>
          <p:nvPr/>
        </p:nvSpPr>
        <p:spPr>
          <a:xfrm>
            <a:off x="7759478" y="3915798"/>
            <a:ext cx="4320195" cy="280224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6317B0A0-DFF3-C3E0-0696-09791933F053}"/>
              </a:ext>
            </a:extLst>
          </p:cNvPr>
          <p:cNvSpPr/>
          <p:nvPr/>
        </p:nvSpPr>
        <p:spPr>
          <a:xfrm>
            <a:off x="7626128" y="3744348"/>
            <a:ext cx="4320195" cy="280224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 name="矩形 118">
            <a:extLst>
              <a:ext uri="{FF2B5EF4-FFF2-40B4-BE49-F238E27FC236}">
                <a16:creationId xmlns:a16="http://schemas.microsoft.com/office/drawing/2014/main" id="{32C30AD5-973E-9912-4A32-5D95650FE2CC}"/>
              </a:ext>
            </a:extLst>
          </p:cNvPr>
          <p:cNvSpPr/>
          <p:nvPr/>
        </p:nvSpPr>
        <p:spPr>
          <a:xfrm>
            <a:off x="7759478" y="1313069"/>
            <a:ext cx="4320195" cy="213720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 name="矩形 119">
            <a:extLst>
              <a:ext uri="{FF2B5EF4-FFF2-40B4-BE49-F238E27FC236}">
                <a16:creationId xmlns:a16="http://schemas.microsoft.com/office/drawing/2014/main" id="{7B99C181-9034-08BD-A68F-AEA193F2F1A2}"/>
              </a:ext>
            </a:extLst>
          </p:cNvPr>
          <p:cNvSpPr/>
          <p:nvPr/>
        </p:nvSpPr>
        <p:spPr>
          <a:xfrm>
            <a:off x="7626128" y="1141619"/>
            <a:ext cx="4320195" cy="213720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9" name="组合 178">
            <a:extLst>
              <a:ext uri="{FF2B5EF4-FFF2-40B4-BE49-F238E27FC236}">
                <a16:creationId xmlns:a16="http://schemas.microsoft.com/office/drawing/2014/main" id="{CCCBADD1-D01D-36D5-82FC-E78B8E0C918E}"/>
              </a:ext>
            </a:extLst>
          </p:cNvPr>
          <p:cNvGrpSpPr/>
          <p:nvPr/>
        </p:nvGrpSpPr>
        <p:grpSpPr>
          <a:xfrm>
            <a:off x="7852233" y="3901766"/>
            <a:ext cx="3662798" cy="2515026"/>
            <a:chOff x="7852233" y="3901766"/>
            <a:chExt cx="3662798" cy="2515026"/>
          </a:xfrm>
        </p:grpSpPr>
        <p:cxnSp>
          <p:nvCxnSpPr>
            <p:cNvPr id="65" name="直接连接符 64">
              <a:extLst>
                <a:ext uri="{FF2B5EF4-FFF2-40B4-BE49-F238E27FC236}">
                  <a16:creationId xmlns:a16="http://schemas.microsoft.com/office/drawing/2014/main" id="{DFF3B37B-C3FE-C147-044F-C278581B1E45}"/>
                </a:ext>
              </a:extLst>
            </p:cNvPr>
            <p:cNvCxnSpPr>
              <a:cxnSpLocks/>
            </p:cNvCxnSpPr>
            <p:nvPr/>
          </p:nvCxnSpPr>
          <p:spPr>
            <a:xfrm>
              <a:off x="9274349" y="4749373"/>
              <a:ext cx="0" cy="1058108"/>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8" name="直接箭头连接符 167">
              <a:extLst>
                <a:ext uri="{FF2B5EF4-FFF2-40B4-BE49-F238E27FC236}">
                  <a16:creationId xmlns:a16="http://schemas.microsoft.com/office/drawing/2014/main" id="{593070CB-5113-BDC6-B772-074DD284924B}"/>
                </a:ext>
              </a:extLst>
            </p:cNvPr>
            <p:cNvCxnSpPr>
              <a:cxnSpLocks/>
            </p:cNvCxnSpPr>
            <p:nvPr/>
          </p:nvCxnSpPr>
          <p:spPr>
            <a:xfrm flipV="1">
              <a:off x="8483198" y="5270544"/>
              <a:ext cx="791149" cy="7760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42843185-07CD-A55B-79E3-DF2090164006}"/>
                </a:ext>
              </a:extLst>
            </p:cNvPr>
            <p:cNvCxnSpPr>
              <a:cxnSpLocks/>
            </p:cNvCxnSpPr>
            <p:nvPr/>
          </p:nvCxnSpPr>
          <p:spPr>
            <a:xfrm>
              <a:off x="8484855" y="6047460"/>
              <a:ext cx="2933918" cy="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AF5D1006-F07F-F927-68B4-E6ACFFF0821B}"/>
                </a:ext>
              </a:extLst>
            </p:cNvPr>
            <p:cNvCxnSpPr>
              <a:cxnSpLocks/>
            </p:cNvCxnSpPr>
            <p:nvPr/>
          </p:nvCxnSpPr>
          <p:spPr>
            <a:xfrm flipV="1">
              <a:off x="8484854" y="4774925"/>
              <a:ext cx="1501459" cy="1272538"/>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64BAEB4-E68C-9225-DD5F-024B2EF6B58E}"/>
                </a:ext>
              </a:extLst>
            </p:cNvPr>
            <p:cNvCxnSpPr/>
            <p:nvPr/>
          </p:nvCxnSpPr>
          <p:spPr>
            <a:xfrm flipV="1">
              <a:off x="8484855" y="4060109"/>
              <a:ext cx="0" cy="1987351"/>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07572514-8D36-504B-569C-876D1D4212A1}"/>
                </a:ext>
              </a:extLst>
            </p:cNvPr>
            <p:cNvSpPr txBox="1"/>
            <p:nvPr/>
          </p:nvSpPr>
          <p:spPr>
            <a:xfrm>
              <a:off x="9986314" y="4644572"/>
              <a:ext cx="298480" cy="369332"/>
            </a:xfrm>
            <a:prstGeom prst="rect">
              <a:avLst/>
            </a:prstGeom>
            <a:noFill/>
          </p:spPr>
          <p:txBody>
            <a:bodyPr wrap="none" rtlCol="0">
              <a:spAutoFit/>
            </a:bodyPr>
            <a:lstStyle/>
            <a:p>
              <a:r>
                <a:rPr lang="en-US" altLang="zh-CN" dirty="0">
                  <a:solidFill>
                    <a:schemeClr val="tx1">
                      <a:lumMod val="50000"/>
                      <a:lumOff val="50000"/>
                    </a:schemeClr>
                  </a:solidFill>
                </a:rPr>
                <a:t>z</a:t>
              </a:r>
              <a:endParaRPr lang="zh-CN" altLang="en-US" dirty="0">
                <a:solidFill>
                  <a:schemeClr val="tx1">
                    <a:lumMod val="50000"/>
                    <a:lumOff val="50000"/>
                  </a:schemeClr>
                </a:solidFill>
              </a:endParaRPr>
            </a:p>
          </p:txBody>
        </p:sp>
        <p:sp>
          <p:nvSpPr>
            <p:cNvPr id="51" name="文本框 50">
              <a:extLst>
                <a:ext uri="{FF2B5EF4-FFF2-40B4-BE49-F238E27FC236}">
                  <a16:creationId xmlns:a16="http://schemas.microsoft.com/office/drawing/2014/main" id="{21DA4F5E-5610-3281-0085-CE5AD5547A5A}"/>
                </a:ext>
              </a:extLst>
            </p:cNvPr>
            <p:cNvSpPr txBox="1"/>
            <p:nvPr/>
          </p:nvSpPr>
          <p:spPr>
            <a:xfrm>
              <a:off x="8089586" y="3901766"/>
              <a:ext cx="261915" cy="369332"/>
            </a:xfrm>
            <a:prstGeom prst="rect">
              <a:avLst/>
            </a:prstGeom>
            <a:noFill/>
          </p:spPr>
          <p:txBody>
            <a:bodyPr wrap="square" rtlCol="0">
              <a:spAutoFit/>
            </a:bodyPr>
            <a:lstStyle/>
            <a:p>
              <a:r>
                <a:rPr lang="en-US" altLang="zh-CN" dirty="0">
                  <a:solidFill>
                    <a:schemeClr val="tx1">
                      <a:lumMod val="50000"/>
                      <a:lumOff val="50000"/>
                    </a:schemeClr>
                  </a:solidFill>
                </a:rPr>
                <a:t>y</a:t>
              </a:r>
              <a:endParaRPr lang="zh-CN" altLang="en-US" dirty="0">
                <a:solidFill>
                  <a:schemeClr val="tx1">
                    <a:lumMod val="50000"/>
                    <a:lumOff val="50000"/>
                  </a:schemeClr>
                </a:solidFill>
              </a:endParaRPr>
            </a:p>
          </p:txBody>
        </p:sp>
        <p:sp>
          <p:nvSpPr>
            <p:cNvPr id="52" name="文本框 51">
              <a:extLst>
                <a:ext uri="{FF2B5EF4-FFF2-40B4-BE49-F238E27FC236}">
                  <a16:creationId xmlns:a16="http://schemas.microsoft.com/office/drawing/2014/main" id="{0D2A89B4-0E8D-F66B-B2A3-B299012145F9}"/>
                </a:ext>
              </a:extLst>
            </p:cNvPr>
            <p:cNvSpPr txBox="1"/>
            <p:nvPr/>
          </p:nvSpPr>
          <p:spPr>
            <a:xfrm>
              <a:off x="11213345" y="6047460"/>
              <a:ext cx="301686" cy="369332"/>
            </a:xfrm>
            <a:prstGeom prst="rect">
              <a:avLst/>
            </a:prstGeom>
            <a:noFill/>
          </p:spPr>
          <p:txBody>
            <a:bodyPr wrap="none" rtlCol="0">
              <a:spAutoFit/>
            </a:bodyPr>
            <a:lstStyle/>
            <a:p>
              <a:r>
                <a:rPr lang="en-US" altLang="zh-CN" dirty="0">
                  <a:solidFill>
                    <a:schemeClr val="tx1">
                      <a:lumMod val="50000"/>
                      <a:lumOff val="50000"/>
                    </a:schemeClr>
                  </a:solidFill>
                </a:rPr>
                <a:t>x</a:t>
              </a:r>
              <a:endParaRPr lang="zh-CN" altLang="en-US" dirty="0">
                <a:solidFill>
                  <a:schemeClr val="tx1">
                    <a:lumMod val="50000"/>
                    <a:lumOff val="50000"/>
                  </a:schemeClr>
                </a:solidFill>
              </a:endParaRPr>
            </a:p>
          </p:txBody>
        </p:sp>
        <p:cxnSp>
          <p:nvCxnSpPr>
            <p:cNvPr id="54" name="直接箭头连接符 53">
              <a:extLst>
                <a:ext uri="{FF2B5EF4-FFF2-40B4-BE49-F238E27FC236}">
                  <a16:creationId xmlns:a16="http://schemas.microsoft.com/office/drawing/2014/main" id="{F0AFFE52-36A9-B1D8-4E51-40BED8E80A95}"/>
                </a:ext>
              </a:extLst>
            </p:cNvPr>
            <p:cNvCxnSpPr>
              <a:cxnSpLocks/>
            </p:cNvCxnSpPr>
            <p:nvPr/>
          </p:nvCxnSpPr>
          <p:spPr>
            <a:xfrm flipV="1">
              <a:off x="8484854" y="4425306"/>
              <a:ext cx="0" cy="1622155"/>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B8756417-C306-A189-B87A-C46843C56EF7}"/>
                </a:ext>
              </a:extLst>
            </p:cNvPr>
            <p:cNvCxnSpPr>
              <a:cxnSpLocks/>
            </p:cNvCxnSpPr>
            <p:nvPr/>
          </p:nvCxnSpPr>
          <p:spPr>
            <a:xfrm flipV="1">
              <a:off x="8484854" y="5698259"/>
              <a:ext cx="1184237" cy="349201"/>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41B960DC-29E7-52ED-B517-A3B02A2F9EB4}"/>
                </a:ext>
              </a:extLst>
            </p:cNvPr>
            <p:cNvCxnSpPr>
              <a:cxnSpLocks/>
            </p:cNvCxnSpPr>
            <p:nvPr/>
          </p:nvCxnSpPr>
          <p:spPr>
            <a:xfrm>
              <a:off x="9669091" y="5385010"/>
              <a:ext cx="2" cy="306986"/>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7943E9E9-A585-F7A2-8D34-7EA40E6B733F}"/>
                </a:ext>
              </a:extLst>
            </p:cNvPr>
            <p:cNvCxnSpPr>
              <a:cxnSpLocks/>
            </p:cNvCxnSpPr>
            <p:nvPr/>
          </p:nvCxnSpPr>
          <p:spPr>
            <a:xfrm flipV="1">
              <a:off x="8494316" y="5316627"/>
              <a:ext cx="1227029" cy="72450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08031F92-1FCC-AC7D-EAB4-A5951E7B8E31}"/>
                </a:ext>
              </a:extLst>
            </p:cNvPr>
            <p:cNvCxnSpPr>
              <a:cxnSpLocks/>
            </p:cNvCxnSpPr>
            <p:nvPr/>
          </p:nvCxnSpPr>
          <p:spPr>
            <a:xfrm flipV="1">
              <a:off x="8484854" y="4682034"/>
              <a:ext cx="789493" cy="1365427"/>
            </a:xfrm>
            <a:prstGeom prst="straightConnector1">
              <a:avLst/>
            </a:prstGeom>
            <a:ln w="28575">
              <a:solidFill>
                <a:srgbClr val="269703"/>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C44F9FB1-8963-8C7D-3D8E-09AE92973E52}"/>
                    </a:ext>
                  </a:extLst>
                </p:cNvPr>
                <p:cNvSpPr txBox="1"/>
                <p:nvPr/>
              </p:nvSpPr>
              <p:spPr>
                <a:xfrm>
                  <a:off x="9172626" y="4304262"/>
                  <a:ext cx="685626" cy="3715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rgbClr val="269703"/>
                            </a:solidFill>
                            <a:latin typeface="Cambria Math" panose="02040503050406030204" pitchFamily="18" charset="0"/>
                          </a:rPr>
                          <m:t>𝒎</m:t>
                        </m:r>
                      </m:oMath>
                    </m:oMathPara>
                  </a14:m>
                  <a:endParaRPr lang="zh-CN" altLang="en-US" b="1" dirty="0">
                    <a:solidFill>
                      <a:srgbClr val="269703"/>
                    </a:solidFill>
                  </a:endParaRPr>
                </a:p>
              </p:txBody>
            </p:sp>
          </mc:Choice>
          <mc:Fallback xmlns="">
            <p:sp>
              <p:nvSpPr>
                <p:cNvPr id="97" name="文本框 96">
                  <a:extLst>
                    <a:ext uri="{FF2B5EF4-FFF2-40B4-BE49-F238E27FC236}">
                      <a16:creationId xmlns:a16="http://schemas.microsoft.com/office/drawing/2014/main" id="{C44F9FB1-8963-8C7D-3D8E-09AE92973E52}"/>
                    </a:ext>
                  </a:extLst>
                </p:cNvPr>
                <p:cNvSpPr txBox="1">
                  <a:spLocks noRot="1" noChangeAspect="1" noMove="1" noResize="1" noEditPoints="1" noAdjustHandles="1" noChangeArrowheads="1" noChangeShapeType="1" noTextEdit="1"/>
                </p:cNvSpPr>
                <p:nvPr/>
              </p:nvSpPr>
              <p:spPr>
                <a:xfrm>
                  <a:off x="9172626" y="4304262"/>
                  <a:ext cx="685626" cy="371508"/>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F12BB0EB-22FD-5F53-95E2-84156FA92B75}"/>
                    </a:ext>
                  </a:extLst>
                </p:cNvPr>
                <p:cNvSpPr txBox="1"/>
                <p:nvPr/>
              </p:nvSpPr>
              <p:spPr>
                <a:xfrm>
                  <a:off x="9575903" y="5054470"/>
                  <a:ext cx="685626" cy="3715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rgbClr val="00B0F0"/>
                            </a:solidFill>
                            <a:latin typeface="Cambria Math" panose="02040503050406030204" pitchFamily="18" charset="0"/>
                          </a:rPr>
                          <m:t>𝒊</m:t>
                        </m:r>
                      </m:oMath>
                    </m:oMathPara>
                  </a14:m>
                  <a:endParaRPr lang="zh-CN" altLang="en-US" b="1" dirty="0">
                    <a:solidFill>
                      <a:srgbClr val="00B0F0"/>
                    </a:solidFill>
                  </a:endParaRPr>
                </a:p>
              </p:txBody>
            </p:sp>
          </mc:Choice>
          <mc:Fallback xmlns="">
            <p:sp>
              <p:nvSpPr>
                <p:cNvPr id="98" name="文本框 97">
                  <a:extLst>
                    <a:ext uri="{FF2B5EF4-FFF2-40B4-BE49-F238E27FC236}">
                      <a16:creationId xmlns:a16="http://schemas.microsoft.com/office/drawing/2014/main" id="{F12BB0EB-22FD-5F53-95E2-84156FA92B75}"/>
                    </a:ext>
                  </a:extLst>
                </p:cNvPr>
                <p:cNvSpPr txBox="1">
                  <a:spLocks noRot="1" noChangeAspect="1" noMove="1" noResize="1" noEditPoints="1" noAdjustHandles="1" noChangeArrowheads="1" noChangeShapeType="1" noTextEdit="1"/>
                </p:cNvSpPr>
                <p:nvPr/>
              </p:nvSpPr>
              <p:spPr>
                <a:xfrm>
                  <a:off x="9575903" y="5054470"/>
                  <a:ext cx="685626" cy="371508"/>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5C7A5B81-10C7-ECE0-9EB6-8C45D4B544D4}"/>
                    </a:ext>
                  </a:extLst>
                </p:cNvPr>
                <p:cNvSpPr txBox="1"/>
                <p:nvPr/>
              </p:nvSpPr>
              <p:spPr>
                <a:xfrm>
                  <a:off x="7852233" y="4354813"/>
                  <a:ext cx="685626" cy="3715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accent4">
                                <a:lumMod val="75000"/>
                              </a:schemeClr>
                            </a:solidFill>
                            <a:latin typeface="Cambria Math" panose="02040503050406030204" pitchFamily="18" charset="0"/>
                          </a:rPr>
                          <m:t>𝒐</m:t>
                        </m:r>
                      </m:oMath>
                    </m:oMathPara>
                  </a14:m>
                  <a:endParaRPr lang="zh-CN" altLang="en-US" b="1" dirty="0">
                    <a:solidFill>
                      <a:schemeClr val="accent4">
                        <a:lumMod val="75000"/>
                      </a:schemeClr>
                    </a:solidFill>
                  </a:endParaRPr>
                </a:p>
              </p:txBody>
            </p:sp>
          </mc:Choice>
          <mc:Fallback xmlns="">
            <p:sp>
              <p:nvSpPr>
                <p:cNvPr id="99" name="文本框 98">
                  <a:extLst>
                    <a:ext uri="{FF2B5EF4-FFF2-40B4-BE49-F238E27FC236}">
                      <a16:creationId xmlns:a16="http://schemas.microsoft.com/office/drawing/2014/main" id="{5C7A5B81-10C7-ECE0-9EB6-8C45D4B544D4}"/>
                    </a:ext>
                  </a:extLst>
                </p:cNvPr>
                <p:cNvSpPr txBox="1">
                  <a:spLocks noRot="1" noChangeAspect="1" noMove="1" noResize="1" noEditPoints="1" noAdjustHandles="1" noChangeArrowheads="1" noChangeShapeType="1" noTextEdit="1"/>
                </p:cNvSpPr>
                <p:nvPr/>
              </p:nvSpPr>
              <p:spPr>
                <a:xfrm>
                  <a:off x="7852233" y="4354813"/>
                  <a:ext cx="685626" cy="371508"/>
                </a:xfrm>
                <a:prstGeom prst="rect">
                  <a:avLst/>
                </a:prstGeom>
                <a:blipFill>
                  <a:blip r:embed="rId5"/>
                  <a:stretch>
                    <a:fillRect/>
                  </a:stretch>
                </a:blipFill>
              </p:spPr>
              <p:txBody>
                <a:bodyPr/>
                <a:lstStyle/>
                <a:p>
                  <a:r>
                    <a:rPr lang="zh-CN" altLang="en-US">
                      <a:noFill/>
                    </a:rPr>
                    <a:t> </a:t>
                  </a:r>
                </a:p>
              </p:txBody>
            </p:sp>
          </mc:Fallback>
        </mc:AlternateContent>
        <p:sp>
          <p:nvSpPr>
            <p:cNvPr id="100" name="任意多边形: 形状 99">
              <a:extLst>
                <a:ext uri="{FF2B5EF4-FFF2-40B4-BE49-F238E27FC236}">
                  <a16:creationId xmlns:a16="http://schemas.microsoft.com/office/drawing/2014/main" id="{91F25FB2-CD54-C8AE-BFA9-0751B7EC00D2}"/>
                </a:ext>
              </a:extLst>
            </p:cNvPr>
            <p:cNvSpPr/>
            <p:nvPr/>
          </p:nvSpPr>
          <p:spPr>
            <a:xfrm>
              <a:off x="9026921" y="5890687"/>
              <a:ext cx="45719" cy="163852"/>
            </a:xfrm>
            <a:custGeom>
              <a:avLst/>
              <a:gdLst>
                <a:gd name="connsiteX0" fmla="*/ 0 w 59453"/>
                <a:gd name="connsiteY0" fmla="*/ 0 h 148167"/>
                <a:gd name="connsiteX1" fmla="*/ 57150 w 59453"/>
                <a:gd name="connsiteY1" fmla="*/ 63500 h 148167"/>
                <a:gd name="connsiteX2" fmla="*/ 48683 w 59453"/>
                <a:gd name="connsiteY2" fmla="*/ 148167 h 148167"/>
              </a:gdLst>
              <a:ahLst/>
              <a:cxnLst>
                <a:cxn ang="0">
                  <a:pos x="connsiteX0" y="connsiteY0"/>
                </a:cxn>
                <a:cxn ang="0">
                  <a:pos x="connsiteX1" y="connsiteY1"/>
                </a:cxn>
                <a:cxn ang="0">
                  <a:pos x="connsiteX2" y="connsiteY2"/>
                </a:cxn>
              </a:cxnLst>
              <a:rect l="l" t="t" r="r" b="b"/>
              <a:pathLst>
                <a:path w="59453" h="148167">
                  <a:moveTo>
                    <a:pt x="0" y="0"/>
                  </a:moveTo>
                  <a:cubicBezTo>
                    <a:pt x="24518" y="19402"/>
                    <a:pt x="49036" y="38805"/>
                    <a:pt x="57150" y="63500"/>
                  </a:cubicBezTo>
                  <a:cubicBezTo>
                    <a:pt x="65264" y="88195"/>
                    <a:pt x="49388" y="135114"/>
                    <a:pt x="48683" y="148167"/>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任意多边形: 形状 104">
              <a:extLst>
                <a:ext uri="{FF2B5EF4-FFF2-40B4-BE49-F238E27FC236}">
                  <a16:creationId xmlns:a16="http://schemas.microsoft.com/office/drawing/2014/main" id="{8A6CDC06-57EC-CB9C-19D1-39D0331ED17D}"/>
                </a:ext>
              </a:extLst>
            </p:cNvPr>
            <p:cNvSpPr/>
            <p:nvPr/>
          </p:nvSpPr>
          <p:spPr>
            <a:xfrm>
              <a:off x="8495761" y="5492714"/>
              <a:ext cx="253935" cy="63605"/>
            </a:xfrm>
            <a:custGeom>
              <a:avLst/>
              <a:gdLst>
                <a:gd name="connsiteX0" fmla="*/ 0 w 203200"/>
                <a:gd name="connsiteY0" fmla="*/ 10315 h 63232"/>
                <a:gd name="connsiteX1" fmla="*/ 110067 w 203200"/>
                <a:gd name="connsiteY1" fmla="*/ 3965 h 63232"/>
                <a:gd name="connsiteX2" fmla="*/ 203200 w 203200"/>
                <a:gd name="connsiteY2" fmla="*/ 63232 h 63232"/>
              </a:gdLst>
              <a:ahLst/>
              <a:cxnLst>
                <a:cxn ang="0">
                  <a:pos x="connsiteX0" y="connsiteY0"/>
                </a:cxn>
                <a:cxn ang="0">
                  <a:pos x="connsiteX1" y="connsiteY1"/>
                </a:cxn>
                <a:cxn ang="0">
                  <a:pos x="connsiteX2" y="connsiteY2"/>
                </a:cxn>
              </a:cxnLst>
              <a:rect l="l" t="t" r="r" b="b"/>
              <a:pathLst>
                <a:path w="203200" h="63232">
                  <a:moveTo>
                    <a:pt x="0" y="10315"/>
                  </a:moveTo>
                  <a:cubicBezTo>
                    <a:pt x="38100" y="2730"/>
                    <a:pt x="76200" y="-4855"/>
                    <a:pt x="110067" y="3965"/>
                  </a:cubicBezTo>
                  <a:cubicBezTo>
                    <a:pt x="143934" y="12785"/>
                    <a:pt x="173567" y="38008"/>
                    <a:pt x="203200" y="6323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任意多边形: 形状 113">
              <a:extLst>
                <a:ext uri="{FF2B5EF4-FFF2-40B4-BE49-F238E27FC236}">
                  <a16:creationId xmlns:a16="http://schemas.microsoft.com/office/drawing/2014/main" id="{EBADEB95-C782-47BA-6483-3BD4CB1525F4}"/>
                </a:ext>
              </a:extLst>
            </p:cNvPr>
            <p:cNvSpPr/>
            <p:nvPr/>
          </p:nvSpPr>
          <p:spPr>
            <a:xfrm>
              <a:off x="8773505" y="5564835"/>
              <a:ext cx="199292" cy="187418"/>
            </a:xfrm>
            <a:custGeom>
              <a:avLst/>
              <a:gdLst>
                <a:gd name="connsiteX0" fmla="*/ 0 w 184150"/>
                <a:gd name="connsiteY0" fmla="*/ 0 h 154517"/>
                <a:gd name="connsiteX1" fmla="*/ 131234 w 184150"/>
                <a:gd name="connsiteY1" fmla="*/ 40217 h 154517"/>
                <a:gd name="connsiteX2" fmla="*/ 184150 w 184150"/>
                <a:gd name="connsiteY2" fmla="*/ 154517 h 154517"/>
              </a:gdLst>
              <a:ahLst/>
              <a:cxnLst>
                <a:cxn ang="0">
                  <a:pos x="connsiteX0" y="connsiteY0"/>
                </a:cxn>
                <a:cxn ang="0">
                  <a:pos x="connsiteX1" y="connsiteY1"/>
                </a:cxn>
                <a:cxn ang="0">
                  <a:pos x="connsiteX2" y="connsiteY2"/>
                </a:cxn>
              </a:cxnLst>
              <a:rect l="l" t="t" r="r" b="b"/>
              <a:pathLst>
                <a:path w="184150" h="154517">
                  <a:moveTo>
                    <a:pt x="0" y="0"/>
                  </a:moveTo>
                  <a:cubicBezTo>
                    <a:pt x="50271" y="7232"/>
                    <a:pt x="100542" y="14464"/>
                    <a:pt x="131234" y="40217"/>
                  </a:cubicBezTo>
                  <a:cubicBezTo>
                    <a:pt x="161926" y="65970"/>
                    <a:pt x="173038" y="110243"/>
                    <a:pt x="184150" y="154517"/>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5" name="文本框 114">
                  <a:extLst>
                    <a:ext uri="{FF2B5EF4-FFF2-40B4-BE49-F238E27FC236}">
                      <a16:creationId xmlns:a16="http://schemas.microsoft.com/office/drawing/2014/main" id="{27FD762E-B4C2-58F6-CAC2-E31BBCDB8CD2}"/>
                    </a:ext>
                  </a:extLst>
                </p:cNvPr>
                <p:cNvSpPr txBox="1"/>
                <p:nvPr/>
              </p:nvSpPr>
              <p:spPr>
                <a:xfrm>
                  <a:off x="8395207" y="5107953"/>
                  <a:ext cx="52525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600" b="0" i="1" smtClean="0">
                                <a:solidFill>
                                  <a:srgbClr val="F76409"/>
                                </a:solidFill>
                                <a:latin typeface="Cambria Math" panose="02040503050406030204" pitchFamily="18" charset="0"/>
                              </a:rPr>
                            </m:ctrlPr>
                          </m:sSubPr>
                          <m:e>
                            <m:r>
                              <a:rPr lang="en-US" altLang="zh-CN" sz="1600" b="0" i="1" smtClean="0">
                                <a:solidFill>
                                  <a:srgbClr val="F76409"/>
                                </a:solidFill>
                                <a:latin typeface="Cambria Math" panose="02040503050406030204" pitchFamily="18" charset="0"/>
                              </a:rPr>
                              <m:t>𝜃</m:t>
                            </m:r>
                          </m:e>
                          <m:sub>
                            <m:r>
                              <a:rPr lang="en-US" altLang="zh-CN" sz="1600" b="0" i="1" smtClean="0">
                                <a:solidFill>
                                  <a:srgbClr val="F76409"/>
                                </a:solidFill>
                                <a:latin typeface="Cambria Math" panose="02040503050406030204" pitchFamily="18" charset="0"/>
                              </a:rPr>
                              <m:t>𝑚</m:t>
                            </m:r>
                          </m:sub>
                        </m:sSub>
                      </m:oMath>
                    </m:oMathPara>
                  </a14:m>
                  <a:endParaRPr lang="zh-CN" altLang="en-US" sz="1600" dirty="0">
                    <a:solidFill>
                      <a:srgbClr val="F76409"/>
                    </a:solidFill>
                  </a:endParaRPr>
                </a:p>
              </p:txBody>
            </p:sp>
          </mc:Choice>
          <mc:Fallback xmlns="">
            <p:sp>
              <p:nvSpPr>
                <p:cNvPr id="115" name="文本框 114">
                  <a:extLst>
                    <a:ext uri="{FF2B5EF4-FFF2-40B4-BE49-F238E27FC236}">
                      <a16:creationId xmlns:a16="http://schemas.microsoft.com/office/drawing/2014/main" id="{27FD762E-B4C2-58F6-CAC2-E31BBCDB8CD2}"/>
                    </a:ext>
                  </a:extLst>
                </p:cNvPr>
                <p:cNvSpPr txBox="1">
                  <a:spLocks noRot="1" noChangeAspect="1" noMove="1" noResize="1" noEditPoints="1" noAdjustHandles="1" noChangeArrowheads="1" noChangeShapeType="1" noTextEdit="1"/>
                </p:cNvSpPr>
                <p:nvPr/>
              </p:nvSpPr>
              <p:spPr>
                <a:xfrm>
                  <a:off x="8395207" y="5107953"/>
                  <a:ext cx="525250" cy="33855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6" name="文本框 115">
                  <a:extLst>
                    <a:ext uri="{FF2B5EF4-FFF2-40B4-BE49-F238E27FC236}">
                      <a16:creationId xmlns:a16="http://schemas.microsoft.com/office/drawing/2014/main" id="{FC4F8DF7-E072-3DCF-CFA7-5C4466047085}"/>
                    </a:ext>
                  </a:extLst>
                </p:cNvPr>
                <p:cNvSpPr txBox="1"/>
                <p:nvPr/>
              </p:nvSpPr>
              <p:spPr>
                <a:xfrm>
                  <a:off x="8751729" y="5349208"/>
                  <a:ext cx="52525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600" b="0" i="1" smtClean="0">
                                <a:solidFill>
                                  <a:srgbClr val="F76409"/>
                                </a:solidFill>
                                <a:latin typeface="Cambria Math" panose="02040503050406030204" pitchFamily="18" charset="0"/>
                              </a:rPr>
                            </m:ctrlPr>
                          </m:sSubPr>
                          <m:e>
                            <m:r>
                              <a:rPr lang="en-US" altLang="zh-CN" sz="1600" b="0" i="1" smtClean="0">
                                <a:solidFill>
                                  <a:srgbClr val="F76409"/>
                                </a:solidFill>
                                <a:latin typeface="Cambria Math" panose="02040503050406030204" pitchFamily="18" charset="0"/>
                              </a:rPr>
                              <m:t>𝜃</m:t>
                            </m:r>
                          </m:e>
                          <m:sub>
                            <m:r>
                              <a:rPr lang="en-US" altLang="zh-CN" sz="1600" b="0" i="1" smtClean="0">
                                <a:solidFill>
                                  <a:srgbClr val="F76409"/>
                                </a:solidFill>
                                <a:latin typeface="Cambria Math" panose="02040503050406030204" pitchFamily="18" charset="0"/>
                              </a:rPr>
                              <m:t>𝑚</m:t>
                            </m:r>
                          </m:sub>
                        </m:sSub>
                      </m:oMath>
                    </m:oMathPara>
                  </a14:m>
                  <a:endParaRPr lang="zh-CN" altLang="en-US" sz="1600" dirty="0">
                    <a:solidFill>
                      <a:srgbClr val="F76409"/>
                    </a:solidFill>
                  </a:endParaRPr>
                </a:p>
              </p:txBody>
            </p:sp>
          </mc:Choice>
          <mc:Fallback xmlns="">
            <p:sp>
              <p:nvSpPr>
                <p:cNvPr id="116" name="文本框 115">
                  <a:extLst>
                    <a:ext uri="{FF2B5EF4-FFF2-40B4-BE49-F238E27FC236}">
                      <a16:creationId xmlns:a16="http://schemas.microsoft.com/office/drawing/2014/main" id="{FC4F8DF7-E072-3DCF-CFA7-5C4466047085}"/>
                    </a:ext>
                  </a:extLst>
                </p:cNvPr>
                <p:cNvSpPr txBox="1">
                  <a:spLocks noRot="1" noChangeAspect="1" noMove="1" noResize="1" noEditPoints="1" noAdjustHandles="1" noChangeArrowheads="1" noChangeShapeType="1" noTextEdit="1"/>
                </p:cNvSpPr>
                <p:nvPr/>
              </p:nvSpPr>
              <p:spPr>
                <a:xfrm>
                  <a:off x="8751729" y="5349208"/>
                  <a:ext cx="525250" cy="33855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38492ADA-4262-E7BA-598C-CEFE5657288D}"/>
                    </a:ext>
                  </a:extLst>
                </p:cNvPr>
                <p:cNvSpPr txBox="1"/>
                <p:nvPr/>
              </p:nvSpPr>
              <p:spPr>
                <a:xfrm>
                  <a:off x="9061750" y="5723109"/>
                  <a:ext cx="1499255"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600" b="0" i="1" smtClean="0">
                                <a:solidFill>
                                  <a:schemeClr val="accent6">
                                    <a:lumMod val="60000"/>
                                    <a:lumOff val="40000"/>
                                  </a:schemeClr>
                                </a:solidFill>
                                <a:latin typeface="Cambria Math" panose="02040503050406030204" pitchFamily="18" charset="0"/>
                              </a:rPr>
                            </m:ctrlPr>
                          </m:sSubPr>
                          <m:e>
                            <m:r>
                              <a:rPr lang="en-US" altLang="zh-CN" sz="1600" b="0" i="1" smtClean="0">
                                <a:solidFill>
                                  <a:schemeClr val="accent6">
                                    <a:lumMod val="60000"/>
                                    <a:lumOff val="40000"/>
                                  </a:schemeClr>
                                </a:solidFill>
                                <a:latin typeface="Cambria Math" panose="02040503050406030204" pitchFamily="18" charset="0"/>
                              </a:rPr>
                              <m:t>𝜙</m:t>
                            </m:r>
                          </m:e>
                          <m:sub>
                            <m:r>
                              <a:rPr lang="en-US" altLang="zh-CN" sz="1600" b="0" i="1" smtClean="0">
                                <a:solidFill>
                                  <a:schemeClr val="accent6">
                                    <a:lumMod val="60000"/>
                                    <a:lumOff val="40000"/>
                                  </a:schemeClr>
                                </a:solidFill>
                                <a:latin typeface="Cambria Math" panose="02040503050406030204" pitchFamily="18" charset="0"/>
                              </a:rPr>
                              <m:t>𝑖</m:t>
                            </m:r>
                          </m:sub>
                        </m:sSub>
                        <m:r>
                          <a:rPr lang="en-US" altLang="zh-CN" sz="1600" b="0" i="1" smtClean="0">
                            <a:solidFill>
                              <a:schemeClr val="accent6">
                                <a:lumMod val="60000"/>
                                <a:lumOff val="40000"/>
                              </a:schemeClr>
                            </a:solidFill>
                            <a:latin typeface="Cambria Math" panose="02040503050406030204" pitchFamily="18" charset="0"/>
                          </a:rPr>
                          <m:t>=</m:t>
                        </m:r>
                        <m:sSub>
                          <m:sSubPr>
                            <m:ctrlPr>
                              <a:rPr lang="en-US" altLang="zh-CN" sz="1600" b="0" i="1" smtClean="0">
                                <a:solidFill>
                                  <a:schemeClr val="accent6">
                                    <a:lumMod val="60000"/>
                                    <a:lumOff val="40000"/>
                                  </a:schemeClr>
                                </a:solidFill>
                                <a:latin typeface="Cambria Math" panose="02040503050406030204" pitchFamily="18" charset="0"/>
                              </a:rPr>
                            </m:ctrlPr>
                          </m:sSubPr>
                          <m:e>
                            <m:r>
                              <a:rPr lang="en-US" altLang="zh-CN" sz="1600" b="0" i="1" smtClean="0">
                                <a:solidFill>
                                  <a:schemeClr val="accent6">
                                    <a:lumMod val="60000"/>
                                    <a:lumOff val="40000"/>
                                  </a:schemeClr>
                                </a:solidFill>
                                <a:latin typeface="Cambria Math" panose="02040503050406030204" pitchFamily="18" charset="0"/>
                              </a:rPr>
                              <m:t>𝜙</m:t>
                            </m:r>
                          </m:e>
                          <m:sub>
                            <m:r>
                              <a:rPr lang="en-US" altLang="zh-CN" sz="1600" b="0" i="1" smtClean="0">
                                <a:solidFill>
                                  <a:schemeClr val="accent6">
                                    <a:lumMod val="60000"/>
                                    <a:lumOff val="40000"/>
                                  </a:schemeClr>
                                </a:solidFill>
                                <a:latin typeface="Cambria Math" panose="02040503050406030204" pitchFamily="18" charset="0"/>
                              </a:rPr>
                              <m:t>𝑚</m:t>
                            </m:r>
                          </m:sub>
                        </m:sSub>
                      </m:oMath>
                    </m:oMathPara>
                  </a14:m>
                  <a:endParaRPr lang="zh-CN" altLang="en-US" sz="1600" dirty="0">
                    <a:solidFill>
                      <a:srgbClr val="FFC000"/>
                    </a:solidFill>
                  </a:endParaRPr>
                </a:p>
              </p:txBody>
            </p:sp>
          </mc:Choice>
          <mc:Fallback xmlns="">
            <p:sp>
              <p:nvSpPr>
                <p:cNvPr id="117" name="文本框 116">
                  <a:extLst>
                    <a:ext uri="{FF2B5EF4-FFF2-40B4-BE49-F238E27FC236}">
                      <a16:creationId xmlns:a16="http://schemas.microsoft.com/office/drawing/2014/main" id="{38492ADA-4262-E7BA-598C-CEFE5657288D}"/>
                    </a:ext>
                  </a:extLst>
                </p:cNvPr>
                <p:cNvSpPr txBox="1">
                  <a:spLocks noRot="1" noChangeAspect="1" noMove="1" noResize="1" noEditPoints="1" noAdjustHandles="1" noChangeArrowheads="1" noChangeShapeType="1" noTextEdit="1"/>
                </p:cNvSpPr>
                <p:nvPr/>
              </p:nvSpPr>
              <p:spPr>
                <a:xfrm>
                  <a:off x="9061750" y="5723109"/>
                  <a:ext cx="1499255" cy="338554"/>
                </a:xfrm>
                <a:prstGeom prst="rect">
                  <a:avLst/>
                </a:prstGeom>
                <a:blipFill>
                  <a:blip r:embed="rId8"/>
                  <a:stretch>
                    <a:fillRect b="-1272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6" name="文本框 175">
                  <a:extLst>
                    <a:ext uri="{FF2B5EF4-FFF2-40B4-BE49-F238E27FC236}">
                      <a16:creationId xmlns:a16="http://schemas.microsoft.com/office/drawing/2014/main" id="{0A0EA439-D2AA-EE7E-F854-43A2BC0D3AA7}"/>
                    </a:ext>
                  </a:extLst>
                </p:cNvPr>
                <p:cNvSpPr txBox="1"/>
                <p:nvPr/>
              </p:nvSpPr>
              <p:spPr>
                <a:xfrm>
                  <a:off x="9035492" y="4984220"/>
                  <a:ext cx="685626"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𝒈</m:t>
                        </m:r>
                      </m:oMath>
                    </m:oMathPara>
                  </a14:m>
                  <a:endParaRPr lang="zh-CN" altLang="en-US" sz="1400" b="1" dirty="0">
                    <a:solidFill>
                      <a:schemeClr val="tx1"/>
                    </a:solidFill>
                  </a:endParaRPr>
                </a:p>
              </p:txBody>
            </p:sp>
          </mc:Choice>
          <mc:Fallback xmlns="">
            <p:sp>
              <p:nvSpPr>
                <p:cNvPr id="176" name="文本框 175">
                  <a:extLst>
                    <a:ext uri="{FF2B5EF4-FFF2-40B4-BE49-F238E27FC236}">
                      <a16:creationId xmlns:a16="http://schemas.microsoft.com/office/drawing/2014/main" id="{0A0EA439-D2AA-EE7E-F854-43A2BC0D3AA7}"/>
                    </a:ext>
                  </a:extLst>
                </p:cNvPr>
                <p:cNvSpPr txBox="1">
                  <a:spLocks noRot="1" noChangeAspect="1" noMove="1" noResize="1" noEditPoints="1" noAdjustHandles="1" noChangeArrowheads="1" noChangeShapeType="1" noTextEdit="1"/>
                </p:cNvSpPr>
                <p:nvPr/>
              </p:nvSpPr>
              <p:spPr>
                <a:xfrm>
                  <a:off x="9035492" y="4984220"/>
                  <a:ext cx="685626" cy="307777"/>
                </a:xfrm>
                <a:prstGeom prst="rect">
                  <a:avLst/>
                </a:prstGeom>
                <a:blipFill>
                  <a:blip r:embed="rId9"/>
                  <a:stretch>
                    <a:fillRect b="-4000"/>
                  </a:stretch>
                </a:blipFill>
              </p:spPr>
              <p:txBody>
                <a:bodyPr/>
                <a:lstStyle/>
                <a:p>
                  <a:r>
                    <a:rPr lang="zh-CN" altLang="en-US">
                      <a:noFill/>
                    </a:rPr>
                    <a:t> </a:t>
                  </a:r>
                </a:p>
              </p:txBody>
            </p:sp>
          </mc:Fallback>
        </mc:AlternateContent>
      </p:grpSp>
      <p:grpSp>
        <p:nvGrpSpPr>
          <p:cNvPr id="178" name="组合 177">
            <a:extLst>
              <a:ext uri="{FF2B5EF4-FFF2-40B4-BE49-F238E27FC236}">
                <a16:creationId xmlns:a16="http://schemas.microsoft.com/office/drawing/2014/main" id="{C92B8658-932A-D3D2-CA84-2618516E135D}"/>
              </a:ext>
            </a:extLst>
          </p:cNvPr>
          <p:cNvGrpSpPr/>
          <p:nvPr/>
        </p:nvGrpSpPr>
        <p:grpSpPr>
          <a:xfrm>
            <a:off x="7984664" y="1301076"/>
            <a:ext cx="3827877" cy="1943383"/>
            <a:chOff x="7984664" y="1301076"/>
            <a:chExt cx="3827877" cy="1943383"/>
          </a:xfrm>
        </p:grpSpPr>
        <p:sp>
          <p:nvSpPr>
            <p:cNvPr id="143" name="矩形 142">
              <a:extLst>
                <a:ext uri="{FF2B5EF4-FFF2-40B4-BE49-F238E27FC236}">
                  <a16:creationId xmlns:a16="http://schemas.microsoft.com/office/drawing/2014/main" id="{7949396B-563C-2DF5-870A-21290058CB2F}"/>
                </a:ext>
              </a:extLst>
            </p:cNvPr>
            <p:cNvSpPr/>
            <p:nvPr/>
          </p:nvSpPr>
          <p:spPr>
            <a:xfrm>
              <a:off x="8233474" y="2856786"/>
              <a:ext cx="3331290" cy="4705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5" name="直接箭头连接符 144">
              <a:extLst>
                <a:ext uri="{FF2B5EF4-FFF2-40B4-BE49-F238E27FC236}">
                  <a16:creationId xmlns:a16="http://schemas.microsoft.com/office/drawing/2014/main" id="{0EBE1EF6-2E7D-F343-3921-A7BF1406AC3E}"/>
                </a:ext>
              </a:extLst>
            </p:cNvPr>
            <p:cNvCxnSpPr>
              <a:cxnSpLocks/>
              <a:stCxn id="143" idx="0"/>
            </p:cNvCxnSpPr>
            <p:nvPr/>
          </p:nvCxnSpPr>
          <p:spPr>
            <a:xfrm flipV="1">
              <a:off x="9899119" y="1777966"/>
              <a:ext cx="0" cy="10788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直接箭头连接符 145">
              <a:extLst>
                <a:ext uri="{FF2B5EF4-FFF2-40B4-BE49-F238E27FC236}">
                  <a16:creationId xmlns:a16="http://schemas.microsoft.com/office/drawing/2014/main" id="{8025C514-21E2-2714-6041-8817F839589E}"/>
                </a:ext>
              </a:extLst>
            </p:cNvPr>
            <p:cNvCxnSpPr>
              <a:cxnSpLocks/>
            </p:cNvCxnSpPr>
            <p:nvPr/>
          </p:nvCxnSpPr>
          <p:spPr>
            <a:xfrm flipV="1">
              <a:off x="9894991" y="1535238"/>
              <a:ext cx="572198" cy="1321547"/>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直接箭头连接符 147">
              <a:extLst>
                <a:ext uri="{FF2B5EF4-FFF2-40B4-BE49-F238E27FC236}">
                  <a16:creationId xmlns:a16="http://schemas.microsoft.com/office/drawing/2014/main" id="{4E0ACC2E-725A-88B5-56E6-9CC1655B2CF3}"/>
                </a:ext>
              </a:extLst>
            </p:cNvPr>
            <p:cNvCxnSpPr>
              <a:cxnSpLocks/>
            </p:cNvCxnSpPr>
            <p:nvPr/>
          </p:nvCxnSpPr>
          <p:spPr>
            <a:xfrm flipH="1" flipV="1">
              <a:off x="9529757" y="1887374"/>
              <a:ext cx="365234" cy="969411"/>
            </a:xfrm>
            <a:prstGeom prst="straightConnector1">
              <a:avLst/>
            </a:prstGeom>
            <a:ln w="28575">
              <a:solidFill>
                <a:srgbClr val="269703"/>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9E97C38F-9C44-A2C4-C111-812B8BE18AB3}"/>
                </a:ext>
              </a:extLst>
            </p:cNvPr>
            <p:cNvCxnSpPr>
              <a:cxnSpLocks/>
            </p:cNvCxnSpPr>
            <p:nvPr/>
          </p:nvCxnSpPr>
          <p:spPr>
            <a:xfrm flipH="1" flipV="1">
              <a:off x="8469287" y="2021932"/>
              <a:ext cx="1421576" cy="83008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文本框 154">
                  <a:extLst>
                    <a:ext uri="{FF2B5EF4-FFF2-40B4-BE49-F238E27FC236}">
                      <a16:creationId xmlns:a16="http://schemas.microsoft.com/office/drawing/2014/main" id="{E3BED99D-E852-A77B-77C3-DA529F4D6F5E}"/>
                    </a:ext>
                  </a:extLst>
                </p:cNvPr>
                <p:cNvSpPr txBox="1"/>
                <p:nvPr/>
              </p:nvSpPr>
              <p:spPr>
                <a:xfrm>
                  <a:off x="10336406" y="1301076"/>
                  <a:ext cx="63086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rgbClr val="00B0F0"/>
                            </a:solidFill>
                            <a:latin typeface="Cambria Math" panose="02040503050406030204" pitchFamily="18" charset="0"/>
                          </a:rPr>
                          <m:t>𝒊</m:t>
                        </m:r>
                      </m:oMath>
                    </m:oMathPara>
                  </a14:m>
                  <a:endParaRPr lang="zh-CN" altLang="en-US" b="1" dirty="0">
                    <a:solidFill>
                      <a:srgbClr val="00B0F0"/>
                    </a:solidFill>
                  </a:endParaRPr>
                </a:p>
              </p:txBody>
            </p:sp>
          </mc:Choice>
          <mc:Fallback xmlns="">
            <p:sp>
              <p:nvSpPr>
                <p:cNvPr id="155" name="文本框 154">
                  <a:extLst>
                    <a:ext uri="{FF2B5EF4-FFF2-40B4-BE49-F238E27FC236}">
                      <a16:creationId xmlns:a16="http://schemas.microsoft.com/office/drawing/2014/main" id="{E3BED99D-E852-A77B-77C3-DA529F4D6F5E}"/>
                    </a:ext>
                  </a:extLst>
                </p:cNvPr>
                <p:cNvSpPr txBox="1">
                  <a:spLocks noRot="1" noChangeAspect="1" noMove="1" noResize="1" noEditPoints="1" noAdjustHandles="1" noChangeArrowheads="1" noChangeShapeType="1" noTextEdit="1"/>
                </p:cNvSpPr>
                <p:nvPr/>
              </p:nvSpPr>
              <p:spPr>
                <a:xfrm>
                  <a:off x="10336406" y="1301076"/>
                  <a:ext cx="630869" cy="369332"/>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 name="文本框 155">
                  <a:extLst>
                    <a:ext uri="{FF2B5EF4-FFF2-40B4-BE49-F238E27FC236}">
                      <a16:creationId xmlns:a16="http://schemas.microsoft.com/office/drawing/2014/main" id="{D5929997-079A-DDB3-F5F4-D362780F3C8F}"/>
                    </a:ext>
                  </a:extLst>
                </p:cNvPr>
                <p:cNvSpPr txBox="1"/>
                <p:nvPr/>
              </p:nvSpPr>
              <p:spPr>
                <a:xfrm>
                  <a:off x="7984664" y="1885885"/>
                  <a:ext cx="63086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accent4">
                                <a:lumMod val="75000"/>
                              </a:schemeClr>
                            </a:solidFill>
                            <a:latin typeface="Cambria Math" panose="02040503050406030204" pitchFamily="18" charset="0"/>
                          </a:rPr>
                          <m:t>𝒐</m:t>
                        </m:r>
                      </m:oMath>
                    </m:oMathPara>
                  </a14:m>
                  <a:endParaRPr lang="zh-CN" altLang="en-US" b="1" dirty="0">
                    <a:solidFill>
                      <a:schemeClr val="accent4">
                        <a:lumMod val="75000"/>
                      </a:schemeClr>
                    </a:solidFill>
                  </a:endParaRPr>
                </a:p>
              </p:txBody>
            </p:sp>
          </mc:Choice>
          <mc:Fallback xmlns="">
            <p:sp>
              <p:nvSpPr>
                <p:cNvPr id="156" name="文本框 155">
                  <a:extLst>
                    <a:ext uri="{FF2B5EF4-FFF2-40B4-BE49-F238E27FC236}">
                      <a16:creationId xmlns:a16="http://schemas.microsoft.com/office/drawing/2014/main" id="{D5929997-079A-DDB3-F5F4-D362780F3C8F}"/>
                    </a:ext>
                  </a:extLst>
                </p:cNvPr>
                <p:cNvSpPr txBox="1">
                  <a:spLocks noRot="1" noChangeAspect="1" noMove="1" noResize="1" noEditPoints="1" noAdjustHandles="1" noChangeArrowheads="1" noChangeShapeType="1" noTextEdit="1"/>
                </p:cNvSpPr>
                <p:nvPr/>
              </p:nvSpPr>
              <p:spPr>
                <a:xfrm>
                  <a:off x="7984664" y="1885885"/>
                  <a:ext cx="630869" cy="369332"/>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8" name="文本框 157">
                  <a:extLst>
                    <a:ext uri="{FF2B5EF4-FFF2-40B4-BE49-F238E27FC236}">
                      <a16:creationId xmlns:a16="http://schemas.microsoft.com/office/drawing/2014/main" id="{D53C4CCB-14AC-904C-0A8B-4EF1DA4F631F}"/>
                    </a:ext>
                  </a:extLst>
                </p:cNvPr>
                <p:cNvSpPr txBox="1"/>
                <p:nvPr/>
              </p:nvSpPr>
              <p:spPr>
                <a:xfrm>
                  <a:off x="9070249" y="1566110"/>
                  <a:ext cx="55271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rgbClr val="269703"/>
                            </a:solidFill>
                            <a:latin typeface="Cambria Math" panose="02040503050406030204" pitchFamily="18" charset="0"/>
                          </a:rPr>
                          <m:t>𝒎</m:t>
                        </m:r>
                      </m:oMath>
                    </m:oMathPara>
                  </a14:m>
                  <a:endParaRPr lang="zh-CN" altLang="en-US" b="1" dirty="0">
                    <a:solidFill>
                      <a:srgbClr val="269703"/>
                    </a:solidFill>
                  </a:endParaRPr>
                </a:p>
              </p:txBody>
            </p:sp>
          </mc:Choice>
          <mc:Fallback xmlns="">
            <p:sp>
              <p:nvSpPr>
                <p:cNvPr id="158" name="文本框 157">
                  <a:extLst>
                    <a:ext uri="{FF2B5EF4-FFF2-40B4-BE49-F238E27FC236}">
                      <a16:creationId xmlns:a16="http://schemas.microsoft.com/office/drawing/2014/main" id="{D53C4CCB-14AC-904C-0A8B-4EF1DA4F631F}"/>
                    </a:ext>
                  </a:extLst>
                </p:cNvPr>
                <p:cNvSpPr txBox="1">
                  <a:spLocks noRot="1" noChangeAspect="1" noMove="1" noResize="1" noEditPoints="1" noAdjustHandles="1" noChangeArrowheads="1" noChangeShapeType="1" noTextEdit="1"/>
                </p:cNvSpPr>
                <p:nvPr/>
              </p:nvSpPr>
              <p:spPr>
                <a:xfrm>
                  <a:off x="9070249" y="1566110"/>
                  <a:ext cx="552711" cy="369332"/>
                </a:xfrm>
                <a:prstGeom prst="rect">
                  <a:avLst/>
                </a:prstGeom>
                <a:blipFill>
                  <a:blip r:embed="rId1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2" name="文本框 161">
                  <a:extLst>
                    <a:ext uri="{FF2B5EF4-FFF2-40B4-BE49-F238E27FC236}">
                      <a16:creationId xmlns:a16="http://schemas.microsoft.com/office/drawing/2014/main" id="{9BB95C38-1278-7B27-A5E4-1F366B46105E}"/>
                    </a:ext>
                  </a:extLst>
                </p:cNvPr>
                <p:cNvSpPr txBox="1"/>
                <p:nvPr/>
              </p:nvSpPr>
              <p:spPr>
                <a:xfrm>
                  <a:off x="9614047" y="1389708"/>
                  <a:ext cx="630869"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𝒈</m:t>
                        </m:r>
                      </m:oMath>
                    </m:oMathPara>
                  </a14:m>
                  <a:endParaRPr lang="zh-CN" altLang="en-US" b="1" dirty="0">
                    <a:solidFill>
                      <a:schemeClr val="tx1"/>
                    </a:solidFill>
                  </a:endParaRPr>
                </a:p>
              </p:txBody>
            </p:sp>
          </mc:Choice>
          <mc:Fallback xmlns="">
            <p:sp>
              <p:nvSpPr>
                <p:cNvPr id="162" name="文本框 161">
                  <a:extLst>
                    <a:ext uri="{FF2B5EF4-FFF2-40B4-BE49-F238E27FC236}">
                      <a16:creationId xmlns:a16="http://schemas.microsoft.com/office/drawing/2014/main" id="{9BB95C38-1278-7B27-A5E4-1F366B46105E}"/>
                    </a:ext>
                  </a:extLst>
                </p:cNvPr>
                <p:cNvSpPr txBox="1">
                  <a:spLocks noRot="1" noChangeAspect="1" noMove="1" noResize="1" noEditPoints="1" noAdjustHandles="1" noChangeArrowheads="1" noChangeShapeType="1" noTextEdit="1"/>
                </p:cNvSpPr>
                <p:nvPr/>
              </p:nvSpPr>
              <p:spPr>
                <a:xfrm>
                  <a:off x="9614047" y="1389708"/>
                  <a:ext cx="630869" cy="369332"/>
                </a:xfrm>
                <a:prstGeom prst="rect">
                  <a:avLst/>
                </a:prstGeom>
                <a:blipFill>
                  <a:blip r:embed="rId13"/>
                  <a:stretch>
                    <a:fillRect b="-6557"/>
                  </a:stretch>
                </a:blipFill>
              </p:spPr>
              <p:txBody>
                <a:bodyPr/>
                <a:lstStyle/>
                <a:p>
                  <a:r>
                    <a:rPr lang="zh-CN" altLang="en-US">
                      <a:noFill/>
                    </a:rPr>
                    <a:t> </a:t>
                  </a:r>
                </a:p>
              </p:txBody>
            </p:sp>
          </mc:Fallback>
        </mc:AlternateContent>
        <p:sp>
          <p:nvSpPr>
            <p:cNvPr id="177" name="文本框 176">
              <a:extLst>
                <a:ext uri="{FF2B5EF4-FFF2-40B4-BE49-F238E27FC236}">
                  <a16:creationId xmlns:a16="http://schemas.microsoft.com/office/drawing/2014/main" id="{4DE0A299-CD97-95C1-7301-249260140E8F}"/>
                </a:ext>
              </a:extLst>
            </p:cNvPr>
            <p:cNvSpPr txBox="1"/>
            <p:nvPr/>
          </p:nvSpPr>
          <p:spPr>
            <a:xfrm>
              <a:off x="10033015" y="2875127"/>
              <a:ext cx="1779526" cy="369332"/>
            </a:xfrm>
            <a:prstGeom prst="rect">
              <a:avLst/>
            </a:prstGeom>
            <a:noFill/>
          </p:spPr>
          <p:txBody>
            <a:bodyPr wrap="none" rtlCol="0">
              <a:spAutoFit/>
            </a:bodyPr>
            <a:lstStyle/>
            <a:p>
              <a:r>
                <a:rPr lang="en-US" altLang="zh-CN" dirty="0"/>
                <a:t>Macro Surface</a:t>
              </a:r>
              <a:endParaRPr lang="zh-CN" altLang="en-US" dirty="0"/>
            </a:p>
          </p:txBody>
        </p:sp>
      </p:grpSp>
    </p:spTree>
    <p:extLst>
      <p:ext uri="{BB962C8B-B14F-4D97-AF65-F5344CB8AC3E}">
        <p14:creationId xmlns:p14="http://schemas.microsoft.com/office/powerpoint/2010/main" val="11061224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40B55-4BBC-1B45-FB98-A50EDF29E092}"/>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B5D68244-EE7B-458B-2E22-CF5C64C5C006}"/>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基于微表面理论的</a:t>
            </a:r>
            <a:r>
              <a:rPr lang="en-US" altLang="zh-CN" dirty="0"/>
              <a:t>BRDF</a:t>
            </a:r>
          </a:p>
        </p:txBody>
      </p:sp>
      <p:sp>
        <p:nvSpPr>
          <p:cNvPr id="5" name="矩形 4">
            <a:extLst>
              <a:ext uri="{FF2B5EF4-FFF2-40B4-BE49-F238E27FC236}">
                <a16:creationId xmlns:a16="http://schemas.microsoft.com/office/drawing/2014/main" id="{43D70336-602F-08F9-C45B-7746BE03C987}"/>
              </a:ext>
            </a:extLst>
          </p:cNvPr>
          <p:cNvSpPr/>
          <p:nvPr/>
        </p:nvSpPr>
        <p:spPr>
          <a:xfrm>
            <a:off x="631109" y="1315233"/>
            <a:ext cx="11137094"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F187AED7-0346-6EE8-4C3C-E8493776E44E}"/>
                  </a:ext>
                </a:extLst>
              </p:cNvPr>
              <p:cNvSpPr/>
              <p:nvPr/>
            </p:nvSpPr>
            <p:spPr>
              <a:xfrm>
                <a:off x="478709" y="1144044"/>
                <a:ext cx="11137094"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30000"/>
                  </a:lnSpc>
                </a:pPr>
                <a14:m>
                  <m:oMathPara xmlns:m="http://schemas.openxmlformats.org/officeDocument/2006/math">
                    <m:oMathParaPr>
                      <m:jc m:val="centerGroup"/>
                    </m:oMathParaPr>
                    <m:oMath xmlns:m="http://schemas.openxmlformats.org/officeDocument/2006/math">
                      <m:r>
                        <a:rPr lang="en-US" altLang="zh-CN" sz="1600" b="0" i="1" dirty="0" smtClean="0">
                          <a:solidFill>
                            <a:schemeClr val="tx1"/>
                          </a:solidFill>
                          <a:latin typeface="Cambria Math" panose="02040503050406030204" pitchFamily="18" charset="0"/>
                        </a:rPr>
                        <m:t>𝑓</m:t>
                      </m:r>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en>
                      </m:f>
                      <m:r>
                        <a:rPr lang="en-US" altLang="zh-CN" sz="1600" i="1" dirty="0">
                          <a:solidFill>
                            <a:schemeClr val="tx1"/>
                          </a:solidFill>
                          <a:latin typeface="Cambria Math" panose="02040503050406030204" pitchFamily="18" charset="0"/>
                        </a:rPr>
                        <m:t> </m:t>
                      </m:r>
                      <m:nary>
                        <m:naryPr>
                          <m:supHide m:val="on"/>
                          <m:ctrlPr>
                            <a:rPr lang="en-US" altLang="zh-CN" sz="1600" i="1" dirty="0">
                              <a:solidFill>
                                <a:schemeClr val="tx1"/>
                              </a:solidFill>
                              <a:latin typeface="Cambria Math" panose="02040503050406030204" pitchFamily="18" charset="0"/>
                            </a:rPr>
                          </m:ctrlPr>
                        </m:naryPr>
                        <m:sub>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𝐻</m:t>
                              </m:r>
                            </m:e>
                            <m:sup>
                              <m:r>
                                <a:rPr lang="en-US" altLang="zh-CN" sz="1600" i="1" dirty="0">
                                  <a:solidFill>
                                    <a:schemeClr val="tx1"/>
                                  </a:solidFill>
                                  <a:latin typeface="Cambria Math" panose="02040503050406030204" pitchFamily="18" charset="0"/>
                                </a:rPr>
                                <m:t>2</m:t>
                              </m:r>
                            </m:sup>
                          </m:sSup>
                        </m:sub>
                        <m:sup/>
                        <m:e>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𝑓</m:t>
                              </m:r>
                            </m:e>
                            <m:sub>
                              <m:r>
                                <a:rPr lang="en-US" altLang="zh-CN" sz="1600" b="0" i="1" dirty="0" smtClean="0">
                                  <a:solidFill>
                                    <a:schemeClr val="tx1"/>
                                  </a:solidFill>
                                  <a:latin typeface="Cambria Math" panose="02040503050406030204" pitchFamily="18" charset="0"/>
                                </a:rPr>
                                <m:t>𝑚</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2</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b="1"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𝑑</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m:rPr>
                                  <m:sty m:val="p"/>
                                </m:rPr>
                                <a:rPr lang="en-US" altLang="zh-CN" sz="1600" i="1" dirty="0">
                                  <a:solidFill>
                                    <a:schemeClr val="tx1"/>
                                  </a:solidFill>
                                  <a:latin typeface="Cambria Math" panose="02040503050406030204" pitchFamily="18" charset="0"/>
                                </a:rPr>
                                <m:t>m</m:t>
                              </m:r>
                            </m:sub>
                          </m:sSub>
                        </m:e>
                      </m:nary>
                    </m:oMath>
                  </m:oMathPara>
                </a14:m>
                <a:endParaRPr lang="en-US" altLang="zh-CN" sz="1600" dirty="0">
                  <a:solidFill>
                    <a:schemeClr val="tx1"/>
                  </a:solidFill>
                </a:endParaRPr>
              </a:p>
              <a:p>
                <a:pPr algn="ctr">
                  <a:lnSpc>
                    <a:spcPct val="130000"/>
                  </a:lnSpc>
                </a:pPr>
                <a14:m>
                  <m:oMathPara xmlns:m="http://schemas.openxmlformats.org/officeDocument/2006/math">
                    <m:oMathParaPr>
                      <m:jc m:val="centerGroup"/>
                    </m:oMathParaPr>
                    <m:oMath xmlns:m="http://schemas.openxmlformats.org/officeDocument/2006/math">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𝑓</m:t>
                          </m:r>
                        </m:e>
                        <m:sub>
                          <m:r>
                            <a:rPr lang="en-US" altLang="zh-CN" sz="1600" i="1" dirty="0">
                              <a:solidFill>
                                <a:schemeClr val="tx1"/>
                              </a:solidFill>
                              <a:latin typeface="Cambria Math" panose="02040503050406030204" pitchFamily="18" charset="0"/>
                            </a:rPr>
                            <m:t>𝑚</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𝜌</m:t>
                      </m:r>
                      <m:r>
                        <a:rPr lang="en-US" altLang="zh-CN" sz="1600" i="1" dirty="0">
                          <a:solidFill>
                            <a:schemeClr val="tx1"/>
                          </a:solidFill>
                          <a:latin typeface="Cambria Math" panose="02040503050406030204" pitchFamily="18" charset="0"/>
                        </a:rPr>
                        <m:t> </m:t>
                      </m:r>
                      <m:f>
                        <m:fPr>
                          <m:ctrlPr>
                            <a:rPr lang="en-US" altLang="zh-CN" sz="1600" i="1" dirty="0">
                              <a:solidFill>
                                <a:schemeClr val="tx1"/>
                              </a:solidFill>
                              <a:latin typeface="Cambria Math" panose="02040503050406030204" pitchFamily="18" charset="0"/>
                            </a:rPr>
                          </m:ctrlPr>
                        </m:fPr>
                        <m:num>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𝛿</m:t>
                              </m:r>
                            </m:e>
                            <m:sub>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sub>
                          </m:sSub>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𝒉</m:t>
                          </m:r>
                          <m:r>
                            <a:rPr lang="en-US" altLang="zh-CN" sz="1600" i="1" dirty="0">
                              <a:solidFill>
                                <a:schemeClr val="tx1"/>
                              </a:solidFill>
                              <a:latin typeface="Cambria Math" panose="02040503050406030204" pitchFamily="18" charset="0"/>
                            </a:rPr>
                            <m:t>)</m:t>
                          </m:r>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𝒉</m:t>
                              </m:r>
                            </m:e>
                          </m:d>
                        </m:den>
                      </m:f>
                      <m:d>
                        <m:dPr>
                          <m:begChr m:val="|"/>
                          <m:endChr m:val="|"/>
                          <m:ctrlPr>
                            <a:rPr lang="en-US" altLang="zh-CN" sz="1600" i="1" dirty="0">
                              <a:solidFill>
                                <a:schemeClr val="tx1"/>
                              </a:solidFill>
                              <a:latin typeface="Cambria Math" panose="02040503050406030204" pitchFamily="18" charset="0"/>
                            </a:rPr>
                          </m:ctrlPr>
                        </m:dPr>
                        <m:e>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det</m:t>
                              </m:r>
                            </m:fName>
                            <m:e>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num>
                                    <m:den>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𝑖</m:t>
                                          </m:r>
                                        </m:sub>
                                      </m:sSub>
                                    </m:den>
                                  </m:f>
                                  <m:r>
                                    <a:rPr lang="en-US" altLang="zh-CN" sz="1600" i="1" dirty="0">
                                      <a:solidFill>
                                        <a:schemeClr val="tx1"/>
                                      </a:solidFill>
                                      <a:latin typeface="Cambria Math" panose="02040503050406030204" pitchFamily="18" charset="0"/>
                                    </a:rPr>
                                    <m:t> </m:t>
                                  </m:r>
                                </m:e>
                              </m:d>
                            </m:e>
                          </m:func>
                        </m:e>
                      </m:d>
                    </m:oMath>
                  </m:oMathPara>
                </a14:m>
                <a:endParaRPr lang="en-US" altLang="zh-CN" sz="1600" dirty="0">
                  <a:solidFill>
                    <a:schemeClr val="tx1"/>
                  </a:solidFill>
                </a:endParaRPr>
              </a:p>
              <a:p>
                <a:pPr algn="ctr">
                  <a:lnSpc>
                    <a:spcPct val="130000"/>
                  </a:lnSpc>
                </a:pPr>
                <a14:m>
                  <m:oMathPara xmlns:m="http://schemas.openxmlformats.org/officeDocument/2006/math">
                    <m:oMathParaPr>
                      <m:jc m:val="centerGroup"/>
                    </m:oMathParaPr>
                    <m:oMath xmlns:m="http://schemas.openxmlformats.org/officeDocument/2006/math">
                      <m:r>
                        <a:rPr lang="zh-CN" altLang="en-US" sz="1600" i="1" dirty="0" smtClean="0">
                          <a:solidFill>
                            <a:schemeClr val="tx1"/>
                          </a:solidFill>
                          <a:latin typeface="Cambria Math" panose="02040503050406030204" pitchFamily="18" charset="0"/>
                        </a:rPr>
                        <m:t>反</m:t>
                      </m:r>
                      <m:r>
                        <a:rPr lang="zh-CN" altLang="en-US" sz="1600" i="1" dirty="0">
                          <a:solidFill>
                            <a:schemeClr val="tx1"/>
                          </a:solidFill>
                          <a:latin typeface="Cambria Math" panose="02040503050406030204" pitchFamily="18" charset="0"/>
                        </a:rPr>
                        <m:t>射</m:t>
                      </m:r>
                      <m:r>
                        <a:rPr lang="zh-CN" altLang="en-US" sz="1600" b="0" i="1" dirty="0">
                          <a:solidFill>
                            <a:schemeClr val="tx1"/>
                          </a:solidFill>
                          <a:latin typeface="Cambria Math" panose="02040503050406030204" pitchFamily="18" charset="0"/>
                        </a:rPr>
                        <m:t>的</m:t>
                      </m:r>
                      <m:r>
                        <a:rPr lang="zh-CN" altLang="en-US" sz="1600" i="1" dirty="0">
                          <a:solidFill>
                            <a:schemeClr val="tx1"/>
                          </a:solidFill>
                          <a:latin typeface="Cambria Math" panose="02040503050406030204" pitchFamily="18" charset="0"/>
                        </a:rPr>
                        <m:t>雅可比行列式</m:t>
                      </m:r>
                      <m:r>
                        <a:rPr lang="zh-CN" altLang="en-US" sz="1600" i="1" dirty="0" smtClean="0">
                          <a:solidFill>
                            <a:schemeClr val="tx1"/>
                          </a:solidFill>
                          <a:latin typeface="Cambria Math" panose="02040503050406030204" pitchFamily="18" charset="0"/>
                        </a:rPr>
                        <m:t>：</m:t>
                      </m:r>
                      <m:d>
                        <m:dPr>
                          <m:begChr m:val="|"/>
                          <m:endChr m:val="|"/>
                          <m:ctrlPr>
                            <a:rPr lang="en-US" altLang="zh-CN" sz="1600" i="1" dirty="0" smtClean="0">
                              <a:solidFill>
                                <a:schemeClr val="tx1"/>
                              </a:solidFill>
                              <a:latin typeface="Cambria Math" panose="02040503050406030204" pitchFamily="18" charset="0"/>
                            </a:rPr>
                          </m:ctrlPr>
                        </m:dPr>
                        <m:e>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det</m:t>
                              </m:r>
                            </m:fName>
                            <m:e>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num>
                                    <m:den>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𝑖</m:t>
                                          </m:r>
                                        </m:sub>
                                      </m:sSub>
                                    </m:den>
                                  </m:f>
                                  <m:r>
                                    <a:rPr lang="en-US" altLang="zh-CN" sz="1600" i="1" dirty="0">
                                      <a:solidFill>
                                        <a:schemeClr val="tx1"/>
                                      </a:solidFill>
                                      <a:latin typeface="Cambria Math" panose="02040503050406030204" pitchFamily="18" charset="0"/>
                                    </a:rPr>
                                    <m:t> </m:t>
                                  </m:r>
                                </m:e>
                              </m:d>
                            </m:e>
                          </m:func>
                        </m:e>
                      </m:d>
                      <m:r>
                        <a:rPr lang="en-US" altLang="zh-CN" sz="1600" b="0" i="1" dirty="0" smtClean="0">
                          <a:solidFill>
                            <a:schemeClr val="tx1"/>
                          </a:solidFill>
                          <a:latin typeface="Cambria Math" panose="02040503050406030204" pitchFamily="18" charset="0"/>
                        </a:rPr>
                        <m:t>=</m:t>
                      </m:r>
                      <m:f>
                        <m:fPr>
                          <m:ctrlPr>
                            <a:rPr lang="en-US" altLang="zh-CN" sz="1600" i="1">
                              <a:solidFill>
                                <a:schemeClr val="tx1"/>
                              </a:solidFill>
                              <a:latin typeface="Cambria Math" panose="02040503050406030204" pitchFamily="18" charset="0"/>
                            </a:rPr>
                          </m:ctrlPr>
                        </m:fPr>
                        <m:num>
                          <m:r>
                            <a:rPr lang="en-US" altLang="zh-CN" sz="1600" i="1">
                              <a:solidFill>
                                <a:schemeClr val="tx1"/>
                              </a:solidFill>
                              <a:latin typeface="Cambria Math" panose="02040503050406030204" pitchFamily="18" charset="0"/>
                            </a:rPr>
                            <m:t>1</m:t>
                          </m:r>
                        </m:num>
                        <m:den>
                          <m:r>
                            <a:rPr lang="en-US" altLang="zh-CN" sz="1600" i="1">
                              <a:solidFill>
                                <a:schemeClr val="tx1"/>
                              </a:solidFill>
                              <a:latin typeface="Cambria Math" panose="02040503050406030204" pitchFamily="18" charset="0"/>
                            </a:rPr>
                            <m:t>4 </m:t>
                          </m:r>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𝒎</m:t>
                              </m:r>
                            </m:e>
                          </m:d>
                        </m:den>
                      </m:f>
                      <m:r>
                        <a:rPr lang="en-US" altLang="zh-CN" sz="1600" b="0" i="1" smtClean="0">
                          <a:solidFill>
                            <a:schemeClr val="tx1"/>
                          </a:solidFill>
                          <a:latin typeface="Cambria Math" panose="02040503050406030204" pitchFamily="18" charset="0"/>
                        </a:rPr>
                        <m:t>,  </m:t>
                      </m:r>
                      <m:r>
                        <a:rPr lang="zh-CN" altLang="en-US" sz="1600" i="1">
                          <a:solidFill>
                            <a:schemeClr val="tx1"/>
                          </a:solidFill>
                          <a:latin typeface="Cambria Math" panose="02040503050406030204" pitchFamily="18" charset="0"/>
                        </a:rPr>
                        <m:t>反射的</m:t>
                      </m:r>
                      <m:r>
                        <a:rPr lang="zh-CN" altLang="en-US" sz="1600" i="1" smtClean="0">
                          <a:solidFill>
                            <a:schemeClr val="tx1"/>
                          </a:solidFill>
                          <a:latin typeface="Cambria Math" panose="02040503050406030204" pitchFamily="18" charset="0"/>
                        </a:rPr>
                        <m:t>反照率</m:t>
                      </m:r>
                      <m:r>
                        <a:rPr lang="zh-CN" altLang="en-US" sz="1600" i="1">
                          <a:solidFill>
                            <a:schemeClr val="tx1"/>
                          </a:solidFill>
                          <a:latin typeface="Cambria Math" panose="02040503050406030204" pitchFamily="18" charset="0"/>
                        </a:rPr>
                        <m:t>：</m:t>
                      </m:r>
                      <m:r>
                        <a:rPr lang="en-US" altLang="zh-CN" sz="1600" b="0" i="1" smtClean="0">
                          <a:solidFill>
                            <a:schemeClr val="tx1"/>
                          </a:solidFill>
                          <a:latin typeface="Cambria Math" panose="02040503050406030204" pitchFamily="18" charset="0"/>
                        </a:rPr>
                        <m:t>𝜌</m:t>
                      </m:r>
                      <m:r>
                        <a:rPr lang="en-US" altLang="zh-CN" sz="1600" b="0" i="1" smtClean="0">
                          <a:solidFill>
                            <a:schemeClr val="tx1"/>
                          </a:solidFill>
                          <a:latin typeface="Cambria Math" panose="02040503050406030204" pitchFamily="18" charset="0"/>
                        </a:rPr>
                        <m:t>=</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𝐹</m:t>
                          </m:r>
                        </m:e>
                        <m:sub>
                          <m:r>
                            <a:rPr lang="en-US" altLang="zh-CN" sz="1600" b="0" i="1" smtClean="0">
                              <a:solidFill>
                                <a:schemeClr val="tx1"/>
                              </a:solidFill>
                              <a:latin typeface="Cambria Math" panose="02040503050406030204" pitchFamily="18" charset="0"/>
                            </a:rPr>
                            <m:t>𝑟</m:t>
                          </m:r>
                        </m:sub>
                      </m:sSub>
                      <m:d>
                        <m:dPr>
                          <m:ctrlPr>
                            <a:rPr lang="en-US" altLang="zh-CN" sz="1600" i="1">
                              <a:solidFill>
                                <a:schemeClr val="tx1"/>
                              </a:solidFill>
                              <a:latin typeface="Cambria Math" panose="02040503050406030204" pitchFamily="18" charset="0"/>
                            </a:rPr>
                          </m:ctrlPr>
                        </m:dPr>
                        <m:e>
                          <m:r>
                            <a:rPr lang="en-US" altLang="zh-CN" sz="1600" b="1" i="1" smtClean="0">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𝒐</m:t>
                          </m:r>
                        </m:e>
                      </m:d>
                    </m:oMath>
                  </m:oMathPara>
                </a14:m>
                <a:endParaRPr lang="en-US" altLang="zh-CN" sz="1600" b="0" i="1" dirty="0">
                  <a:solidFill>
                    <a:schemeClr val="tx1"/>
                  </a:solidFill>
                  <a:latin typeface="Cambria Math" panose="02040503050406030204" pitchFamily="18" charset="0"/>
                </a:endParaRPr>
              </a:p>
              <a:p>
                <a:pPr algn="ctr">
                  <a:lnSpc>
                    <a:spcPct val="130000"/>
                  </a:lnSpc>
                </a:pPr>
                <a14:m>
                  <m:oMathPara xmlns:m="http://schemas.openxmlformats.org/officeDocument/2006/math">
                    <m:oMathParaPr>
                      <m:jc m:val="centerGroup"/>
                    </m:oMathParaPr>
                    <m:oMath xmlns:m="http://schemas.openxmlformats.org/officeDocument/2006/math">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𝑓</m:t>
                          </m:r>
                        </m:e>
                        <m:sub>
                          <m:r>
                            <a:rPr lang="en-US" altLang="zh-CN" sz="1600" i="1" dirty="0">
                              <a:solidFill>
                                <a:schemeClr val="tx1"/>
                              </a:solidFill>
                              <a:latin typeface="Cambria Math" panose="02040503050406030204" pitchFamily="18" charset="0"/>
                            </a:rPr>
                            <m:t>𝑚</m:t>
                          </m:r>
                        </m:sub>
                        <m:sup>
                          <m:r>
                            <a:rPr lang="en-US" altLang="zh-CN" sz="1600" i="1" dirty="0">
                              <a:solidFill>
                                <a:schemeClr val="tx1"/>
                              </a:solidFill>
                              <a:latin typeface="Cambria Math" panose="02040503050406030204" pitchFamily="18" charset="0"/>
                            </a:rPr>
                            <m:t>𝑟</m:t>
                          </m:r>
                        </m:sup>
                      </m:sSubSup>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m:t>
                      </m:r>
                      <m:sSub>
                        <m:sSubPr>
                          <m:ctrlPr>
                            <a:rPr lang="en-US" altLang="zh-CN" sz="1600" i="1" smtClean="0">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𝑟</m:t>
                          </m:r>
                        </m:sub>
                      </m:sSub>
                      <m:d>
                        <m:dPr>
                          <m:ctrlPr>
                            <a:rPr lang="en-US" altLang="zh-CN" sz="1600" i="1">
                              <a:solidFill>
                                <a:schemeClr val="tx1"/>
                              </a:solidFill>
                              <a:latin typeface="Cambria Math" panose="02040503050406030204" pitchFamily="18" charset="0"/>
                            </a:rPr>
                          </m:ctrlPr>
                        </m:dPr>
                        <m:e>
                          <m:r>
                            <a:rPr lang="en-US" altLang="zh-CN" sz="1600" b="1" i="1" smtClean="0">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𝒐</m:t>
                          </m:r>
                        </m:e>
                      </m:d>
                      <m:f>
                        <m:fPr>
                          <m:ctrlPr>
                            <a:rPr lang="en-US" altLang="zh-CN" sz="1600" i="1" dirty="0">
                              <a:solidFill>
                                <a:schemeClr val="tx1"/>
                              </a:solidFill>
                              <a:latin typeface="Cambria Math" panose="02040503050406030204" pitchFamily="18" charset="0"/>
                            </a:rPr>
                          </m:ctrlPr>
                        </m:fPr>
                        <m:num>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𝛿</m:t>
                              </m:r>
                            </m:e>
                            <m:sub>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sub>
                          </m:sSub>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r>
                            <a:rPr lang="en-US" altLang="zh-CN" sz="1600" i="1" dirty="0">
                              <a:solidFill>
                                <a:schemeClr val="tx1"/>
                              </a:solidFill>
                              <a:latin typeface="Cambria Math" panose="02040503050406030204" pitchFamily="18" charset="0"/>
                            </a:rPr>
                            <m:t>−</m:t>
                          </m:r>
                          <m:sSub>
                            <m:sSubPr>
                              <m:ctrlPr>
                                <a:rPr lang="en-US" altLang="zh-CN" sz="1600" b="1" i="1" dirty="0" smtClean="0">
                                  <a:solidFill>
                                    <a:schemeClr val="tx1"/>
                                  </a:solidFill>
                                  <a:latin typeface="Cambria Math" panose="02040503050406030204" pitchFamily="18" charset="0"/>
                                </a:rPr>
                              </m:ctrlPr>
                            </m:sSubPr>
                            <m:e>
                              <m:r>
                                <a:rPr lang="en-US" altLang="zh-CN" sz="1600" b="1" i="1" dirty="0" smtClean="0">
                                  <a:solidFill>
                                    <a:schemeClr val="tx1"/>
                                  </a:solidFill>
                                  <a:latin typeface="Cambria Math" panose="02040503050406030204" pitchFamily="18" charset="0"/>
                                </a:rPr>
                                <m:t>𝒉</m:t>
                              </m:r>
                            </m:e>
                            <m:sub>
                              <m:r>
                                <a:rPr lang="en-US" altLang="zh-CN" sz="1600" b="1" i="1" dirty="0" smtClean="0">
                                  <a:solidFill>
                                    <a:schemeClr val="tx1"/>
                                  </a:solidFill>
                                  <a:latin typeface="Cambria Math" panose="02040503050406030204" pitchFamily="18" charset="0"/>
                                </a:rPr>
                                <m:t>𝒓</m:t>
                              </m:r>
                            </m:sub>
                          </m:sSub>
                          <m:r>
                            <a:rPr lang="en-US" altLang="zh-CN" sz="1600" i="1" dirty="0">
                              <a:solidFill>
                                <a:schemeClr val="tx1"/>
                              </a:solidFill>
                              <a:latin typeface="Cambria Math" panose="02040503050406030204" pitchFamily="18" charset="0"/>
                            </a:rPr>
                            <m:t>)</m:t>
                          </m:r>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den>
                      </m:f>
                      <m:f>
                        <m:fPr>
                          <m:ctrlPr>
                            <a:rPr lang="en-US" altLang="zh-CN" sz="1600" i="1">
                              <a:solidFill>
                                <a:schemeClr val="tx1"/>
                              </a:solidFill>
                              <a:latin typeface="Cambria Math" panose="02040503050406030204" pitchFamily="18" charset="0"/>
                            </a:rPr>
                          </m:ctrlPr>
                        </m:fPr>
                        <m:num>
                          <m:r>
                            <a:rPr lang="en-US" altLang="zh-CN" sz="1600" i="1">
                              <a:solidFill>
                                <a:schemeClr val="tx1"/>
                              </a:solidFill>
                              <a:latin typeface="Cambria Math" panose="02040503050406030204" pitchFamily="18" charset="0"/>
                            </a:rPr>
                            <m:t>1</m:t>
                          </m:r>
                        </m:num>
                        <m:den>
                          <m:r>
                            <a:rPr lang="en-US" altLang="zh-CN" sz="1600" i="1">
                              <a:solidFill>
                                <a:schemeClr val="tx1"/>
                              </a:solidFill>
                              <a:latin typeface="Cambria Math" panose="02040503050406030204" pitchFamily="18" charset="0"/>
                            </a:rPr>
                            <m:t>4 </m:t>
                          </m:r>
                          <m:d>
                            <m:dPr>
                              <m:begChr m:val="|"/>
                              <m:endChr m:val="|"/>
                              <m:ctrlPr>
                                <a:rPr lang="en-US" altLang="zh-CN" sz="1600" i="1">
                                  <a:solidFill>
                                    <a:schemeClr val="tx1"/>
                                  </a:solidFill>
                                  <a:latin typeface="Cambria Math" panose="02040503050406030204" pitchFamily="18" charset="0"/>
                                </a:rPr>
                              </m:ctrlPr>
                            </m:dPr>
                            <m:e>
                              <m:r>
                                <a:rPr lang="en-US" altLang="zh-CN" sz="1600" b="1" i="1" smtClean="0">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𝒎</m:t>
                              </m:r>
                            </m:e>
                          </m:d>
                        </m:den>
                      </m:f>
                      <m:r>
                        <a:rPr lang="en-US" altLang="zh-CN" sz="1600" b="0" i="1" smtClean="0">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𝑟</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f>
                        <m:fPr>
                          <m:ctrlPr>
                            <a:rPr lang="en-US" altLang="zh-CN" sz="1600" i="1" dirty="0">
                              <a:solidFill>
                                <a:schemeClr val="tx1"/>
                              </a:solidFill>
                              <a:latin typeface="Cambria Math" panose="02040503050406030204" pitchFamily="18" charset="0"/>
                            </a:rPr>
                          </m:ctrlPr>
                        </m:fPr>
                        <m:num>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𝛿</m:t>
                              </m:r>
                            </m:e>
                            <m:sub>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sub>
                          </m:sSub>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r>
                            <a:rPr lang="en-US" altLang="zh-CN" sz="1600" i="1" dirty="0">
                              <a:solidFill>
                                <a:schemeClr val="tx1"/>
                              </a:solidFill>
                              <a:latin typeface="Cambria Math" panose="02040503050406030204" pitchFamily="18" charset="0"/>
                            </a:rPr>
                            <m:t>)</m:t>
                          </m:r>
                        </m:num>
                        <m:den>
                          <m:r>
                            <a:rPr lang="en-US" altLang="zh-CN" sz="1600" b="0" i="1" dirty="0" smtClean="0">
                              <a:solidFill>
                                <a:schemeClr val="tx1"/>
                              </a:solidFill>
                              <a:latin typeface="Cambria Math" panose="02040503050406030204" pitchFamily="18" charset="0"/>
                            </a:rPr>
                            <m:t>4</m:t>
                          </m:r>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den>
                      </m:f>
                    </m:oMath>
                  </m:oMathPara>
                </a14:m>
                <a:endParaRPr lang="en-US" altLang="zh-CN" sz="1600" b="0" dirty="0">
                  <a:solidFill>
                    <a:schemeClr val="tx1"/>
                  </a:solidFill>
                </a:endParaRPr>
              </a:p>
              <a:p>
                <a:pPr algn="ctr">
                  <a:lnSpc>
                    <a:spcPct val="130000"/>
                  </a:lnSpc>
                </a:pPr>
                <a14:m>
                  <m:oMathPara xmlns:m="http://schemas.openxmlformats.org/officeDocument/2006/math">
                    <m:oMathParaPr>
                      <m:jc m:val="centerGroup"/>
                    </m:oMathParaPr>
                    <m:oMath xmlns:m="http://schemas.openxmlformats.org/officeDocument/2006/math">
                      <m:sSup>
                        <m:sSupPr>
                          <m:ctrlPr>
                            <a:rPr lang="en-US" altLang="zh-CN" sz="1600" b="0" i="1" dirty="0" smtClean="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𝑓</m:t>
                          </m:r>
                        </m:e>
                        <m:sup>
                          <m:r>
                            <a:rPr lang="en-US" altLang="zh-CN" sz="1600" b="0" i="1" dirty="0" smtClean="0">
                              <a:solidFill>
                                <a:schemeClr val="tx1"/>
                              </a:solidFill>
                              <a:latin typeface="Cambria Math" panose="02040503050406030204" pitchFamily="18" charset="0"/>
                            </a:rPr>
                            <m:t>𝑟</m:t>
                          </m:r>
                        </m:sup>
                      </m:sSup>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en>
                      </m:f>
                      <m:nary>
                        <m:naryPr>
                          <m:supHide m:val="on"/>
                          <m:ctrlPr>
                            <a:rPr lang="en-US" altLang="zh-CN" sz="1600" i="1" dirty="0">
                              <a:solidFill>
                                <a:schemeClr val="tx1"/>
                              </a:solidFill>
                              <a:latin typeface="Cambria Math" panose="02040503050406030204" pitchFamily="18" charset="0"/>
                            </a:rPr>
                          </m:ctrlPr>
                        </m:naryPr>
                        <m:sub>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𝐻</m:t>
                              </m:r>
                            </m:e>
                            <m:sup>
                              <m:r>
                                <a:rPr lang="en-US" altLang="zh-CN" sz="1600" i="1" dirty="0">
                                  <a:solidFill>
                                    <a:schemeClr val="tx1"/>
                                  </a:solidFill>
                                  <a:latin typeface="Cambria Math" panose="02040503050406030204" pitchFamily="18" charset="0"/>
                                </a:rPr>
                                <m:t>2</m:t>
                              </m:r>
                            </m:sup>
                          </m:sSup>
                        </m:sub>
                        <m:sup/>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𝑟</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f>
                            <m:fPr>
                              <m:ctrlPr>
                                <a:rPr lang="en-US" altLang="zh-CN" sz="1600" i="1" dirty="0">
                                  <a:solidFill>
                                    <a:schemeClr val="tx1"/>
                                  </a:solidFill>
                                  <a:latin typeface="Cambria Math" panose="02040503050406030204" pitchFamily="18" charset="0"/>
                                </a:rPr>
                              </m:ctrlPr>
                            </m:fPr>
                            <m:num>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𝛿</m:t>
                                  </m:r>
                                </m:e>
                                <m:sub>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sub>
                              </m:sSub>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r>
                                <a:rPr lang="en-US" altLang="zh-CN" sz="1600" i="1" dirty="0">
                                  <a:solidFill>
                                    <a:schemeClr val="tx1"/>
                                  </a:solidFill>
                                  <a:latin typeface="Cambria Math" panose="02040503050406030204" pitchFamily="18" charset="0"/>
                                </a:rPr>
                                <m:t>)</m:t>
                              </m:r>
                            </m:num>
                            <m:den>
                              <m:r>
                                <a:rPr lang="en-US" altLang="zh-CN" sz="1600" i="1" dirty="0">
                                  <a:solidFill>
                                    <a:schemeClr val="tx1"/>
                                  </a:solidFill>
                                  <a:latin typeface="Cambria Math" panose="02040503050406030204" pitchFamily="18" charset="0"/>
                                </a:rPr>
                                <m:t>4</m:t>
                              </m:r>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den>
                          </m:f>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2</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b="1"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𝑑</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m:rPr>
                                  <m:sty m:val="p"/>
                                </m:rPr>
                                <a:rPr lang="en-US" altLang="zh-CN" sz="1600" i="1" dirty="0">
                                  <a:solidFill>
                                    <a:schemeClr val="tx1"/>
                                  </a:solidFill>
                                  <a:latin typeface="Cambria Math" panose="02040503050406030204" pitchFamily="18" charset="0"/>
                                </a:rPr>
                                <m:t>m</m:t>
                              </m:r>
                            </m:sub>
                          </m:sSub>
                        </m:e>
                      </m:nary>
                    </m:oMath>
                  </m:oMathPara>
                </a14:m>
                <a:endParaRPr lang="en-US" altLang="zh-CN" sz="1600" b="0" i="1" dirty="0">
                  <a:solidFill>
                    <a:schemeClr val="tx1"/>
                  </a:solidFill>
                  <a:latin typeface="Cambria Math" panose="02040503050406030204" pitchFamily="18" charset="0"/>
                </a:endParaRPr>
              </a:p>
              <a:p>
                <a:pPr algn="ctr">
                  <a:lnSpc>
                    <a:spcPct val="130000"/>
                  </a:lnSpc>
                </a:pPr>
                <a14:m>
                  <m:oMathPara xmlns:m="http://schemas.openxmlformats.org/officeDocument/2006/math">
                    <m:oMathParaPr>
                      <m:jc m:val="centerGroup"/>
                    </m:oMathParaPr>
                    <m:oMath xmlns:m="http://schemas.openxmlformats.org/officeDocument/2006/math">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en>
                      </m:f>
                      <m:f>
                        <m:fPr>
                          <m:ctrlPr>
                            <a:rPr lang="en-US" altLang="zh-CN" sz="1600" i="1" dirty="0">
                              <a:solidFill>
                                <a:schemeClr val="tx1"/>
                              </a:solidFill>
                              <a:latin typeface="Cambria Math" panose="02040503050406030204" pitchFamily="18" charset="0"/>
                            </a:rPr>
                          </m:ctrlPr>
                        </m:fPr>
                        <m:num>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𝑟</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num>
                        <m:den>
                          <m:r>
                            <a:rPr lang="en-US" altLang="zh-CN" sz="1600" i="1" dirty="0">
                              <a:solidFill>
                                <a:schemeClr val="tx1"/>
                              </a:solidFill>
                              <a:latin typeface="Cambria Math" panose="02040503050406030204" pitchFamily="18" charset="0"/>
                            </a:rPr>
                            <m:t>4</m:t>
                          </m:r>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den>
                      </m:f>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r>
                        <a:rPr lang="en-US" altLang="zh-CN" sz="1600" i="1" dirty="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2</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b="1"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r>
                        <a:rPr lang="en-US" altLang="zh-CN" sz="1600" b="0" i="1" dirty="0" smtClean="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r>
                        <a:rPr lang="en-US" altLang="zh-CN" sz="1600" b="1" i="1" smtClean="0">
                          <a:solidFill>
                            <a:schemeClr val="tx1"/>
                          </a:solidFill>
                          <a:latin typeface="Cambria Math" panose="02040503050406030204" pitchFamily="18" charset="0"/>
                        </a:rPr>
                        <m:t>=</m:t>
                      </m:r>
                      <m:sSup>
                        <m:sSupPr>
                          <m:ctrlPr>
                            <a:rPr lang="en-US" altLang="zh-CN" sz="1600" b="1" i="1">
                              <a:solidFill>
                                <a:schemeClr val="tx1"/>
                              </a:solidFill>
                              <a:latin typeface="Cambria Math" panose="02040503050406030204" pitchFamily="18" charset="0"/>
                            </a:rPr>
                          </m:ctrlPr>
                        </m:sSupPr>
                        <m:e>
                          <m:r>
                            <a:rPr lang="en-US" altLang="zh-CN" sz="1600" b="1" i="1">
                              <a:solidFill>
                                <a:schemeClr val="tx1"/>
                              </a:solidFill>
                              <a:latin typeface="Cambria Math" panose="02040503050406030204" pitchFamily="18" charset="0"/>
                            </a:rPr>
                            <m:t>𝑿</m:t>
                          </m:r>
                        </m:e>
                        <m:sup>
                          <m:r>
                            <a:rPr lang="en-US" altLang="zh-CN" sz="1600" b="1" i="1">
                              <a:solidFill>
                                <a:schemeClr val="tx1"/>
                              </a:solidFill>
                              <a:latin typeface="Cambria Math" panose="02040503050406030204" pitchFamily="18" charset="0"/>
                            </a:rPr>
                            <m:t>+</m:t>
                          </m:r>
                        </m:sup>
                      </m:sSup>
                      <m:d>
                        <m:dPr>
                          <m:ctrlPr>
                            <a:rPr lang="en-US" altLang="zh-CN" sz="1600" b="1" i="1">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smtClean="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r>
                        <a:rPr lang="en-US" altLang="zh-CN" sz="1600" b="1" i="1" smtClean="0">
                          <a:solidFill>
                            <a:schemeClr val="tx1"/>
                          </a:solidFill>
                          <a:latin typeface="Cambria Math" panose="02040503050406030204" pitchFamily="18" charset="0"/>
                        </a:rPr>
                        <m:t> </m:t>
                      </m:r>
                      <m:d>
                        <m:dPr>
                          <m:begChr m:val="|"/>
                          <m:endChr m:val="|"/>
                          <m:ctrlPr>
                            <a:rPr lang="en-US" altLang="zh-CN" sz="1600" b="1" i="1" dirty="0" smtClean="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oMath>
                  </m:oMathPara>
                </a14:m>
                <a:endParaRPr lang="en-US" altLang="zh-CN" sz="1600" b="1" i="1" dirty="0">
                  <a:solidFill>
                    <a:schemeClr val="tx1"/>
                  </a:solidFill>
                  <a:latin typeface="Cambria Math" panose="02040503050406030204" pitchFamily="18" charset="0"/>
                </a:endParaRPr>
              </a:p>
              <a:p>
                <a:pPr algn="ctr">
                  <a:lnSpc>
                    <a:spcPct val="130000"/>
                  </a:lnSpc>
                </a:pPr>
                <a14:m>
                  <m:oMathPara xmlns:m="http://schemas.openxmlformats.org/officeDocument/2006/math">
                    <m:oMathParaPr>
                      <m:jc m:val="centerGroup"/>
                    </m:oMathParaPr>
                    <m:oMath xmlns:m="http://schemas.openxmlformats.org/officeDocument/2006/math">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𝑟</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r>
                            <a:rPr lang="en-US" altLang="zh-CN" sz="1600" b="0" i="1" smtClean="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r>
                            <a:rPr lang="en-US" altLang="zh-CN" sz="1600" b="0" i="1" smtClean="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2</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b="1"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num>
                        <m:den>
                          <m:r>
                            <a:rPr lang="en-US" altLang="zh-CN" sz="1600" b="0" i="1" dirty="0" smtClean="0">
                              <a:solidFill>
                                <a:schemeClr val="tx1"/>
                              </a:solidFill>
                              <a:latin typeface="Cambria Math" panose="02040503050406030204" pitchFamily="18" charset="0"/>
                            </a:rPr>
                            <m:t>4</m:t>
                          </m:r>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en>
                      </m:f>
                      <m:r>
                        <a:rPr lang="en-US" altLang="zh-CN" sz="1600" b="0" i="1" dirty="0" smtClean="0">
                          <a:solidFill>
                            <a:schemeClr val="tx1"/>
                          </a:solidFill>
                          <a:latin typeface="Cambria Math" panose="02040503050406030204" pitchFamily="18" charset="0"/>
                        </a:rPr>
                        <m:t>,  </m:t>
                      </m:r>
                      <m:d>
                        <m:dPr>
                          <m:ctrlPr>
                            <a:rPr lang="en-US" altLang="zh-CN" sz="1600" b="0" i="1" dirty="0" smtClean="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r>
                            <a:rPr lang="en-US" altLang="zh-CN" sz="1600" b="0" i="1" dirty="0" smtClean="0">
                              <a:solidFill>
                                <a:schemeClr val="tx1"/>
                              </a:solidFill>
                              <a:latin typeface="Cambria Math" panose="02040503050406030204" pitchFamily="18" charset="0"/>
                            </a:rPr>
                            <m:t>&gt;0</m:t>
                          </m:r>
                        </m:e>
                      </m:d>
                    </m:oMath>
                  </m:oMathPara>
                </a14:m>
                <a:endParaRPr lang="en-US" altLang="zh-CN" sz="1600" b="1" dirty="0">
                  <a:solidFill>
                    <a:schemeClr val="tx1"/>
                  </a:solidFill>
                </a:endParaRPr>
              </a:p>
            </p:txBody>
          </p:sp>
        </mc:Choice>
        <mc:Fallback xmlns="">
          <p:sp>
            <p:nvSpPr>
              <p:cNvPr id="6" name="矩形 5">
                <a:extLst>
                  <a:ext uri="{FF2B5EF4-FFF2-40B4-BE49-F238E27FC236}">
                    <a16:creationId xmlns:a16="http://schemas.microsoft.com/office/drawing/2014/main" id="{F187AED7-0346-6EE8-4C3C-E8493776E44E}"/>
                  </a:ext>
                </a:extLst>
              </p:cNvPr>
              <p:cNvSpPr>
                <a:spLocks noRot="1" noChangeAspect="1" noMove="1" noResize="1" noEditPoints="1" noAdjustHandles="1" noChangeArrowheads="1" noChangeShapeType="1" noTextEdit="1"/>
              </p:cNvSpPr>
              <p:nvPr/>
            </p:nvSpPr>
            <p:spPr>
              <a:xfrm>
                <a:off x="478709" y="1144044"/>
                <a:ext cx="11137094" cy="5402806"/>
              </a:xfrm>
              <a:prstGeom prst="rect">
                <a:avLst/>
              </a:prstGeom>
              <a:blipFill>
                <a:blip r:embed="rId2"/>
                <a:stretch>
                  <a:fillRect/>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ABFC9F1F-A630-85CA-6359-6680C1858327}"/>
              </a:ext>
            </a:extLst>
          </p:cNvPr>
          <p:cNvPicPr>
            <a:picLocks noChangeAspect="1"/>
          </p:cNvPicPr>
          <p:nvPr/>
        </p:nvPicPr>
        <p:blipFill>
          <a:blip r:embed="rId3"/>
          <a:stretch>
            <a:fillRect/>
          </a:stretch>
        </p:blipFill>
        <p:spPr>
          <a:xfrm>
            <a:off x="9347036" y="0"/>
            <a:ext cx="2844964" cy="1686836"/>
          </a:xfrm>
          <a:prstGeom prst="rect">
            <a:avLst/>
          </a:prstGeom>
        </p:spPr>
      </p:pic>
    </p:spTree>
    <p:extLst>
      <p:ext uri="{BB962C8B-B14F-4D97-AF65-F5344CB8AC3E}">
        <p14:creationId xmlns:p14="http://schemas.microsoft.com/office/powerpoint/2010/main" val="4105107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0D6AF-535A-8911-926B-C948CB843302}"/>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E4553343-C72F-9D80-97D4-95C3EB72AD57}"/>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基于微表面理论的</a:t>
            </a:r>
            <a:r>
              <a:rPr lang="en-US" altLang="zh-CN" dirty="0"/>
              <a:t>BTDF —— </a:t>
            </a:r>
            <a:r>
              <a:rPr lang="zh-CN" altLang="en-US" dirty="0"/>
              <a:t>计算雅可比行列式</a:t>
            </a:r>
            <a:endParaRPr lang="en-US" altLang="zh-CN" dirty="0"/>
          </a:p>
        </p:txBody>
      </p:sp>
      <p:sp>
        <p:nvSpPr>
          <p:cNvPr id="5" name="矩形 4">
            <a:extLst>
              <a:ext uri="{FF2B5EF4-FFF2-40B4-BE49-F238E27FC236}">
                <a16:creationId xmlns:a16="http://schemas.microsoft.com/office/drawing/2014/main" id="{65A60CBC-6FD9-15E3-331F-DDA726A1C546}"/>
              </a:ext>
            </a:extLst>
          </p:cNvPr>
          <p:cNvSpPr/>
          <p:nvPr/>
        </p:nvSpPr>
        <p:spPr>
          <a:xfrm>
            <a:off x="631109" y="1315233"/>
            <a:ext cx="6816453"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00BBA1D8-8A94-034A-6ADE-A48AE0B24E1B}"/>
                  </a:ext>
                </a:extLst>
              </p:cNvPr>
              <p:cNvSpPr/>
              <p:nvPr/>
            </p:nvSpPr>
            <p:spPr>
              <a:xfrm>
                <a:off x="478709" y="1144044"/>
                <a:ext cx="6816453"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40000"/>
                  </a:lnSpc>
                </a:pPr>
                <a14:m>
                  <m:oMathPara xmlns:m="http://schemas.openxmlformats.org/officeDocument/2006/math">
                    <m:oMathParaPr>
                      <m:jc m:val="centerGroup"/>
                    </m:oMathParaPr>
                    <m:oMath xmlns:m="http://schemas.openxmlformats.org/officeDocument/2006/math">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𝜂</m:t>
                          </m:r>
                        </m:e>
                        <m:sub>
                          <m:r>
                            <a:rPr lang="en-US" altLang="zh-CN" sz="1400" b="0" i="1" smtClean="0">
                              <a:solidFill>
                                <a:schemeClr val="tx1"/>
                              </a:solidFill>
                              <a:latin typeface="Cambria Math" panose="02040503050406030204" pitchFamily="18" charset="0"/>
                            </a:rPr>
                            <m:t>𝑖</m:t>
                          </m:r>
                        </m:sub>
                      </m:sSub>
                      <m:r>
                        <a:rPr lang="en-US" altLang="zh-CN" sz="1400" b="0" i="1" smtClean="0">
                          <a:solidFill>
                            <a:schemeClr val="tx1"/>
                          </a:solidFill>
                          <a:latin typeface="Cambria Math" panose="02040503050406030204" pitchFamily="18" charset="0"/>
                        </a:rPr>
                        <m:t>𝑠𝑖𝑛</m:t>
                      </m:r>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𝛼</m:t>
                          </m:r>
                        </m:e>
                        <m:sub>
                          <m:r>
                            <a:rPr lang="en-US" altLang="zh-CN" sz="1400" b="0" i="1" smtClean="0">
                              <a:solidFill>
                                <a:schemeClr val="tx1"/>
                              </a:solidFill>
                              <a:latin typeface="Cambria Math" panose="02040503050406030204" pitchFamily="18" charset="0"/>
                            </a:rPr>
                            <m:t>𝑖</m:t>
                          </m:r>
                        </m:sub>
                      </m:sSub>
                      <m:r>
                        <a:rPr lang="en-US" altLang="zh-CN" sz="1400" b="0" i="1" smtClean="0">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b="0" i="1" smtClean="0">
                              <a:solidFill>
                                <a:schemeClr val="tx1"/>
                              </a:solidFill>
                              <a:latin typeface="Cambria Math" panose="02040503050406030204" pitchFamily="18" charset="0"/>
                            </a:rPr>
                            <m:t>𝑜</m:t>
                          </m:r>
                        </m:sub>
                      </m:sSub>
                      <m:r>
                        <a:rPr lang="en-US" altLang="zh-CN" sz="1400" i="1">
                          <a:solidFill>
                            <a:schemeClr val="tx1"/>
                          </a:solidFill>
                          <a:latin typeface="Cambria Math" panose="02040503050406030204" pitchFamily="18" charset="0"/>
                        </a:rPr>
                        <m:t>𝑠𝑖𝑛</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𝛼</m:t>
                          </m:r>
                        </m:e>
                        <m:sub>
                          <m:r>
                            <a:rPr lang="en-US" altLang="zh-CN" sz="1400" b="0" i="1" smtClean="0">
                              <a:solidFill>
                                <a:schemeClr val="tx1"/>
                              </a:solidFill>
                              <a:latin typeface="Cambria Math" panose="02040503050406030204" pitchFamily="18" charset="0"/>
                            </a:rPr>
                            <m:t>𝑜</m:t>
                          </m:r>
                        </m:sub>
                      </m:sSub>
                      <m:r>
                        <a:rPr lang="en-US" altLang="zh-CN" sz="1400" b="0" i="1" smtClean="0">
                          <a:solidFill>
                            <a:schemeClr val="tx1"/>
                          </a:solidFill>
                          <a:latin typeface="Cambria Math" panose="02040503050406030204" pitchFamily="18" charset="0"/>
                        </a:rPr>
                        <m:t>,  </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𝛼</m:t>
                          </m:r>
                        </m:e>
                        <m:sub>
                          <m:r>
                            <a:rPr lang="en-US" altLang="zh-CN" sz="1400" i="1">
                              <a:solidFill>
                                <a:schemeClr val="tx1"/>
                              </a:solidFill>
                              <a:latin typeface="Cambria Math" panose="02040503050406030204" pitchFamily="18" charset="0"/>
                            </a:rPr>
                            <m:t>𝑜</m:t>
                          </m:r>
                        </m:sub>
                      </m:sSub>
                      <m:r>
                        <a:rPr lang="en-US" altLang="zh-CN" sz="1400" b="0" i="1" smtClean="0">
                          <a:solidFill>
                            <a:schemeClr val="tx1"/>
                          </a:solidFill>
                          <a:latin typeface="Cambria Math" panose="02040503050406030204" pitchFamily="18" charset="0"/>
                        </a:rPr>
                        <m:t>=</m:t>
                      </m:r>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𝑚</m:t>
                          </m:r>
                        </m:sub>
                      </m:sSub>
                      <m:r>
                        <a:rPr lang="en-US" altLang="zh-CN" sz="1400" b="0" i="1" smtClean="0">
                          <a:solidFill>
                            <a:schemeClr val="tx1"/>
                          </a:solidFill>
                          <a:latin typeface="Cambria Math" panose="02040503050406030204" pitchFamily="18" charset="0"/>
                        </a:rPr>
                        <m:t>,  </m:t>
                      </m:r>
                      <m:sSub>
                        <m:sSubPr>
                          <m:ctrlPr>
                            <a:rPr lang="en-US" altLang="zh-CN" sz="1400" i="1" smtClean="0">
                              <a:solidFill>
                                <a:schemeClr val="tx1"/>
                              </a:solidFill>
                              <a:latin typeface="Cambria Math" panose="02040503050406030204" pitchFamily="18" charset="0"/>
                            </a:rPr>
                          </m:ctrlPr>
                        </m:sSubPr>
                        <m:e>
                          <m:r>
                            <a:rPr lang="en-US" altLang="zh-CN" sz="1400" i="1" smtClean="0">
                              <a:solidFill>
                                <a:schemeClr val="tx1"/>
                              </a:solidFill>
                              <a:latin typeface="Cambria Math" panose="02040503050406030204" pitchFamily="18" charset="0"/>
                            </a:rPr>
                            <m:t>𝛼</m:t>
                          </m:r>
                        </m:e>
                        <m:sub>
                          <m:r>
                            <a:rPr lang="en-US" altLang="zh-CN" sz="1400" b="0" i="1" smtClean="0">
                              <a:solidFill>
                                <a:schemeClr val="tx1"/>
                              </a:solidFill>
                              <a:latin typeface="Cambria Math" panose="02040503050406030204" pitchFamily="18" charset="0"/>
                            </a:rPr>
                            <m:t>𝑖</m:t>
                          </m:r>
                        </m:sub>
                      </m:sSub>
                      <m:r>
                        <a:rPr lang="en-US" altLang="zh-CN" sz="1400" b="0" i="1" smtClean="0">
                          <a:solidFill>
                            <a:schemeClr val="tx1"/>
                          </a:solidFill>
                          <a:latin typeface="Cambria Math" panose="02040503050406030204" pitchFamily="18" charset="0"/>
                        </a:rPr>
                        <m:t>=</m:t>
                      </m:r>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𝑖</m:t>
                          </m:r>
                        </m:sub>
                      </m:sSub>
                      <m:r>
                        <a:rPr lang="en-US" altLang="zh-CN" sz="1400" b="0" i="1" smtClean="0">
                          <a:solidFill>
                            <a:schemeClr val="tx1"/>
                          </a:solidFill>
                          <a:latin typeface="Cambria Math" panose="02040503050406030204" pitchFamily="18" charset="0"/>
                        </a:rPr>
                        <m:t>−</m:t>
                      </m:r>
                      <m:d>
                        <m:dPr>
                          <m:ctrlPr>
                            <a:rPr lang="en-US" altLang="zh-CN" sz="1400" b="0" i="1" smtClean="0">
                              <a:solidFill>
                                <a:schemeClr val="tx1"/>
                              </a:solidFill>
                              <a:latin typeface="Cambria Math" panose="02040503050406030204" pitchFamily="18" charset="0"/>
                            </a:rPr>
                          </m:ctrlPr>
                        </m:dPr>
                        <m:e>
                          <m:r>
                            <a:rPr lang="en-US" altLang="zh-CN" sz="1400" b="0" i="1" smtClean="0">
                              <a:solidFill>
                                <a:schemeClr val="tx1"/>
                              </a:solidFill>
                              <a:latin typeface="Cambria Math" panose="02040503050406030204" pitchFamily="18" charset="0"/>
                            </a:rPr>
                            <m:t>𝜋</m:t>
                          </m:r>
                          <m:r>
                            <a:rPr lang="en-US" altLang="zh-CN" sz="1400" b="0" i="1" smtClean="0">
                              <a:solidFill>
                                <a:schemeClr val="tx1"/>
                              </a:solidFill>
                              <a:latin typeface="Cambria Math" panose="02040503050406030204" pitchFamily="18" charset="0"/>
                            </a:rPr>
                            <m:t>−</m:t>
                          </m:r>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𝑚</m:t>
                              </m:r>
                            </m:sub>
                          </m:sSub>
                        </m:e>
                      </m:d>
                      <m:r>
                        <a:rPr lang="en-US" altLang="zh-CN" sz="1400" b="0" i="1" smtClean="0">
                          <a:solidFill>
                            <a:schemeClr val="tx1"/>
                          </a:solidFill>
                          <a:latin typeface="Cambria Math" panose="02040503050406030204" pitchFamily="18" charset="0"/>
                        </a:rPr>
                        <m:t>,  </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𝜙</m:t>
                          </m:r>
                        </m:e>
                        <m:sub>
                          <m:r>
                            <a:rPr lang="en-US" altLang="zh-CN" sz="1400" i="1">
                              <a:solidFill>
                                <a:schemeClr val="tx1"/>
                              </a:solidFill>
                              <a:latin typeface="Cambria Math" panose="02040503050406030204" pitchFamily="18" charset="0"/>
                            </a:rPr>
                            <m:t>𝑖</m:t>
                          </m:r>
                        </m:sub>
                      </m:sSub>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𝜙</m:t>
                          </m:r>
                        </m:e>
                        <m:sub>
                          <m:r>
                            <a:rPr lang="en-US" altLang="zh-CN" sz="1400" i="1">
                              <a:solidFill>
                                <a:schemeClr val="tx1"/>
                              </a:solidFill>
                              <a:latin typeface="Cambria Math" panose="02040503050406030204" pitchFamily="18" charset="0"/>
                            </a:rPr>
                            <m:t>𝑚</m:t>
                          </m:r>
                        </m:sub>
                      </m:sSub>
                      <m:r>
                        <a:rPr lang="en-US" altLang="zh-CN" sz="1400" i="1">
                          <a:solidFill>
                            <a:schemeClr val="tx1"/>
                          </a:solidFill>
                          <a:latin typeface="Cambria Math" panose="02040503050406030204" pitchFamily="18" charset="0"/>
                        </a:rPr>
                        <m:t>+</m:t>
                      </m:r>
                      <m:r>
                        <a:rPr lang="en-US" altLang="zh-CN" sz="1400" i="1">
                          <a:solidFill>
                            <a:schemeClr val="tx1"/>
                          </a:solidFill>
                          <a:latin typeface="Cambria Math" panose="02040503050406030204" pitchFamily="18" charset="0"/>
                        </a:rPr>
                        <m:t>𝜋</m:t>
                      </m:r>
                    </m:oMath>
                  </m:oMathPara>
                </a14:m>
                <a:endParaRPr lang="en-US" altLang="zh-CN" sz="1400" dirty="0">
                  <a:solidFill>
                    <a:schemeClr val="tx1"/>
                  </a:solidFill>
                </a:endParaRPr>
              </a:p>
              <a:p>
                <a:pPr>
                  <a:lnSpc>
                    <a:spcPct val="140000"/>
                  </a:lnSpc>
                </a:pPr>
                <a14:m>
                  <m:oMathPara xmlns:m="http://schemas.openxmlformats.org/officeDocument/2006/math">
                    <m:oMathParaPr>
                      <m:jc m:val="centerGroup"/>
                    </m:oMathParaPr>
                    <m:oMath xmlns:m="http://schemas.openxmlformats.org/officeDocument/2006/math">
                      <m:r>
                        <a:rPr lang="zh-CN" altLang="en-US" sz="1400" b="0" i="1" dirty="0">
                          <a:solidFill>
                            <a:schemeClr val="tx1"/>
                          </a:solidFill>
                          <a:latin typeface="Cambria Math" panose="02040503050406030204" pitchFamily="18" charset="0"/>
                        </a:rPr>
                        <m:t>两边</m:t>
                      </m:r>
                      <m:r>
                        <a:rPr lang="zh-CN" altLang="en-US" sz="1400" i="1" dirty="0" smtClean="0">
                          <a:solidFill>
                            <a:schemeClr val="tx1"/>
                          </a:solidFill>
                          <a:latin typeface="Cambria Math" panose="02040503050406030204" pitchFamily="18" charset="0"/>
                        </a:rPr>
                        <m:t>对</m:t>
                      </m:r>
                      <m:sSub>
                        <m:sSubPr>
                          <m:ctrlPr>
                            <a:rPr lang="en-US" altLang="zh-CN" sz="1400" i="1">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𝑖</m:t>
                          </m:r>
                        </m:sub>
                      </m:sSub>
                      <m:r>
                        <a:rPr lang="zh-CN" altLang="en-US" sz="1400" i="1" smtClean="0">
                          <a:solidFill>
                            <a:schemeClr val="tx1"/>
                          </a:solidFill>
                          <a:latin typeface="Cambria Math" panose="02040503050406030204" pitchFamily="18" charset="0"/>
                        </a:rPr>
                        <m:t>求导</m:t>
                      </m:r>
                      <m:r>
                        <a:rPr lang="zh-CN" altLang="en-US" sz="1400" i="1">
                          <a:solidFill>
                            <a:schemeClr val="tx1"/>
                          </a:solidFill>
                          <a:latin typeface="Cambria Math" panose="02040503050406030204" pitchFamily="18" charset="0"/>
                        </a:rPr>
                        <m:t>：</m:t>
                      </m:r>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𝜂</m:t>
                          </m:r>
                        </m:e>
                        <m:sub>
                          <m:r>
                            <a:rPr lang="en-US" altLang="zh-CN" sz="1400" b="0" i="1" smtClean="0">
                              <a:solidFill>
                                <a:schemeClr val="tx1"/>
                              </a:solidFill>
                              <a:latin typeface="Cambria Math" panose="02040503050406030204" pitchFamily="18" charset="0"/>
                            </a:rPr>
                            <m:t>𝑖</m:t>
                          </m:r>
                        </m:sub>
                      </m:sSub>
                      <m:func>
                        <m:funcPr>
                          <m:ctrlPr>
                            <a:rPr lang="en-US" altLang="zh-CN" sz="1400" b="0" i="1" smtClean="0">
                              <a:solidFill>
                                <a:schemeClr val="tx1"/>
                              </a:solidFill>
                              <a:latin typeface="Cambria Math" panose="02040503050406030204" pitchFamily="18" charset="0"/>
                            </a:rPr>
                          </m:ctrlPr>
                        </m:funcPr>
                        <m:fName>
                          <m:r>
                            <a:rPr lang="en-US" altLang="zh-CN" sz="1400" b="0" i="1" smtClean="0">
                              <a:solidFill>
                                <a:schemeClr val="tx1"/>
                              </a:solidFill>
                              <a:latin typeface="Cambria Math" panose="02040503050406030204" pitchFamily="18" charset="0"/>
                            </a:rPr>
                            <m:t>𝑐𝑜𝑠</m:t>
                          </m:r>
                        </m:fName>
                        <m:e>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𝛼</m:t>
                              </m:r>
                            </m:e>
                            <m:sub>
                              <m:r>
                                <a:rPr lang="en-US" altLang="zh-CN" sz="1400" b="0" i="1" smtClean="0">
                                  <a:solidFill>
                                    <a:schemeClr val="tx1"/>
                                  </a:solidFill>
                                  <a:latin typeface="Cambria Math" panose="02040503050406030204" pitchFamily="18" charset="0"/>
                                </a:rPr>
                                <m:t>𝑖</m:t>
                              </m:r>
                            </m:sub>
                          </m:sSub>
                        </m:e>
                      </m:func>
                      <m:f>
                        <m:fPr>
                          <m:ctrlPr>
                            <a:rPr lang="en-US" altLang="zh-CN" sz="1400" b="0" i="1" smtClean="0">
                              <a:solidFill>
                                <a:schemeClr val="tx1"/>
                              </a:solidFill>
                              <a:latin typeface="Cambria Math" panose="02040503050406030204" pitchFamily="18" charset="0"/>
                            </a:rPr>
                          </m:ctrlPr>
                        </m:fPr>
                        <m:num>
                          <m:r>
                            <a:rPr lang="en-US" altLang="zh-CN" sz="1400" b="0" i="1" smtClean="0">
                              <a:solidFill>
                                <a:schemeClr val="tx1"/>
                              </a:solidFill>
                              <a:latin typeface="Cambria Math" panose="02040503050406030204" pitchFamily="18" charset="0"/>
                            </a:rPr>
                            <m:t>𝜕</m:t>
                          </m:r>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𝛼</m:t>
                              </m:r>
                            </m:e>
                            <m:sub>
                              <m:r>
                                <m:rPr>
                                  <m:sty m:val="p"/>
                                </m:rPr>
                                <a:rPr lang="en-US" altLang="zh-CN" sz="1400" i="1">
                                  <a:solidFill>
                                    <a:schemeClr val="tx1"/>
                                  </a:solidFill>
                                  <a:latin typeface="Cambria Math" panose="02040503050406030204" pitchFamily="18" charset="0"/>
                                </a:rPr>
                                <m:t>i</m:t>
                              </m:r>
                            </m:sub>
                          </m:sSub>
                        </m:num>
                        <m:den>
                          <m:r>
                            <a:rPr lang="en-US" altLang="zh-CN" sz="1400" b="0" i="1" smtClean="0">
                              <a:solidFill>
                                <a:schemeClr val="tx1"/>
                              </a:solidFill>
                              <a:latin typeface="Cambria Math" panose="02040503050406030204" pitchFamily="18" charset="0"/>
                            </a:rPr>
                            <m:t>𝜕</m:t>
                          </m:r>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𝑖</m:t>
                              </m:r>
                            </m:sub>
                          </m:sSub>
                        </m:den>
                      </m:f>
                      <m:r>
                        <a:rPr lang="en-US" altLang="zh-CN" sz="1400" b="0" i="1" smtClean="0">
                          <a:solidFill>
                            <a:schemeClr val="tx1"/>
                          </a:solidFill>
                          <a:latin typeface="Cambria Math" panose="02040503050406030204" pitchFamily="18" charset="0"/>
                        </a:rPr>
                        <m:t>=</m:t>
                      </m:r>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𝜂</m:t>
                          </m:r>
                        </m:e>
                        <m:sub>
                          <m:r>
                            <a:rPr lang="en-US" altLang="zh-CN" sz="1400" b="0" i="1" smtClean="0">
                              <a:solidFill>
                                <a:schemeClr val="tx1"/>
                              </a:solidFill>
                              <a:latin typeface="Cambria Math" panose="02040503050406030204" pitchFamily="18" charset="0"/>
                            </a:rPr>
                            <m:t>𝑜</m:t>
                          </m:r>
                        </m:sub>
                      </m:sSub>
                      <m:func>
                        <m:funcPr>
                          <m:ctrlPr>
                            <a:rPr lang="en-US" altLang="zh-CN" sz="1400" b="0" i="1" smtClean="0">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cos</m:t>
                          </m:r>
                        </m:fName>
                        <m:e>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𝑚</m:t>
                              </m:r>
                            </m:sub>
                          </m:sSub>
                        </m:e>
                      </m:func>
                      <m:f>
                        <m:fPr>
                          <m:ctrlPr>
                            <a:rPr lang="en-US" altLang="zh-CN" sz="1400" i="1">
                              <a:solidFill>
                                <a:schemeClr val="tx1"/>
                              </a:solidFill>
                              <a:latin typeface="Cambria Math" panose="02040503050406030204" pitchFamily="18" charset="0"/>
                            </a:rPr>
                          </m:ctrlPr>
                        </m:fPr>
                        <m:num>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𝑚</m:t>
                              </m:r>
                            </m:sub>
                          </m:sSub>
                        </m:num>
                        <m:den>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𝑖</m:t>
                              </m:r>
                            </m:sub>
                          </m:sSub>
                        </m:den>
                      </m:f>
                      <m:r>
                        <a:rPr lang="en-US" altLang="zh-CN" sz="1400" b="0" i="1" smtClean="0">
                          <a:solidFill>
                            <a:schemeClr val="tx1"/>
                          </a:solidFill>
                          <a:latin typeface="Cambria Math" panose="02040503050406030204" pitchFamily="18" charset="0"/>
                        </a:rPr>
                        <m:t>,  </m:t>
                      </m:r>
                      <m:f>
                        <m:fPr>
                          <m:ctrlPr>
                            <a:rPr lang="en-US" altLang="zh-CN" sz="1400" i="1">
                              <a:solidFill>
                                <a:schemeClr val="tx1"/>
                              </a:solidFill>
                              <a:latin typeface="Cambria Math" panose="02040503050406030204" pitchFamily="18" charset="0"/>
                            </a:rPr>
                          </m:ctrlPr>
                        </m:fPr>
                        <m:num>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𝛼</m:t>
                              </m:r>
                            </m:e>
                            <m:sub>
                              <m:r>
                                <m:rPr>
                                  <m:sty m:val="p"/>
                                </m:rPr>
                                <a:rPr lang="en-US" altLang="zh-CN" sz="1400" i="1">
                                  <a:solidFill>
                                    <a:schemeClr val="tx1"/>
                                  </a:solidFill>
                                  <a:latin typeface="Cambria Math" panose="02040503050406030204" pitchFamily="18" charset="0"/>
                                </a:rPr>
                                <m:t>i</m:t>
                              </m:r>
                            </m:sub>
                          </m:sSub>
                        </m:num>
                        <m:den>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𝑖</m:t>
                              </m:r>
                            </m:sub>
                          </m:sSub>
                        </m:den>
                      </m:f>
                      <m:r>
                        <a:rPr lang="en-US" altLang="zh-CN" sz="1400" b="0" i="1" smtClean="0">
                          <a:solidFill>
                            <a:schemeClr val="tx1"/>
                          </a:solidFill>
                          <a:latin typeface="Cambria Math" panose="02040503050406030204" pitchFamily="18" charset="0"/>
                        </a:rPr>
                        <m:t>=</m:t>
                      </m:r>
                      <m:r>
                        <a:rPr lang="en-US" altLang="zh-CN" sz="1400" b="0" i="1" smtClean="0">
                          <a:solidFill>
                            <a:schemeClr val="tx1"/>
                          </a:solidFill>
                          <a:latin typeface="Cambria Math" panose="02040503050406030204" pitchFamily="18" charset="0"/>
                        </a:rPr>
                        <m:t>1</m:t>
                      </m:r>
                      <m:r>
                        <a:rPr lang="en-US" altLang="zh-CN" sz="1400" b="0" i="1" smtClean="0">
                          <a:solidFill>
                            <a:schemeClr val="tx1"/>
                          </a:solidFill>
                          <a:latin typeface="Cambria Math" panose="02040503050406030204" pitchFamily="18" charset="0"/>
                        </a:rPr>
                        <m:t>+</m:t>
                      </m:r>
                      <m:f>
                        <m:fPr>
                          <m:ctrlPr>
                            <a:rPr lang="en-US" altLang="zh-CN" sz="1400" i="1">
                              <a:solidFill>
                                <a:schemeClr val="tx1"/>
                              </a:solidFill>
                              <a:latin typeface="Cambria Math" panose="02040503050406030204" pitchFamily="18" charset="0"/>
                            </a:rPr>
                          </m:ctrlPr>
                        </m:fPr>
                        <m:num>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num>
                        <m:den>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𝑖</m:t>
                              </m:r>
                            </m:sub>
                          </m:sSub>
                        </m:den>
                      </m:f>
                    </m:oMath>
                  </m:oMathPara>
                </a14:m>
                <a:endParaRPr lang="en-US" altLang="zh-CN" sz="1400" i="1" dirty="0">
                  <a:solidFill>
                    <a:schemeClr val="tx1"/>
                  </a:solidFill>
                  <a:latin typeface="Cambria Math" panose="02040503050406030204" pitchFamily="18" charset="0"/>
                </a:endParaRPr>
              </a:p>
              <a:p>
                <a:pPr>
                  <a:lnSpc>
                    <a:spcPct val="140000"/>
                  </a:lnSpc>
                </a:pPr>
                <a14:m>
                  <m:oMathPara xmlns:m="http://schemas.openxmlformats.org/officeDocument/2006/math">
                    <m:oMathParaPr>
                      <m:jc m:val="centerGroup"/>
                    </m:oMathParaPr>
                    <m:oMath xmlns:m="http://schemas.openxmlformats.org/officeDocument/2006/math">
                      <m:r>
                        <a:rPr lang="zh-CN" altLang="en-US" sz="1400" b="0" i="1" dirty="0">
                          <a:solidFill>
                            <a:schemeClr val="tx1"/>
                          </a:solidFill>
                          <a:latin typeface="Cambria Math" panose="02040503050406030204" pitchFamily="18" charset="0"/>
                        </a:rPr>
                        <m:t>整理</m:t>
                      </m:r>
                      <m:r>
                        <a:rPr lang="zh-CN" altLang="en-US" sz="1400" i="1" dirty="0" smtClean="0">
                          <a:solidFill>
                            <a:schemeClr val="tx1"/>
                          </a:solidFill>
                          <a:latin typeface="Cambria Math" panose="02040503050406030204" pitchFamily="18" charset="0"/>
                        </a:rPr>
                        <m:t>得到</m:t>
                      </m:r>
                      <m:r>
                        <a:rPr lang="zh-CN" altLang="en-US" sz="1400" i="1" dirty="0">
                          <a:solidFill>
                            <a:schemeClr val="tx1"/>
                          </a:solidFill>
                          <a:latin typeface="Cambria Math" panose="02040503050406030204" pitchFamily="18" charset="0"/>
                        </a:rPr>
                        <m:t>：</m:t>
                      </m:r>
                      <m:f>
                        <m:fPr>
                          <m:ctrlPr>
                            <a:rPr lang="en-US" altLang="zh-CN" sz="1400" i="1">
                              <a:solidFill>
                                <a:schemeClr val="tx1"/>
                              </a:solidFill>
                              <a:latin typeface="Cambria Math" panose="02040503050406030204" pitchFamily="18" charset="0"/>
                            </a:rPr>
                          </m:ctrlPr>
                        </m:fPr>
                        <m:num>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num>
                        <m:den>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𝑖</m:t>
                              </m:r>
                            </m:sub>
                          </m:sSub>
                        </m:den>
                      </m:f>
                      <m:r>
                        <a:rPr lang="en-US" altLang="zh-CN" sz="1400" b="0" i="1" smtClean="0">
                          <a:solidFill>
                            <a:schemeClr val="tx1"/>
                          </a:solidFill>
                          <a:latin typeface="Cambria Math" panose="02040503050406030204" pitchFamily="18" charset="0"/>
                        </a:rPr>
                        <m:t>=</m:t>
                      </m:r>
                      <m:f>
                        <m:fPr>
                          <m:ctrlPr>
                            <a:rPr lang="en-US" altLang="zh-CN" sz="1400" b="0" i="1" smtClean="0">
                              <a:solidFill>
                                <a:schemeClr val="tx1"/>
                              </a:solidFill>
                              <a:latin typeface="Cambria Math" panose="02040503050406030204" pitchFamily="18" charset="0"/>
                            </a:rPr>
                          </m:ctrlPr>
                        </m:fPr>
                        <m:num>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Sub>
                          <m:func>
                            <m:funcPr>
                              <m:ctrlPr>
                                <a:rPr lang="en-US" altLang="zh-CN" sz="1400" i="1">
                                  <a:solidFill>
                                    <a:schemeClr val="tx1"/>
                                  </a:solidFill>
                                  <a:latin typeface="Cambria Math" panose="02040503050406030204" pitchFamily="18" charset="0"/>
                                </a:rPr>
                              </m:ctrlPr>
                            </m:funcPr>
                            <m:fName>
                              <m:r>
                                <a:rPr lang="en-US" altLang="zh-CN" sz="1400" i="1">
                                  <a:solidFill>
                                    <a:schemeClr val="tx1"/>
                                  </a:solidFill>
                                  <a:latin typeface="Cambria Math" panose="02040503050406030204" pitchFamily="18" charset="0"/>
                                </a:rPr>
                                <m:t>𝑐𝑜𝑠</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𝛼</m:t>
                                  </m:r>
                                </m:e>
                                <m:sub>
                                  <m:r>
                                    <a:rPr lang="en-US" altLang="zh-CN" sz="1400" i="1">
                                      <a:solidFill>
                                        <a:schemeClr val="tx1"/>
                                      </a:solidFill>
                                      <a:latin typeface="Cambria Math" panose="02040503050406030204" pitchFamily="18" charset="0"/>
                                    </a:rPr>
                                    <m:t>𝑖</m:t>
                                  </m:r>
                                </m:sub>
                              </m:sSub>
                            </m:e>
                          </m:func>
                        </m:num>
                        <m:den>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𝑜</m:t>
                              </m:r>
                            </m:sub>
                          </m:sSub>
                          <m:func>
                            <m:funcPr>
                              <m:ctrlPr>
                                <a:rPr lang="en-US" altLang="zh-CN" sz="1400" i="1">
                                  <a:solidFill>
                                    <a:schemeClr val="tx1"/>
                                  </a:solidFill>
                                  <a:latin typeface="Cambria Math" panose="02040503050406030204" pitchFamily="18" charset="0"/>
                                </a:rPr>
                              </m:ctrlPr>
                            </m:funcPr>
                            <m:fName>
                              <m:r>
                                <m:rPr>
                                  <m:sty m:val="p"/>
                                </m:rPr>
                                <a:rPr lang="en-US" altLang="zh-CN" sz="1400">
                                  <a:solidFill>
                                    <a:schemeClr val="tx1"/>
                                  </a:solidFill>
                                  <a:latin typeface="Cambria Math" panose="02040503050406030204" pitchFamily="18" charset="0"/>
                                </a:rPr>
                                <m:t>cos</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e>
                          </m:func>
                          <m:r>
                            <a:rPr lang="en-US" altLang="zh-CN" sz="1400" b="0" i="1" smtClean="0">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Sub>
                          <m:func>
                            <m:funcPr>
                              <m:ctrlPr>
                                <a:rPr lang="en-US" altLang="zh-CN" sz="1400" i="1">
                                  <a:solidFill>
                                    <a:schemeClr val="tx1"/>
                                  </a:solidFill>
                                  <a:latin typeface="Cambria Math" panose="02040503050406030204" pitchFamily="18" charset="0"/>
                                </a:rPr>
                              </m:ctrlPr>
                            </m:funcPr>
                            <m:fName>
                              <m:r>
                                <a:rPr lang="en-US" altLang="zh-CN" sz="1400" i="1">
                                  <a:solidFill>
                                    <a:schemeClr val="tx1"/>
                                  </a:solidFill>
                                  <a:latin typeface="Cambria Math" panose="02040503050406030204" pitchFamily="18" charset="0"/>
                                </a:rPr>
                                <m:t>𝑐𝑜𝑠</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𝛼</m:t>
                                  </m:r>
                                </m:e>
                                <m:sub>
                                  <m:r>
                                    <a:rPr lang="en-US" altLang="zh-CN" sz="1400" i="1">
                                      <a:solidFill>
                                        <a:schemeClr val="tx1"/>
                                      </a:solidFill>
                                      <a:latin typeface="Cambria Math" panose="02040503050406030204" pitchFamily="18" charset="0"/>
                                    </a:rPr>
                                    <m:t>𝑖</m:t>
                                  </m:r>
                                </m:sub>
                              </m:sSub>
                            </m:e>
                          </m:func>
                        </m:den>
                      </m:f>
                    </m:oMath>
                  </m:oMathPara>
                </a14:m>
                <a:endParaRPr lang="en-US" altLang="zh-CN" sz="1400" b="0" dirty="0">
                  <a:solidFill>
                    <a:schemeClr val="tx1"/>
                  </a:solidFill>
                </a:endParaRPr>
              </a:p>
              <a:p>
                <a:pPr>
                  <a:lnSpc>
                    <a:spcPct val="140000"/>
                  </a:lnSpc>
                </a:pPr>
                <a14:m>
                  <m:oMathPara xmlns:m="http://schemas.openxmlformats.org/officeDocument/2006/math">
                    <m:oMathParaPr>
                      <m:jc m:val="centerGroup"/>
                    </m:oMathParaPr>
                    <m:oMath xmlns:m="http://schemas.openxmlformats.org/officeDocument/2006/math">
                      <m:f>
                        <m:fPr>
                          <m:ctrlPr>
                            <a:rPr lang="en-US" altLang="zh-CN" sz="1400" b="0" i="1" smtClean="0">
                              <a:solidFill>
                                <a:schemeClr val="tx1"/>
                              </a:solidFill>
                              <a:latin typeface="Cambria Math" panose="02040503050406030204" pitchFamily="18" charset="0"/>
                            </a:rPr>
                          </m:ctrlPr>
                        </m:fPr>
                        <m:num>
                          <m:func>
                            <m:funcPr>
                              <m:ctrlPr>
                                <a:rPr lang="en-US" altLang="zh-CN" sz="1400" b="0" i="1" smtClean="0">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sin</m:t>
                              </m:r>
                            </m:fName>
                            <m:e>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𝑚</m:t>
                                  </m:r>
                                </m:sub>
                              </m:sSub>
                            </m:e>
                          </m:func>
                        </m:num>
                        <m:den>
                          <m:func>
                            <m:funcPr>
                              <m:ctrlPr>
                                <a:rPr lang="en-US" altLang="zh-CN" sz="1400" b="0" i="1" smtClean="0">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sin</m:t>
                              </m:r>
                            </m:fName>
                            <m:e>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𝑖</m:t>
                                  </m:r>
                                </m:sub>
                              </m:sSub>
                            </m:e>
                          </m:func>
                        </m:den>
                      </m:f>
                      <m:r>
                        <a:rPr lang="en-US" altLang="zh-CN" sz="1400" b="0" i="1" smtClean="0">
                          <a:solidFill>
                            <a:schemeClr val="tx1"/>
                          </a:solidFill>
                          <a:latin typeface="Cambria Math" panose="02040503050406030204" pitchFamily="18" charset="0"/>
                        </a:rPr>
                        <m:t>=</m:t>
                      </m:r>
                      <m:f>
                        <m:fPr>
                          <m:ctrlPr>
                            <a:rPr lang="en-US" altLang="zh-CN" sz="1400" b="0" i="1" smtClean="0">
                              <a:solidFill>
                                <a:schemeClr val="tx1"/>
                              </a:solidFill>
                              <a:latin typeface="Cambria Math" panose="02040503050406030204" pitchFamily="18" charset="0"/>
                            </a:rPr>
                          </m:ctrlPr>
                        </m:fPr>
                        <m:num>
                          <m:func>
                            <m:funcPr>
                              <m:ctrlPr>
                                <a:rPr lang="en-US" altLang="zh-CN" sz="1400" b="0" i="1" smtClean="0">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sin</m:t>
                              </m:r>
                            </m:fName>
                            <m:e>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𝑚</m:t>
                                  </m:r>
                                </m:sub>
                              </m:sSub>
                            </m:e>
                          </m:func>
                        </m:num>
                        <m:den>
                          <m:func>
                            <m:funcPr>
                              <m:ctrlPr>
                                <a:rPr lang="en-US" altLang="zh-CN" sz="1400" b="0" i="1" smtClean="0">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sin</m:t>
                              </m:r>
                            </m:fName>
                            <m:e>
                              <m:d>
                                <m:dPr>
                                  <m:ctrlPr>
                                    <a:rPr lang="en-US" altLang="zh-CN" sz="1400" b="0" i="1" smtClean="0">
                                      <a:solidFill>
                                        <a:schemeClr val="tx1"/>
                                      </a:solidFill>
                                      <a:latin typeface="Cambria Math" panose="02040503050406030204" pitchFamily="18" charset="0"/>
                                    </a:rPr>
                                  </m:ctrlPr>
                                </m:dPr>
                                <m:e>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𝛼</m:t>
                                      </m:r>
                                    </m:e>
                                    <m:sub>
                                      <m:r>
                                        <a:rPr lang="en-US" altLang="zh-CN" sz="1400" b="0" i="1" smtClean="0">
                                          <a:solidFill>
                                            <a:schemeClr val="tx1"/>
                                          </a:solidFill>
                                          <a:latin typeface="Cambria Math" panose="02040503050406030204" pitchFamily="18" charset="0"/>
                                        </a:rPr>
                                        <m:t>𝑖</m:t>
                                      </m:r>
                                    </m:sub>
                                  </m:sSub>
                                  <m:r>
                                    <a:rPr lang="en-US" altLang="zh-CN" sz="1400" b="0" i="1" smtClean="0">
                                      <a:solidFill>
                                        <a:schemeClr val="tx1"/>
                                      </a:solidFill>
                                      <a:latin typeface="Cambria Math" panose="02040503050406030204" pitchFamily="18" charset="0"/>
                                    </a:rPr>
                                    <m:t>+</m:t>
                                  </m:r>
                                  <m:r>
                                    <a:rPr lang="en-US" altLang="zh-CN" sz="1400" b="0" i="1" smtClean="0">
                                      <a:solidFill>
                                        <a:schemeClr val="tx1"/>
                                      </a:solidFill>
                                      <a:latin typeface="Cambria Math" panose="02040503050406030204" pitchFamily="18" charset="0"/>
                                    </a:rPr>
                                    <m:t>𝜋</m:t>
                                  </m:r>
                                  <m:r>
                                    <a:rPr lang="en-US" altLang="zh-CN" sz="1400" b="0" i="1" smtClean="0">
                                      <a:solidFill>
                                        <a:schemeClr val="tx1"/>
                                      </a:solidFill>
                                      <a:latin typeface="Cambria Math" panose="02040503050406030204" pitchFamily="18" charset="0"/>
                                    </a:rPr>
                                    <m:t>−</m:t>
                                  </m:r>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𝑚</m:t>
                                      </m:r>
                                    </m:sub>
                                  </m:sSub>
                                </m:e>
                              </m:d>
                            </m:e>
                          </m:func>
                        </m:den>
                      </m:f>
                      <m:r>
                        <a:rPr lang="en-US" altLang="zh-CN" sz="1400" b="0" i="1" smtClean="0">
                          <a:solidFill>
                            <a:schemeClr val="tx1"/>
                          </a:solidFill>
                          <a:latin typeface="Cambria Math" panose="02040503050406030204" pitchFamily="18" charset="0"/>
                        </a:rPr>
                        <m:t>=</m:t>
                      </m:r>
                      <m:f>
                        <m:fPr>
                          <m:ctrlPr>
                            <a:rPr lang="en-US" altLang="zh-CN" sz="1400" i="1">
                              <a:solidFill>
                                <a:schemeClr val="tx1"/>
                              </a:solidFill>
                              <a:latin typeface="Cambria Math" panose="02040503050406030204" pitchFamily="18" charset="0"/>
                            </a:rPr>
                          </m:ctrlPr>
                        </m:fPr>
                        <m:num>
                          <m:func>
                            <m:funcPr>
                              <m:ctrlPr>
                                <a:rPr lang="en-US" altLang="zh-CN" sz="1400" i="1">
                                  <a:solidFill>
                                    <a:schemeClr val="tx1"/>
                                  </a:solidFill>
                                  <a:latin typeface="Cambria Math" panose="02040503050406030204" pitchFamily="18" charset="0"/>
                                </a:rPr>
                              </m:ctrlPr>
                            </m:funcPr>
                            <m:fName>
                              <m:r>
                                <m:rPr>
                                  <m:sty m:val="p"/>
                                </m:rPr>
                                <a:rPr lang="en-US" altLang="zh-CN" sz="1400">
                                  <a:solidFill>
                                    <a:schemeClr val="tx1"/>
                                  </a:solidFill>
                                  <a:latin typeface="Cambria Math" panose="02040503050406030204" pitchFamily="18" charset="0"/>
                                </a:rPr>
                                <m:t>sin</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e>
                          </m:func>
                        </m:num>
                        <m:den>
                          <m:r>
                            <a:rPr lang="en-US" altLang="zh-CN" sz="1400" b="0" i="1" smtClean="0">
                              <a:solidFill>
                                <a:schemeClr val="tx1"/>
                              </a:solidFill>
                              <a:latin typeface="Cambria Math" panose="02040503050406030204" pitchFamily="18" charset="0"/>
                            </a:rPr>
                            <m:t>−</m:t>
                          </m:r>
                          <m:func>
                            <m:funcPr>
                              <m:ctrlPr>
                                <a:rPr lang="en-US" altLang="zh-CN" sz="1400" i="1">
                                  <a:solidFill>
                                    <a:schemeClr val="tx1"/>
                                  </a:solidFill>
                                  <a:latin typeface="Cambria Math" panose="02040503050406030204" pitchFamily="18" charset="0"/>
                                </a:rPr>
                              </m:ctrlPr>
                            </m:funcPr>
                            <m:fName>
                              <m:r>
                                <m:rPr>
                                  <m:sty m:val="p"/>
                                </m:rPr>
                                <a:rPr lang="en-US" altLang="zh-CN" sz="1400">
                                  <a:solidFill>
                                    <a:schemeClr val="tx1"/>
                                  </a:solidFill>
                                  <a:latin typeface="Cambria Math" panose="02040503050406030204" pitchFamily="18" charset="0"/>
                                </a:rPr>
                                <m:t>sin</m:t>
                              </m:r>
                            </m:fName>
                            <m:e>
                              <m:d>
                                <m:dPr>
                                  <m:ctrlPr>
                                    <a:rPr lang="en-US" altLang="zh-CN" sz="1400" i="1">
                                      <a:solidFill>
                                        <a:schemeClr val="tx1"/>
                                      </a:solidFill>
                                      <a:latin typeface="Cambria Math" panose="02040503050406030204" pitchFamily="18" charset="0"/>
                                    </a:rPr>
                                  </m:ctrlPr>
                                </m:dPr>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𝛼</m:t>
                                      </m:r>
                                    </m:e>
                                    <m:sub>
                                      <m:r>
                                        <a:rPr lang="en-US" altLang="zh-CN" sz="1400" i="1">
                                          <a:solidFill>
                                            <a:schemeClr val="tx1"/>
                                          </a:solidFill>
                                          <a:latin typeface="Cambria Math" panose="02040503050406030204" pitchFamily="18" charset="0"/>
                                        </a:rPr>
                                        <m:t>𝑖</m:t>
                                      </m:r>
                                    </m:sub>
                                  </m:sSub>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e>
                              </m:d>
                            </m:e>
                          </m:func>
                        </m:den>
                      </m:f>
                      <m:r>
                        <a:rPr lang="en-US" altLang="zh-CN" sz="1400" b="0" i="1" smtClean="0">
                          <a:solidFill>
                            <a:schemeClr val="tx1"/>
                          </a:solidFill>
                          <a:latin typeface="Cambria Math" panose="02040503050406030204" pitchFamily="18" charset="0"/>
                        </a:rPr>
                        <m:t>=</m:t>
                      </m:r>
                      <m:f>
                        <m:fPr>
                          <m:ctrlPr>
                            <a:rPr lang="en-US" altLang="zh-CN" sz="1400" i="1">
                              <a:solidFill>
                                <a:schemeClr val="tx1"/>
                              </a:solidFill>
                              <a:latin typeface="Cambria Math" panose="02040503050406030204" pitchFamily="18" charset="0"/>
                            </a:rPr>
                          </m:ctrlPr>
                        </m:fPr>
                        <m:num>
                          <m:func>
                            <m:funcPr>
                              <m:ctrlPr>
                                <a:rPr lang="en-US" altLang="zh-CN" sz="1400" i="1">
                                  <a:solidFill>
                                    <a:schemeClr val="tx1"/>
                                  </a:solidFill>
                                  <a:latin typeface="Cambria Math" panose="02040503050406030204" pitchFamily="18" charset="0"/>
                                </a:rPr>
                              </m:ctrlPr>
                            </m:funcPr>
                            <m:fName>
                              <m:r>
                                <m:rPr>
                                  <m:sty m:val="p"/>
                                </m:rPr>
                                <a:rPr lang="en-US" altLang="zh-CN" sz="1400">
                                  <a:solidFill>
                                    <a:schemeClr val="tx1"/>
                                  </a:solidFill>
                                  <a:latin typeface="Cambria Math" panose="02040503050406030204" pitchFamily="18" charset="0"/>
                                </a:rPr>
                                <m:t>sin</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e>
                          </m:func>
                        </m:num>
                        <m:den>
                          <m:r>
                            <a:rPr lang="en-US" altLang="zh-CN" sz="1400" i="1">
                              <a:solidFill>
                                <a:schemeClr val="tx1"/>
                              </a:solidFill>
                              <a:latin typeface="Cambria Math" panose="02040503050406030204" pitchFamily="18" charset="0"/>
                            </a:rPr>
                            <m:t>−</m:t>
                          </m:r>
                          <m:d>
                            <m:dPr>
                              <m:ctrlPr>
                                <a:rPr lang="en-US" altLang="zh-CN" sz="1400" b="0" i="1" smtClean="0">
                                  <a:solidFill>
                                    <a:schemeClr val="tx1"/>
                                  </a:solidFill>
                                  <a:latin typeface="Cambria Math" panose="02040503050406030204" pitchFamily="18" charset="0"/>
                                </a:rPr>
                              </m:ctrlPr>
                            </m:dPr>
                            <m:e>
                              <m:func>
                                <m:funcPr>
                                  <m:ctrlPr>
                                    <a:rPr lang="en-US" altLang="zh-CN" sz="1400" b="0" i="1" smtClean="0">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sin</m:t>
                                  </m:r>
                                </m:fName>
                                <m:e>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𝛼</m:t>
                                      </m:r>
                                    </m:e>
                                    <m:sub>
                                      <m:r>
                                        <a:rPr lang="en-US" altLang="zh-CN" sz="1400" b="0" i="1" smtClean="0">
                                          <a:solidFill>
                                            <a:schemeClr val="tx1"/>
                                          </a:solidFill>
                                          <a:latin typeface="Cambria Math" panose="02040503050406030204" pitchFamily="18" charset="0"/>
                                        </a:rPr>
                                        <m:t>𝑖</m:t>
                                      </m:r>
                                    </m:sub>
                                  </m:sSub>
                                </m:e>
                              </m:func>
                              <m:func>
                                <m:funcPr>
                                  <m:ctrlPr>
                                    <a:rPr lang="en-US" altLang="zh-CN" sz="1400" b="0" i="1" smtClean="0">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cos</m:t>
                                  </m:r>
                                </m:fName>
                                <m:e>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𝑚</m:t>
                                      </m:r>
                                    </m:sub>
                                  </m:sSub>
                                </m:e>
                              </m:func>
                              <m:r>
                                <a:rPr lang="en-US" altLang="zh-CN" sz="1400" b="0" i="1" smtClean="0">
                                  <a:solidFill>
                                    <a:schemeClr val="tx1"/>
                                  </a:solidFill>
                                  <a:latin typeface="Cambria Math" panose="02040503050406030204" pitchFamily="18" charset="0"/>
                                </a:rPr>
                                <m:t>−</m:t>
                              </m:r>
                              <m:func>
                                <m:funcPr>
                                  <m:ctrlPr>
                                    <a:rPr lang="en-US" altLang="zh-CN" sz="1400" i="1">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cos</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𝛼</m:t>
                                      </m:r>
                                    </m:e>
                                    <m:sub>
                                      <m:r>
                                        <a:rPr lang="en-US" altLang="zh-CN" sz="1400" i="1">
                                          <a:solidFill>
                                            <a:schemeClr val="tx1"/>
                                          </a:solidFill>
                                          <a:latin typeface="Cambria Math" panose="02040503050406030204" pitchFamily="18" charset="0"/>
                                        </a:rPr>
                                        <m:t>𝑖</m:t>
                                      </m:r>
                                    </m:sub>
                                  </m:sSub>
                                </m:e>
                              </m:func>
                              <m:func>
                                <m:funcPr>
                                  <m:ctrlPr>
                                    <a:rPr lang="en-US" altLang="zh-CN" sz="1400" i="1">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sin</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e>
                              </m:func>
                            </m:e>
                          </m:d>
                        </m:den>
                      </m:f>
                    </m:oMath>
                  </m:oMathPara>
                </a14:m>
                <a:endParaRPr lang="en-US" altLang="zh-CN" sz="1400" b="0" dirty="0">
                  <a:solidFill>
                    <a:schemeClr val="tx1"/>
                  </a:solidFill>
                </a:endParaRPr>
              </a:p>
              <a:p>
                <a:pPr>
                  <a:lnSpc>
                    <a:spcPct val="140000"/>
                  </a:lnSpc>
                </a:pPr>
                <a14:m>
                  <m:oMathPara xmlns:m="http://schemas.openxmlformats.org/officeDocument/2006/math">
                    <m:oMathParaPr>
                      <m:jc m:val="centerGroup"/>
                    </m:oMathParaPr>
                    <m:oMath xmlns:m="http://schemas.openxmlformats.org/officeDocument/2006/math">
                      <m:r>
                        <a:rPr lang="en-US" altLang="zh-CN" sz="1400" b="0" i="1" smtClean="0">
                          <a:solidFill>
                            <a:schemeClr val="tx1"/>
                          </a:solidFill>
                          <a:latin typeface="Cambria Math" panose="02040503050406030204" pitchFamily="18" charset="0"/>
                        </a:rPr>
                        <m:t>=</m:t>
                      </m:r>
                      <m:f>
                        <m:fPr>
                          <m:ctrlPr>
                            <a:rPr lang="en-US" altLang="zh-CN" sz="1400" i="1" smtClean="0">
                              <a:solidFill>
                                <a:schemeClr val="tx1"/>
                              </a:solidFill>
                              <a:latin typeface="Cambria Math" panose="02040503050406030204" pitchFamily="18" charset="0"/>
                            </a:rPr>
                          </m:ctrlPr>
                        </m:fPr>
                        <m:num>
                          <m:r>
                            <a:rPr lang="en-US" altLang="zh-CN" sz="1400" b="0" i="1" smtClean="0">
                              <a:solidFill>
                                <a:schemeClr val="tx1"/>
                              </a:solidFill>
                              <a:latin typeface="Cambria Math" panose="02040503050406030204" pitchFamily="18" charset="0"/>
                            </a:rPr>
                            <m:t>1</m:t>
                          </m:r>
                        </m:num>
                        <m:den>
                          <m:r>
                            <a:rPr lang="en-US" altLang="zh-CN" sz="1400" i="1">
                              <a:solidFill>
                                <a:schemeClr val="tx1"/>
                              </a:solidFill>
                              <a:latin typeface="Cambria Math" panose="02040503050406030204" pitchFamily="18" charset="0"/>
                            </a:rPr>
                            <m:t>−</m:t>
                          </m:r>
                          <m:d>
                            <m:dPr>
                              <m:ctrlPr>
                                <a:rPr lang="en-US" altLang="zh-CN" sz="1400" b="0" i="1" smtClean="0">
                                  <a:solidFill>
                                    <a:schemeClr val="tx1"/>
                                  </a:solidFill>
                                  <a:latin typeface="Cambria Math" panose="02040503050406030204" pitchFamily="18" charset="0"/>
                                </a:rPr>
                              </m:ctrlPr>
                            </m:dPr>
                            <m:e>
                              <m:f>
                                <m:fPr>
                                  <m:ctrlPr>
                                    <a:rPr lang="en-US" altLang="zh-CN" sz="1400" b="0" i="1" smtClean="0">
                                      <a:solidFill>
                                        <a:schemeClr val="tx1"/>
                                      </a:solidFill>
                                      <a:latin typeface="Cambria Math" panose="02040503050406030204" pitchFamily="18" charset="0"/>
                                    </a:rPr>
                                  </m:ctrlPr>
                                </m:fPr>
                                <m:num>
                                  <m:func>
                                    <m:funcPr>
                                      <m:ctrlPr>
                                        <a:rPr lang="en-US" altLang="zh-CN" sz="1400" b="0" i="1" smtClean="0">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sin</m:t>
                                      </m:r>
                                    </m:fName>
                                    <m:e>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𝛼</m:t>
                                          </m:r>
                                        </m:e>
                                        <m:sub>
                                          <m:r>
                                            <a:rPr lang="en-US" altLang="zh-CN" sz="1400" b="0" i="1" smtClean="0">
                                              <a:solidFill>
                                                <a:schemeClr val="tx1"/>
                                              </a:solidFill>
                                              <a:latin typeface="Cambria Math" panose="02040503050406030204" pitchFamily="18" charset="0"/>
                                            </a:rPr>
                                            <m:t>𝑖</m:t>
                                          </m:r>
                                        </m:sub>
                                      </m:sSub>
                                    </m:e>
                                  </m:func>
                                </m:num>
                                <m:den>
                                  <m:func>
                                    <m:funcPr>
                                      <m:ctrlPr>
                                        <a:rPr lang="en-US" altLang="zh-CN" sz="1400" b="0" i="1" smtClean="0">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sin</m:t>
                                      </m:r>
                                    </m:fName>
                                    <m:e>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𝑚</m:t>
                                          </m:r>
                                        </m:sub>
                                      </m:sSub>
                                    </m:e>
                                  </m:func>
                                </m:den>
                              </m:f>
                              <m:func>
                                <m:funcPr>
                                  <m:ctrlPr>
                                    <a:rPr lang="en-US" altLang="zh-CN" sz="1400" b="0" i="1" smtClean="0">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cos</m:t>
                                  </m:r>
                                </m:fName>
                                <m:e>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𝑚</m:t>
                                      </m:r>
                                    </m:sub>
                                  </m:sSub>
                                </m:e>
                              </m:func>
                              <m:r>
                                <a:rPr lang="en-US" altLang="zh-CN" sz="1400" b="0" i="1" smtClean="0">
                                  <a:solidFill>
                                    <a:schemeClr val="tx1"/>
                                  </a:solidFill>
                                  <a:latin typeface="Cambria Math" panose="02040503050406030204" pitchFamily="18" charset="0"/>
                                </a:rPr>
                                <m:t>−</m:t>
                              </m:r>
                              <m:func>
                                <m:funcPr>
                                  <m:ctrlPr>
                                    <a:rPr lang="en-US" altLang="zh-CN" sz="1400" i="1">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cos</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𝛼</m:t>
                                      </m:r>
                                    </m:e>
                                    <m:sub>
                                      <m:r>
                                        <a:rPr lang="en-US" altLang="zh-CN" sz="1400" i="1">
                                          <a:solidFill>
                                            <a:schemeClr val="tx1"/>
                                          </a:solidFill>
                                          <a:latin typeface="Cambria Math" panose="02040503050406030204" pitchFamily="18" charset="0"/>
                                        </a:rPr>
                                        <m:t>𝑖</m:t>
                                      </m:r>
                                    </m:sub>
                                  </m:sSub>
                                </m:e>
                              </m:func>
                            </m:e>
                          </m:d>
                        </m:den>
                      </m:f>
                      <m:r>
                        <a:rPr lang="en-US" altLang="zh-CN" sz="1400" b="0" i="1" smtClean="0">
                          <a:solidFill>
                            <a:schemeClr val="tx1"/>
                          </a:solidFill>
                          <a:latin typeface="Cambria Math" panose="02040503050406030204" pitchFamily="18" charset="0"/>
                        </a:rPr>
                        <m:t>=</m:t>
                      </m:r>
                      <m:f>
                        <m:fPr>
                          <m:ctrlPr>
                            <a:rPr lang="en-US" altLang="zh-CN" sz="1400" i="1">
                              <a:solidFill>
                                <a:schemeClr val="tx1"/>
                              </a:solidFill>
                              <a:latin typeface="Cambria Math" panose="02040503050406030204" pitchFamily="18" charset="0"/>
                            </a:rPr>
                          </m:ctrlPr>
                        </m:fPr>
                        <m:num>
                          <m:r>
                            <a:rPr lang="en-US" altLang="zh-CN" sz="1400" i="1">
                              <a:solidFill>
                                <a:schemeClr val="tx1"/>
                              </a:solidFill>
                              <a:latin typeface="Cambria Math" panose="02040503050406030204" pitchFamily="18" charset="0"/>
                            </a:rPr>
                            <m:t>1</m:t>
                          </m:r>
                        </m:num>
                        <m:den>
                          <m:r>
                            <a:rPr lang="en-US" altLang="zh-CN" sz="1400" i="1">
                              <a:solidFill>
                                <a:schemeClr val="tx1"/>
                              </a:solidFill>
                              <a:latin typeface="Cambria Math" panose="02040503050406030204" pitchFamily="18" charset="0"/>
                            </a:rPr>
                            <m:t>−</m:t>
                          </m:r>
                          <m:d>
                            <m:dPr>
                              <m:ctrlPr>
                                <a:rPr lang="en-US" altLang="zh-CN" sz="1400" i="1">
                                  <a:solidFill>
                                    <a:schemeClr val="tx1"/>
                                  </a:solidFill>
                                  <a:latin typeface="Cambria Math" panose="02040503050406030204" pitchFamily="18" charset="0"/>
                                </a:rPr>
                              </m:ctrlPr>
                            </m:dPr>
                            <m:e>
                              <m:f>
                                <m:fPr>
                                  <m:ctrlPr>
                                    <a:rPr lang="en-US" altLang="zh-CN" sz="1400" i="1">
                                      <a:solidFill>
                                        <a:schemeClr val="tx1"/>
                                      </a:solidFill>
                                      <a:latin typeface="Cambria Math" panose="02040503050406030204" pitchFamily="18" charset="0"/>
                                    </a:rPr>
                                  </m:ctrlPr>
                                </m:fPr>
                                <m:num>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𝜂</m:t>
                                      </m:r>
                                    </m:e>
                                    <m:sub>
                                      <m:r>
                                        <a:rPr lang="en-US" altLang="zh-CN" sz="1400" b="0" i="1" smtClean="0">
                                          <a:solidFill>
                                            <a:schemeClr val="tx1"/>
                                          </a:solidFill>
                                          <a:latin typeface="Cambria Math" panose="02040503050406030204" pitchFamily="18" charset="0"/>
                                        </a:rPr>
                                        <m:t>𝑜</m:t>
                                      </m:r>
                                    </m:sub>
                                  </m:sSub>
                                </m:num>
                                <m:den>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𝜂</m:t>
                                      </m:r>
                                    </m:e>
                                    <m:sub>
                                      <m:r>
                                        <a:rPr lang="en-US" altLang="zh-CN" sz="1400" b="0" i="1" smtClean="0">
                                          <a:solidFill>
                                            <a:schemeClr val="tx1"/>
                                          </a:solidFill>
                                          <a:latin typeface="Cambria Math" panose="02040503050406030204" pitchFamily="18" charset="0"/>
                                        </a:rPr>
                                        <m:t>𝑖</m:t>
                                      </m:r>
                                    </m:sub>
                                  </m:sSub>
                                </m:den>
                              </m:f>
                              <m:func>
                                <m:funcPr>
                                  <m:ctrlPr>
                                    <a:rPr lang="en-US" altLang="zh-CN" sz="1400" i="1">
                                      <a:solidFill>
                                        <a:schemeClr val="tx1"/>
                                      </a:solidFill>
                                      <a:latin typeface="Cambria Math" panose="02040503050406030204" pitchFamily="18" charset="0"/>
                                    </a:rPr>
                                  </m:ctrlPr>
                                </m:funcPr>
                                <m:fName>
                                  <m:r>
                                    <m:rPr>
                                      <m:sty m:val="p"/>
                                    </m:rPr>
                                    <a:rPr lang="en-US" altLang="zh-CN" sz="1400">
                                      <a:solidFill>
                                        <a:schemeClr val="tx1"/>
                                      </a:solidFill>
                                      <a:latin typeface="Cambria Math" panose="02040503050406030204" pitchFamily="18" charset="0"/>
                                    </a:rPr>
                                    <m:t>cos</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e>
                              </m:func>
                              <m:r>
                                <a:rPr lang="en-US" altLang="zh-CN" sz="1400" i="1">
                                  <a:solidFill>
                                    <a:schemeClr val="tx1"/>
                                  </a:solidFill>
                                  <a:latin typeface="Cambria Math" panose="02040503050406030204" pitchFamily="18" charset="0"/>
                                </a:rPr>
                                <m:t>−</m:t>
                              </m:r>
                              <m:func>
                                <m:funcPr>
                                  <m:ctrlPr>
                                    <a:rPr lang="en-US" altLang="zh-CN" sz="1400" i="1">
                                      <a:solidFill>
                                        <a:schemeClr val="tx1"/>
                                      </a:solidFill>
                                      <a:latin typeface="Cambria Math" panose="02040503050406030204" pitchFamily="18" charset="0"/>
                                    </a:rPr>
                                  </m:ctrlPr>
                                </m:funcPr>
                                <m:fName>
                                  <m:r>
                                    <m:rPr>
                                      <m:sty m:val="p"/>
                                    </m:rPr>
                                    <a:rPr lang="en-US" altLang="zh-CN" sz="1400">
                                      <a:solidFill>
                                        <a:schemeClr val="tx1"/>
                                      </a:solidFill>
                                      <a:latin typeface="Cambria Math" panose="02040503050406030204" pitchFamily="18" charset="0"/>
                                    </a:rPr>
                                    <m:t>cos</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𝛼</m:t>
                                      </m:r>
                                    </m:e>
                                    <m:sub>
                                      <m:r>
                                        <a:rPr lang="en-US" altLang="zh-CN" sz="1400" i="1">
                                          <a:solidFill>
                                            <a:schemeClr val="tx1"/>
                                          </a:solidFill>
                                          <a:latin typeface="Cambria Math" panose="02040503050406030204" pitchFamily="18" charset="0"/>
                                        </a:rPr>
                                        <m:t>𝑖</m:t>
                                      </m:r>
                                    </m:sub>
                                  </m:sSub>
                                </m:e>
                              </m:func>
                            </m:e>
                          </m:d>
                        </m:den>
                      </m:f>
                      <m:r>
                        <a:rPr lang="en-US" altLang="zh-CN" sz="1400" b="0" i="1" smtClean="0">
                          <a:solidFill>
                            <a:schemeClr val="tx1"/>
                          </a:solidFill>
                          <a:latin typeface="Cambria Math" panose="02040503050406030204" pitchFamily="18" charset="0"/>
                        </a:rPr>
                        <m:t>=</m:t>
                      </m:r>
                      <m:f>
                        <m:fPr>
                          <m:ctrlPr>
                            <a:rPr lang="en-US" altLang="zh-CN" sz="1400" i="1">
                              <a:solidFill>
                                <a:schemeClr val="tx1"/>
                              </a:solidFill>
                              <a:latin typeface="Cambria Math" panose="02040503050406030204" pitchFamily="18" charset="0"/>
                            </a:rPr>
                          </m:ctrlPr>
                        </m:fPr>
                        <m:num>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Sub>
                        </m:num>
                        <m:den>
                          <m:r>
                            <a:rPr lang="en-US" altLang="zh-CN" sz="1400" i="1">
                              <a:solidFill>
                                <a:schemeClr val="tx1"/>
                              </a:solidFill>
                              <a:latin typeface="Cambria Math" panose="02040503050406030204" pitchFamily="18" charset="0"/>
                            </a:rPr>
                            <m:t>−</m:t>
                          </m:r>
                          <m:d>
                            <m:dPr>
                              <m:ctrlPr>
                                <a:rPr lang="en-US" altLang="zh-CN" sz="1400" i="1">
                                  <a:solidFill>
                                    <a:schemeClr val="tx1"/>
                                  </a:solidFill>
                                  <a:latin typeface="Cambria Math" panose="02040503050406030204" pitchFamily="18" charset="0"/>
                                </a:rPr>
                              </m:ctrlPr>
                            </m:dPr>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m:rPr>
                                      <m:sty m:val="p"/>
                                    </m:rPr>
                                    <a:rPr lang="en-US" altLang="zh-CN" sz="1400" i="1">
                                      <a:solidFill>
                                        <a:schemeClr val="tx1"/>
                                      </a:solidFill>
                                      <a:latin typeface="Cambria Math" panose="02040503050406030204" pitchFamily="18" charset="0"/>
                                    </a:rPr>
                                    <m:t>o</m:t>
                                  </m:r>
                                </m:sub>
                              </m:sSub>
                              <m:func>
                                <m:funcPr>
                                  <m:ctrlPr>
                                    <a:rPr lang="en-US" altLang="zh-CN" sz="1400" i="1">
                                      <a:solidFill>
                                        <a:schemeClr val="tx1"/>
                                      </a:solidFill>
                                      <a:latin typeface="Cambria Math" panose="02040503050406030204" pitchFamily="18" charset="0"/>
                                    </a:rPr>
                                  </m:ctrlPr>
                                </m:funcPr>
                                <m:fName>
                                  <m:r>
                                    <m:rPr>
                                      <m:sty m:val="p"/>
                                    </m:rPr>
                                    <a:rPr lang="en-US" altLang="zh-CN" sz="1400">
                                      <a:solidFill>
                                        <a:schemeClr val="tx1"/>
                                      </a:solidFill>
                                      <a:latin typeface="Cambria Math" panose="02040503050406030204" pitchFamily="18" charset="0"/>
                                    </a:rPr>
                                    <m:t>cos</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e>
                              </m:func>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Sub>
                              <m:func>
                                <m:funcPr>
                                  <m:ctrlPr>
                                    <a:rPr lang="en-US" altLang="zh-CN" sz="1400" i="1">
                                      <a:solidFill>
                                        <a:schemeClr val="tx1"/>
                                      </a:solidFill>
                                      <a:latin typeface="Cambria Math" panose="02040503050406030204" pitchFamily="18" charset="0"/>
                                    </a:rPr>
                                  </m:ctrlPr>
                                </m:funcPr>
                                <m:fName>
                                  <m:r>
                                    <m:rPr>
                                      <m:sty m:val="p"/>
                                    </m:rPr>
                                    <a:rPr lang="en-US" altLang="zh-CN" sz="1400">
                                      <a:solidFill>
                                        <a:schemeClr val="tx1"/>
                                      </a:solidFill>
                                      <a:latin typeface="Cambria Math" panose="02040503050406030204" pitchFamily="18" charset="0"/>
                                    </a:rPr>
                                    <m:t>cos</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𝛼</m:t>
                                      </m:r>
                                    </m:e>
                                    <m:sub>
                                      <m:r>
                                        <a:rPr lang="en-US" altLang="zh-CN" sz="1400" i="1">
                                          <a:solidFill>
                                            <a:schemeClr val="tx1"/>
                                          </a:solidFill>
                                          <a:latin typeface="Cambria Math" panose="02040503050406030204" pitchFamily="18" charset="0"/>
                                        </a:rPr>
                                        <m:t>𝑖</m:t>
                                      </m:r>
                                    </m:sub>
                                  </m:sSub>
                                </m:e>
                              </m:func>
                            </m:e>
                          </m:d>
                        </m:den>
                      </m:f>
                    </m:oMath>
                  </m:oMathPara>
                </a14:m>
                <a:endParaRPr lang="en-US" altLang="zh-CN" sz="1400" b="0" i="1" dirty="0">
                  <a:solidFill>
                    <a:schemeClr val="tx1"/>
                  </a:solidFill>
                  <a:latin typeface="Cambria Math" panose="02040503050406030204" pitchFamily="18" charset="0"/>
                </a:endParaRPr>
              </a:p>
              <a:p>
                <a:pPr>
                  <a:lnSpc>
                    <a:spcPct val="140000"/>
                  </a:lnSpc>
                </a:pPr>
                <a14:m>
                  <m:oMathPara xmlns:m="http://schemas.openxmlformats.org/officeDocument/2006/math">
                    <m:oMathParaPr>
                      <m:jc m:val="centerGroup"/>
                    </m:oMathParaPr>
                    <m:oMath xmlns:m="http://schemas.openxmlformats.org/officeDocument/2006/math">
                      <m:f>
                        <m:fPr>
                          <m:ctrlPr>
                            <a:rPr lang="en-US" altLang="zh-CN" sz="1400" i="1" smtClean="0">
                              <a:solidFill>
                                <a:schemeClr val="tx1"/>
                              </a:solidFill>
                              <a:latin typeface="Cambria Math" panose="02040503050406030204" pitchFamily="18" charset="0"/>
                            </a:rPr>
                          </m:ctrlPr>
                        </m:fPr>
                        <m:num>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𝜙</m:t>
                              </m:r>
                            </m:e>
                            <m:sub>
                              <m:r>
                                <a:rPr lang="en-US" altLang="zh-CN" sz="1400" i="1">
                                  <a:solidFill>
                                    <a:schemeClr val="tx1"/>
                                  </a:solidFill>
                                  <a:latin typeface="Cambria Math" panose="02040503050406030204" pitchFamily="18" charset="0"/>
                                </a:rPr>
                                <m:t>𝑚</m:t>
                              </m:r>
                            </m:sub>
                          </m:sSub>
                        </m:num>
                        <m:den>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𝜙</m:t>
                              </m:r>
                            </m:e>
                            <m:sub>
                              <m:r>
                                <a:rPr lang="en-US" altLang="zh-CN" sz="1400" i="1">
                                  <a:solidFill>
                                    <a:schemeClr val="tx1"/>
                                  </a:solidFill>
                                  <a:latin typeface="Cambria Math" panose="02040503050406030204" pitchFamily="18" charset="0"/>
                                </a:rPr>
                                <m:t>𝑖</m:t>
                              </m:r>
                            </m:sub>
                          </m:sSub>
                        </m:den>
                      </m:f>
                      <m:r>
                        <a:rPr lang="en-US" altLang="zh-CN" sz="1400" b="0" i="1" smtClean="0">
                          <a:solidFill>
                            <a:schemeClr val="tx1"/>
                          </a:solidFill>
                          <a:latin typeface="Cambria Math" panose="02040503050406030204" pitchFamily="18" charset="0"/>
                        </a:rPr>
                        <m:t>=</m:t>
                      </m:r>
                      <m:r>
                        <a:rPr lang="en-US" altLang="zh-CN" sz="1400" b="0" i="1" smtClean="0">
                          <a:solidFill>
                            <a:schemeClr val="tx1"/>
                          </a:solidFill>
                          <a:latin typeface="Cambria Math" panose="02040503050406030204" pitchFamily="18" charset="0"/>
                        </a:rPr>
                        <m:t>1</m:t>
                      </m:r>
                      <m:r>
                        <a:rPr lang="en-US" altLang="zh-CN" sz="1400" b="0" i="1" smtClean="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𝑖</m:t>
                              </m:r>
                            </m:sub>
                          </m:sSub>
                        </m:den>
                      </m:f>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0</m:t>
                      </m:r>
                      <m:r>
                        <a:rPr lang="en-US" altLang="zh-CN" sz="1400" b="0" i="1" dirty="0" smtClean="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𝑖</m:t>
                              </m:r>
                            </m:sub>
                          </m:sSub>
                        </m:den>
                      </m:f>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0</m:t>
                      </m:r>
                    </m:oMath>
                  </m:oMathPara>
                </a14:m>
                <a:endParaRPr lang="en-US" altLang="zh-CN" sz="1400" b="0" i="1" dirty="0">
                  <a:solidFill>
                    <a:schemeClr val="tx1"/>
                  </a:solidFill>
                  <a:latin typeface="Cambria Math" panose="02040503050406030204" pitchFamily="18" charset="0"/>
                </a:endParaRPr>
              </a:p>
              <a:p>
                <a:pPr>
                  <a:lnSpc>
                    <a:spcPct val="140000"/>
                  </a:lnSpc>
                </a:pPr>
                <a14:m>
                  <m:oMathPara xmlns:m="http://schemas.openxmlformats.org/officeDocument/2006/math">
                    <m:oMathParaPr>
                      <m:jc m:val="centerGroup"/>
                    </m:oMathParaPr>
                    <m:oMath xmlns:m="http://schemas.openxmlformats.org/officeDocument/2006/math">
                      <m:d>
                        <m:dPr>
                          <m:begChr m:val="|"/>
                          <m:endChr m:val="|"/>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det</m:t>
                              </m:r>
                            </m:fName>
                            <m:e>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𝑖</m:t>
                                          </m:r>
                                        </m:sub>
                                      </m:sSub>
                                    </m:den>
                                  </m:f>
                                  <m:r>
                                    <a:rPr lang="en-US" altLang="zh-CN" sz="1400" i="1" dirty="0">
                                      <a:solidFill>
                                        <a:schemeClr val="tx1"/>
                                      </a:solidFill>
                                      <a:latin typeface="Cambria Math" panose="02040503050406030204" pitchFamily="18" charset="0"/>
                                    </a:rPr>
                                    <m:t> </m:t>
                                  </m:r>
                                </m:e>
                              </m:d>
                            </m:e>
                          </m:func>
                        </m:e>
                      </m:d>
                      <m:r>
                        <a:rPr lang="en-US" altLang="zh-CN" sz="1400" i="1" dirty="0">
                          <a:solidFill>
                            <a:schemeClr val="tx1"/>
                          </a:solidFill>
                          <a:latin typeface="Cambria Math" panose="02040503050406030204" pitchFamily="18" charset="0"/>
                        </a:rPr>
                        <m:t>=</m:t>
                      </m:r>
                      <m:f>
                        <m:fPr>
                          <m:ctrlPr>
                            <a:rPr lang="en-US" altLang="zh-CN" sz="1200" i="1" dirty="0">
                              <a:solidFill>
                                <a:schemeClr val="tx1"/>
                              </a:solidFill>
                              <a:latin typeface="Cambria Math" panose="02040503050406030204" pitchFamily="18" charset="0"/>
                            </a:rPr>
                          </m:ctrlPr>
                        </m:fPr>
                        <m:num>
                          <m:func>
                            <m:funcPr>
                              <m:ctrlPr>
                                <a:rPr lang="en-US" altLang="zh-CN" sz="1200" i="1" dirty="0">
                                  <a:solidFill>
                                    <a:schemeClr val="tx1"/>
                                  </a:solidFill>
                                  <a:latin typeface="Cambria Math" panose="02040503050406030204" pitchFamily="18" charset="0"/>
                                </a:rPr>
                              </m:ctrlPr>
                            </m:funcPr>
                            <m:fName>
                              <m:r>
                                <m:rPr>
                                  <m:sty m:val="p"/>
                                </m:rPr>
                                <a:rPr lang="en-US" altLang="zh-CN" sz="1200" dirty="0">
                                  <a:solidFill>
                                    <a:schemeClr val="tx1"/>
                                  </a:solidFill>
                                  <a:latin typeface="Cambria Math" panose="02040503050406030204" pitchFamily="18" charset="0"/>
                                </a:rPr>
                                <m:t>sin</m:t>
                              </m:r>
                            </m:fName>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𝜃</m:t>
                                  </m:r>
                                </m:e>
                                <m:sub>
                                  <m:r>
                                    <a:rPr lang="en-US" altLang="zh-CN" sz="1200" i="1" dirty="0">
                                      <a:solidFill>
                                        <a:schemeClr val="tx1"/>
                                      </a:solidFill>
                                      <a:latin typeface="Cambria Math" panose="02040503050406030204" pitchFamily="18" charset="0"/>
                                    </a:rPr>
                                    <m:t>𝑚</m:t>
                                  </m:r>
                                </m:sub>
                              </m:sSub>
                            </m:e>
                          </m:func>
                        </m:num>
                        <m:den>
                          <m:func>
                            <m:funcPr>
                              <m:ctrlPr>
                                <a:rPr lang="en-US" altLang="zh-CN" sz="1200" i="1" dirty="0">
                                  <a:solidFill>
                                    <a:schemeClr val="tx1"/>
                                  </a:solidFill>
                                  <a:latin typeface="Cambria Math" panose="02040503050406030204" pitchFamily="18" charset="0"/>
                                </a:rPr>
                              </m:ctrlPr>
                            </m:funcPr>
                            <m:fName>
                              <m:r>
                                <m:rPr>
                                  <m:sty m:val="p"/>
                                </m:rPr>
                                <a:rPr lang="en-US" altLang="zh-CN" sz="1200" dirty="0">
                                  <a:solidFill>
                                    <a:schemeClr val="tx1"/>
                                  </a:solidFill>
                                  <a:latin typeface="Cambria Math" panose="02040503050406030204" pitchFamily="18" charset="0"/>
                                </a:rPr>
                                <m:t>sin</m:t>
                              </m:r>
                            </m:fName>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𝜃</m:t>
                                  </m:r>
                                </m:e>
                                <m:sub>
                                  <m:r>
                                    <a:rPr lang="en-US" altLang="zh-CN" sz="1200" i="1" dirty="0">
                                      <a:solidFill>
                                        <a:schemeClr val="tx1"/>
                                      </a:solidFill>
                                      <a:latin typeface="Cambria Math" panose="02040503050406030204" pitchFamily="18" charset="0"/>
                                    </a:rPr>
                                    <m:t>𝑖</m:t>
                                  </m:r>
                                </m:sub>
                              </m:sSub>
                            </m:e>
                          </m:func>
                        </m:den>
                      </m:f>
                      <m:d>
                        <m:dPr>
                          <m:begChr m:val="|"/>
                          <m:endChr m:val="|"/>
                          <m:ctrlPr>
                            <a:rPr lang="en-US" altLang="zh-CN" sz="1200" i="1" dirty="0">
                              <a:solidFill>
                                <a:schemeClr val="tx1"/>
                              </a:solidFill>
                              <a:latin typeface="Cambria Math" panose="02040503050406030204" pitchFamily="18" charset="0"/>
                            </a:rPr>
                          </m:ctrlPr>
                        </m:dPr>
                        <m:e>
                          <m:f>
                            <m:fPr>
                              <m:ctrlPr>
                                <a:rPr lang="en-US" altLang="zh-CN" sz="1200" i="1" dirty="0">
                                  <a:solidFill>
                                    <a:schemeClr val="tx1"/>
                                  </a:solidFill>
                                  <a:latin typeface="Cambria Math" panose="02040503050406030204" pitchFamily="18" charset="0"/>
                                </a:rPr>
                              </m:ctrlPr>
                            </m:fPr>
                            <m:num>
                              <m:r>
                                <a:rPr lang="en-US" altLang="zh-CN" sz="1200" i="1" dirty="0">
                                  <a:solidFill>
                                    <a:schemeClr val="tx1"/>
                                  </a:solidFill>
                                  <a:latin typeface="Cambria Math" panose="02040503050406030204" pitchFamily="18" charset="0"/>
                                </a:rPr>
                                <m:t>𝜕</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𝜃</m:t>
                                  </m:r>
                                </m:e>
                                <m:sub>
                                  <m:r>
                                    <a:rPr lang="en-US" altLang="zh-CN" sz="1200" i="1" dirty="0">
                                      <a:solidFill>
                                        <a:schemeClr val="tx1"/>
                                      </a:solidFill>
                                      <a:latin typeface="Cambria Math" panose="02040503050406030204" pitchFamily="18" charset="0"/>
                                    </a:rPr>
                                    <m:t>𝑚</m:t>
                                  </m:r>
                                </m:sub>
                              </m:sSub>
                            </m:num>
                            <m:den>
                              <m:r>
                                <a:rPr lang="en-US" altLang="zh-CN" sz="1200" i="1" dirty="0">
                                  <a:solidFill>
                                    <a:schemeClr val="tx1"/>
                                  </a:solidFill>
                                  <a:latin typeface="Cambria Math" panose="02040503050406030204" pitchFamily="18" charset="0"/>
                                </a:rPr>
                                <m:t>𝜕</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𝜃</m:t>
                                  </m:r>
                                </m:e>
                                <m:sub>
                                  <m:r>
                                    <a:rPr lang="en-US" altLang="zh-CN" sz="1200" i="1" dirty="0">
                                      <a:solidFill>
                                        <a:schemeClr val="tx1"/>
                                      </a:solidFill>
                                      <a:latin typeface="Cambria Math" panose="02040503050406030204" pitchFamily="18" charset="0"/>
                                    </a:rPr>
                                    <m:t>𝑖</m:t>
                                  </m:r>
                                </m:sub>
                              </m:sSub>
                            </m:den>
                          </m:f>
                          <m:r>
                            <a:rPr lang="en-US" altLang="zh-CN" sz="1200" i="1" dirty="0">
                              <a:solidFill>
                                <a:schemeClr val="tx1"/>
                              </a:solidFill>
                              <a:latin typeface="Cambria Math" panose="02040503050406030204" pitchFamily="18" charset="0"/>
                            </a:rPr>
                            <m:t>⋅</m:t>
                          </m:r>
                          <m:f>
                            <m:fPr>
                              <m:ctrlPr>
                                <a:rPr lang="en-US" altLang="zh-CN" sz="1200" i="1" dirty="0">
                                  <a:solidFill>
                                    <a:schemeClr val="tx1"/>
                                  </a:solidFill>
                                  <a:latin typeface="Cambria Math" panose="02040503050406030204" pitchFamily="18" charset="0"/>
                                </a:rPr>
                              </m:ctrlPr>
                            </m:fPr>
                            <m:num>
                              <m:r>
                                <a:rPr lang="en-US" altLang="zh-CN" sz="1200" i="1" dirty="0">
                                  <a:solidFill>
                                    <a:schemeClr val="tx1"/>
                                  </a:solidFill>
                                  <a:latin typeface="Cambria Math" panose="02040503050406030204" pitchFamily="18" charset="0"/>
                                </a:rPr>
                                <m:t>𝜕</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𝜙</m:t>
                                  </m:r>
                                </m:e>
                                <m:sub>
                                  <m:r>
                                    <a:rPr lang="en-US" altLang="zh-CN" sz="1200" i="1" dirty="0">
                                      <a:solidFill>
                                        <a:schemeClr val="tx1"/>
                                      </a:solidFill>
                                      <a:latin typeface="Cambria Math" panose="02040503050406030204" pitchFamily="18" charset="0"/>
                                    </a:rPr>
                                    <m:t>𝑚</m:t>
                                  </m:r>
                                </m:sub>
                              </m:sSub>
                            </m:num>
                            <m:den>
                              <m:r>
                                <a:rPr lang="en-US" altLang="zh-CN" sz="1200" i="1" dirty="0">
                                  <a:solidFill>
                                    <a:schemeClr val="tx1"/>
                                  </a:solidFill>
                                  <a:latin typeface="Cambria Math" panose="02040503050406030204" pitchFamily="18" charset="0"/>
                                </a:rPr>
                                <m:t>𝜕</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𝜙</m:t>
                                  </m:r>
                                </m:e>
                                <m:sub>
                                  <m:r>
                                    <a:rPr lang="en-US" altLang="zh-CN" sz="1200" i="1" dirty="0">
                                      <a:solidFill>
                                        <a:schemeClr val="tx1"/>
                                      </a:solidFill>
                                      <a:latin typeface="Cambria Math" panose="02040503050406030204" pitchFamily="18" charset="0"/>
                                    </a:rPr>
                                    <m:t>𝑖</m:t>
                                  </m:r>
                                </m:sub>
                              </m:sSub>
                            </m:den>
                          </m:f>
                          <m:r>
                            <a:rPr lang="en-US" altLang="zh-CN" sz="1200" i="1" dirty="0">
                              <a:solidFill>
                                <a:schemeClr val="tx1"/>
                              </a:solidFill>
                              <a:latin typeface="Cambria Math" panose="02040503050406030204" pitchFamily="18" charset="0"/>
                            </a:rPr>
                            <m:t>−</m:t>
                          </m:r>
                          <m:f>
                            <m:fPr>
                              <m:ctrlPr>
                                <a:rPr lang="en-US" altLang="zh-CN" sz="1200" i="1" dirty="0">
                                  <a:solidFill>
                                    <a:schemeClr val="tx1"/>
                                  </a:solidFill>
                                  <a:latin typeface="Cambria Math" panose="02040503050406030204" pitchFamily="18" charset="0"/>
                                </a:rPr>
                              </m:ctrlPr>
                            </m:fPr>
                            <m:num>
                              <m:r>
                                <a:rPr lang="en-US" altLang="zh-CN" sz="1200" i="1" dirty="0">
                                  <a:solidFill>
                                    <a:schemeClr val="tx1"/>
                                  </a:solidFill>
                                  <a:latin typeface="Cambria Math" panose="02040503050406030204" pitchFamily="18" charset="0"/>
                                </a:rPr>
                                <m:t>𝜕</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𝜃</m:t>
                                  </m:r>
                                </m:e>
                                <m:sub>
                                  <m:r>
                                    <a:rPr lang="en-US" altLang="zh-CN" sz="1200" i="1" dirty="0">
                                      <a:solidFill>
                                        <a:schemeClr val="tx1"/>
                                      </a:solidFill>
                                      <a:latin typeface="Cambria Math" panose="02040503050406030204" pitchFamily="18" charset="0"/>
                                    </a:rPr>
                                    <m:t>𝑚</m:t>
                                  </m:r>
                                </m:sub>
                              </m:sSub>
                            </m:num>
                            <m:den>
                              <m:r>
                                <a:rPr lang="en-US" altLang="zh-CN" sz="1200" i="1" dirty="0">
                                  <a:solidFill>
                                    <a:schemeClr val="tx1"/>
                                  </a:solidFill>
                                  <a:latin typeface="Cambria Math" panose="02040503050406030204" pitchFamily="18" charset="0"/>
                                </a:rPr>
                                <m:t>𝜕</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𝜙</m:t>
                                  </m:r>
                                </m:e>
                                <m:sub>
                                  <m:r>
                                    <a:rPr lang="en-US" altLang="zh-CN" sz="1200" i="1" dirty="0">
                                      <a:solidFill>
                                        <a:schemeClr val="tx1"/>
                                      </a:solidFill>
                                      <a:latin typeface="Cambria Math" panose="02040503050406030204" pitchFamily="18" charset="0"/>
                                    </a:rPr>
                                    <m:t>𝑖</m:t>
                                  </m:r>
                                </m:sub>
                              </m:sSub>
                            </m:den>
                          </m:f>
                          <m:r>
                            <a:rPr lang="en-US" altLang="zh-CN" sz="1200" i="1" dirty="0">
                              <a:solidFill>
                                <a:schemeClr val="tx1"/>
                              </a:solidFill>
                              <a:latin typeface="Cambria Math" panose="02040503050406030204" pitchFamily="18" charset="0"/>
                            </a:rPr>
                            <m:t>⋅</m:t>
                          </m:r>
                          <m:f>
                            <m:fPr>
                              <m:ctrlPr>
                                <a:rPr lang="en-US" altLang="zh-CN" sz="1200" i="1" dirty="0">
                                  <a:solidFill>
                                    <a:schemeClr val="tx1"/>
                                  </a:solidFill>
                                  <a:latin typeface="Cambria Math" panose="02040503050406030204" pitchFamily="18" charset="0"/>
                                </a:rPr>
                              </m:ctrlPr>
                            </m:fPr>
                            <m:num>
                              <m:r>
                                <a:rPr lang="en-US" altLang="zh-CN" sz="1200" i="1" dirty="0">
                                  <a:solidFill>
                                    <a:schemeClr val="tx1"/>
                                  </a:solidFill>
                                  <a:latin typeface="Cambria Math" panose="02040503050406030204" pitchFamily="18" charset="0"/>
                                </a:rPr>
                                <m:t>𝜕</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𝜙</m:t>
                                  </m:r>
                                </m:e>
                                <m:sub>
                                  <m:r>
                                    <a:rPr lang="en-US" altLang="zh-CN" sz="1200" i="1" dirty="0">
                                      <a:solidFill>
                                        <a:schemeClr val="tx1"/>
                                      </a:solidFill>
                                      <a:latin typeface="Cambria Math" panose="02040503050406030204" pitchFamily="18" charset="0"/>
                                    </a:rPr>
                                    <m:t>𝑚</m:t>
                                  </m:r>
                                </m:sub>
                              </m:sSub>
                            </m:num>
                            <m:den>
                              <m:r>
                                <a:rPr lang="en-US" altLang="zh-CN" sz="1200" i="1" dirty="0">
                                  <a:solidFill>
                                    <a:schemeClr val="tx1"/>
                                  </a:solidFill>
                                  <a:latin typeface="Cambria Math" panose="02040503050406030204" pitchFamily="18" charset="0"/>
                                </a:rPr>
                                <m:t>𝜕</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𝜃</m:t>
                                  </m:r>
                                </m:e>
                                <m:sub>
                                  <m:r>
                                    <a:rPr lang="en-US" altLang="zh-CN" sz="1200" i="1" dirty="0">
                                      <a:solidFill>
                                        <a:schemeClr val="tx1"/>
                                      </a:solidFill>
                                      <a:latin typeface="Cambria Math" panose="02040503050406030204" pitchFamily="18" charset="0"/>
                                    </a:rPr>
                                    <m:t>𝑖</m:t>
                                  </m:r>
                                </m:sub>
                              </m:sSub>
                            </m:den>
                          </m:f>
                        </m:e>
                      </m:d>
                      <m:r>
                        <a:rPr lang="en-US" altLang="zh-CN" sz="1400" b="0" i="1" smtClean="0">
                          <a:solidFill>
                            <a:schemeClr val="tx1"/>
                          </a:solidFill>
                          <a:latin typeface="Cambria Math" panose="02040503050406030204" pitchFamily="18" charset="0"/>
                        </a:rPr>
                        <m:t>=</m:t>
                      </m:r>
                      <m:f>
                        <m:fPr>
                          <m:ctrlPr>
                            <a:rPr lang="en-US" altLang="zh-CN" sz="1400" i="1">
                              <a:solidFill>
                                <a:schemeClr val="tx1"/>
                              </a:solidFill>
                              <a:latin typeface="Cambria Math" panose="02040503050406030204" pitchFamily="18" charset="0"/>
                            </a:rPr>
                          </m:ctrlPr>
                        </m:fPr>
                        <m:num>
                          <m:sSubSup>
                            <m:sSubSupPr>
                              <m:ctrlPr>
                                <a:rPr lang="en-US" altLang="zh-CN" sz="1400" b="0" i="1" smtClean="0">
                                  <a:solidFill>
                                    <a:schemeClr val="tx1"/>
                                  </a:solidFill>
                                  <a:latin typeface="Cambria Math" panose="02040503050406030204" pitchFamily="18" charset="0"/>
                                </a:rPr>
                              </m:ctrlPr>
                            </m:sSubSup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up>
                              <m:r>
                                <a:rPr lang="en-US" altLang="zh-CN" sz="1400" b="0" i="1" smtClean="0">
                                  <a:solidFill>
                                    <a:schemeClr val="tx1"/>
                                  </a:solidFill>
                                  <a:latin typeface="Cambria Math" panose="02040503050406030204" pitchFamily="18" charset="0"/>
                                </a:rPr>
                                <m:t>2</m:t>
                              </m:r>
                            </m:sup>
                          </m:sSubSup>
                          <m:func>
                            <m:funcPr>
                              <m:ctrlPr>
                                <a:rPr lang="en-US" altLang="zh-CN" sz="1400" i="1">
                                  <a:solidFill>
                                    <a:schemeClr val="tx1"/>
                                  </a:solidFill>
                                  <a:latin typeface="Cambria Math" panose="02040503050406030204" pitchFamily="18" charset="0"/>
                                </a:rPr>
                              </m:ctrlPr>
                            </m:funcPr>
                            <m:fName>
                              <m:r>
                                <a:rPr lang="en-US" altLang="zh-CN" sz="1400" i="1">
                                  <a:solidFill>
                                    <a:schemeClr val="tx1"/>
                                  </a:solidFill>
                                  <a:latin typeface="Cambria Math" panose="02040503050406030204" pitchFamily="18" charset="0"/>
                                </a:rPr>
                                <m:t>𝑐𝑜𝑠</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𝛼</m:t>
                                  </m:r>
                                </m:e>
                                <m:sub>
                                  <m:r>
                                    <a:rPr lang="en-US" altLang="zh-CN" sz="1400" i="1">
                                      <a:solidFill>
                                        <a:schemeClr val="tx1"/>
                                      </a:solidFill>
                                      <a:latin typeface="Cambria Math" panose="02040503050406030204" pitchFamily="18" charset="0"/>
                                    </a:rPr>
                                    <m:t>𝑖</m:t>
                                  </m:r>
                                </m:sub>
                              </m:sSub>
                            </m:e>
                          </m:func>
                        </m:num>
                        <m:den>
                          <m:sSup>
                            <m:sSupPr>
                              <m:ctrlPr>
                                <a:rPr lang="en-US" altLang="zh-CN" sz="1400" b="0" i="1" smtClean="0">
                                  <a:solidFill>
                                    <a:schemeClr val="tx1"/>
                                  </a:solidFill>
                                  <a:latin typeface="Cambria Math" panose="02040503050406030204" pitchFamily="18" charset="0"/>
                                </a:rPr>
                              </m:ctrlPr>
                            </m:sSupPr>
                            <m:e>
                              <m:d>
                                <m:dPr>
                                  <m:ctrlPr>
                                    <a:rPr lang="en-US" altLang="zh-CN" sz="1400" b="0" i="1" smtClean="0">
                                      <a:solidFill>
                                        <a:schemeClr val="tx1"/>
                                      </a:solidFill>
                                      <a:latin typeface="Cambria Math" panose="02040503050406030204" pitchFamily="18" charset="0"/>
                                    </a:rPr>
                                  </m:ctrlPr>
                                </m:dPr>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𝑜</m:t>
                                      </m:r>
                                    </m:sub>
                                  </m:sSub>
                                  <m:func>
                                    <m:funcPr>
                                      <m:ctrlPr>
                                        <a:rPr lang="en-US" altLang="zh-CN" sz="1400" i="1">
                                          <a:solidFill>
                                            <a:schemeClr val="tx1"/>
                                          </a:solidFill>
                                          <a:latin typeface="Cambria Math" panose="02040503050406030204" pitchFamily="18" charset="0"/>
                                        </a:rPr>
                                      </m:ctrlPr>
                                    </m:funcPr>
                                    <m:fName>
                                      <m:r>
                                        <m:rPr>
                                          <m:sty m:val="p"/>
                                        </m:rPr>
                                        <a:rPr lang="en-US" altLang="zh-CN" sz="1400">
                                          <a:solidFill>
                                            <a:schemeClr val="tx1"/>
                                          </a:solidFill>
                                          <a:latin typeface="Cambria Math" panose="02040503050406030204" pitchFamily="18" charset="0"/>
                                        </a:rPr>
                                        <m:t>cos</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𝜃</m:t>
                                          </m:r>
                                        </m:e>
                                        <m:sub>
                                          <m:r>
                                            <a:rPr lang="en-US" altLang="zh-CN" sz="1400" i="1">
                                              <a:solidFill>
                                                <a:schemeClr val="tx1"/>
                                              </a:solidFill>
                                              <a:latin typeface="Cambria Math" panose="02040503050406030204" pitchFamily="18" charset="0"/>
                                            </a:rPr>
                                            <m:t>𝑚</m:t>
                                          </m:r>
                                        </m:sub>
                                      </m:sSub>
                                    </m:e>
                                  </m:func>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Sub>
                                  <m:func>
                                    <m:funcPr>
                                      <m:ctrlPr>
                                        <a:rPr lang="en-US" altLang="zh-CN" sz="1400" i="1">
                                          <a:solidFill>
                                            <a:schemeClr val="tx1"/>
                                          </a:solidFill>
                                          <a:latin typeface="Cambria Math" panose="02040503050406030204" pitchFamily="18" charset="0"/>
                                        </a:rPr>
                                      </m:ctrlPr>
                                    </m:funcPr>
                                    <m:fName>
                                      <m:r>
                                        <a:rPr lang="en-US" altLang="zh-CN" sz="1400" i="1">
                                          <a:solidFill>
                                            <a:schemeClr val="tx1"/>
                                          </a:solidFill>
                                          <a:latin typeface="Cambria Math" panose="02040503050406030204" pitchFamily="18" charset="0"/>
                                        </a:rPr>
                                        <m:t>𝑐𝑜𝑠</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𝛼</m:t>
                                          </m:r>
                                        </m:e>
                                        <m:sub>
                                          <m:r>
                                            <a:rPr lang="en-US" altLang="zh-CN" sz="1400" i="1">
                                              <a:solidFill>
                                                <a:schemeClr val="tx1"/>
                                              </a:solidFill>
                                              <a:latin typeface="Cambria Math" panose="02040503050406030204" pitchFamily="18" charset="0"/>
                                            </a:rPr>
                                            <m:t>𝑖</m:t>
                                          </m:r>
                                        </m:sub>
                                      </m:sSub>
                                    </m:e>
                                  </m:func>
                                </m:e>
                              </m:d>
                            </m:e>
                            <m:sup>
                              <m:r>
                                <a:rPr lang="en-US" altLang="zh-CN" sz="1400" b="0" i="1" smtClean="0">
                                  <a:solidFill>
                                    <a:schemeClr val="tx1"/>
                                  </a:solidFill>
                                  <a:latin typeface="Cambria Math" panose="02040503050406030204" pitchFamily="18" charset="0"/>
                                </a:rPr>
                                <m:t>2</m:t>
                              </m:r>
                            </m:sup>
                          </m:sSup>
                        </m:den>
                      </m:f>
                    </m:oMath>
                  </m:oMathPara>
                </a14:m>
                <a:endParaRPr lang="en-US" altLang="zh-CN" sz="1400" dirty="0">
                  <a:solidFill>
                    <a:schemeClr val="tx1"/>
                  </a:solidFill>
                </a:endParaRPr>
              </a:p>
              <a:p>
                <a:pPr>
                  <a:lnSpc>
                    <a:spcPct val="140000"/>
                  </a:lnSpc>
                </a:pPr>
                <a14:m>
                  <m:oMathPara xmlns:m="http://schemas.openxmlformats.org/officeDocument/2006/math">
                    <m:oMathParaPr>
                      <m:jc m:val="centerGroup"/>
                    </m:oMathParaPr>
                    <m:oMath xmlns:m="http://schemas.openxmlformats.org/officeDocument/2006/math">
                      <m:r>
                        <a:rPr lang="zh-CN" altLang="en-US" sz="1400" i="1">
                          <a:solidFill>
                            <a:schemeClr val="tx1"/>
                          </a:solidFill>
                          <a:latin typeface="Cambria Math" panose="02040503050406030204" pitchFamily="18" charset="0"/>
                        </a:rPr>
                        <m:t>同时考虑</m:t>
                      </m:r>
                      <m:r>
                        <a:rPr lang="en-US" altLang="zh-CN" sz="1400" b="1" i="1" smtClean="0">
                          <a:solidFill>
                            <a:schemeClr val="tx1"/>
                          </a:solidFill>
                          <a:latin typeface="Cambria Math" panose="02040503050406030204" pitchFamily="18" charset="0"/>
                        </a:rPr>
                        <m:t>𝒐</m:t>
                      </m:r>
                      <m:r>
                        <a:rPr lang="zh-CN" altLang="en-US" sz="1400" i="1">
                          <a:solidFill>
                            <a:schemeClr val="tx1"/>
                          </a:solidFill>
                          <a:latin typeface="Cambria Math" panose="02040503050406030204" pitchFamily="18" charset="0"/>
                        </a:rPr>
                        <m:t>与</m:t>
                      </m:r>
                      <m:r>
                        <a:rPr lang="en-US" altLang="zh-CN" sz="1400" b="1" i="1" smtClean="0">
                          <a:solidFill>
                            <a:schemeClr val="tx1"/>
                          </a:solidFill>
                          <a:latin typeface="Cambria Math" panose="02040503050406030204" pitchFamily="18" charset="0"/>
                        </a:rPr>
                        <m:t>𝒎</m:t>
                      </m:r>
                      <m:r>
                        <a:rPr lang="zh-CN" altLang="en-US" sz="1400" i="1">
                          <a:solidFill>
                            <a:schemeClr val="tx1"/>
                          </a:solidFill>
                          <a:latin typeface="Cambria Math" panose="02040503050406030204" pitchFamily="18" charset="0"/>
                        </a:rPr>
                        <m:t>的</m:t>
                      </m:r>
                      <m:r>
                        <a:rPr lang="zh-CN" altLang="en-US" sz="1400" i="1" smtClean="0">
                          <a:solidFill>
                            <a:schemeClr val="tx1"/>
                          </a:solidFill>
                          <a:latin typeface="Cambria Math" panose="02040503050406030204" pitchFamily="18" charset="0"/>
                        </a:rPr>
                        <m:t>相对位置</m:t>
                      </m:r>
                      <m:r>
                        <a:rPr lang="zh-CN" altLang="en-US" sz="1400" i="1">
                          <a:solidFill>
                            <a:schemeClr val="tx1"/>
                          </a:solidFill>
                          <a:latin typeface="Cambria Math" panose="02040503050406030204" pitchFamily="18" charset="0"/>
                        </a:rPr>
                        <m:t>：</m:t>
                      </m:r>
                      <m:func>
                        <m:funcPr>
                          <m:ctrlPr>
                            <a:rPr lang="en-US" altLang="zh-CN" sz="1400" i="1" smtClean="0">
                              <a:solidFill>
                                <a:schemeClr val="tx1"/>
                              </a:solidFill>
                              <a:latin typeface="Cambria Math" panose="02040503050406030204" pitchFamily="18" charset="0"/>
                            </a:rPr>
                          </m:ctrlPr>
                        </m:funcPr>
                        <m:fName>
                          <m:r>
                            <a:rPr lang="en-US" altLang="zh-CN" sz="1400" i="1">
                              <a:solidFill>
                                <a:schemeClr val="tx1"/>
                              </a:solidFill>
                              <a:latin typeface="Cambria Math" panose="02040503050406030204" pitchFamily="18" charset="0"/>
                            </a:rPr>
                            <m:t>𝑐𝑜𝑠</m:t>
                          </m:r>
                        </m:fName>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𝛼</m:t>
                              </m:r>
                            </m:e>
                            <m:sub>
                              <m:r>
                                <a:rPr lang="en-US" altLang="zh-CN" sz="1400" i="1">
                                  <a:solidFill>
                                    <a:schemeClr val="tx1"/>
                                  </a:solidFill>
                                  <a:latin typeface="Cambria Math" panose="02040503050406030204" pitchFamily="18" charset="0"/>
                                </a:rPr>
                                <m:t>𝑖</m:t>
                              </m:r>
                            </m:sub>
                          </m:sSub>
                        </m:e>
                      </m:func>
                      <m:r>
                        <a:rPr lang="en-US" altLang="zh-CN" sz="1400" b="0" i="1" smtClean="0">
                          <a:solidFill>
                            <a:schemeClr val="tx1"/>
                          </a:solidFill>
                          <a:latin typeface="Cambria Math" panose="02040503050406030204" pitchFamily="18" charset="0"/>
                        </a:rPr>
                        <m:t>=</m:t>
                      </m:r>
                      <m:d>
                        <m:dPr>
                          <m:begChr m:val="|"/>
                          <m:endChr m:val="|"/>
                          <m:ctrlPr>
                            <a:rPr lang="en-US" altLang="zh-CN" sz="1400" b="0" i="1" smtClean="0">
                              <a:solidFill>
                                <a:schemeClr val="tx1"/>
                              </a:solidFill>
                              <a:latin typeface="Cambria Math" panose="02040503050406030204" pitchFamily="18" charset="0"/>
                            </a:rPr>
                          </m:ctrlPr>
                        </m:dPr>
                        <m:e>
                          <m:r>
                            <a:rPr lang="en-US" altLang="zh-CN" sz="1400" b="1" i="1" smtClean="0">
                              <a:solidFill>
                                <a:schemeClr val="tx1"/>
                              </a:solidFill>
                              <a:latin typeface="Cambria Math" panose="02040503050406030204" pitchFamily="18" charset="0"/>
                            </a:rPr>
                            <m:t>𝒊</m:t>
                          </m:r>
                          <m:r>
                            <a:rPr lang="en-US" altLang="zh-CN" sz="1400" b="0" i="1" smtClean="0">
                              <a:solidFill>
                                <a:schemeClr val="tx1"/>
                              </a:solidFill>
                              <a:latin typeface="Cambria Math" panose="02040503050406030204" pitchFamily="18" charset="0"/>
                            </a:rPr>
                            <m:t>⋅</m:t>
                          </m:r>
                          <m:r>
                            <a:rPr lang="en-US" altLang="zh-CN" sz="1400" b="1" i="1" smtClean="0">
                              <a:solidFill>
                                <a:schemeClr val="tx1"/>
                              </a:solidFill>
                              <a:latin typeface="Cambria Math" panose="02040503050406030204" pitchFamily="18" charset="0"/>
                            </a:rPr>
                            <m:t>𝒎</m:t>
                          </m:r>
                        </m:e>
                      </m:d>
                      <m:r>
                        <a:rPr lang="en-US" altLang="zh-CN" sz="1400" b="0" i="1" smtClean="0">
                          <a:solidFill>
                            <a:schemeClr val="tx1"/>
                          </a:solidFill>
                          <a:latin typeface="Cambria Math" panose="02040503050406030204" pitchFamily="18" charset="0"/>
                        </a:rPr>
                        <m:t>,  </m:t>
                      </m:r>
                      <m:func>
                        <m:funcPr>
                          <m:ctrlPr>
                            <a:rPr lang="en-US" altLang="zh-CN" sz="1400" b="0" i="1" smtClean="0">
                              <a:solidFill>
                                <a:schemeClr val="tx1"/>
                              </a:solidFill>
                              <a:latin typeface="Cambria Math" panose="02040503050406030204" pitchFamily="18" charset="0"/>
                            </a:rPr>
                          </m:ctrlPr>
                        </m:funcPr>
                        <m:fName>
                          <m:r>
                            <m:rPr>
                              <m:sty m:val="p"/>
                            </m:rPr>
                            <a:rPr lang="en-US" altLang="zh-CN" sz="1400" b="0" i="0" smtClean="0">
                              <a:solidFill>
                                <a:schemeClr val="tx1"/>
                              </a:solidFill>
                              <a:latin typeface="Cambria Math" panose="02040503050406030204" pitchFamily="18" charset="0"/>
                            </a:rPr>
                            <m:t>cos</m:t>
                          </m:r>
                        </m:fName>
                        <m:e>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𝜃</m:t>
                              </m:r>
                            </m:e>
                            <m:sub>
                              <m:r>
                                <a:rPr lang="en-US" altLang="zh-CN" sz="1400" b="0" i="1" smtClean="0">
                                  <a:solidFill>
                                    <a:schemeClr val="tx1"/>
                                  </a:solidFill>
                                  <a:latin typeface="Cambria Math" panose="02040503050406030204" pitchFamily="18" charset="0"/>
                                </a:rPr>
                                <m:t>𝑚</m:t>
                              </m:r>
                            </m:sub>
                          </m:sSub>
                        </m:e>
                      </m:func>
                      <m:r>
                        <a:rPr lang="en-US" altLang="zh-CN" sz="1400" b="0" i="1" smtClean="0">
                          <a:solidFill>
                            <a:schemeClr val="tx1"/>
                          </a:solidFill>
                          <a:latin typeface="Cambria Math" panose="02040503050406030204" pitchFamily="18" charset="0"/>
                        </a:rPr>
                        <m:t>=</m:t>
                      </m:r>
                      <m:d>
                        <m:dPr>
                          <m:begChr m:val="|"/>
                          <m:endChr m:val="|"/>
                          <m:ctrlPr>
                            <a:rPr lang="en-US" altLang="zh-CN" sz="1400" b="0" i="1" smtClean="0">
                              <a:solidFill>
                                <a:schemeClr val="tx1"/>
                              </a:solidFill>
                              <a:latin typeface="Cambria Math" panose="02040503050406030204" pitchFamily="18" charset="0"/>
                            </a:rPr>
                          </m:ctrlPr>
                        </m:dPr>
                        <m:e>
                          <m:r>
                            <a:rPr lang="en-US" altLang="zh-CN" sz="1400" b="1" i="1" smtClean="0">
                              <a:solidFill>
                                <a:schemeClr val="tx1"/>
                              </a:solidFill>
                              <a:latin typeface="Cambria Math" panose="02040503050406030204" pitchFamily="18" charset="0"/>
                            </a:rPr>
                            <m:t>𝒐</m:t>
                          </m:r>
                          <m:r>
                            <a:rPr lang="en-US" altLang="zh-CN" sz="1400" b="0" i="1" smtClean="0">
                              <a:solidFill>
                                <a:schemeClr val="tx1"/>
                              </a:solidFill>
                              <a:latin typeface="Cambria Math" panose="02040503050406030204" pitchFamily="18" charset="0"/>
                            </a:rPr>
                            <m:t>⋅</m:t>
                          </m:r>
                          <m:r>
                            <a:rPr lang="en-US" altLang="zh-CN" sz="1400" b="1" i="1" smtClean="0">
                              <a:solidFill>
                                <a:schemeClr val="tx1"/>
                              </a:solidFill>
                              <a:latin typeface="Cambria Math" panose="02040503050406030204" pitchFamily="18" charset="0"/>
                            </a:rPr>
                            <m:t>𝒎</m:t>
                          </m:r>
                        </m:e>
                      </m:d>
                    </m:oMath>
                  </m:oMathPara>
                </a14:m>
                <a:endParaRPr lang="en-US" altLang="zh-CN" sz="1400" dirty="0">
                  <a:solidFill>
                    <a:schemeClr val="tx1"/>
                  </a:solidFill>
                </a:endParaRPr>
              </a:p>
              <a:p>
                <a:pPr>
                  <a:lnSpc>
                    <a:spcPct val="140000"/>
                  </a:lnSpc>
                </a:pPr>
                <a14:m>
                  <m:oMathPara xmlns:m="http://schemas.openxmlformats.org/officeDocument/2006/math">
                    <m:oMathParaPr>
                      <m:jc m:val="centerGroup"/>
                    </m:oMathParaPr>
                    <m:oMath xmlns:m="http://schemas.openxmlformats.org/officeDocument/2006/math">
                      <m:d>
                        <m:dPr>
                          <m:begChr m:val="|"/>
                          <m:endChr m:val="|"/>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det</m:t>
                              </m:r>
                            </m:fName>
                            <m:e>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𝑖</m:t>
                                          </m:r>
                                        </m:sub>
                                      </m:sSub>
                                    </m:den>
                                  </m:f>
                                  <m:r>
                                    <a:rPr lang="en-US" altLang="zh-CN" sz="1400" i="1" dirty="0">
                                      <a:solidFill>
                                        <a:schemeClr val="tx1"/>
                                      </a:solidFill>
                                      <a:latin typeface="Cambria Math" panose="02040503050406030204" pitchFamily="18" charset="0"/>
                                    </a:rPr>
                                    <m:t> </m:t>
                                  </m:r>
                                </m:e>
                              </m:d>
                            </m:e>
                          </m:func>
                        </m:e>
                      </m:d>
                      <m:r>
                        <a:rPr lang="en-US" altLang="zh-CN" sz="1400" b="0" i="1" smtClean="0">
                          <a:solidFill>
                            <a:schemeClr val="tx1"/>
                          </a:solidFill>
                          <a:latin typeface="Cambria Math" panose="02040503050406030204" pitchFamily="18" charset="0"/>
                        </a:rPr>
                        <m:t>=</m:t>
                      </m:r>
                      <m:f>
                        <m:fPr>
                          <m:ctrlPr>
                            <a:rPr lang="en-US" altLang="zh-CN" sz="1400" i="1">
                              <a:solidFill>
                                <a:schemeClr val="tx1"/>
                              </a:solidFill>
                              <a:latin typeface="Cambria Math" panose="02040503050406030204" pitchFamily="18" charset="0"/>
                            </a:rPr>
                          </m:ctrlPr>
                        </m:fPr>
                        <m:num>
                          <m:sSubSup>
                            <m:sSubSupPr>
                              <m:ctrlPr>
                                <a:rPr lang="en-US" altLang="zh-CN" sz="1400" b="0" i="1" smtClean="0">
                                  <a:solidFill>
                                    <a:schemeClr val="tx1"/>
                                  </a:solidFill>
                                  <a:latin typeface="Cambria Math" panose="02040503050406030204" pitchFamily="18" charset="0"/>
                                </a:rPr>
                              </m:ctrlPr>
                            </m:sSubSup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up>
                              <m:r>
                                <a:rPr lang="en-US" altLang="zh-CN" sz="1400" b="0" i="1" smtClean="0">
                                  <a:solidFill>
                                    <a:schemeClr val="tx1"/>
                                  </a:solidFill>
                                  <a:latin typeface="Cambria Math" panose="02040503050406030204" pitchFamily="18" charset="0"/>
                                </a:rPr>
                                <m:t>2</m:t>
                              </m:r>
                            </m:sup>
                          </m:sSubSup>
                          <m:d>
                            <m:dPr>
                              <m:begChr m:val="|"/>
                              <m:endChr m:val="|"/>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𝒎</m:t>
                              </m:r>
                            </m:e>
                          </m:d>
                        </m:num>
                        <m:den>
                          <m:sSup>
                            <m:sSupPr>
                              <m:ctrlPr>
                                <a:rPr lang="en-US" altLang="zh-CN" sz="1400" b="0" i="1" smtClean="0">
                                  <a:solidFill>
                                    <a:schemeClr val="tx1"/>
                                  </a:solidFill>
                                  <a:latin typeface="Cambria Math" panose="02040503050406030204" pitchFamily="18" charset="0"/>
                                </a:rPr>
                              </m:ctrlPr>
                            </m:sSupPr>
                            <m:e>
                              <m:d>
                                <m:dPr>
                                  <m:ctrlPr>
                                    <a:rPr lang="en-US" altLang="zh-CN" sz="1400" b="0" i="1" smtClean="0">
                                      <a:solidFill>
                                        <a:schemeClr val="tx1"/>
                                      </a:solidFill>
                                      <a:latin typeface="Cambria Math" panose="02040503050406030204" pitchFamily="18" charset="0"/>
                                    </a:rPr>
                                  </m:ctrlPr>
                                </m:dPr>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𝑜</m:t>
                                      </m:r>
                                    </m:sub>
                                  </m:sSub>
                                  <m:d>
                                    <m:dPr>
                                      <m:begChr m:val="|"/>
                                      <m:endChr m:val="|"/>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𝒐</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𝒎</m:t>
                                      </m:r>
                                    </m:e>
                                  </m:d>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Sub>
                                  <m:d>
                                    <m:dPr>
                                      <m:begChr m:val="|"/>
                                      <m:endChr m:val="|"/>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𝒎</m:t>
                                      </m:r>
                                    </m:e>
                                  </m:d>
                                </m:e>
                              </m:d>
                            </m:e>
                            <m:sup>
                              <m:r>
                                <a:rPr lang="en-US" altLang="zh-CN" sz="1400" b="0" i="1" smtClean="0">
                                  <a:solidFill>
                                    <a:schemeClr val="tx1"/>
                                  </a:solidFill>
                                  <a:latin typeface="Cambria Math" panose="02040503050406030204" pitchFamily="18" charset="0"/>
                                </a:rPr>
                                <m:t>2</m:t>
                              </m:r>
                            </m:sup>
                          </m:sSup>
                        </m:den>
                      </m:f>
                    </m:oMath>
                  </m:oMathPara>
                </a14:m>
                <a:endParaRPr lang="en-US" altLang="zh-CN" sz="1400" dirty="0">
                  <a:solidFill>
                    <a:schemeClr val="tx1"/>
                  </a:solidFill>
                </a:endParaRPr>
              </a:p>
            </p:txBody>
          </p:sp>
        </mc:Choice>
        <mc:Fallback xmlns="">
          <p:sp>
            <p:nvSpPr>
              <p:cNvPr id="6" name="矩形 5">
                <a:extLst>
                  <a:ext uri="{FF2B5EF4-FFF2-40B4-BE49-F238E27FC236}">
                    <a16:creationId xmlns:a16="http://schemas.microsoft.com/office/drawing/2014/main" id="{00BBA1D8-8A94-034A-6ADE-A48AE0B24E1B}"/>
                  </a:ext>
                </a:extLst>
              </p:cNvPr>
              <p:cNvSpPr>
                <a:spLocks noRot="1" noChangeAspect="1" noMove="1" noResize="1" noEditPoints="1" noAdjustHandles="1" noChangeArrowheads="1" noChangeShapeType="1" noTextEdit="1"/>
              </p:cNvSpPr>
              <p:nvPr/>
            </p:nvSpPr>
            <p:spPr>
              <a:xfrm>
                <a:off x="478709" y="1144044"/>
                <a:ext cx="6816453" cy="5402806"/>
              </a:xfrm>
              <a:prstGeom prst="rect">
                <a:avLst/>
              </a:prstGeom>
              <a:blipFill>
                <a:blip r:embed="rId2"/>
                <a:stretch>
                  <a:fillRect/>
                </a:stretch>
              </a:blipFill>
            </p:spPr>
            <p:txBody>
              <a:bodyPr/>
              <a:lstStyle/>
              <a:p>
                <a:r>
                  <a:rPr lang="zh-CN" altLang="en-US">
                    <a:noFill/>
                  </a:rPr>
                  <a:t> </a:t>
                </a:r>
              </a:p>
            </p:txBody>
          </p:sp>
        </mc:Fallback>
      </mc:AlternateContent>
      <p:sp>
        <p:nvSpPr>
          <p:cNvPr id="7" name="矩形 6">
            <a:extLst>
              <a:ext uri="{FF2B5EF4-FFF2-40B4-BE49-F238E27FC236}">
                <a16:creationId xmlns:a16="http://schemas.microsoft.com/office/drawing/2014/main" id="{4A95D3C6-F83D-3C3F-3F43-F7450FE0918D}"/>
              </a:ext>
            </a:extLst>
          </p:cNvPr>
          <p:cNvSpPr/>
          <p:nvPr/>
        </p:nvSpPr>
        <p:spPr>
          <a:xfrm>
            <a:off x="7759478" y="3915798"/>
            <a:ext cx="4320195" cy="280224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矩形 7">
            <a:extLst>
              <a:ext uri="{FF2B5EF4-FFF2-40B4-BE49-F238E27FC236}">
                <a16:creationId xmlns:a16="http://schemas.microsoft.com/office/drawing/2014/main" id="{30070155-1459-45FD-442F-EBDFFDC5CEB5}"/>
              </a:ext>
            </a:extLst>
          </p:cNvPr>
          <p:cNvSpPr/>
          <p:nvPr/>
        </p:nvSpPr>
        <p:spPr>
          <a:xfrm>
            <a:off x="7626128" y="3744348"/>
            <a:ext cx="4320195" cy="280224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9" name="矩形 118">
            <a:extLst>
              <a:ext uri="{FF2B5EF4-FFF2-40B4-BE49-F238E27FC236}">
                <a16:creationId xmlns:a16="http://schemas.microsoft.com/office/drawing/2014/main" id="{2C8D5AF1-679F-4129-7E73-2C4582280A85}"/>
              </a:ext>
            </a:extLst>
          </p:cNvPr>
          <p:cNvSpPr/>
          <p:nvPr/>
        </p:nvSpPr>
        <p:spPr>
          <a:xfrm>
            <a:off x="7759478" y="1313069"/>
            <a:ext cx="4320195" cy="2137201"/>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0" name="矩形 119">
            <a:extLst>
              <a:ext uri="{FF2B5EF4-FFF2-40B4-BE49-F238E27FC236}">
                <a16:creationId xmlns:a16="http://schemas.microsoft.com/office/drawing/2014/main" id="{33F0B5B2-42C8-0101-02F8-34CB9D6BF105}"/>
              </a:ext>
            </a:extLst>
          </p:cNvPr>
          <p:cNvSpPr/>
          <p:nvPr/>
        </p:nvSpPr>
        <p:spPr>
          <a:xfrm>
            <a:off x="7626128" y="1141619"/>
            <a:ext cx="4320195" cy="2137201"/>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78" name="组合 177">
            <a:extLst>
              <a:ext uri="{FF2B5EF4-FFF2-40B4-BE49-F238E27FC236}">
                <a16:creationId xmlns:a16="http://schemas.microsoft.com/office/drawing/2014/main" id="{9F4A6357-E95D-BA94-C444-AFC7CC4873DE}"/>
              </a:ext>
            </a:extLst>
          </p:cNvPr>
          <p:cNvGrpSpPr/>
          <p:nvPr/>
        </p:nvGrpSpPr>
        <p:grpSpPr>
          <a:xfrm>
            <a:off x="7824360" y="1093168"/>
            <a:ext cx="3653178" cy="2107835"/>
            <a:chOff x="7911586" y="1389708"/>
            <a:chExt cx="3653178" cy="2514657"/>
          </a:xfrm>
        </p:grpSpPr>
        <p:sp>
          <p:nvSpPr>
            <p:cNvPr id="143" name="矩形 142">
              <a:extLst>
                <a:ext uri="{FF2B5EF4-FFF2-40B4-BE49-F238E27FC236}">
                  <a16:creationId xmlns:a16="http://schemas.microsoft.com/office/drawing/2014/main" id="{5F635EAA-5DB3-DF2F-8305-3D5F74487235}"/>
                </a:ext>
              </a:extLst>
            </p:cNvPr>
            <p:cNvSpPr/>
            <p:nvPr/>
          </p:nvSpPr>
          <p:spPr>
            <a:xfrm>
              <a:off x="8233474" y="2856786"/>
              <a:ext cx="3331290" cy="47056"/>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5" name="直接箭头连接符 144">
              <a:extLst>
                <a:ext uri="{FF2B5EF4-FFF2-40B4-BE49-F238E27FC236}">
                  <a16:creationId xmlns:a16="http://schemas.microsoft.com/office/drawing/2014/main" id="{2BDFF77B-7C35-BD25-BEEE-CF60DD6D9F21}"/>
                </a:ext>
              </a:extLst>
            </p:cNvPr>
            <p:cNvCxnSpPr>
              <a:cxnSpLocks/>
              <a:stCxn id="143" idx="0"/>
            </p:cNvCxnSpPr>
            <p:nvPr/>
          </p:nvCxnSpPr>
          <p:spPr>
            <a:xfrm flipV="1">
              <a:off x="9899119" y="1777965"/>
              <a:ext cx="0" cy="10788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6" name="直接箭头连接符 145">
              <a:extLst>
                <a:ext uri="{FF2B5EF4-FFF2-40B4-BE49-F238E27FC236}">
                  <a16:creationId xmlns:a16="http://schemas.microsoft.com/office/drawing/2014/main" id="{B0481D20-BF05-25A4-50E4-273ABD69E828}"/>
                </a:ext>
              </a:extLst>
            </p:cNvPr>
            <p:cNvCxnSpPr>
              <a:cxnSpLocks/>
            </p:cNvCxnSpPr>
            <p:nvPr/>
          </p:nvCxnSpPr>
          <p:spPr>
            <a:xfrm>
              <a:off x="9894991" y="2856785"/>
              <a:ext cx="682783" cy="875009"/>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48" name="直接箭头连接符 147">
              <a:extLst>
                <a:ext uri="{FF2B5EF4-FFF2-40B4-BE49-F238E27FC236}">
                  <a16:creationId xmlns:a16="http://schemas.microsoft.com/office/drawing/2014/main" id="{33D04495-572F-247B-B7A7-786C4923E925}"/>
                </a:ext>
              </a:extLst>
            </p:cNvPr>
            <p:cNvCxnSpPr>
              <a:cxnSpLocks/>
            </p:cNvCxnSpPr>
            <p:nvPr/>
          </p:nvCxnSpPr>
          <p:spPr>
            <a:xfrm flipH="1" flipV="1">
              <a:off x="9529757" y="1887374"/>
              <a:ext cx="759920" cy="2016991"/>
            </a:xfrm>
            <a:prstGeom prst="straightConnector1">
              <a:avLst/>
            </a:prstGeom>
            <a:ln w="28575">
              <a:solidFill>
                <a:srgbClr val="269703"/>
              </a:solidFill>
              <a:tailEnd type="triangle"/>
            </a:ln>
          </p:spPr>
          <p:style>
            <a:lnRef idx="1">
              <a:schemeClr val="accent1"/>
            </a:lnRef>
            <a:fillRef idx="0">
              <a:schemeClr val="accent1"/>
            </a:fillRef>
            <a:effectRef idx="0">
              <a:schemeClr val="accent1"/>
            </a:effectRef>
            <a:fontRef idx="minor">
              <a:schemeClr val="tx1"/>
            </a:fontRef>
          </p:style>
        </p:cxnSp>
        <p:cxnSp>
          <p:nvCxnSpPr>
            <p:cNvPr id="150" name="直接箭头连接符 149">
              <a:extLst>
                <a:ext uri="{FF2B5EF4-FFF2-40B4-BE49-F238E27FC236}">
                  <a16:creationId xmlns:a16="http://schemas.microsoft.com/office/drawing/2014/main" id="{57C3D301-D197-8B2F-8625-EF77564239D3}"/>
                </a:ext>
              </a:extLst>
            </p:cNvPr>
            <p:cNvCxnSpPr>
              <a:cxnSpLocks/>
            </p:cNvCxnSpPr>
            <p:nvPr/>
          </p:nvCxnSpPr>
          <p:spPr>
            <a:xfrm flipH="1" flipV="1">
              <a:off x="8860731" y="2203992"/>
              <a:ext cx="1030132" cy="648028"/>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5" name="文本框 154">
                  <a:extLst>
                    <a:ext uri="{FF2B5EF4-FFF2-40B4-BE49-F238E27FC236}">
                      <a16:creationId xmlns:a16="http://schemas.microsoft.com/office/drawing/2014/main" id="{F16B5F15-18F7-79E7-038D-4C397F9B004B}"/>
                    </a:ext>
                  </a:extLst>
                </p:cNvPr>
                <p:cNvSpPr txBox="1"/>
                <p:nvPr/>
              </p:nvSpPr>
              <p:spPr>
                <a:xfrm>
                  <a:off x="10503821" y="3291180"/>
                  <a:ext cx="392303" cy="4406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rgbClr val="00B0F0"/>
                            </a:solidFill>
                            <a:latin typeface="Cambria Math" panose="02040503050406030204" pitchFamily="18" charset="0"/>
                          </a:rPr>
                          <m:t>𝒊</m:t>
                        </m:r>
                      </m:oMath>
                    </m:oMathPara>
                  </a14:m>
                  <a:endParaRPr lang="zh-CN" altLang="en-US" b="1" dirty="0">
                    <a:solidFill>
                      <a:srgbClr val="00B0F0"/>
                    </a:solidFill>
                  </a:endParaRPr>
                </a:p>
              </p:txBody>
            </p:sp>
          </mc:Choice>
          <mc:Fallback xmlns="">
            <p:sp>
              <p:nvSpPr>
                <p:cNvPr id="155" name="文本框 154">
                  <a:extLst>
                    <a:ext uri="{FF2B5EF4-FFF2-40B4-BE49-F238E27FC236}">
                      <a16:creationId xmlns:a16="http://schemas.microsoft.com/office/drawing/2014/main" id="{F16B5F15-18F7-79E7-038D-4C397F9B004B}"/>
                    </a:ext>
                  </a:extLst>
                </p:cNvPr>
                <p:cNvSpPr txBox="1">
                  <a:spLocks noRot="1" noChangeAspect="1" noMove="1" noResize="1" noEditPoints="1" noAdjustHandles="1" noChangeArrowheads="1" noChangeShapeType="1" noTextEdit="1"/>
                </p:cNvSpPr>
                <p:nvPr/>
              </p:nvSpPr>
              <p:spPr>
                <a:xfrm>
                  <a:off x="10503821" y="3291180"/>
                  <a:ext cx="392303" cy="44061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6" name="文本框 155">
                  <a:extLst>
                    <a:ext uri="{FF2B5EF4-FFF2-40B4-BE49-F238E27FC236}">
                      <a16:creationId xmlns:a16="http://schemas.microsoft.com/office/drawing/2014/main" id="{02E69ABF-E4E7-1375-A9C2-F8635779A269}"/>
                    </a:ext>
                  </a:extLst>
                </p:cNvPr>
                <p:cNvSpPr txBox="1"/>
                <p:nvPr/>
              </p:nvSpPr>
              <p:spPr>
                <a:xfrm>
                  <a:off x="8440502" y="1889785"/>
                  <a:ext cx="441114" cy="4406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b="1" i="1">
                            <a:solidFill>
                              <a:schemeClr val="accent4">
                                <a:lumMod val="75000"/>
                              </a:schemeClr>
                            </a:solidFill>
                            <a:latin typeface="Cambria Math" panose="02040503050406030204" pitchFamily="18" charset="0"/>
                          </a:rPr>
                          <m:t>𝒐</m:t>
                        </m:r>
                      </m:oMath>
                    </m:oMathPara>
                  </a14:m>
                  <a:endParaRPr lang="zh-CN" altLang="en-US" b="1" dirty="0">
                    <a:solidFill>
                      <a:schemeClr val="accent4">
                        <a:lumMod val="75000"/>
                      </a:schemeClr>
                    </a:solidFill>
                  </a:endParaRPr>
                </a:p>
              </p:txBody>
            </p:sp>
          </mc:Choice>
          <mc:Fallback xmlns="">
            <p:sp>
              <p:nvSpPr>
                <p:cNvPr id="156" name="文本框 155">
                  <a:extLst>
                    <a:ext uri="{FF2B5EF4-FFF2-40B4-BE49-F238E27FC236}">
                      <a16:creationId xmlns:a16="http://schemas.microsoft.com/office/drawing/2014/main" id="{02E69ABF-E4E7-1375-A9C2-F8635779A269}"/>
                    </a:ext>
                  </a:extLst>
                </p:cNvPr>
                <p:cNvSpPr txBox="1">
                  <a:spLocks noRot="1" noChangeAspect="1" noMove="1" noResize="1" noEditPoints="1" noAdjustHandles="1" noChangeArrowheads="1" noChangeShapeType="1" noTextEdit="1"/>
                </p:cNvSpPr>
                <p:nvPr/>
              </p:nvSpPr>
              <p:spPr>
                <a:xfrm>
                  <a:off x="8440502" y="1889785"/>
                  <a:ext cx="441114" cy="44061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8" name="文本框 157">
                  <a:extLst>
                    <a:ext uri="{FF2B5EF4-FFF2-40B4-BE49-F238E27FC236}">
                      <a16:creationId xmlns:a16="http://schemas.microsoft.com/office/drawing/2014/main" id="{B7A5A373-9548-C8C1-6CA5-147FD9D0D664}"/>
                    </a:ext>
                  </a:extLst>
                </p:cNvPr>
                <p:cNvSpPr txBox="1"/>
                <p:nvPr/>
              </p:nvSpPr>
              <p:spPr>
                <a:xfrm>
                  <a:off x="9070249" y="1566110"/>
                  <a:ext cx="552711" cy="4406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rgbClr val="269703"/>
                            </a:solidFill>
                            <a:latin typeface="Cambria Math" panose="02040503050406030204" pitchFamily="18" charset="0"/>
                          </a:rPr>
                          <m:t>𝒎</m:t>
                        </m:r>
                      </m:oMath>
                    </m:oMathPara>
                  </a14:m>
                  <a:endParaRPr lang="zh-CN" altLang="en-US" b="1" dirty="0">
                    <a:solidFill>
                      <a:srgbClr val="269703"/>
                    </a:solidFill>
                  </a:endParaRPr>
                </a:p>
              </p:txBody>
            </p:sp>
          </mc:Choice>
          <mc:Fallback xmlns="">
            <p:sp>
              <p:nvSpPr>
                <p:cNvPr id="158" name="文本框 157">
                  <a:extLst>
                    <a:ext uri="{FF2B5EF4-FFF2-40B4-BE49-F238E27FC236}">
                      <a16:creationId xmlns:a16="http://schemas.microsoft.com/office/drawing/2014/main" id="{B7A5A373-9548-C8C1-6CA5-147FD9D0D664}"/>
                    </a:ext>
                  </a:extLst>
                </p:cNvPr>
                <p:cNvSpPr txBox="1">
                  <a:spLocks noRot="1" noChangeAspect="1" noMove="1" noResize="1" noEditPoints="1" noAdjustHandles="1" noChangeArrowheads="1" noChangeShapeType="1" noTextEdit="1"/>
                </p:cNvSpPr>
                <p:nvPr/>
              </p:nvSpPr>
              <p:spPr>
                <a:xfrm>
                  <a:off x="9070249" y="1566110"/>
                  <a:ext cx="552711" cy="440615"/>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2" name="文本框 161">
                  <a:extLst>
                    <a:ext uri="{FF2B5EF4-FFF2-40B4-BE49-F238E27FC236}">
                      <a16:creationId xmlns:a16="http://schemas.microsoft.com/office/drawing/2014/main" id="{26729D9E-39F9-5626-17D0-B12F24A88278}"/>
                    </a:ext>
                  </a:extLst>
                </p:cNvPr>
                <p:cNvSpPr txBox="1"/>
                <p:nvPr/>
              </p:nvSpPr>
              <p:spPr>
                <a:xfrm>
                  <a:off x="9614047" y="1389708"/>
                  <a:ext cx="630869" cy="44061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𝒈</m:t>
                        </m:r>
                      </m:oMath>
                    </m:oMathPara>
                  </a14:m>
                  <a:endParaRPr lang="zh-CN" altLang="en-US" b="1" dirty="0">
                    <a:solidFill>
                      <a:schemeClr val="tx1"/>
                    </a:solidFill>
                  </a:endParaRPr>
                </a:p>
              </p:txBody>
            </p:sp>
          </mc:Choice>
          <mc:Fallback xmlns="">
            <p:sp>
              <p:nvSpPr>
                <p:cNvPr id="162" name="文本框 161">
                  <a:extLst>
                    <a:ext uri="{FF2B5EF4-FFF2-40B4-BE49-F238E27FC236}">
                      <a16:creationId xmlns:a16="http://schemas.microsoft.com/office/drawing/2014/main" id="{26729D9E-39F9-5626-17D0-B12F24A88278}"/>
                    </a:ext>
                  </a:extLst>
                </p:cNvPr>
                <p:cNvSpPr txBox="1">
                  <a:spLocks noRot="1" noChangeAspect="1" noMove="1" noResize="1" noEditPoints="1" noAdjustHandles="1" noChangeArrowheads="1" noChangeShapeType="1" noTextEdit="1"/>
                </p:cNvSpPr>
                <p:nvPr/>
              </p:nvSpPr>
              <p:spPr>
                <a:xfrm>
                  <a:off x="9614047" y="1389708"/>
                  <a:ext cx="630869" cy="440615"/>
                </a:xfrm>
                <a:prstGeom prst="rect">
                  <a:avLst/>
                </a:prstGeom>
                <a:blipFill>
                  <a:blip r:embed="rId6"/>
                  <a:stretch>
                    <a:fillRect b="-8197"/>
                  </a:stretch>
                </a:blipFill>
              </p:spPr>
              <p:txBody>
                <a:bodyPr/>
                <a:lstStyle/>
                <a:p>
                  <a:r>
                    <a:rPr lang="zh-CN" altLang="en-US">
                      <a:noFill/>
                    </a:rPr>
                    <a:t> </a:t>
                  </a:r>
                </a:p>
              </p:txBody>
            </p:sp>
          </mc:Fallback>
        </mc:AlternateContent>
        <p:sp>
          <p:nvSpPr>
            <p:cNvPr id="177" name="文本框 176">
              <a:extLst>
                <a:ext uri="{FF2B5EF4-FFF2-40B4-BE49-F238E27FC236}">
                  <a16:creationId xmlns:a16="http://schemas.microsoft.com/office/drawing/2014/main" id="{BDDEE493-44C9-6E28-9924-4A39E9D76750}"/>
                </a:ext>
              </a:extLst>
            </p:cNvPr>
            <p:cNvSpPr txBox="1"/>
            <p:nvPr/>
          </p:nvSpPr>
          <p:spPr>
            <a:xfrm>
              <a:off x="7911586" y="2975077"/>
              <a:ext cx="1779526" cy="369332"/>
            </a:xfrm>
            <a:prstGeom prst="rect">
              <a:avLst/>
            </a:prstGeom>
            <a:noFill/>
          </p:spPr>
          <p:txBody>
            <a:bodyPr wrap="none" rtlCol="0">
              <a:spAutoFit/>
            </a:bodyPr>
            <a:lstStyle/>
            <a:p>
              <a:r>
                <a:rPr lang="en-US" altLang="zh-CN" dirty="0"/>
                <a:t>Macro Surface</a:t>
              </a:r>
              <a:endParaRPr lang="zh-CN" altLang="en-US" dirty="0"/>
            </a:p>
          </p:txBody>
        </p:sp>
      </p:gr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BE3380C9-F1D0-4E75-7ED3-B46EF247C3F0}"/>
                  </a:ext>
                </a:extLst>
              </p:cNvPr>
              <p:cNvSpPr txBox="1"/>
              <p:nvPr/>
            </p:nvSpPr>
            <p:spPr>
              <a:xfrm>
                <a:off x="7664035" y="5229600"/>
                <a:ext cx="1222465"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smtClean="0">
                              <a:solidFill>
                                <a:schemeClr val="accent6">
                                  <a:lumMod val="60000"/>
                                  <a:lumOff val="40000"/>
                                </a:schemeClr>
                              </a:solidFill>
                              <a:latin typeface="Cambria Math" panose="02040503050406030204" pitchFamily="18" charset="0"/>
                            </a:rPr>
                          </m:ctrlPr>
                        </m:sSubPr>
                        <m:e>
                          <m:r>
                            <a:rPr lang="en-US" altLang="zh-CN" sz="1400" i="1">
                              <a:solidFill>
                                <a:schemeClr val="accent6">
                                  <a:lumMod val="60000"/>
                                  <a:lumOff val="40000"/>
                                </a:schemeClr>
                              </a:solidFill>
                              <a:latin typeface="Cambria Math" panose="02040503050406030204" pitchFamily="18" charset="0"/>
                            </a:rPr>
                            <m:t>𝜙</m:t>
                          </m:r>
                        </m:e>
                        <m:sub>
                          <m:r>
                            <a:rPr lang="en-US" altLang="zh-CN" sz="1400" b="0" i="1" smtClean="0">
                              <a:solidFill>
                                <a:schemeClr val="accent6">
                                  <a:lumMod val="60000"/>
                                  <a:lumOff val="40000"/>
                                </a:schemeClr>
                              </a:solidFill>
                              <a:latin typeface="Cambria Math" panose="02040503050406030204" pitchFamily="18" charset="0"/>
                            </a:rPr>
                            <m:t>𝑖</m:t>
                          </m:r>
                        </m:sub>
                      </m:sSub>
                      <m:r>
                        <a:rPr lang="en-US" altLang="zh-CN" sz="1400" b="0" i="1" smtClean="0">
                          <a:solidFill>
                            <a:schemeClr val="accent6">
                              <a:lumMod val="60000"/>
                              <a:lumOff val="40000"/>
                            </a:schemeClr>
                          </a:solidFill>
                          <a:latin typeface="Cambria Math" panose="02040503050406030204" pitchFamily="18" charset="0"/>
                        </a:rPr>
                        <m:t>=</m:t>
                      </m:r>
                      <m:sSub>
                        <m:sSubPr>
                          <m:ctrlPr>
                            <a:rPr lang="en-US" altLang="zh-CN" sz="1400" i="1">
                              <a:solidFill>
                                <a:schemeClr val="accent6">
                                  <a:lumMod val="60000"/>
                                  <a:lumOff val="40000"/>
                                </a:schemeClr>
                              </a:solidFill>
                              <a:latin typeface="Cambria Math" panose="02040503050406030204" pitchFamily="18" charset="0"/>
                            </a:rPr>
                          </m:ctrlPr>
                        </m:sSubPr>
                        <m:e>
                          <m:r>
                            <a:rPr lang="en-US" altLang="zh-CN" sz="1400" i="1">
                              <a:solidFill>
                                <a:schemeClr val="accent6">
                                  <a:lumMod val="60000"/>
                                  <a:lumOff val="40000"/>
                                </a:schemeClr>
                              </a:solidFill>
                              <a:latin typeface="Cambria Math" panose="02040503050406030204" pitchFamily="18" charset="0"/>
                            </a:rPr>
                            <m:t>𝜙</m:t>
                          </m:r>
                        </m:e>
                        <m:sub>
                          <m:r>
                            <m:rPr>
                              <m:sty m:val="p"/>
                            </m:rPr>
                            <a:rPr lang="en-US" altLang="zh-CN" sz="1400" i="1">
                              <a:solidFill>
                                <a:schemeClr val="accent6">
                                  <a:lumMod val="60000"/>
                                  <a:lumOff val="40000"/>
                                </a:schemeClr>
                              </a:solidFill>
                              <a:latin typeface="Cambria Math" panose="02040503050406030204" pitchFamily="18" charset="0"/>
                            </a:rPr>
                            <m:t>m</m:t>
                          </m:r>
                        </m:sub>
                      </m:sSub>
                      <m:r>
                        <a:rPr lang="en-US" altLang="zh-CN" sz="1400" b="0" i="1" smtClean="0">
                          <a:solidFill>
                            <a:schemeClr val="accent6">
                              <a:lumMod val="60000"/>
                              <a:lumOff val="40000"/>
                            </a:schemeClr>
                          </a:solidFill>
                          <a:latin typeface="Cambria Math" panose="02040503050406030204" pitchFamily="18" charset="0"/>
                        </a:rPr>
                        <m:t>+</m:t>
                      </m:r>
                      <m:r>
                        <a:rPr lang="en-US" altLang="zh-CN" sz="1400" b="0" i="1" smtClean="0">
                          <a:solidFill>
                            <a:schemeClr val="accent6">
                              <a:lumMod val="60000"/>
                              <a:lumOff val="40000"/>
                            </a:schemeClr>
                          </a:solidFill>
                          <a:latin typeface="Cambria Math" panose="02040503050406030204" pitchFamily="18" charset="0"/>
                        </a:rPr>
                        <m:t>𝜋</m:t>
                      </m:r>
                    </m:oMath>
                  </m:oMathPara>
                </a14:m>
                <a:endParaRPr lang="zh-CN" altLang="en-US" sz="1400" dirty="0">
                  <a:solidFill>
                    <a:srgbClr val="FFC000"/>
                  </a:solidFill>
                </a:endParaRPr>
              </a:p>
            </p:txBody>
          </p:sp>
        </mc:Choice>
        <mc:Fallback xmlns="">
          <p:sp>
            <p:nvSpPr>
              <p:cNvPr id="61" name="文本框 60">
                <a:extLst>
                  <a:ext uri="{FF2B5EF4-FFF2-40B4-BE49-F238E27FC236}">
                    <a16:creationId xmlns:a16="http://schemas.microsoft.com/office/drawing/2014/main" id="{BE3380C9-F1D0-4E75-7ED3-B46EF247C3F0}"/>
                  </a:ext>
                </a:extLst>
              </p:cNvPr>
              <p:cNvSpPr txBox="1">
                <a:spLocks noRot="1" noChangeAspect="1" noMove="1" noResize="1" noEditPoints="1" noAdjustHandles="1" noChangeArrowheads="1" noChangeShapeType="1" noTextEdit="1"/>
              </p:cNvSpPr>
              <p:nvPr/>
            </p:nvSpPr>
            <p:spPr>
              <a:xfrm>
                <a:off x="7664035" y="5229600"/>
                <a:ext cx="1222465" cy="307777"/>
              </a:xfrm>
              <a:prstGeom prst="rect">
                <a:avLst/>
              </a:prstGeom>
              <a:blipFill>
                <a:blip r:embed="rId13"/>
                <a:stretch>
                  <a:fillRect b="-10000"/>
                </a:stretch>
              </a:blipFill>
            </p:spPr>
            <p:txBody>
              <a:bodyPr/>
              <a:lstStyle/>
              <a:p>
                <a:r>
                  <a:rPr lang="zh-CN" altLang="en-US">
                    <a:noFill/>
                  </a:rPr>
                  <a:t> </a:t>
                </a:r>
              </a:p>
            </p:txBody>
          </p:sp>
        </mc:Fallback>
      </mc:AlternateContent>
      <p:grpSp>
        <p:nvGrpSpPr>
          <p:cNvPr id="2" name="组合 1">
            <a:extLst>
              <a:ext uri="{FF2B5EF4-FFF2-40B4-BE49-F238E27FC236}">
                <a16:creationId xmlns:a16="http://schemas.microsoft.com/office/drawing/2014/main" id="{29AADF09-9751-0569-160F-D785AD96E0A3}"/>
              </a:ext>
            </a:extLst>
          </p:cNvPr>
          <p:cNvGrpSpPr/>
          <p:nvPr/>
        </p:nvGrpSpPr>
        <p:grpSpPr>
          <a:xfrm>
            <a:off x="7918821" y="3720048"/>
            <a:ext cx="4026492" cy="2904435"/>
            <a:chOff x="7918821" y="3720048"/>
            <a:chExt cx="4026492" cy="2904435"/>
          </a:xfrm>
        </p:grpSpPr>
        <p:cxnSp>
          <p:nvCxnSpPr>
            <p:cNvPr id="65" name="直接连接符 64">
              <a:extLst>
                <a:ext uri="{FF2B5EF4-FFF2-40B4-BE49-F238E27FC236}">
                  <a16:creationId xmlns:a16="http://schemas.microsoft.com/office/drawing/2014/main" id="{6449AF6F-A385-2074-539C-B4D60C7486A3}"/>
                </a:ext>
              </a:extLst>
            </p:cNvPr>
            <p:cNvCxnSpPr>
              <a:cxnSpLocks/>
            </p:cNvCxnSpPr>
            <p:nvPr/>
          </p:nvCxnSpPr>
          <p:spPr>
            <a:xfrm>
              <a:off x="9704631" y="4292487"/>
              <a:ext cx="0" cy="1058108"/>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8" name="直接箭头连接符 167">
              <a:extLst>
                <a:ext uri="{FF2B5EF4-FFF2-40B4-BE49-F238E27FC236}">
                  <a16:creationId xmlns:a16="http://schemas.microsoft.com/office/drawing/2014/main" id="{E557E117-D4F7-D6FB-67C6-9038D060BCDA}"/>
                </a:ext>
              </a:extLst>
            </p:cNvPr>
            <p:cNvCxnSpPr>
              <a:cxnSpLocks/>
            </p:cNvCxnSpPr>
            <p:nvPr/>
          </p:nvCxnSpPr>
          <p:spPr>
            <a:xfrm flipV="1">
              <a:off x="8913480" y="4813658"/>
              <a:ext cx="791149" cy="7760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5648CD5A-E74C-FC12-2E44-BB1D9EA70763}"/>
                </a:ext>
              </a:extLst>
            </p:cNvPr>
            <p:cNvCxnSpPr>
              <a:cxnSpLocks/>
            </p:cNvCxnSpPr>
            <p:nvPr/>
          </p:nvCxnSpPr>
          <p:spPr>
            <a:xfrm>
              <a:off x="8054190" y="5590574"/>
              <a:ext cx="3794865" cy="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3C2CFC72-02D2-0A07-728F-B202A6FC8E35}"/>
                </a:ext>
              </a:extLst>
            </p:cNvPr>
            <p:cNvCxnSpPr>
              <a:cxnSpLocks/>
            </p:cNvCxnSpPr>
            <p:nvPr/>
          </p:nvCxnSpPr>
          <p:spPr>
            <a:xfrm flipV="1">
              <a:off x="8913480" y="4318039"/>
              <a:ext cx="1503115" cy="1273942"/>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E2CB0BF-BACF-760E-AEF8-AB8CBC0908E9}"/>
                </a:ext>
              </a:extLst>
            </p:cNvPr>
            <p:cNvCxnSpPr>
              <a:cxnSpLocks/>
            </p:cNvCxnSpPr>
            <p:nvPr/>
          </p:nvCxnSpPr>
          <p:spPr>
            <a:xfrm flipV="1">
              <a:off x="8919039" y="3814212"/>
              <a:ext cx="5559" cy="2556644"/>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764FB510-1FA1-F1A8-4A89-76DAC03E015D}"/>
                </a:ext>
              </a:extLst>
            </p:cNvPr>
            <p:cNvSpPr txBox="1"/>
            <p:nvPr/>
          </p:nvSpPr>
          <p:spPr>
            <a:xfrm>
              <a:off x="10416596" y="4187686"/>
              <a:ext cx="298480" cy="369332"/>
            </a:xfrm>
            <a:prstGeom prst="rect">
              <a:avLst/>
            </a:prstGeom>
            <a:noFill/>
          </p:spPr>
          <p:txBody>
            <a:bodyPr wrap="none" rtlCol="0">
              <a:spAutoFit/>
            </a:bodyPr>
            <a:lstStyle/>
            <a:p>
              <a:r>
                <a:rPr lang="en-US" altLang="zh-CN" dirty="0">
                  <a:solidFill>
                    <a:schemeClr val="tx1">
                      <a:lumMod val="50000"/>
                      <a:lumOff val="50000"/>
                    </a:schemeClr>
                  </a:solidFill>
                </a:rPr>
                <a:t>z</a:t>
              </a:r>
              <a:endParaRPr lang="zh-CN" altLang="en-US" dirty="0">
                <a:solidFill>
                  <a:schemeClr val="tx1">
                    <a:lumMod val="50000"/>
                    <a:lumOff val="50000"/>
                  </a:schemeClr>
                </a:solidFill>
              </a:endParaRPr>
            </a:p>
          </p:txBody>
        </p:sp>
        <p:sp>
          <p:nvSpPr>
            <p:cNvPr id="51" name="文本框 50">
              <a:extLst>
                <a:ext uri="{FF2B5EF4-FFF2-40B4-BE49-F238E27FC236}">
                  <a16:creationId xmlns:a16="http://schemas.microsoft.com/office/drawing/2014/main" id="{2978A012-7FB6-304E-3300-D288AA44DE5D}"/>
                </a:ext>
              </a:extLst>
            </p:cNvPr>
            <p:cNvSpPr txBox="1"/>
            <p:nvPr/>
          </p:nvSpPr>
          <p:spPr>
            <a:xfrm>
              <a:off x="8652835" y="3720048"/>
              <a:ext cx="261915" cy="369332"/>
            </a:xfrm>
            <a:prstGeom prst="rect">
              <a:avLst/>
            </a:prstGeom>
            <a:noFill/>
          </p:spPr>
          <p:txBody>
            <a:bodyPr wrap="square" rtlCol="0">
              <a:spAutoFit/>
            </a:bodyPr>
            <a:lstStyle/>
            <a:p>
              <a:r>
                <a:rPr lang="en-US" altLang="zh-CN" dirty="0">
                  <a:solidFill>
                    <a:schemeClr val="tx1">
                      <a:lumMod val="50000"/>
                      <a:lumOff val="50000"/>
                    </a:schemeClr>
                  </a:solidFill>
                </a:rPr>
                <a:t>y</a:t>
              </a:r>
              <a:endParaRPr lang="zh-CN" altLang="en-US" dirty="0">
                <a:solidFill>
                  <a:schemeClr val="tx1">
                    <a:lumMod val="50000"/>
                    <a:lumOff val="50000"/>
                  </a:schemeClr>
                </a:solidFill>
              </a:endParaRPr>
            </a:p>
          </p:txBody>
        </p:sp>
        <p:sp>
          <p:nvSpPr>
            <p:cNvPr id="52" name="文本框 51">
              <a:extLst>
                <a:ext uri="{FF2B5EF4-FFF2-40B4-BE49-F238E27FC236}">
                  <a16:creationId xmlns:a16="http://schemas.microsoft.com/office/drawing/2014/main" id="{7A591D46-06DF-0B49-2A8C-518D17D9B4B6}"/>
                </a:ext>
              </a:extLst>
            </p:cNvPr>
            <p:cNvSpPr txBox="1"/>
            <p:nvPr/>
          </p:nvSpPr>
          <p:spPr>
            <a:xfrm>
              <a:off x="11643627" y="5590574"/>
              <a:ext cx="301686" cy="369332"/>
            </a:xfrm>
            <a:prstGeom prst="rect">
              <a:avLst/>
            </a:prstGeom>
            <a:noFill/>
          </p:spPr>
          <p:txBody>
            <a:bodyPr wrap="none" rtlCol="0">
              <a:spAutoFit/>
            </a:bodyPr>
            <a:lstStyle/>
            <a:p>
              <a:r>
                <a:rPr lang="en-US" altLang="zh-CN" dirty="0">
                  <a:solidFill>
                    <a:schemeClr val="tx1">
                      <a:lumMod val="50000"/>
                      <a:lumOff val="50000"/>
                    </a:schemeClr>
                  </a:solidFill>
                </a:rPr>
                <a:t>x</a:t>
              </a:r>
              <a:endParaRPr lang="zh-CN" altLang="en-US" dirty="0">
                <a:solidFill>
                  <a:schemeClr val="tx1">
                    <a:lumMod val="50000"/>
                    <a:lumOff val="50000"/>
                  </a:schemeClr>
                </a:solidFill>
              </a:endParaRPr>
            </a:p>
          </p:txBody>
        </p:sp>
        <p:cxnSp>
          <p:nvCxnSpPr>
            <p:cNvPr id="54" name="直接箭头连接符 53">
              <a:extLst>
                <a:ext uri="{FF2B5EF4-FFF2-40B4-BE49-F238E27FC236}">
                  <a16:creationId xmlns:a16="http://schemas.microsoft.com/office/drawing/2014/main" id="{BC2A04FF-5CB9-7D32-03AA-CD6466798435}"/>
                </a:ext>
              </a:extLst>
            </p:cNvPr>
            <p:cNvCxnSpPr>
              <a:cxnSpLocks/>
            </p:cNvCxnSpPr>
            <p:nvPr/>
          </p:nvCxnSpPr>
          <p:spPr>
            <a:xfrm flipV="1">
              <a:off x="8915136" y="4318039"/>
              <a:ext cx="0" cy="1272536"/>
            </a:xfrm>
            <a:prstGeom prst="straightConnector1">
              <a:avLst/>
            </a:prstGeom>
            <a:ln w="28575">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2F993D90-7581-D1CF-6A88-5A42E249B8AA}"/>
                </a:ext>
              </a:extLst>
            </p:cNvPr>
            <p:cNvCxnSpPr>
              <a:cxnSpLocks/>
            </p:cNvCxnSpPr>
            <p:nvPr/>
          </p:nvCxnSpPr>
          <p:spPr>
            <a:xfrm flipV="1">
              <a:off x="8543285" y="5357773"/>
              <a:ext cx="1161344" cy="342449"/>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5" name="直接连接符 74">
              <a:extLst>
                <a:ext uri="{FF2B5EF4-FFF2-40B4-BE49-F238E27FC236}">
                  <a16:creationId xmlns:a16="http://schemas.microsoft.com/office/drawing/2014/main" id="{4278BA95-C081-4122-ABCB-DBA85BB8ED70}"/>
                </a:ext>
              </a:extLst>
            </p:cNvPr>
            <p:cNvCxnSpPr>
              <a:cxnSpLocks/>
            </p:cNvCxnSpPr>
            <p:nvPr/>
          </p:nvCxnSpPr>
          <p:spPr>
            <a:xfrm>
              <a:off x="8753128" y="5658997"/>
              <a:ext cx="1" cy="826437"/>
            </a:xfrm>
            <a:prstGeom prst="line">
              <a:avLst/>
            </a:prstGeom>
            <a:ln w="12700">
              <a:solidFill>
                <a:schemeClr val="accent6">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41F1D79C-4D6F-BE33-A395-2AFE546E8DFF}"/>
                </a:ext>
              </a:extLst>
            </p:cNvPr>
            <p:cNvCxnSpPr>
              <a:cxnSpLocks/>
            </p:cNvCxnSpPr>
            <p:nvPr/>
          </p:nvCxnSpPr>
          <p:spPr>
            <a:xfrm flipH="1">
              <a:off x="8764247" y="5584250"/>
              <a:ext cx="160351" cy="939285"/>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F7604E3F-FDBC-C8F8-B1AE-D4E973ACC02C}"/>
                </a:ext>
              </a:extLst>
            </p:cNvPr>
            <p:cNvCxnSpPr>
              <a:cxnSpLocks/>
            </p:cNvCxnSpPr>
            <p:nvPr/>
          </p:nvCxnSpPr>
          <p:spPr>
            <a:xfrm flipV="1">
              <a:off x="8412108" y="4225148"/>
              <a:ext cx="1292521" cy="2235413"/>
            </a:xfrm>
            <a:prstGeom prst="straightConnector1">
              <a:avLst/>
            </a:prstGeom>
            <a:ln w="28575">
              <a:solidFill>
                <a:srgbClr val="269703"/>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7" name="文本框 96">
                  <a:extLst>
                    <a:ext uri="{FF2B5EF4-FFF2-40B4-BE49-F238E27FC236}">
                      <a16:creationId xmlns:a16="http://schemas.microsoft.com/office/drawing/2014/main" id="{428E75CF-328E-55A7-F8B1-AF67015CC962}"/>
                    </a:ext>
                  </a:extLst>
                </p:cNvPr>
                <p:cNvSpPr txBox="1"/>
                <p:nvPr/>
              </p:nvSpPr>
              <p:spPr>
                <a:xfrm>
                  <a:off x="9602908" y="3847376"/>
                  <a:ext cx="685626" cy="3715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rgbClr val="269703"/>
                            </a:solidFill>
                            <a:latin typeface="Cambria Math" panose="02040503050406030204" pitchFamily="18" charset="0"/>
                          </a:rPr>
                          <m:t>𝒎</m:t>
                        </m:r>
                      </m:oMath>
                    </m:oMathPara>
                  </a14:m>
                  <a:endParaRPr lang="zh-CN" altLang="en-US" b="1" dirty="0">
                    <a:solidFill>
                      <a:srgbClr val="269703"/>
                    </a:solidFill>
                  </a:endParaRPr>
                </a:p>
              </p:txBody>
            </p:sp>
          </mc:Choice>
          <mc:Fallback xmlns="">
            <p:sp>
              <p:nvSpPr>
                <p:cNvPr id="97" name="文本框 96">
                  <a:extLst>
                    <a:ext uri="{FF2B5EF4-FFF2-40B4-BE49-F238E27FC236}">
                      <a16:creationId xmlns:a16="http://schemas.microsoft.com/office/drawing/2014/main" id="{428E75CF-328E-55A7-F8B1-AF67015CC962}"/>
                    </a:ext>
                  </a:extLst>
                </p:cNvPr>
                <p:cNvSpPr txBox="1">
                  <a:spLocks noRot="1" noChangeAspect="1" noMove="1" noResize="1" noEditPoints="1" noAdjustHandles="1" noChangeArrowheads="1" noChangeShapeType="1" noTextEdit="1"/>
                </p:cNvSpPr>
                <p:nvPr/>
              </p:nvSpPr>
              <p:spPr>
                <a:xfrm>
                  <a:off x="9602908" y="3847376"/>
                  <a:ext cx="685626" cy="371508"/>
                </a:xfrm>
                <a:prstGeom prst="rect">
                  <a:avLst/>
                </a:prstGeom>
                <a:blipFill>
                  <a:blip r:embed="rId1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8" name="文本框 97">
                  <a:extLst>
                    <a:ext uri="{FF2B5EF4-FFF2-40B4-BE49-F238E27FC236}">
                      <a16:creationId xmlns:a16="http://schemas.microsoft.com/office/drawing/2014/main" id="{143CE085-F08A-F219-5F11-3285A65CAC4A}"/>
                    </a:ext>
                  </a:extLst>
                </p:cNvPr>
                <p:cNvSpPr txBox="1"/>
                <p:nvPr/>
              </p:nvSpPr>
              <p:spPr>
                <a:xfrm>
                  <a:off x="8640210" y="6252975"/>
                  <a:ext cx="685626" cy="3715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rgbClr val="00B0F0"/>
                            </a:solidFill>
                            <a:latin typeface="Cambria Math" panose="02040503050406030204" pitchFamily="18" charset="0"/>
                          </a:rPr>
                          <m:t>𝒊</m:t>
                        </m:r>
                      </m:oMath>
                    </m:oMathPara>
                  </a14:m>
                  <a:endParaRPr lang="zh-CN" altLang="en-US" b="1" dirty="0">
                    <a:solidFill>
                      <a:srgbClr val="00B0F0"/>
                    </a:solidFill>
                  </a:endParaRPr>
                </a:p>
              </p:txBody>
            </p:sp>
          </mc:Choice>
          <mc:Fallback xmlns="">
            <p:sp>
              <p:nvSpPr>
                <p:cNvPr id="98" name="文本框 97">
                  <a:extLst>
                    <a:ext uri="{FF2B5EF4-FFF2-40B4-BE49-F238E27FC236}">
                      <a16:creationId xmlns:a16="http://schemas.microsoft.com/office/drawing/2014/main" id="{143CE085-F08A-F219-5F11-3285A65CAC4A}"/>
                    </a:ext>
                  </a:extLst>
                </p:cNvPr>
                <p:cNvSpPr txBox="1">
                  <a:spLocks noRot="1" noChangeAspect="1" noMove="1" noResize="1" noEditPoints="1" noAdjustHandles="1" noChangeArrowheads="1" noChangeShapeType="1" noTextEdit="1"/>
                </p:cNvSpPr>
                <p:nvPr/>
              </p:nvSpPr>
              <p:spPr>
                <a:xfrm>
                  <a:off x="8640210" y="6252975"/>
                  <a:ext cx="685626" cy="371508"/>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9" name="文本框 98">
                  <a:extLst>
                    <a:ext uri="{FF2B5EF4-FFF2-40B4-BE49-F238E27FC236}">
                      <a16:creationId xmlns:a16="http://schemas.microsoft.com/office/drawing/2014/main" id="{E9AAFE5E-C7F1-05E1-815F-B0CD1AEC8D3F}"/>
                    </a:ext>
                  </a:extLst>
                </p:cNvPr>
                <p:cNvSpPr txBox="1"/>
                <p:nvPr/>
              </p:nvSpPr>
              <p:spPr>
                <a:xfrm>
                  <a:off x="8483372" y="4045294"/>
                  <a:ext cx="484248" cy="371508"/>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accent4">
                                <a:lumMod val="75000"/>
                              </a:schemeClr>
                            </a:solidFill>
                            <a:latin typeface="Cambria Math" panose="02040503050406030204" pitchFamily="18" charset="0"/>
                          </a:rPr>
                          <m:t>𝒐</m:t>
                        </m:r>
                      </m:oMath>
                    </m:oMathPara>
                  </a14:m>
                  <a:endParaRPr lang="zh-CN" altLang="en-US" b="1" dirty="0">
                    <a:solidFill>
                      <a:schemeClr val="accent4">
                        <a:lumMod val="75000"/>
                      </a:schemeClr>
                    </a:solidFill>
                  </a:endParaRPr>
                </a:p>
              </p:txBody>
            </p:sp>
          </mc:Choice>
          <mc:Fallback xmlns="">
            <p:sp>
              <p:nvSpPr>
                <p:cNvPr id="99" name="文本框 98">
                  <a:extLst>
                    <a:ext uri="{FF2B5EF4-FFF2-40B4-BE49-F238E27FC236}">
                      <a16:creationId xmlns:a16="http://schemas.microsoft.com/office/drawing/2014/main" id="{E9AAFE5E-C7F1-05E1-815F-B0CD1AEC8D3F}"/>
                    </a:ext>
                  </a:extLst>
                </p:cNvPr>
                <p:cNvSpPr txBox="1">
                  <a:spLocks noRot="1" noChangeAspect="1" noMove="1" noResize="1" noEditPoints="1" noAdjustHandles="1" noChangeArrowheads="1" noChangeShapeType="1" noTextEdit="1"/>
                </p:cNvSpPr>
                <p:nvPr/>
              </p:nvSpPr>
              <p:spPr>
                <a:xfrm>
                  <a:off x="8483372" y="4045294"/>
                  <a:ext cx="484248" cy="371508"/>
                </a:xfrm>
                <a:prstGeom prst="rect">
                  <a:avLst/>
                </a:prstGeom>
                <a:blipFill>
                  <a:blip r:embed="rId16"/>
                  <a:stretch>
                    <a:fillRect/>
                  </a:stretch>
                </a:blipFill>
              </p:spPr>
              <p:txBody>
                <a:bodyPr/>
                <a:lstStyle/>
                <a:p>
                  <a:r>
                    <a:rPr lang="zh-CN" altLang="en-US">
                      <a:noFill/>
                    </a:rPr>
                    <a:t> </a:t>
                  </a:r>
                </a:p>
              </p:txBody>
            </p:sp>
          </mc:Fallback>
        </mc:AlternateContent>
        <p:sp>
          <p:nvSpPr>
            <p:cNvPr id="100" name="任意多边形: 形状 99">
              <a:extLst>
                <a:ext uri="{FF2B5EF4-FFF2-40B4-BE49-F238E27FC236}">
                  <a16:creationId xmlns:a16="http://schemas.microsoft.com/office/drawing/2014/main" id="{11B47E12-9ED7-BF55-DE19-A24FFDCEBB35}"/>
                </a:ext>
              </a:extLst>
            </p:cNvPr>
            <p:cNvSpPr/>
            <p:nvPr/>
          </p:nvSpPr>
          <p:spPr>
            <a:xfrm>
              <a:off x="9457203" y="5433801"/>
              <a:ext cx="45719" cy="163852"/>
            </a:xfrm>
            <a:custGeom>
              <a:avLst/>
              <a:gdLst>
                <a:gd name="connsiteX0" fmla="*/ 0 w 59453"/>
                <a:gd name="connsiteY0" fmla="*/ 0 h 148167"/>
                <a:gd name="connsiteX1" fmla="*/ 57150 w 59453"/>
                <a:gd name="connsiteY1" fmla="*/ 63500 h 148167"/>
                <a:gd name="connsiteX2" fmla="*/ 48683 w 59453"/>
                <a:gd name="connsiteY2" fmla="*/ 148167 h 148167"/>
              </a:gdLst>
              <a:ahLst/>
              <a:cxnLst>
                <a:cxn ang="0">
                  <a:pos x="connsiteX0" y="connsiteY0"/>
                </a:cxn>
                <a:cxn ang="0">
                  <a:pos x="connsiteX1" y="connsiteY1"/>
                </a:cxn>
                <a:cxn ang="0">
                  <a:pos x="connsiteX2" y="connsiteY2"/>
                </a:cxn>
              </a:cxnLst>
              <a:rect l="l" t="t" r="r" b="b"/>
              <a:pathLst>
                <a:path w="59453" h="148167">
                  <a:moveTo>
                    <a:pt x="0" y="0"/>
                  </a:moveTo>
                  <a:cubicBezTo>
                    <a:pt x="24518" y="19402"/>
                    <a:pt x="49036" y="38805"/>
                    <a:pt x="57150" y="63500"/>
                  </a:cubicBezTo>
                  <a:cubicBezTo>
                    <a:pt x="65264" y="88195"/>
                    <a:pt x="49388" y="135114"/>
                    <a:pt x="48683" y="148167"/>
                  </a:cubicBezTo>
                </a:path>
              </a:pathLst>
            </a:custGeom>
            <a:no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任意多边形: 形状 104">
              <a:extLst>
                <a:ext uri="{FF2B5EF4-FFF2-40B4-BE49-F238E27FC236}">
                  <a16:creationId xmlns:a16="http://schemas.microsoft.com/office/drawing/2014/main" id="{913625B8-E4CD-180B-538D-C7E08EC5929F}"/>
                </a:ext>
              </a:extLst>
            </p:cNvPr>
            <p:cNvSpPr/>
            <p:nvPr/>
          </p:nvSpPr>
          <p:spPr>
            <a:xfrm>
              <a:off x="8926043" y="5035828"/>
              <a:ext cx="253935" cy="63605"/>
            </a:xfrm>
            <a:custGeom>
              <a:avLst/>
              <a:gdLst>
                <a:gd name="connsiteX0" fmla="*/ 0 w 203200"/>
                <a:gd name="connsiteY0" fmla="*/ 10315 h 63232"/>
                <a:gd name="connsiteX1" fmla="*/ 110067 w 203200"/>
                <a:gd name="connsiteY1" fmla="*/ 3965 h 63232"/>
                <a:gd name="connsiteX2" fmla="*/ 203200 w 203200"/>
                <a:gd name="connsiteY2" fmla="*/ 63232 h 63232"/>
              </a:gdLst>
              <a:ahLst/>
              <a:cxnLst>
                <a:cxn ang="0">
                  <a:pos x="connsiteX0" y="connsiteY0"/>
                </a:cxn>
                <a:cxn ang="0">
                  <a:pos x="connsiteX1" y="connsiteY1"/>
                </a:cxn>
                <a:cxn ang="0">
                  <a:pos x="connsiteX2" y="connsiteY2"/>
                </a:cxn>
              </a:cxnLst>
              <a:rect l="l" t="t" r="r" b="b"/>
              <a:pathLst>
                <a:path w="203200" h="63232">
                  <a:moveTo>
                    <a:pt x="0" y="10315"/>
                  </a:moveTo>
                  <a:cubicBezTo>
                    <a:pt x="38100" y="2730"/>
                    <a:pt x="76200" y="-4855"/>
                    <a:pt x="110067" y="3965"/>
                  </a:cubicBezTo>
                  <a:cubicBezTo>
                    <a:pt x="143934" y="12785"/>
                    <a:pt x="173567" y="38008"/>
                    <a:pt x="203200" y="63232"/>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15" name="文本框 114">
                  <a:extLst>
                    <a:ext uri="{FF2B5EF4-FFF2-40B4-BE49-F238E27FC236}">
                      <a16:creationId xmlns:a16="http://schemas.microsoft.com/office/drawing/2014/main" id="{D22BA704-4FE7-6B69-DA3F-E6D8016E6F63}"/>
                    </a:ext>
                  </a:extLst>
                </p:cNvPr>
                <p:cNvSpPr txBox="1"/>
                <p:nvPr/>
              </p:nvSpPr>
              <p:spPr>
                <a:xfrm>
                  <a:off x="7957392" y="4391184"/>
                  <a:ext cx="104866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600" b="0" i="1" smtClean="0">
                                <a:solidFill>
                                  <a:srgbClr val="F76409"/>
                                </a:solidFill>
                                <a:latin typeface="Cambria Math" panose="02040503050406030204" pitchFamily="18" charset="0"/>
                              </a:rPr>
                            </m:ctrlPr>
                          </m:sSubPr>
                          <m:e>
                            <m:r>
                              <a:rPr lang="en-US" altLang="zh-CN" sz="1600" b="0" i="1" smtClean="0">
                                <a:solidFill>
                                  <a:srgbClr val="F76409"/>
                                </a:solidFill>
                                <a:latin typeface="Cambria Math" panose="02040503050406030204" pitchFamily="18" charset="0"/>
                              </a:rPr>
                              <m:t>𝜃</m:t>
                            </m:r>
                          </m:e>
                          <m:sub>
                            <m:r>
                              <a:rPr lang="en-US" altLang="zh-CN" sz="1600" b="0" i="1" smtClean="0">
                                <a:solidFill>
                                  <a:srgbClr val="F76409"/>
                                </a:solidFill>
                                <a:latin typeface="Cambria Math" panose="02040503050406030204" pitchFamily="18" charset="0"/>
                              </a:rPr>
                              <m:t>𝑚</m:t>
                            </m:r>
                          </m:sub>
                        </m:sSub>
                        <m:r>
                          <a:rPr lang="en-US" altLang="zh-CN" sz="1600" b="0" i="1" smtClean="0">
                            <a:solidFill>
                              <a:srgbClr val="F76409"/>
                            </a:solidFill>
                            <a:latin typeface="Cambria Math" panose="02040503050406030204" pitchFamily="18" charset="0"/>
                          </a:rPr>
                          <m:t>=</m:t>
                        </m:r>
                        <m:sSub>
                          <m:sSubPr>
                            <m:ctrlPr>
                              <a:rPr lang="en-US" altLang="zh-CN" sz="1600" b="0" i="1" smtClean="0">
                                <a:solidFill>
                                  <a:srgbClr val="F76409"/>
                                </a:solidFill>
                                <a:latin typeface="Cambria Math" panose="02040503050406030204" pitchFamily="18" charset="0"/>
                              </a:rPr>
                            </m:ctrlPr>
                          </m:sSubPr>
                          <m:e>
                            <m:r>
                              <a:rPr lang="en-US" altLang="zh-CN" sz="1600" b="0" i="1" smtClean="0">
                                <a:solidFill>
                                  <a:srgbClr val="F76409"/>
                                </a:solidFill>
                                <a:latin typeface="Cambria Math" panose="02040503050406030204" pitchFamily="18" charset="0"/>
                              </a:rPr>
                              <m:t>𝛼</m:t>
                            </m:r>
                          </m:e>
                          <m:sub>
                            <m:r>
                              <a:rPr lang="en-US" altLang="zh-CN" sz="1600" b="0" i="1" smtClean="0">
                                <a:solidFill>
                                  <a:srgbClr val="F76409"/>
                                </a:solidFill>
                                <a:latin typeface="Cambria Math" panose="02040503050406030204" pitchFamily="18" charset="0"/>
                              </a:rPr>
                              <m:t>𝑜</m:t>
                            </m:r>
                          </m:sub>
                        </m:sSub>
                      </m:oMath>
                    </m:oMathPara>
                  </a14:m>
                  <a:endParaRPr lang="zh-CN" altLang="en-US" sz="1600" dirty="0">
                    <a:solidFill>
                      <a:srgbClr val="F76409"/>
                    </a:solidFill>
                  </a:endParaRPr>
                </a:p>
              </p:txBody>
            </p:sp>
          </mc:Choice>
          <mc:Fallback xmlns="">
            <p:sp>
              <p:nvSpPr>
                <p:cNvPr id="115" name="文本框 114">
                  <a:extLst>
                    <a:ext uri="{FF2B5EF4-FFF2-40B4-BE49-F238E27FC236}">
                      <a16:creationId xmlns:a16="http://schemas.microsoft.com/office/drawing/2014/main" id="{D22BA704-4FE7-6B69-DA3F-E6D8016E6F63}"/>
                    </a:ext>
                  </a:extLst>
                </p:cNvPr>
                <p:cNvSpPr txBox="1">
                  <a:spLocks noRot="1" noChangeAspect="1" noMove="1" noResize="1" noEditPoints="1" noAdjustHandles="1" noChangeArrowheads="1" noChangeShapeType="1" noTextEdit="1"/>
                </p:cNvSpPr>
                <p:nvPr/>
              </p:nvSpPr>
              <p:spPr>
                <a:xfrm>
                  <a:off x="7957392" y="4391184"/>
                  <a:ext cx="1048660" cy="338554"/>
                </a:xfrm>
                <a:prstGeom prst="rect">
                  <a:avLst/>
                </a:prstGeom>
                <a:blipFill>
                  <a:blip r:embed="rId1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7" name="文本框 116">
                  <a:extLst>
                    <a:ext uri="{FF2B5EF4-FFF2-40B4-BE49-F238E27FC236}">
                      <a16:creationId xmlns:a16="http://schemas.microsoft.com/office/drawing/2014/main" id="{9845CB6B-F6BC-5967-9989-E4590E38721D}"/>
                    </a:ext>
                  </a:extLst>
                </p:cNvPr>
                <p:cNvSpPr txBox="1"/>
                <p:nvPr/>
              </p:nvSpPr>
              <p:spPr>
                <a:xfrm>
                  <a:off x="9564313" y="5301158"/>
                  <a:ext cx="353554"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solidFill>
                                  <a:schemeClr val="accent6">
                                    <a:lumMod val="60000"/>
                                    <a:lumOff val="40000"/>
                                  </a:schemeClr>
                                </a:solidFill>
                                <a:latin typeface="Cambria Math" panose="02040503050406030204" pitchFamily="18" charset="0"/>
                              </a:rPr>
                            </m:ctrlPr>
                          </m:sSubPr>
                          <m:e>
                            <m:r>
                              <a:rPr lang="en-US" altLang="zh-CN" sz="1400" b="0" i="1" smtClean="0">
                                <a:solidFill>
                                  <a:schemeClr val="accent6">
                                    <a:lumMod val="60000"/>
                                    <a:lumOff val="40000"/>
                                  </a:schemeClr>
                                </a:solidFill>
                                <a:latin typeface="Cambria Math" panose="02040503050406030204" pitchFamily="18" charset="0"/>
                              </a:rPr>
                              <m:t>𝜙</m:t>
                            </m:r>
                          </m:e>
                          <m:sub>
                            <m:r>
                              <m:rPr>
                                <m:sty m:val="p"/>
                              </m:rPr>
                              <a:rPr lang="en-US" altLang="zh-CN" sz="1400" i="1">
                                <a:solidFill>
                                  <a:schemeClr val="accent6">
                                    <a:lumMod val="60000"/>
                                    <a:lumOff val="40000"/>
                                  </a:schemeClr>
                                </a:solidFill>
                                <a:latin typeface="Cambria Math" panose="02040503050406030204" pitchFamily="18" charset="0"/>
                              </a:rPr>
                              <m:t>m</m:t>
                            </m:r>
                          </m:sub>
                        </m:sSub>
                      </m:oMath>
                    </m:oMathPara>
                  </a14:m>
                  <a:endParaRPr lang="zh-CN" altLang="en-US" sz="1400" dirty="0">
                    <a:solidFill>
                      <a:srgbClr val="FFC000"/>
                    </a:solidFill>
                  </a:endParaRPr>
                </a:p>
              </p:txBody>
            </p:sp>
          </mc:Choice>
          <mc:Fallback xmlns="">
            <p:sp>
              <p:nvSpPr>
                <p:cNvPr id="117" name="文本框 116">
                  <a:extLst>
                    <a:ext uri="{FF2B5EF4-FFF2-40B4-BE49-F238E27FC236}">
                      <a16:creationId xmlns:a16="http://schemas.microsoft.com/office/drawing/2014/main" id="{9845CB6B-F6BC-5967-9989-E4590E38721D}"/>
                    </a:ext>
                  </a:extLst>
                </p:cNvPr>
                <p:cNvSpPr txBox="1">
                  <a:spLocks noRot="1" noChangeAspect="1" noMove="1" noResize="1" noEditPoints="1" noAdjustHandles="1" noChangeArrowheads="1" noChangeShapeType="1" noTextEdit="1"/>
                </p:cNvSpPr>
                <p:nvPr/>
              </p:nvSpPr>
              <p:spPr>
                <a:xfrm>
                  <a:off x="9564313" y="5301158"/>
                  <a:ext cx="353554" cy="307777"/>
                </a:xfrm>
                <a:prstGeom prst="rect">
                  <a:avLst/>
                </a:prstGeom>
                <a:blipFill>
                  <a:blip r:embed="rId18"/>
                  <a:stretch>
                    <a:fillRect b="-1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6" name="文本框 175">
                  <a:extLst>
                    <a:ext uri="{FF2B5EF4-FFF2-40B4-BE49-F238E27FC236}">
                      <a16:creationId xmlns:a16="http://schemas.microsoft.com/office/drawing/2014/main" id="{3DEFE481-ECC1-4DF7-175E-682CE14854F8}"/>
                    </a:ext>
                  </a:extLst>
                </p:cNvPr>
                <p:cNvSpPr txBox="1"/>
                <p:nvPr/>
              </p:nvSpPr>
              <p:spPr>
                <a:xfrm>
                  <a:off x="9465774" y="4527334"/>
                  <a:ext cx="685626"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𝒈</m:t>
                        </m:r>
                      </m:oMath>
                    </m:oMathPara>
                  </a14:m>
                  <a:endParaRPr lang="zh-CN" altLang="en-US" sz="1400" b="1" dirty="0">
                    <a:solidFill>
                      <a:schemeClr val="tx1"/>
                    </a:solidFill>
                  </a:endParaRPr>
                </a:p>
              </p:txBody>
            </p:sp>
          </mc:Choice>
          <mc:Fallback xmlns="">
            <p:sp>
              <p:nvSpPr>
                <p:cNvPr id="176" name="文本框 175">
                  <a:extLst>
                    <a:ext uri="{FF2B5EF4-FFF2-40B4-BE49-F238E27FC236}">
                      <a16:creationId xmlns:a16="http://schemas.microsoft.com/office/drawing/2014/main" id="{3DEFE481-ECC1-4DF7-175E-682CE14854F8}"/>
                    </a:ext>
                  </a:extLst>
                </p:cNvPr>
                <p:cNvSpPr txBox="1">
                  <a:spLocks noRot="1" noChangeAspect="1" noMove="1" noResize="1" noEditPoints="1" noAdjustHandles="1" noChangeArrowheads="1" noChangeShapeType="1" noTextEdit="1"/>
                </p:cNvSpPr>
                <p:nvPr/>
              </p:nvSpPr>
              <p:spPr>
                <a:xfrm>
                  <a:off x="9465774" y="4527334"/>
                  <a:ext cx="685626" cy="307777"/>
                </a:xfrm>
                <a:prstGeom prst="rect">
                  <a:avLst/>
                </a:prstGeom>
                <a:blipFill>
                  <a:blip r:embed="rId19"/>
                  <a:stretch>
                    <a:fillRect b="-4000"/>
                  </a:stretch>
                </a:blipFill>
              </p:spPr>
              <p:txBody>
                <a:bodyPr/>
                <a:lstStyle/>
                <a:p>
                  <a:r>
                    <a:rPr lang="zh-CN" altLang="en-US">
                      <a:noFill/>
                    </a:rPr>
                    <a:t> </a:t>
                  </a:r>
                </a:p>
              </p:txBody>
            </p:sp>
          </mc:Fallback>
        </mc:AlternateContent>
        <p:cxnSp>
          <p:nvCxnSpPr>
            <p:cNvPr id="33" name="直接连接符 32">
              <a:extLst>
                <a:ext uri="{FF2B5EF4-FFF2-40B4-BE49-F238E27FC236}">
                  <a16:creationId xmlns:a16="http://schemas.microsoft.com/office/drawing/2014/main" id="{D7A335F9-923D-3EA9-BEF7-1FDA3EF3E333}"/>
                </a:ext>
              </a:extLst>
            </p:cNvPr>
            <p:cNvCxnSpPr>
              <a:cxnSpLocks/>
            </p:cNvCxnSpPr>
            <p:nvPr/>
          </p:nvCxnSpPr>
          <p:spPr>
            <a:xfrm flipV="1">
              <a:off x="7918821" y="5589742"/>
              <a:ext cx="994659" cy="84352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3" name="任意多边形: 形状 62">
              <a:extLst>
                <a:ext uri="{FF2B5EF4-FFF2-40B4-BE49-F238E27FC236}">
                  <a16:creationId xmlns:a16="http://schemas.microsoft.com/office/drawing/2014/main" id="{F73BAAD5-116A-A5ED-3A7A-9AA7773B7F26}"/>
                </a:ext>
              </a:extLst>
            </p:cNvPr>
            <p:cNvSpPr/>
            <p:nvPr/>
          </p:nvSpPr>
          <p:spPr>
            <a:xfrm>
              <a:off x="8743961" y="5474065"/>
              <a:ext cx="349239" cy="166851"/>
            </a:xfrm>
            <a:custGeom>
              <a:avLst/>
              <a:gdLst>
                <a:gd name="connsiteX0" fmla="*/ 17673 w 328823"/>
                <a:gd name="connsiteY0" fmla="*/ 164630 h 164630"/>
                <a:gd name="connsiteX1" fmla="*/ 11323 w 328823"/>
                <a:gd name="connsiteY1" fmla="*/ 90546 h 164630"/>
                <a:gd name="connsiteX2" fmla="*/ 148907 w 328823"/>
                <a:gd name="connsiteY2" fmla="*/ 5880 h 164630"/>
                <a:gd name="connsiteX3" fmla="*/ 282257 w 328823"/>
                <a:gd name="connsiteY3" fmla="*/ 14346 h 164630"/>
                <a:gd name="connsiteX4" fmla="*/ 328823 w 328823"/>
                <a:gd name="connsiteY4" fmla="*/ 71496 h 164630"/>
                <a:gd name="connsiteX0" fmla="*/ 3441 w 314591"/>
                <a:gd name="connsiteY0" fmla="*/ 162593 h 162593"/>
                <a:gd name="connsiteX1" fmla="*/ 43657 w 314591"/>
                <a:gd name="connsiteY1" fmla="*/ 60992 h 162593"/>
                <a:gd name="connsiteX2" fmla="*/ 134675 w 314591"/>
                <a:gd name="connsiteY2" fmla="*/ 3843 h 162593"/>
                <a:gd name="connsiteX3" fmla="*/ 268025 w 314591"/>
                <a:gd name="connsiteY3" fmla="*/ 12309 h 162593"/>
                <a:gd name="connsiteX4" fmla="*/ 314591 w 314591"/>
                <a:gd name="connsiteY4" fmla="*/ 69459 h 162593"/>
                <a:gd name="connsiteX0" fmla="*/ 4222 w 315372"/>
                <a:gd name="connsiteY0" fmla="*/ 162593 h 162593"/>
                <a:gd name="connsiteX1" fmla="*/ 35971 w 315372"/>
                <a:gd name="connsiteY1" fmla="*/ 60992 h 162593"/>
                <a:gd name="connsiteX2" fmla="*/ 135456 w 315372"/>
                <a:gd name="connsiteY2" fmla="*/ 3843 h 162593"/>
                <a:gd name="connsiteX3" fmla="*/ 268806 w 315372"/>
                <a:gd name="connsiteY3" fmla="*/ 12309 h 162593"/>
                <a:gd name="connsiteX4" fmla="*/ 315372 w 315372"/>
                <a:gd name="connsiteY4" fmla="*/ 69459 h 162593"/>
                <a:gd name="connsiteX0" fmla="*/ 4222 w 315372"/>
                <a:gd name="connsiteY0" fmla="*/ 160042 h 160042"/>
                <a:gd name="connsiteX1" fmla="*/ 35971 w 315372"/>
                <a:gd name="connsiteY1" fmla="*/ 58441 h 160042"/>
                <a:gd name="connsiteX2" fmla="*/ 135456 w 315372"/>
                <a:gd name="connsiteY2" fmla="*/ 1292 h 160042"/>
                <a:gd name="connsiteX3" fmla="*/ 249756 w 315372"/>
                <a:gd name="connsiteY3" fmla="*/ 22458 h 160042"/>
                <a:gd name="connsiteX4" fmla="*/ 315372 w 315372"/>
                <a:gd name="connsiteY4" fmla="*/ 66908 h 160042"/>
                <a:gd name="connsiteX0" fmla="*/ 4222 w 315372"/>
                <a:gd name="connsiteY0" fmla="*/ 164232 h 164232"/>
                <a:gd name="connsiteX1" fmla="*/ 35971 w 315372"/>
                <a:gd name="connsiteY1" fmla="*/ 62631 h 164232"/>
                <a:gd name="connsiteX2" fmla="*/ 135456 w 315372"/>
                <a:gd name="connsiteY2" fmla="*/ 5482 h 164232"/>
                <a:gd name="connsiteX3" fmla="*/ 249756 w 315372"/>
                <a:gd name="connsiteY3" fmla="*/ 9714 h 164232"/>
                <a:gd name="connsiteX4" fmla="*/ 315372 w 315372"/>
                <a:gd name="connsiteY4" fmla="*/ 71098 h 164232"/>
                <a:gd name="connsiteX0" fmla="*/ 4222 w 349239"/>
                <a:gd name="connsiteY0" fmla="*/ 164232 h 164232"/>
                <a:gd name="connsiteX1" fmla="*/ 35971 w 349239"/>
                <a:gd name="connsiteY1" fmla="*/ 62631 h 164232"/>
                <a:gd name="connsiteX2" fmla="*/ 135456 w 349239"/>
                <a:gd name="connsiteY2" fmla="*/ 5482 h 164232"/>
                <a:gd name="connsiteX3" fmla="*/ 249756 w 349239"/>
                <a:gd name="connsiteY3" fmla="*/ 9714 h 164232"/>
                <a:gd name="connsiteX4" fmla="*/ 349239 w 349239"/>
                <a:gd name="connsiteY4" fmla="*/ 121898 h 164232"/>
                <a:gd name="connsiteX0" fmla="*/ 4222 w 349239"/>
                <a:gd name="connsiteY0" fmla="*/ 165261 h 165261"/>
                <a:gd name="connsiteX1" fmla="*/ 35971 w 349239"/>
                <a:gd name="connsiteY1" fmla="*/ 63660 h 165261"/>
                <a:gd name="connsiteX2" fmla="*/ 135456 w 349239"/>
                <a:gd name="connsiteY2" fmla="*/ 6511 h 165261"/>
                <a:gd name="connsiteX3" fmla="*/ 283623 w 349239"/>
                <a:gd name="connsiteY3" fmla="*/ 8626 h 165261"/>
                <a:gd name="connsiteX4" fmla="*/ 349239 w 349239"/>
                <a:gd name="connsiteY4" fmla="*/ 122927 h 165261"/>
                <a:gd name="connsiteX0" fmla="*/ 4222 w 349239"/>
                <a:gd name="connsiteY0" fmla="*/ 160987 h 160987"/>
                <a:gd name="connsiteX1" fmla="*/ 35971 w 349239"/>
                <a:gd name="connsiteY1" fmla="*/ 59386 h 160987"/>
                <a:gd name="connsiteX2" fmla="*/ 135456 w 349239"/>
                <a:gd name="connsiteY2" fmla="*/ 2237 h 160987"/>
                <a:gd name="connsiteX3" fmla="*/ 281506 w 349239"/>
                <a:gd name="connsiteY3" fmla="*/ 17052 h 160987"/>
                <a:gd name="connsiteX4" fmla="*/ 349239 w 349239"/>
                <a:gd name="connsiteY4" fmla="*/ 118653 h 160987"/>
                <a:gd name="connsiteX0" fmla="*/ 4222 w 349239"/>
                <a:gd name="connsiteY0" fmla="*/ 159341 h 159341"/>
                <a:gd name="connsiteX1" fmla="*/ 35971 w 349239"/>
                <a:gd name="connsiteY1" fmla="*/ 57740 h 159341"/>
                <a:gd name="connsiteX2" fmla="*/ 135456 w 349239"/>
                <a:gd name="connsiteY2" fmla="*/ 591 h 159341"/>
                <a:gd name="connsiteX3" fmla="*/ 275156 w 349239"/>
                <a:gd name="connsiteY3" fmla="*/ 30222 h 159341"/>
                <a:gd name="connsiteX4" fmla="*/ 349239 w 349239"/>
                <a:gd name="connsiteY4" fmla="*/ 117007 h 159341"/>
                <a:gd name="connsiteX0" fmla="*/ 4222 w 349239"/>
                <a:gd name="connsiteY0" fmla="*/ 159820 h 159820"/>
                <a:gd name="connsiteX1" fmla="*/ 35971 w 349239"/>
                <a:gd name="connsiteY1" fmla="*/ 58219 h 159820"/>
                <a:gd name="connsiteX2" fmla="*/ 135456 w 349239"/>
                <a:gd name="connsiteY2" fmla="*/ 1070 h 159820"/>
                <a:gd name="connsiteX3" fmla="*/ 268806 w 349239"/>
                <a:gd name="connsiteY3" fmla="*/ 24351 h 159820"/>
                <a:gd name="connsiteX4" fmla="*/ 349239 w 349239"/>
                <a:gd name="connsiteY4" fmla="*/ 117486 h 159820"/>
                <a:gd name="connsiteX0" fmla="*/ 4222 w 349239"/>
                <a:gd name="connsiteY0" fmla="*/ 159820 h 159820"/>
                <a:gd name="connsiteX1" fmla="*/ 35971 w 349239"/>
                <a:gd name="connsiteY1" fmla="*/ 58219 h 159820"/>
                <a:gd name="connsiteX2" fmla="*/ 135456 w 349239"/>
                <a:gd name="connsiteY2" fmla="*/ 1070 h 159820"/>
                <a:gd name="connsiteX3" fmla="*/ 268806 w 349239"/>
                <a:gd name="connsiteY3" fmla="*/ 24351 h 159820"/>
                <a:gd name="connsiteX4" fmla="*/ 349239 w 349239"/>
                <a:gd name="connsiteY4" fmla="*/ 117486 h 159820"/>
                <a:gd name="connsiteX0" fmla="*/ 4222 w 349239"/>
                <a:gd name="connsiteY0" fmla="*/ 159634 h 159634"/>
                <a:gd name="connsiteX1" fmla="*/ 35971 w 349239"/>
                <a:gd name="connsiteY1" fmla="*/ 58033 h 159634"/>
                <a:gd name="connsiteX2" fmla="*/ 135456 w 349239"/>
                <a:gd name="connsiteY2" fmla="*/ 884 h 159634"/>
                <a:gd name="connsiteX3" fmla="*/ 277272 w 349239"/>
                <a:gd name="connsiteY3" fmla="*/ 26282 h 159634"/>
                <a:gd name="connsiteX4" fmla="*/ 349239 w 349239"/>
                <a:gd name="connsiteY4" fmla="*/ 117300 h 159634"/>
                <a:gd name="connsiteX0" fmla="*/ 4222 w 349239"/>
                <a:gd name="connsiteY0" fmla="*/ 162122 h 162122"/>
                <a:gd name="connsiteX1" fmla="*/ 35971 w 349239"/>
                <a:gd name="connsiteY1" fmla="*/ 60521 h 162122"/>
                <a:gd name="connsiteX2" fmla="*/ 135456 w 349239"/>
                <a:gd name="connsiteY2" fmla="*/ 3372 h 162122"/>
                <a:gd name="connsiteX3" fmla="*/ 277272 w 349239"/>
                <a:gd name="connsiteY3" fmla="*/ 28770 h 162122"/>
                <a:gd name="connsiteX4" fmla="*/ 349239 w 349239"/>
                <a:gd name="connsiteY4" fmla="*/ 119788 h 162122"/>
                <a:gd name="connsiteX0" fmla="*/ 4222 w 349239"/>
                <a:gd name="connsiteY0" fmla="*/ 162122 h 162122"/>
                <a:gd name="connsiteX1" fmla="*/ 35971 w 349239"/>
                <a:gd name="connsiteY1" fmla="*/ 60521 h 162122"/>
                <a:gd name="connsiteX2" fmla="*/ 135456 w 349239"/>
                <a:gd name="connsiteY2" fmla="*/ 3372 h 162122"/>
                <a:gd name="connsiteX3" fmla="*/ 277272 w 349239"/>
                <a:gd name="connsiteY3" fmla="*/ 28770 h 162122"/>
                <a:gd name="connsiteX4" fmla="*/ 349239 w 349239"/>
                <a:gd name="connsiteY4" fmla="*/ 119788 h 162122"/>
                <a:gd name="connsiteX0" fmla="*/ 4222 w 349239"/>
                <a:gd name="connsiteY0" fmla="*/ 164693 h 164693"/>
                <a:gd name="connsiteX1" fmla="*/ 35971 w 349239"/>
                <a:gd name="connsiteY1" fmla="*/ 63092 h 164693"/>
                <a:gd name="connsiteX2" fmla="*/ 135456 w 349239"/>
                <a:gd name="connsiteY2" fmla="*/ 5943 h 164693"/>
                <a:gd name="connsiteX3" fmla="*/ 279388 w 349239"/>
                <a:gd name="connsiteY3" fmla="*/ 24991 h 164693"/>
                <a:gd name="connsiteX4" fmla="*/ 349239 w 349239"/>
                <a:gd name="connsiteY4" fmla="*/ 122359 h 164693"/>
                <a:gd name="connsiteX0" fmla="*/ 4222 w 349239"/>
                <a:gd name="connsiteY0" fmla="*/ 164041 h 164041"/>
                <a:gd name="connsiteX1" fmla="*/ 35971 w 349239"/>
                <a:gd name="connsiteY1" fmla="*/ 62440 h 164041"/>
                <a:gd name="connsiteX2" fmla="*/ 135456 w 349239"/>
                <a:gd name="connsiteY2" fmla="*/ 5291 h 164041"/>
                <a:gd name="connsiteX3" fmla="*/ 279388 w 349239"/>
                <a:gd name="connsiteY3" fmla="*/ 24339 h 164041"/>
                <a:gd name="connsiteX4" fmla="*/ 349239 w 349239"/>
                <a:gd name="connsiteY4" fmla="*/ 121707 h 164041"/>
                <a:gd name="connsiteX0" fmla="*/ 4222 w 349239"/>
                <a:gd name="connsiteY0" fmla="*/ 164041 h 164041"/>
                <a:gd name="connsiteX1" fmla="*/ 35971 w 349239"/>
                <a:gd name="connsiteY1" fmla="*/ 62440 h 164041"/>
                <a:gd name="connsiteX2" fmla="*/ 135456 w 349239"/>
                <a:gd name="connsiteY2" fmla="*/ 5291 h 164041"/>
                <a:gd name="connsiteX3" fmla="*/ 279388 w 349239"/>
                <a:gd name="connsiteY3" fmla="*/ 24339 h 164041"/>
                <a:gd name="connsiteX4" fmla="*/ 349239 w 349239"/>
                <a:gd name="connsiteY4" fmla="*/ 121707 h 164041"/>
                <a:gd name="connsiteX0" fmla="*/ 4222 w 349239"/>
                <a:gd name="connsiteY0" fmla="*/ 166851 h 166851"/>
                <a:gd name="connsiteX1" fmla="*/ 35971 w 349239"/>
                <a:gd name="connsiteY1" fmla="*/ 65250 h 166851"/>
                <a:gd name="connsiteX2" fmla="*/ 135456 w 349239"/>
                <a:gd name="connsiteY2" fmla="*/ 8101 h 166851"/>
                <a:gd name="connsiteX3" fmla="*/ 279388 w 349239"/>
                <a:gd name="connsiteY3" fmla="*/ 27149 h 166851"/>
                <a:gd name="connsiteX4" fmla="*/ 349239 w 349239"/>
                <a:gd name="connsiteY4" fmla="*/ 124517 h 166851"/>
                <a:gd name="connsiteX0" fmla="*/ 4222 w 349239"/>
                <a:gd name="connsiteY0" fmla="*/ 166851 h 166851"/>
                <a:gd name="connsiteX1" fmla="*/ 35971 w 349239"/>
                <a:gd name="connsiteY1" fmla="*/ 65250 h 166851"/>
                <a:gd name="connsiteX2" fmla="*/ 135456 w 349239"/>
                <a:gd name="connsiteY2" fmla="*/ 8101 h 166851"/>
                <a:gd name="connsiteX3" fmla="*/ 279388 w 349239"/>
                <a:gd name="connsiteY3" fmla="*/ 27149 h 166851"/>
                <a:gd name="connsiteX4" fmla="*/ 349239 w 349239"/>
                <a:gd name="connsiteY4" fmla="*/ 124517 h 16685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9239" h="166851">
                  <a:moveTo>
                    <a:pt x="4222" y="166851"/>
                  </a:moveTo>
                  <a:cubicBezTo>
                    <a:pt x="-9889" y="143038"/>
                    <a:pt x="14099" y="91708"/>
                    <a:pt x="35971" y="65250"/>
                  </a:cubicBezTo>
                  <a:cubicBezTo>
                    <a:pt x="57843" y="38792"/>
                    <a:pt x="94886" y="14451"/>
                    <a:pt x="135456" y="8101"/>
                  </a:cubicBezTo>
                  <a:cubicBezTo>
                    <a:pt x="176026" y="1751"/>
                    <a:pt x="194368" y="-13420"/>
                    <a:pt x="279388" y="27149"/>
                  </a:cubicBezTo>
                  <a:cubicBezTo>
                    <a:pt x="360175" y="88885"/>
                    <a:pt x="340949" y="101410"/>
                    <a:pt x="349239" y="124517"/>
                  </a:cubicBezTo>
                </a:path>
              </a:pathLst>
            </a:custGeom>
            <a:noFill/>
            <a:ln w="12700">
              <a:solidFill>
                <a:schemeClr val="accent6">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6" name="直接连接符 65">
              <a:extLst>
                <a:ext uri="{FF2B5EF4-FFF2-40B4-BE49-F238E27FC236}">
                  <a16:creationId xmlns:a16="http://schemas.microsoft.com/office/drawing/2014/main" id="{A05D8687-2C6D-BD72-12D4-4C5673203D5B}"/>
                </a:ext>
              </a:extLst>
            </p:cNvPr>
            <p:cNvCxnSpPr>
              <a:cxnSpLocks/>
            </p:cNvCxnSpPr>
            <p:nvPr/>
          </p:nvCxnSpPr>
          <p:spPr>
            <a:xfrm flipH="1" flipV="1">
              <a:off x="8637825" y="4736916"/>
              <a:ext cx="368227" cy="257871"/>
            </a:xfrm>
            <a:prstGeom prst="line">
              <a:avLst/>
            </a:prstGeom>
            <a:ln w="9525">
              <a:solidFill>
                <a:srgbClr val="002060"/>
              </a:solidFill>
              <a:prstDash val="dashDot"/>
            </a:ln>
          </p:spPr>
          <p:style>
            <a:lnRef idx="1">
              <a:schemeClr val="accent1"/>
            </a:lnRef>
            <a:fillRef idx="0">
              <a:schemeClr val="accent1"/>
            </a:fillRef>
            <a:effectRef idx="0">
              <a:schemeClr val="accent1"/>
            </a:effectRef>
            <a:fontRef idx="minor">
              <a:schemeClr val="tx1"/>
            </a:fontRef>
          </p:style>
        </p:cxnSp>
        <p:sp>
          <p:nvSpPr>
            <p:cNvPr id="69" name="任意多边形: 形状 68">
              <a:extLst>
                <a:ext uri="{FF2B5EF4-FFF2-40B4-BE49-F238E27FC236}">
                  <a16:creationId xmlns:a16="http://schemas.microsoft.com/office/drawing/2014/main" id="{6D18F818-C03C-5F17-733A-82860481DF7B}"/>
                </a:ext>
              </a:extLst>
            </p:cNvPr>
            <p:cNvSpPr/>
            <p:nvPr/>
          </p:nvSpPr>
          <p:spPr>
            <a:xfrm>
              <a:off x="8721725" y="5949950"/>
              <a:ext cx="123825" cy="57150"/>
            </a:xfrm>
            <a:custGeom>
              <a:avLst/>
              <a:gdLst>
                <a:gd name="connsiteX0" fmla="*/ 0 w 123825"/>
                <a:gd name="connsiteY0" fmla="*/ 0 h 57150"/>
                <a:gd name="connsiteX1" fmla="*/ 44450 w 123825"/>
                <a:gd name="connsiteY1" fmla="*/ 47625 h 57150"/>
                <a:gd name="connsiteX2" fmla="*/ 123825 w 123825"/>
                <a:gd name="connsiteY2" fmla="*/ 57150 h 57150"/>
              </a:gdLst>
              <a:ahLst/>
              <a:cxnLst>
                <a:cxn ang="0">
                  <a:pos x="connsiteX0" y="connsiteY0"/>
                </a:cxn>
                <a:cxn ang="0">
                  <a:pos x="connsiteX1" y="connsiteY1"/>
                </a:cxn>
                <a:cxn ang="0">
                  <a:pos x="connsiteX2" y="connsiteY2"/>
                </a:cxn>
              </a:cxnLst>
              <a:rect l="l" t="t" r="r" b="b"/>
              <a:pathLst>
                <a:path w="123825" h="57150">
                  <a:moveTo>
                    <a:pt x="0" y="0"/>
                  </a:moveTo>
                  <a:cubicBezTo>
                    <a:pt x="11906" y="19050"/>
                    <a:pt x="23813" y="38100"/>
                    <a:pt x="44450" y="47625"/>
                  </a:cubicBezTo>
                  <a:cubicBezTo>
                    <a:pt x="65087" y="57150"/>
                    <a:pt x="94456" y="57150"/>
                    <a:pt x="123825" y="57150"/>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71107106-E695-C26B-4F50-15708956BFC3}"/>
                    </a:ext>
                  </a:extLst>
                </p:cNvPr>
                <p:cNvSpPr txBox="1"/>
                <p:nvPr/>
              </p:nvSpPr>
              <p:spPr>
                <a:xfrm>
                  <a:off x="8976320" y="6059279"/>
                  <a:ext cx="373580" cy="33855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600" b="0" i="1" smtClean="0">
                                <a:solidFill>
                                  <a:srgbClr val="F76409"/>
                                </a:solidFill>
                                <a:latin typeface="Cambria Math" panose="02040503050406030204" pitchFamily="18" charset="0"/>
                              </a:rPr>
                            </m:ctrlPr>
                          </m:sSubPr>
                          <m:e>
                            <m:r>
                              <a:rPr lang="en-US" altLang="zh-CN" sz="1600" b="0" i="1" smtClean="0">
                                <a:solidFill>
                                  <a:srgbClr val="F76409"/>
                                </a:solidFill>
                                <a:latin typeface="Cambria Math" panose="02040503050406030204" pitchFamily="18" charset="0"/>
                              </a:rPr>
                              <m:t>𝛼</m:t>
                            </m:r>
                          </m:e>
                          <m:sub>
                            <m:r>
                              <a:rPr lang="en-US" altLang="zh-CN" sz="1600" b="0" i="1" smtClean="0">
                                <a:solidFill>
                                  <a:srgbClr val="F76409"/>
                                </a:solidFill>
                                <a:latin typeface="Cambria Math" panose="02040503050406030204" pitchFamily="18" charset="0"/>
                              </a:rPr>
                              <m:t>𝑖</m:t>
                            </m:r>
                          </m:sub>
                        </m:sSub>
                      </m:oMath>
                    </m:oMathPara>
                  </a14:m>
                  <a:endParaRPr lang="zh-CN" altLang="en-US" sz="1600" dirty="0">
                    <a:solidFill>
                      <a:srgbClr val="F76409"/>
                    </a:solidFill>
                  </a:endParaRPr>
                </a:p>
              </p:txBody>
            </p:sp>
          </mc:Choice>
          <mc:Fallback xmlns="">
            <p:sp>
              <p:nvSpPr>
                <p:cNvPr id="70" name="文本框 69">
                  <a:extLst>
                    <a:ext uri="{FF2B5EF4-FFF2-40B4-BE49-F238E27FC236}">
                      <a16:creationId xmlns:a16="http://schemas.microsoft.com/office/drawing/2014/main" id="{71107106-E695-C26B-4F50-15708956BFC3}"/>
                    </a:ext>
                  </a:extLst>
                </p:cNvPr>
                <p:cNvSpPr txBox="1">
                  <a:spLocks noRot="1" noChangeAspect="1" noMove="1" noResize="1" noEditPoints="1" noAdjustHandles="1" noChangeArrowheads="1" noChangeShapeType="1" noTextEdit="1"/>
                </p:cNvSpPr>
                <p:nvPr/>
              </p:nvSpPr>
              <p:spPr>
                <a:xfrm>
                  <a:off x="8976320" y="6059279"/>
                  <a:ext cx="373580" cy="338554"/>
                </a:xfrm>
                <a:prstGeom prst="rect">
                  <a:avLst/>
                </a:prstGeom>
                <a:blipFill>
                  <a:blip r:embed="rId20"/>
                  <a:stretch>
                    <a:fillRect/>
                  </a:stretch>
                </a:blipFill>
              </p:spPr>
              <p:txBody>
                <a:bodyPr/>
                <a:lstStyle/>
                <a:p>
                  <a:r>
                    <a:rPr lang="zh-CN" altLang="en-US">
                      <a:noFill/>
                    </a:rPr>
                    <a:t> </a:t>
                  </a:r>
                </a:p>
              </p:txBody>
            </p:sp>
          </mc:Fallback>
        </mc:AlternateContent>
        <p:cxnSp>
          <p:nvCxnSpPr>
            <p:cNvPr id="72" name="直接连接符 71">
              <a:extLst>
                <a:ext uri="{FF2B5EF4-FFF2-40B4-BE49-F238E27FC236}">
                  <a16:creationId xmlns:a16="http://schemas.microsoft.com/office/drawing/2014/main" id="{F78E0BD2-02EE-10E2-D3F3-9FD2CDFF6176}"/>
                </a:ext>
              </a:extLst>
            </p:cNvPr>
            <p:cNvCxnSpPr>
              <a:cxnSpLocks/>
            </p:cNvCxnSpPr>
            <p:nvPr/>
          </p:nvCxnSpPr>
          <p:spPr>
            <a:xfrm flipH="1" flipV="1">
              <a:off x="8773802" y="6022166"/>
              <a:ext cx="268598" cy="191309"/>
            </a:xfrm>
            <a:prstGeom prst="line">
              <a:avLst/>
            </a:prstGeom>
            <a:ln w="9525">
              <a:solidFill>
                <a:srgbClr val="002060"/>
              </a:solidFill>
              <a:prstDash val="dashDot"/>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331390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B71D5-2516-B85D-F604-D22D6CE467D9}"/>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9FDAA772-9C68-95E1-E765-30C23B02E527}"/>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基于微表面理论的</a:t>
            </a:r>
            <a:r>
              <a:rPr lang="en-US" altLang="zh-CN" dirty="0"/>
              <a:t>BTDF</a:t>
            </a:r>
          </a:p>
        </p:txBody>
      </p:sp>
      <p:sp>
        <p:nvSpPr>
          <p:cNvPr id="5" name="矩形 4">
            <a:extLst>
              <a:ext uri="{FF2B5EF4-FFF2-40B4-BE49-F238E27FC236}">
                <a16:creationId xmlns:a16="http://schemas.microsoft.com/office/drawing/2014/main" id="{AB12A35C-168E-0380-4039-4DFAC369F70D}"/>
              </a:ext>
            </a:extLst>
          </p:cNvPr>
          <p:cNvSpPr/>
          <p:nvPr/>
        </p:nvSpPr>
        <p:spPr>
          <a:xfrm>
            <a:off x="578285" y="1315233"/>
            <a:ext cx="11417474"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E5E5F06-A02A-0A64-9ACD-10B1C6FFCC4D}"/>
                  </a:ext>
                </a:extLst>
              </p:cNvPr>
              <p:cNvSpPr/>
              <p:nvPr/>
            </p:nvSpPr>
            <p:spPr>
              <a:xfrm>
                <a:off x="425885" y="1144044"/>
                <a:ext cx="11417474"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30000"/>
                  </a:lnSpc>
                </a:pPr>
                <a14:m>
                  <m:oMathPara xmlns:m="http://schemas.openxmlformats.org/officeDocument/2006/math">
                    <m:oMathParaPr>
                      <m:jc m:val="centerGroup"/>
                    </m:oMathParaPr>
                    <m:oMath xmlns:m="http://schemas.openxmlformats.org/officeDocument/2006/math">
                      <m:r>
                        <a:rPr lang="en-US" altLang="zh-CN" sz="1600" i="1" dirty="0">
                          <a:solidFill>
                            <a:schemeClr val="tx1"/>
                          </a:solidFill>
                          <a:latin typeface="Cambria Math" panose="02040503050406030204" pitchFamily="18" charset="0"/>
                        </a:rPr>
                        <m:t>𝑓</m:t>
                      </m:r>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en>
                      </m:f>
                      <m:r>
                        <a:rPr lang="en-US" altLang="zh-CN" sz="1600" i="1" dirty="0">
                          <a:solidFill>
                            <a:schemeClr val="tx1"/>
                          </a:solidFill>
                          <a:latin typeface="Cambria Math" panose="02040503050406030204" pitchFamily="18" charset="0"/>
                        </a:rPr>
                        <m:t> </m:t>
                      </m:r>
                      <m:nary>
                        <m:naryPr>
                          <m:supHide m:val="on"/>
                          <m:ctrlPr>
                            <a:rPr lang="en-US" altLang="zh-CN" sz="1600" i="1" dirty="0">
                              <a:solidFill>
                                <a:schemeClr val="tx1"/>
                              </a:solidFill>
                              <a:latin typeface="Cambria Math" panose="02040503050406030204" pitchFamily="18" charset="0"/>
                            </a:rPr>
                          </m:ctrlPr>
                        </m:naryPr>
                        <m:sub>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𝐻</m:t>
                              </m:r>
                            </m:e>
                            <m:sup>
                              <m:r>
                                <a:rPr lang="en-US" altLang="zh-CN" sz="1600" i="1" dirty="0">
                                  <a:solidFill>
                                    <a:schemeClr val="tx1"/>
                                  </a:solidFill>
                                  <a:latin typeface="Cambria Math" panose="02040503050406030204" pitchFamily="18" charset="0"/>
                                </a:rPr>
                                <m:t>2</m:t>
                              </m:r>
                            </m:sup>
                          </m:sSup>
                        </m:sub>
                        <m:sup/>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𝑓</m:t>
                              </m:r>
                            </m:e>
                            <m:sub>
                              <m:r>
                                <a:rPr lang="en-US" altLang="zh-CN" sz="1600" i="1" dirty="0">
                                  <a:solidFill>
                                    <a:schemeClr val="tx1"/>
                                  </a:solidFill>
                                  <a:latin typeface="Cambria Math" panose="02040503050406030204" pitchFamily="18" charset="0"/>
                                </a:rPr>
                                <m:t>𝑚</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2</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b="1"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𝑑</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m:rPr>
                                  <m:sty m:val="p"/>
                                </m:rPr>
                                <a:rPr lang="en-US" altLang="zh-CN" sz="1600" i="1" dirty="0">
                                  <a:solidFill>
                                    <a:schemeClr val="tx1"/>
                                  </a:solidFill>
                                  <a:latin typeface="Cambria Math" panose="02040503050406030204" pitchFamily="18" charset="0"/>
                                </a:rPr>
                                <m:t>m</m:t>
                              </m:r>
                            </m:sub>
                          </m:sSub>
                        </m:e>
                      </m:nary>
                    </m:oMath>
                  </m:oMathPara>
                </a14:m>
                <a:endParaRPr lang="en-US" altLang="zh-CN" sz="1600" dirty="0">
                  <a:solidFill>
                    <a:schemeClr val="tx1"/>
                  </a:solidFill>
                </a:endParaRPr>
              </a:p>
              <a:p>
                <a:pPr algn="ctr">
                  <a:lnSpc>
                    <a:spcPct val="130000"/>
                  </a:lnSpc>
                </a:pPr>
                <a14:m>
                  <m:oMathPara xmlns:m="http://schemas.openxmlformats.org/officeDocument/2006/math">
                    <m:oMathParaPr>
                      <m:jc m:val="centerGroup"/>
                    </m:oMathParaPr>
                    <m:oMath xmlns:m="http://schemas.openxmlformats.org/officeDocument/2006/math">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𝑓</m:t>
                          </m:r>
                        </m:e>
                        <m:sub>
                          <m:r>
                            <a:rPr lang="en-US" altLang="zh-CN" sz="1600" i="1" dirty="0">
                              <a:solidFill>
                                <a:schemeClr val="tx1"/>
                              </a:solidFill>
                              <a:latin typeface="Cambria Math" panose="02040503050406030204" pitchFamily="18" charset="0"/>
                            </a:rPr>
                            <m:t>𝑚</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𝜌</m:t>
                      </m:r>
                      <m:r>
                        <a:rPr lang="en-US" altLang="zh-CN" sz="1600" i="1" dirty="0">
                          <a:solidFill>
                            <a:schemeClr val="tx1"/>
                          </a:solidFill>
                          <a:latin typeface="Cambria Math" panose="02040503050406030204" pitchFamily="18" charset="0"/>
                        </a:rPr>
                        <m:t> </m:t>
                      </m:r>
                      <m:f>
                        <m:fPr>
                          <m:ctrlPr>
                            <a:rPr lang="en-US" altLang="zh-CN" sz="1600" i="1" dirty="0">
                              <a:solidFill>
                                <a:schemeClr val="tx1"/>
                              </a:solidFill>
                              <a:latin typeface="Cambria Math" panose="02040503050406030204" pitchFamily="18" charset="0"/>
                            </a:rPr>
                          </m:ctrlPr>
                        </m:fPr>
                        <m:num>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𝛿</m:t>
                              </m:r>
                            </m:e>
                            <m:sub>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sub>
                          </m:sSub>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𝒉</m:t>
                          </m:r>
                          <m:r>
                            <a:rPr lang="en-US" altLang="zh-CN" sz="1600" i="1" dirty="0">
                              <a:solidFill>
                                <a:schemeClr val="tx1"/>
                              </a:solidFill>
                              <a:latin typeface="Cambria Math" panose="02040503050406030204" pitchFamily="18" charset="0"/>
                            </a:rPr>
                            <m:t>)</m:t>
                          </m:r>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𝒉</m:t>
                              </m:r>
                            </m:e>
                          </m:d>
                        </m:den>
                      </m:f>
                      <m:d>
                        <m:dPr>
                          <m:begChr m:val="|"/>
                          <m:endChr m:val="|"/>
                          <m:ctrlPr>
                            <a:rPr lang="en-US" altLang="zh-CN" sz="1600" i="1" dirty="0">
                              <a:solidFill>
                                <a:schemeClr val="tx1"/>
                              </a:solidFill>
                              <a:latin typeface="Cambria Math" panose="02040503050406030204" pitchFamily="18" charset="0"/>
                            </a:rPr>
                          </m:ctrlPr>
                        </m:dPr>
                        <m:e>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det</m:t>
                              </m:r>
                            </m:fName>
                            <m:e>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num>
                                    <m:den>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𝑖</m:t>
                                          </m:r>
                                        </m:sub>
                                      </m:sSub>
                                    </m:den>
                                  </m:f>
                                  <m:r>
                                    <a:rPr lang="en-US" altLang="zh-CN" sz="1600" i="1" dirty="0">
                                      <a:solidFill>
                                        <a:schemeClr val="tx1"/>
                                      </a:solidFill>
                                      <a:latin typeface="Cambria Math" panose="02040503050406030204" pitchFamily="18" charset="0"/>
                                    </a:rPr>
                                    <m:t> </m:t>
                                  </m:r>
                                </m:e>
                              </m:d>
                            </m:e>
                          </m:func>
                        </m:e>
                      </m:d>
                    </m:oMath>
                  </m:oMathPara>
                </a14:m>
                <a:endParaRPr lang="en-US" altLang="zh-CN" sz="1600" b="0" i="1" dirty="0">
                  <a:solidFill>
                    <a:schemeClr val="tx1"/>
                  </a:solidFill>
                  <a:latin typeface="Cambria Math" panose="02040503050406030204" pitchFamily="18" charset="0"/>
                </a:endParaRPr>
              </a:p>
              <a:p>
                <a:pPr algn="ctr">
                  <a:lnSpc>
                    <a:spcPct val="130000"/>
                  </a:lnSpc>
                </a:pPr>
                <a14:m>
                  <m:oMathPara xmlns:m="http://schemas.openxmlformats.org/officeDocument/2006/math">
                    <m:oMathParaPr>
                      <m:jc m:val="centerGroup"/>
                    </m:oMathParaPr>
                    <m:oMath xmlns:m="http://schemas.openxmlformats.org/officeDocument/2006/math">
                      <m:r>
                        <a:rPr lang="zh-CN" altLang="en-US" sz="1600" i="1" dirty="0" smtClean="0">
                          <a:solidFill>
                            <a:schemeClr val="tx1"/>
                          </a:solidFill>
                          <a:latin typeface="Cambria Math" panose="02040503050406030204" pitchFamily="18" charset="0"/>
                        </a:rPr>
                        <m:t>折射</m:t>
                      </m:r>
                      <m:r>
                        <a:rPr lang="zh-CN" altLang="en-US" sz="1600" i="1" dirty="0">
                          <a:solidFill>
                            <a:schemeClr val="tx1"/>
                          </a:solidFill>
                          <a:latin typeface="Cambria Math" panose="02040503050406030204" pitchFamily="18" charset="0"/>
                        </a:rPr>
                        <m:t>的</m:t>
                      </m:r>
                      <m:r>
                        <a:rPr lang="zh-CN" altLang="en-US" sz="1600" i="1" dirty="0" smtClean="0">
                          <a:solidFill>
                            <a:schemeClr val="tx1"/>
                          </a:solidFill>
                          <a:latin typeface="Cambria Math" panose="02040503050406030204" pitchFamily="18" charset="0"/>
                        </a:rPr>
                        <m:t>雅可比行列式</m:t>
                      </m:r>
                      <m:r>
                        <a:rPr lang="zh-CN" altLang="en-US" sz="1600" i="1" dirty="0" smtClean="0">
                          <a:solidFill>
                            <a:schemeClr val="tx1"/>
                          </a:solidFill>
                          <a:latin typeface="Cambria Math" panose="02040503050406030204" pitchFamily="18" charset="0"/>
                        </a:rPr>
                        <m:t>：</m:t>
                      </m:r>
                      <m:d>
                        <m:dPr>
                          <m:begChr m:val="|"/>
                          <m:endChr m:val="|"/>
                          <m:ctrlPr>
                            <a:rPr lang="en-US" altLang="zh-CN" sz="1600" i="1" dirty="0" smtClean="0">
                              <a:solidFill>
                                <a:schemeClr val="tx1"/>
                              </a:solidFill>
                              <a:latin typeface="Cambria Math" panose="02040503050406030204" pitchFamily="18" charset="0"/>
                            </a:rPr>
                          </m:ctrlPr>
                        </m:dPr>
                        <m:e>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det</m:t>
                              </m:r>
                            </m:fName>
                            <m:e>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num>
                                    <m:den>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𝑖</m:t>
                                          </m:r>
                                        </m:sub>
                                      </m:sSub>
                                    </m:den>
                                  </m:f>
                                  <m:r>
                                    <a:rPr lang="en-US" altLang="zh-CN" sz="1600" i="1" dirty="0">
                                      <a:solidFill>
                                        <a:schemeClr val="tx1"/>
                                      </a:solidFill>
                                      <a:latin typeface="Cambria Math" panose="02040503050406030204" pitchFamily="18" charset="0"/>
                                    </a:rPr>
                                    <m:t> </m:t>
                                  </m:r>
                                </m:e>
                              </m:d>
                            </m:e>
                          </m:func>
                        </m:e>
                      </m:d>
                      <m:r>
                        <a:rPr lang="en-US" altLang="zh-CN" sz="1600" b="0" i="1" dirty="0" smtClean="0">
                          <a:solidFill>
                            <a:schemeClr val="tx1"/>
                          </a:solidFill>
                          <a:latin typeface="Cambria Math" panose="02040503050406030204" pitchFamily="18" charset="0"/>
                        </a:rPr>
                        <m:t>=</m:t>
                      </m:r>
                      <m:f>
                        <m:fPr>
                          <m:ctrlPr>
                            <a:rPr lang="en-US" altLang="zh-CN" sz="1600" i="1">
                              <a:solidFill>
                                <a:schemeClr val="tx1"/>
                              </a:solidFill>
                              <a:latin typeface="Cambria Math" panose="02040503050406030204" pitchFamily="18" charset="0"/>
                            </a:rPr>
                          </m:ctrlPr>
                        </m:fPr>
                        <m:num>
                          <m:sSubSup>
                            <m:sSubSupPr>
                              <m:ctrlPr>
                                <a:rPr lang="en-US" altLang="zh-CN" sz="1600" i="1">
                                  <a:solidFill>
                                    <a:schemeClr val="tx1"/>
                                  </a:solidFill>
                                  <a:latin typeface="Cambria Math" panose="02040503050406030204" pitchFamily="18" charset="0"/>
                                </a:rPr>
                              </m:ctrlPr>
                            </m:sSubSup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up>
                              <m:r>
                                <a:rPr lang="en-US" altLang="zh-CN" sz="1600" i="1">
                                  <a:solidFill>
                                    <a:schemeClr val="tx1"/>
                                  </a:solidFill>
                                  <a:latin typeface="Cambria Math" panose="02040503050406030204" pitchFamily="18" charset="0"/>
                                </a:rPr>
                                <m:t>2</m:t>
                              </m:r>
                            </m:sup>
                          </m:sSubSup>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num>
                        <m:den>
                          <m:sSup>
                            <m:sSupPr>
                              <m:ctrlPr>
                                <a:rPr lang="en-US" altLang="zh-CN" sz="1600" i="1">
                                  <a:solidFill>
                                    <a:schemeClr val="tx1"/>
                                  </a:solidFill>
                                  <a:latin typeface="Cambria Math" panose="02040503050406030204" pitchFamily="18" charset="0"/>
                                </a:rPr>
                              </m:ctrlPr>
                            </m:sSupPr>
                            <m:e>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𝑜</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e>
                              </m:d>
                            </m:e>
                            <m:sup>
                              <m:r>
                                <a:rPr lang="en-US" altLang="zh-CN" sz="1600" i="1">
                                  <a:solidFill>
                                    <a:schemeClr val="tx1"/>
                                  </a:solidFill>
                                  <a:latin typeface="Cambria Math" panose="02040503050406030204" pitchFamily="18" charset="0"/>
                                </a:rPr>
                                <m:t>2</m:t>
                              </m:r>
                            </m:sup>
                          </m:sSup>
                        </m:den>
                      </m:f>
                      <m:r>
                        <a:rPr lang="en-US" altLang="zh-CN" sz="1600" b="0" i="1" smtClean="0">
                          <a:solidFill>
                            <a:schemeClr val="tx1"/>
                          </a:solidFill>
                          <a:latin typeface="Cambria Math" panose="02040503050406030204" pitchFamily="18" charset="0"/>
                        </a:rPr>
                        <m:t>,  </m:t>
                      </m:r>
                      <m:r>
                        <a:rPr lang="zh-CN" altLang="en-US" sz="1600" i="1">
                          <a:solidFill>
                            <a:schemeClr val="tx1"/>
                          </a:solidFill>
                          <a:latin typeface="Cambria Math" panose="02040503050406030204" pitchFamily="18" charset="0"/>
                        </a:rPr>
                        <m:t>折射的反照率</m:t>
                      </m:r>
                      <m:r>
                        <a:rPr lang="zh-CN" altLang="en-US" sz="1600" i="1" smtClean="0">
                          <a:solidFill>
                            <a:schemeClr val="tx1"/>
                          </a:solidFill>
                          <a:latin typeface="Cambria Math" panose="02040503050406030204" pitchFamily="18" charset="0"/>
                        </a:rPr>
                        <m:t>：</m:t>
                      </m:r>
                      <m:r>
                        <a:rPr lang="en-US" altLang="zh-CN" sz="1600" b="0" i="1" smtClean="0">
                          <a:solidFill>
                            <a:schemeClr val="tx1"/>
                          </a:solidFill>
                          <a:latin typeface="Cambria Math" panose="02040503050406030204" pitchFamily="18" charset="0"/>
                        </a:rPr>
                        <m:t>𝜌</m:t>
                      </m:r>
                      <m:r>
                        <a:rPr lang="en-US" altLang="zh-CN" sz="1600" b="0" i="1" smtClean="0">
                          <a:solidFill>
                            <a:schemeClr val="tx1"/>
                          </a:solidFill>
                          <a:latin typeface="Cambria Math" panose="02040503050406030204" pitchFamily="18" charset="0"/>
                        </a:rPr>
                        <m:t>=</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𝐹</m:t>
                          </m:r>
                        </m:e>
                        <m:sub>
                          <m:r>
                            <a:rPr lang="en-US" altLang="zh-CN" sz="1600" b="0" i="1" smtClean="0">
                              <a:solidFill>
                                <a:schemeClr val="tx1"/>
                              </a:solidFill>
                              <a:latin typeface="Cambria Math" panose="02040503050406030204" pitchFamily="18" charset="0"/>
                            </a:rPr>
                            <m:t>𝑡</m:t>
                          </m:r>
                        </m:sub>
                      </m:sSub>
                      <m:d>
                        <m:dPr>
                          <m:ctrlPr>
                            <a:rPr lang="en-US" altLang="zh-CN" sz="1600" b="0" i="1" smtClean="0">
                              <a:solidFill>
                                <a:schemeClr val="tx1"/>
                              </a:solidFill>
                              <a:latin typeface="Cambria Math" panose="02040503050406030204" pitchFamily="18" charset="0"/>
                            </a:rPr>
                          </m:ctrlPr>
                        </m:dPr>
                        <m:e>
                          <m:r>
                            <a:rPr lang="en-US" altLang="zh-CN" sz="1600" b="1" i="1" smtClean="0">
                              <a:solidFill>
                                <a:schemeClr val="tx1"/>
                              </a:solidFill>
                              <a:latin typeface="Cambria Math" panose="02040503050406030204" pitchFamily="18" charset="0"/>
                            </a:rPr>
                            <m:t>𝒊</m:t>
                          </m:r>
                          <m:r>
                            <a:rPr lang="en-US" altLang="zh-CN" sz="1600" b="0"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𝒐</m:t>
                          </m:r>
                        </m:e>
                      </m:d>
                      <m:r>
                        <a:rPr lang="en-US" altLang="zh-CN" sz="1600" b="0" i="1" smtClean="0">
                          <a:solidFill>
                            <a:schemeClr val="tx1"/>
                          </a:solidFill>
                          <a:latin typeface="Cambria Math" panose="02040503050406030204" pitchFamily="18" charset="0"/>
                        </a:rPr>
                        <m:t>=</m:t>
                      </m:r>
                      <m:r>
                        <a:rPr lang="en-US" altLang="zh-CN" sz="1600" b="0" i="1" smtClean="0">
                          <a:solidFill>
                            <a:schemeClr val="tx1"/>
                          </a:solidFill>
                          <a:latin typeface="Cambria Math" panose="02040503050406030204" pitchFamily="18" charset="0"/>
                        </a:rPr>
                        <m:t>1</m:t>
                      </m:r>
                      <m:r>
                        <a:rPr lang="en-US" altLang="zh-CN" sz="1600" b="0" i="1" smtClean="0">
                          <a:solidFill>
                            <a:schemeClr val="tx1"/>
                          </a:solidFill>
                          <a:latin typeface="Cambria Math" panose="02040503050406030204" pitchFamily="18" charset="0"/>
                        </a:rPr>
                        <m:t>−</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𝐹</m:t>
                          </m:r>
                        </m:e>
                        <m:sub>
                          <m:r>
                            <a:rPr lang="en-US" altLang="zh-CN" sz="1600" b="0" i="1" smtClean="0">
                              <a:solidFill>
                                <a:schemeClr val="tx1"/>
                              </a:solidFill>
                              <a:latin typeface="Cambria Math" panose="02040503050406030204" pitchFamily="18" charset="0"/>
                            </a:rPr>
                            <m:t>𝑟</m:t>
                          </m:r>
                        </m:sub>
                      </m:sSub>
                      <m:d>
                        <m:dPr>
                          <m:ctrlPr>
                            <a:rPr lang="en-US" altLang="zh-CN" sz="1600" i="1">
                              <a:solidFill>
                                <a:schemeClr val="tx1"/>
                              </a:solidFill>
                              <a:latin typeface="Cambria Math" panose="02040503050406030204" pitchFamily="18" charset="0"/>
                            </a:rPr>
                          </m:ctrlPr>
                        </m:dPr>
                        <m:e>
                          <m:r>
                            <a:rPr lang="en-US" altLang="zh-CN" sz="1600" b="1" i="1" smtClean="0">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𝒐</m:t>
                          </m:r>
                        </m:e>
                      </m:d>
                    </m:oMath>
                  </m:oMathPara>
                </a14:m>
                <a:endParaRPr lang="en-US" altLang="zh-CN" sz="1600" b="0" i="1" dirty="0">
                  <a:solidFill>
                    <a:schemeClr val="tx1"/>
                  </a:solidFill>
                  <a:latin typeface="Cambria Math" panose="02040503050406030204" pitchFamily="18" charset="0"/>
                </a:endParaRPr>
              </a:p>
              <a:p>
                <a:pPr algn="ctr">
                  <a:lnSpc>
                    <a:spcPct val="130000"/>
                  </a:lnSpc>
                </a:pPr>
                <a14:m>
                  <m:oMathPara xmlns:m="http://schemas.openxmlformats.org/officeDocument/2006/math">
                    <m:oMathParaPr>
                      <m:jc m:val="centerGroup"/>
                    </m:oMathParaPr>
                    <m:oMath xmlns:m="http://schemas.openxmlformats.org/officeDocument/2006/math">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𝑓</m:t>
                          </m:r>
                        </m:e>
                        <m:sub>
                          <m:r>
                            <a:rPr lang="en-US" altLang="zh-CN" sz="1600" i="1" dirty="0">
                              <a:solidFill>
                                <a:schemeClr val="tx1"/>
                              </a:solidFill>
                              <a:latin typeface="Cambria Math" panose="02040503050406030204" pitchFamily="18" charset="0"/>
                            </a:rPr>
                            <m:t>𝑚</m:t>
                          </m:r>
                        </m:sub>
                        <m:sup>
                          <m:r>
                            <a:rPr lang="en-US" altLang="zh-CN" sz="1600" b="0" i="1" dirty="0" smtClean="0">
                              <a:solidFill>
                                <a:schemeClr val="tx1"/>
                              </a:solidFill>
                              <a:latin typeface="Cambria Math" panose="02040503050406030204" pitchFamily="18" charset="0"/>
                            </a:rPr>
                            <m:t>𝑡</m:t>
                          </m:r>
                        </m:sup>
                      </m:sSubSup>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𝑡</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f>
                        <m:fPr>
                          <m:ctrlPr>
                            <a:rPr lang="en-US" altLang="zh-CN" sz="1600" i="1" dirty="0">
                              <a:solidFill>
                                <a:schemeClr val="tx1"/>
                              </a:solidFill>
                              <a:latin typeface="Cambria Math" panose="02040503050406030204" pitchFamily="18" charset="0"/>
                            </a:rPr>
                          </m:ctrlPr>
                        </m:fPr>
                        <m:num>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𝛿</m:t>
                              </m:r>
                            </m:e>
                            <m:sub>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sub>
                          </m:sSub>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r>
                            <a:rPr lang="en-US" altLang="zh-CN" sz="1600" i="1" dirty="0">
                              <a:solidFill>
                                <a:schemeClr val="tx1"/>
                              </a:solidFill>
                              <a:latin typeface="Cambria Math" panose="02040503050406030204" pitchFamily="18" charset="0"/>
                            </a:rPr>
                            <m:t>−</m:t>
                          </m:r>
                          <m:sSub>
                            <m:sSubPr>
                              <m:ctrlPr>
                                <a:rPr lang="en-US" altLang="zh-CN" sz="1600" b="1" i="1" dirty="0" smtClean="0">
                                  <a:solidFill>
                                    <a:schemeClr val="tx1"/>
                                  </a:solidFill>
                                  <a:latin typeface="Cambria Math" panose="02040503050406030204" pitchFamily="18" charset="0"/>
                                </a:rPr>
                              </m:ctrlPr>
                            </m:sSubPr>
                            <m:e>
                              <m:r>
                                <a:rPr lang="en-US" altLang="zh-CN" sz="1600" b="1" i="1" dirty="0" smtClean="0">
                                  <a:solidFill>
                                    <a:schemeClr val="tx1"/>
                                  </a:solidFill>
                                  <a:latin typeface="Cambria Math" panose="02040503050406030204" pitchFamily="18" charset="0"/>
                                </a:rPr>
                                <m:t>𝒉</m:t>
                              </m:r>
                            </m:e>
                            <m:sub>
                              <m:r>
                                <a:rPr lang="en-US" altLang="zh-CN" sz="1600" b="1" i="1" dirty="0" smtClean="0">
                                  <a:solidFill>
                                    <a:schemeClr val="tx1"/>
                                  </a:solidFill>
                                  <a:latin typeface="Cambria Math" panose="02040503050406030204" pitchFamily="18" charset="0"/>
                                </a:rPr>
                                <m:t>𝒕</m:t>
                              </m:r>
                            </m:sub>
                          </m:sSub>
                          <m:r>
                            <a:rPr lang="en-US" altLang="zh-CN" sz="1600" i="1" dirty="0">
                              <a:solidFill>
                                <a:schemeClr val="tx1"/>
                              </a:solidFill>
                              <a:latin typeface="Cambria Math" panose="02040503050406030204" pitchFamily="18" charset="0"/>
                            </a:rPr>
                            <m:t>)</m:t>
                          </m:r>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sSub>
                                <m:sSubPr>
                                  <m:ctrlPr>
                                    <a:rPr lang="en-US" altLang="zh-CN" sz="1600" b="1" i="1" dirty="0" smtClean="0">
                                      <a:solidFill>
                                        <a:schemeClr val="tx1"/>
                                      </a:solidFill>
                                      <a:latin typeface="Cambria Math" panose="02040503050406030204" pitchFamily="18" charset="0"/>
                                    </a:rPr>
                                  </m:ctrlPr>
                                </m:sSubPr>
                                <m:e>
                                  <m:r>
                                    <a:rPr lang="en-US" altLang="zh-CN" sz="1600" b="1" i="1" dirty="0" smtClean="0">
                                      <a:solidFill>
                                        <a:schemeClr val="tx1"/>
                                      </a:solidFill>
                                      <a:latin typeface="Cambria Math" panose="02040503050406030204" pitchFamily="18" charset="0"/>
                                    </a:rPr>
                                    <m:t>𝒉</m:t>
                                  </m:r>
                                </m:e>
                                <m:sub>
                                  <m:r>
                                    <a:rPr lang="en-US" altLang="zh-CN" sz="1600" b="1" i="1" dirty="0" smtClean="0">
                                      <a:solidFill>
                                        <a:schemeClr val="tx1"/>
                                      </a:solidFill>
                                      <a:latin typeface="Cambria Math" panose="02040503050406030204" pitchFamily="18" charset="0"/>
                                    </a:rPr>
                                    <m:t>𝒕</m:t>
                                  </m:r>
                                </m:sub>
                              </m:sSub>
                            </m:e>
                          </m:d>
                        </m:den>
                      </m:f>
                      <m:f>
                        <m:fPr>
                          <m:ctrlPr>
                            <a:rPr lang="en-US" altLang="zh-CN" sz="1600" i="1">
                              <a:solidFill>
                                <a:schemeClr val="tx1"/>
                              </a:solidFill>
                              <a:latin typeface="Cambria Math" panose="02040503050406030204" pitchFamily="18" charset="0"/>
                            </a:rPr>
                          </m:ctrlPr>
                        </m:fPr>
                        <m:num>
                          <m:sSubSup>
                            <m:sSubSupPr>
                              <m:ctrlPr>
                                <a:rPr lang="en-US" altLang="zh-CN" sz="1600" i="1">
                                  <a:solidFill>
                                    <a:schemeClr val="tx1"/>
                                  </a:solidFill>
                                  <a:latin typeface="Cambria Math" panose="02040503050406030204" pitchFamily="18" charset="0"/>
                                </a:rPr>
                              </m:ctrlPr>
                            </m:sSubSup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up>
                              <m:r>
                                <a:rPr lang="en-US" altLang="zh-CN" sz="1600" i="1">
                                  <a:solidFill>
                                    <a:schemeClr val="tx1"/>
                                  </a:solidFill>
                                  <a:latin typeface="Cambria Math" panose="02040503050406030204" pitchFamily="18" charset="0"/>
                                </a:rPr>
                                <m:t>2</m:t>
                              </m:r>
                            </m:sup>
                          </m:sSubSup>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num>
                        <m:den>
                          <m:sSup>
                            <m:sSupPr>
                              <m:ctrlPr>
                                <a:rPr lang="en-US" altLang="zh-CN" sz="1600" i="1">
                                  <a:solidFill>
                                    <a:schemeClr val="tx1"/>
                                  </a:solidFill>
                                  <a:latin typeface="Cambria Math" panose="02040503050406030204" pitchFamily="18" charset="0"/>
                                </a:rPr>
                              </m:ctrlPr>
                            </m:sSupPr>
                            <m:e>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𝑜</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e>
                              </m:d>
                            </m:e>
                            <m:sup>
                              <m:r>
                                <a:rPr lang="en-US" altLang="zh-CN" sz="1600" i="1">
                                  <a:solidFill>
                                    <a:schemeClr val="tx1"/>
                                  </a:solidFill>
                                  <a:latin typeface="Cambria Math" panose="02040503050406030204" pitchFamily="18" charset="0"/>
                                </a:rPr>
                                <m:t>2</m:t>
                              </m:r>
                            </m:sup>
                          </m:sSup>
                        </m:den>
                      </m:f>
                    </m:oMath>
                  </m:oMathPara>
                </a14:m>
                <a:endParaRPr lang="en-US" altLang="zh-CN" sz="1600" dirty="0">
                  <a:solidFill>
                    <a:schemeClr val="tx1"/>
                  </a:solidFill>
                </a:endParaRPr>
              </a:p>
              <a:p>
                <a:pPr algn="ctr">
                  <a:lnSpc>
                    <a:spcPct val="130000"/>
                  </a:lnSpc>
                </a:pPr>
                <a14:m>
                  <m:oMathPara xmlns:m="http://schemas.openxmlformats.org/officeDocument/2006/math">
                    <m:oMathParaPr>
                      <m:jc m:val="centerGroup"/>
                    </m:oMathParaPr>
                    <m:oMath xmlns:m="http://schemas.openxmlformats.org/officeDocument/2006/math">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𝑓</m:t>
                          </m:r>
                        </m:e>
                        <m:sup>
                          <m:r>
                            <a:rPr lang="en-US" altLang="zh-CN" sz="1600" b="0" i="1" dirty="0" smtClean="0">
                              <a:solidFill>
                                <a:schemeClr val="tx1"/>
                              </a:solidFill>
                              <a:latin typeface="Cambria Math" panose="02040503050406030204" pitchFamily="18" charset="0"/>
                            </a:rPr>
                            <m:t>𝑡</m:t>
                          </m:r>
                        </m:sup>
                      </m:sSup>
                      <m:d>
                        <m:dPr>
                          <m:ctrlPr>
                            <a:rPr lang="en-US" altLang="zh-CN" sz="1600" b="0" i="1" dirty="0" smtClean="0">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r>
                            <a:rPr lang="en-US" altLang="zh-CN" sz="1600" b="0" i="1" smtClean="0">
                              <a:solidFill>
                                <a:schemeClr val="tx1"/>
                              </a:solidFill>
                              <a:latin typeface="Cambria Math" panose="02040503050406030204" pitchFamily="18" charset="0"/>
                            </a:rPr>
                            <m:t>,</m:t>
                          </m:r>
                          <m:r>
                            <a:rPr lang="en-US" altLang="zh-CN" sz="1600" b="1" i="1" smtClean="0">
                              <a:solidFill>
                                <a:schemeClr val="tx1"/>
                              </a:solidFill>
                              <a:latin typeface="Cambria Math" panose="02040503050406030204" pitchFamily="18" charset="0"/>
                            </a:rPr>
                            <m:t>𝒈</m:t>
                          </m:r>
                        </m:e>
                      </m:d>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en>
                      </m:f>
                      <m:nary>
                        <m:naryPr>
                          <m:supHide m:val="on"/>
                          <m:ctrlPr>
                            <a:rPr lang="en-US" altLang="zh-CN" sz="1600" i="1" dirty="0">
                              <a:solidFill>
                                <a:schemeClr val="tx1"/>
                              </a:solidFill>
                              <a:latin typeface="Cambria Math" panose="02040503050406030204" pitchFamily="18" charset="0"/>
                            </a:rPr>
                          </m:ctrlPr>
                        </m:naryPr>
                        <m:sub>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𝐻</m:t>
                              </m:r>
                            </m:e>
                            <m:sup>
                              <m:r>
                                <a:rPr lang="en-US" altLang="zh-CN" sz="1600" i="1" dirty="0">
                                  <a:solidFill>
                                    <a:schemeClr val="tx1"/>
                                  </a:solidFill>
                                  <a:latin typeface="Cambria Math" panose="02040503050406030204" pitchFamily="18" charset="0"/>
                                </a:rPr>
                                <m:t>2</m:t>
                              </m:r>
                            </m:sup>
                          </m:sSup>
                        </m:sub>
                        <m:sup/>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𝑡</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f>
                            <m:fPr>
                              <m:ctrlPr>
                                <a:rPr lang="en-US" altLang="zh-CN" sz="1600" i="1" dirty="0">
                                  <a:solidFill>
                                    <a:schemeClr val="tx1"/>
                                  </a:solidFill>
                                  <a:latin typeface="Cambria Math" panose="02040503050406030204" pitchFamily="18" charset="0"/>
                                </a:rPr>
                              </m:ctrlPr>
                            </m:fPr>
                            <m:num>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𝛿</m:t>
                                  </m:r>
                                </m:e>
                                <m:sub>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sub>
                              </m:sSub>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r>
                                <a:rPr lang="en-US" altLang="zh-CN" sz="1600" i="1" dirty="0">
                                  <a:solidFill>
                                    <a:schemeClr val="tx1"/>
                                  </a:solidFill>
                                  <a:latin typeface="Cambria Math" panose="02040503050406030204" pitchFamily="18" charset="0"/>
                                </a:rPr>
                                <m:t>)</m:t>
                              </m:r>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den>
                          </m:f>
                          <m:f>
                            <m:fPr>
                              <m:ctrlPr>
                                <a:rPr lang="en-US" altLang="zh-CN" sz="1600" i="1">
                                  <a:solidFill>
                                    <a:schemeClr val="tx1"/>
                                  </a:solidFill>
                                  <a:latin typeface="Cambria Math" panose="02040503050406030204" pitchFamily="18" charset="0"/>
                                </a:rPr>
                              </m:ctrlPr>
                            </m:fPr>
                            <m:num>
                              <m:sSubSup>
                                <m:sSubSupPr>
                                  <m:ctrlPr>
                                    <a:rPr lang="en-US" altLang="zh-CN" sz="1600" i="1">
                                      <a:solidFill>
                                        <a:schemeClr val="tx1"/>
                                      </a:solidFill>
                                      <a:latin typeface="Cambria Math" panose="02040503050406030204" pitchFamily="18" charset="0"/>
                                    </a:rPr>
                                  </m:ctrlPr>
                                </m:sSubSup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up>
                                  <m:r>
                                    <a:rPr lang="en-US" altLang="zh-CN" sz="1600" i="1">
                                      <a:solidFill>
                                        <a:schemeClr val="tx1"/>
                                      </a:solidFill>
                                      <a:latin typeface="Cambria Math" panose="02040503050406030204" pitchFamily="18" charset="0"/>
                                    </a:rPr>
                                    <m:t>2</m:t>
                                  </m:r>
                                </m:sup>
                              </m:sSubSup>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num>
                            <m:den>
                              <m:sSup>
                                <m:sSupPr>
                                  <m:ctrlPr>
                                    <a:rPr lang="en-US" altLang="zh-CN" sz="1600" i="1">
                                      <a:solidFill>
                                        <a:schemeClr val="tx1"/>
                                      </a:solidFill>
                                      <a:latin typeface="Cambria Math" panose="02040503050406030204" pitchFamily="18" charset="0"/>
                                    </a:rPr>
                                  </m:ctrlPr>
                                </m:sSupPr>
                                <m:e>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𝑜</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e>
                                  </m:d>
                                </m:e>
                                <m:sup>
                                  <m:r>
                                    <a:rPr lang="en-US" altLang="zh-CN" sz="1600" i="1">
                                      <a:solidFill>
                                        <a:schemeClr val="tx1"/>
                                      </a:solidFill>
                                      <a:latin typeface="Cambria Math" panose="02040503050406030204" pitchFamily="18" charset="0"/>
                                    </a:rPr>
                                    <m:t>2</m:t>
                                  </m:r>
                                </m:sup>
                              </m:sSup>
                            </m:den>
                          </m:f>
                          <m:d>
                            <m:dPr>
                              <m:begChr m:val="|"/>
                              <m:endChr m:val="|"/>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𝒐</m:t>
                                  </m:r>
                                </m:e>
                                <m:sup>
                                  <m:r>
                                    <a:rPr lang="en-US" altLang="zh-CN" sz="1600" b="1" i="1" dirty="0" smtClean="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b="0" i="1" dirty="0" smtClean="0">
                                  <a:solidFill>
                                    <a:schemeClr val="tx1"/>
                                  </a:solidFill>
                                  <a:latin typeface="Cambria Math" panose="02040503050406030204" pitchFamily="18" charset="0"/>
                                </a:rPr>
                                <m:t>2</m:t>
                              </m:r>
                            </m:sub>
                          </m:sSub>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𝑑</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m:rPr>
                                  <m:sty m:val="p"/>
                                </m:rPr>
                                <a:rPr lang="en-US" altLang="zh-CN" sz="1600" i="1" dirty="0">
                                  <a:solidFill>
                                    <a:schemeClr val="tx1"/>
                                  </a:solidFill>
                                  <a:latin typeface="Cambria Math" panose="02040503050406030204" pitchFamily="18" charset="0"/>
                                </a:rPr>
                                <m:t>m</m:t>
                              </m:r>
                            </m:sub>
                          </m:sSub>
                        </m:e>
                      </m:nary>
                    </m:oMath>
                  </m:oMathPara>
                </a14:m>
                <a:endParaRPr lang="en-US" altLang="zh-CN" sz="1600" b="0" i="1" dirty="0">
                  <a:solidFill>
                    <a:schemeClr val="tx1"/>
                  </a:solidFill>
                  <a:latin typeface="Cambria Math" panose="02040503050406030204" pitchFamily="18" charset="0"/>
                </a:endParaRPr>
              </a:p>
              <a:p>
                <a:pPr algn="ctr">
                  <a:lnSpc>
                    <a:spcPct val="130000"/>
                  </a:lnSpc>
                </a:pPr>
                <a14:m>
                  <m:oMathPara xmlns:m="http://schemas.openxmlformats.org/officeDocument/2006/math">
                    <m:oMathParaPr>
                      <m:jc m:val="centerGroup"/>
                    </m:oMathParaPr>
                    <m:oMath xmlns:m="http://schemas.openxmlformats.org/officeDocument/2006/math">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en>
                      </m:f>
                      <m:f>
                        <m:fPr>
                          <m:ctrlPr>
                            <a:rPr lang="en-US" altLang="zh-CN" sz="1600" i="1" dirty="0">
                              <a:solidFill>
                                <a:schemeClr val="tx1"/>
                              </a:solidFill>
                              <a:latin typeface="Cambria Math" panose="02040503050406030204" pitchFamily="18" charset="0"/>
                            </a:rPr>
                          </m:ctrlPr>
                        </m:fPr>
                        <m:num>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𝑡</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den>
                      </m:f>
                      <m:f>
                        <m:fPr>
                          <m:ctrlPr>
                            <a:rPr lang="en-US" altLang="zh-CN" sz="1600" i="1">
                              <a:solidFill>
                                <a:schemeClr val="tx1"/>
                              </a:solidFill>
                              <a:latin typeface="Cambria Math" panose="02040503050406030204" pitchFamily="18" charset="0"/>
                            </a:rPr>
                          </m:ctrlPr>
                        </m:fPr>
                        <m:num>
                          <m:sSubSup>
                            <m:sSubSupPr>
                              <m:ctrlPr>
                                <a:rPr lang="en-US" altLang="zh-CN" sz="1600" i="1">
                                  <a:solidFill>
                                    <a:schemeClr val="tx1"/>
                                  </a:solidFill>
                                  <a:latin typeface="Cambria Math" panose="02040503050406030204" pitchFamily="18" charset="0"/>
                                </a:rPr>
                              </m:ctrlPr>
                            </m:sSubSup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up>
                              <m:r>
                                <a:rPr lang="en-US" altLang="zh-CN" sz="1600" i="1">
                                  <a:solidFill>
                                    <a:schemeClr val="tx1"/>
                                  </a:solidFill>
                                  <a:latin typeface="Cambria Math" panose="02040503050406030204" pitchFamily="18" charset="0"/>
                                </a:rPr>
                                <m:t>2</m:t>
                              </m:r>
                            </m:sup>
                          </m:sSubSup>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num>
                        <m:den>
                          <m:sSup>
                            <m:sSupPr>
                              <m:ctrlPr>
                                <a:rPr lang="en-US" altLang="zh-CN" sz="1600" i="1">
                                  <a:solidFill>
                                    <a:schemeClr val="tx1"/>
                                  </a:solidFill>
                                  <a:latin typeface="Cambria Math" panose="02040503050406030204" pitchFamily="18" charset="0"/>
                                </a:rPr>
                              </m:ctrlPr>
                            </m:sSupPr>
                            <m:e>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𝑜</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e>
                              </m:d>
                            </m:e>
                            <m:sup>
                              <m:r>
                                <a:rPr lang="en-US" altLang="zh-CN" sz="1600" i="1">
                                  <a:solidFill>
                                    <a:schemeClr val="tx1"/>
                                  </a:solidFill>
                                  <a:latin typeface="Cambria Math" panose="02040503050406030204" pitchFamily="18" charset="0"/>
                                </a:rPr>
                                <m:t>2</m:t>
                              </m:r>
                            </m:sup>
                          </m:sSup>
                        </m:den>
                      </m:f>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b="1" i="1" dirty="0" smtClean="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b="0" i="1" dirty="0" smtClean="0">
                              <a:solidFill>
                                <a:schemeClr val="tx1"/>
                              </a:solidFill>
                              <a:latin typeface="Cambria Math" panose="02040503050406030204" pitchFamily="18" charset="0"/>
                            </a:rPr>
                            <m:t>2</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b="1" i="1">
                          <a:solidFill>
                            <a:schemeClr val="tx1"/>
                          </a:solidFill>
                          <a:latin typeface="Cambria Math" panose="02040503050406030204" pitchFamily="18" charset="0"/>
                        </a:rPr>
                        <m:t>=</m:t>
                      </m:r>
                      <m:sSup>
                        <m:sSupPr>
                          <m:ctrlPr>
                            <a:rPr lang="en-US" altLang="zh-CN" sz="1600" b="1" i="1">
                              <a:solidFill>
                                <a:schemeClr val="tx1"/>
                              </a:solidFill>
                              <a:latin typeface="Cambria Math" panose="02040503050406030204" pitchFamily="18" charset="0"/>
                            </a:rPr>
                          </m:ctrlPr>
                        </m:sSupPr>
                        <m:e>
                          <m:r>
                            <a:rPr lang="en-US" altLang="zh-CN" sz="1600" b="1" i="1">
                              <a:solidFill>
                                <a:schemeClr val="tx1"/>
                              </a:solidFill>
                              <a:latin typeface="Cambria Math" panose="02040503050406030204" pitchFamily="18" charset="0"/>
                            </a:rPr>
                            <m:t>𝑿</m:t>
                          </m:r>
                        </m:e>
                        <m:sup>
                          <m:r>
                            <a:rPr lang="en-US" altLang="zh-CN" sz="1600" b="1" i="1">
                              <a:solidFill>
                                <a:schemeClr val="tx1"/>
                              </a:solidFill>
                              <a:latin typeface="Cambria Math" panose="02040503050406030204" pitchFamily="18" charset="0"/>
                            </a:rPr>
                            <m:t>+</m:t>
                          </m:r>
                        </m:sup>
                      </m:sSup>
                      <m:d>
                        <m:dPr>
                          <m:ctrlPr>
                            <a:rPr lang="en-US" altLang="zh-CN" sz="1600" b="1" i="1">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b="1" i="1">
                          <a:solidFill>
                            <a:schemeClr val="tx1"/>
                          </a:solidFill>
                          <a:latin typeface="Cambria Math" panose="02040503050406030204" pitchFamily="18" charset="0"/>
                        </a:rPr>
                        <m:t> </m:t>
                      </m:r>
                      <m:d>
                        <m:dPr>
                          <m:begChr m:val="|"/>
                          <m:endChr m:val="|"/>
                          <m:ctrlPr>
                            <a:rPr lang="en-US" altLang="zh-CN" sz="1600" b="1"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oMath>
                  </m:oMathPara>
                </a14:m>
                <a:endParaRPr lang="en-US" altLang="zh-CN" sz="1600" i="1" dirty="0">
                  <a:solidFill>
                    <a:schemeClr val="tx1"/>
                  </a:solidFill>
                  <a:latin typeface="Cambria Math" panose="02040503050406030204" pitchFamily="18" charset="0"/>
                </a:endParaRPr>
              </a:p>
              <a:p>
                <a:pPr algn="ctr">
                  <a:lnSpc>
                    <a:spcPct val="130000"/>
                  </a:lnSpc>
                </a:pPr>
                <a14:m>
                  <m:oMathPara xmlns:m="http://schemas.openxmlformats.org/officeDocument/2006/math">
                    <m:oMathParaPr>
                      <m:jc m:val="centerGroup"/>
                    </m:oMathParaPr>
                    <m:oMath xmlns:m="http://schemas.openxmlformats.org/officeDocument/2006/math">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d>
                            <m:dPr>
                              <m:begChr m:val="|"/>
                              <m:endChr m:val="|"/>
                              <m:ctrlPr>
                                <a:rPr lang="en-US" altLang="zh-CN" sz="160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en>
                      </m:f>
                      <m:r>
                        <a:rPr lang="en-US" altLang="zh-CN" sz="1600" b="0" i="1" dirty="0" smtClean="0">
                          <a:solidFill>
                            <a:schemeClr val="tx1"/>
                          </a:solidFill>
                          <a:latin typeface="Cambria Math" panose="02040503050406030204" pitchFamily="18" charset="0"/>
                        </a:rPr>
                        <m:t> </m:t>
                      </m:r>
                      <m:f>
                        <m:fPr>
                          <m:ctrlPr>
                            <a:rPr lang="en-US" altLang="zh-CN" sz="1600" i="1" dirty="0">
                              <a:solidFill>
                                <a:schemeClr val="tx1"/>
                              </a:solidFill>
                              <a:latin typeface="Cambria Math" panose="02040503050406030204" pitchFamily="18" charset="0"/>
                            </a:rPr>
                          </m:ctrlPr>
                        </m:fPr>
                        <m:num>
                          <m:sSubSup>
                            <m:sSubSupPr>
                              <m:ctrlPr>
                                <a:rPr lang="en-US" altLang="zh-CN" sz="1600" i="1">
                                  <a:solidFill>
                                    <a:schemeClr val="tx1"/>
                                  </a:solidFill>
                                  <a:latin typeface="Cambria Math" panose="02040503050406030204" pitchFamily="18" charset="0"/>
                                </a:rPr>
                              </m:ctrlPr>
                            </m:sSubSup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up>
                              <m:r>
                                <a:rPr lang="en-US" altLang="zh-CN" sz="1600" i="1">
                                  <a:solidFill>
                                    <a:schemeClr val="tx1"/>
                                  </a:solidFill>
                                  <a:latin typeface="Cambria Math" panose="02040503050406030204" pitchFamily="18" charset="0"/>
                                </a:rPr>
                                <m:t>2</m:t>
                              </m:r>
                            </m:sup>
                          </m:sSubSup>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𝑡</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r>
                            <a:rPr lang="en-US" altLang="zh-CN" sz="1600" b="0" i="1" smtClean="0">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b="0" i="1" dirty="0" smtClean="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2</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num>
                        <m:den>
                          <m:sSup>
                            <m:sSupPr>
                              <m:ctrlPr>
                                <a:rPr lang="en-US" altLang="zh-CN" sz="1600" i="1">
                                  <a:solidFill>
                                    <a:schemeClr val="tx1"/>
                                  </a:solidFill>
                                  <a:latin typeface="Cambria Math" panose="02040503050406030204" pitchFamily="18" charset="0"/>
                                </a:rPr>
                              </m:ctrlPr>
                            </m:sSupPr>
                            <m:e>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𝑜</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e>
                              </m:d>
                            </m:e>
                            <m:sup>
                              <m:r>
                                <a:rPr lang="en-US" altLang="zh-CN" sz="1600" i="1">
                                  <a:solidFill>
                                    <a:schemeClr val="tx1"/>
                                  </a:solidFill>
                                  <a:latin typeface="Cambria Math" panose="02040503050406030204" pitchFamily="18" charset="0"/>
                                </a:rPr>
                                <m:t>2</m:t>
                              </m:r>
                            </m:sup>
                          </m:sSup>
                        </m:den>
                      </m:f>
                      <m:r>
                        <a:rPr lang="en-US" altLang="zh-CN" sz="1600" i="1" dirty="0">
                          <a:solidFill>
                            <a:schemeClr val="tx1"/>
                          </a:solidFill>
                          <a:latin typeface="Cambria Math" panose="02040503050406030204" pitchFamily="18" charset="0"/>
                        </a:rPr>
                        <m:t>,  </m:t>
                      </m:r>
                      <m:d>
                        <m:dPr>
                          <m:ctrlPr>
                            <a:rPr lang="en-US" altLang="zh-CN" sz="1600" i="1" dirty="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r>
                            <a:rPr lang="en-US" altLang="zh-CN" sz="1600" i="1" dirty="0">
                              <a:solidFill>
                                <a:schemeClr val="tx1"/>
                              </a:solidFill>
                              <a:latin typeface="Cambria Math" panose="02040503050406030204" pitchFamily="18" charset="0"/>
                            </a:rPr>
                            <m:t>&gt;</m:t>
                          </m:r>
                          <m:r>
                            <a:rPr lang="en-US" altLang="zh-CN" sz="1600" i="1" dirty="0">
                              <a:solidFill>
                                <a:schemeClr val="tx1"/>
                              </a:solidFill>
                              <a:latin typeface="Cambria Math" panose="02040503050406030204" pitchFamily="18" charset="0"/>
                            </a:rPr>
                            <m:t>0</m:t>
                          </m:r>
                        </m:e>
                      </m:d>
                    </m:oMath>
                  </m:oMathPara>
                </a14:m>
                <a:endParaRPr lang="en-US" altLang="zh-CN" sz="1600" b="1" dirty="0">
                  <a:solidFill>
                    <a:schemeClr val="tx1"/>
                  </a:solidFill>
                </a:endParaRPr>
              </a:p>
            </p:txBody>
          </p:sp>
        </mc:Choice>
        <mc:Fallback xmlns="">
          <p:sp>
            <p:nvSpPr>
              <p:cNvPr id="6" name="矩形 5">
                <a:extLst>
                  <a:ext uri="{FF2B5EF4-FFF2-40B4-BE49-F238E27FC236}">
                    <a16:creationId xmlns:a16="http://schemas.microsoft.com/office/drawing/2014/main" id="{8E5E5F06-A02A-0A64-9ACD-10B1C6FFCC4D}"/>
                  </a:ext>
                </a:extLst>
              </p:cNvPr>
              <p:cNvSpPr>
                <a:spLocks noRot="1" noChangeAspect="1" noMove="1" noResize="1" noEditPoints="1" noAdjustHandles="1" noChangeArrowheads="1" noChangeShapeType="1" noTextEdit="1"/>
              </p:cNvSpPr>
              <p:nvPr/>
            </p:nvSpPr>
            <p:spPr>
              <a:xfrm>
                <a:off x="425885" y="1144044"/>
                <a:ext cx="11417474" cy="5402806"/>
              </a:xfrm>
              <a:prstGeom prst="rect">
                <a:avLst/>
              </a:prstGeom>
              <a:blipFill>
                <a:blip r:embed="rId2"/>
                <a:stretch>
                  <a:fillRect/>
                </a:stretch>
              </a:blipFill>
            </p:spPr>
            <p:txBody>
              <a:bodyPr/>
              <a:lstStyle/>
              <a:p>
                <a:r>
                  <a:rPr lang="zh-CN" altLang="en-US">
                    <a:noFill/>
                  </a:rPr>
                  <a:t> </a:t>
                </a:r>
              </a:p>
            </p:txBody>
          </p:sp>
        </mc:Fallback>
      </mc:AlternateContent>
      <p:pic>
        <p:nvPicPr>
          <p:cNvPr id="2" name="图片 1">
            <a:extLst>
              <a:ext uri="{FF2B5EF4-FFF2-40B4-BE49-F238E27FC236}">
                <a16:creationId xmlns:a16="http://schemas.microsoft.com/office/drawing/2014/main" id="{55EF3935-BD09-ED71-0897-4EA843465FD5}"/>
              </a:ext>
            </a:extLst>
          </p:cNvPr>
          <p:cNvPicPr>
            <a:picLocks noChangeAspect="1"/>
          </p:cNvPicPr>
          <p:nvPr/>
        </p:nvPicPr>
        <p:blipFill>
          <a:blip r:embed="rId3"/>
          <a:stretch>
            <a:fillRect/>
          </a:stretch>
        </p:blipFill>
        <p:spPr>
          <a:xfrm>
            <a:off x="9347036" y="0"/>
            <a:ext cx="2844964" cy="1686836"/>
          </a:xfrm>
          <a:prstGeom prst="rect">
            <a:avLst/>
          </a:prstGeom>
        </p:spPr>
      </p:pic>
    </p:spTree>
    <p:extLst>
      <p:ext uri="{BB962C8B-B14F-4D97-AF65-F5344CB8AC3E}">
        <p14:creationId xmlns:p14="http://schemas.microsoft.com/office/powerpoint/2010/main" val="2204302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B09013-9D7F-DF4B-30D2-34B7E678A4CA}"/>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75B0E29E-0B4D-F2F3-F325-95F67660494A}"/>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整理一下</a:t>
            </a:r>
            <a:endParaRPr lang="en-US" altLang="zh-CN" dirty="0"/>
          </a:p>
        </p:txBody>
      </p:sp>
      <p:sp>
        <p:nvSpPr>
          <p:cNvPr id="5" name="矩形 4">
            <a:extLst>
              <a:ext uri="{FF2B5EF4-FFF2-40B4-BE49-F238E27FC236}">
                <a16:creationId xmlns:a16="http://schemas.microsoft.com/office/drawing/2014/main" id="{0B66EE4A-F256-A4FD-7DA3-94CD9D3F2823}"/>
              </a:ext>
            </a:extLst>
          </p:cNvPr>
          <p:cNvSpPr/>
          <p:nvPr/>
        </p:nvSpPr>
        <p:spPr>
          <a:xfrm>
            <a:off x="631109" y="1315233"/>
            <a:ext cx="11137094"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134DA6FF-23BE-2981-AF34-11E70DB2F15B}"/>
                  </a:ext>
                </a:extLst>
              </p:cNvPr>
              <p:cNvSpPr/>
              <p:nvPr/>
            </p:nvSpPr>
            <p:spPr>
              <a:xfrm>
                <a:off x="478709" y="1144044"/>
                <a:ext cx="11137094"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1400" i="1" dirty="0" smtClean="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e>
                        <m:sup>
                          <m:r>
                            <a:rPr lang="en-US" altLang="zh-CN" sz="1400" i="1" dirty="0">
                              <a:solidFill>
                                <a:schemeClr val="tx1"/>
                              </a:solidFill>
                              <a:latin typeface="Cambria Math" panose="02040503050406030204" pitchFamily="18" charset="0"/>
                            </a:rPr>
                            <m:t>𝑟</m:t>
                          </m:r>
                        </m:sup>
                      </m:s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𝐹</m:t>
                              </m:r>
                            </m:e>
                            <m:sub>
                              <m:r>
                                <a:rPr lang="en-US" altLang="zh-CN" sz="1400" i="1">
                                  <a:solidFill>
                                    <a:schemeClr val="tx1"/>
                                  </a:solidFill>
                                  <a:latin typeface="Cambria Math" panose="02040503050406030204" pitchFamily="18" charset="0"/>
                                </a:rPr>
                                <m:t>𝑟</m:t>
                              </m:r>
                            </m:sub>
                          </m:sSub>
                          <m:d>
                            <m:dPr>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𝒐</m:t>
                              </m:r>
                            </m:e>
                          </m:d>
                          <m:r>
                            <a:rPr lang="en-US" altLang="zh-CN" sz="1400" i="1">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𝒓</m:t>
                                  </m:r>
                                </m:sub>
                              </m:sSub>
                            </m:e>
                          </m:d>
                          <m:r>
                            <a:rPr lang="en-US" altLang="zh-CN" sz="1400" i="1">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2</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𝒓</m:t>
                                  </m:r>
                                </m:sub>
                              </m:sSub>
                            </m:e>
                          </m:d>
                        </m:num>
                        <m:den>
                          <m:r>
                            <a:rPr lang="en-US" altLang="zh-CN" sz="1400" i="1" dirty="0">
                              <a:solidFill>
                                <a:schemeClr val="tx1"/>
                              </a:solidFill>
                              <a:latin typeface="Cambria Math" panose="02040503050406030204" pitchFamily="18" charset="0"/>
                            </a:rPr>
                            <m:t>4</m:t>
                          </m:r>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en>
                      </m:f>
                      <m:r>
                        <a:rPr lang="en-US" altLang="zh-CN" sz="1400" i="1" dirty="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𝒓</m:t>
                              </m:r>
                            </m:sub>
                          </m:sSub>
                          <m:r>
                            <a:rPr lang="en-US" altLang="zh-CN" sz="1400" i="1" dirty="0">
                              <a:solidFill>
                                <a:schemeClr val="tx1"/>
                              </a:solidFill>
                              <a:latin typeface="Cambria Math" panose="02040503050406030204" pitchFamily="18" charset="0"/>
                            </a:rPr>
                            <m:t>&gt;0</m:t>
                          </m:r>
                        </m:e>
                      </m:d>
                    </m:oMath>
                  </m:oMathPara>
                </a14:m>
                <a:endParaRPr lang="en-US" altLang="zh-CN" sz="14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1400" i="1" dirty="0" smtClean="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e>
                        <m:sup>
                          <m:r>
                            <a:rPr lang="en-US" altLang="zh-CN" sz="1400" i="1" dirty="0">
                              <a:solidFill>
                                <a:schemeClr val="tx1"/>
                              </a:solidFill>
                              <a:latin typeface="Cambria Math" panose="02040503050406030204" pitchFamily="18" charset="0"/>
                            </a:rPr>
                            <m:t>𝑡</m:t>
                          </m:r>
                        </m:sup>
                      </m:sSup>
                      <m:d>
                        <m:dPr>
                          <m:ctrlPr>
                            <a:rPr lang="en-US" altLang="zh-CN" sz="1400" i="1" dirty="0">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𝒐</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num>
                        <m:den>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en>
                      </m:f>
                      <m:r>
                        <a:rPr lang="en-US" altLang="zh-CN" sz="1400" i="1" dirty="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sSubSup>
                            <m:sSubSupPr>
                              <m:ctrlPr>
                                <a:rPr lang="en-US" altLang="zh-CN" sz="1400" i="1">
                                  <a:solidFill>
                                    <a:schemeClr val="tx1"/>
                                  </a:solidFill>
                                  <a:latin typeface="Cambria Math" panose="02040503050406030204" pitchFamily="18" charset="0"/>
                                </a:rPr>
                              </m:ctrlPr>
                            </m:sSubSup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up>
                              <m:r>
                                <a:rPr lang="en-US" altLang="zh-CN" sz="1400" i="1">
                                  <a:solidFill>
                                    <a:schemeClr val="tx1"/>
                                  </a:solidFill>
                                  <a:latin typeface="Cambria Math" panose="02040503050406030204" pitchFamily="18" charset="0"/>
                                </a:rPr>
                                <m:t>2</m:t>
                              </m:r>
                            </m:sup>
                          </m:sSubSup>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𝐹</m:t>
                              </m:r>
                            </m:e>
                            <m:sub>
                              <m:r>
                                <a:rPr lang="en-US" altLang="zh-CN" sz="1400" i="1">
                                  <a:solidFill>
                                    <a:schemeClr val="tx1"/>
                                  </a:solidFill>
                                  <a:latin typeface="Cambria Math" panose="02040503050406030204" pitchFamily="18" charset="0"/>
                                </a:rPr>
                                <m:t>𝑡</m:t>
                              </m:r>
                            </m:sub>
                          </m:sSub>
                          <m:d>
                            <m:dPr>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𝒐</m:t>
                              </m:r>
                            </m:e>
                          </m:d>
                          <m:r>
                            <a:rPr lang="en-US" altLang="zh-CN" sz="1400" i="1">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r>
                            <a:rPr lang="en-US" altLang="zh-CN" sz="1400" i="1" dirty="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2</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num>
                        <m:den>
                          <m:sSup>
                            <m:sSupPr>
                              <m:ctrlPr>
                                <a:rPr lang="en-US" altLang="zh-CN" sz="1400" i="1">
                                  <a:solidFill>
                                    <a:schemeClr val="tx1"/>
                                  </a:solidFill>
                                  <a:latin typeface="Cambria Math" panose="02040503050406030204" pitchFamily="18" charset="0"/>
                                </a:rPr>
                              </m:ctrlPr>
                            </m:sSupPr>
                            <m:e>
                              <m:d>
                                <m:dPr>
                                  <m:ctrlPr>
                                    <a:rPr lang="en-US" altLang="zh-CN" sz="1400" i="1">
                                      <a:solidFill>
                                        <a:schemeClr val="tx1"/>
                                      </a:solidFill>
                                      <a:latin typeface="Cambria Math" panose="02040503050406030204" pitchFamily="18" charset="0"/>
                                    </a:rPr>
                                  </m:ctrlPr>
                                </m:dPr>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𝑜</m:t>
                                      </m:r>
                                    </m:sub>
                                  </m:sSub>
                                  <m:d>
                                    <m:dPr>
                                      <m:begChr m:val="|"/>
                                      <m:endChr m:val="|"/>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𝒐</m:t>
                                      </m:r>
                                      <m:r>
                                        <a:rPr lang="en-US" altLang="zh-CN" sz="1400" i="1">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Sub>
                                  <m:d>
                                    <m:dPr>
                                      <m:begChr m:val="|"/>
                                      <m:endChr m:val="|"/>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e>
                              </m:d>
                            </m:e>
                            <m:sup>
                              <m:r>
                                <a:rPr lang="en-US" altLang="zh-CN" sz="1400" i="1">
                                  <a:solidFill>
                                    <a:schemeClr val="tx1"/>
                                  </a:solidFill>
                                  <a:latin typeface="Cambria Math" panose="02040503050406030204" pitchFamily="18" charset="0"/>
                                </a:rPr>
                                <m:t>2</m:t>
                              </m:r>
                            </m:sup>
                          </m:sSup>
                        </m:den>
                      </m:f>
                      <m:r>
                        <a:rPr lang="en-US" altLang="zh-CN" sz="1400" i="1" dirty="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r>
                            <a:rPr lang="en-US" altLang="zh-CN" sz="1400" i="1" dirty="0">
                              <a:solidFill>
                                <a:schemeClr val="tx1"/>
                              </a:solidFill>
                              <a:latin typeface="Cambria Math" panose="02040503050406030204" pitchFamily="18" charset="0"/>
                            </a:rPr>
                            <m:t>&gt;0</m:t>
                          </m:r>
                        </m:e>
                      </m:d>
                    </m:oMath>
                  </m:oMathPara>
                </a14:m>
                <a:endParaRPr lang="en-US" altLang="zh-CN" sz="1400" i="1" dirty="0">
                  <a:solidFill>
                    <a:schemeClr val="tx1"/>
                  </a:solidFill>
                  <a:latin typeface="Cambria Math" panose="02040503050406030204" pitchFamily="18" charset="0"/>
                </a:endParaRPr>
              </a:p>
              <a:p>
                <a:pPr algn="ctr">
                  <a:lnSpc>
                    <a:spcPct val="150000"/>
                  </a:lnSpc>
                </a:pPr>
                <a:r>
                  <a:rPr lang="en-US" altLang="zh-CN" sz="1400" i="1" dirty="0">
                    <a:solidFill>
                      <a:schemeClr val="tx1"/>
                    </a:solidFill>
                    <a:latin typeface="Cambria Math" panose="02040503050406030204" pitchFamily="18" charset="0"/>
                  </a:rPr>
                  <a:t>—————————————————————————————————————————————————————————————</a:t>
                </a:r>
              </a:p>
              <a:p>
                <a:pPr algn="ctr">
                  <a:lnSpc>
                    <a:spcPct val="150000"/>
                  </a:lnSpc>
                </a:pPr>
                <a:r>
                  <a:rPr lang="zh-CN" altLang="en-US" sz="1400" dirty="0">
                    <a:solidFill>
                      <a:schemeClr val="tx1"/>
                    </a:solidFill>
                    <a:latin typeface="Cambria Math" panose="02040503050406030204" pitchFamily="18" charset="0"/>
                  </a:rPr>
                  <a:t>其中：</a:t>
                </a:r>
                <a:endParaRPr lang="en-US" altLang="zh-CN" sz="1400"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𝜋</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4</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e>
                              </m:d>
                            </m:e>
                            <m:sup>
                              <m:r>
                                <a:rPr lang="en-US" altLang="zh-CN" sz="1400" i="1" dirty="0">
                                  <a:solidFill>
                                    <a:schemeClr val="tx1"/>
                                  </a:solidFill>
                                  <a:latin typeface="Cambria Math" panose="02040503050406030204" pitchFamily="18" charset="0"/>
                                </a:rPr>
                                <m:t>2</m:t>
                              </m:r>
                            </m:sup>
                          </m:sSup>
                        </m:den>
                      </m:f>
                    </m:oMath>
                  </m:oMathPara>
                </a14:m>
                <a:endParaRPr lang="en-US" altLang="zh-CN" sz="14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m:rPr>
                          <m:sty m:val="p"/>
                        </m:rPr>
                        <a:rPr lang="en-US" altLang="zh-CN" sz="1400" b="0" i="0" dirty="0" smtClean="0">
                          <a:solidFill>
                            <a:schemeClr val="tx1"/>
                          </a:solidFill>
                          <a:latin typeface="Cambria Math" panose="02040503050406030204" pitchFamily="18" charset="0"/>
                        </a:rPr>
                        <m:t>Λ</m:t>
                      </m:r>
                      <m:d>
                        <m:dPr>
                          <m:ctrlPr>
                            <a:rPr lang="en-US" altLang="zh-CN" sz="1400" b="1" i="1" dirty="0" smtClean="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𝒗</m:t>
                          </m:r>
                        </m:e>
                      </m:d>
                      <m:r>
                        <a:rPr lang="en-US" altLang="zh-CN" sz="1400" b="1" i="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ad>
                            <m:radPr>
                              <m:degHide m:val="on"/>
                              <m:ctrlPr>
                                <a:rPr lang="en-US" altLang="zh-CN" sz="1400" i="1" dirty="0">
                                  <a:solidFill>
                                    <a:schemeClr val="tx1"/>
                                  </a:solidFill>
                                  <a:latin typeface="Cambria Math" panose="02040503050406030204" pitchFamily="18" charset="0"/>
                                </a:rPr>
                              </m:ctrlPr>
                            </m:radPr>
                            <m:deg/>
                            <m:e>
                              <m:r>
                                <a:rPr lang="en-US" altLang="zh-CN" sz="1400" i="1" dirty="0">
                                  <a:solidFill>
                                    <a:schemeClr val="tx1"/>
                                  </a:solidFill>
                                  <a:latin typeface="Cambria Math" panose="02040503050406030204" pitchFamily="18" charset="0"/>
                                </a:rPr>
                                <m:t>1+</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𝑣</m:t>
                                      </m:r>
                                    </m:sub>
                                    <m:sup>
                                      <m:r>
                                        <a:rPr lang="en-US" altLang="zh-CN" sz="1400" i="1" dirty="0">
                                          <a:solidFill>
                                            <a:schemeClr val="tx1"/>
                                          </a:solidFill>
                                          <a:latin typeface="Cambria Math" panose="02040503050406030204" pitchFamily="18" charset="0"/>
                                        </a:rPr>
                                        <m:t>+</m:t>
                                      </m:r>
                                    </m:sup>
                                  </m:sSubSup>
                                </m:e>
                              </m:func>
                            </m:e>
                          </m:rad>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den>
                      </m:f>
                      <m:r>
                        <a:rPr lang="en-US" altLang="zh-CN" sz="1400" b="1"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𝑣</m:t>
                          </m:r>
                        </m:sub>
                        <m:sup>
                          <m:r>
                            <a:rPr lang="en-US" altLang="zh-CN" sz="1400" i="1" dirty="0">
                              <a:solidFill>
                                <a:schemeClr val="tx1"/>
                              </a:solidFill>
                              <a:latin typeface="Cambria Math" panose="02040503050406030204" pitchFamily="18" charset="0"/>
                            </a:rPr>
                            <m:t>+</m:t>
                          </m:r>
                        </m:sup>
                      </m:sSubSup>
                      <m:r>
                        <a:rPr lang="zh-CN" altLang="en-US" sz="1400" i="1" dirty="0">
                          <a:solidFill>
                            <a:schemeClr val="tx1"/>
                          </a:solidFill>
                          <a:latin typeface="Cambria Math" panose="02040503050406030204" pitchFamily="18" charset="0"/>
                        </a:rPr>
                        <m:t>为</m:t>
                      </m:r>
                      <m:sSup>
                        <m:sSupPr>
                          <m:ctrlPr>
                            <a:rPr lang="en-US" altLang="zh-CN" sz="1400" b="1" i="1" dirty="0">
                              <a:solidFill>
                                <a:schemeClr val="tx1"/>
                              </a:solidFill>
                              <a:latin typeface="Cambria Math" panose="02040503050406030204" pitchFamily="18" charset="0"/>
                            </a:rPr>
                          </m:ctrlPr>
                        </m:sSupPr>
                        <m:e>
                          <m:r>
                            <a:rPr lang="en-US" altLang="zh-CN" sz="1400" b="1" i="1" dirty="0" smtClean="0">
                              <a:solidFill>
                                <a:schemeClr val="tx1"/>
                              </a:solidFill>
                              <a:latin typeface="Cambria Math" panose="02040503050406030204" pitchFamily="18" charset="0"/>
                            </a:rPr>
                            <m:t>𝒗</m:t>
                          </m:r>
                        </m:e>
                        <m:sup>
                          <m:r>
                            <a:rPr lang="en-US" altLang="zh-CN" sz="1400" b="1" i="1" dirty="0">
                              <a:solidFill>
                                <a:schemeClr val="tx1"/>
                              </a:solidFill>
                              <a:latin typeface="Cambria Math" panose="02040503050406030204" pitchFamily="18" charset="0"/>
                            </a:rPr>
                            <m:t>+</m:t>
                          </m:r>
                        </m:sup>
                      </m:sSup>
                      <m:r>
                        <a:rPr lang="zh-CN" altLang="en-US" sz="1400" b="1" i="1" dirty="0">
                          <a:solidFill>
                            <a:schemeClr val="tx1"/>
                          </a:solidFill>
                          <a:latin typeface="Cambria Math" panose="02040503050406030204" pitchFamily="18" charset="0"/>
                        </a:rPr>
                        <m:t>与</m:t>
                      </m:r>
                      <m:r>
                        <a:rPr lang="en-US" altLang="zh-CN" sz="1400" b="1" i="1" dirty="0">
                          <a:solidFill>
                            <a:schemeClr val="tx1"/>
                          </a:solidFill>
                          <a:latin typeface="Cambria Math" panose="02040503050406030204" pitchFamily="18" charset="0"/>
                        </a:rPr>
                        <m:t>𝒈</m:t>
                      </m:r>
                      <m:r>
                        <a:rPr lang="zh-CN" altLang="en-US" sz="1400" b="1" i="1" dirty="0">
                          <a:solidFill>
                            <a:schemeClr val="tx1"/>
                          </a:solidFill>
                          <a:latin typeface="Cambria Math" panose="02040503050406030204" pitchFamily="18" charset="0"/>
                        </a:rPr>
                        <m:t>的夹角</m:t>
                      </m:r>
                    </m:oMath>
                  </m:oMathPara>
                </a14:m>
                <a:endParaRPr lang="en-US" altLang="zh-CN" sz="14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num>
                        <m:den>
                          <m:r>
                            <a:rPr lang="en-US" altLang="zh-CN" sz="1400" dirty="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den>
                      </m:f>
                      <m:r>
                        <a:rPr lang="en-US" altLang="zh-CN" sz="1400" b="1"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2</m:t>
                          </m:r>
                        </m:num>
                        <m:den>
                          <m:r>
                            <a:rPr lang="en-US" altLang="zh-CN" sz="1400" i="1" dirty="0">
                              <a:solidFill>
                                <a:schemeClr val="tx1"/>
                              </a:solidFill>
                              <a:latin typeface="Cambria Math" panose="02040503050406030204" pitchFamily="18" charset="0"/>
                            </a:rPr>
                            <m:t>1+</m:t>
                          </m:r>
                          <m:rad>
                            <m:radPr>
                              <m:degHide m:val="on"/>
                              <m:ctrlPr>
                                <a:rPr lang="en-US" altLang="zh-CN" sz="1400" i="1" dirty="0">
                                  <a:solidFill>
                                    <a:schemeClr val="tx1"/>
                                  </a:solidFill>
                                  <a:latin typeface="Cambria Math" panose="02040503050406030204" pitchFamily="18" charset="0"/>
                                </a:rPr>
                              </m:ctrlPr>
                            </m:radPr>
                            <m:deg/>
                            <m:e>
                              <m:r>
                                <a:rPr lang="en-US" altLang="zh-CN" sz="1400" i="1" dirty="0">
                                  <a:solidFill>
                                    <a:schemeClr val="tx1"/>
                                  </a:solidFill>
                                  <a:latin typeface="Cambria Math" panose="02040503050406030204" pitchFamily="18" charset="0"/>
                                </a:rPr>
                                <m:t>1+</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e>
                              </m:func>
                            </m:e>
                          </m:rad>
                        </m:den>
                      </m:f>
                    </m:oMath>
                  </m:oMathPara>
                </a14:m>
                <a:endParaRPr lang="en-US" altLang="zh-CN" sz="1400" b="1"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2</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b="1"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b="1"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𝒊</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num>
                        <m:den>
                          <m:r>
                            <a:rPr lang="en-US" altLang="zh-CN" sz="1400" i="1" dirty="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e>
                          </m:d>
                        </m:den>
                      </m:f>
                    </m:oMath>
                  </m:oMathPara>
                </a14:m>
                <a:endParaRPr lang="en-US" altLang="zh-CN" sz="1400" b="1" dirty="0">
                  <a:solidFill>
                    <a:schemeClr val="tx1"/>
                  </a:solidFill>
                </a:endParaRPr>
              </a:p>
            </p:txBody>
          </p:sp>
        </mc:Choice>
        <mc:Fallback xmlns="">
          <p:sp>
            <p:nvSpPr>
              <p:cNvPr id="6" name="矩形 5">
                <a:extLst>
                  <a:ext uri="{FF2B5EF4-FFF2-40B4-BE49-F238E27FC236}">
                    <a16:creationId xmlns:a16="http://schemas.microsoft.com/office/drawing/2014/main" id="{134DA6FF-23BE-2981-AF34-11E70DB2F15B}"/>
                  </a:ext>
                </a:extLst>
              </p:cNvPr>
              <p:cNvSpPr>
                <a:spLocks noRot="1" noChangeAspect="1" noMove="1" noResize="1" noEditPoints="1" noAdjustHandles="1" noChangeArrowheads="1" noChangeShapeType="1" noTextEdit="1"/>
              </p:cNvSpPr>
              <p:nvPr/>
            </p:nvSpPr>
            <p:spPr>
              <a:xfrm>
                <a:off x="478709" y="1144044"/>
                <a:ext cx="11137094" cy="5402806"/>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11468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9C996-0C39-BDD1-0202-A1A3EA88896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AB78A850-CB11-631C-21B2-A73BA37A475C}"/>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r>
                      <a:rPr lang="en-US" altLang="zh-CN" sz="3200" i="1" dirty="0" smtClean="0">
                        <a:solidFill>
                          <a:schemeClr val="tx1"/>
                        </a:solidFill>
                        <a:latin typeface="Cambria Math" panose="02040503050406030204" pitchFamily="18" charset="0"/>
                      </a:rPr>
                      <m:t>𝐷</m:t>
                    </m:r>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𝒎</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AB78A850-CB11-631C-21B2-A73BA37A475C}"/>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864" b="-7627"/>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E696E0B1-9B43-5D7A-67C1-D7F97DA5F6F8}"/>
              </a:ext>
            </a:extLst>
          </p:cNvPr>
          <p:cNvSpPr/>
          <p:nvPr/>
        </p:nvSpPr>
        <p:spPr>
          <a:xfrm>
            <a:off x="631108" y="1315233"/>
            <a:ext cx="6385855"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9553273F-5B7F-8EC1-033F-7D6FC041FAC9}"/>
                  </a:ext>
                </a:extLst>
              </p:cNvPr>
              <p:cNvSpPr/>
              <p:nvPr/>
            </p:nvSpPr>
            <p:spPr>
              <a:xfrm>
                <a:off x="478708" y="1144044"/>
                <a:ext cx="6385855"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r>
                  <a:rPr lang="zh-CN" altLang="en-US" b="0" dirty="0">
                    <a:solidFill>
                      <a:schemeClr val="tx1"/>
                    </a:solidFill>
                  </a:rPr>
                  <a:t>        上述提到的</a:t>
                </a:r>
                <a14:m>
                  <m:oMath xmlns:m="http://schemas.openxmlformats.org/officeDocument/2006/math">
                    <m:r>
                      <a:rPr lang="en-US" altLang="zh-CN" b="0" i="1" dirty="0" smtClean="0">
                        <a:solidFill>
                          <a:schemeClr val="tx1"/>
                        </a:solidFill>
                        <a:latin typeface="Cambria Math" panose="02040503050406030204" pitchFamily="18" charset="0"/>
                      </a:rPr>
                      <m:t>𝐷</m:t>
                    </m:r>
                    <m:d>
                      <m:dPr>
                        <m:ctrlPr>
                          <a:rPr lang="en-US" altLang="zh-CN" i="1" dirty="0">
                            <a:solidFill>
                              <a:schemeClr val="tx1"/>
                            </a:solidFill>
                            <a:latin typeface="Cambria Math" panose="02040503050406030204" pitchFamily="18" charset="0"/>
                          </a:rPr>
                        </m:ctrlPr>
                      </m:dPr>
                      <m:e>
                        <m:r>
                          <a:rPr lang="en-US" altLang="zh-CN" b="1" i="1" dirty="0" smtClean="0">
                            <a:solidFill>
                              <a:schemeClr val="tx1"/>
                            </a:solidFill>
                            <a:latin typeface="Cambria Math" panose="02040503050406030204" pitchFamily="18" charset="0"/>
                          </a:rPr>
                          <m:t>𝒎</m:t>
                        </m:r>
                      </m:e>
                    </m:d>
                  </m:oMath>
                </a14:m>
                <a:r>
                  <a:rPr lang="zh-CN" altLang="en-US" dirty="0">
                    <a:solidFill>
                      <a:schemeClr val="tx1"/>
                    </a:solidFill>
                  </a:rPr>
                  <a:t>表达式最早由</a:t>
                </a:r>
                <a:r>
                  <a:rPr lang="en-US" altLang="zh-CN" dirty="0">
                    <a:solidFill>
                      <a:schemeClr val="tx1"/>
                    </a:solidFill>
                  </a:rPr>
                  <a:t>Trowbridge and Reitz (1975) </a:t>
                </a:r>
                <a:r>
                  <a:rPr lang="en-US" altLang="zh-CN" dirty="0">
                    <a:solidFill>
                      <a:schemeClr val="tx1"/>
                    </a:solidFill>
                    <a:hlinkClick r:id="rId3" action="ppaction://hlinksldjump"/>
                  </a:rPr>
                  <a:t>1</a:t>
                </a:r>
                <a:r>
                  <a:rPr lang="en-US" altLang="zh-CN" dirty="0">
                    <a:solidFill>
                      <a:schemeClr val="tx1"/>
                    </a:solidFill>
                  </a:rPr>
                  <a:t> </a:t>
                </a:r>
                <a:r>
                  <a:rPr lang="zh-CN" altLang="en-US" dirty="0">
                    <a:solidFill>
                      <a:schemeClr val="tx1"/>
                    </a:solidFill>
                  </a:rPr>
                  <a:t>提出，在他们的论文中，这个函数叫做表面结构函数</a:t>
                </a:r>
                <a:r>
                  <a:rPr lang="en-US" altLang="zh-CN" dirty="0">
                    <a:solidFill>
                      <a:schemeClr val="tx1"/>
                    </a:solidFill>
                  </a:rPr>
                  <a:t>(</a:t>
                </a:r>
                <a:r>
                  <a:rPr lang="zh-CN" altLang="en-US" dirty="0">
                    <a:solidFill>
                      <a:schemeClr val="tx1"/>
                    </a:solidFill>
                  </a:rPr>
                  <a:t>𝑆𝑢𝑟𝑓𝑎𝑐𝑒−𝑆𝑡𝑟𝑢𝑐𝑡𝑢𝑟𝑒 𝐹𝑢𝑛𝑐𝑡𝑖𝑜𝑛</a:t>
                </a:r>
                <a:r>
                  <a:rPr lang="en-US" altLang="zh-CN" dirty="0">
                    <a:solidFill>
                      <a:schemeClr val="tx1"/>
                    </a:solidFill>
                  </a:rPr>
                  <a:t>)</a:t>
                </a:r>
                <a:r>
                  <a:rPr lang="zh-CN" altLang="en-US" dirty="0">
                    <a:solidFill>
                      <a:schemeClr val="tx1"/>
                    </a:solidFill>
                  </a:rPr>
                  <a:t>。而后</a:t>
                </a:r>
                <a14:m>
                  <m:oMath xmlns:m="http://schemas.openxmlformats.org/officeDocument/2006/math">
                    <m:r>
                      <a:rPr lang="en-US" altLang="zh-CN" i="1" dirty="0">
                        <a:solidFill>
                          <a:schemeClr val="tx1"/>
                        </a:solidFill>
                        <a:latin typeface="Cambria Math" panose="02040503050406030204" pitchFamily="18" charset="0"/>
                      </a:rPr>
                      <m:t>𝐷</m:t>
                    </m:r>
                    <m:d>
                      <m:dPr>
                        <m:ctrlPr>
                          <a:rPr lang="en-US" altLang="zh-CN" i="1" dirty="0">
                            <a:solidFill>
                              <a:schemeClr val="tx1"/>
                            </a:solidFill>
                            <a:latin typeface="Cambria Math" panose="02040503050406030204" pitchFamily="18" charset="0"/>
                          </a:rPr>
                        </m:ctrlPr>
                      </m:dPr>
                      <m:e>
                        <m:r>
                          <a:rPr lang="en-US" altLang="zh-CN" b="1" i="1" dirty="0" smtClean="0">
                            <a:solidFill>
                              <a:schemeClr val="tx1"/>
                            </a:solidFill>
                            <a:latin typeface="Cambria Math" panose="02040503050406030204" pitchFamily="18" charset="0"/>
                          </a:rPr>
                          <m:t>𝒎</m:t>
                        </m:r>
                      </m:e>
                    </m:d>
                  </m:oMath>
                </a14:m>
                <a:r>
                  <a:rPr lang="zh-CN" altLang="en-US" dirty="0">
                    <a:solidFill>
                      <a:schemeClr val="tx1"/>
                    </a:solidFill>
                  </a:rPr>
                  <a:t>又由</a:t>
                </a:r>
                <a:r>
                  <a:rPr lang="en-US" altLang="zh-CN" dirty="0">
                    <a:solidFill>
                      <a:schemeClr val="tx1"/>
                    </a:solidFill>
                  </a:rPr>
                  <a:t>Walter (2007</a:t>
                </a:r>
                <a:r>
                  <a:rPr lang="en-US" altLang="zh-CN" dirty="0">
                    <a:solidFill>
                      <a:schemeClr val="tx1"/>
                    </a:solidFill>
                    <a:latin typeface="+mn-ea"/>
                  </a:rPr>
                  <a:t>)</a:t>
                </a:r>
                <a:r>
                  <a:rPr lang="en-US" altLang="zh-CN" dirty="0">
                    <a:solidFill>
                      <a:srgbClr val="212529"/>
                    </a:solidFill>
                    <a:latin typeface="+mn-ea"/>
                  </a:rPr>
                  <a:t> </a:t>
                </a:r>
                <a:r>
                  <a:rPr lang="en-US" altLang="zh-CN" dirty="0">
                    <a:solidFill>
                      <a:srgbClr val="212529"/>
                    </a:solidFill>
                    <a:latin typeface="+mn-ea"/>
                    <a:hlinkClick r:id="rId4" action="ppaction://hlinksldjump"/>
                  </a:rPr>
                  <a:t>2</a:t>
                </a:r>
                <a:r>
                  <a:rPr lang="en-US" altLang="zh-CN" dirty="0">
                    <a:solidFill>
                      <a:srgbClr val="212529"/>
                    </a:solidFill>
                    <a:latin typeface="+mn-ea"/>
                  </a:rPr>
                  <a:t> </a:t>
                </a:r>
                <a:r>
                  <a:rPr lang="zh-CN" altLang="en-US" dirty="0">
                    <a:solidFill>
                      <a:srgbClr val="212529"/>
                    </a:solidFill>
                    <a:latin typeface="Domine"/>
                  </a:rPr>
                  <a:t>独立推导得出，并被命名为</a:t>
                </a:r>
                <a:r>
                  <a:rPr lang="en-US" altLang="zh-CN" dirty="0">
                    <a:solidFill>
                      <a:srgbClr val="212529"/>
                    </a:solidFill>
                    <a:latin typeface="Domine"/>
                  </a:rPr>
                  <a:t>GGX Distribution</a:t>
                </a:r>
                <a:r>
                  <a:rPr lang="zh-CN" altLang="en-US" dirty="0">
                    <a:solidFill>
                      <a:srgbClr val="212529"/>
                    </a:solidFill>
                    <a:latin typeface="Domine"/>
                  </a:rPr>
                  <a:t>。</a:t>
                </a:r>
                <a:endParaRPr lang="en-US" altLang="zh-CN" dirty="0">
                  <a:solidFill>
                    <a:srgbClr val="212529"/>
                  </a:solidFill>
                  <a:latin typeface="Domine"/>
                </a:endParaRPr>
              </a:p>
              <a:p>
                <a:pPr>
                  <a:lnSpc>
                    <a:spcPct val="130000"/>
                  </a:lnSpc>
                </a:pPr>
                <a:endParaRPr lang="en-US" altLang="zh-CN" dirty="0">
                  <a:solidFill>
                    <a:srgbClr val="212529"/>
                  </a:solidFill>
                  <a:latin typeface="Domine"/>
                </a:endParaRPr>
              </a:p>
              <a:p>
                <a:pPr>
                  <a:lnSpc>
                    <a:spcPct val="130000"/>
                  </a:lnSpc>
                </a:pPr>
                <a:r>
                  <a:rPr lang="zh-CN" altLang="en-US" dirty="0">
                    <a:solidFill>
                      <a:srgbClr val="212529"/>
                    </a:solidFill>
                    <a:latin typeface="Domine"/>
                  </a:rPr>
                  <a:t>        如右图所示，他们都将宏观表面上的微观结构建模为被截断下半部分的椭球。当椭球离心率</a:t>
                </a:r>
                <a14:m>
                  <m:oMath xmlns:m="http://schemas.openxmlformats.org/officeDocument/2006/math">
                    <m:r>
                      <a:rPr lang="en-US" altLang="zh-CN" i="1" dirty="0" smtClean="0">
                        <a:solidFill>
                          <a:srgbClr val="212529"/>
                        </a:solidFill>
                        <a:latin typeface="Cambria Math" panose="02040503050406030204" pitchFamily="18" charset="0"/>
                      </a:rPr>
                      <m:t>𝑒</m:t>
                    </m:r>
                    <m:r>
                      <a:rPr lang="en-US" altLang="zh-CN" i="1" dirty="0" smtClean="0">
                        <a:solidFill>
                          <a:srgbClr val="212529"/>
                        </a:solidFill>
                        <a:latin typeface="Cambria Math" panose="02040503050406030204" pitchFamily="18" charset="0"/>
                      </a:rPr>
                      <m:t>=1</m:t>
                    </m:r>
                  </m:oMath>
                </a14:m>
                <a:r>
                  <a:rPr lang="zh-CN" altLang="en-US" dirty="0">
                    <a:solidFill>
                      <a:srgbClr val="212529"/>
                    </a:solidFill>
                    <a:latin typeface="Domine"/>
                  </a:rPr>
                  <a:t>时，椭球就变成了球体，对应着最粗糙的表面。当椭球离心率</a:t>
                </a:r>
                <a14:m>
                  <m:oMath xmlns:m="http://schemas.openxmlformats.org/officeDocument/2006/math">
                    <m:r>
                      <a:rPr lang="en-US" altLang="zh-CN" i="1" dirty="0" smtClean="0">
                        <a:solidFill>
                          <a:srgbClr val="212529"/>
                        </a:solidFill>
                        <a:latin typeface="Cambria Math" panose="02040503050406030204" pitchFamily="18" charset="0"/>
                      </a:rPr>
                      <m:t>𝑒</m:t>
                    </m:r>
                    <m:r>
                      <a:rPr lang="en-US" altLang="zh-CN" i="1" dirty="0" smtClean="0">
                        <a:solidFill>
                          <a:srgbClr val="212529"/>
                        </a:solidFill>
                        <a:latin typeface="Cambria Math" panose="02040503050406030204" pitchFamily="18" charset="0"/>
                      </a:rPr>
                      <m:t>→0</m:t>
                    </m:r>
                  </m:oMath>
                </a14:m>
                <a:r>
                  <a:rPr lang="zh-CN" altLang="en-US" dirty="0">
                    <a:solidFill>
                      <a:schemeClr val="tx1"/>
                    </a:solidFill>
                  </a:rPr>
                  <a:t>时，椭球将会趋近于扁平，对应着镜面反射</a:t>
                </a:r>
                <a:r>
                  <a:rPr lang="en-US" altLang="zh-CN" dirty="0">
                    <a:solidFill>
                      <a:schemeClr val="tx1"/>
                    </a:solidFill>
                  </a:rPr>
                  <a:t>/</a:t>
                </a:r>
                <a:r>
                  <a:rPr lang="zh-CN" altLang="en-US" dirty="0">
                    <a:solidFill>
                      <a:schemeClr val="tx1"/>
                    </a:solidFill>
                  </a:rPr>
                  <a:t>折射的表面。椭球的离心率</a:t>
                </a:r>
                <a:r>
                  <a:rPr lang="en-US" altLang="zh-CN" dirty="0">
                    <a:solidFill>
                      <a:schemeClr val="tx1"/>
                    </a:solidFill>
                  </a:rPr>
                  <a:t>e</a:t>
                </a:r>
                <a:r>
                  <a:rPr lang="zh-CN" altLang="en-US" dirty="0">
                    <a:solidFill>
                      <a:schemeClr val="tx1"/>
                    </a:solidFill>
                  </a:rPr>
                  <a:t>在</a:t>
                </a:r>
                <a:r>
                  <a:rPr lang="en-US" altLang="zh-CN" dirty="0">
                    <a:solidFill>
                      <a:schemeClr val="tx1"/>
                    </a:solidFill>
                  </a:rPr>
                  <a:t>(0,1]</a:t>
                </a:r>
                <a:r>
                  <a:rPr lang="zh-CN" altLang="en-US" dirty="0">
                    <a:solidFill>
                      <a:schemeClr val="tx1"/>
                    </a:solidFill>
                  </a:rPr>
                  <a:t>范围变化时，就对应着不同粗糙度的表面。</a:t>
                </a:r>
                <a:endParaRPr lang="en-US" altLang="zh-CN" dirty="0">
                  <a:solidFill>
                    <a:schemeClr val="tx1"/>
                  </a:solidFill>
                </a:endParaRPr>
              </a:p>
            </p:txBody>
          </p:sp>
        </mc:Choice>
        <mc:Fallback xmlns="">
          <p:sp>
            <p:nvSpPr>
              <p:cNvPr id="6" name="矩形 5">
                <a:extLst>
                  <a:ext uri="{FF2B5EF4-FFF2-40B4-BE49-F238E27FC236}">
                    <a16:creationId xmlns:a16="http://schemas.microsoft.com/office/drawing/2014/main" id="{9553273F-5B7F-8EC1-033F-7D6FC041FAC9}"/>
                  </a:ext>
                </a:extLst>
              </p:cNvPr>
              <p:cNvSpPr>
                <a:spLocks noRot="1" noChangeAspect="1" noMove="1" noResize="1" noEditPoints="1" noAdjustHandles="1" noChangeArrowheads="1" noChangeShapeType="1" noTextEdit="1"/>
              </p:cNvSpPr>
              <p:nvPr/>
            </p:nvSpPr>
            <p:spPr>
              <a:xfrm>
                <a:off x="478708" y="1144044"/>
                <a:ext cx="6385855" cy="5402806"/>
              </a:xfrm>
              <a:prstGeom prst="rect">
                <a:avLst/>
              </a:prstGeom>
              <a:blipFill>
                <a:blip r:embed="rId5"/>
                <a:stretch>
                  <a:fillRect l="-763" r="-477"/>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E470DA9E-4983-C253-C47B-939AFF84C79A}"/>
              </a:ext>
            </a:extLst>
          </p:cNvPr>
          <p:cNvSpPr/>
          <p:nvPr/>
        </p:nvSpPr>
        <p:spPr>
          <a:xfrm>
            <a:off x="7621692" y="1735116"/>
            <a:ext cx="4320195" cy="25988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C5D01945-2309-681F-0D92-8ED310D02AF1}"/>
              </a:ext>
            </a:extLst>
          </p:cNvPr>
          <p:cNvSpPr/>
          <p:nvPr/>
        </p:nvSpPr>
        <p:spPr>
          <a:xfrm>
            <a:off x="7471638" y="1563666"/>
            <a:ext cx="4320195" cy="259889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8" name="组合 37">
            <a:extLst>
              <a:ext uri="{FF2B5EF4-FFF2-40B4-BE49-F238E27FC236}">
                <a16:creationId xmlns:a16="http://schemas.microsoft.com/office/drawing/2014/main" id="{211BFEBC-F73A-3FF4-C859-8F45C668E423}"/>
              </a:ext>
            </a:extLst>
          </p:cNvPr>
          <p:cNvGrpSpPr/>
          <p:nvPr/>
        </p:nvGrpSpPr>
        <p:grpSpPr>
          <a:xfrm>
            <a:off x="7972816" y="1660034"/>
            <a:ext cx="3514092" cy="2403656"/>
            <a:chOff x="8561669" y="1240412"/>
            <a:chExt cx="2417470" cy="2256941"/>
          </a:xfrm>
        </p:grpSpPr>
        <p:cxnSp>
          <p:nvCxnSpPr>
            <p:cNvPr id="22" name="直接箭头连接符 21">
              <a:extLst>
                <a:ext uri="{FF2B5EF4-FFF2-40B4-BE49-F238E27FC236}">
                  <a16:creationId xmlns:a16="http://schemas.microsoft.com/office/drawing/2014/main" id="{3770FD57-2C3F-99B9-C58F-A0A3E7C0E98E}"/>
                </a:ext>
              </a:extLst>
            </p:cNvPr>
            <p:cNvCxnSpPr>
              <a:cxnSpLocks/>
            </p:cNvCxnSpPr>
            <p:nvPr/>
          </p:nvCxnSpPr>
          <p:spPr>
            <a:xfrm>
              <a:off x="8561669" y="2630378"/>
              <a:ext cx="2184436" cy="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AB7209ED-4083-5A4B-339F-1A4E66E81DBF}"/>
                </a:ext>
              </a:extLst>
            </p:cNvPr>
            <p:cNvCxnSpPr>
              <a:cxnSpLocks/>
            </p:cNvCxnSpPr>
            <p:nvPr/>
          </p:nvCxnSpPr>
          <p:spPr>
            <a:xfrm flipV="1">
              <a:off x="9606685" y="1440406"/>
              <a:ext cx="0" cy="1189972"/>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任意多边形: 形状 30">
              <a:extLst>
                <a:ext uri="{FF2B5EF4-FFF2-40B4-BE49-F238E27FC236}">
                  <a16:creationId xmlns:a16="http://schemas.microsoft.com/office/drawing/2014/main" id="{218DF869-0AD4-1193-1919-DBB38AE0FEAF}"/>
                </a:ext>
              </a:extLst>
            </p:cNvPr>
            <p:cNvSpPr/>
            <p:nvPr/>
          </p:nvSpPr>
          <p:spPr>
            <a:xfrm>
              <a:off x="9000067" y="2188106"/>
              <a:ext cx="1212373" cy="445028"/>
            </a:xfrm>
            <a:custGeom>
              <a:avLst/>
              <a:gdLst>
                <a:gd name="connsiteX0" fmla="*/ 58251 w 1325700"/>
                <a:gd name="connsiteY0" fmla="*/ 481345 h 481345"/>
                <a:gd name="connsiteX1" fmla="*/ 58251 w 1325700"/>
                <a:gd name="connsiteY1" fmla="*/ 58012 h 481345"/>
                <a:gd name="connsiteX2" fmla="*/ 663617 w 1325700"/>
                <a:gd name="connsiteY2" fmla="*/ 32612 h 481345"/>
                <a:gd name="connsiteX3" fmla="*/ 1294384 w 1325700"/>
                <a:gd name="connsiteY3" fmla="*/ 32612 h 481345"/>
                <a:gd name="connsiteX4" fmla="*/ 1268984 w 1325700"/>
                <a:gd name="connsiteY4" fmla="*/ 472878 h 481345"/>
                <a:gd name="connsiteX0" fmla="*/ 58251 w 1268984"/>
                <a:gd name="connsiteY0" fmla="*/ 463413 h 463413"/>
                <a:gd name="connsiteX1" fmla="*/ 58251 w 1268984"/>
                <a:gd name="connsiteY1" fmla="*/ 40080 h 463413"/>
                <a:gd name="connsiteX2" fmla="*/ 663617 w 1268984"/>
                <a:gd name="connsiteY2" fmla="*/ 14680 h 463413"/>
                <a:gd name="connsiteX3" fmla="*/ 1132459 w 1268984"/>
                <a:gd name="connsiteY3" fmla="*/ 179780 h 463413"/>
                <a:gd name="connsiteX4" fmla="*/ 1268984 w 1268984"/>
                <a:gd name="connsiteY4" fmla="*/ 454946 h 463413"/>
                <a:gd name="connsiteX0" fmla="*/ 58251 w 1269055"/>
                <a:gd name="connsiteY0" fmla="*/ 463413 h 463413"/>
                <a:gd name="connsiteX1" fmla="*/ 58251 w 1269055"/>
                <a:gd name="connsiteY1" fmla="*/ 40080 h 463413"/>
                <a:gd name="connsiteX2" fmla="*/ 663617 w 1269055"/>
                <a:gd name="connsiteY2" fmla="*/ 14680 h 463413"/>
                <a:gd name="connsiteX3" fmla="*/ 1132459 w 1269055"/>
                <a:gd name="connsiteY3" fmla="*/ 179780 h 463413"/>
                <a:gd name="connsiteX4" fmla="*/ 1268984 w 1269055"/>
                <a:gd name="connsiteY4" fmla="*/ 454946 h 463413"/>
                <a:gd name="connsiteX0" fmla="*/ 58251 w 1269038"/>
                <a:gd name="connsiteY0" fmla="*/ 463413 h 463413"/>
                <a:gd name="connsiteX1" fmla="*/ 58251 w 1269038"/>
                <a:gd name="connsiteY1" fmla="*/ 40080 h 463413"/>
                <a:gd name="connsiteX2" fmla="*/ 663617 w 1269038"/>
                <a:gd name="connsiteY2" fmla="*/ 14680 h 463413"/>
                <a:gd name="connsiteX3" fmla="*/ 1132459 w 1269038"/>
                <a:gd name="connsiteY3" fmla="*/ 179780 h 463413"/>
                <a:gd name="connsiteX4" fmla="*/ 1268984 w 1269038"/>
                <a:gd name="connsiteY4" fmla="*/ 454946 h 463413"/>
                <a:gd name="connsiteX0" fmla="*/ 14055 w 1224842"/>
                <a:gd name="connsiteY0" fmla="*/ 448733 h 448733"/>
                <a:gd name="connsiteX1" fmla="*/ 158518 w 1224842"/>
                <a:gd name="connsiteY1" fmla="*/ 163512 h 448733"/>
                <a:gd name="connsiteX2" fmla="*/ 619421 w 1224842"/>
                <a:gd name="connsiteY2" fmla="*/ 0 h 448733"/>
                <a:gd name="connsiteX3" fmla="*/ 1088263 w 1224842"/>
                <a:gd name="connsiteY3" fmla="*/ 165100 h 448733"/>
                <a:gd name="connsiteX4" fmla="*/ 1224788 w 1224842"/>
                <a:gd name="connsiteY4" fmla="*/ 440266 h 448733"/>
                <a:gd name="connsiteX0" fmla="*/ 11238 w 1222025"/>
                <a:gd name="connsiteY0" fmla="*/ 448733 h 448733"/>
                <a:gd name="connsiteX1" fmla="*/ 155701 w 1222025"/>
                <a:gd name="connsiteY1" fmla="*/ 163512 h 448733"/>
                <a:gd name="connsiteX2" fmla="*/ 616604 w 1222025"/>
                <a:gd name="connsiteY2" fmla="*/ 0 h 448733"/>
                <a:gd name="connsiteX3" fmla="*/ 1085446 w 1222025"/>
                <a:gd name="connsiteY3" fmla="*/ 165100 h 448733"/>
                <a:gd name="connsiteX4" fmla="*/ 1221971 w 1222025"/>
                <a:gd name="connsiteY4" fmla="*/ 440266 h 448733"/>
                <a:gd name="connsiteX0" fmla="*/ 14 w 1210801"/>
                <a:gd name="connsiteY0" fmla="*/ 448733 h 448733"/>
                <a:gd name="connsiteX1" fmla="*/ 144477 w 1210801"/>
                <a:gd name="connsiteY1" fmla="*/ 163512 h 448733"/>
                <a:gd name="connsiteX2" fmla="*/ 605380 w 1210801"/>
                <a:gd name="connsiteY2" fmla="*/ 0 h 448733"/>
                <a:gd name="connsiteX3" fmla="*/ 1074222 w 1210801"/>
                <a:gd name="connsiteY3" fmla="*/ 165100 h 448733"/>
                <a:gd name="connsiteX4" fmla="*/ 1210747 w 1210801"/>
                <a:gd name="connsiteY4" fmla="*/ 440266 h 448733"/>
                <a:gd name="connsiteX0" fmla="*/ 15 w 1210802"/>
                <a:gd name="connsiteY0" fmla="*/ 448733 h 448733"/>
                <a:gd name="connsiteX1" fmla="*/ 144478 w 1210802"/>
                <a:gd name="connsiteY1" fmla="*/ 163512 h 448733"/>
                <a:gd name="connsiteX2" fmla="*/ 605381 w 1210802"/>
                <a:gd name="connsiteY2" fmla="*/ 0 h 448733"/>
                <a:gd name="connsiteX3" fmla="*/ 1074223 w 1210802"/>
                <a:gd name="connsiteY3" fmla="*/ 165100 h 448733"/>
                <a:gd name="connsiteX4" fmla="*/ 1210748 w 1210802"/>
                <a:gd name="connsiteY4" fmla="*/ 440266 h 448733"/>
                <a:gd name="connsiteX0" fmla="*/ 0 w 1210787"/>
                <a:gd name="connsiteY0" fmla="*/ 448733 h 448733"/>
                <a:gd name="connsiteX1" fmla="*/ 144463 w 1210787"/>
                <a:gd name="connsiteY1" fmla="*/ 163512 h 448733"/>
                <a:gd name="connsiteX2" fmla="*/ 605366 w 1210787"/>
                <a:gd name="connsiteY2" fmla="*/ 0 h 448733"/>
                <a:gd name="connsiteX3" fmla="*/ 1074208 w 1210787"/>
                <a:gd name="connsiteY3" fmla="*/ 165100 h 448733"/>
                <a:gd name="connsiteX4" fmla="*/ 1210733 w 1210787"/>
                <a:gd name="connsiteY4" fmla="*/ 440266 h 448733"/>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2373"/>
                <a:gd name="connsiteY0" fmla="*/ 440795 h 445028"/>
                <a:gd name="connsiteX1" fmla="*/ 144463 w 1212373"/>
                <a:gd name="connsiteY1" fmla="*/ 155574 h 445028"/>
                <a:gd name="connsiteX2" fmla="*/ 606954 w 1212373"/>
                <a:gd name="connsiteY2" fmla="*/ 0 h 445028"/>
                <a:gd name="connsiteX3" fmla="*/ 1074208 w 1212373"/>
                <a:gd name="connsiteY3" fmla="*/ 157162 h 445028"/>
                <a:gd name="connsiteX4" fmla="*/ 1212321 w 1212373"/>
                <a:gd name="connsiteY4" fmla="*/ 445028 h 445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373" h="445028">
                  <a:moveTo>
                    <a:pt x="0" y="440795"/>
                  </a:moveTo>
                  <a:cubicBezTo>
                    <a:pt x="25753" y="272873"/>
                    <a:pt x="71879" y="219515"/>
                    <a:pt x="144463" y="155574"/>
                  </a:cubicBezTo>
                  <a:cubicBezTo>
                    <a:pt x="217047" y="91633"/>
                    <a:pt x="403049" y="4233"/>
                    <a:pt x="606954" y="0"/>
                  </a:cubicBezTo>
                  <a:cubicBezTo>
                    <a:pt x="817210" y="0"/>
                    <a:pt x="973313" y="83784"/>
                    <a:pt x="1074208" y="157162"/>
                  </a:cubicBezTo>
                  <a:cubicBezTo>
                    <a:pt x="1162403" y="230540"/>
                    <a:pt x="1214261" y="371122"/>
                    <a:pt x="1212321" y="445028"/>
                  </a:cubicBezTo>
                </a:path>
              </a:pathLst>
            </a:cu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任意多边形: 形状 33">
              <a:extLst>
                <a:ext uri="{FF2B5EF4-FFF2-40B4-BE49-F238E27FC236}">
                  <a16:creationId xmlns:a16="http://schemas.microsoft.com/office/drawing/2014/main" id="{B081ED4A-64B4-D0E6-49E7-7003F21A7F06}"/>
                </a:ext>
              </a:extLst>
            </p:cNvPr>
            <p:cNvSpPr/>
            <p:nvPr/>
          </p:nvSpPr>
          <p:spPr>
            <a:xfrm flipH="1" flipV="1">
              <a:off x="9000067" y="2630378"/>
              <a:ext cx="1212373" cy="445028"/>
            </a:xfrm>
            <a:custGeom>
              <a:avLst/>
              <a:gdLst>
                <a:gd name="connsiteX0" fmla="*/ 58251 w 1325700"/>
                <a:gd name="connsiteY0" fmla="*/ 481345 h 481345"/>
                <a:gd name="connsiteX1" fmla="*/ 58251 w 1325700"/>
                <a:gd name="connsiteY1" fmla="*/ 58012 h 481345"/>
                <a:gd name="connsiteX2" fmla="*/ 663617 w 1325700"/>
                <a:gd name="connsiteY2" fmla="*/ 32612 h 481345"/>
                <a:gd name="connsiteX3" fmla="*/ 1294384 w 1325700"/>
                <a:gd name="connsiteY3" fmla="*/ 32612 h 481345"/>
                <a:gd name="connsiteX4" fmla="*/ 1268984 w 1325700"/>
                <a:gd name="connsiteY4" fmla="*/ 472878 h 481345"/>
                <a:gd name="connsiteX0" fmla="*/ 58251 w 1268984"/>
                <a:gd name="connsiteY0" fmla="*/ 463413 h 463413"/>
                <a:gd name="connsiteX1" fmla="*/ 58251 w 1268984"/>
                <a:gd name="connsiteY1" fmla="*/ 40080 h 463413"/>
                <a:gd name="connsiteX2" fmla="*/ 663617 w 1268984"/>
                <a:gd name="connsiteY2" fmla="*/ 14680 h 463413"/>
                <a:gd name="connsiteX3" fmla="*/ 1132459 w 1268984"/>
                <a:gd name="connsiteY3" fmla="*/ 179780 h 463413"/>
                <a:gd name="connsiteX4" fmla="*/ 1268984 w 1268984"/>
                <a:gd name="connsiteY4" fmla="*/ 454946 h 463413"/>
                <a:gd name="connsiteX0" fmla="*/ 58251 w 1269055"/>
                <a:gd name="connsiteY0" fmla="*/ 463413 h 463413"/>
                <a:gd name="connsiteX1" fmla="*/ 58251 w 1269055"/>
                <a:gd name="connsiteY1" fmla="*/ 40080 h 463413"/>
                <a:gd name="connsiteX2" fmla="*/ 663617 w 1269055"/>
                <a:gd name="connsiteY2" fmla="*/ 14680 h 463413"/>
                <a:gd name="connsiteX3" fmla="*/ 1132459 w 1269055"/>
                <a:gd name="connsiteY3" fmla="*/ 179780 h 463413"/>
                <a:gd name="connsiteX4" fmla="*/ 1268984 w 1269055"/>
                <a:gd name="connsiteY4" fmla="*/ 454946 h 463413"/>
                <a:gd name="connsiteX0" fmla="*/ 58251 w 1269038"/>
                <a:gd name="connsiteY0" fmla="*/ 463413 h 463413"/>
                <a:gd name="connsiteX1" fmla="*/ 58251 w 1269038"/>
                <a:gd name="connsiteY1" fmla="*/ 40080 h 463413"/>
                <a:gd name="connsiteX2" fmla="*/ 663617 w 1269038"/>
                <a:gd name="connsiteY2" fmla="*/ 14680 h 463413"/>
                <a:gd name="connsiteX3" fmla="*/ 1132459 w 1269038"/>
                <a:gd name="connsiteY3" fmla="*/ 179780 h 463413"/>
                <a:gd name="connsiteX4" fmla="*/ 1268984 w 1269038"/>
                <a:gd name="connsiteY4" fmla="*/ 454946 h 463413"/>
                <a:gd name="connsiteX0" fmla="*/ 14055 w 1224842"/>
                <a:gd name="connsiteY0" fmla="*/ 448733 h 448733"/>
                <a:gd name="connsiteX1" fmla="*/ 158518 w 1224842"/>
                <a:gd name="connsiteY1" fmla="*/ 163512 h 448733"/>
                <a:gd name="connsiteX2" fmla="*/ 619421 w 1224842"/>
                <a:gd name="connsiteY2" fmla="*/ 0 h 448733"/>
                <a:gd name="connsiteX3" fmla="*/ 1088263 w 1224842"/>
                <a:gd name="connsiteY3" fmla="*/ 165100 h 448733"/>
                <a:gd name="connsiteX4" fmla="*/ 1224788 w 1224842"/>
                <a:gd name="connsiteY4" fmla="*/ 440266 h 448733"/>
                <a:gd name="connsiteX0" fmla="*/ 11238 w 1222025"/>
                <a:gd name="connsiteY0" fmla="*/ 448733 h 448733"/>
                <a:gd name="connsiteX1" fmla="*/ 155701 w 1222025"/>
                <a:gd name="connsiteY1" fmla="*/ 163512 h 448733"/>
                <a:gd name="connsiteX2" fmla="*/ 616604 w 1222025"/>
                <a:gd name="connsiteY2" fmla="*/ 0 h 448733"/>
                <a:gd name="connsiteX3" fmla="*/ 1085446 w 1222025"/>
                <a:gd name="connsiteY3" fmla="*/ 165100 h 448733"/>
                <a:gd name="connsiteX4" fmla="*/ 1221971 w 1222025"/>
                <a:gd name="connsiteY4" fmla="*/ 440266 h 448733"/>
                <a:gd name="connsiteX0" fmla="*/ 14 w 1210801"/>
                <a:gd name="connsiteY0" fmla="*/ 448733 h 448733"/>
                <a:gd name="connsiteX1" fmla="*/ 144477 w 1210801"/>
                <a:gd name="connsiteY1" fmla="*/ 163512 h 448733"/>
                <a:gd name="connsiteX2" fmla="*/ 605380 w 1210801"/>
                <a:gd name="connsiteY2" fmla="*/ 0 h 448733"/>
                <a:gd name="connsiteX3" fmla="*/ 1074222 w 1210801"/>
                <a:gd name="connsiteY3" fmla="*/ 165100 h 448733"/>
                <a:gd name="connsiteX4" fmla="*/ 1210747 w 1210801"/>
                <a:gd name="connsiteY4" fmla="*/ 440266 h 448733"/>
                <a:gd name="connsiteX0" fmla="*/ 15 w 1210802"/>
                <a:gd name="connsiteY0" fmla="*/ 448733 h 448733"/>
                <a:gd name="connsiteX1" fmla="*/ 144478 w 1210802"/>
                <a:gd name="connsiteY1" fmla="*/ 163512 h 448733"/>
                <a:gd name="connsiteX2" fmla="*/ 605381 w 1210802"/>
                <a:gd name="connsiteY2" fmla="*/ 0 h 448733"/>
                <a:gd name="connsiteX3" fmla="*/ 1074223 w 1210802"/>
                <a:gd name="connsiteY3" fmla="*/ 165100 h 448733"/>
                <a:gd name="connsiteX4" fmla="*/ 1210748 w 1210802"/>
                <a:gd name="connsiteY4" fmla="*/ 440266 h 448733"/>
                <a:gd name="connsiteX0" fmla="*/ 0 w 1210787"/>
                <a:gd name="connsiteY0" fmla="*/ 448733 h 448733"/>
                <a:gd name="connsiteX1" fmla="*/ 144463 w 1210787"/>
                <a:gd name="connsiteY1" fmla="*/ 163512 h 448733"/>
                <a:gd name="connsiteX2" fmla="*/ 605366 w 1210787"/>
                <a:gd name="connsiteY2" fmla="*/ 0 h 448733"/>
                <a:gd name="connsiteX3" fmla="*/ 1074208 w 1210787"/>
                <a:gd name="connsiteY3" fmla="*/ 165100 h 448733"/>
                <a:gd name="connsiteX4" fmla="*/ 1210733 w 1210787"/>
                <a:gd name="connsiteY4" fmla="*/ 440266 h 448733"/>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2373"/>
                <a:gd name="connsiteY0" fmla="*/ 440795 h 445028"/>
                <a:gd name="connsiteX1" fmla="*/ 144463 w 1212373"/>
                <a:gd name="connsiteY1" fmla="*/ 155574 h 445028"/>
                <a:gd name="connsiteX2" fmla="*/ 606954 w 1212373"/>
                <a:gd name="connsiteY2" fmla="*/ 0 h 445028"/>
                <a:gd name="connsiteX3" fmla="*/ 1074208 w 1212373"/>
                <a:gd name="connsiteY3" fmla="*/ 157162 h 445028"/>
                <a:gd name="connsiteX4" fmla="*/ 1212321 w 1212373"/>
                <a:gd name="connsiteY4" fmla="*/ 445028 h 445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373" h="445028">
                  <a:moveTo>
                    <a:pt x="0" y="440795"/>
                  </a:moveTo>
                  <a:cubicBezTo>
                    <a:pt x="25753" y="272873"/>
                    <a:pt x="71879" y="219515"/>
                    <a:pt x="144463" y="155574"/>
                  </a:cubicBezTo>
                  <a:cubicBezTo>
                    <a:pt x="217047" y="91633"/>
                    <a:pt x="403049" y="4233"/>
                    <a:pt x="606954" y="0"/>
                  </a:cubicBezTo>
                  <a:cubicBezTo>
                    <a:pt x="817210" y="0"/>
                    <a:pt x="973313" y="83784"/>
                    <a:pt x="1074208" y="157162"/>
                  </a:cubicBezTo>
                  <a:cubicBezTo>
                    <a:pt x="1162403" y="230540"/>
                    <a:pt x="1214261" y="371122"/>
                    <a:pt x="1212321" y="445028"/>
                  </a:cubicBezTo>
                </a:path>
              </a:pathLst>
            </a:custGeom>
            <a:noFill/>
            <a:ln w="19050">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B663204E-B310-A677-53A7-57C41F98552B}"/>
                    </a:ext>
                  </a:extLst>
                </p:cNvPr>
                <p:cNvSpPr txBox="1"/>
                <p:nvPr/>
              </p:nvSpPr>
              <p:spPr>
                <a:xfrm>
                  <a:off x="10595123" y="2630378"/>
                  <a:ext cx="38401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𝑥</m:t>
                        </m:r>
                      </m:oMath>
                    </m:oMathPara>
                  </a14:m>
                  <a:endParaRPr lang="zh-CN" altLang="en-US" dirty="0"/>
                </a:p>
              </p:txBody>
            </p:sp>
          </mc:Choice>
          <mc:Fallback xmlns="">
            <p:sp>
              <p:nvSpPr>
                <p:cNvPr id="35" name="文本框 34">
                  <a:extLst>
                    <a:ext uri="{FF2B5EF4-FFF2-40B4-BE49-F238E27FC236}">
                      <a16:creationId xmlns:a16="http://schemas.microsoft.com/office/drawing/2014/main" id="{B663204E-B310-A677-53A7-57C41F98552B}"/>
                    </a:ext>
                  </a:extLst>
                </p:cNvPr>
                <p:cNvSpPr txBox="1">
                  <a:spLocks noRot="1" noChangeAspect="1" noMove="1" noResize="1" noEditPoints="1" noAdjustHandles="1" noChangeArrowheads="1" noChangeShapeType="1" noTextEdit="1"/>
                </p:cNvSpPr>
                <p:nvPr/>
              </p:nvSpPr>
              <p:spPr>
                <a:xfrm>
                  <a:off x="10595123" y="2630378"/>
                  <a:ext cx="384016" cy="369332"/>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2A8A1542-9DE5-C7E6-F107-38B984815F56}"/>
                    </a:ext>
                  </a:extLst>
                </p:cNvPr>
                <p:cNvSpPr txBox="1"/>
                <p:nvPr/>
              </p:nvSpPr>
              <p:spPr>
                <a:xfrm>
                  <a:off x="9605894" y="1240412"/>
                  <a:ext cx="387414"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𝑦</m:t>
                        </m:r>
                      </m:oMath>
                    </m:oMathPara>
                  </a14:m>
                  <a:endParaRPr lang="zh-CN" altLang="en-US" dirty="0"/>
                </a:p>
              </p:txBody>
            </p:sp>
          </mc:Choice>
          <mc:Fallback xmlns="">
            <p:sp>
              <p:nvSpPr>
                <p:cNvPr id="36" name="文本框 35">
                  <a:extLst>
                    <a:ext uri="{FF2B5EF4-FFF2-40B4-BE49-F238E27FC236}">
                      <a16:creationId xmlns:a16="http://schemas.microsoft.com/office/drawing/2014/main" id="{2A8A1542-9DE5-C7E6-F107-38B984815F56}"/>
                    </a:ext>
                  </a:extLst>
                </p:cNvPr>
                <p:cNvSpPr txBox="1">
                  <a:spLocks noRot="1" noChangeAspect="1" noMove="1" noResize="1" noEditPoints="1" noAdjustHandles="1" noChangeArrowheads="1" noChangeShapeType="1" noTextEdit="1"/>
                </p:cNvSpPr>
                <p:nvPr/>
              </p:nvSpPr>
              <p:spPr>
                <a:xfrm>
                  <a:off x="9605894" y="1240412"/>
                  <a:ext cx="387414" cy="369332"/>
                </a:xfrm>
                <a:prstGeom prst="rect">
                  <a:avLst/>
                </a:prstGeom>
                <a:blipFill>
                  <a:blip r:embed="rId7"/>
                  <a:stretch>
                    <a:fillRect b="-153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EB0AF869-40BC-ED5D-5D06-5A5425DBDDA4}"/>
                    </a:ext>
                  </a:extLst>
                </p:cNvPr>
                <p:cNvSpPr txBox="1"/>
                <p:nvPr/>
              </p:nvSpPr>
              <p:spPr>
                <a:xfrm>
                  <a:off x="8978608" y="3208362"/>
                  <a:ext cx="1376382" cy="288991"/>
                </a:xfrm>
                <a:prstGeom prst="rect">
                  <a:avLst/>
                </a:prstGeom>
                <a:noFill/>
              </p:spPr>
              <p:txBody>
                <a:bodyPr wrap="none" rtlCol="0">
                  <a:spAutoFit/>
                </a:bodyPr>
                <a:lstStyle/>
                <a:p>
                  <a:pPr algn="ctr"/>
                  <a:r>
                    <a:rPr lang="zh-CN" altLang="en-US" sz="1400" dirty="0"/>
                    <a:t>椭球在</a:t>
                  </a:r>
                  <a14:m>
                    <m:oMath xmlns:m="http://schemas.openxmlformats.org/officeDocument/2006/math">
                      <m:r>
                        <a:rPr lang="en-US" altLang="zh-CN" sz="1400" i="1" dirty="0" smtClean="0">
                          <a:latin typeface="Cambria Math" panose="02040503050406030204" pitchFamily="18" charset="0"/>
                        </a:rPr>
                        <m:t>𝑥𝑦</m:t>
                      </m:r>
                    </m:oMath>
                  </a14:m>
                  <a:r>
                    <a:rPr lang="zh-CN" altLang="en-US" sz="1400" dirty="0"/>
                    <a:t>平面上的切面</a:t>
                  </a:r>
                </a:p>
              </p:txBody>
            </p:sp>
          </mc:Choice>
          <mc:Fallback xmlns="">
            <p:sp>
              <p:nvSpPr>
                <p:cNvPr id="37" name="文本框 36">
                  <a:extLst>
                    <a:ext uri="{FF2B5EF4-FFF2-40B4-BE49-F238E27FC236}">
                      <a16:creationId xmlns:a16="http://schemas.microsoft.com/office/drawing/2014/main" id="{EB0AF869-40BC-ED5D-5D06-5A5425DBDDA4}"/>
                    </a:ext>
                  </a:extLst>
                </p:cNvPr>
                <p:cNvSpPr txBox="1">
                  <a:spLocks noRot="1" noChangeAspect="1" noMove="1" noResize="1" noEditPoints="1" noAdjustHandles="1" noChangeArrowheads="1" noChangeShapeType="1" noTextEdit="1"/>
                </p:cNvSpPr>
                <p:nvPr/>
              </p:nvSpPr>
              <p:spPr>
                <a:xfrm>
                  <a:off x="8978608" y="3208362"/>
                  <a:ext cx="1376382" cy="288991"/>
                </a:xfrm>
                <a:prstGeom prst="rect">
                  <a:avLst/>
                </a:prstGeom>
                <a:blipFill>
                  <a:blip r:embed="rId8"/>
                  <a:stretch>
                    <a:fillRect l="-304" t="-3922" b="-19608"/>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560809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84A71-6017-EDEA-2AED-004B61707F2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3DF8BC01-58D7-5621-62CB-2E3CEF45B2FE}"/>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r>
                      <a:rPr lang="en-US" altLang="zh-CN" sz="3200" i="1" dirty="0" smtClean="0">
                        <a:solidFill>
                          <a:schemeClr val="tx1"/>
                        </a:solidFill>
                        <a:latin typeface="Cambria Math" panose="02040503050406030204" pitchFamily="18" charset="0"/>
                      </a:rPr>
                      <m:t>𝐷</m:t>
                    </m:r>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𝒎</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3DF8BC01-58D7-5621-62CB-2E3CEF45B2FE}"/>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864" b="-7627"/>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5685619B-33A7-3F2C-59EF-BDE1CB1216FF}"/>
              </a:ext>
            </a:extLst>
          </p:cNvPr>
          <p:cNvSpPr/>
          <p:nvPr/>
        </p:nvSpPr>
        <p:spPr>
          <a:xfrm>
            <a:off x="521112" y="1315233"/>
            <a:ext cx="6929212"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B8877DC0-715D-CA99-609E-18FF1BAF0694}"/>
                  </a:ext>
                </a:extLst>
              </p:cNvPr>
              <p:cNvSpPr/>
              <p:nvPr/>
            </p:nvSpPr>
            <p:spPr>
              <a:xfrm>
                <a:off x="368712" y="1144044"/>
                <a:ext cx="6929212"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14:m>
                  <m:oMathPara xmlns:m="http://schemas.openxmlformats.org/officeDocument/2006/math">
                    <m:oMathParaPr>
                      <m:jc m:val="centerGroup"/>
                    </m:oMathParaPr>
                    <m:oMath xmlns:m="http://schemas.openxmlformats.org/officeDocument/2006/math">
                      <m:r>
                        <a:rPr lang="zh-CN" altLang="en-US" sz="1400" i="1" dirty="0" smtClean="0">
                          <a:solidFill>
                            <a:schemeClr val="tx1"/>
                          </a:solidFill>
                          <a:latin typeface="Cambria Math" panose="02040503050406030204" pitchFamily="18" charset="0"/>
                        </a:rPr>
                        <m:t>令椭球</m:t>
                      </m:r>
                      <m:r>
                        <a:rPr lang="zh-CN" altLang="en-US" sz="1400" i="1" dirty="0">
                          <a:solidFill>
                            <a:schemeClr val="tx1"/>
                          </a:solidFill>
                          <a:latin typeface="Cambria Math" panose="02040503050406030204" pitchFamily="18" charset="0"/>
                        </a:rPr>
                        <m:t>隐式</m:t>
                      </m:r>
                      <m:r>
                        <a:rPr lang="zh-CN" altLang="en-US" sz="1400" i="1" dirty="0" smtClean="0">
                          <a:solidFill>
                            <a:schemeClr val="tx1"/>
                          </a:solidFill>
                          <a:latin typeface="Cambria Math" panose="02040503050406030204" pitchFamily="18" charset="0"/>
                        </a:rPr>
                        <m:t>表示为</m:t>
                      </m:r>
                      <m:r>
                        <a:rPr lang="zh-CN" altLang="en-US"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𝐹</m:t>
                      </m:r>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𝑥</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𝑦</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𝑧</m:t>
                          </m:r>
                        </m:e>
                      </m:d>
                      <m:r>
                        <a:rPr lang="en-US" altLang="zh-CN" sz="1400" b="0" i="1" dirty="0" smtClean="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𝑥</m:t>
                          </m:r>
                        </m:e>
                        <m:sup>
                          <m:r>
                            <a:rPr lang="en-US" altLang="zh-CN" sz="1400" b="0" i="1" dirty="0" smtClean="0">
                              <a:solidFill>
                                <a:schemeClr val="tx1"/>
                              </a:solidFill>
                              <a:latin typeface="Cambria Math" panose="02040503050406030204" pitchFamily="18" charset="0"/>
                            </a:rPr>
                            <m:t>2</m:t>
                          </m:r>
                        </m:sup>
                      </m:sSup>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𝑦</m:t>
                              </m:r>
                            </m:e>
                            <m:sup>
                              <m:r>
                                <a:rPr lang="en-US" altLang="zh-CN" sz="1400" b="0" i="1" dirty="0" smtClean="0">
                                  <a:solidFill>
                                    <a:schemeClr val="tx1"/>
                                  </a:solidFill>
                                  <a:latin typeface="Cambria Math" panose="02040503050406030204" pitchFamily="18" charset="0"/>
                                </a:rPr>
                                <m:t>2</m:t>
                              </m:r>
                            </m:sup>
                          </m:sSup>
                        </m:num>
                        <m:den>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den>
                      </m:f>
                      <m:r>
                        <a:rPr lang="en-US" altLang="zh-CN" sz="1400" b="0" i="1" dirty="0" smtClean="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𝑧</m:t>
                          </m:r>
                        </m:e>
                        <m:sup>
                          <m:r>
                            <a:rPr lang="en-US" altLang="zh-CN" sz="1400" b="0" i="1" dirty="0" smtClean="0">
                              <a:solidFill>
                                <a:schemeClr val="tx1"/>
                              </a:solidFill>
                              <a:latin typeface="Cambria Math" panose="02040503050406030204" pitchFamily="18" charset="0"/>
                            </a:rPr>
                            <m:t>2</m:t>
                          </m:r>
                        </m:sup>
                      </m:sSup>
                      <m:r>
                        <a:rPr lang="en-US" altLang="zh-CN" sz="1400" b="0" i="1" dirty="0" smtClean="0">
                          <a:solidFill>
                            <a:schemeClr val="tx1"/>
                          </a:solidFill>
                          <a:latin typeface="Cambria Math" panose="02040503050406030204" pitchFamily="18" charset="0"/>
                        </a:rPr>
                        <m:t>−1=0</m:t>
                      </m:r>
                    </m:oMath>
                  </m:oMathPara>
                </a14:m>
                <a:endParaRPr lang="en-US" altLang="zh-CN" sz="1400" b="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𝛼</m:t>
                      </m:r>
                      <m:r>
                        <a:rPr lang="zh-CN" altLang="en-US" sz="1400" i="1" dirty="0">
                          <a:solidFill>
                            <a:schemeClr val="tx1"/>
                          </a:solidFill>
                          <a:latin typeface="Cambria Math" panose="02040503050406030204" pitchFamily="18" charset="0"/>
                        </a:rPr>
                        <m:t>为</m:t>
                      </m:r>
                      <m:r>
                        <a:rPr lang="zh-CN" altLang="en-US" sz="1400" i="1" dirty="0" smtClean="0">
                          <a:solidFill>
                            <a:schemeClr val="tx1"/>
                          </a:solidFill>
                          <a:latin typeface="Cambria Math" panose="02040503050406030204" pitchFamily="18" charset="0"/>
                        </a:rPr>
                        <m:t>椭球</m:t>
                      </m:r>
                      <m:r>
                        <a:rPr lang="zh-CN" altLang="en-US" sz="1400" i="1" dirty="0">
                          <a:solidFill>
                            <a:schemeClr val="tx1"/>
                          </a:solidFill>
                          <a:latin typeface="Cambria Math" panose="02040503050406030204" pitchFamily="18" charset="0"/>
                        </a:rPr>
                        <m:t>上顶点</m:t>
                      </m:r>
                      <m:r>
                        <a:rPr lang="zh-CN" altLang="en-US" sz="1400" i="1" dirty="0" smtClean="0">
                          <a:solidFill>
                            <a:schemeClr val="tx1"/>
                          </a:solidFill>
                          <a:latin typeface="Cambria Math" panose="02040503050406030204" pitchFamily="18" charset="0"/>
                        </a:rPr>
                        <m:t>的</m:t>
                      </m:r>
                      <m:r>
                        <a:rPr lang="en-US" altLang="zh-CN" sz="1400" b="0" i="1" dirty="0" smtClean="0">
                          <a:solidFill>
                            <a:schemeClr val="tx1"/>
                          </a:solidFill>
                          <a:latin typeface="Cambria Math" panose="02040503050406030204" pitchFamily="18" charset="0"/>
                        </a:rPr>
                        <m:t>𝑦</m:t>
                      </m:r>
                      <m:r>
                        <a:rPr lang="zh-CN" altLang="en-US" sz="1400" i="1" dirty="0">
                          <a:solidFill>
                            <a:schemeClr val="tx1"/>
                          </a:solidFill>
                          <a:latin typeface="Cambria Math" panose="02040503050406030204" pitchFamily="18" charset="0"/>
                        </a:rPr>
                        <m:t>坐标</m:t>
                      </m:r>
                      <m:r>
                        <a:rPr lang="zh-CN" altLang="en-US" sz="1400" i="1" dirty="0" smtClean="0">
                          <a:solidFill>
                            <a:schemeClr val="tx1"/>
                          </a:solidFill>
                          <a:latin typeface="Cambria Math" panose="02040503050406030204" pitchFamily="18" charset="0"/>
                        </a:rPr>
                        <m:t>，</m:t>
                      </m:r>
                      <m:r>
                        <a:rPr lang="zh-CN" altLang="en-US" sz="1400" i="1" dirty="0">
                          <a:solidFill>
                            <a:schemeClr val="tx1"/>
                          </a:solidFill>
                          <a:latin typeface="Cambria Math" panose="02040503050406030204" pitchFamily="18" charset="0"/>
                        </a:rPr>
                        <m:t>和</m:t>
                      </m:r>
                      <m:r>
                        <a:rPr lang="zh-CN" altLang="en-US" sz="1400" i="1" dirty="0" smtClean="0">
                          <a:solidFill>
                            <a:schemeClr val="tx1"/>
                          </a:solidFill>
                          <a:latin typeface="Cambria Math" panose="02040503050406030204" pitchFamily="18" charset="0"/>
                        </a:rPr>
                        <m:t>离心率</m:t>
                      </m:r>
                      <m:r>
                        <a:rPr lang="en-US" altLang="zh-CN" sz="1400" b="0" i="1" dirty="0" smtClean="0">
                          <a:solidFill>
                            <a:schemeClr val="tx1"/>
                          </a:solidFill>
                          <a:latin typeface="Cambria Math" panose="02040503050406030204" pitchFamily="18" charset="0"/>
                        </a:rPr>
                        <m:t>𝑒</m:t>
                      </m:r>
                      <m:r>
                        <a:rPr lang="zh-CN" altLang="en-US" sz="1400" i="1" dirty="0">
                          <a:solidFill>
                            <a:schemeClr val="tx1"/>
                          </a:solidFill>
                          <a:latin typeface="Cambria Math" panose="02040503050406030204" pitchFamily="18" charset="0"/>
                        </a:rPr>
                        <m:t>一样</m:t>
                      </m:r>
                      <m:r>
                        <a:rPr lang="zh-CN" altLang="en-US" sz="1400" i="1" dirty="0" smtClean="0">
                          <a:solidFill>
                            <a:schemeClr val="tx1"/>
                          </a:solidFill>
                          <a:latin typeface="Cambria Math" panose="02040503050406030204" pitchFamily="18" charset="0"/>
                        </a:rPr>
                        <m:t>，</m:t>
                      </m:r>
                      <m:r>
                        <a:rPr lang="zh-CN" altLang="en-US" sz="1400" i="1" dirty="0">
                          <a:solidFill>
                            <a:schemeClr val="tx1"/>
                          </a:solidFill>
                          <a:latin typeface="Cambria Math" panose="02040503050406030204" pitchFamily="18" charset="0"/>
                        </a:rPr>
                        <m:t>用于</m:t>
                      </m:r>
                      <m:r>
                        <a:rPr lang="zh-CN" altLang="en-US" sz="1400" i="1" dirty="0" smtClean="0">
                          <a:solidFill>
                            <a:schemeClr val="tx1"/>
                          </a:solidFill>
                          <a:latin typeface="Cambria Math" panose="02040503050406030204" pitchFamily="18" charset="0"/>
                        </a:rPr>
                        <m:t>建模</m:t>
                      </m:r>
                      <m:r>
                        <a:rPr lang="zh-CN" altLang="en-US" sz="1400" i="1" dirty="0">
                          <a:solidFill>
                            <a:schemeClr val="tx1"/>
                          </a:solidFill>
                          <a:latin typeface="Cambria Math" panose="02040503050406030204" pitchFamily="18" charset="0"/>
                        </a:rPr>
                        <m:t>不同粗糙度</m:t>
                      </m:r>
                      <m:r>
                        <a:rPr lang="zh-CN" altLang="en-US" sz="1400" i="1" dirty="0" smtClean="0">
                          <a:solidFill>
                            <a:schemeClr val="tx1"/>
                          </a:solidFill>
                          <a:latin typeface="Cambria Math" panose="02040503050406030204" pitchFamily="18" charset="0"/>
                        </a:rPr>
                        <m:t>的</m:t>
                      </m:r>
                      <m:r>
                        <a:rPr lang="zh-CN" altLang="en-US" sz="1400" i="1" dirty="0">
                          <a:solidFill>
                            <a:schemeClr val="tx1"/>
                          </a:solidFill>
                          <a:latin typeface="Cambria Math" panose="02040503050406030204" pitchFamily="18" charset="0"/>
                        </a:rPr>
                        <m:t>表面</m:t>
                      </m:r>
                    </m:oMath>
                  </m:oMathPara>
                </a14:m>
                <a:endParaRPr lang="en-US" altLang="zh-CN" sz="1400" b="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zh-CN" altLang="en-US" sz="1400" dirty="0" smtClean="0">
                          <a:solidFill>
                            <a:schemeClr val="tx1"/>
                          </a:solidFill>
                          <a:latin typeface="Cambria Math" panose="02040503050406030204" pitchFamily="18" charset="0"/>
                        </a:rPr>
                        <m:t>用</m:t>
                      </m:r>
                      <m:r>
                        <a:rPr lang="zh-CN" altLang="en-US" sz="1400" i="1" dirty="0" smtClean="0">
                          <a:solidFill>
                            <a:schemeClr val="tx1"/>
                          </a:solidFill>
                          <a:latin typeface="Cambria Math" panose="02040503050406030204" pitchFamily="18" charset="0"/>
                        </a:rPr>
                        <m:t>球极坐标</m:t>
                      </m:r>
                      <m:r>
                        <a:rPr lang="zh-CN" altLang="en-US" sz="1400" i="1" dirty="0">
                          <a:solidFill>
                            <a:schemeClr val="tx1"/>
                          </a:solidFill>
                          <a:latin typeface="Cambria Math" panose="02040503050406030204" pitchFamily="18" charset="0"/>
                        </a:rPr>
                        <m:t>参数化</m:t>
                      </m:r>
                      <m:r>
                        <a:rPr lang="zh-CN" altLang="en-US" sz="1400" i="1" dirty="0" smtClean="0">
                          <a:solidFill>
                            <a:schemeClr val="tx1"/>
                          </a:solidFill>
                          <a:latin typeface="Cambria Math" panose="02040503050406030204" pitchFamily="18" charset="0"/>
                        </a:rPr>
                        <m:t>椭球面</m:t>
                      </m:r>
                      <m:r>
                        <a:rPr lang="zh-CN" altLang="en-US"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𝑥</m:t>
                      </m:r>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𝜃</m:t>
                          </m:r>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𝜙</m:t>
                          </m:r>
                        </m:e>
                      </m:func>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𝑦</m:t>
                      </m:r>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𝛼</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𝜃</m:t>
                          </m:r>
                        </m:e>
                      </m:func>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𝑧</m:t>
                      </m:r>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𝜃</m:t>
                          </m:r>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𝜙</m:t>
                          </m:r>
                        </m:e>
                      </m:func>
                    </m:oMath>
                  </m:oMathPara>
                </a14:m>
                <a:endParaRPr lang="en-US" altLang="zh-CN" sz="1400" b="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zh-CN" altLang="en-US" sz="1400" i="1" dirty="0" smtClean="0">
                          <a:solidFill>
                            <a:schemeClr val="tx1"/>
                          </a:solidFill>
                          <a:latin typeface="Cambria Math" panose="02040503050406030204" pitchFamily="18" charset="0"/>
                        </a:rPr>
                        <m:t>位</m:t>
                      </m:r>
                      <m:r>
                        <a:rPr lang="zh-CN" altLang="en-US" sz="1400" i="1" dirty="0">
                          <a:solidFill>
                            <a:schemeClr val="tx1"/>
                          </a:solidFill>
                          <a:latin typeface="Cambria Math" panose="02040503050406030204" pitchFamily="18" charset="0"/>
                        </a:rPr>
                        <m:t>矢</m:t>
                      </m:r>
                      <m:r>
                        <a:rPr lang="en-US" altLang="zh-CN" sz="1400" b="1" i="1" dirty="0" smtClean="0">
                          <a:solidFill>
                            <a:schemeClr val="tx1"/>
                          </a:solidFill>
                          <a:latin typeface="Cambria Math" panose="02040503050406030204" pitchFamily="18" charset="0"/>
                        </a:rPr>
                        <m:t>𝒓</m:t>
                      </m:r>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𝜙</m:t>
                              </m:r>
                            </m:e>
                          </m:func>
                          <m:r>
                            <a:rPr lang="en-US" altLang="zh-CN" sz="1400" b="0" i="1" dirty="0" smtClean="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𝛼</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𝜃</m:t>
                              </m:r>
                            </m:e>
                          </m:func>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𝜙</m:t>
                              </m:r>
                            </m:e>
                          </m:func>
                        </m:e>
                      </m:d>
                    </m:oMath>
                  </m:oMathPara>
                </a14:m>
                <a:endParaRPr lang="en-US" altLang="zh-CN" sz="14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zh-CN" altLang="en-US" sz="1400" i="1" dirty="0" smtClean="0">
                          <a:solidFill>
                            <a:schemeClr val="tx1"/>
                          </a:solidFill>
                          <a:latin typeface="Cambria Math" panose="02040503050406030204" pitchFamily="18" charset="0"/>
                        </a:rPr>
                        <m:t>椭球</m:t>
                      </m:r>
                      <m:r>
                        <a:rPr lang="zh-CN" altLang="en-US" sz="1400" i="1" dirty="0">
                          <a:solidFill>
                            <a:schemeClr val="tx1"/>
                          </a:solidFill>
                          <a:latin typeface="Cambria Math" panose="02040503050406030204" pitchFamily="18" charset="0"/>
                        </a:rPr>
                        <m:t>微分</m:t>
                      </m:r>
                      <m:r>
                        <a:rPr lang="zh-CN" altLang="en-US" sz="1400" i="1" dirty="0" smtClean="0">
                          <a:solidFill>
                            <a:schemeClr val="tx1"/>
                          </a:solidFill>
                          <a:latin typeface="Cambria Math" panose="02040503050406030204" pitchFamily="18" charset="0"/>
                        </a:rPr>
                        <m:t>面积</m:t>
                      </m:r>
                      <m:r>
                        <m:rPr>
                          <m:sty m:val="p"/>
                        </m:rPr>
                        <a:rPr lang="en-US" altLang="zh-CN" sz="1400" i="1" dirty="0">
                          <a:solidFill>
                            <a:schemeClr val="tx1"/>
                          </a:solidFill>
                          <a:latin typeface="Cambria Math" panose="02040503050406030204" pitchFamily="18" charset="0"/>
                        </a:rPr>
                        <m:t>d</m:t>
                      </m:r>
                      <m:r>
                        <a:rPr lang="en-US" altLang="zh-CN" sz="1400" b="0" i="1" dirty="0" smtClean="0">
                          <a:solidFill>
                            <a:schemeClr val="tx1"/>
                          </a:solidFill>
                          <a:latin typeface="Cambria Math" panose="02040503050406030204" pitchFamily="18" charset="0"/>
                        </a:rPr>
                        <m:t>𝐴</m:t>
                      </m:r>
                      <m:r>
                        <a:rPr lang="zh-CN" altLang="en-US" sz="1400" i="1" dirty="0">
                          <a:solidFill>
                            <a:schemeClr val="tx1"/>
                          </a:solidFill>
                          <a:latin typeface="Cambria Math" panose="02040503050406030204" pitchFamily="18" charset="0"/>
                        </a:rPr>
                        <m:t>与</m:t>
                      </m:r>
                      <m:r>
                        <a:rPr lang="en-US" altLang="zh-CN" sz="1400" b="0" i="1" dirty="0" smtClean="0">
                          <a:solidFill>
                            <a:schemeClr val="tx1"/>
                          </a:solidFill>
                          <a:latin typeface="Cambria Math" panose="02040503050406030204" pitchFamily="18" charset="0"/>
                        </a:rPr>
                        <m:t>𝑑</m:t>
                      </m:r>
                      <m:r>
                        <a:rPr lang="en-US" altLang="zh-CN" sz="1400" b="0" i="1" dirty="0" smtClean="0">
                          <a:solidFill>
                            <a:schemeClr val="tx1"/>
                          </a:solidFill>
                          <a:latin typeface="Cambria Math" panose="02040503050406030204" pitchFamily="18" charset="0"/>
                        </a:rPr>
                        <m:t>𝜃</m:t>
                      </m:r>
                      <m:r>
                        <a:rPr lang="en-US" altLang="zh-CN" sz="1400" b="0" i="1" dirty="0" smtClean="0">
                          <a:solidFill>
                            <a:schemeClr val="tx1"/>
                          </a:solidFill>
                          <a:latin typeface="Cambria Math" panose="02040503050406030204" pitchFamily="18" charset="0"/>
                        </a:rPr>
                        <m:t>𝑑</m:t>
                      </m:r>
                      <m:r>
                        <a:rPr lang="en-US" altLang="zh-CN" sz="1400" b="0" i="1" dirty="0" smtClean="0">
                          <a:solidFill>
                            <a:schemeClr val="tx1"/>
                          </a:solidFill>
                          <a:latin typeface="Cambria Math" panose="02040503050406030204" pitchFamily="18" charset="0"/>
                        </a:rPr>
                        <m:t>𝜙</m:t>
                      </m:r>
                      <m:r>
                        <a:rPr lang="zh-CN" altLang="en-US" sz="1400" i="1" dirty="0">
                          <a:solidFill>
                            <a:schemeClr val="tx1"/>
                          </a:solidFill>
                          <a:latin typeface="Cambria Math" panose="02040503050406030204" pitchFamily="18" charset="0"/>
                        </a:rPr>
                        <m:t>的</m:t>
                      </m:r>
                      <m:r>
                        <a:rPr lang="zh-CN" altLang="en-US" sz="1400" i="1" dirty="0" smtClean="0">
                          <a:solidFill>
                            <a:schemeClr val="tx1"/>
                          </a:solidFill>
                          <a:latin typeface="Cambria Math" panose="02040503050406030204" pitchFamily="18" charset="0"/>
                        </a:rPr>
                        <m:t>关系</m:t>
                      </m:r>
                      <m:r>
                        <a:rPr lang="zh-CN" altLang="en-US"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𝑑𝐴</m:t>
                      </m:r>
                      <m:r>
                        <a:rPr lang="en-US" altLang="zh-CN" sz="1400" b="0" i="1" dirty="0" smtClean="0">
                          <a:solidFill>
                            <a:schemeClr val="tx1"/>
                          </a:solidFill>
                          <a:latin typeface="Cambria Math" panose="02040503050406030204" pitchFamily="18" charset="0"/>
                        </a:rPr>
                        <m:t>=</m:t>
                      </m:r>
                      <m:d>
                        <m:dPr>
                          <m:begChr m:val="|"/>
                          <m:endChr m:val="|"/>
                          <m:ctrlPr>
                            <a:rPr lang="en-US" altLang="zh-CN" sz="1400" b="0" i="1" dirty="0" smtClean="0">
                              <a:solidFill>
                                <a:schemeClr val="tx1"/>
                              </a:solidFill>
                              <a:latin typeface="Cambria Math" panose="02040503050406030204" pitchFamily="18" charset="0"/>
                            </a:rPr>
                          </m:ctrlPr>
                        </m:dPr>
                        <m:e>
                          <m:d>
                            <m:dPr>
                              <m:begChr m:val="|"/>
                              <m:endChr m:val="|"/>
                              <m:ctrlPr>
                                <a:rPr lang="en-US" altLang="zh-CN" sz="1400" b="0" i="1" dirty="0" smtClean="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𝒓</m:t>
                                  </m:r>
                                </m:num>
                                <m:den>
                                  <m:r>
                                    <a:rPr lang="en-US" altLang="zh-CN" sz="1400" i="1" dirty="0">
                                      <a:solidFill>
                                        <a:schemeClr val="tx1"/>
                                      </a:solidFill>
                                      <a:latin typeface="Cambria Math" panose="02040503050406030204" pitchFamily="18" charset="0"/>
                                    </a:rPr>
                                    <m:t>𝜕𝜃</m:t>
                                  </m:r>
                                </m:den>
                              </m:f>
                              <m:r>
                                <a:rPr lang="en-US" altLang="zh-CN" sz="1400" i="1" dirty="0">
                                  <a:solidFill>
                                    <a:schemeClr val="tx1"/>
                                  </a:solidFill>
                                  <a:latin typeface="Cambria Math" panose="02040503050406030204" pitchFamily="18" charset="0"/>
                                  <a:ea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𝒓</m:t>
                                  </m:r>
                                </m:num>
                                <m:den>
                                  <m:r>
                                    <a:rPr lang="en-US" altLang="zh-CN"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𝜙</m:t>
                                  </m:r>
                                </m:den>
                              </m:f>
                            </m:e>
                          </m:d>
                        </m:e>
                      </m:d>
                      <m:r>
                        <m:rPr>
                          <m:sty m:val="p"/>
                        </m:rPr>
                        <a:rPr lang="en-US" altLang="zh-CN" sz="1400" i="1" dirty="0">
                          <a:solidFill>
                            <a:schemeClr val="tx1"/>
                          </a:solidFill>
                          <a:latin typeface="Cambria Math" panose="02040503050406030204" pitchFamily="18" charset="0"/>
                        </a:rPr>
                        <m:t>d</m:t>
                      </m:r>
                      <m:r>
                        <a:rPr lang="en-US" altLang="zh-CN" sz="1400" b="0" i="1" dirty="0" smtClean="0">
                          <a:solidFill>
                            <a:schemeClr val="tx1"/>
                          </a:solidFill>
                          <a:latin typeface="Cambria Math" panose="02040503050406030204" pitchFamily="18" charset="0"/>
                        </a:rPr>
                        <m:t>𝜃</m:t>
                      </m:r>
                      <m:r>
                        <a:rPr lang="en-US" altLang="zh-CN" sz="1400" b="0" i="1" dirty="0" smtClean="0">
                          <a:solidFill>
                            <a:schemeClr val="tx1"/>
                          </a:solidFill>
                          <a:latin typeface="Cambria Math" panose="02040503050406030204" pitchFamily="18" charset="0"/>
                        </a:rPr>
                        <m:t>𝑑</m:t>
                      </m:r>
                      <m:r>
                        <a:rPr lang="en-US" altLang="zh-CN" sz="1400" b="0" i="1" dirty="0" smtClean="0">
                          <a:solidFill>
                            <a:schemeClr val="tx1"/>
                          </a:solidFill>
                          <a:latin typeface="Cambria Math" panose="02040503050406030204" pitchFamily="18" charset="0"/>
                        </a:rPr>
                        <m:t>𝜙</m:t>
                      </m:r>
                    </m:oMath>
                  </m:oMathPara>
                </a14:m>
                <a:endParaRPr lang="en-US" altLang="zh-CN" sz="1400" b="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f>
                        <m:fPr>
                          <m:ctrlPr>
                            <a:rPr lang="en-US" altLang="zh-CN" sz="1400" i="1" dirty="0" smtClean="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𝒓</m:t>
                          </m:r>
                        </m:num>
                        <m:den>
                          <m:r>
                            <a:rPr lang="en-US" altLang="zh-CN" sz="1400" i="1" dirty="0">
                              <a:solidFill>
                                <a:schemeClr val="tx1"/>
                              </a:solidFill>
                              <a:latin typeface="Cambria Math" panose="02040503050406030204" pitchFamily="18" charset="0"/>
                            </a:rPr>
                            <m:t>𝜕𝜃</m:t>
                          </m:r>
                        </m:den>
                      </m:f>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𝜃</m:t>
                              </m:r>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𝜙</m:t>
                              </m:r>
                            </m:e>
                          </m:func>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𝛼</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𝜃</m:t>
                              </m:r>
                            </m:e>
                          </m:func>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𝜃</m:t>
                              </m:r>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𝜙</m:t>
                              </m:r>
                            </m:e>
                          </m:func>
                        </m:e>
                      </m:d>
                      <m:r>
                        <a:rPr lang="en-US" altLang="zh-CN" sz="1400" b="0" i="1" dirty="0" smtClean="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𝒓</m:t>
                          </m:r>
                        </m:num>
                        <m:den>
                          <m:r>
                            <a:rPr lang="en-US" altLang="zh-CN"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𝜙</m:t>
                          </m:r>
                        </m:den>
                      </m:f>
                      <m:r>
                        <a:rPr lang="en-US" altLang="zh-CN" sz="1400" i="1" dirty="0">
                          <a:solidFill>
                            <a:schemeClr val="tx1"/>
                          </a:solidFill>
                          <a:latin typeface="Cambria Math" panose="02040503050406030204" pitchFamily="18" charset="0"/>
                        </a:rPr>
                        <m:t>=</m:t>
                      </m:r>
                      <m:d>
                        <m:dPr>
                          <m:ctrlPr>
                            <a:rPr lang="en-US" altLang="zh-CN" sz="1400" i="1" dirty="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m:t>
                              </m:r>
                              <m:r>
                                <m:rPr>
                                  <m:sty m:val="p"/>
                                </m:rPr>
                                <a:rPr lang="en-US" altLang="zh-CN" sz="1400" b="0" i="0" dirty="0" smtClean="0">
                                  <a:solidFill>
                                    <a:schemeClr val="tx1"/>
                                  </a:solidFill>
                                  <a:latin typeface="Cambria Math" panose="02040503050406030204" pitchFamily="18" charset="0"/>
                                </a:rPr>
                                <m:t>in</m:t>
                              </m:r>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i="1" dirty="0">
                                  <a:solidFill>
                                    <a:schemeClr val="tx1"/>
                                  </a:solidFill>
                                  <a:latin typeface="Cambria Math" panose="02040503050406030204" pitchFamily="18" charset="0"/>
                                </a:rPr>
                                <m:t>𝜙</m:t>
                              </m:r>
                            </m:e>
                          </m:func>
                          <m:r>
                            <a:rPr lang="en-US" altLang="zh-CN" sz="1400" i="1" dirty="0">
                              <a:solidFill>
                                <a:schemeClr val="tx1"/>
                              </a:solidFill>
                              <a:latin typeface="Cambria Math" panose="02040503050406030204" pitchFamily="18" charset="0"/>
                            </a:rPr>
                            <m:t>,</m:t>
                          </m:r>
                          <m:r>
                            <a:rPr lang="en-US" altLang="zh-CN" sz="1400" i="1" dirty="0" smtClean="0">
                              <a:solidFill>
                                <a:schemeClr val="tx1"/>
                              </a:solidFill>
                              <a:latin typeface="Cambria Math" panose="02040503050406030204" pitchFamily="18" charset="0"/>
                            </a:rPr>
                            <m:t>0</m:t>
                          </m:r>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𝜙</m:t>
                              </m:r>
                            </m:e>
                          </m:func>
                        </m:e>
                      </m:d>
                    </m:oMath>
                  </m:oMathPara>
                </a14:m>
                <a:endParaRPr lang="en-US" altLang="zh-CN" sz="140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en-US" altLang="zh-CN" sz="1400" b="1" i="1" dirty="0" smtClean="0">
                          <a:solidFill>
                            <a:schemeClr val="tx1"/>
                          </a:solidFill>
                          <a:latin typeface="Cambria Math" panose="02040503050406030204" pitchFamily="18" charset="0"/>
                        </a:rPr>
                        <m:t>𝑺</m:t>
                      </m:r>
                      <m:r>
                        <a:rPr lang="en-US" altLang="zh-CN" sz="1400" b="0" i="1" dirty="0" smtClean="0">
                          <a:solidFill>
                            <a:schemeClr val="tx1"/>
                          </a:solidFill>
                          <a:latin typeface="Cambria Math" panose="02040503050406030204" pitchFamily="18" charset="0"/>
                        </a:rPr>
                        <m:t>=</m:t>
                      </m:r>
                      <m:d>
                        <m:dPr>
                          <m:begChr m:val="|"/>
                          <m:endChr m:val="|"/>
                          <m:ctrlPr>
                            <a:rPr lang="en-US" altLang="zh-CN" sz="1400" b="0" i="1" dirty="0" smtClean="0">
                              <a:solidFill>
                                <a:schemeClr val="tx1"/>
                              </a:solidFill>
                              <a:latin typeface="Cambria Math" panose="02040503050406030204" pitchFamily="18" charset="0"/>
                            </a:rPr>
                          </m:ctrlPr>
                        </m:dPr>
                        <m:e>
                          <m:m>
                            <m:mPr>
                              <m:mcs>
                                <m:mc>
                                  <m:mcPr>
                                    <m:count m:val="3"/>
                                    <m:mcJc m:val="center"/>
                                  </m:mcPr>
                                </m:mc>
                              </m:mcs>
                              <m:ctrlPr>
                                <a:rPr lang="en-US" altLang="zh-CN" sz="1400" b="0" i="1" dirty="0" smtClean="0">
                                  <a:solidFill>
                                    <a:schemeClr val="tx1"/>
                                  </a:solidFill>
                                  <a:latin typeface="Cambria Math" panose="02040503050406030204" pitchFamily="18" charset="0"/>
                                </a:rPr>
                              </m:ctrlPr>
                            </m:mPr>
                            <m:mr>
                              <m:e>
                                <m:r>
                                  <a:rPr lang="en-US" altLang="zh-CN" sz="1400" b="1" i="1" dirty="0" smtClean="0">
                                    <a:solidFill>
                                      <a:schemeClr val="tx1"/>
                                    </a:solidFill>
                                    <a:latin typeface="Cambria Math" panose="02040503050406030204" pitchFamily="18" charset="0"/>
                                  </a:rPr>
                                  <m:t>𝒊</m:t>
                                </m:r>
                              </m:e>
                              <m:e>
                                <m:r>
                                  <a:rPr lang="en-US" altLang="zh-CN" sz="1400" b="1" i="1" dirty="0" smtClean="0">
                                    <a:solidFill>
                                      <a:schemeClr val="tx1"/>
                                    </a:solidFill>
                                    <a:latin typeface="Cambria Math" panose="02040503050406030204" pitchFamily="18" charset="0"/>
                                  </a:rPr>
                                  <m:t>𝒋</m:t>
                                </m:r>
                              </m:e>
                              <m:e>
                                <m:r>
                                  <a:rPr lang="en-US" altLang="zh-CN" sz="1400" b="1" i="1" dirty="0" smtClean="0">
                                    <a:solidFill>
                                      <a:schemeClr val="tx1"/>
                                    </a:solidFill>
                                    <a:latin typeface="Cambria Math" panose="02040503050406030204" pitchFamily="18" charset="0"/>
                                  </a:rPr>
                                  <m:t>𝒌</m:t>
                                </m:r>
                              </m:e>
                            </m:mr>
                            <m:m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𝜙</m:t>
                                    </m:r>
                                  </m:e>
                                </m:func>
                              </m:e>
                              <m:e>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𝛼</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i="1" dirty="0">
                                        <a:solidFill>
                                          <a:schemeClr val="tx1"/>
                                        </a:solidFill>
                                        <a:latin typeface="Cambria Math" panose="02040503050406030204" pitchFamily="18" charset="0"/>
                                      </a:rPr>
                                      <m:t>𝜃</m:t>
                                    </m:r>
                                  </m:e>
                                </m:func>
                              </m:e>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i="1" dirty="0">
                                        <a:solidFill>
                                          <a:schemeClr val="tx1"/>
                                        </a:solidFill>
                                        <a:latin typeface="Cambria Math" panose="02040503050406030204" pitchFamily="18" charset="0"/>
                                      </a:rPr>
                                      <m:t>𝜙</m:t>
                                    </m:r>
                                  </m:e>
                                </m:func>
                              </m:e>
                            </m:mr>
                            <m:mr>
                              <m:e>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i="1" dirty="0">
                                        <a:solidFill>
                                          <a:schemeClr val="tx1"/>
                                        </a:solidFill>
                                        <a:latin typeface="Cambria Math" panose="02040503050406030204" pitchFamily="18" charset="0"/>
                                      </a:rPr>
                                      <m:t>𝜙</m:t>
                                    </m:r>
                                  </m:e>
                                </m:func>
                              </m:e>
                              <m:e>
                                <m:r>
                                  <a:rPr lang="en-US" altLang="zh-CN" sz="1400" b="0" i="1" dirty="0" smtClean="0">
                                    <a:solidFill>
                                      <a:schemeClr val="tx1"/>
                                    </a:solidFill>
                                    <a:latin typeface="Cambria Math" panose="02040503050406030204" pitchFamily="18" charset="0"/>
                                  </a:rPr>
                                  <m:t>0</m:t>
                                </m:r>
                              </m:e>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𝜙</m:t>
                                    </m:r>
                                  </m:e>
                                </m:func>
                              </m:e>
                            </m:mr>
                          </m:m>
                        </m:e>
                      </m:d>
                    </m:oMath>
                  </m:oMathPara>
                </a14:m>
                <a:endParaRPr lang="en-US" altLang="zh-CN" sz="1400" b="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𝛼</m:t>
                          </m:r>
                          <m:func>
                            <m:funcPr>
                              <m:ctrlPr>
                                <a:rPr lang="en-US" altLang="zh-CN" sz="1400" i="1" dirty="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sin</m:t>
                                  </m:r>
                                </m:e>
                                <m:sup>
                                  <m:r>
                                    <a:rPr lang="en-US" altLang="zh-CN" sz="1400" b="0" i="0" dirty="0" smtClean="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𝜙</m:t>
                              </m:r>
                            </m:e>
                          </m:func>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𝜃</m:t>
                              </m:r>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𝜃</m:t>
                              </m:r>
                            </m:e>
                          </m:func>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sin</m:t>
                                  </m:r>
                                </m:e>
                                <m:sup>
                                  <m:r>
                                    <a:rPr lang="en-US" altLang="zh-CN" sz="1400" b="0" i="1"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𝜙</m:t>
                              </m:r>
                            </m:e>
                          </m:func>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sin</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𝜙</m:t>
                              </m:r>
                            </m:e>
                          </m:func>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𝛼</m:t>
                          </m:r>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sin</m:t>
                                  </m:r>
                                </m:e>
                                <m:sup>
                                  <m:r>
                                    <a:rPr lang="en-US" altLang="zh-CN" sz="1400" b="0" i="1"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𝜃</m:t>
                              </m:r>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𝜙</m:t>
                              </m:r>
                            </m:e>
                          </m:func>
                        </m:e>
                      </m:d>
                    </m:oMath>
                  </m:oMathPara>
                </a14:m>
                <a:endParaRPr lang="en-US" altLang="zh-CN" sz="1400" b="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𝛼</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sin</m:t>
                                  </m:r>
                                </m:e>
                                <m:sup>
                                  <m:r>
                                    <a:rPr lang="en-US" altLang="zh-CN" sz="1400"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𝜙</m:t>
                              </m:r>
                            </m:e>
                          </m:func>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𝜃</m:t>
                              </m:r>
                            </m:e>
                          </m:func>
                          <m:r>
                            <a:rPr lang="en-US" altLang="zh-CN" sz="1400" b="0" i="1" dirty="0" smtClean="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𝛼</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sin</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i="1" dirty="0">
                                  <a:solidFill>
                                    <a:schemeClr val="tx1"/>
                                  </a:solidFill>
                                  <a:latin typeface="Cambria Math" panose="02040503050406030204" pitchFamily="18" charset="0"/>
                                </a:rPr>
                                <m:t>𝜙</m:t>
                              </m:r>
                            </m:e>
                          </m:func>
                        </m:e>
                      </m:d>
                    </m:oMath>
                  </m:oMathPara>
                </a14:m>
                <a:endParaRPr lang="en-US" altLang="zh-CN" sz="1400" b="0" i="1" dirty="0">
                  <a:solidFill>
                    <a:schemeClr val="tx1"/>
                  </a:solidFill>
                  <a:latin typeface="Cambria Math" panose="02040503050406030204" pitchFamily="18" charset="0"/>
                </a:endParaRPr>
              </a:p>
              <a:p>
                <a:pPr>
                  <a:lnSpc>
                    <a:spcPct val="130000"/>
                  </a:lnSpc>
                </a:pPr>
                <a:endParaRPr lang="en-US" altLang="zh-CN" sz="1400" b="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d>
                        <m:dPr>
                          <m:begChr m:val="|"/>
                          <m:endChr m:val="|"/>
                          <m:ctrlPr>
                            <a:rPr lang="en-US" altLang="zh-CN" sz="1400" b="0" i="1" dirty="0" smtClean="0">
                              <a:solidFill>
                                <a:schemeClr val="tx1"/>
                              </a:solidFill>
                              <a:latin typeface="Cambria Math" panose="02040503050406030204" pitchFamily="18" charset="0"/>
                            </a:rPr>
                          </m:ctrlPr>
                        </m:dPr>
                        <m:e>
                          <m:d>
                            <m:dPr>
                              <m:begChr m:val="|"/>
                              <m:endChr m:val="|"/>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𝑺</m:t>
                              </m:r>
                            </m:e>
                          </m:d>
                        </m:e>
                      </m:d>
                      <m:r>
                        <a:rPr lang="en-US" altLang="zh-CN" sz="1400" b="0" i="1" dirty="0" smtClean="0">
                          <a:solidFill>
                            <a:schemeClr val="tx1"/>
                          </a:solidFill>
                          <a:latin typeface="Cambria Math" panose="02040503050406030204" pitchFamily="18" charset="0"/>
                        </a:rPr>
                        <m:t>=</m:t>
                      </m:r>
                      <m:rad>
                        <m:radPr>
                          <m:degHide m:val="on"/>
                          <m:ctrlPr>
                            <a:rPr lang="en-US" altLang="zh-CN" sz="1400" b="0" i="1" dirty="0" smtClean="0">
                              <a:solidFill>
                                <a:schemeClr val="tx1"/>
                              </a:solidFill>
                              <a:latin typeface="Cambria Math" panose="02040503050406030204" pitchFamily="18" charset="0"/>
                            </a:rPr>
                          </m:ctrlPr>
                        </m:radPr>
                        <m:deg/>
                        <m:e>
                          <m:sSup>
                            <m:sSupPr>
                              <m:ctrlPr>
                                <a:rPr lang="en-US" altLang="zh-CN" sz="1400" b="0" i="1" dirty="0" smtClean="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sin</m:t>
                                  </m:r>
                                </m:e>
                                <m:sup>
                                  <m:r>
                                    <a:rPr lang="en-US" altLang="zh-CN" sz="1400" b="0" i="0" dirty="0" smtClean="0">
                                      <a:solidFill>
                                        <a:schemeClr val="tx1"/>
                                      </a:solidFill>
                                      <a:latin typeface="Cambria Math" panose="02040503050406030204" pitchFamily="18" charset="0"/>
                                    </a:rPr>
                                    <m:t>4</m:t>
                                  </m:r>
                                </m:sup>
                              </m:sSup>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𝜙</m:t>
                              </m:r>
                            </m:e>
                          </m:func>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sin</m:t>
                                  </m:r>
                                </m:e>
                                <m:sup>
                                  <m:r>
                                    <a:rPr lang="en-US" altLang="zh-CN" sz="1400" b="0" i="1" dirty="0" smtClean="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r>
                            <a:rPr lang="en-US" altLang="zh-CN" sz="1400" b="0" i="1" dirty="0" smtClean="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sin</m:t>
                                  </m:r>
                                </m:e>
                                <m:sup>
                                  <m:r>
                                    <a:rPr lang="en-US" altLang="zh-CN" sz="1400" b="0" i="1" dirty="0" smtClean="0">
                                      <a:solidFill>
                                        <a:schemeClr val="tx1"/>
                                      </a:solidFill>
                                      <a:latin typeface="Cambria Math" panose="02040503050406030204" pitchFamily="18" charset="0"/>
                                    </a:rPr>
                                    <m:t>4</m:t>
                                  </m:r>
                                </m:sup>
                              </m:sSup>
                            </m:fName>
                            <m:e>
                              <m:r>
                                <a:rPr lang="en-US" altLang="zh-CN" sz="1400" i="1" dirty="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sin</m:t>
                                  </m:r>
                                </m:e>
                                <m:sup>
                                  <m:r>
                                    <a:rPr lang="en-US" altLang="zh-CN" sz="1400" b="0" i="0" dirty="0" smtClean="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𝜙</m:t>
                              </m:r>
                            </m:e>
                          </m:func>
                        </m:e>
                      </m:rad>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𝜃</m:t>
                          </m:r>
                        </m:e>
                      </m:func>
                      <m:rad>
                        <m:radPr>
                          <m:degHide m:val="on"/>
                          <m:ctrlPr>
                            <a:rPr lang="en-US" altLang="zh-CN" sz="1400" b="0" i="1" dirty="0" smtClean="0">
                              <a:solidFill>
                                <a:schemeClr val="tx1"/>
                              </a:solidFill>
                              <a:latin typeface="Cambria Math" panose="02040503050406030204" pitchFamily="18" charset="0"/>
                            </a:rPr>
                          </m:ctrlPr>
                        </m:radPr>
                        <m:deg/>
                        <m:e>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sin</m:t>
                                  </m:r>
                                </m:e>
                                <m:sup>
                                  <m:r>
                                    <a:rPr lang="en-US" altLang="zh-CN" sz="1400" b="0" i="1"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𝜃</m:t>
                              </m:r>
                            </m:e>
                          </m:func>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𝜃</m:t>
                              </m:r>
                            </m:e>
                          </m:func>
                        </m:e>
                      </m:rad>
                    </m:oMath>
                  </m:oMathPara>
                </a14:m>
                <a:endParaRPr lang="en-US" altLang="zh-CN" sz="1400" b="0" dirty="0">
                  <a:solidFill>
                    <a:schemeClr val="tx1"/>
                  </a:solidFill>
                </a:endParaRPr>
              </a:p>
              <a:p>
                <a:pPr>
                  <a:lnSpc>
                    <a:spcPct val="13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𝑑𝐴</m:t>
                      </m:r>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i="1" dirty="0">
                              <a:solidFill>
                                <a:schemeClr val="tx1"/>
                              </a:solidFill>
                              <a:latin typeface="Cambria Math" panose="02040503050406030204" pitchFamily="18" charset="0"/>
                            </a:rPr>
                            <m:t>𝜃</m:t>
                          </m:r>
                        </m:e>
                      </m:func>
                      <m:rad>
                        <m:radPr>
                          <m:degHide m:val="on"/>
                          <m:ctrlPr>
                            <a:rPr lang="en-US" altLang="zh-CN" sz="1400" i="1" dirty="0">
                              <a:solidFill>
                                <a:schemeClr val="tx1"/>
                              </a:solidFill>
                              <a:latin typeface="Cambria Math" panose="02040503050406030204" pitchFamily="18" charset="0"/>
                            </a:rPr>
                          </m:ctrlPr>
                        </m:radPr>
                        <m:deg/>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sin</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e>
                      </m:rad>
                      <m:r>
                        <m:rPr>
                          <m:sty m:val="p"/>
                        </m:rPr>
                        <a:rPr lang="en-US" altLang="zh-CN" sz="1400" i="1" dirty="0">
                          <a:solidFill>
                            <a:schemeClr val="tx1"/>
                          </a:solidFill>
                          <a:latin typeface="Cambria Math" panose="02040503050406030204" pitchFamily="18" charset="0"/>
                        </a:rPr>
                        <m:t>d</m:t>
                      </m:r>
                      <m:r>
                        <a:rPr lang="en-US" altLang="zh-CN" sz="1400" i="1" dirty="0">
                          <a:solidFill>
                            <a:schemeClr val="tx1"/>
                          </a:solidFill>
                          <a:latin typeface="Cambria Math" panose="02040503050406030204" pitchFamily="18" charset="0"/>
                        </a:rPr>
                        <m:t>𝜃</m:t>
                      </m:r>
                      <m:r>
                        <a:rPr lang="en-US" altLang="zh-CN" sz="1400" i="1" dirty="0">
                          <a:solidFill>
                            <a:schemeClr val="tx1"/>
                          </a:solidFill>
                          <a:latin typeface="Cambria Math" panose="02040503050406030204" pitchFamily="18" charset="0"/>
                        </a:rPr>
                        <m:t>𝑑</m:t>
                      </m:r>
                      <m:r>
                        <a:rPr lang="en-US" altLang="zh-CN" sz="1400" i="1" dirty="0">
                          <a:solidFill>
                            <a:schemeClr val="tx1"/>
                          </a:solidFill>
                          <a:latin typeface="Cambria Math" panose="02040503050406030204" pitchFamily="18" charset="0"/>
                        </a:rPr>
                        <m:t>𝜙</m:t>
                      </m:r>
                    </m:oMath>
                  </m:oMathPara>
                </a14:m>
                <a:endParaRPr lang="en-US" altLang="zh-CN" sz="1400" b="0" dirty="0">
                  <a:solidFill>
                    <a:schemeClr val="tx1"/>
                  </a:solidFill>
                </a:endParaRPr>
              </a:p>
            </p:txBody>
          </p:sp>
        </mc:Choice>
        <mc:Fallback xmlns="">
          <p:sp>
            <p:nvSpPr>
              <p:cNvPr id="6" name="矩形 5">
                <a:extLst>
                  <a:ext uri="{FF2B5EF4-FFF2-40B4-BE49-F238E27FC236}">
                    <a16:creationId xmlns:a16="http://schemas.microsoft.com/office/drawing/2014/main" id="{B8877DC0-715D-CA99-609E-18FF1BAF0694}"/>
                  </a:ext>
                </a:extLst>
              </p:cNvPr>
              <p:cNvSpPr>
                <a:spLocks noRot="1" noChangeAspect="1" noMove="1" noResize="1" noEditPoints="1" noAdjustHandles="1" noChangeArrowheads="1" noChangeShapeType="1" noTextEdit="1"/>
              </p:cNvSpPr>
              <p:nvPr/>
            </p:nvSpPr>
            <p:spPr>
              <a:xfrm>
                <a:off x="368712" y="1144044"/>
                <a:ext cx="6929212" cy="5402806"/>
              </a:xfrm>
              <a:prstGeom prst="rect">
                <a:avLst/>
              </a:prstGeom>
              <a:blipFill>
                <a:blip r:embed="rId3"/>
                <a:stretch>
                  <a:fillRect/>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8AFF942B-A2AC-5B5D-1C72-AFCA09A20E52}"/>
              </a:ext>
            </a:extLst>
          </p:cNvPr>
          <p:cNvSpPr/>
          <p:nvPr/>
        </p:nvSpPr>
        <p:spPr>
          <a:xfrm>
            <a:off x="7797057" y="1735116"/>
            <a:ext cx="4320195" cy="25988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4253C538-ABFE-2B64-8219-97FBC8DEE86D}"/>
              </a:ext>
            </a:extLst>
          </p:cNvPr>
          <p:cNvSpPr/>
          <p:nvPr/>
        </p:nvSpPr>
        <p:spPr>
          <a:xfrm>
            <a:off x="7647003" y="1563666"/>
            <a:ext cx="4320195" cy="259889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5" name="组合 24">
            <a:extLst>
              <a:ext uri="{FF2B5EF4-FFF2-40B4-BE49-F238E27FC236}">
                <a16:creationId xmlns:a16="http://schemas.microsoft.com/office/drawing/2014/main" id="{260C19A6-729D-6C22-7713-1AB498194A26}"/>
              </a:ext>
            </a:extLst>
          </p:cNvPr>
          <p:cNvGrpSpPr/>
          <p:nvPr/>
        </p:nvGrpSpPr>
        <p:grpSpPr>
          <a:xfrm>
            <a:off x="8174548" y="1792531"/>
            <a:ext cx="3648740" cy="2224104"/>
            <a:chOff x="8174548" y="1792531"/>
            <a:chExt cx="3648740" cy="2224104"/>
          </a:xfrm>
        </p:grpSpPr>
        <p:sp>
          <p:nvSpPr>
            <p:cNvPr id="11" name="任意多边形: 形状 10">
              <a:extLst>
                <a:ext uri="{FF2B5EF4-FFF2-40B4-BE49-F238E27FC236}">
                  <a16:creationId xmlns:a16="http://schemas.microsoft.com/office/drawing/2014/main" id="{AD5E8CBA-FE35-FF16-410D-32C4C1B3A3A7}"/>
                </a:ext>
              </a:extLst>
            </p:cNvPr>
            <p:cNvSpPr/>
            <p:nvPr/>
          </p:nvSpPr>
          <p:spPr>
            <a:xfrm>
              <a:off x="10263718" y="2609040"/>
              <a:ext cx="84176" cy="31603"/>
            </a:xfrm>
            <a:custGeom>
              <a:avLst/>
              <a:gdLst>
                <a:gd name="connsiteX0" fmla="*/ 0 w 86783"/>
                <a:gd name="connsiteY0" fmla="*/ 12808 h 19158"/>
                <a:gd name="connsiteX1" fmla="*/ 50800 w 86783"/>
                <a:gd name="connsiteY1" fmla="*/ 108 h 19158"/>
                <a:gd name="connsiteX2" fmla="*/ 86783 w 86783"/>
                <a:gd name="connsiteY2" fmla="*/ 19158 h 19158"/>
                <a:gd name="connsiteX0" fmla="*/ 0 w 86783"/>
                <a:gd name="connsiteY0" fmla="*/ 6893 h 13243"/>
                <a:gd name="connsiteX1" fmla="*/ 46436 w 86783"/>
                <a:gd name="connsiteY1" fmla="*/ 402 h 13243"/>
                <a:gd name="connsiteX2" fmla="*/ 86783 w 86783"/>
                <a:gd name="connsiteY2" fmla="*/ 13243 h 13243"/>
              </a:gdLst>
              <a:ahLst/>
              <a:cxnLst>
                <a:cxn ang="0">
                  <a:pos x="connsiteX0" y="connsiteY0"/>
                </a:cxn>
                <a:cxn ang="0">
                  <a:pos x="connsiteX1" y="connsiteY1"/>
                </a:cxn>
                <a:cxn ang="0">
                  <a:pos x="connsiteX2" y="connsiteY2"/>
                </a:cxn>
              </a:cxnLst>
              <a:rect l="l" t="t" r="r" b="b"/>
              <a:pathLst>
                <a:path w="86783" h="13243">
                  <a:moveTo>
                    <a:pt x="0" y="6893"/>
                  </a:moveTo>
                  <a:cubicBezTo>
                    <a:pt x="18168" y="14"/>
                    <a:pt x="31972" y="-656"/>
                    <a:pt x="46436" y="402"/>
                  </a:cubicBezTo>
                  <a:cubicBezTo>
                    <a:pt x="60900" y="1460"/>
                    <a:pt x="79375" y="1954"/>
                    <a:pt x="86783" y="1324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任意多边形: 形状 1">
              <a:extLst>
                <a:ext uri="{FF2B5EF4-FFF2-40B4-BE49-F238E27FC236}">
                  <a16:creationId xmlns:a16="http://schemas.microsoft.com/office/drawing/2014/main" id="{BE40EF9F-8774-1370-D637-0C5B6D46D00A}"/>
                </a:ext>
              </a:extLst>
            </p:cNvPr>
            <p:cNvSpPr/>
            <p:nvPr/>
          </p:nvSpPr>
          <p:spPr>
            <a:xfrm>
              <a:off x="9842500" y="3371562"/>
              <a:ext cx="154517" cy="48971"/>
            </a:xfrm>
            <a:custGeom>
              <a:avLst/>
              <a:gdLst>
                <a:gd name="connsiteX0" fmla="*/ 0 w 154517"/>
                <a:gd name="connsiteY0" fmla="*/ 10871 h 48971"/>
                <a:gd name="connsiteX1" fmla="*/ 84667 w 154517"/>
                <a:gd name="connsiteY1" fmla="*/ 2405 h 48971"/>
                <a:gd name="connsiteX2" fmla="*/ 154517 w 154517"/>
                <a:gd name="connsiteY2" fmla="*/ 48971 h 48971"/>
              </a:gdLst>
              <a:ahLst/>
              <a:cxnLst>
                <a:cxn ang="0">
                  <a:pos x="connsiteX0" y="connsiteY0"/>
                </a:cxn>
                <a:cxn ang="0">
                  <a:pos x="connsiteX1" y="connsiteY1"/>
                </a:cxn>
                <a:cxn ang="0">
                  <a:pos x="connsiteX2" y="connsiteY2"/>
                </a:cxn>
              </a:cxnLst>
              <a:rect l="l" t="t" r="r" b="b"/>
              <a:pathLst>
                <a:path w="154517" h="48971">
                  <a:moveTo>
                    <a:pt x="0" y="10871"/>
                  </a:moveTo>
                  <a:cubicBezTo>
                    <a:pt x="29457" y="3463"/>
                    <a:pt x="58914" y="-3945"/>
                    <a:pt x="84667" y="2405"/>
                  </a:cubicBezTo>
                  <a:cubicBezTo>
                    <a:pt x="110420" y="8755"/>
                    <a:pt x="132468" y="28863"/>
                    <a:pt x="154517" y="4897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箭头连接符 21">
              <a:extLst>
                <a:ext uri="{FF2B5EF4-FFF2-40B4-BE49-F238E27FC236}">
                  <a16:creationId xmlns:a16="http://schemas.microsoft.com/office/drawing/2014/main" id="{241628D8-9CB1-2EF6-4B75-EBF8A0DCAE45}"/>
                </a:ext>
              </a:extLst>
            </p:cNvPr>
            <p:cNvCxnSpPr>
              <a:cxnSpLocks/>
            </p:cNvCxnSpPr>
            <p:nvPr/>
          </p:nvCxnSpPr>
          <p:spPr>
            <a:xfrm flipV="1">
              <a:off x="8176689" y="3695168"/>
              <a:ext cx="3320413" cy="2257"/>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189B523B-BAE2-7516-F21E-D15E5530029C}"/>
                </a:ext>
              </a:extLst>
            </p:cNvPr>
            <p:cNvCxnSpPr>
              <a:cxnSpLocks/>
            </p:cNvCxnSpPr>
            <p:nvPr/>
          </p:nvCxnSpPr>
          <p:spPr>
            <a:xfrm flipV="1">
              <a:off x="9837460" y="1986770"/>
              <a:ext cx="0" cy="170511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任意多边形: 形状 30">
              <a:extLst>
                <a:ext uri="{FF2B5EF4-FFF2-40B4-BE49-F238E27FC236}">
                  <a16:creationId xmlns:a16="http://schemas.microsoft.com/office/drawing/2014/main" id="{D193BD41-2353-F5E6-D6B5-78B509941B15}"/>
                </a:ext>
              </a:extLst>
            </p:cNvPr>
            <p:cNvSpPr/>
            <p:nvPr/>
          </p:nvSpPr>
          <p:spPr>
            <a:xfrm>
              <a:off x="8436400" y="3007269"/>
              <a:ext cx="2800128" cy="690099"/>
            </a:xfrm>
            <a:custGeom>
              <a:avLst/>
              <a:gdLst>
                <a:gd name="connsiteX0" fmla="*/ 58251 w 1325700"/>
                <a:gd name="connsiteY0" fmla="*/ 481345 h 481345"/>
                <a:gd name="connsiteX1" fmla="*/ 58251 w 1325700"/>
                <a:gd name="connsiteY1" fmla="*/ 58012 h 481345"/>
                <a:gd name="connsiteX2" fmla="*/ 663617 w 1325700"/>
                <a:gd name="connsiteY2" fmla="*/ 32612 h 481345"/>
                <a:gd name="connsiteX3" fmla="*/ 1294384 w 1325700"/>
                <a:gd name="connsiteY3" fmla="*/ 32612 h 481345"/>
                <a:gd name="connsiteX4" fmla="*/ 1268984 w 1325700"/>
                <a:gd name="connsiteY4" fmla="*/ 472878 h 481345"/>
                <a:gd name="connsiteX0" fmla="*/ 58251 w 1268984"/>
                <a:gd name="connsiteY0" fmla="*/ 463413 h 463413"/>
                <a:gd name="connsiteX1" fmla="*/ 58251 w 1268984"/>
                <a:gd name="connsiteY1" fmla="*/ 40080 h 463413"/>
                <a:gd name="connsiteX2" fmla="*/ 663617 w 1268984"/>
                <a:gd name="connsiteY2" fmla="*/ 14680 h 463413"/>
                <a:gd name="connsiteX3" fmla="*/ 1132459 w 1268984"/>
                <a:gd name="connsiteY3" fmla="*/ 179780 h 463413"/>
                <a:gd name="connsiteX4" fmla="*/ 1268984 w 1268984"/>
                <a:gd name="connsiteY4" fmla="*/ 454946 h 463413"/>
                <a:gd name="connsiteX0" fmla="*/ 58251 w 1269055"/>
                <a:gd name="connsiteY0" fmla="*/ 463413 h 463413"/>
                <a:gd name="connsiteX1" fmla="*/ 58251 w 1269055"/>
                <a:gd name="connsiteY1" fmla="*/ 40080 h 463413"/>
                <a:gd name="connsiteX2" fmla="*/ 663617 w 1269055"/>
                <a:gd name="connsiteY2" fmla="*/ 14680 h 463413"/>
                <a:gd name="connsiteX3" fmla="*/ 1132459 w 1269055"/>
                <a:gd name="connsiteY3" fmla="*/ 179780 h 463413"/>
                <a:gd name="connsiteX4" fmla="*/ 1268984 w 1269055"/>
                <a:gd name="connsiteY4" fmla="*/ 454946 h 463413"/>
                <a:gd name="connsiteX0" fmla="*/ 58251 w 1269038"/>
                <a:gd name="connsiteY0" fmla="*/ 463413 h 463413"/>
                <a:gd name="connsiteX1" fmla="*/ 58251 w 1269038"/>
                <a:gd name="connsiteY1" fmla="*/ 40080 h 463413"/>
                <a:gd name="connsiteX2" fmla="*/ 663617 w 1269038"/>
                <a:gd name="connsiteY2" fmla="*/ 14680 h 463413"/>
                <a:gd name="connsiteX3" fmla="*/ 1132459 w 1269038"/>
                <a:gd name="connsiteY3" fmla="*/ 179780 h 463413"/>
                <a:gd name="connsiteX4" fmla="*/ 1268984 w 1269038"/>
                <a:gd name="connsiteY4" fmla="*/ 454946 h 463413"/>
                <a:gd name="connsiteX0" fmla="*/ 14055 w 1224842"/>
                <a:gd name="connsiteY0" fmla="*/ 448733 h 448733"/>
                <a:gd name="connsiteX1" fmla="*/ 158518 w 1224842"/>
                <a:gd name="connsiteY1" fmla="*/ 163512 h 448733"/>
                <a:gd name="connsiteX2" fmla="*/ 619421 w 1224842"/>
                <a:gd name="connsiteY2" fmla="*/ 0 h 448733"/>
                <a:gd name="connsiteX3" fmla="*/ 1088263 w 1224842"/>
                <a:gd name="connsiteY3" fmla="*/ 165100 h 448733"/>
                <a:gd name="connsiteX4" fmla="*/ 1224788 w 1224842"/>
                <a:gd name="connsiteY4" fmla="*/ 440266 h 448733"/>
                <a:gd name="connsiteX0" fmla="*/ 11238 w 1222025"/>
                <a:gd name="connsiteY0" fmla="*/ 448733 h 448733"/>
                <a:gd name="connsiteX1" fmla="*/ 155701 w 1222025"/>
                <a:gd name="connsiteY1" fmla="*/ 163512 h 448733"/>
                <a:gd name="connsiteX2" fmla="*/ 616604 w 1222025"/>
                <a:gd name="connsiteY2" fmla="*/ 0 h 448733"/>
                <a:gd name="connsiteX3" fmla="*/ 1085446 w 1222025"/>
                <a:gd name="connsiteY3" fmla="*/ 165100 h 448733"/>
                <a:gd name="connsiteX4" fmla="*/ 1221971 w 1222025"/>
                <a:gd name="connsiteY4" fmla="*/ 440266 h 448733"/>
                <a:gd name="connsiteX0" fmla="*/ 14 w 1210801"/>
                <a:gd name="connsiteY0" fmla="*/ 448733 h 448733"/>
                <a:gd name="connsiteX1" fmla="*/ 144477 w 1210801"/>
                <a:gd name="connsiteY1" fmla="*/ 163512 h 448733"/>
                <a:gd name="connsiteX2" fmla="*/ 605380 w 1210801"/>
                <a:gd name="connsiteY2" fmla="*/ 0 h 448733"/>
                <a:gd name="connsiteX3" fmla="*/ 1074222 w 1210801"/>
                <a:gd name="connsiteY3" fmla="*/ 165100 h 448733"/>
                <a:gd name="connsiteX4" fmla="*/ 1210747 w 1210801"/>
                <a:gd name="connsiteY4" fmla="*/ 440266 h 448733"/>
                <a:gd name="connsiteX0" fmla="*/ 15 w 1210802"/>
                <a:gd name="connsiteY0" fmla="*/ 448733 h 448733"/>
                <a:gd name="connsiteX1" fmla="*/ 144478 w 1210802"/>
                <a:gd name="connsiteY1" fmla="*/ 163512 h 448733"/>
                <a:gd name="connsiteX2" fmla="*/ 605381 w 1210802"/>
                <a:gd name="connsiteY2" fmla="*/ 0 h 448733"/>
                <a:gd name="connsiteX3" fmla="*/ 1074223 w 1210802"/>
                <a:gd name="connsiteY3" fmla="*/ 165100 h 448733"/>
                <a:gd name="connsiteX4" fmla="*/ 1210748 w 1210802"/>
                <a:gd name="connsiteY4" fmla="*/ 440266 h 448733"/>
                <a:gd name="connsiteX0" fmla="*/ 0 w 1210787"/>
                <a:gd name="connsiteY0" fmla="*/ 448733 h 448733"/>
                <a:gd name="connsiteX1" fmla="*/ 144463 w 1210787"/>
                <a:gd name="connsiteY1" fmla="*/ 163512 h 448733"/>
                <a:gd name="connsiteX2" fmla="*/ 605366 w 1210787"/>
                <a:gd name="connsiteY2" fmla="*/ 0 h 448733"/>
                <a:gd name="connsiteX3" fmla="*/ 1074208 w 1210787"/>
                <a:gd name="connsiteY3" fmla="*/ 165100 h 448733"/>
                <a:gd name="connsiteX4" fmla="*/ 1210733 w 1210787"/>
                <a:gd name="connsiteY4" fmla="*/ 440266 h 448733"/>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2373"/>
                <a:gd name="connsiteY0" fmla="*/ 440795 h 445028"/>
                <a:gd name="connsiteX1" fmla="*/ 144463 w 1212373"/>
                <a:gd name="connsiteY1" fmla="*/ 155574 h 445028"/>
                <a:gd name="connsiteX2" fmla="*/ 606954 w 1212373"/>
                <a:gd name="connsiteY2" fmla="*/ 0 h 445028"/>
                <a:gd name="connsiteX3" fmla="*/ 1074208 w 1212373"/>
                <a:gd name="connsiteY3" fmla="*/ 157162 h 445028"/>
                <a:gd name="connsiteX4" fmla="*/ 1212321 w 1212373"/>
                <a:gd name="connsiteY4" fmla="*/ 445028 h 445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373" h="445028">
                  <a:moveTo>
                    <a:pt x="0" y="440795"/>
                  </a:moveTo>
                  <a:cubicBezTo>
                    <a:pt x="25753" y="272873"/>
                    <a:pt x="71879" y="219515"/>
                    <a:pt x="144463" y="155574"/>
                  </a:cubicBezTo>
                  <a:cubicBezTo>
                    <a:pt x="217047" y="91633"/>
                    <a:pt x="403049" y="4233"/>
                    <a:pt x="606954" y="0"/>
                  </a:cubicBezTo>
                  <a:cubicBezTo>
                    <a:pt x="817210" y="0"/>
                    <a:pt x="973313" y="83784"/>
                    <a:pt x="1074208" y="157162"/>
                  </a:cubicBezTo>
                  <a:cubicBezTo>
                    <a:pt x="1162403" y="230540"/>
                    <a:pt x="1214261" y="371122"/>
                    <a:pt x="1212321" y="445028"/>
                  </a:cubicBezTo>
                </a:path>
              </a:pathLst>
            </a:cu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1E282DA8-1F97-2466-B40A-482B62D2FE7A}"/>
                    </a:ext>
                  </a:extLst>
                </p:cNvPr>
                <p:cNvSpPr txBox="1"/>
                <p:nvPr/>
              </p:nvSpPr>
              <p:spPr>
                <a:xfrm>
                  <a:off x="11423630" y="3589472"/>
                  <a:ext cx="399658" cy="3829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𝑥</m:t>
                        </m:r>
                      </m:oMath>
                    </m:oMathPara>
                  </a14:m>
                  <a:endParaRPr lang="zh-CN" altLang="en-US" dirty="0"/>
                </a:p>
              </p:txBody>
            </p:sp>
          </mc:Choice>
          <mc:Fallback xmlns="">
            <p:sp>
              <p:nvSpPr>
                <p:cNvPr id="35" name="文本框 34">
                  <a:extLst>
                    <a:ext uri="{FF2B5EF4-FFF2-40B4-BE49-F238E27FC236}">
                      <a16:creationId xmlns:a16="http://schemas.microsoft.com/office/drawing/2014/main" id="{1E282DA8-1F97-2466-B40A-482B62D2FE7A}"/>
                    </a:ext>
                  </a:extLst>
                </p:cNvPr>
                <p:cNvSpPr txBox="1">
                  <a:spLocks noRot="1" noChangeAspect="1" noMove="1" noResize="1" noEditPoints="1" noAdjustHandles="1" noChangeArrowheads="1" noChangeShapeType="1" noTextEdit="1"/>
                </p:cNvSpPr>
                <p:nvPr/>
              </p:nvSpPr>
              <p:spPr>
                <a:xfrm>
                  <a:off x="11423630" y="3589472"/>
                  <a:ext cx="399658" cy="38290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A5B3180D-7A4C-4242-6398-F34075CFF1CF}"/>
                    </a:ext>
                  </a:extLst>
                </p:cNvPr>
                <p:cNvSpPr txBox="1"/>
                <p:nvPr/>
              </p:nvSpPr>
              <p:spPr>
                <a:xfrm>
                  <a:off x="9406528" y="1792531"/>
                  <a:ext cx="44678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𝑦</m:t>
                        </m:r>
                      </m:oMath>
                    </m:oMathPara>
                  </a14:m>
                  <a:endParaRPr lang="zh-CN" altLang="en-US" dirty="0"/>
                </a:p>
              </p:txBody>
            </p:sp>
          </mc:Choice>
          <mc:Fallback xmlns="">
            <p:sp>
              <p:nvSpPr>
                <p:cNvPr id="36" name="文本框 35">
                  <a:extLst>
                    <a:ext uri="{FF2B5EF4-FFF2-40B4-BE49-F238E27FC236}">
                      <a16:creationId xmlns:a16="http://schemas.microsoft.com/office/drawing/2014/main" id="{A5B3180D-7A4C-4242-6398-F34075CFF1CF}"/>
                    </a:ext>
                  </a:extLst>
                </p:cNvPr>
                <p:cNvSpPr txBox="1">
                  <a:spLocks noRot="1" noChangeAspect="1" noMove="1" noResize="1" noEditPoints="1" noAdjustHandles="1" noChangeArrowheads="1" noChangeShapeType="1" noTextEdit="1"/>
                </p:cNvSpPr>
                <p:nvPr/>
              </p:nvSpPr>
              <p:spPr>
                <a:xfrm>
                  <a:off x="9406528" y="1792531"/>
                  <a:ext cx="446781" cy="369332"/>
                </a:xfrm>
                <a:prstGeom prst="rect">
                  <a:avLst/>
                </a:prstGeom>
                <a:blipFill>
                  <a:blip r:embed="rId5"/>
                  <a:stretch>
                    <a:fillRect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0FF6A58-59A5-191F-5E7E-C55745434025}"/>
                    </a:ext>
                  </a:extLst>
                </p:cNvPr>
                <p:cNvSpPr txBox="1"/>
                <p:nvPr/>
              </p:nvSpPr>
              <p:spPr>
                <a:xfrm>
                  <a:off x="11133715" y="3646471"/>
                  <a:ext cx="289916" cy="37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1</m:t>
                        </m:r>
                      </m:oMath>
                    </m:oMathPara>
                  </a14:m>
                  <a:endParaRPr lang="zh-CN" altLang="en-US" dirty="0"/>
                </a:p>
              </p:txBody>
            </p:sp>
          </mc:Choice>
          <mc:Fallback xmlns="">
            <p:sp>
              <p:nvSpPr>
                <p:cNvPr id="7" name="文本框 6">
                  <a:extLst>
                    <a:ext uri="{FF2B5EF4-FFF2-40B4-BE49-F238E27FC236}">
                      <a16:creationId xmlns:a16="http://schemas.microsoft.com/office/drawing/2014/main" id="{70FF6A58-59A5-191F-5E7E-C55745434025}"/>
                    </a:ext>
                  </a:extLst>
                </p:cNvPr>
                <p:cNvSpPr txBox="1">
                  <a:spLocks noRot="1" noChangeAspect="1" noMove="1" noResize="1" noEditPoints="1" noAdjustHandles="1" noChangeArrowheads="1" noChangeShapeType="1" noTextEdit="1"/>
                </p:cNvSpPr>
                <p:nvPr/>
              </p:nvSpPr>
              <p:spPr>
                <a:xfrm>
                  <a:off x="11133715" y="3646471"/>
                  <a:ext cx="289916" cy="370164"/>
                </a:xfrm>
                <a:prstGeom prst="rect">
                  <a:avLst/>
                </a:prstGeom>
                <a:blipFill>
                  <a:blip r:embed="rId6"/>
                  <a:stretch>
                    <a:fillRect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CF02285-37AA-42A1-E283-B6DA2E23EEBD}"/>
                    </a:ext>
                  </a:extLst>
                </p:cNvPr>
                <p:cNvSpPr txBox="1"/>
                <p:nvPr/>
              </p:nvSpPr>
              <p:spPr>
                <a:xfrm>
                  <a:off x="8174548" y="3627326"/>
                  <a:ext cx="576988" cy="37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−1</m:t>
                        </m:r>
                      </m:oMath>
                    </m:oMathPara>
                  </a14:m>
                  <a:endParaRPr lang="zh-CN" altLang="en-US" dirty="0"/>
                </a:p>
              </p:txBody>
            </p:sp>
          </mc:Choice>
          <mc:Fallback xmlns="">
            <p:sp>
              <p:nvSpPr>
                <p:cNvPr id="8" name="文本框 7">
                  <a:extLst>
                    <a:ext uri="{FF2B5EF4-FFF2-40B4-BE49-F238E27FC236}">
                      <a16:creationId xmlns:a16="http://schemas.microsoft.com/office/drawing/2014/main" id="{4CF02285-37AA-42A1-E283-B6DA2E23EEBD}"/>
                    </a:ext>
                  </a:extLst>
                </p:cNvPr>
                <p:cNvSpPr txBox="1">
                  <a:spLocks noRot="1" noChangeAspect="1" noMove="1" noResize="1" noEditPoints="1" noAdjustHandles="1" noChangeArrowheads="1" noChangeShapeType="1" noTextEdit="1"/>
                </p:cNvSpPr>
                <p:nvPr/>
              </p:nvSpPr>
              <p:spPr>
                <a:xfrm>
                  <a:off x="8174548" y="3627326"/>
                  <a:ext cx="576988" cy="37016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F96FC7D-DFCB-38EB-CB33-E55287858AED}"/>
                    </a:ext>
                  </a:extLst>
                </p:cNvPr>
                <p:cNvSpPr txBox="1"/>
                <p:nvPr/>
              </p:nvSpPr>
              <p:spPr>
                <a:xfrm>
                  <a:off x="9403904" y="2593725"/>
                  <a:ext cx="550208" cy="4533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𝛼</m:t>
                        </m:r>
                      </m:oMath>
                    </m:oMathPara>
                  </a14:m>
                  <a:endParaRPr lang="zh-CN" altLang="en-US" dirty="0"/>
                </a:p>
              </p:txBody>
            </p:sp>
          </mc:Choice>
          <mc:Fallback xmlns="">
            <p:sp>
              <p:nvSpPr>
                <p:cNvPr id="9" name="文本框 8">
                  <a:extLst>
                    <a:ext uri="{FF2B5EF4-FFF2-40B4-BE49-F238E27FC236}">
                      <a16:creationId xmlns:a16="http://schemas.microsoft.com/office/drawing/2014/main" id="{CF96FC7D-DFCB-38EB-CB33-E55287858AED}"/>
                    </a:ext>
                  </a:extLst>
                </p:cNvPr>
                <p:cNvSpPr txBox="1">
                  <a:spLocks noRot="1" noChangeAspect="1" noMove="1" noResize="1" noEditPoints="1" noAdjustHandles="1" noChangeArrowheads="1" noChangeShapeType="1" noTextEdit="1"/>
                </p:cNvSpPr>
                <p:nvPr/>
              </p:nvSpPr>
              <p:spPr>
                <a:xfrm>
                  <a:off x="9403904" y="2593725"/>
                  <a:ext cx="550208" cy="453337"/>
                </a:xfrm>
                <a:prstGeom prst="rect">
                  <a:avLst/>
                </a:prstGeom>
                <a:blipFill>
                  <a:blip r:embed="rId8"/>
                  <a:stretch>
                    <a:fillRect/>
                  </a:stretch>
                </a:blipFill>
              </p:spPr>
              <p:txBody>
                <a:bodyPr/>
                <a:lstStyle/>
                <a:p>
                  <a:r>
                    <a:rPr lang="zh-CN" altLang="en-US">
                      <a:noFill/>
                    </a:rPr>
                    <a:t> </a:t>
                  </a:r>
                </a:p>
              </p:txBody>
            </p:sp>
          </mc:Fallback>
        </mc:AlternateContent>
        <p:cxnSp>
          <p:nvCxnSpPr>
            <p:cNvPr id="20" name="直接箭头连接符 19">
              <a:extLst>
                <a:ext uri="{FF2B5EF4-FFF2-40B4-BE49-F238E27FC236}">
                  <a16:creationId xmlns:a16="http://schemas.microsoft.com/office/drawing/2014/main" id="{CF11F118-205D-14EB-6771-FFAD8404B709}"/>
                </a:ext>
              </a:extLst>
            </p:cNvPr>
            <p:cNvCxnSpPr>
              <a:cxnSpLocks/>
            </p:cNvCxnSpPr>
            <p:nvPr/>
          </p:nvCxnSpPr>
          <p:spPr>
            <a:xfrm flipV="1">
              <a:off x="9826297" y="3029907"/>
              <a:ext cx="443770" cy="661972"/>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A37E95C4-EE42-605E-6D4D-834F22E8B0B9}"/>
                </a:ext>
              </a:extLst>
            </p:cNvPr>
            <p:cNvCxnSpPr>
              <a:cxnSpLocks/>
            </p:cNvCxnSpPr>
            <p:nvPr/>
          </p:nvCxnSpPr>
          <p:spPr>
            <a:xfrm flipV="1">
              <a:off x="10261550" y="2339897"/>
              <a:ext cx="160979" cy="698454"/>
            </a:xfrm>
            <a:prstGeom prst="straightConnector1">
              <a:avLst/>
            </a:prstGeom>
            <a:ln w="19050">
              <a:solidFill>
                <a:srgbClr val="16560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F2CF4CCF-E257-6129-E988-48AF374FDDF4}"/>
                    </a:ext>
                  </a:extLst>
                </p:cNvPr>
                <p:cNvSpPr txBox="1"/>
                <p:nvPr/>
              </p:nvSpPr>
              <p:spPr>
                <a:xfrm>
                  <a:off x="10096149" y="3067778"/>
                  <a:ext cx="4126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𝒓</m:t>
                        </m:r>
                      </m:oMath>
                    </m:oMathPara>
                  </a14:m>
                  <a:endParaRPr lang="zh-CN" altLang="en-US" b="1" dirty="0"/>
                </a:p>
              </p:txBody>
            </p:sp>
          </mc:Choice>
          <mc:Fallback xmlns="">
            <p:sp>
              <p:nvSpPr>
                <p:cNvPr id="26" name="文本框 25">
                  <a:extLst>
                    <a:ext uri="{FF2B5EF4-FFF2-40B4-BE49-F238E27FC236}">
                      <a16:creationId xmlns:a16="http://schemas.microsoft.com/office/drawing/2014/main" id="{F2CF4CCF-E257-6129-E988-48AF374FDDF4}"/>
                    </a:ext>
                  </a:extLst>
                </p:cNvPr>
                <p:cNvSpPr txBox="1">
                  <a:spLocks noRot="1" noChangeAspect="1" noMove="1" noResize="1" noEditPoints="1" noAdjustHandles="1" noChangeArrowheads="1" noChangeShapeType="1" noTextEdit="1"/>
                </p:cNvSpPr>
                <p:nvPr/>
              </p:nvSpPr>
              <p:spPr>
                <a:xfrm>
                  <a:off x="10096149" y="3067778"/>
                  <a:ext cx="412642"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51ED34B8-1725-3F9E-3EF1-B963774C2ECC}"/>
                    </a:ext>
                  </a:extLst>
                </p:cNvPr>
                <p:cNvSpPr txBox="1"/>
                <p:nvPr/>
              </p:nvSpPr>
              <p:spPr>
                <a:xfrm>
                  <a:off x="10332085" y="2317869"/>
                  <a:ext cx="4126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𝒎</m:t>
                        </m:r>
                      </m:oMath>
                    </m:oMathPara>
                  </a14:m>
                  <a:endParaRPr lang="zh-CN" altLang="en-US" b="1" dirty="0"/>
                </a:p>
              </p:txBody>
            </p:sp>
          </mc:Choice>
          <mc:Fallback xmlns="">
            <p:sp>
              <p:nvSpPr>
                <p:cNvPr id="27" name="文本框 26">
                  <a:extLst>
                    <a:ext uri="{FF2B5EF4-FFF2-40B4-BE49-F238E27FC236}">
                      <a16:creationId xmlns:a16="http://schemas.microsoft.com/office/drawing/2014/main" id="{51ED34B8-1725-3F9E-3EF1-B963774C2ECC}"/>
                    </a:ext>
                  </a:extLst>
                </p:cNvPr>
                <p:cNvSpPr txBox="1">
                  <a:spLocks noRot="1" noChangeAspect="1" noMove="1" noResize="1" noEditPoints="1" noAdjustHandles="1" noChangeArrowheads="1" noChangeShapeType="1" noTextEdit="1"/>
                </p:cNvSpPr>
                <p:nvPr/>
              </p:nvSpPr>
              <p:spPr>
                <a:xfrm>
                  <a:off x="10332085" y="2317869"/>
                  <a:ext cx="412642" cy="369332"/>
                </a:xfrm>
                <a:prstGeom prst="rect">
                  <a:avLst/>
                </a:prstGeom>
                <a:blipFill>
                  <a:blip r:embed="rId10"/>
                  <a:stretch>
                    <a:fillRect/>
                  </a:stretch>
                </a:blipFill>
              </p:spPr>
              <p:txBody>
                <a:bodyPr/>
                <a:lstStyle/>
                <a:p>
                  <a:r>
                    <a:rPr lang="zh-CN" altLang="en-US">
                      <a:noFill/>
                    </a:rPr>
                    <a:t> </a:t>
                  </a:r>
                </a:p>
              </p:txBody>
            </p:sp>
          </mc:Fallback>
        </mc:AlternateContent>
        <p:cxnSp>
          <p:nvCxnSpPr>
            <p:cNvPr id="48" name="直接箭头连接符 47">
              <a:extLst>
                <a:ext uri="{FF2B5EF4-FFF2-40B4-BE49-F238E27FC236}">
                  <a16:creationId xmlns:a16="http://schemas.microsoft.com/office/drawing/2014/main" id="{3A22CF0E-E8B0-3ED3-2CA1-22E149E86935}"/>
                </a:ext>
              </a:extLst>
            </p:cNvPr>
            <p:cNvCxnSpPr>
              <a:cxnSpLocks/>
            </p:cNvCxnSpPr>
            <p:nvPr/>
          </p:nvCxnSpPr>
          <p:spPr>
            <a:xfrm flipV="1">
              <a:off x="10255640" y="2317869"/>
              <a:ext cx="0" cy="749909"/>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0E20FF94-9001-209E-F291-467C8B1C4E61}"/>
                    </a:ext>
                  </a:extLst>
                </p:cNvPr>
                <p:cNvSpPr txBox="1"/>
                <p:nvPr/>
              </p:nvSpPr>
              <p:spPr>
                <a:xfrm>
                  <a:off x="9750746" y="3039320"/>
                  <a:ext cx="4126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𝜃</m:t>
                        </m:r>
                      </m:oMath>
                    </m:oMathPara>
                  </a14:m>
                  <a:endParaRPr lang="zh-CN" altLang="en-US" sz="1400" dirty="0"/>
                </a:p>
              </p:txBody>
            </p:sp>
          </mc:Choice>
          <mc:Fallback xmlns="">
            <p:sp>
              <p:nvSpPr>
                <p:cNvPr id="10" name="文本框 9">
                  <a:extLst>
                    <a:ext uri="{FF2B5EF4-FFF2-40B4-BE49-F238E27FC236}">
                      <a16:creationId xmlns:a16="http://schemas.microsoft.com/office/drawing/2014/main" id="{0E20FF94-9001-209E-F291-467C8B1C4E61}"/>
                    </a:ext>
                  </a:extLst>
                </p:cNvPr>
                <p:cNvSpPr txBox="1">
                  <a:spLocks noRot="1" noChangeAspect="1" noMove="1" noResize="1" noEditPoints="1" noAdjustHandles="1" noChangeArrowheads="1" noChangeShapeType="1" noTextEdit="1"/>
                </p:cNvSpPr>
                <p:nvPr/>
              </p:nvSpPr>
              <p:spPr>
                <a:xfrm>
                  <a:off x="9750746" y="3039320"/>
                  <a:ext cx="412642" cy="307777"/>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75BCBD1B-4C5E-0C45-75EF-A694C1064F58}"/>
                    </a:ext>
                  </a:extLst>
                </p:cNvPr>
                <p:cNvSpPr txBox="1"/>
                <p:nvPr/>
              </p:nvSpPr>
              <p:spPr>
                <a:xfrm>
                  <a:off x="10271017" y="1872502"/>
                  <a:ext cx="4126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𝜃</m:t>
                            </m:r>
                          </m:e>
                          <m:sub>
                            <m:r>
                              <a:rPr lang="en-US" altLang="zh-CN" sz="1400" b="0" i="1" smtClean="0">
                                <a:latin typeface="Cambria Math" panose="02040503050406030204" pitchFamily="18" charset="0"/>
                              </a:rPr>
                              <m:t>𝑚</m:t>
                            </m:r>
                          </m:sub>
                        </m:sSub>
                      </m:oMath>
                    </m:oMathPara>
                  </a14:m>
                  <a:endParaRPr lang="zh-CN" altLang="en-US" sz="1400" dirty="0"/>
                </a:p>
              </p:txBody>
            </p:sp>
          </mc:Choice>
          <mc:Fallback xmlns="">
            <p:sp>
              <p:nvSpPr>
                <p:cNvPr id="16" name="文本框 15">
                  <a:extLst>
                    <a:ext uri="{FF2B5EF4-FFF2-40B4-BE49-F238E27FC236}">
                      <a16:creationId xmlns:a16="http://schemas.microsoft.com/office/drawing/2014/main" id="{75BCBD1B-4C5E-0C45-75EF-A694C1064F58}"/>
                    </a:ext>
                  </a:extLst>
                </p:cNvPr>
                <p:cNvSpPr txBox="1">
                  <a:spLocks noRot="1" noChangeAspect="1" noMove="1" noResize="1" noEditPoints="1" noAdjustHandles="1" noChangeArrowheads="1" noChangeShapeType="1" noTextEdit="1"/>
                </p:cNvSpPr>
                <p:nvPr/>
              </p:nvSpPr>
              <p:spPr>
                <a:xfrm>
                  <a:off x="10271017" y="1872502"/>
                  <a:ext cx="412642" cy="307777"/>
                </a:xfrm>
                <a:prstGeom prst="rect">
                  <a:avLst/>
                </a:prstGeom>
                <a:blipFill>
                  <a:blip r:embed="rId12"/>
                  <a:stretch>
                    <a:fillRect/>
                  </a:stretch>
                </a:blipFill>
              </p:spPr>
              <p:txBody>
                <a:bodyPr/>
                <a:lstStyle/>
                <a:p>
                  <a:r>
                    <a:rPr lang="zh-CN" altLang="en-US">
                      <a:noFill/>
                    </a:rPr>
                    <a:t> </a:t>
                  </a:r>
                </a:p>
              </p:txBody>
            </p:sp>
          </mc:Fallback>
        </mc:AlternateContent>
        <p:cxnSp>
          <p:nvCxnSpPr>
            <p:cNvPr id="18" name="直接连接符 17">
              <a:extLst>
                <a:ext uri="{FF2B5EF4-FFF2-40B4-BE49-F238E27FC236}">
                  <a16:creationId xmlns:a16="http://schemas.microsoft.com/office/drawing/2014/main" id="{A93093FA-C86D-EF53-9ED1-2DF8749DCD40}"/>
                </a:ext>
              </a:extLst>
            </p:cNvPr>
            <p:cNvCxnSpPr>
              <a:cxnSpLocks/>
            </p:cNvCxnSpPr>
            <p:nvPr/>
          </p:nvCxnSpPr>
          <p:spPr>
            <a:xfrm flipV="1">
              <a:off x="10302470" y="2120490"/>
              <a:ext cx="86678" cy="44660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966878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79758-57FC-5446-2FBC-018A0987018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2127D6B2-7214-4B71-2DA3-BB32AD1CF2ED}"/>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r>
                      <a:rPr lang="en-US" altLang="zh-CN" sz="3200" i="1" dirty="0" smtClean="0">
                        <a:solidFill>
                          <a:schemeClr val="tx1"/>
                        </a:solidFill>
                        <a:latin typeface="Cambria Math" panose="02040503050406030204" pitchFamily="18" charset="0"/>
                      </a:rPr>
                      <m:t>𝐷</m:t>
                    </m:r>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𝒎</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2127D6B2-7214-4B71-2DA3-BB32AD1CF2ED}"/>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017" b="-8475"/>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49164271-FF51-40CD-4D1F-8AB2003E462E}"/>
              </a:ext>
            </a:extLst>
          </p:cNvPr>
          <p:cNvSpPr/>
          <p:nvPr/>
        </p:nvSpPr>
        <p:spPr>
          <a:xfrm>
            <a:off x="521112" y="1315233"/>
            <a:ext cx="6929212"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0964465A-447A-ACCB-AE19-88CF388A3101}"/>
                  </a:ext>
                </a:extLst>
              </p:cNvPr>
              <p:cNvSpPr/>
              <p:nvPr/>
            </p:nvSpPr>
            <p:spPr>
              <a:xfrm>
                <a:off x="368712" y="1144044"/>
                <a:ext cx="6929212"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14:m>
                  <m:oMathPara xmlns:m="http://schemas.openxmlformats.org/officeDocument/2006/math">
                    <m:oMathParaPr>
                      <m:jc m:val="centerGroup"/>
                    </m:oMathParaPr>
                    <m:oMath xmlns:m="http://schemas.openxmlformats.org/officeDocument/2006/math">
                      <m:r>
                        <a:rPr lang="zh-CN" altLang="en-US" sz="1400" i="1" dirty="0" smtClean="0">
                          <a:solidFill>
                            <a:schemeClr val="tx1"/>
                          </a:solidFill>
                          <a:latin typeface="Cambria Math" panose="02040503050406030204" pitchFamily="18" charset="0"/>
                        </a:rPr>
                        <m:t>椭球</m:t>
                      </m:r>
                      <m:r>
                        <a:rPr lang="zh-CN" altLang="en-US" sz="1400" i="1" dirty="0">
                          <a:solidFill>
                            <a:schemeClr val="tx1"/>
                          </a:solidFill>
                          <a:latin typeface="Cambria Math" panose="02040503050406030204" pitchFamily="18" charset="0"/>
                        </a:rPr>
                        <m:t>隐式</m:t>
                      </m:r>
                      <m:r>
                        <a:rPr lang="zh-CN" altLang="en-US" sz="1400" i="1" dirty="0" smtClean="0">
                          <a:solidFill>
                            <a:schemeClr val="tx1"/>
                          </a:solidFill>
                          <a:latin typeface="Cambria Math" panose="02040503050406030204" pitchFamily="18" charset="0"/>
                        </a:rPr>
                        <m:t>表示</m:t>
                      </m:r>
                      <m:r>
                        <a:rPr lang="zh-CN" altLang="en-US"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𝐹</m:t>
                      </m:r>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𝑥</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𝑦</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𝑧</m:t>
                          </m:r>
                        </m:e>
                      </m:d>
                      <m:r>
                        <a:rPr lang="en-US" altLang="zh-CN" sz="1400" b="0" i="1" dirty="0" smtClean="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𝑥</m:t>
                          </m:r>
                        </m:e>
                        <m:sup>
                          <m:r>
                            <a:rPr lang="en-US" altLang="zh-CN" sz="1400" b="0" i="1" dirty="0" smtClean="0">
                              <a:solidFill>
                                <a:schemeClr val="tx1"/>
                              </a:solidFill>
                              <a:latin typeface="Cambria Math" panose="02040503050406030204" pitchFamily="18" charset="0"/>
                            </a:rPr>
                            <m:t>2</m:t>
                          </m:r>
                        </m:sup>
                      </m:sSup>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𝑦</m:t>
                              </m:r>
                            </m:e>
                            <m:sup>
                              <m:r>
                                <a:rPr lang="en-US" altLang="zh-CN" sz="1400" b="0" i="1" dirty="0" smtClean="0">
                                  <a:solidFill>
                                    <a:schemeClr val="tx1"/>
                                  </a:solidFill>
                                  <a:latin typeface="Cambria Math" panose="02040503050406030204" pitchFamily="18" charset="0"/>
                                </a:rPr>
                                <m:t>2</m:t>
                              </m:r>
                            </m:sup>
                          </m:sSup>
                        </m:num>
                        <m:den>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den>
                      </m:f>
                      <m:r>
                        <a:rPr lang="en-US" altLang="zh-CN" sz="1400" b="0" i="1" dirty="0" smtClean="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𝑧</m:t>
                          </m:r>
                        </m:e>
                        <m:sup>
                          <m:r>
                            <a:rPr lang="en-US" altLang="zh-CN" sz="1400" b="0" i="1" dirty="0" smtClean="0">
                              <a:solidFill>
                                <a:schemeClr val="tx1"/>
                              </a:solidFill>
                              <a:latin typeface="Cambria Math" panose="02040503050406030204" pitchFamily="18" charset="0"/>
                            </a:rPr>
                            <m:t>2</m:t>
                          </m:r>
                        </m:sup>
                      </m:sSup>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1</m:t>
                      </m:r>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0</m:t>
                      </m:r>
                    </m:oMath>
                  </m:oMathPara>
                </a14:m>
                <a:endParaRPr lang="en-US" altLang="zh-CN" sz="1400" b="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zh-CN" altLang="en-US" sz="1400" i="1" dirty="0" smtClean="0">
                          <a:solidFill>
                            <a:schemeClr val="tx1"/>
                          </a:solidFill>
                          <a:latin typeface="Cambria Math" panose="02040503050406030204" pitchFamily="18" charset="0"/>
                        </a:rPr>
                        <m:t>球极坐标</m:t>
                      </m:r>
                      <m:r>
                        <a:rPr lang="zh-CN" altLang="en-US" sz="1400" i="1" dirty="0">
                          <a:solidFill>
                            <a:schemeClr val="tx1"/>
                          </a:solidFill>
                          <a:latin typeface="Cambria Math" panose="02040503050406030204" pitchFamily="18" charset="0"/>
                        </a:rPr>
                        <m:t>参数化</m:t>
                      </m:r>
                      <m:r>
                        <a:rPr lang="zh-CN" altLang="en-US"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𝑥</m:t>
                      </m:r>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𝜃</m:t>
                          </m:r>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𝜙</m:t>
                          </m:r>
                        </m:e>
                      </m:func>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𝑦</m:t>
                      </m:r>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𝛼</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𝜃</m:t>
                          </m:r>
                        </m:e>
                      </m:func>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𝑧</m:t>
                      </m:r>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𝜃</m:t>
                          </m:r>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𝜙</m:t>
                          </m:r>
                        </m:e>
                      </m:func>
                    </m:oMath>
                  </m:oMathPara>
                </a14:m>
                <a:endParaRPr lang="en-US" altLang="zh-CN" sz="1400" b="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𝐷</m:t>
                      </m:r>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e>
                      </m:d>
                      <m:r>
                        <a:rPr lang="zh-CN" altLang="en-US" sz="1400" i="1" dirty="0">
                          <a:solidFill>
                            <a:schemeClr val="tx1"/>
                          </a:solidFill>
                          <a:latin typeface="Cambria Math" panose="02040503050406030204" pitchFamily="18" charset="0"/>
                        </a:rPr>
                        <m:t>的</m:t>
                      </m:r>
                      <m:r>
                        <a:rPr lang="zh-CN" altLang="en-US" sz="1400" i="1" dirty="0" smtClean="0">
                          <a:solidFill>
                            <a:schemeClr val="tx1"/>
                          </a:solidFill>
                          <a:latin typeface="Cambria Math" panose="02040503050406030204" pitchFamily="18" charset="0"/>
                        </a:rPr>
                        <m:t>定义是</m:t>
                      </m:r>
                      <m:r>
                        <a:rPr lang="zh-CN" altLang="en-US" sz="1400" i="1" dirty="0">
                          <a:solidFill>
                            <a:schemeClr val="tx1"/>
                          </a:solidFill>
                          <a:latin typeface="Cambria Math" panose="02040503050406030204" pitchFamily="18" charset="0"/>
                        </a:rPr>
                        <m:t>内朝向在</m:t>
                      </m:r>
                      <m:r>
                        <m:rPr>
                          <m:sty m:val="p"/>
                        </m:rPr>
                        <a:rPr lang="en-US" altLang="zh-CN" sz="1400" i="1" dirty="0">
                          <a:solidFill>
                            <a:schemeClr val="tx1"/>
                          </a:solidFill>
                          <a:latin typeface="Cambria Math" panose="02040503050406030204" pitchFamily="18" charset="0"/>
                        </a:rPr>
                        <m:t>d</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𝑚</m:t>
                          </m:r>
                        </m:sub>
                      </m:sSub>
                      <m:r>
                        <a:rPr lang="zh-CN" altLang="en-US" sz="1400" i="1" dirty="0">
                          <a:solidFill>
                            <a:schemeClr val="tx1"/>
                          </a:solidFill>
                          <a:latin typeface="Cambria Math" panose="02040503050406030204" pitchFamily="18" charset="0"/>
                        </a:rPr>
                        <m:t>内的微面</m:t>
                      </m:r>
                      <m:r>
                        <a:rPr lang="zh-CN" altLang="en-US" sz="1400" i="1" dirty="0" smtClean="0">
                          <a:solidFill>
                            <a:schemeClr val="tx1"/>
                          </a:solidFill>
                          <a:latin typeface="Cambria Math" panose="02040503050406030204" pitchFamily="18" charset="0"/>
                        </a:rPr>
                        <m:t>的面积</m:t>
                      </m:r>
                      <m:r>
                        <a:rPr lang="zh-CN" altLang="en-US" sz="1400" i="1" dirty="0">
                          <a:solidFill>
                            <a:schemeClr val="tx1"/>
                          </a:solidFill>
                          <a:latin typeface="Cambria Math" panose="02040503050406030204" pitchFamily="18" charset="0"/>
                        </a:rPr>
                        <m:t>与</m:t>
                      </m:r>
                      <m:r>
                        <a:rPr lang="zh-CN" altLang="en-US" sz="1400" i="1" dirty="0" smtClean="0">
                          <a:solidFill>
                            <a:schemeClr val="tx1"/>
                          </a:solidFill>
                          <a:latin typeface="Cambria Math" panose="02040503050406030204" pitchFamily="18" charset="0"/>
                        </a:rPr>
                        <m:t>宏观</m:t>
                      </m:r>
                      <m:r>
                        <a:rPr lang="zh-CN" altLang="en-US" sz="1400" i="1" dirty="0">
                          <a:solidFill>
                            <a:schemeClr val="tx1"/>
                          </a:solidFill>
                          <a:latin typeface="Cambria Math" panose="02040503050406030204" pitchFamily="18" charset="0"/>
                        </a:rPr>
                        <m:t>表面</m:t>
                      </m:r>
                      <m:r>
                        <a:rPr lang="zh-CN" altLang="en-US" sz="1400" i="1" dirty="0" smtClean="0">
                          <a:solidFill>
                            <a:schemeClr val="tx1"/>
                          </a:solidFill>
                          <a:latin typeface="Cambria Math" panose="02040503050406030204" pitchFamily="18" charset="0"/>
                        </a:rPr>
                        <m:t>的</m:t>
                      </m:r>
                      <m:r>
                        <a:rPr lang="zh-CN" altLang="en-US" sz="1400" i="1" dirty="0">
                          <a:solidFill>
                            <a:schemeClr val="tx1"/>
                          </a:solidFill>
                          <a:latin typeface="Cambria Math" panose="02040503050406030204" pitchFamily="18" charset="0"/>
                        </a:rPr>
                        <m:t>比值</m:t>
                      </m:r>
                      <m:r>
                        <a:rPr lang="zh-CN" altLang="en-US"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𝐷</m:t>
                      </m:r>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e>
                      </m:d>
                      <m:r>
                        <a:rPr lang="en-US" altLang="zh-CN" sz="1400" b="1"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𝑑𝐴</m:t>
                          </m:r>
                        </m:num>
                        <m:den>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𝐴</m:t>
                              </m:r>
                            </m:e>
                            <m:sub>
                              <m:r>
                                <a:rPr lang="en-US" altLang="zh-CN" sz="1400" b="0" i="1" dirty="0" smtClean="0">
                                  <a:solidFill>
                                    <a:schemeClr val="tx1"/>
                                  </a:solidFill>
                                  <a:latin typeface="Cambria Math" panose="02040503050406030204" pitchFamily="18" charset="0"/>
                                </a:rPr>
                                <m:t>𝑀</m:t>
                              </m:r>
                            </m:sub>
                          </m:sSub>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𝑚</m:t>
                              </m:r>
                            </m:sub>
                          </m:sSub>
                        </m:den>
                      </m:f>
                    </m:oMath>
                  </m:oMathPara>
                </a14:m>
                <a:endParaRPr lang="en-US" altLang="zh-CN" sz="1400" b="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zh-CN" altLang="en-US" sz="1400" i="1" dirty="0" smtClean="0">
                          <a:solidFill>
                            <a:schemeClr val="tx1"/>
                          </a:solidFill>
                          <a:latin typeface="Cambria Math" panose="02040503050406030204" pitchFamily="18" charset="0"/>
                        </a:rPr>
                        <m:t>对于</m:t>
                      </m:r>
                      <m:r>
                        <a:rPr lang="zh-CN" altLang="en-US" sz="1400" i="1" dirty="0">
                          <a:solidFill>
                            <a:schemeClr val="tx1"/>
                          </a:solidFill>
                          <a:latin typeface="Cambria Math" panose="02040503050406030204" pitchFamily="18" charset="0"/>
                        </a:rPr>
                        <m:t>椭球</m:t>
                      </m:r>
                      <m:r>
                        <a:rPr lang="zh-CN" altLang="en-US" sz="1400" i="1" dirty="0" smtClean="0">
                          <a:solidFill>
                            <a:schemeClr val="tx1"/>
                          </a:solidFill>
                          <a:latin typeface="Cambria Math" panose="02040503050406030204" pitchFamily="18" charset="0"/>
                        </a:rPr>
                        <m:t>上</m:t>
                      </m:r>
                      <m:r>
                        <a:rPr lang="zh-CN" altLang="en-US" sz="1400" i="1" dirty="0">
                          <a:solidFill>
                            <a:schemeClr val="tx1"/>
                          </a:solidFill>
                          <a:latin typeface="Cambria Math" panose="02040503050406030204" pitchFamily="18" charset="0"/>
                        </a:rPr>
                        <m:t>一点</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𝜃</m:t>
                          </m:r>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𝜙</m:t>
                          </m:r>
                        </m:e>
                      </m:d>
                      <m:r>
                        <a:rPr lang="zh-CN" altLang="en-US"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𝑑𝐴</m:t>
                      </m:r>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𝜃</m:t>
                          </m:r>
                        </m:e>
                      </m:func>
                      <m:rad>
                        <m:radPr>
                          <m:degHide m:val="on"/>
                          <m:ctrlPr>
                            <a:rPr lang="en-US" altLang="zh-CN" sz="1400" i="1" dirty="0">
                              <a:solidFill>
                                <a:schemeClr val="tx1"/>
                              </a:solidFill>
                              <a:latin typeface="Cambria Math" panose="02040503050406030204" pitchFamily="18" charset="0"/>
                            </a:rPr>
                          </m:ctrlPr>
                        </m:radPr>
                        <m:deg/>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i="0" dirty="0" smtClean="0">
                                      <a:solidFill>
                                        <a:schemeClr val="tx1"/>
                                      </a:solidFill>
                                      <a:latin typeface="Cambria Math" panose="02040503050406030204" pitchFamily="18" charset="0"/>
                                    </a:rPr>
                                    <m:t>sin</m:t>
                                  </m:r>
                                </m:e>
                                <m:sup>
                                  <m:r>
                                    <a:rPr lang="en-US" altLang="zh-CN" sz="1400" b="0" i="1"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𝜃</m:t>
                              </m:r>
                            </m:e>
                          </m:func>
                          <m:r>
                            <a:rPr lang="en-US" altLang="zh-CN" sz="1400" i="1" dirty="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𝜃</m:t>
                              </m:r>
                            </m:e>
                          </m:func>
                        </m:e>
                      </m:rad>
                      <m:r>
                        <m:rPr>
                          <m:sty m:val="p"/>
                        </m:rPr>
                        <a:rPr lang="en-US" altLang="zh-CN" sz="1400" i="1" dirty="0">
                          <a:solidFill>
                            <a:schemeClr val="tx1"/>
                          </a:solidFill>
                          <a:latin typeface="Cambria Math" panose="02040503050406030204" pitchFamily="18" charset="0"/>
                        </a:rPr>
                        <m:t>d</m:t>
                      </m:r>
                      <m:r>
                        <a:rPr lang="en-US" altLang="zh-CN" sz="1400" i="1" dirty="0">
                          <a:solidFill>
                            <a:schemeClr val="tx1"/>
                          </a:solidFill>
                          <a:latin typeface="Cambria Math" panose="02040503050406030204" pitchFamily="18" charset="0"/>
                        </a:rPr>
                        <m:t>𝜃</m:t>
                      </m:r>
                      <m:r>
                        <a:rPr lang="en-US" altLang="zh-CN" sz="1400" i="1" dirty="0">
                          <a:solidFill>
                            <a:schemeClr val="tx1"/>
                          </a:solidFill>
                          <a:latin typeface="Cambria Math" panose="02040503050406030204" pitchFamily="18" charset="0"/>
                        </a:rPr>
                        <m:t>𝑑</m:t>
                      </m:r>
                      <m:r>
                        <a:rPr lang="en-US" altLang="zh-CN" sz="1400" i="1" dirty="0">
                          <a:solidFill>
                            <a:schemeClr val="tx1"/>
                          </a:solidFill>
                          <a:latin typeface="Cambria Math" panose="02040503050406030204" pitchFamily="18" charset="0"/>
                        </a:rPr>
                        <m:t>𝜙</m:t>
                      </m:r>
                    </m:oMath>
                  </m:oMathPara>
                </a14:m>
                <a:endParaRPr lang="en-US" altLang="zh-CN" sz="140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𝐴</m:t>
                          </m:r>
                        </m:e>
                        <m:sub>
                          <m:r>
                            <a:rPr lang="en-US" altLang="zh-CN" sz="1400" i="1" dirty="0">
                              <a:solidFill>
                                <a:schemeClr val="tx1"/>
                              </a:solidFill>
                              <a:latin typeface="Cambria Math" panose="02040503050406030204" pitchFamily="18" charset="0"/>
                            </a:rPr>
                            <m:t>𝑀</m:t>
                          </m:r>
                        </m:sub>
                      </m:sSub>
                      <m:r>
                        <a:rPr lang="zh-CN" altLang="en-US" sz="1400" i="1" dirty="0" smtClean="0">
                          <a:solidFill>
                            <a:schemeClr val="tx1"/>
                          </a:solidFill>
                          <a:latin typeface="Cambria Math" panose="02040503050406030204" pitchFamily="18" charset="0"/>
                        </a:rPr>
                        <m:t>为</m:t>
                      </m:r>
                      <m:r>
                        <a:rPr lang="zh-CN" altLang="en-US" sz="1400" i="1" dirty="0">
                          <a:solidFill>
                            <a:schemeClr val="tx1"/>
                          </a:solidFill>
                          <a:latin typeface="Cambria Math" panose="02040503050406030204" pitchFamily="18" charset="0"/>
                        </a:rPr>
                        <m:t>椭球</m:t>
                      </m:r>
                      <m:r>
                        <a:rPr lang="zh-CN" altLang="en-US" sz="1400" i="1" dirty="0" smtClean="0">
                          <a:solidFill>
                            <a:schemeClr val="tx1"/>
                          </a:solidFill>
                          <a:latin typeface="Cambria Math" panose="02040503050406030204" pitchFamily="18" charset="0"/>
                        </a:rPr>
                        <m:t>在</m:t>
                      </m:r>
                      <m:r>
                        <a:rPr lang="en-US" altLang="zh-CN" sz="1400" b="0" i="1" dirty="0" smtClean="0">
                          <a:solidFill>
                            <a:schemeClr val="tx1"/>
                          </a:solidFill>
                          <a:latin typeface="Cambria Math" panose="02040503050406030204" pitchFamily="18" charset="0"/>
                        </a:rPr>
                        <m:t>𝑦</m:t>
                      </m:r>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0</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𝑥𝑧</m:t>
                          </m:r>
                          <m:r>
                            <a:rPr lang="zh-CN" altLang="en-US" sz="1400" i="1" dirty="0">
                              <a:solidFill>
                                <a:schemeClr val="tx1"/>
                              </a:solidFill>
                              <a:latin typeface="Cambria Math" panose="02040503050406030204" pitchFamily="18" charset="0"/>
                            </a:rPr>
                            <m:t>平面</m:t>
                          </m:r>
                        </m:e>
                      </m:d>
                      <m:r>
                        <a:rPr lang="zh-CN" altLang="en-US" sz="1400" i="1" dirty="0">
                          <a:solidFill>
                            <a:schemeClr val="tx1"/>
                          </a:solidFill>
                          <a:latin typeface="Cambria Math" panose="02040503050406030204" pitchFamily="18" charset="0"/>
                        </a:rPr>
                        <m:t>上</m:t>
                      </m:r>
                      <m:r>
                        <a:rPr lang="zh-CN" altLang="en-US" sz="1400" i="1" dirty="0" smtClean="0">
                          <a:solidFill>
                            <a:schemeClr val="tx1"/>
                          </a:solidFill>
                          <a:latin typeface="Cambria Math" panose="02040503050406030204" pitchFamily="18" charset="0"/>
                        </a:rPr>
                        <m:t>的</m:t>
                      </m:r>
                      <m:r>
                        <a:rPr lang="zh-CN" altLang="en-US" sz="1400" i="1" dirty="0">
                          <a:solidFill>
                            <a:schemeClr val="tx1"/>
                          </a:solidFill>
                          <a:latin typeface="Cambria Math" panose="02040503050406030204" pitchFamily="18" charset="0"/>
                        </a:rPr>
                        <m:t>横截面积</m:t>
                      </m:r>
                      <m:r>
                        <a:rPr lang="zh-CN" altLang="en-US" sz="1400" i="1" dirty="0" smtClean="0">
                          <a:solidFill>
                            <a:schemeClr val="tx1"/>
                          </a:solidFill>
                          <a:latin typeface="Cambria Math" panose="02040503050406030204" pitchFamily="18" charset="0"/>
                        </a:rPr>
                        <m:t>，</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𝐴</m:t>
                          </m:r>
                        </m:e>
                        <m:sub>
                          <m:r>
                            <a:rPr lang="en-US" altLang="zh-CN" sz="1400" b="0" i="1" dirty="0" smtClean="0">
                              <a:solidFill>
                                <a:schemeClr val="tx1"/>
                              </a:solidFill>
                              <a:latin typeface="Cambria Math" panose="02040503050406030204" pitchFamily="18" charset="0"/>
                            </a:rPr>
                            <m:t>𝑀</m:t>
                          </m:r>
                        </m:sub>
                      </m:sSub>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𝜋</m:t>
                      </m:r>
                      <m:sSup>
                        <m:sSupPr>
                          <m:ctrlPr>
                            <a:rPr lang="en-US" altLang="zh-CN" sz="1400" b="0" i="1" dirty="0" smtClean="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R</m:t>
                          </m:r>
                        </m:e>
                        <m:sup>
                          <m:r>
                            <a:rPr lang="en-US" altLang="zh-CN" sz="1400" b="0" i="1" dirty="0" smtClean="0">
                              <a:solidFill>
                                <a:schemeClr val="tx1"/>
                              </a:solidFill>
                              <a:latin typeface="Cambria Math" panose="02040503050406030204" pitchFamily="18" charset="0"/>
                            </a:rPr>
                            <m:t>2</m:t>
                          </m:r>
                        </m:sup>
                      </m:sSup>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𝜋</m:t>
                      </m:r>
                    </m:oMath>
                  </m:oMathPara>
                </a14:m>
                <a:endParaRPr lang="en-US" altLang="zh-CN" sz="1400" b="0" dirty="0">
                  <a:solidFill>
                    <a:schemeClr val="tx1"/>
                  </a:solidFill>
                </a:endParaRPr>
              </a:p>
              <a:p>
                <a:pPr>
                  <a:lnSpc>
                    <a:spcPct val="130000"/>
                  </a:lnSpc>
                </a:pPr>
                <a:r>
                  <a:rPr lang="en-US" altLang="zh-CN" sz="1400" dirty="0">
                    <a:solidFill>
                      <a:schemeClr val="tx1"/>
                    </a:solidFill>
                  </a:rPr>
                  <a:t>————————————————</a:t>
                </a:r>
                <a:r>
                  <a:rPr lang="zh-CN" altLang="en-US" sz="1400" dirty="0">
                    <a:solidFill>
                      <a:schemeClr val="tx1"/>
                    </a:solidFill>
                  </a:rPr>
                  <a:t>计算</a:t>
                </a:r>
                <a14:m>
                  <m:oMath xmlns:m="http://schemas.openxmlformats.org/officeDocument/2006/math">
                    <m:r>
                      <a:rPr lang="en-US" altLang="zh-CN" sz="1400" b="0" i="1" dirty="0" smtClean="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𝑚</m:t>
                        </m:r>
                      </m:sub>
                    </m:sSub>
                  </m:oMath>
                </a14:m>
                <a:r>
                  <a:rPr lang="en-US" altLang="zh-CN" sz="1400" dirty="0">
                    <a:solidFill>
                      <a:schemeClr val="tx1"/>
                    </a:solidFill>
                  </a:rPr>
                  <a:t>———————————————</a:t>
                </a:r>
              </a:p>
              <a:p>
                <a:pPr>
                  <a:lnSpc>
                    <a:spcPct val="130000"/>
                  </a:lnSpc>
                </a:pPr>
                <a14:m>
                  <m:oMathPara xmlns:m="http://schemas.openxmlformats.org/officeDocument/2006/math">
                    <m:oMathParaPr>
                      <m:jc m:val="centerGroup"/>
                    </m:oMathParaPr>
                    <m:oMath xmlns:m="http://schemas.openxmlformats.org/officeDocument/2006/math">
                      <m:d>
                        <m:dPr>
                          <m:ctrlPr>
                            <a:rPr lang="en-US" altLang="zh-CN" sz="1400" i="1" dirty="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𝜃</m:t>
                          </m:r>
                          <m:r>
                            <a:rPr lang="en-US" altLang="zh-CN"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𝜙</m:t>
                          </m:r>
                        </m:e>
                      </m:d>
                      <m:r>
                        <a:rPr lang="zh-CN" altLang="en-US" sz="1400" i="1" dirty="0" smtClean="0">
                          <a:solidFill>
                            <a:schemeClr val="tx1"/>
                          </a:solidFill>
                          <a:latin typeface="Cambria Math" panose="02040503050406030204" pitchFamily="18" charset="0"/>
                        </a:rPr>
                        <m:t>对</m:t>
                      </m:r>
                      <m:r>
                        <a:rPr lang="zh-CN" altLang="en-US" sz="1400" i="1" dirty="0">
                          <a:solidFill>
                            <a:schemeClr val="tx1"/>
                          </a:solidFill>
                          <a:latin typeface="Cambria Math" panose="02040503050406030204" pitchFamily="18" charset="0"/>
                        </a:rPr>
                        <m:t>应</m:t>
                      </m:r>
                      <m:r>
                        <a:rPr lang="zh-CN" altLang="en-US" sz="1400" i="1" dirty="0" smtClean="0">
                          <a:solidFill>
                            <a:schemeClr val="tx1"/>
                          </a:solidFill>
                          <a:latin typeface="Cambria Math" panose="02040503050406030204" pitchFamily="18" charset="0"/>
                        </a:rPr>
                        <m:t>的椭球</m:t>
                      </m:r>
                      <m:r>
                        <a:rPr lang="zh-CN" altLang="en-US" sz="1400" i="1" dirty="0">
                          <a:solidFill>
                            <a:schemeClr val="tx1"/>
                          </a:solidFill>
                          <a:latin typeface="Cambria Math" panose="02040503050406030204" pitchFamily="18" charset="0"/>
                        </a:rPr>
                        <m:t>上</m:t>
                      </m:r>
                      <m:r>
                        <a:rPr lang="zh-CN" altLang="en-US" sz="1400" i="1" dirty="0" smtClean="0">
                          <a:solidFill>
                            <a:schemeClr val="tx1"/>
                          </a:solidFill>
                          <a:latin typeface="Cambria Math" panose="02040503050406030204" pitchFamily="18" charset="0"/>
                        </a:rPr>
                        <m:t>一点</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𝑥</m:t>
                          </m:r>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𝑦</m:t>
                          </m:r>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𝑧</m:t>
                          </m:r>
                        </m:e>
                      </m:d>
                      <m:r>
                        <a:rPr lang="zh-CN" altLang="en-US" sz="1400" i="1" dirty="0">
                          <a:solidFill>
                            <a:schemeClr val="tx1"/>
                          </a:solidFill>
                          <a:latin typeface="Cambria Math" panose="02040503050406030204" pitchFamily="18" charset="0"/>
                        </a:rPr>
                        <m:t>，</m:t>
                      </m:r>
                      <m:r>
                        <a:rPr lang="zh-CN" altLang="en-US" sz="1400" i="1" dirty="0" smtClean="0">
                          <a:solidFill>
                            <a:schemeClr val="tx1"/>
                          </a:solidFill>
                          <a:latin typeface="Cambria Math" panose="02040503050406030204" pitchFamily="18" charset="0"/>
                        </a:rPr>
                        <m:t>该点</m:t>
                      </m:r>
                      <m:r>
                        <a:rPr lang="zh-CN" altLang="en-US" sz="1400" i="1" dirty="0">
                          <a:solidFill>
                            <a:schemeClr val="tx1"/>
                          </a:solidFill>
                          <a:latin typeface="Cambria Math" panose="02040503050406030204" pitchFamily="18" charset="0"/>
                        </a:rPr>
                        <m:t>处</m:t>
                      </m:r>
                      <m:r>
                        <a:rPr lang="zh-CN" altLang="en-US" sz="1400" i="1" dirty="0" smtClean="0">
                          <a:solidFill>
                            <a:schemeClr val="tx1"/>
                          </a:solidFill>
                          <a:latin typeface="Cambria Math" panose="02040503050406030204" pitchFamily="18" charset="0"/>
                        </a:rPr>
                        <m:t>的</m:t>
                      </m:r>
                      <m:r>
                        <a:rPr lang="zh-CN" altLang="en-US" sz="1400" i="1" dirty="0">
                          <a:solidFill>
                            <a:schemeClr val="tx1"/>
                          </a:solidFill>
                          <a:latin typeface="Cambria Math" panose="02040503050406030204" pitchFamily="18" charset="0"/>
                        </a:rPr>
                        <m:t>法线</m:t>
                      </m:r>
                      <m:r>
                        <a:rPr lang="zh-CN" altLang="en-US" sz="1400" i="1" dirty="0" smtClean="0">
                          <a:solidFill>
                            <a:schemeClr val="tx1"/>
                          </a:solidFill>
                          <a:latin typeface="Cambria Math" panose="02040503050406030204" pitchFamily="18" charset="0"/>
                        </a:rPr>
                        <m:t>为</m:t>
                      </m:r>
                      <m:r>
                        <a:rPr lang="en-US" altLang="zh-CN" sz="1400" b="1" i="1" dirty="0" smtClean="0">
                          <a:solidFill>
                            <a:schemeClr val="tx1"/>
                          </a:solidFill>
                          <a:latin typeface="Cambria Math" panose="02040503050406030204" pitchFamily="18" charset="0"/>
                        </a:rPr>
                        <m:t>𝒎</m:t>
                      </m:r>
                      <m:r>
                        <a:rPr lang="zh-CN" altLang="en-US" sz="1400" i="1" dirty="0">
                          <a:solidFill>
                            <a:schemeClr val="tx1"/>
                          </a:solidFill>
                          <a:latin typeface="Cambria Math" panose="02040503050406030204" pitchFamily="18" charset="0"/>
                        </a:rPr>
                        <m:t>：</m:t>
                      </m:r>
                    </m:oMath>
                  </m:oMathPara>
                </a14:m>
                <a:endParaRPr lang="en-US" altLang="zh-CN" sz="140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en-US" altLang="zh-CN" sz="1400" b="1" i="1" dirty="0" smtClean="0">
                          <a:solidFill>
                            <a:schemeClr val="tx1"/>
                          </a:solidFill>
                          <a:latin typeface="Cambria Math" panose="02040503050406030204" pitchFamily="18" charset="0"/>
                        </a:rPr>
                        <m:t>𝒎</m:t>
                      </m:r>
                      <m:r>
                        <a:rPr lang="en-US" altLang="zh-CN" sz="1400" b="0" i="1" dirty="0" smtClean="0">
                          <a:solidFill>
                            <a:schemeClr val="tx1"/>
                          </a:solidFill>
                          <a:latin typeface="Cambria Math" panose="02040503050406030204" pitchFamily="18" charset="0"/>
                        </a:rPr>
                        <m:t>=</m:t>
                      </m:r>
                      <m:r>
                        <m:rPr>
                          <m:sty m:val="p"/>
                        </m:rPr>
                        <a:rPr lang="en-US" altLang="zh-CN" sz="1400" b="0" i="0" dirty="0" smtClean="0">
                          <a:solidFill>
                            <a:schemeClr val="tx1"/>
                          </a:solidFill>
                          <a:latin typeface="Cambria Math" panose="02040503050406030204" pitchFamily="18" charset="0"/>
                        </a:rPr>
                        <m:t>∇F</m:t>
                      </m:r>
                      <m:r>
                        <a:rPr lang="en-US" altLang="zh-CN" sz="1400" b="0" i="0"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𝐹</m:t>
                              </m:r>
                            </m:num>
                            <m:den>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𝑥</m:t>
                              </m:r>
                            </m:den>
                          </m:f>
                          <m:r>
                            <a:rPr lang="en-US" altLang="zh-CN" sz="1400" b="0" i="0"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𝐹</m:t>
                              </m:r>
                            </m:num>
                            <m:den>
                              <m:r>
                                <a:rPr lang="en-US" altLang="zh-CN"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𝑦</m:t>
                              </m:r>
                            </m:den>
                          </m:f>
                          <m:r>
                            <a:rPr lang="en-US" altLang="zh-CN" sz="1400" b="0" i="0"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𝐹</m:t>
                              </m:r>
                            </m:num>
                            <m:den>
                              <m:r>
                                <a:rPr lang="en-US" altLang="zh-CN"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𝑧</m:t>
                              </m:r>
                            </m:den>
                          </m:f>
                        </m:e>
                      </m:d>
                      <m:r>
                        <a:rPr lang="en-US" altLang="zh-CN" sz="1400" b="0" i="0"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b="0" i="0" dirty="0" smtClean="0">
                              <a:solidFill>
                                <a:schemeClr val="tx1"/>
                              </a:solidFill>
                              <a:latin typeface="Cambria Math" panose="02040503050406030204" pitchFamily="18" charset="0"/>
                            </a:rPr>
                            <m:t>2</m:t>
                          </m:r>
                          <m:r>
                            <a:rPr lang="en-US" altLang="zh-CN" sz="1400" b="0" i="1" dirty="0" smtClean="0">
                              <a:solidFill>
                                <a:schemeClr val="tx1"/>
                              </a:solidFill>
                              <a:latin typeface="Cambria Math" panose="02040503050406030204" pitchFamily="18" charset="0"/>
                            </a:rPr>
                            <m:t>𝑥</m:t>
                          </m:r>
                          <m:r>
                            <a:rPr lang="en-US" altLang="zh-CN" sz="1400" b="0" i="0"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a:rPr lang="en-US" altLang="zh-CN" sz="1400" b="0" i="0" dirty="0" smtClean="0">
                                  <a:solidFill>
                                    <a:schemeClr val="tx1"/>
                                  </a:solidFill>
                                  <a:latin typeface="Cambria Math" panose="02040503050406030204" pitchFamily="18" charset="0"/>
                                </a:rPr>
                                <m:t>2</m:t>
                              </m:r>
                              <m:r>
                                <a:rPr lang="en-US" altLang="zh-CN" sz="1400" b="0" i="1" dirty="0" smtClean="0">
                                  <a:solidFill>
                                    <a:schemeClr val="tx1"/>
                                  </a:solidFill>
                                  <a:latin typeface="Cambria Math" panose="02040503050406030204" pitchFamily="18" charset="0"/>
                                </a:rPr>
                                <m:t>𝑦</m:t>
                              </m:r>
                            </m:num>
                            <m:den>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den>
                          </m:f>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2</m:t>
                          </m:r>
                          <m:r>
                            <a:rPr lang="en-US" altLang="zh-CN" sz="1400" b="0" i="1" dirty="0" smtClean="0">
                              <a:solidFill>
                                <a:schemeClr val="tx1"/>
                              </a:solidFill>
                              <a:latin typeface="Cambria Math" panose="02040503050406030204" pitchFamily="18" charset="0"/>
                            </a:rPr>
                            <m:t>𝑧</m:t>
                          </m:r>
                        </m:e>
                      </m:d>
                    </m:oMath>
                  </m:oMathPara>
                </a14:m>
                <a:endParaRPr lang="en-US" altLang="zh-CN" sz="1400" b="0" dirty="0">
                  <a:solidFill>
                    <a:schemeClr val="tx1"/>
                  </a:solidFill>
                </a:endParaRPr>
              </a:p>
              <a:p>
                <a:pPr>
                  <a:lnSpc>
                    <a:spcPct val="13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用</m:t>
                      </m:r>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𝜃</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𝜙</m:t>
                          </m:r>
                        </m:e>
                      </m:d>
                      <m:r>
                        <a:rPr lang="zh-CN" altLang="en-US" sz="1400" i="1" dirty="0">
                          <a:solidFill>
                            <a:schemeClr val="tx1"/>
                          </a:solidFill>
                          <a:latin typeface="Cambria Math" panose="02040503050406030204" pitchFamily="18" charset="0"/>
                        </a:rPr>
                        <m:t>表示</m:t>
                      </m:r>
                      <m:r>
                        <a:rPr lang="zh-CN" altLang="en-US" sz="1400" i="1" dirty="0" smtClean="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r>
                        <a:rPr lang="en-US" altLang="zh-CN" sz="1400" b="1" i="1" dirty="0" smtClean="0">
                          <a:solidFill>
                            <a:schemeClr val="tx1"/>
                          </a:solidFill>
                          <a:latin typeface="Cambria Math" panose="02040503050406030204" pitchFamily="18" charset="0"/>
                        </a:rPr>
                        <m:t>=</m:t>
                      </m:r>
                      <m:d>
                        <m:dPr>
                          <m:ctrlPr>
                            <a:rPr lang="en-US" altLang="zh-CN" sz="1400" b="1"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2</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𝜙</m:t>
                              </m:r>
                            </m:e>
                          </m:func>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2</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𝜃</m:t>
                                  </m:r>
                                </m:e>
                              </m:func>
                            </m:num>
                            <m:den>
                              <m:r>
                                <a:rPr lang="en-US" altLang="zh-CN" sz="1400" b="0" i="1" dirty="0" smtClean="0">
                                  <a:solidFill>
                                    <a:schemeClr val="tx1"/>
                                  </a:solidFill>
                                  <a:latin typeface="Cambria Math" panose="02040503050406030204" pitchFamily="18" charset="0"/>
                                </a:rPr>
                                <m:t>𝛼</m:t>
                              </m:r>
                            </m:den>
                          </m:f>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2</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𝜃</m:t>
                              </m:r>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𝜙</m:t>
                              </m:r>
                            </m:e>
                          </m:func>
                        </m:e>
                      </m:d>
                    </m:oMath>
                  </m:oMathPara>
                </a14:m>
                <a:endParaRPr lang="en-US" altLang="zh-CN" sz="1400" b="1"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zh-CN" altLang="en-US" sz="1250" b="1" i="1" dirty="0">
                          <a:solidFill>
                            <a:schemeClr val="tx1"/>
                          </a:solidFill>
                          <a:latin typeface="Cambria Math" panose="02040503050406030204" pitchFamily="18" charset="0"/>
                        </a:rPr>
                        <m:t>归一化</m:t>
                      </m:r>
                      <m:r>
                        <a:rPr lang="zh-CN" altLang="en-US" sz="1250" b="1" i="1" dirty="0">
                          <a:solidFill>
                            <a:schemeClr val="tx1"/>
                          </a:solidFill>
                          <a:latin typeface="Cambria Math" panose="02040503050406030204" pitchFamily="18" charset="0"/>
                        </a:rPr>
                        <m:t>：</m:t>
                      </m:r>
                      <m:r>
                        <a:rPr lang="en-US" altLang="zh-CN" sz="1200" b="1" i="1" dirty="0">
                          <a:solidFill>
                            <a:schemeClr val="tx1"/>
                          </a:solidFill>
                          <a:latin typeface="Cambria Math" panose="02040503050406030204" pitchFamily="18" charset="0"/>
                        </a:rPr>
                        <m:t>𝒎</m:t>
                      </m:r>
                      <m:r>
                        <a:rPr lang="en-US" altLang="zh-CN" sz="1250" b="1" i="1" dirty="0">
                          <a:solidFill>
                            <a:schemeClr val="tx1"/>
                          </a:solidFill>
                          <a:latin typeface="Cambria Math" panose="02040503050406030204" pitchFamily="18" charset="0"/>
                        </a:rPr>
                        <m:t>=</m:t>
                      </m:r>
                      <m:f>
                        <m:fPr>
                          <m:ctrlPr>
                            <a:rPr lang="en-US" altLang="zh-CN" sz="1250" b="1" i="1" dirty="0" smtClean="0">
                              <a:solidFill>
                                <a:schemeClr val="tx1"/>
                              </a:solidFill>
                              <a:latin typeface="Cambria Math" panose="02040503050406030204" pitchFamily="18" charset="0"/>
                            </a:rPr>
                          </m:ctrlPr>
                        </m:fPr>
                        <m:num>
                          <m:d>
                            <m:dPr>
                              <m:ctrlPr>
                                <a:rPr lang="en-US" altLang="zh-CN" sz="1250" b="1" i="1" dirty="0">
                                  <a:solidFill>
                                    <a:schemeClr val="tx1"/>
                                  </a:solidFill>
                                  <a:latin typeface="Cambria Math" panose="02040503050406030204" pitchFamily="18" charset="0"/>
                                </a:rPr>
                              </m:ctrlPr>
                            </m:dPr>
                            <m:e>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sin</m:t>
                                  </m:r>
                                </m:fName>
                                <m:e>
                                  <m:r>
                                    <a:rPr lang="en-US" altLang="zh-CN" sz="1200" i="1" dirty="0">
                                      <a:solidFill>
                                        <a:schemeClr val="tx1"/>
                                      </a:solidFill>
                                      <a:latin typeface="Cambria Math" panose="02040503050406030204" pitchFamily="18" charset="0"/>
                                    </a:rPr>
                                    <m:t>𝜃</m:t>
                                  </m:r>
                                </m:e>
                              </m:func>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cos</m:t>
                                  </m:r>
                                </m:fName>
                                <m:e>
                                  <m:r>
                                    <a:rPr lang="en-US" altLang="zh-CN" sz="1250" i="1" dirty="0">
                                      <a:solidFill>
                                        <a:schemeClr val="tx1"/>
                                      </a:solidFill>
                                      <a:latin typeface="Cambria Math" panose="02040503050406030204" pitchFamily="18" charset="0"/>
                                    </a:rPr>
                                    <m:t>𝜙</m:t>
                                  </m:r>
                                </m:e>
                              </m:func>
                              <m:r>
                                <a:rPr lang="en-US" altLang="zh-CN" sz="1250" i="1" dirty="0">
                                  <a:solidFill>
                                    <a:schemeClr val="tx1"/>
                                  </a:solidFill>
                                  <a:latin typeface="Cambria Math" panose="02040503050406030204" pitchFamily="18" charset="0"/>
                                </a:rPr>
                                <m:t>,</m:t>
                              </m:r>
                              <m:f>
                                <m:fPr>
                                  <m:ctrlPr>
                                    <a:rPr lang="en-US" altLang="zh-CN" sz="1250" i="1" dirty="0">
                                      <a:solidFill>
                                        <a:schemeClr val="tx1"/>
                                      </a:solidFill>
                                      <a:latin typeface="Cambria Math" panose="02040503050406030204" pitchFamily="18" charset="0"/>
                                    </a:rPr>
                                  </m:ctrlPr>
                                </m:fPr>
                                <m:num>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cos</m:t>
                                      </m:r>
                                    </m:fName>
                                    <m:e>
                                      <m:r>
                                        <a:rPr lang="en-US" altLang="zh-CN" sz="1200" i="1" dirty="0">
                                          <a:solidFill>
                                            <a:schemeClr val="tx1"/>
                                          </a:solidFill>
                                          <a:latin typeface="Cambria Math" panose="02040503050406030204" pitchFamily="18" charset="0"/>
                                        </a:rPr>
                                        <m:t>𝜃</m:t>
                                      </m:r>
                                    </m:e>
                                  </m:func>
                                </m:num>
                                <m:den>
                                  <m:r>
                                    <a:rPr lang="en-US" altLang="zh-CN" sz="1250" i="1" dirty="0">
                                      <a:solidFill>
                                        <a:schemeClr val="tx1"/>
                                      </a:solidFill>
                                      <a:latin typeface="Cambria Math" panose="02040503050406030204" pitchFamily="18" charset="0"/>
                                    </a:rPr>
                                    <m:t>𝛼</m:t>
                                  </m:r>
                                </m:den>
                              </m:f>
                              <m:r>
                                <a:rPr lang="en-US" altLang="zh-CN" sz="1250" i="1" dirty="0">
                                  <a:solidFill>
                                    <a:schemeClr val="tx1"/>
                                  </a:solidFill>
                                  <a:latin typeface="Cambria Math" panose="02040503050406030204" pitchFamily="18" charset="0"/>
                                </a:rPr>
                                <m:t>,</m:t>
                              </m:r>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sin</m:t>
                                  </m:r>
                                </m:fName>
                                <m:e>
                                  <m:r>
                                    <a:rPr lang="en-US" altLang="zh-CN" sz="1200" i="1" dirty="0">
                                      <a:solidFill>
                                        <a:schemeClr val="tx1"/>
                                      </a:solidFill>
                                      <a:latin typeface="Cambria Math" panose="02040503050406030204" pitchFamily="18" charset="0"/>
                                    </a:rPr>
                                    <m:t>𝜃</m:t>
                                  </m:r>
                                </m:e>
                              </m:func>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sin</m:t>
                                  </m:r>
                                </m:fName>
                                <m:e>
                                  <m:r>
                                    <a:rPr lang="en-US" altLang="zh-CN" sz="1250" b="0" i="1" dirty="0" smtClean="0">
                                      <a:solidFill>
                                        <a:schemeClr val="tx1"/>
                                      </a:solidFill>
                                      <a:latin typeface="Cambria Math" panose="02040503050406030204" pitchFamily="18" charset="0"/>
                                    </a:rPr>
                                    <m:t>𝜙</m:t>
                                  </m:r>
                                </m:e>
                              </m:func>
                            </m:e>
                          </m:d>
                        </m:num>
                        <m:den>
                          <m:rad>
                            <m:radPr>
                              <m:degHide m:val="on"/>
                              <m:ctrlPr>
                                <a:rPr lang="en-US" altLang="zh-CN" sz="1250" b="1" i="1" dirty="0" smtClean="0">
                                  <a:solidFill>
                                    <a:schemeClr val="tx1"/>
                                  </a:solidFill>
                                  <a:latin typeface="Cambria Math" panose="02040503050406030204" pitchFamily="18" charset="0"/>
                                </a:rPr>
                              </m:ctrlPr>
                            </m:radPr>
                            <m:deg/>
                            <m:e>
                              <m:func>
                                <m:funcPr>
                                  <m:ctrlPr>
                                    <a:rPr lang="en-US" altLang="zh-CN" sz="1250" i="1" dirty="0">
                                      <a:solidFill>
                                        <a:schemeClr val="tx1"/>
                                      </a:solidFill>
                                      <a:latin typeface="Cambria Math" panose="02040503050406030204" pitchFamily="18" charset="0"/>
                                    </a:rPr>
                                  </m:ctrlPr>
                                </m:funcPr>
                                <m:fName>
                                  <m:sSup>
                                    <m:sSupPr>
                                      <m:ctrlPr>
                                        <a:rPr lang="en-US" altLang="zh-CN" sz="1250" b="0" i="1" dirty="0" smtClean="0">
                                          <a:solidFill>
                                            <a:schemeClr val="tx1"/>
                                          </a:solidFill>
                                          <a:latin typeface="Cambria Math" panose="02040503050406030204" pitchFamily="18" charset="0"/>
                                        </a:rPr>
                                      </m:ctrlPr>
                                    </m:sSupPr>
                                    <m:e>
                                      <m:r>
                                        <m:rPr>
                                          <m:sty m:val="p"/>
                                        </m:rPr>
                                        <a:rPr lang="en-US" altLang="zh-CN" sz="1250" dirty="0">
                                          <a:solidFill>
                                            <a:schemeClr val="tx1"/>
                                          </a:solidFill>
                                          <a:latin typeface="Cambria Math" panose="02040503050406030204" pitchFamily="18" charset="0"/>
                                        </a:rPr>
                                        <m:t>sin</m:t>
                                      </m:r>
                                    </m:e>
                                    <m:sup>
                                      <m:r>
                                        <a:rPr lang="en-US" altLang="zh-CN" sz="1250" b="0" i="1" dirty="0" smtClean="0">
                                          <a:solidFill>
                                            <a:schemeClr val="tx1"/>
                                          </a:solidFill>
                                          <a:latin typeface="Cambria Math" panose="02040503050406030204" pitchFamily="18" charset="0"/>
                                        </a:rPr>
                                        <m:t>2</m:t>
                                      </m:r>
                                    </m:sup>
                                  </m:sSup>
                                </m:fName>
                                <m:e>
                                  <m:r>
                                    <a:rPr lang="en-US" altLang="zh-CN" sz="1200" i="1" dirty="0">
                                      <a:solidFill>
                                        <a:schemeClr val="tx1"/>
                                      </a:solidFill>
                                      <a:latin typeface="Cambria Math" panose="02040503050406030204" pitchFamily="18" charset="0"/>
                                    </a:rPr>
                                    <m:t>𝜃</m:t>
                                  </m:r>
                                </m:e>
                              </m:func>
                              <m:func>
                                <m:funcPr>
                                  <m:ctrlPr>
                                    <a:rPr lang="en-US" altLang="zh-CN" sz="1250" i="1" dirty="0">
                                      <a:solidFill>
                                        <a:schemeClr val="tx1"/>
                                      </a:solidFill>
                                      <a:latin typeface="Cambria Math" panose="02040503050406030204" pitchFamily="18" charset="0"/>
                                    </a:rPr>
                                  </m:ctrlPr>
                                </m:funcPr>
                                <m:fName>
                                  <m:sSup>
                                    <m:sSupPr>
                                      <m:ctrlPr>
                                        <a:rPr lang="en-US" altLang="zh-CN" sz="1250" b="0" i="1" dirty="0" smtClean="0">
                                          <a:solidFill>
                                            <a:schemeClr val="tx1"/>
                                          </a:solidFill>
                                          <a:latin typeface="Cambria Math" panose="02040503050406030204" pitchFamily="18" charset="0"/>
                                        </a:rPr>
                                      </m:ctrlPr>
                                    </m:sSupPr>
                                    <m:e>
                                      <m:r>
                                        <m:rPr>
                                          <m:sty m:val="p"/>
                                        </m:rPr>
                                        <a:rPr lang="en-US" altLang="zh-CN" sz="1250" dirty="0">
                                          <a:solidFill>
                                            <a:schemeClr val="tx1"/>
                                          </a:solidFill>
                                          <a:latin typeface="Cambria Math" panose="02040503050406030204" pitchFamily="18" charset="0"/>
                                        </a:rPr>
                                        <m:t>cos</m:t>
                                      </m:r>
                                    </m:e>
                                    <m:sup>
                                      <m:r>
                                        <a:rPr lang="en-US" altLang="zh-CN" sz="1250" b="0" i="0" dirty="0" smtClean="0">
                                          <a:solidFill>
                                            <a:schemeClr val="tx1"/>
                                          </a:solidFill>
                                          <a:latin typeface="Cambria Math" panose="02040503050406030204" pitchFamily="18" charset="0"/>
                                        </a:rPr>
                                        <m:t>2</m:t>
                                      </m:r>
                                    </m:sup>
                                  </m:sSup>
                                </m:fName>
                                <m:e>
                                  <m:r>
                                    <a:rPr lang="en-US" altLang="zh-CN" sz="1250" i="1" dirty="0">
                                      <a:solidFill>
                                        <a:schemeClr val="tx1"/>
                                      </a:solidFill>
                                      <a:latin typeface="Cambria Math" panose="02040503050406030204" pitchFamily="18" charset="0"/>
                                    </a:rPr>
                                    <m:t>𝜙</m:t>
                                  </m:r>
                                </m:e>
                              </m:func>
                              <m:r>
                                <a:rPr lang="en-US" altLang="zh-CN" sz="1250" b="0" i="1" dirty="0" smtClean="0">
                                  <a:solidFill>
                                    <a:schemeClr val="tx1"/>
                                  </a:solidFill>
                                  <a:latin typeface="Cambria Math" panose="02040503050406030204" pitchFamily="18" charset="0"/>
                                </a:rPr>
                                <m:t>+</m:t>
                              </m:r>
                              <m:f>
                                <m:fPr>
                                  <m:ctrlPr>
                                    <a:rPr lang="en-US" altLang="zh-CN" sz="1250" i="1" dirty="0">
                                      <a:solidFill>
                                        <a:schemeClr val="tx1"/>
                                      </a:solidFill>
                                      <a:latin typeface="Cambria Math" panose="02040503050406030204" pitchFamily="18" charset="0"/>
                                    </a:rPr>
                                  </m:ctrlPr>
                                </m:fPr>
                                <m:num>
                                  <m:func>
                                    <m:funcPr>
                                      <m:ctrlPr>
                                        <a:rPr lang="en-US" altLang="zh-CN" sz="1250" i="1" dirty="0">
                                          <a:solidFill>
                                            <a:schemeClr val="tx1"/>
                                          </a:solidFill>
                                          <a:latin typeface="Cambria Math" panose="02040503050406030204" pitchFamily="18" charset="0"/>
                                        </a:rPr>
                                      </m:ctrlPr>
                                    </m:funcPr>
                                    <m:fName>
                                      <m:sSup>
                                        <m:sSupPr>
                                          <m:ctrlPr>
                                            <a:rPr lang="en-US" altLang="zh-CN" sz="1250" b="0" i="1" dirty="0" smtClean="0">
                                              <a:solidFill>
                                                <a:schemeClr val="tx1"/>
                                              </a:solidFill>
                                              <a:latin typeface="Cambria Math" panose="02040503050406030204" pitchFamily="18" charset="0"/>
                                            </a:rPr>
                                          </m:ctrlPr>
                                        </m:sSupPr>
                                        <m:e>
                                          <m:r>
                                            <m:rPr>
                                              <m:sty m:val="p"/>
                                            </m:rPr>
                                            <a:rPr lang="en-US" altLang="zh-CN" sz="1250" dirty="0">
                                              <a:solidFill>
                                                <a:schemeClr val="tx1"/>
                                              </a:solidFill>
                                              <a:latin typeface="Cambria Math" panose="02040503050406030204" pitchFamily="18" charset="0"/>
                                            </a:rPr>
                                            <m:t>cos</m:t>
                                          </m:r>
                                        </m:e>
                                        <m:sup>
                                          <m:r>
                                            <a:rPr lang="en-US" altLang="zh-CN" sz="1250" b="0" i="1" dirty="0" smtClean="0">
                                              <a:solidFill>
                                                <a:schemeClr val="tx1"/>
                                              </a:solidFill>
                                              <a:latin typeface="Cambria Math" panose="02040503050406030204" pitchFamily="18" charset="0"/>
                                            </a:rPr>
                                            <m:t>2</m:t>
                                          </m:r>
                                        </m:sup>
                                      </m:sSup>
                                    </m:fName>
                                    <m:e>
                                      <m:r>
                                        <a:rPr lang="en-US" altLang="zh-CN" sz="1200" i="1" dirty="0">
                                          <a:solidFill>
                                            <a:schemeClr val="tx1"/>
                                          </a:solidFill>
                                          <a:latin typeface="Cambria Math" panose="02040503050406030204" pitchFamily="18" charset="0"/>
                                        </a:rPr>
                                        <m:t>𝜃</m:t>
                                      </m:r>
                                    </m:e>
                                  </m:func>
                                </m:num>
                                <m:den>
                                  <m:sSup>
                                    <m:sSupPr>
                                      <m:ctrlPr>
                                        <a:rPr lang="en-US" altLang="zh-CN" sz="1250" b="0" i="1" dirty="0" smtClean="0">
                                          <a:solidFill>
                                            <a:schemeClr val="tx1"/>
                                          </a:solidFill>
                                          <a:latin typeface="Cambria Math" panose="02040503050406030204" pitchFamily="18" charset="0"/>
                                        </a:rPr>
                                      </m:ctrlPr>
                                    </m:sSupPr>
                                    <m:e>
                                      <m:r>
                                        <a:rPr lang="en-US" altLang="zh-CN" sz="1250" i="1" dirty="0">
                                          <a:solidFill>
                                            <a:schemeClr val="tx1"/>
                                          </a:solidFill>
                                          <a:latin typeface="Cambria Math" panose="02040503050406030204" pitchFamily="18" charset="0"/>
                                        </a:rPr>
                                        <m:t>𝛼</m:t>
                                      </m:r>
                                    </m:e>
                                    <m:sup>
                                      <m:r>
                                        <a:rPr lang="en-US" altLang="zh-CN" sz="1250" b="0" i="1" dirty="0" smtClean="0">
                                          <a:solidFill>
                                            <a:schemeClr val="tx1"/>
                                          </a:solidFill>
                                          <a:latin typeface="Cambria Math" panose="02040503050406030204" pitchFamily="18" charset="0"/>
                                        </a:rPr>
                                        <m:t>2</m:t>
                                      </m:r>
                                    </m:sup>
                                  </m:sSup>
                                </m:den>
                              </m:f>
                              <m:r>
                                <a:rPr lang="en-US" altLang="zh-CN" sz="1250" b="0" i="1" dirty="0" smtClean="0">
                                  <a:solidFill>
                                    <a:schemeClr val="tx1"/>
                                  </a:solidFill>
                                  <a:latin typeface="Cambria Math" panose="02040503050406030204" pitchFamily="18" charset="0"/>
                                </a:rPr>
                                <m:t>+</m:t>
                              </m:r>
                              <m:func>
                                <m:funcPr>
                                  <m:ctrlPr>
                                    <a:rPr lang="en-US" altLang="zh-CN" sz="1250" i="1" dirty="0">
                                      <a:solidFill>
                                        <a:schemeClr val="tx1"/>
                                      </a:solidFill>
                                      <a:latin typeface="Cambria Math" panose="02040503050406030204" pitchFamily="18" charset="0"/>
                                    </a:rPr>
                                  </m:ctrlPr>
                                </m:funcPr>
                                <m:fName>
                                  <m:sSup>
                                    <m:sSupPr>
                                      <m:ctrlPr>
                                        <a:rPr lang="en-US" altLang="zh-CN" sz="1250" b="0" i="1" dirty="0" smtClean="0">
                                          <a:solidFill>
                                            <a:schemeClr val="tx1"/>
                                          </a:solidFill>
                                          <a:latin typeface="Cambria Math" panose="02040503050406030204" pitchFamily="18" charset="0"/>
                                        </a:rPr>
                                      </m:ctrlPr>
                                    </m:sSupPr>
                                    <m:e>
                                      <m:r>
                                        <m:rPr>
                                          <m:sty m:val="p"/>
                                        </m:rPr>
                                        <a:rPr lang="en-US" altLang="zh-CN" sz="1250" dirty="0">
                                          <a:solidFill>
                                            <a:schemeClr val="tx1"/>
                                          </a:solidFill>
                                          <a:latin typeface="Cambria Math" panose="02040503050406030204" pitchFamily="18" charset="0"/>
                                        </a:rPr>
                                        <m:t>sin</m:t>
                                      </m:r>
                                    </m:e>
                                    <m:sup>
                                      <m:r>
                                        <a:rPr lang="en-US" altLang="zh-CN" sz="1250" b="0" i="0" dirty="0" smtClean="0">
                                          <a:solidFill>
                                            <a:schemeClr val="tx1"/>
                                          </a:solidFill>
                                          <a:latin typeface="Cambria Math" panose="02040503050406030204" pitchFamily="18" charset="0"/>
                                        </a:rPr>
                                        <m:t>2</m:t>
                                      </m:r>
                                    </m:sup>
                                  </m:sSup>
                                </m:fName>
                                <m:e>
                                  <m:r>
                                    <a:rPr lang="en-US" altLang="zh-CN" sz="1200" i="1" dirty="0">
                                      <a:solidFill>
                                        <a:schemeClr val="tx1"/>
                                      </a:solidFill>
                                      <a:latin typeface="Cambria Math" panose="02040503050406030204" pitchFamily="18" charset="0"/>
                                    </a:rPr>
                                    <m:t>𝜃</m:t>
                                  </m:r>
                                </m:e>
                              </m:func>
                              <m:func>
                                <m:funcPr>
                                  <m:ctrlPr>
                                    <a:rPr lang="en-US" altLang="zh-CN" sz="1250" i="1" dirty="0">
                                      <a:solidFill>
                                        <a:schemeClr val="tx1"/>
                                      </a:solidFill>
                                      <a:latin typeface="Cambria Math" panose="02040503050406030204" pitchFamily="18" charset="0"/>
                                    </a:rPr>
                                  </m:ctrlPr>
                                </m:funcPr>
                                <m:fName>
                                  <m:sSup>
                                    <m:sSupPr>
                                      <m:ctrlPr>
                                        <a:rPr lang="en-US" altLang="zh-CN" sz="1250" b="0" i="1" dirty="0" smtClean="0">
                                          <a:solidFill>
                                            <a:schemeClr val="tx1"/>
                                          </a:solidFill>
                                          <a:latin typeface="Cambria Math" panose="02040503050406030204" pitchFamily="18" charset="0"/>
                                        </a:rPr>
                                      </m:ctrlPr>
                                    </m:sSupPr>
                                    <m:e>
                                      <m:r>
                                        <m:rPr>
                                          <m:sty m:val="p"/>
                                        </m:rPr>
                                        <a:rPr lang="en-US" altLang="zh-CN" sz="1250" dirty="0">
                                          <a:solidFill>
                                            <a:schemeClr val="tx1"/>
                                          </a:solidFill>
                                          <a:latin typeface="Cambria Math" panose="02040503050406030204" pitchFamily="18" charset="0"/>
                                        </a:rPr>
                                        <m:t>sin</m:t>
                                      </m:r>
                                    </m:e>
                                    <m:sup>
                                      <m:r>
                                        <a:rPr lang="en-US" altLang="zh-CN" sz="1250" b="0" i="1" dirty="0" smtClean="0">
                                          <a:solidFill>
                                            <a:schemeClr val="tx1"/>
                                          </a:solidFill>
                                          <a:latin typeface="Cambria Math" panose="02040503050406030204" pitchFamily="18" charset="0"/>
                                        </a:rPr>
                                        <m:t>2</m:t>
                                      </m:r>
                                    </m:sup>
                                  </m:sSup>
                                </m:fName>
                                <m:e>
                                  <m:r>
                                    <a:rPr lang="en-US" altLang="zh-CN" sz="1250" i="1" dirty="0">
                                      <a:solidFill>
                                        <a:schemeClr val="tx1"/>
                                      </a:solidFill>
                                      <a:latin typeface="Cambria Math" panose="02040503050406030204" pitchFamily="18" charset="0"/>
                                    </a:rPr>
                                    <m:t>𝜙</m:t>
                                  </m:r>
                                </m:e>
                              </m:func>
                            </m:e>
                          </m:rad>
                        </m:den>
                      </m:f>
                      <m:r>
                        <a:rPr lang="en-US" altLang="zh-CN" sz="1250" b="1" i="1" dirty="0" smtClean="0">
                          <a:solidFill>
                            <a:schemeClr val="tx1"/>
                          </a:solidFill>
                          <a:latin typeface="Cambria Math" panose="02040503050406030204" pitchFamily="18" charset="0"/>
                        </a:rPr>
                        <m:t>=</m:t>
                      </m:r>
                      <m:f>
                        <m:fPr>
                          <m:ctrlPr>
                            <a:rPr lang="en-US" altLang="zh-CN" sz="1250" b="1" i="1" dirty="0">
                              <a:solidFill>
                                <a:schemeClr val="tx1"/>
                              </a:solidFill>
                              <a:latin typeface="Cambria Math" panose="02040503050406030204" pitchFamily="18" charset="0"/>
                            </a:rPr>
                          </m:ctrlPr>
                        </m:fPr>
                        <m:num>
                          <m:d>
                            <m:dPr>
                              <m:ctrlPr>
                                <a:rPr lang="en-US" altLang="zh-CN" sz="1250" b="1" i="1" dirty="0">
                                  <a:solidFill>
                                    <a:schemeClr val="tx1"/>
                                  </a:solidFill>
                                  <a:latin typeface="Cambria Math" panose="02040503050406030204" pitchFamily="18" charset="0"/>
                                </a:rPr>
                              </m:ctrlPr>
                            </m:dPr>
                            <m:e>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sin</m:t>
                                  </m:r>
                                </m:fName>
                                <m:e>
                                  <m:r>
                                    <a:rPr lang="en-US" altLang="zh-CN" sz="1200" i="1" dirty="0">
                                      <a:solidFill>
                                        <a:schemeClr val="tx1"/>
                                      </a:solidFill>
                                      <a:latin typeface="Cambria Math" panose="02040503050406030204" pitchFamily="18" charset="0"/>
                                    </a:rPr>
                                    <m:t>𝜃</m:t>
                                  </m:r>
                                </m:e>
                              </m:func>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cos</m:t>
                                  </m:r>
                                </m:fName>
                                <m:e>
                                  <m:r>
                                    <a:rPr lang="en-US" altLang="zh-CN" sz="1250" i="1" dirty="0">
                                      <a:solidFill>
                                        <a:schemeClr val="tx1"/>
                                      </a:solidFill>
                                      <a:latin typeface="Cambria Math" panose="02040503050406030204" pitchFamily="18" charset="0"/>
                                    </a:rPr>
                                    <m:t>𝜙</m:t>
                                  </m:r>
                                </m:e>
                              </m:func>
                              <m:r>
                                <a:rPr lang="en-US" altLang="zh-CN" sz="1250" i="1" dirty="0">
                                  <a:solidFill>
                                    <a:schemeClr val="tx1"/>
                                  </a:solidFill>
                                  <a:latin typeface="Cambria Math" panose="02040503050406030204" pitchFamily="18" charset="0"/>
                                </a:rPr>
                                <m:t>,</m:t>
                              </m:r>
                              <m:f>
                                <m:fPr>
                                  <m:ctrlPr>
                                    <a:rPr lang="en-US" altLang="zh-CN" sz="1250" i="1" dirty="0">
                                      <a:solidFill>
                                        <a:schemeClr val="tx1"/>
                                      </a:solidFill>
                                      <a:latin typeface="Cambria Math" panose="02040503050406030204" pitchFamily="18" charset="0"/>
                                    </a:rPr>
                                  </m:ctrlPr>
                                </m:fPr>
                                <m:num>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cos</m:t>
                                      </m:r>
                                    </m:fName>
                                    <m:e>
                                      <m:r>
                                        <a:rPr lang="en-US" altLang="zh-CN" sz="1200" i="1" dirty="0">
                                          <a:solidFill>
                                            <a:schemeClr val="tx1"/>
                                          </a:solidFill>
                                          <a:latin typeface="Cambria Math" panose="02040503050406030204" pitchFamily="18" charset="0"/>
                                        </a:rPr>
                                        <m:t>𝜃</m:t>
                                      </m:r>
                                    </m:e>
                                  </m:func>
                                </m:num>
                                <m:den>
                                  <m:r>
                                    <a:rPr lang="en-US" altLang="zh-CN" sz="1250" i="1" dirty="0">
                                      <a:solidFill>
                                        <a:schemeClr val="tx1"/>
                                      </a:solidFill>
                                      <a:latin typeface="Cambria Math" panose="02040503050406030204" pitchFamily="18" charset="0"/>
                                    </a:rPr>
                                    <m:t>𝛼</m:t>
                                  </m:r>
                                </m:den>
                              </m:f>
                              <m:r>
                                <a:rPr lang="en-US" altLang="zh-CN" sz="1250" i="1" dirty="0">
                                  <a:solidFill>
                                    <a:schemeClr val="tx1"/>
                                  </a:solidFill>
                                  <a:latin typeface="Cambria Math" panose="02040503050406030204" pitchFamily="18" charset="0"/>
                                </a:rPr>
                                <m:t>,</m:t>
                              </m:r>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sin</m:t>
                                  </m:r>
                                </m:fName>
                                <m:e>
                                  <m:r>
                                    <a:rPr lang="en-US" altLang="zh-CN" sz="1200" i="1" dirty="0">
                                      <a:solidFill>
                                        <a:schemeClr val="tx1"/>
                                      </a:solidFill>
                                      <a:latin typeface="Cambria Math" panose="02040503050406030204" pitchFamily="18" charset="0"/>
                                    </a:rPr>
                                    <m:t>𝜃</m:t>
                                  </m:r>
                                </m:e>
                              </m:func>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sin</m:t>
                                  </m:r>
                                </m:fName>
                                <m:e>
                                  <m:r>
                                    <a:rPr lang="en-US" altLang="zh-CN" sz="1250" i="1" dirty="0">
                                      <a:solidFill>
                                        <a:schemeClr val="tx1"/>
                                      </a:solidFill>
                                      <a:latin typeface="Cambria Math" panose="02040503050406030204" pitchFamily="18" charset="0"/>
                                    </a:rPr>
                                    <m:t>𝜙</m:t>
                                  </m:r>
                                </m:e>
                              </m:func>
                            </m:e>
                          </m:d>
                        </m:num>
                        <m:den>
                          <m:rad>
                            <m:radPr>
                              <m:degHide m:val="on"/>
                              <m:ctrlPr>
                                <a:rPr lang="en-US" altLang="zh-CN" sz="1250" b="1" i="1" dirty="0">
                                  <a:solidFill>
                                    <a:schemeClr val="tx1"/>
                                  </a:solidFill>
                                  <a:latin typeface="Cambria Math" panose="02040503050406030204" pitchFamily="18" charset="0"/>
                                </a:rPr>
                              </m:ctrlPr>
                            </m:radPr>
                            <m:deg/>
                            <m:e>
                              <m:func>
                                <m:funcPr>
                                  <m:ctrlPr>
                                    <a:rPr lang="en-US" altLang="zh-CN" sz="1250" i="1" dirty="0">
                                      <a:solidFill>
                                        <a:schemeClr val="tx1"/>
                                      </a:solidFill>
                                      <a:latin typeface="Cambria Math" panose="02040503050406030204" pitchFamily="18" charset="0"/>
                                    </a:rPr>
                                  </m:ctrlPr>
                                </m:funcPr>
                                <m:fName>
                                  <m:sSup>
                                    <m:sSupPr>
                                      <m:ctrlPr>
                                        <a:rPr lang="en-US" altLang="zh-CN" sz="1250" i="1" dirty="0">
                                          <a:solidFill>
                                            <a:schemeClr val="tx1"/>
                                          </a:solidFill>
                                          <a:latin typeface="Cambria Math" panose="02040503050406030204" pitchFamily="18" charset="0"/>
                                        </a:rPr>
                                      </m:ctrlPr>
                                    </m:sSupPr>
                                    <m:e>
                                      <m:r>
                                        <m:rPr>
                                          <m:sty m:val="p"/>
                                        </m:rPr>
                                        <a:rPr lang="en-US" altLang="zh-CN" sz="1250" dirty="0">
                                          <a:solidFill>
                                            <a:schemeClr val="tx1"/>
                                          </a:solidFill>
                                          <a:latin typeface="Cambria Math" panose="02040503050406030204" pitchFamily="18" charset="0"/>
                                        </a:rPr>
                                        <m:t>sin</m:t>
                                      </m:r>
                                    </m:e>
                                    <m:sup>
                                      <m:r>
                                        <a:rPr lang="en-US" altLang="zh-CN" sz="1250" i="1" dirty="0">
                                          <a:solidFill>
                                            <a:schemeClr val="tx1"/>
                                          </a:solidFill>
                                          <a:latin typeface="Cambria Math" panose="02040503050406030204" pitchFamily="18" charset="0"/>
                                        </a:rPr>
                                        <m:t>2</m:t>
                                      </m:r>
                                    </m:sup>
                                  </m:sSup>
                                </m:fName>
                                <m:e>
                                  <m:r>
                                    <a:rPr lang="en-US" altLang="zh-CN" sz="1200" i="1" dirty="0">
                                      <a:solidFill>
                                        <a:schemeClr val="tx1"/>
                                      </a:solidFill>
                                      <a:latin typeface="Cambria Math" panose="02040503050406030204" pitchFamily="18" charset="0"/>
                                    </a:rPr>
                                    <m:t>𝜃</m:t>
                                  </m:r>
                                </m:e>
                              </m:func>
                              <m:r>
                                <a:rPr lang="en-US" altLang="zh-CN" sz="1250" i="1" dirty="0">
                                  <a:solidFill>
                                    <a:schemeClr val="tx1"/>
                                  </a:solidFill>
                                  <a:latin typeface="Cambria Math" panose="02040503050406030204" pitchFamily="18" charset="0"/>
                                </a:rPr>
                                <m:t>+</m:t>
                              </m:r>
                              <m:f>
                                <m:fPr>
                                  <m:ctrlPr>
                                    <a:rPr lang="en-US" altLang="zh-CN" sz="1250" i="1" dirty="0">
                                      <a:solidFill>
                                        <a:schemeClr val="tx1"/>
                                      </a:solidFill>
                                      <a:latin typeface="Cambria Math" panose="02040503050406030204" pitchFamily="18" charset="0"/>
                                    </a:rPr>
                                  </m:ctrlPr>
                                </m:fPr>
                                <m:num>
                                  <m:func>
                                    <m:funcPr>
                                      <m:ctrlPr>
                                        <a:rPr lang="en-US" altLang="zh-CN" sz="1250" i="1" dirty="0">
                                          <a:solidFill>
                                            <a:schemeClr val="tx1"/>
                                          </a:solidFill>
                                          <a:latin typeface="Cambria Math" panose="02040503050406030204" pitchFamily="18" charset="0"/>
                                        </a:rPr>
                                      </m:ctrlPr>
                                    </m:funcPr>
                                    <m:fName>
                                      <m:sSup>
                                        <m:sSupPr>
                                          <m:ctrlPr>
                                            <a:rPr lang="en-US" altLang="zh-CN" sz="1250" i="1" dirty="0">
                                              <a:solidFill>
                                                <a:schemeClr val="tx1"/>
                                              </a:solidFill>
                                              <a:latin typeface="Cambria Math" panose="02040503050406030204" pitchFamily="18" charset="0"/>
                                            </a:rPr>
                                          </m:ctrlPr>
                                        </m:sSupPr>
                                        <m:e>
                                          <m:r>
                                            <m:rPr>
                                              <m:sty m:val="p"/>
                                            </m:rPr>
                                            <a:rPr lang="en-US" altLang="zh-CN" sz="1250" dirty="0">
                                              <a:solidFill>
                                                <a:schemeClr val="tx1"/>
                                              </a:solidFill>
                                              <a:latin typeface="Cambria Math" panose="02040503050406030204" pitchFamily="18" charset="0"/>
                                            </a:rPr>
                                            <m:t>cos</m:t>
                                          </m:r>
                                        </m:e>
                                        <m:sup>
                                          <m:r>
                                            <a:rPr lang="en-US" altLang="zh-CN" sz="1250" i="1" dirty="0">
                                              <a:solidFill>
                                                <a:schemeClr val="tx1"/>
                                              </a:solidFill>
                                              <a:latin typeface="Cambria Math" panose="02040503050406030204" pitchFamily="18" charset="0"/>
                                            </a:rPr>
                                            <m:t>2</m:t>
                                          </m:r>
                                        </m:sup>
                                      </m:sSup>
                                    </m:fName>
                                    <m:e>
                                      <m:r>
                                        <a:rPr lang="en-US" altLang="zh-CN" sz="1200" i="1" dirty="0">
                                          <a:solidFill>
                                            <a:schemeClr val="tx1"/>
                                          </a:solidFill>
                                          <a:latin typeface="Cambria Math" panose="02040503050406030204" pitchFamily="18" charset="0"/>
                                        </a:rPr>
                                        <m:t>𝜃</m:t>
                                      </m:r>
                                    </m:e>
                                  </m:func>
                                </m:num>
                                <m:den>
                                  <m:sSup>
                                    <m:sSupPr>
                                      <m:ctrlPr>
                                        <a:rPr lang="en-US" altLang="zh-CN" sz="1250" i="1" dirty="0">
                                          <a:solidFill>
                                            <a:schemeClr val="tx1"/>
                                          </a:solidFill>
                                          <a:latin typeface="Cambria Math" panose="02040503050406030204" pitchFamily="18" charset="0"/>
                                        </a:rPr>
                                      </m:ctrlPr>
                                    </m:sSupPr>
                                    <m:e>
                                      <m:r>
                                        <a:rPr lang="en-US" altLang="zh-CN" sz="1250" i="1" dirty="0">
                                          <a:solidFill>
                                            <a:schemeClr val="tx1"/>
                                          </a:solidFill>
                                          <a:latin typeface="Cambria Math" panose="02040503050406030204" pitchFamily="18" charset="0"/>
                                        </a:rPr>
                                        <m:t>𝛼</m:t>
                                      </m:r>
                                    </m:e>
                                    <m:sup>
                                      <m:r>
                                        <a:rPr lang="en-US" altLang="zh-CN" sz="1250" i="1" dirty="0">
                                          <a:solidFill>
                                            <a:schemeClr val="tx1"/>
                                          </a:solidFill>
                                          <a:latin typeface="Cambria Math" panose="02040503050406030204" pitchFamily="18" charset="0"/>
                                        </a:rPr>
                                        <m:t>2</m:t>
                                      </m:r>
                                    </m:sup>
                                  </m:sSup>
                                </m:den>
                              </m:f>
                            </m:e>
                          </m:rad>
                        </m:den>
                      </m:f>
                    </m:oMath>
                  </m:oMathPara>
                </a14:m>
                <a:endParaRPr lang="en-US" altLang="zh-CN" sz="1250" b="1" dirty="0">
                  <a:solidFill>
                    <a:schemeClr val="tx1"/>
                  </a:solidFill>
                </a:endParaRPr>
              </a:p>
            </p:txBody>
          </p:sp>
        </mc:Choice>
        <mc:Fallback xmlns="">
          <p:sp>
            <p:nvSpPr>
              <p:cNvPr id="6" name="矩形 5">
                <a:extLst>
                  <a:ext uri="{FF2B5EF4-FFF2-40B4-BE49-F238E27FC236}">
                    <a16:creationId xmlns:a16="http://schemas.microsoft.com/office/drawing/2014/main" id="{0964465A-447A-ACCB-AE19-88CF388A3101}"/>
                  </a:ext>
                </a:extLst>
              </p:cNvPr>
              <p:cNvSpPr>
                <a:spLocks noRot="1" noChangeAspect="1" noMove="1" noResize="1" noEditPoints="1" noAdjustHandles="1" noChangeArrowheads="1" noChangeShapeType="1" noTextEdit="1"/>
              </p:cNvSpPr>
              <p:nvPr/>
            </p:nvSpPr>
            <p:spPr>
              <a:xfrm>
                <a:off x="368712" y="1144044"/>
                <a:ext cx="6929212" cy="5402806"/>
              </a:xfrm>
              <a:prstGeom prst="rect">
                <a:avLst/>
              </a:prstGeom>
              <a:blipFill>
                <a:blip r:embed="rId3"/>
                <a:stretch>
                  <a:fillRect l="-176"/>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DD0C127C-6E13-BF5D-C3CF-A39BAAB6D9D7}"/>
              </a:ext>
            </a:extLst>
          </p:cNvPr>
          <p:cNvSpPr/>
          <p:nvPr/>
        </p:nvSpPr>
        <p:spPr>
          <a:xfrm>
            <a:off x="7797057" y="1735116"/>
            <a:ext cx="4320195" cy="25988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C27E3CA2-9EF3-87D4-2770-04CD956C8F69}"/>
              </a:ext>
            </a:extLst>
          </p:cNvPr>
          <p:cNvSpPr/>
          <p:nvPr/>
        </p:nvSpPr>
        <p:spPr>
          <a:xfrm>
            <a:off x="7647003" y="1563666"/>
            <a:ext cx="4320195" cy="259889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0" name="组合 39">
            <a:extLst>
              <a:ext uri="{FF2B5EF4-FFF2-40B4-BE49-F238E27FC236}">
                <a16:creationId xmlns:a16="http://schemas.microsoft.com/office/drawing/2014/main" id="{AA2BD5B7-9129-0A48-C0F4-9950D5A8B9BE}"/>
              </a:ext>
            </a:extLst>
          </p:cNvPr>
          <p:cNvGrpSpPr/>
          <p:nvPr/>
        </p:nvGrpSpPr>
        <p:grpSpPr>
          <a:xfrm>
            <a:off x="8174548" y="1792531"/>
            <a:ext cx="3648740" cy="2224104"/>
            <a:chOff x="8174548" y="1792531"/>
            <a:chExt cx="3648740" cy="2224104"/>
          </a:xfrm>
        </p:grpSpPr>
        <p:sp>
          <p:nvSpPr>
            <p:cNvPr id="41" name="任意多边形: 形状 40">
              <a:extLst>
                <a:ext uri="{FF2B5EF4-FFF2-40B4-BE49-F238E27FC236}">
                  <a16:creationId xmlns:a16="http://schemas.microsoft.com/office/drawing/2014/main" id="{674AEBAB-EE0B-0A60-3924-248620C38A68}"/>
                </a:ext>
              </a:extLst>
            </p:cNvPr>
            <p:cNvSpPr/>
            <p:nvPr/>
          </p:nvSpPr>
          <p:spPr>
            <a:xfrm>
              <a:off x="10263718" y="2609040"/>
              <a:ext cx="84176" cy="31603"/>
            </a:xfrm>
            <a:custGeom>
              <a:avLst/>
              <a:gdLst>
                <a:gd name="connsiteX0" fmla="*/ 0 w 86783"/>
                <a:gd name="connsiteY0" fmla="*/ 12808 h 19158"/>
                <a:gd name="connsiteX1" fmla="*/ 50800 w 86783"/>
                <a:gd name="connsiteY1" fmla="*/ 108 h 19158"/>
                <a:gd name="connsiteX2" fmla="*/ 86783 w 86783"/>
                <a:gd name="connsiteY2" fmla="*/ 19158 h 19158"/>
                <a:gd name="connsiteX0" fmla="*/ 0 w 86783"/>
                <a:gd name="connsiteY0" fmla="*/ 6893 h 13243"/>
                <a:gd name="connsiteX1" fmla="*/ 46436 w 86783"/>
                <a:gd name="connsiteY1" fmla="*/ 402 h 13243"/>
                <a:gd name="connsiteX2" fmla="*/ 86783 w 86783"/>
                <a:gd name="connsiteY2" fmla="*/ 13243 h 13243"/>
              </a:gdLst>
              <a:ahLst/>
              <a:cxnLst>
                <a:cxn ang="0">
                  <a:pos x="connsiteX0" y="connsiteY0"/>
                </a:cxn>
                <a:cxn ang="0">
                  <a:pos x="connsiteX1" y="connsiteY1"/>
                </a:cxn>
                <a:cxn ang="0">
                  <a:pos x="connsiteX2" y="connsiteY2"/>
                </a:cxn>
              </a:cxnLst>
              <a:rect l="l" t="t" r="r" b="b"/>
              <a:pathLst>
                <a:path w="86783" h="13243">
                  <a:moveTo>
                    <a:pt x="0" y="6893"/>
                  </a:moveTo>
                  <a:cubicBezTo>
                    <a:pt x="18168" y="14"/>
                    <a:pt x="31972" y="-656"/>
                    <a:pt x="46436" y="402"/>
                  </a:cubicBezTo>
                  <a:cubicBezTo>
                    <a:pt x="60900" y="1460"/>
                    <a:pt x="79375" y="1954"/>
                    <a:pt x="86783" y="1324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任意多边形: 形状 41">
              <a:extLst>
                <a:ext uri="{FF2B5EF4-FFF2-40B4-BE49-F238E27FC236}">
                  <a16:creationId xmlns:a16="http://schemas.microsoft.com/office/drawing/2014/main" id="{831933D1-5036-66FB-F7E7-2361FA4B2C82}"/>
                </a:ext>
              </a:extLst>
            </p:cNvPr>
            <p:cNvSpPr/>
            <p:nvPr/>
          </p:nvSpPr>
          <p:spPr>
            <a:xfrm>
              <a:off x="9842500" y="3371562"/>
              <a:ext cx="154517" cy="48971"/>
            </a:xfrm>
            <a:custGeom>
              <a:avLst/>
              <a:gdLst>
                <a:gd name="connsiteX0" fmla="*/ 0 w 154517"/>
                <a:gd name="connsiteY0" fmla="*/ 10871 h 48971"/>
                <a:gd name="connsiteX1" fmla="*/ 84667 w 154517"/>
                <a:gd name="connsiteY1" fmla="*/ 2405 h 48971"/>
                <a:gd name="connsiteX2" fmla="*/ 154517 w 154517"/>
                <a:gd name="connsiteY2" fmla="*/ 48971 h 48971"/>
              </a:gdLst>
              <a:ahLst/>
              <a:cxnLst>
                <a:cxn ang="0">
                  <a:pos x="connsiteX0" y="connsiteY0"/>
                </a:cxn>
                <a:cxn ang="0">
                  <a:pos x="connsiteX1" y="connsiteY1"/>
                </a:cxn>
                <a:cxn ang="0">
                  <a:pos x="connsiteX2" y="connsiteY2"/>
                </a:cxn>
              </a:cxnLst>
              <a:rect l="l" t="t" r="r" b="b"/>
              <a:pathLst>
                <a:path w="154517" h="48971">
                  <a:moveTo>
                    <a:pt x="0" y="10871"/>
                  </a:moveTo>
                  <a:cubicBezTo>
                    <a:pt x="29457" y="3463"/>
                    <a:pt x="58914" y="-3945"/>
                    <a:pt x="84667" y="2405"/>
                  </a:cubicBezTo>
                  <a:cubicBezTo>
                    <a:pt x="110420" y="8755"/>
                    <a:pt x="132468" y="28863"/>
                    <a:pt x="154517" y="4897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3" name="直接箭头连接符 42">
              <a:extLst>
                <a:ext uri="{FF2B5EF4-FFF2-40B4-BE49-F238E27FC236}">
                  <a16:creationId xmlns:a16="http://schemas.microsoft.com/office/drawing/2014/main" id="{589CF76C-F8C1-1A5E-250A-D7F52D5C4206}"/>
                </a:ext>
              </a:extLst>
            </p:cNvPr>
            <p:cNvCxnSpPr>
              <a:cxnSpLocks/>
            </p:cNvCxnSpPr>
            <p:nvPr/>
          </p:nvCxnSpPr>
          <p:spPr>
            <a:xfrm flipV="1">
              <a:off x="8176689" y="3695168"/>
              <a:ext cx="3320413" cy="2257"/>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直接箭头连接符 43">
              <a:extLst>
                <a:ext uri="{FF2B5EF4-FFF2-40B4-BE49-F238E27FC236}">
                  <a16:creationId xmlns:a16="http://schemas.microsoft.com/office/drawing/2014/main" id="{873D3239-E442-0230-1B7F-60A51FB335EA}"/>
                </a:ext>
              </a:extLst>
            </p:cNvPr>
            <p:cNvCxnSpPr>
              <a:cxnSpLocks/>
            </p:cNvCxnSpPr>
            <p:nvPr/>
          </p:nvCxnSpPr>
          <p:spPr>
            <a:xfrm flipV="1">
              <a:off x="9837460" y="1986770"/>
              <a:ext cx="0" cy="170511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5" name="任意多边形: 形状 44">
              <a:extLst>
                <a:ext uri="{FF2B5EF4-FFF2-40B4-BE49-F238E27FC236}">
                  <a16:creationId xmlns:a16="http://schemas.microsoft.com/office/drawing/2014/main" id="{BF08379D-D85D-82AC-5AFF-F14D6770ED6D}"/>
                </a:ext>
              </a:extLst>
            </p:cNvPr>
            <p:cNvSpPr/>
            <p:nvPr/>
          </p:nvSpPr>
          <p:spPr>
            <a:xfrm>
              <a:off x="8436400" y="3007269"/>
              <a:ext cx="2800128" cy="690099"/>
            </a:xfrm>
            <a:custGeom>
              <a:avLst/>
              <a:gdLst>
                <a:gd name="connsiteX0" fmla="*/ 58251 w 1325700"/>
                <a:gd name="connsiteY0" fmla="*/ 481345 h 481345"/>
                <a:gd name="connsiteX1" fmla="*/ 58251 w 1325700"/>
                <a:gd name="connsiteY1" fmla="*/ 58012 h 481345"/>
                <a:gd name="connsiteX2" fmla="*/ 663617 w 1325700"/>
                <a:gd name="connsiteY2" fmla="*/ 32612 h 481345"/>
                <a:gd name="connsiteX3" fmla="*/ 1294384 w 1325700"/>
                <a:gd name="connsiteY3" fmla="*/ 32612 h 481345"/>
                <a:gd name="connsiteX4" fmla="*/ 1268984 w 1325700"/>
                <a:gd name="connsiteY4" fmla="*/ 472878 h 481345"/>
                <a:gd name="connsiteX0" fmla="*/ 58251 w 1268984"/>
                <a:gd name="connsiteY0" fmla="*/ 463413 h 463413"/>
                <a:gd name="connsiteX1" fmla="*/ 58251 w 1268984"/>
                <a:gd name="connsiteY1" fmla="*/ 40080 h 463413"/>
                <a:gd name="connsiteX2" fmla="*/ 663617 w 1268984"/>
                <a:gd name="connsiteY2" fmla="*/ 14680 h 463413"/>
                <a:gd name="connsiteX3" fmla="*/ 1132459 w 1268984"/>
                <a:gd name="connsiteY3" fmla="*/ 179780 h 463413"/>
                <a:gd name="connsiteX4" fmla="*/ 1268984 w 1268984"/>
                <a:gd name="connsiteY4" fmla="*/ 454946 h 463413"/>
                <a:gd name="connsiteX0" fmla="*/ 58251 w 1269055"/>
                <a:gd name="connsiteY0" fmla="*/ 463413 h 463413"/>
                <a:gd name="connsiteX1" fmla="*/ 58251 w 1269055"/>
                <a:gd name="connsiteY1" fmla="*/ 40080 h 463413"/>
                <a:gd name="connsiteX2" fmla="*/ 663617 w 1269055"/>
                <a:gd name="connsiteY2" fmla="*/ 14680 h 463413"/>
                <a:gd name="connsiteX3" fmla="*/ 1132459 w 1269055"/>
                <a:gd name="connsiteY3" fmla="*/ 179780 h 463413"/>
                <a:gd name="connsiteX4" fmla="*/ 1268984 w 1269055"/>
                <a:gd name="connsiteY4" fmla="*/ 454946 h 463413"/>
                <a:gd name="connsiteX0" fmla="*/ 58251 w 1269038"/>
                <a:gd name="connsiteY0" fmla="*/ 463413 h 463413"/>
                <a:gd name="connsiteX1" fmla="*/ 58251 w 1269038"/>
                <a:gd name="connsiteY1" fmla="*/ 40080 h 463413"/>
                <a:gd name="connsiteX2" fmla="*/ 663617 w 1269038"/>
                <a:gd name="connsiteY2" fmla="*/ 14680 h 463413"/>
                <a:gd name="connsiteX3" fmla="*/ 1132459 w 1269038"/>
                <a:gd name="connsiteY3" fmla="*/ 179780 h 463413"/>
                <a:gd name="connsiteX4" fmla="*/ 1268984 w 1269038"/>
                <a:gd name="connsiteY4" fmla="*/ 454946 h 463413"/>
                <a:gd name="connsiteX0" fmla="*/ 14055 w 1224842"/>
                <a:gd name="connsiteY0" fmla="*/ 448733 h 448733"/>
                <a:gd name="connsiteX1" fmla="*/ 158518 w 1224842"/>
                <a:gd name="connsiteY1" fmla="*/ 163512 h 448733"/>
                <a:gd name="connsiteX2" fmla="*/ 619421 w 1224842"/>
                <a:gd name="connsiteY2" fmla="*/ 0 h 448733"/>
                <a:gd name="connsiteX3" fmla="*/ 1088263 w 1224842"/>
                <a:gd name="connsiteY3" fmla="*/ 165100 h 448733"/>
                <a:gd name="connsiteX4" fmla="*/ 1224788 w 1224842"/>
                <a:gd name="connsiteY4" fmla="*/ 440266 h 448733"/>
                <a:gd name="connsiteX0" fmla="*/ 11238 w 1222025"/>
                <a:gd name="connsiteY0" fmla="*/ 448733 h 448733"/>
                <a:gd name="connsiteX1" fmla="*/ 155701 w 1222025"/>
                <a:gd name="connsiteY1" fmla="*/ 163512 h 448733"/>
                <a:gd name="connsiteX2" fmla="*/ 616604 w 1222025"/>
                <a:gd name="connsiteY2" fmla="*/ 0 h 448733"/>
                <a:gd name="connsiteX3" fmla="*/ 1085446 w 1222025"/>
                <a:gd name="connsiteY3" fmla="*/ 165100 h 448733"/>
                <a:gd name="connsiteX4" fmla="*/ 1221971 w 1222025"/>
                <a:gd name="connsiteY4" fmla="*/ 440266 h 448733"/>
                <a:gd name="connsiteX0" fmla="*/ 14 w 1210801"/>
                <a:gd name="connsiteY0" fmla="*/ 448733 h 448733"/>
                <a:gd name="connsiteX1" fmla="*/ 144477 w 1210801"/>
                <a:gd name="connsiteY1" fmla="*/ 163512 h 448733"/>
                <a:gd name="connsiteX2" fmla="*/ 605380 w 1210801"/>
                <a:gd name="connsiteY2" fmla="*/ 0 h 448733"/>
                <a:gd name="connsiteX3" fmla="*/ 1074222 w 1210801"/>
                <a:gd name="connsiteY3" fmla="*/ 165100 h 448733"/>
                <a:gd name="connsiteX4" fmla="*/ 1210747 w 1210801"/>
                <a:gd name="connsiteY4" fmla="*/ 440266 h 448733"/>
                <a:gd name="connsiteX0" fmla="*/ 15 w 1210802"/>
                <a:gd name="connsiteY0" fmla="*/ 448733 h 448733"/>
                <a:gd name="connsiteX1" fmla="*/ 144478 w 1210802"/>
                <a:gd name="connsiteY1" fmla="*/ 163512 h 448733"/>
                <a:gd name="connsiteX2" fmla="*/ 605381 w 1210802"/>
                <a:gd name="connsiteY2" fmla="*/ 0 h 448733"/>
                <a:gd name="connsiteX3" fmla="*/ 1074223 w 1210802"/>
                <a:gd name="connsiteY3" fmla="*/ 165100 h 448733"/>
                <a:gd name="connsiteX4" fmla="*/ 1210748 w 1210802"/>
                <a:gd name="connsiteY4" fmla="*/ 440266 h 448733"/>
                <a:gd name="connsiteX0" fmla="*/ 0 w 1210787"/>
                <a:gd name="connsiteY0" fmla="*/ 448733 h 448733"/>
                <a:gd name="connsiteX1" fmla="*/ 144463 w 1210787"/>
                <a:gd name="connsiteY1" fmla="*/ 163512 h 448733"/>
                <a:gd name="connsiteX2" fmla="*/ 605366 w 1210787"/>
                <a:gd name="connsiteY2" fmla="*/ 0 h 448733"/>
                <a:gd name="connsiteX3" fmla="*/ 1074208 w 1210787"/>
                <a:gd name="connsiteY3" fmla="*/ 165100 h 448733"/>
                <a:gd name="connsiteX4" fmla="*/ 1210733 w 1210787"/>
                <a:gd name="connsiteY4" fmla="*/ 440266 h 448733"/>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2373"/>
                <a:gd name="connsiteY0" fmla="*/ 440795 h 445028"/>
                <a:gd name="connsiteX1" fmla="*/ 144463 w 1212373"/>
                <a:gd name="connsiteY1" fmla="*/ 155574 h 445028"/>
                <a:gd name="connsiteX2" fmla="*/ 606954 w 1212373"/>
                <a:gd name="connsiteY2" fmla="*/ 0 h 445028"/>
                <a:gd name="connsiteX3" fmla="*/ 1074208 w 1212373"/>
                <a:gd name="connsiteY3" fmla="*/ 157162 h 445028"/>
                <a:gd name="connsiteX4" fmla="*/ 1212321 w 1212373"/>
                <a:gd name="connsiteY4" fmla="*/ 445028 h 445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373" h="445028">
                  <a:moveTo>
                    <a:pt x="0" y="440795"/>
                  </a:moveTo>
                  <a:cubicBezTo>
                    <a:pt x="25753" y="272873"/>
                    <a:pt x="71879" y="219515"/>
                    <a:pt x="144463" y="155574"/>
                  </a:cubicBezTo>
                  <a:cubicBezTo>
                    <a:pt x="217047" y="91633"/>
                    <a:pt x="403049" y="4233"/>
                    <a:pt x="606954" y="0"/>
                  </a:cubicBezTo>
                  <a:cubicBezTo>
                    <a:pt x="817210" y="0"/>
                    <a:pt x="973313" y="83784"/>
                    <a:pt x="1074208" y="157162"/>
                  </a:cubicBezTo>
                  <a:cubicBezTo>
                    <a:pt x="1162403" y="230540"/>
                    <a:pt x="1214261" y="371122"/>
                    <a:pt x="1212321" y="445028"/>
                  </a:cubicBezTo>
                </a:path>
              </a:pathLst>
            </a:cu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4CBD6666-286F-531C-1EF1-67BF2EC11F02}"/>
                    </a:ext>
                  </a:extLst>
                </p:cNvPr>
                <p:cNvSpPr txBox="1"/>
                <p:nvPr/>
              </p:nvSpPr>
              <p:spPr>
                <a:xfrm>
                  <a:off x="11423630" y="3589472"/>
                  <a:ext cx="399658" cy="3829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𝑥</m:t>
                        </m:r>
                      </m:oMath>
                    </m:oMathPara>
                  </a14:m>
                  <a:endParaRPr lang="zh-CN" altLang="en-US" dirty="0"/>
                </a:p>
              </p:txBody>
            </p:sp>
          </mc:Choice>
          <mc:Fallback xmlns="">
            <p:sp>
              <p:nvSpPr>
                <p:cNvPr id="46" name="文本框 45">
                  <a:extLst>
                    <a:ext uri="{FF2B5EF4-FFF2-40B4-BE49-F238E27FC236}">
                      <a16:creationId xmlns:a16="http://schemas.microsoft.com/office/drawing/2014/main" id="{4CBD6666-286F-531C-1EF1-67BF2EC11F02}"/>
                    </a:ext>
                  </a:extLst>
                </p:cNvPr>
                <p:cNvSpPr txBox="1">
                  <a:spLocks noRot="1" noChangeAspect="1" noMove="1" noResize="1" noEditPoints="1" noAdjustHandles="1" noChangeArrowheads="1" noChangeShapeType="1" noTextEdit="1"/>
                </p:cNvSpPr>
                <p:nvPr/>
              </p:nvSpPr>
              <p:spPr>
                <a:xfrm>
                  <a:off x="11423630" y="3589472"/>
                  <a:ext cx="399658" cy="38290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7120C4C0-ED9A-5F57-9E5F-3813B2349F4D}"/>
                    </a:ext>
                  </a:extLst>
                </p:cNvPr>
                <p:cNvSpPr txBox="1"/>
                <p:nvPr/>
              </p:nvSpPr>
              <p:spPr>
                <a:xfrm>
                  <a:off x="9406528" y="1792531"/>
                  <a:ext cx="44678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𝑦</m:t>
                        </m:r>
                      </m:oMath>
                    </m:oMathPara>
                  </a14:m>
                  <a:endParaRPr lang="zh-CN" altLang="en-US" dirty="0"/>
                </a:p>
              </p:txBody>
            </p:sp>
          </mc:Choice>
          <mc:Fallback xmlns="">
            <p:sp>
              <p:nvSpPr>
                <p:cNvPr id="47" name="文本框 46">
                  <a:extLst>
                    <a:ext uri="{FF2B5EF4-FFF2-40B4-BE49-F238E27FC236}">
                      <a16:creationId xmlns:a16="http://schemas.microsoft.com/office/drawing/2014/main" id="{7120C4C0-ED9A-5F57-9E5F-3813B2349F4D}"/>
                    </a:ext>
                  </a:extLst>
                </p:cNvPr>
                <p:cNvSpPr txBox="1">
                  <a:spLocks noRot="1" noChangeAspect="1" noMove="1" noResize="1" noEditPoints="1" noAdjustHandles="1" noChangeArrowheads="1" noChangeShapeType="1" noTextEdit="1"/>
                </p:cNvSpPr>
                <p:nvPr/>
              </p:nvSpPr>
              <p:spPr>
                <a:xfrm>
                  <a:off x="9406528" y="1792531"/>
                  <a:ext cx="446781" cy="369332"/>
                </a:xfrm>
                <a:prstGeom prst="rect">
                  <a:avLst/>
                </a:prstGeom>
                <a:blipFill>
                  <a:blip r:embed="rId5"/>
                  <a:stretch>
                    <a:fillRect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78AAECDD-B345-B356-03A6-B366A3BF9778}"/>
                    </a:ext>
                  </a:extLst>
                </p:cNvPr>
                <p:cNvSpPr txBox="1"/>
                <p:nvPr/>
              </p:nvSpPr>
              <p:spPr>
                <a:xfrm>
                  <a:off x="11133715" y="3646471"/>
                  <a:ext cx="289916" cy="37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1</m:t>
                        </m:r>
                      </m:oMath>
                    </m:oMathPara>
                  </a14:m>
                  <a:endParaRPr lang="zh-CN" altLang="en-US" dirty="0"/>
                </a:p>
              </p:txBody>
            </p:sp>
          </mc:Choice>
          <mc:Fallback xmlns="">
            <p:sp>
              <p:nvSpPr>
                <p:cNvPr id="49" name="文本框 48">
                  <a:extLst>
                    <a:ext uri="{FF2B5EF4-FFF2-40B4-BE49-F238E27FC236}">
                      <a16:creationId xmlns:a16="http://schemas.microsoft.com/office/drawing/2014/main" id="{78AAECDD-B345-B356-03A6-B366A3BF9778}"/>
                    </a:ext>
                  </a:extLst>
                </p:cNvPr>
                <p:cNvSpPr txBox="1">
                  <a:spLocks noRot="1" noChangeAspect="1" noMove="1" noResize="1" noEditPoints="1" noAdjustHandles="1" noChangeArrowheads="1" noChangeShapeType="1" noTextEdit="1"/>
                </p:cNvSpPr>
                <p:nvPr/>
              </p:nvSpPr>
              <p:spPr>
                <a:xfrm>
                  <a:off x="11133715" y="3646471"/>
                  <a:ext cx="289916" cy="370164"/>
                </a:xfrm>
                <a:prstGeom prst="rect">
                  <a:avLst/>
                </a:prstGeom>
                <a:blipFill>
                  <a:blip r:embed="rId3"/>
                  <a:stretch>
                    <a:fillRect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BD9D4303-D0D0-3B32-47AE-128C5E037F34}"/>
                    </a:ext>
                  </a:extLst>
                </p:cNvPr>
                <p:cNvSpPr txBox="1"/>
                <p:nvPr/>
              </p:nvSpPr>
              <p:spPr>
                <a:xfrm>
                  <a:off x="8174548" y="3627326"/>
                  <a:ext cx="576988" cy="37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m:t>
                        </m:r>
                      </m:oMath>
                    </m:oMathPara>
                  </a14:m>
                  <a:endParaRPr lang="zh-CN" altLang="en-US" dirty="0"/>
                </a:p>
              </p:txBody>
            </p:sp>
          </mc:Choice>
          <mc:Fallback xmlns="">
            <p:sp>
              <p:nvSpPr>
                <p:cNvPr id="50" name="文本框 49">
                  <a:extLst>
                    <a:ext uri="{FF2B5EF4-FFF2-40B4-BE49-F238E27FC236}">
                      <a16:creationId xmlns:a16="http://schemas.microsoft.com/office/drawing/2014/main" id="{BD9D4303-D0D0-3B32-47AE-128C5E037F34}"/>
                    </a:ext>
                  </a:extLst>
                </p:cNvPr>
                <p:cNvSpPr txBox="1">
                  <a:spLocks noRot="1" noChangeAspect="1" noMove="1" noResize="1" noEditPoints="1" noAdjustHandles="1" noChangeArrowheads="1" noChangeShapeType="1" noTextEdit="1"/>
                </p:cNvSpPr>
                <p:nvPr/>
              </p:nvSpPr>
              <p:spPr>
                <a:xfrm>
                  <a:off x="8174548" y="3627326"/>
                  <a:ext cx="576988" cy="370164"/>
                </a:xfrm>
                <a:prstGeom prst="rect">
                  <a:avLst/>
                </a:prstGeom>
                <a:blipFill>
                  <a:blip r:embed="rId6"/>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9090007B-C4E5-4880-4378-1D3E92142FE4}"/>
                    </a:ext>
                  </a:extLst>
                </p:cNvPr>
                <p:cNvSpPr txBox="1"/>
                <p:nvPr/>
              </p:nvSpPr>
              <p:spPr>
                <a:xfrm>
                  <a:off x="9403904" y="2593725"/>
                  <a:ext cx="550208" cy="4533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𝛼</m:t>
                        </m:r>
                      </m:oMath>
                    </m:oMathPara>
                  </a14:m>
                  <a:endParaRPr lang="zh-CN" altLang="en-US" dirty="0"/>
                </a:p>
              </p:txBody>
            </p:sp>
          </mc:Choice>
          <mc:Fallback xmlns="">
            <p:sp>
              <p:nvSpPr>
                <p:cNvPr id="51" name="文本框 50">
                  <a:extLst>
                    <a:ext uri="{FF2B5EF4-FFF2-40B4-BE49-F238E27FC236}">
                      <a16:creationId xmlns:a16="http://schemas.microsoft.com/office/drawing/2014/main" id="{9090007B-C4E5-4880-4378-1D3E92142FE4}"/>
                    </a:ext>
                  </a:extLst>
                </p:cNvPr>
                <p:cNvSpPr txBox="1">
                  <a:spLocks noRot="1" noChangeAspect="1" noMove="1" noResize="1" noEditPoints="1" noAdjustHandles="1" noChangeArrowheads="1" noChangeShapeType="1" noTextEdit="1"/>
                </p:cNvSpPr>
                <p:nvPr/>
              </p:nvSpPr>
              <p:spPr>
                <a:xfrm>
                  <a:off x="9403904" y="2593725"/>
                  <a:ext cx="550208" cy="453337"/>
                </a:xfrm>
                <a:prstGeom prst="rect">
                  <a:avLst/>
                </a:prstGeom>
                <a:blipFill>
                  <a:blip r:embed="rId7"/>
                  <a:stretch>
                    <a:fillRect/>
                  </a:stretch>
                </a:blipFill>
              </p:spPr>
              <p:txBody>
                <a:bodyPr/>
                <a:lstStyle/>
                <a:p>
                  <a:r>
                    <a:rPr lang="zh-CN" altLang="en-US">
                      <a:noFill/>
                    </a:rPr>
                    <a:t> </a:t>
                  </a:r>
                </a:p>
              </p:txBody>
            </p:sp>
          </mc:Fallback>
        </mc:AlternateContent>
        <p:cxnSp>
          <p:nvCxnSpPr>
            <p:cNvPr id="52" name="直接箭头连接符 51">
              <a:extLst>
                <a:ext uri="{FF2B5EF4-FFF2-40B4-BE49-F238E27FC236}">
                  <a16:creationId xmlns:a16="http://schemas.microsoft.com/office/drawing/2014/main" id="{C44EE56F-EACF-E6F1-7E90-E8F6D5E865D6}"/>
                </a:ext>
              </a:extLst>
            </p:cNvPr>
            <p:cNvCxnSpPr>
              <a:cxnSpLocks/>
            </p:cNvCxnSpPr>
            <p:nvPr/>
          </p:nvCxnSpPr>
          <p:spPr>
            <a:xfrm flipV="1">
              <a:off x="9826297" y="3029907"/>
              <a:ext cx="443770" cy="661972"/>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53" name="直接箭头连接符 52">
              <a:extLst>
                <a:ext uri="{FF2B5EF4-FFF2-40B4-BE49-F238E27FC236}">
                  <a16:creationId xmlns:a16="http://schemas.microsoft.com/office/drawing/2014/main" id="{F188F40F-BE9A-38E0-A4A4-BEA1D06D667E}"/>
                </a:ext>
              </a:extLst>
            </p:cNvPr>
            <p:cNvCxnSpPr>
              <a:cxnSpLocks/>
            </p:cNvCxnSpPr>
            <p:nvPr/>
          </p:nvCxnSpPr>
          <p:spPr>
            <a:xfrm flipV="1">
              <a:off x="10261550" y="2339897"/>
              <a:ext cx="160979" cy="698454"/>
            </a:xfrm>
            <a:prstGeom prst="straightConnector1">
              <a:avLst/>
            </a:prstGeom>
            <a:ln w="19050">
              <a:solidFill>
                <a:srgbClr val="16560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E684E4A9-0AF7-A767-0903-5E94AEACAC5D}"/>
                    </a:ext>
                  </a:extLst>
                </p:cNvPr>
                <p:cNvSpPr txBox="1"/>
                <p:nvPr/>
              </p:nvSpPr>
              <p:spPr>
                <a:xfrm>
                  <a:off x="10096149" y="3067778"/>
                  <a:ext cx="4126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𝒓</m:t>
                        </m:r>
                      </m:oMath>
                    </m:oMathPara>
                  </a14:m>
                  <a:endParaRPr lang="zh-CN" altLang="en-US" b="1" dirty="0"/>
                </a:p>
              </p:txBody>
            </p:sp>
          </mc:Choice>
          <mc:Fallback xmlns="">
            <p:sp>
              <p:nvSpPr>
                <p:cNvPr id="54" name="文本框 53">
                  <a:extLst>
                    <a:ext uri="{FF2B5EF4-FFF2-40B4-BE49-F238E27FC236}">
                      <a16:creationId xmlns:a16="http://schemas.microsoft.com/office/drawing/2014/main" id="{E684E4A9-0AF7-A767-0903-5E94AEACAC5D}"/>
                    </a:ext>
                  </a:extLst>
                </p:cNvPr>
                <p:cNvSpPr txBox="1">
                  <a:spLocks noRot="1" noChangeAspect="1" noMove="1" noResize="1" noEditPoints="1" noAdjustHandles="1" noChangeArrowheads="1" noChangeShapeType="1" noTextEdit="1"/>
                </p:cNvSpPr>
                <p:nvPr/>
              </p:nvSpPr>
              <p:spPr>
                <a:xfrm>
                  <a:off x="10096149" y="3067778"/>
                  <a:ext cx="412642" cy="36933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5615EC7B-25DB-EAE0-AF47-13CC7ACA1ACC}"/>
                    </a:ext>
                  </a:extLst>
                </p:cNvPr>
                <p:cNvSpPr txBox="1"/>
                <p:nvPr/>
              </p:nvSpPr>
              <p:spPr>
                <a:xfrm>
                  <a:off x="10332085" y="2317869"/>
                  <a:ext cx="4126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𝒎</m:t>
                        </m:r>
                      </m:oMath>
                    </m:oMathPara>
                  </a14:m>
                  <a:endParaRPr lang="zh-CN" altLang="en-US" b="1" dirty="0"/>
                </a:p>
              </p:txBody>
            </p:sp>
          </mc:Choice>
          <mc:Fallback xmlns="">
            <p:sp>
              <p:nvSpPr>
                <p:cNvPr id="55" name="文本框 54">
                  <a:extLst>
                    <a:ext uri="{FF2B5EF4-FFF2-40B4-BE49-F238E27FC236}">
                      <a16:creationId xmlns:a16="http://schemas.microsoft.com/office/drawing/2014/main" id="{5615EC7B-25DB-EAE0-AF47-13CC7ACA1ACC}"/>
                    </a:ext>
                  </a:extLst>
                </p:cNvPr>
                <p:cNvSpPr txBox="1">
                  <a:spLocks noRot="1" noChangeAspect="1" noMove="1" noResize="1" noEditPoints="1" noAdjustHandles="1" noChangeArrowheads="1" noChangeShapeType="1" noTextEdit="1"/>
                </p:cNvSpPr>
                <p:nvPr/>
              </p:nvSpPr>
              <p:spPr>
                <a:xfrm>
                  <a:off x="10332085" y="2317869"/>
                  <a:ext cx="412642" cy="369332"/>
                </a:xfrm>
                <a:prstGeom prst="rect">
                  <a:avLst/>
                </a:prstGeom>
                <a:blipFill>
                  <a:blip r:embed="rId9"/>
                  <a:stretch>
                    <a:fillRect/>
                  </a:stretch>
                </a:blipFill>
              </p:spPr>
              <p:txBody>
                <a:bodyPr/>
                <a:lstStyle/>
                <a:p>
                  <a:r>
                    <a:rPr lang="zh-CN" altLang="en-US">
                      <a:noFill/>
                    </a:rPr>
                    <a:t> </a:t>
                  </a:r>
                </a:p>
              </p:txBody>
            </p:sp>
          </mc:Fallback>
        </mc:AlternateContent>
        <p:cxnSp>
          <p:nvCxnSpPr>
            <p:cNvPr id="56" name="直接箭头连接符 55">
              <a:extLst>
                <a:ext uri="{FF2B5EF4-FFF2-40B4-BE49-F238E27FC236}">
                  <a16:creationId xmlns:a16="http://schemas.microsoft.com/office/drawing/2014/main" id="{6418E567-CD3F-7A10-07C4-19D9CEA51572}"/>
                </a:ext>
              </a:extLst>
            </p:cNvPr>
            <p:cNvCxnSpPr>
              <a:cxnSpLocks/>
            </p:cNvCxnSpPr>
            <p:nvPr/>
          </p:nvCxnSpPr>
          <p:spPr>
            <a:xfrm flipV="1">
              <a:off x="10255640" y="2317869"/>
              <a:ext cx="0" cy="749909"/>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A48CA8DC-30E9-BF47-08E0-75405C04443B}"/>
                    </a:ext>
                  </a:extLst>
                </p:cNvPr>
                <p:cNvSpPr txBox="1"/>
                <p:nvPr/>
              </p:nvSpPr>
              <p:spPr>
                <a:xfrm>
                  <a:off x="9750746" y="3039320"/>
                  <a:ext cx="4126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𝜃</m:t>
                        </m:r>
                      </m:oMath>
                    </m:oMathPara>
                  </a14:m>
                  <a:endParaRPr lang="zh-CN" altLang="en-US" sz="1400" dirty="0"/>
                </a:p>
              </p:txBody>
            </p:sp>
          </mc:Choice>
          <mc:Fallback xmlns="">
            <p:sp>
              <p:nvSpPr>
                <p:cNvPr id="57" name="文本框 56">
                  <a:extLst>
                    <a:ext uri="{FF2B5EF4-FFF2-40B4-BE49-F238E27FC236}">
                      <a16:creationId xmlns:a16="http://schemas.microsoft.com/office/drawing/2014/main" id="{A48CA8DC-30E9-BF47-08E0-75405C04443B}"/>
                    </a:ext>
                  </a:extLst>
                </p:cNvPr>
                <p:cNvSpPr txBox="1">
                  <a:spLocks noRot="1" noChangeAspect="1" noMove="1" noResize="1" noEditPoints="1" noAdjustHandles="1" noChangeArrowheads="1" noChangeShapeType="1" noTextEdit="1"/>
                </p:cNvSpPr>
                <p:nvPr/>
              </p:nvSpPr>
              <p:spPr>
                <a:xfrm>
                  <a:off x="9750746" y="3039320"/>
                  <a:ext cx="412642" cy="30777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8" name="文本框 57">
                  <a:extLst>
                    <a:ext uri="{FF2B5EF4-FFF2-40B4-BE49-F238E27FC236}">
                      <a16:creationId xmlns:a16="http://schemas.microsoft.com/office/drawing/2014/main" id="{36C822DD-6E15-76B5-9AAF-DDAC455D1412}"/>
                    </a:ext>
                  </a:extLst>
                </p:cNvPr>
                <p:cNvSpPr txBox="1"/>
                <p:nvPr/>
              </p:nvSpPr>
              <p:spPr>
                <a:xfrm>
                  <a:off x="10271017" y="1872502"/>
                  <a:ext cx="4126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𝜃</m:t>
                            </m:r>
                          </m:e>
                          <m:sub>
                            <m:r>
                              <a:rPr lang="en-US" altLang="zh-CN" sz="1400" b="0" i="1" smtClean="0">
                                <a:latin typeface="Cambria Math" panose="02040503050406030204" pitchFamily="18" charset="0"/>
                              </a:rPr>
                              <m:t>𝑚</m:t>
                            </m:r>
                          </m:sub>
                        </m:sSub>
                      </m:oMath>
                    </m:oMathPara>
                  </a14:m>
                  <a:endParaRPr lang="zh-CN" altLang="en-US" sz="1400" dirty="0"/>
                </a:p>
              </p:txBody>
            </p:sp>
          </mc:Choice>
          <mc:Fallback xmlns="">
            <p:sp>
              <p:nvSpPr>
                <p:cNvPr id="58" name="文本框 57">
                  <a:extLst>
                    <a:ext uri="{FF2B5EF4-FFF2-40B4-BE49-F238E27FC236}">
                      <a16:creationId xmlns:a16="http://schemas.microsoft.com/office/drawing/2014/main" id="{36C822DD-6E15-76B5-9AAF-DDAC455D1412}"/>
                    </a:ext>
                  </a:extLst>
                </p:cNvPr>
                <p:cNvSpPr txBox="1">
                  <a:spLocks noRot="1" noChangeAspect="1" noMove="1" noResize="1" noEditPoints="1" noAdjustHandles="1" noChangeArrowheads="1" noChangeShapeType="1" noTextEdit="1"/>
                </p:cNvSpPr>
                <p:nvPr/>
              </p:nvSpPr>
              <p:spPr>
                <a:xfrm>
                  <a:off x="10271017" y="1872502"/>
                  <a:ext cx="412642" cy="307777"/>
                </a:xfrm>
                <a:prstGeom prst="rect">
                  <a:avLst/>
                </a:prstGeom>
                <a:blipFill>
                  <a:blip r:embed="rId11"/>
                  <a:stretch>
                    <a:fillRect/>
                  </a:stretch>
                </a:blipFill>
              </p:spPr>
              <p:txBody>
                <a:bodyPr/>
                <a:lstStyle/>
                <a:p>
                  <a:r>
                    <a:rPr lang="zh-CN" altLang="en-US">
                      <a:noFill/>
                    </a:rPr>
                    <a:t> </a:t>
                  </a:r>
                </a:p>
              </p:txBody>
            </p:sp>
          </mc:Fallback>
        </mc:AlternateContent>
        <p:cxnSp>
          <p:nvCxnSpPr>
            <p:cNvPr id="59" name="直接连接符 58">
              <a:extLst>
                <a:ext uri="{FF2B5EF4-FFF2-40B4-BE49-F238E27FC236}">
                  <a16:creationId xmlns:a16="http://schemas.microsoft.com/office/drawing/2014/main" id="{EF78E4EC-93B8-47B3-1B76-C9217F7C34C9}"/>
                </a:ext>
              </a:extLst>
            </p:cNvPr>
            <p:cNvCxnSpPr>
              <a:cxnSpLocks/>
            </p:cNvCxnSpPr>
            <p:nvPr/>
          </p:nvCxnSpPr>
          <p:spPr>
            <a:xfrm flipV="1">
              <a:off x="10302470" y="2120490"/>
              <a:ext cx="86678" cy="44660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354295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036D5-FC9C-55D3-13D3-B9659190C3D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64F18C1E-2879-F2B6-F527-B99E21EC3167}"/>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r>
                      <a:rPr lang="en-US" altLang="zh-CN" sz="3200" i="1" dirty="0" smtClean="0">
                        <a:solidFill>
                          <a:schemeClr val="tx1"/>
                        </a:solidFill>
                        <a:latin typeface="Cambria Math" panose="02040503050406030204" pitchFamily="18" charset="0"/>
                      </a:rPr>
                      <m:t>𝐷</m:t>
                    </m:r>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𝒎</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64F18C1E-2879-F2B6-F527-B99E21EC3167}"/>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864" b="-7627"/>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2AC52C9A-F451-D76A-4696-EA6E328B9D3A}"/>
              </a:ext>
            </a:extLst>
          </p:cNvPr>
          <p:cNvSpPr/>
          <p:nvPr/>
        </p:nvSpPr>
        <p:spPr>
          <a:xfrm>
            <a:off x="377203" y="1315233"/>
            <a:ext cx="7170668"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FFFB46C-1C82-796B-48CA-1B4DF1AFDC53}"/>
                  </a:ext>
                </a:extLst>
              </p:cNvPr>
              <p:cNvSpPr/>
              <p:nvPr/>
            </p:nvSpPr>
            <p:spPr>
              <a:xfrm>
                <a:off x="224803" y="1144044"/>
                <a:ext cx="7170668"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altLang="zh-CN" sz="1300" b="1" i="1" dirty="0" smtClean="0">
                          <a:solidFill>
                            <a:schemeClr val="tx1"/>
                          </a:solidFill>
                          <a:latin typeface="Cambria Math" panose="02040503050406030204" pitchFamily="18" charset="0"/>
                        </a:rPr>
                        <m:t>𝒎</m:t>
                      </m:r>
                      <m:r>
                        <a:rPr lang="en-US" altLang="zh-CN" sz="1300" b="1" i="1" dirty="0" smtClean="0">
                          <a:solidFill>
                            <a:schemeClr val="tx1"/>
                          </a:solidFill>
                          <a:latin typeface="Cambria Math" panose="02040503050406030204" pitchFamily="18" charset="0"/>
                        </a:rPr>
                        <m:t>=</m:t>
                      </m:r>
                      <m:f>
                        <m:fPr>
                          <m:ctrlPr>
                            <a:rPr lang="en-US" altLang="zh-CN" sz="1300" b="1" i="1" dirty="0">
                              <a:solidFill>
                                <a:schemeClr val="tx1"/>
                              </a:solidFill>
                              <a:latin typeface="Cambria Math" panose="02040503050406030204" pitchFamily="18" charset="0"/>
                            </a:rPr>
                          </m:ctrlPr>
                        </m:fPr>
                        <m:num>
                          <m:d>
                            <m:dPr>
                              <m:ctrlPr>
                                <a:rPr lang="en-US" altLang="zh-CN" sz="1300" b="1" i="1" dirty="0">
                                  <a:solidFill>
                                    <a:schemeClr val="tx1"/>
                                  </a:solidFill>
                                  <a:latin typeface="Cambria Math" panose="02040503050406030204" pitchFamily="18" charset="0"/>
                                </a:rPr>
                              </m:ctrlPr>
                            </m:dPr>
                            <m:e>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sin</m:t>
                                  </m:r>
                                </m:fName>
                                <m:e>
                                  <m:r>
                                    <a:rPr lang="en-US" altLang="zh-CN" sz="1300" i="1" dirty="0">
                                      <a:solidFill>
                                        <a:schemeClr val="tx1"/>
                                      </a:solidFill>
                                      <a:latin typeface="Cambria Math" panose="02040503050406030204" pitchFamily="18" charset="0"/>
                                    </a:rPr>
                                    <m:t>𝜃</m:t>
                                  </m:r>
                                </m:e>
                              </m:func>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cos</m:t>
                                  </m:r>
                                </m:fName>
                                <m:e>
                                  <m:r>
                                    <a:rPr lang="en-US" altLang="zh-CN" sz="1300" i="1" dirty="0">
                                      <a:solidFill>
                                        <a:schemeClr val="tx1"/>
                                      </a:solidFill>
                                      <a:latin typeface="Cambria Math" panose="02040503050406030204" pitchFamily="18" charset="0"/>
                                    </a:rPr>
                                    <m:t>𝜙</m:t>
                                  </m:r>
                                </m:e>
                              </m:func>
                              <m:r>
                                <a:rPr lang="en-US" altLang="zh-CN" sz="1300" i="1" dirty="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cos</m:t>
                                      </m:r>
                                    </m:fName>
                                    <m:e>
                                      <m:r>
                                        <a:rPr lang="en-US" altLang="zh-CN" sz="1300" i="1" dirty="0">
                                          <a:solidFill>
                                            <a:schemeClr val="tx1"/>
                                          </a:solidFill>
                                          <a:latin typeface="Cambria Math" panose="02040503050406030204" pitchFamily="18" charset="0"/>
                                        </a:rPr>
                                        <m:t>𝜃</m:t>
                                      </m:r>
                                    </m:e>
                                  </m:func>
                                </m:num>
                                <m:den>
                                  <m:r>
                                    <a:rPr lang="en-US" altLang="zh-CN" sz="1300" i="1" dirty="0">
                                      <a:solidFill>
                                        <a:schemeClr val="tx1"/>
                                      </a:solidFill>
                                      <a:latin typeface="Cambria Math" panose="02040503050406030204" pitchFamily="18" charset="0"/>
                                    </a:rPr>
                                    <m:t>𝛼</m:t>
                                  </m:r>
                                </m:den>
                              </m:f>
                              <m:r>
                                <a:rPr lang="en-US" altLang="zh-CN" sz="1300" i="1" dirty="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sin</m:t>
                                  </m:r>
                                </m:fName>
                                <m:e>
                                  <m:r>
                                    <a:rPr lang="en-US" altLang="zh-CN" sz="1300" i="1" dirty="0">
                                      <a:solidFill>
                                        <a:schemeClr val="tx1"/>
                                      </a:solidFill>
                                      <a:latin typeface="Cambria Math" panose="02040503050406030204" pitchFamily="18" charset="0"/>
                                    </a:rPr>
                                    <m:t>𝜃</m:t>
                                  </m:r>
                                </m:e>
                              </m:func>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sin</m:t>
                                  </m:r>
                                </m:fName>
                                <m:e>
                                  <m:r>
                                    <a:rPr lang="en-US" altLang="zh-CN" sz="1300" i="1" dirty="0">
                                      <a:solidFill>
                                        <a:schemeClr val="tx1"/>
                                      </a:solidFill>
                                      <a:latin typeface="Cambria Math" panose="02040503050406030204" pitchFamily="18" charset="0"/>
                                    </a:rPr>
                                    <m:t>𝜙</m:t>
                                  </m:r>
                                </m:e>
                              </m:func>
                            </m:e>
                          </m:d>
                        </m:num>
                        <m:den>
                          <m:rad>
                            <m:radPr>
                              <m:degHide m:val="on"/>
                              <m:ctrlPr>
                                <a:rPr lang="en-US" altLang="zh-CN" sz="1300" b="1" i="1" dirty="0">
                                  <a:solidFill>
                                    <a:schemeClr val="tx1"/>
                                  </a:solidFill>
                                  <a:latin typeface="Cambria Math" panose="02040503050406030204" pitchFamily="18" charset="0"/>
                                </a:rPr>
                              </m:ctrlPr>
                            </m:radPr>
                            <m:deg/>
                            <m:e>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num>
                                <m:den>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den>
                              </m:f>
                            </m:e>
                          </m:rad>
                        </m:den>
                      </m:f>
                    </m:oMath>
                  </m:oMathPara>
                </a14:m>
                <a:endParaRPr lang="en-US" altLang="zh-CN" sz="1300" b="1"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1300" b="1" i="1" dirty="0">
                          <a:solidFill>
                            <a:schemeClr val="tx1"/>
                          </a:solidFill>
                          <a:latin typeface="Cambria Math" panose="02040503050406030204" pitchFamily="18" charset="0"/>
                        </a:rPr>
                        <m:t>设</m:t>
                      </m:r>
                      <m:r>
                        <a:rPr lang="en-US" altLang="zh-CN" sz="1300" b="1" i="1" dirty="0">
                          <a:solidFill>
                            <a:schemeClr val="tx1"/>
                          </a:solidFill>
                          <a:latin typeface="Cambria Math" panose="02040503050406030204" pitchFamily="18" charset="0"/>
                        </a:rPr>
                        <m:t>𝒎</m:t>
                      </m:r>
                      <m:r>
                        <a:rPr lang="zh-CN" altLang="en-US" sz="1300" b="1" i="1" dirty="0">
                          <a:solidFill>
                            <a:schemeClr val="tx1"/>
                          </a:solidFill>
                          <a:latin typeface="Cambria Math" panose="02040503050406030204" pitchFamily="18" charset="0"/>
                        </a:rPr>
                        <m:t>对应的球极坐标为</m:t>
                      </m:r>
                      <m:d>
                        <m:dPr>
                          <m:ctrlPr>
                            <a:rPr lang="en-US" altLang="zh-CN" sz="1300" b="1" i="1" dirty="0" smtClean="0">
                              <a:solidFill>
                                <a:schemeClr val="tx1"/>
                              </a:solidFill>
                              <a:latin typeface="Cambria Math" panose="02040503050406030204" pitchFamily="18" charset="0"/>
                            </a:rPr>
                          </m:ctrlPr>
                        </m:dPr>
                        <m:e>
                          <m:sSub>
                            <m:sSubPr>
                              <m:ctrlPr>
                                <a:rPr lang="en-US" altLang="zh-CN" sz="130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𝜃</m:t>
                              </m:r>
                            </m:e>
                            <m:sub>
                              <m:r>
                                <a:rPr lang="en-US" altLang="zh-CN" sz="1300" b="0" i="1" dirty="0" smtClean="0">
                                  <a:solidFill>
                                    <a:schemeClr val="tx1"/>
                                  </a:solidFill>
                                  <a:latin typeface="Cambria Math" panose="02040503050406030204" pitchFamily="18" charset="0"/>
                                </a:rPr>
                                <m:t>𝑚</m:t>
                              </m:r>
                            </m:sub>
                          </m:sSub>
                          <m:r>
                            <a:rPr lang="en-US" altLang="zh-CN" sz="1300" b="0" i="1" dirty="0" smtClean="0">
                              <a:solidFill>
                                <a:schemeClr val="tx1"/>
                              </a:solidFill>
                              <a:latin typeface="Cambria Math" panose="02040503050406030204" pitchFamily="18" charset="0"/>
                            </a:rPr>
                            <m:t>,</m:t>
                          </m:r>
                          <m:sSub>
                            <m:sSubPr>
                              <m:ctrlPr>
                                <a:rPr lang="en-US" altLang="zh-CN" sz="130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𝜙</m:t>
                              </m:r>
                            </m:e>
                            <m:sub>
                              <m:r>
                                <a:rPr lang="en-US" altLang="zh-CN" sz="1300" b="0" i="1" dirty="0" smtClean="0">
                                  <a:solidFill>
                                    <a:schemeClr val="tx1"/>
                                  </a:solidFill>
                                  <a:latin typeface="Cambria Math" panose="02040503050406030204" pitchFamily="18" charset="0"/>
                                </a:rPr>
                                <m:t>𝑚</m:t>
                              </m:r>
                            </m:sub>
                          </m:sSub>
                        </m:e>
                      </m:d>
                      <m:r>
                        <a:rPr lang="zh-CN" altLang="en-US" sz="1300" b="1" i="1" dirty="0">
                          <a:solidFill>
                            <a:schemeClr val="tx1"/>
                          </a:solidFill>
                          <a:latin typeface="Cambria Math" panose="02040503050406030204" pitchFamily="18" charset="0"/>
                        </a:rPr>
                        <m:t>：</m:t>
                      </m:r>
                      <m:r>
                        <a:rPr lang="en-US" altLang="zh-CN" sz="1300" b="1" i="1" dirty="0">
                          <a:solidFill>
                            <a:schemeClr val="tx1"/>
                          </a:solidFill>
                          <a:latin typeface="Cambria Math" panose="02040503050406030204" pitchFamily="18" charset="0"/>
                        </a:rPr>
                        <m:t>𝒎</m:t>
                      </m:r>
                      <m:r>
                        <a:rPr lang="en-US" altLang="zh-CN" sz="1300" b="1" i="1" dirty="0" smtClean="0">
                          <a:solidFill>
                            <a:schemeClr val="tx1"/>
                          </a:solidFill>
                          <a:latin typeface="Cambria Math" panose="02040503050406030204" pitchFamily="18" charset="0"/>
                        </a:rPr>
                        <m:t>=</m:t>
                      </m:r>
                      <m:d>
                        <m:dPr>
                          <m:ctrlPr>
                            <a:rPr lang="en-US" altLang="zh-CN" sz="1300" b="1" i="1" dirty="0" smtClean="0">
                              <a:solidFill>
                                <a:schemeClr val="tx1"/>
                              </a:solidFill>
                              <a:latin typeface="Cambria Math" panose="02040503050406030204" pitchFamily="18" charset="0"/>
                            </a:rPr>
                          </m:ctrlPr>
                        </m:dPr>
                        <m:e>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sin</m:t>
                              </m:r>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cos</m:t>
                              </m:r>
                            </m:fName>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𝜙</m:t>
                                  </m:r>
                                </m:e>
                                <m:sub>
                                  <m:r>
                                    <a:rPr lang="en-US" altLang="zh-CN" sz="1300" b="0" i="1" dirty="0" smtClean="0">
                                      <a:solidFill>
                                        <a:schemeClr val="tx1"/>
                                      </a:solidFill>
                                      <a:latin typeface="Cambria Math" panose="02040503050406030204" pitchFamily="18" charset="0"/>
                                    </a:rPr>
                                    <m:t>𝑚</m:t>
                                  </m:r>
                                </m:sub>
                              </m:sSub>
                            </m:e>
                          </m:func>
                          <m:r>
                            <a:rPr lang="en-US" altLang="zh-CN" sz="1300" b="0" i="1" dirty="0" smtClean="0">
                              <a:solidFill>
                                <a:schemeClr val="tx1"/>
                              </a:solidFill>
                              <a:latin typeface="Cambria Math" panose="02040503050406030204" pitchFamily="18" charset="0"/>
                            </a:rPr>
                            <m:t>,</m:t>
                          </m:r>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cos</m:t>
                              </m:r>
                            </m:fName>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𝜃</m:t>
                                  </m:r>
                                </m:e>
                                <m:sub>
                                  <m:r>
                                    <a:rPr lang="en-US" altLang="zh-CN" sz="1300" b="0" i="1" dirty="0" smtClean="0">
                                      <a:solidFill>
                                        <a:schemeClr val="tx1"/>
                                      </a:solidFill>
                                      <a:latin typeface="Cambria Math" panose="02040503050406030204" pitchFamily="18" charset="0"/>
                                    </a:rPr>
                                    <m:t>𝑚</m:t>
                                  </m:r>
                                </m:sub>
                              </m:sSub>
                            </m:e>
                          </m:func>
                          <m:r>
                            <a:rPr lang="en-US" altLang="zh-CN" sz="1300" b="0" i="1" dirty="0" smtClean="0">
                              <a:solidFill>
                                <a:schemeClr val="tx1"/>
                              </a:solidFill>
                              <a:latin typeface="Cambria Math" panose="02040503050406030204" pitchFamily="18" charset="0"/>
                            </a:rPr>
                            <m:t>,</m:t>
                          </m:r>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sin</m:t>
                              </m:r>
                            </m:fName>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𝜃</m:t>
                                  </m:r>
                                </m:e>
                                <m:sub>
                                  <m:r>
                                    <a:rPr lang="en-US" altLang="zh-CN" sz="1300" b="0" i="1" dirty="0" smtClean="0">
                                      <a:solidFill>
                                        <a:schemeClr val="tx1"/>
                                      </a:solidFill>
                                      <a:latin typeface="Cambria Math" panose="02040503050406030204" pitchFamily="18" charset="0"/>
                                    </a:rPr>
                                    <m:t>𝑚</m:t>
                                  </m:r>
                                </m:sub>
                              </m:sSub>
                            </m:e>
                          </m:func>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sin</m:t>
                              </m:r>
                            </m:fName>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𝜙</m:t>
                                  </m:r>
                                </m:e>
                                <m:sub>
                                  <m:r>
                                    <a:rPr lang="en-US" altLang="zh-CN" sz="1300" b="0" i="1" dirty="0" smtClean="0">
                                      <a:solidFill>
                                        <a:schemeClr val="tx1"/>
                                      </a:solidFill>
                                      <a:latin typeface="Cambria Math" panose="02040503050406030204" pitchFamily="18" charset="0"/>
                                    </a:rPr>
                                    <m:t>𝑚</m:t>
                                  </m:r>
                                </m:sub>
                              </m:sSub>
                            </m:e>
                          </m:func>
                        </m:e>
                      </m:d>
                    </m:oMath>
                  </m:oMathPara>
                </a14:m>
                <a:endParaRPr lang="en-US" altLang="zh-CN" sz="1300" b="1"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1300" b="1" i="1" dirty="0">
                          <a:solidFill>
                            <a:schemeClr val="tx1"/>
                          </a:solidFill>
                          <a:latin typeface="Cambria Math" panose="02040503050406030204" pitchFamily="18" charset="0"/>
                        </a:rPr>
                        <m:t>其中</m:t>
                      </m:r>
                      <m:sSub>
                        <m:sSubPr>
                          <m:ctrlPr>
                            <a:rPr lang="en-US" altLang="zh-CN" sz="130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𝜙</m:t>
                          </m:r>
                        </m:e>
                        <m:sub>
                          <m:r>
                            <a:rPr lang="en-US" altLang="zh-CN" sz="1300" b="0" i="1" dirty="0" smtClean="0">
                              <a:solidFill>
                                <a:schemeClr val="tx1"/>
                              </a:solidFill>
                              <a:latin typeface="Cambria Math" panose="02040503050406030204" pitchFamily="18" charset="0"/>
                            </a:rPr>
                            <m:t>𝑚</m:t>
                          </m:r>
                        </m:sub>
                      </m:sSub>
                      <m:r>
                        <a:rPr lang="en-US" altLang="zh-CN" sz="1300" b="0" i="1" dirty="0" smtClean="0">
                          <a:solidFill>
                            <a:schemeClr val="tx1"/>
                          </a:solidFill>
                          <a:latin typeface="Cambria Math" panose="02040503050406030204" pitchFamily="18" charset="0"/>
                        </a:rPr>
                        <m:t>=</m:t>
                      </m:r>
                      <m:r>
                        <a:rPr lang="en-US" altLang="zh-CN" sz="1300" i="1" dirty="0">
                          <a:solidFill>
                            <a:schemeClr val="tx1"/>
                          </a:solidFill>
                          <a:latin typeface="Cambria Math" panose="02040503050406030204" pitchFamily="18" charset="0"/>
                        </a:rPr>
                        <m:t>𝜙</m:t>
                      </m:r>
                      <m:r>
                        <a:rPr lang="zh-CN" altLang="en-US" sz="1300" i="1" dirty="0">
                          <a:solidFill>
                            <a:schemeClr val="tx1"/>
                          </a:solidFill>
                          <a:latin typeface="Cambria Math" panose="02040503050406030204" pitchFamily="18" charset="0"/>
                        </a:rPr>
                        <m:t>，</m:t>
                      </m:r>
                      <m:r>
                        <a:rPr lang="zh-CN" altLang="en-US" sz="1300" i="1" dirty="0" smtClean="0">
                          <a:solidFill>
                            <a:schemeClr val="tx1"/>
                          </a:solidFill>
                          <a:latin typeface="Cambria Math" panose="02040503050406030204" pitchFamily="18" charset="0"/>
                        </a:rPr>
                        <m:t>代入</m:t>
                      </m:r>
                      <m:r>
                        <a:rPr lang="zh-CN" altLang="en-US" sz="1300" i="1" dirty="0">
                          <a:solidFill>
                            <a:schemeClr val="tx1"/>
                          </a:solidFill>
                          <a:latin typeface="Cambria Math" panose="02040503050406030204" pitchFamily="18" charset="0"/>
                        </a:rPr>
                        <m:t>并</m:t>
                      </m:r>
                      <m:r>
                        <a:rPr lang="zh-CN" altLang="en-US" sz="1300" i="1" dirty="0" smtClean="0">
                          <a:solidFill>
                            <a:schemeClr val="tx1"/>
                          </a:solidFill>
                          <a:latin typeface="Cambria Math" panose="02040503050406030204" pitchFamily="18" charset="0"/>
                        </a:rPr>
                        <m:t>联立</m:t>
                      </m:r>
                      <m:r>
                        <a:rPr lang="en-US" altLang="zh-CN" sz="1300" b="0" i="1" dirty="0" smtClean="0">
                          <a:solidFill>
                            <a:schemeClr val="tx1"/>
                          </a:solidFill>
                          <a:latin typeface="Cambria Math" panose="02040503050406030204" pitchFamily="18" charset="0"/>
                        </a:rPr>
                        <m:t>𝑥𝑦</m:t>
                      </m:r>
                      <m:r>
                        <a:rPr lang="zh-CN" altLang="en-US" sz="1300" i="1" dirty="0">
                          <a:solidFill>
                            <a:schemeClr val="tx1"/>
                          </a:solidFill>
                          <a:latin typeface="Cambria Math" panose="02040503050406030204" pitchFamily="18" charset="0"/>
                        </a:rPr>
                        <m:t>分量</m:t>
                      </m:r>
                      <m:r>
                        <a:rPr lang="zh-CN" altLang="en-US" sz="1300" i="1" dirty="0" smtClean="0">
                          <a:solidFill>
                            <a:schemeClr val="tx1"/>
                          </a:solidFill>
                          <a:latin typeface="Cambria Math" panose="02040503050406030204" pitchFamily="18" charset="0"/>
                        </a:rPr>
                        <m:t>得到</m:t>
                      </m:r>
                      <m:r>
                        <a:rPr lang="zh-CN" altLang="en-US" sz="1300" i="1" dirty="0">
                          <a:solidFill>
                            <a:schemeClr val="tx1"/>
                          </a:solidFill>
                          <a:latin typeface="Cambria Math" panose="02040503050406030204" pitchFamily="18" charset="0"/>
                        </a:rPr>
                        <m:t>：</m:t>
                      </m:r>
                    </m:oMath>
                  </m:oMathPara>
                </a14:m>
                <a:endParaRPr lang="en-US" altLang="zh-CN" sz="13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sin</m:t>
                          </m:r>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cos</m:t>
                          </m:r>
                        </m:fName>
                        <m:e>
                          <m:r>
                            <a:rPr lang="en-US" altLang="zh-CN" sz="1300" i="1" dirty="0">
                              <a:solidFill>
                                <a:schemeClr val="tx1"/>
                              </a:solidFill>
                              <a:latin typeface="Cambria Math" panose="02040503050406030204" pitchFamily="18" charset="0"/>
                            </a:rPr>
                            <m:t>𝜙</m:t>
                          </m:r>
                        </m:e>
                      </m:func>
                      <m:r>
                        <a:rPr lang="en-US" altLang="zh-CN" sz="1300" b="0" i="1" dirty="0" smtClean="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sin</m:t>
                              </m:r>
                            </m:fName>
                            <m:e>
                              <m:r>
                                <a:rPr lang="en-US" altLang="zh-CN" sz="1300" i="1" dirty="0">
                                  <a:solidFill>
                                    <a:schemeClr val="tx1"/>
                                  </a:solidFill>
                                  <a:latin typeface="Cambria Math" panose="02040503050406030204" pitchFamily="18" charset="0"/>
                                </a:rPr>
                                <m:t>𝜃</m:t>
                              </m:r>
                            </m:e>
                          </m:func>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cos</m:t>
                              </m:r>
                            </m:fName>
                            <m:e>
                              <m:r>
                                <a:rPr lang="en-US" altLang="zh-CN" sz="1300" i="1" dirty="0">
                                  <a:solidFill>
                                    <a:schemeClr val="tx1"/>
                                  </a:solidFill>
                                  <a:latin typeface="Cambria Math" panose="02040503050406030204" pitchFamily="18" charset="0"/>
                                </a:rPr>
                                <m:t>𝜙</m:t>
                              </m:r>
                            </m:e>
                          </m:func>
                        </m:num>
                        <m:den>
                          <m:rad>
                            <m:radPr>
                              <m:degHide m:val="on"/>
                              <m:ctrlPr>
                                <a:rPr lang="en-US" altLang="zh-CN" sz="1300" b="1" i="1" dirty="0">
                                  <a:solidFill>
                                    <a:schemeClr val="tx1"/>
                                  </a:solidFill>
                                  <a:latin typeface="Cambria Math" panose="02040503050406030204" pitchFamily="18" charset="0"/>
                                </a:rPr>
                              </m:ctrlPr>
                            </m:radPr>
                            <m:deg/>
                            <m:e>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num>
                                <m:den>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den>
                              </m:f>
                            </m:e>
                          </m:rad>
                        </m:den>
                      </m:f>
                      <m:r>
                        <a:rPr lang="en-US" altLang="zh-CN" sz="1300" b="0" i="1" dirty="0" smtClean="0">
                          <a:solidFill>
                            <a:schemeClr val="tx1"/>
                          </a:solidFill>
                          <a:latin typeface="Cambria Math" panose="02040503050406030204" pitchFamily="18" charset="0"/>
                        </a:rPr>
                        <m:t>,  </m:t>
                      </m:r>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sin</m:t>
                          </m:r>
                        </m:fName>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𝜃</m:t>
                              </m:r>
                            </m:e>
                            <m:sub>
                              <m:r>
                                <a:rPr lang="en-US" altLang="zh-CN" sz="1300" b="0" i="1" dirty="0" smtClean="0">
                                  <a:solidFill>
                                    <a:schemeClr val="tx1"/>
                                  </a:solidFill>
                                  <a:latin typeface="Cambria Math" panose="02040503050406030204" pitchFamily="18" charset="0"/>
                                </a:rPr>
                                <m:t>𝑚</m:t>
                              </m:r>
                            </m:sub>
                          </m:sSub>
                        </m:e>
                      </m:func>
                      <m:r>
                        <a:rPr lang="en-US" altLang="zh-CN" sz="1300" b="0" i="1" dirty="0" smtClean="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𝛼</m:t>
                          </m:r>
                        </m:num>
                        <m:den>
                          <m:rad>
                            <m:radPr>
                              <m:degHide m:val="on"/>
                              <m:ctrlPr>
                                <a:rPr lang="en-US" altLang="zh-CN" sz="1300" b="0" i="1" dirty="0" smtClean="0">
                                  <a:solidFill>
                                    <a:schemeClr val="tx1"/>
                                  </a:solidFill>
                                  <a:latin typeface="Cambria Math" panose="02040503050406030204" pitchFamily="18" charset="0"/>
                                </a:rPr>
                              </m:ctrlPr>
                            </m:radPr>
                            <m:deg/>
                            <m:e>
                              <m:sSup>
                                <m:sSupPr>
                                  <m:ctrlPr>
                                    <a:rPr lang="en-US" altLang="zh-CN" sz="1300" b="0" i="1" dirty="0" smtClean="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b="0" i="1" dirty="0" smtClean="0">
                                      <a:solidFill>
                                        <a:schemeClr val="tx1"/>
                                      </a:solidFill>
                                      <a:latin typeface="Cambria Math" panose="02040503050406030204" pitchFamily="18" charset="0"/>
                                    </a:rPr>
                                    <m:t>2</m:t>
                                  </m:r>
                                </m:sup>
                              </m:sSup>
                              <m:r>
                                <a:rPr lang="en-US" altLang="zh-CN" sz="1300" b="0" i="1" dirty="0" smtClean="0">
                                  <a:solidFill>
                                    <a:schemeClr val="tx1"/>
                                  </a:solidFill>
                                  <a:latin typeface="Cambria Math" panose="02040503050406030204" pitchFamily="18" charset="0"/>
                                </a:rPr>
                                <m:t>+</m:t>
                              </m:r>
                              <m:func>
                                <m:funcPr>
                                  <m:ctrlPr>
                                    <a:rPr lang="en-US" altLang="zh-CN" sz="1300" b="0" i="1" dirty="0" smtClean="0">
                                      <a:solidFill>
                                        <a:schemeClr val="tx1"/>
                                      </a:solidFill>
                                      <a:latin typeface="Cambria Math" panose="02040503050406030204" pitchFamily="18" charset="0"/>
                                    </a:rPr>
                                  </m:ctrlPr>
                                </m:funcPr>
                                <m:fName>
                                  <m:sSup>
                                    <m:sSupPr>
                                      <m:ctrlPr>
                                        <a:rPr lang="en-US" altLang="zh-CN" sz="1300" b="0" i="1" dirty="0" smtClean="0">
                                          <a:solidFill>
                                            <a:schemeClr val="tx1"/>
                                          </a:solidFill>
                                          <a:latin typeface="Cambria Math" panose="02040503050406030204" pitchFamily="18" charset="0"/>
                                        </a:rPr>
                                      </m:ctrlPr>
                                    </m:sSupPr>
                                    <m:e>
                                      <m:r>
                                        <m:rPr>
                                          <m:sty m:val="p"/>
                                        </m:rPr>
                                        <a:rPr lang="en-US" altLang="zh-CN" sz="1300" b="0" i="0" dirty="0" smtClean="0">
                                          <a:solidFill>
                                            <a:schemeClr val="tx1"/>
                                          </a:solidFill>
                                          <a:latin typeface="Cambria Math" panose="02040503050406030204" pitchFamily="18" charset="0"/>
                                        </a:rPr>
                                        <m:t>cot</m:t>
                                      </m:r>
                                    </m:e>
                                    <m:sup>
                                      <m:r>
                                        <a:rPr lang="en-US" altLang="zh-CN" sz="1300" b="0" i="1" dirty="0" smtClean="0">
                                          <a:solidFill>
                                            <a:schemeClr val="tx1"/>
                                          </a:solidFill>
                                          <a:latin typeface="Cambria Math" panose="02040503050406030204" pitchFamily="18" charset="0"/>
                                        </a:rPr>
                                        <m:t>2</m:t>
                                      </m:r>
                                    </m:sup>
                                  </m:sSup>
                                </m:fName>
                                <m:e>
                                  <m:r>
                                    <a:rPr lang="en-US" altLang="zh-CN" sz="1300" b="0" i="1" dirty="0" smtClean="0">
                                      <a:solidFill>
                                        <a:schemeClr val="tx1"/>
                                      </a:solidFill>
                                      <a:latin typeface="Cambria Math" panose="02040503050406030204" pitchFamily="18" charset="0"/>
                                    </a:rPr>
                                    <m:t>𝜃</m:t>
                                  </m:r>
                                </m:e>
                              </m:func>
                            </m:e>
                          </m:rad>
                        </m:den>
                      </m:f>
                    </m:oMath>
                  </m:oMathPara>
                </a14:m>
                <a:endParaRPr lang="en-US" altLang="zh-CN" sz="13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cos</m:t>
                          </m:r>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r>
                        <a:rPr lang="en-US" altLang="zh-CN" sz="1300" i="1" dirty="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f>
                            <m:fPr>
                              <m:ctrlPr>
                                <a:rPr lang="en-US" altLang="zh-CN" sz="1300" i="1" dirty="0">
                                  <a:solidFill>
                                    <a:schemeClr val="tx1"/>
                                  </a:solidFill>
                                  <a:latin typeface="Cambria Math" panose="02040503050406030204" pitchFamily="18" charset="0"/>
                                </a:rPr>
                              </m:ctrlPr>
                            </m:fPr>
                            <m:num>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cos</m:t>
                                  </m:r>
                                </m:fName>
                                <m:e>
                                  <m:r>
                                    <a:rPr lang="en-US" altLang="zh-CN" sz="1300" i="1" dirty="0">
                                      <a:solidFill>
                                        <a:schemeClr val="tx1"/>
                                      </a:solidFill>
                                      <a:latin typeface="Cambria Math" panose="02040503050406030204" pitchFamily="18" charset="0"/>
                                    </a:rPr>
                                    <m:t>𝜃</m:t>
                                  </m:r>
                                </m:e>
                              </m:func>
                            </m:num>
                            <m:den>
                              <m:r>
                                <a:rPr lang="en-US" altLang="zh-CN" sz="1300" i="1" dirty="0">
                                  <a:solidFill>
                                    <a:schemeClr val="tx1"/>
                                  </a:solidFill>
                                  <a:latin typeface="Cambria Math" panose="02040503050406030204" pitchFamily="18" charset="0"/>
                                </a:rPr>
                                <m:t>𝛼</m:t>
                              </m:r>
                            </m:den>
                          </m:f>
                        </m:num>
                        <m:den>
                          <m:rad>
                            <m:radPr>
                              <m:degHide m:val="on"/>
                              <m:ctrlPr>
                                <a:rPr lang="en-US" altLang="zh-CN" sz="1300" b="1" i="1" dirty="0">
                                  <a:solidFill>
                                    <a:schemeClr val="tx1"/>
                                  </a:solidFill>
                                  <a:latin typeface="Cambria Math" panose="02040503050406030204" pitchFamily="18" charset="0"/>
                                </a:rPr>
                              </m:ctrlPr>
                            </m:radPr>
                            <m:deg/>
                            <m:e>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num>
                                <m:den>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den>
                              </m:f>
                            </m:e>
                          </m:rad>
                        </m:den>
                      </m:f>
                      <m:r>
                        <a:rPr lang="en-US" altLang="zh-CN" sz="1300" b="0" i="1" dirty="0" smtClean="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r>
                            <a:rPr lang="en-US" altLang="zh-CN" sz="1300" b="0" i="1" dirty="0" smtClean="0">
                              <a:solidFill>
                                <a:schemeClr val="tx1"/>
                              </a:solidFill>
                              <a:latin typeface="Cambria Math" panose="02040503050406030204" pitchFamily="18" charset="0"/>
                            </a:rPr>
                            <m:t>1</m:t>
                          </m:r>
                        </m:num>
                        <m:den>
                          <m:rad>
                            <m:radPr>
                              <m:degHide m:val="on"/>
                              <m:ctrlPr>
                                <a:rPr lang="en-US" altLang="zh-CN" sz="1300" b="1" i="1" dirty="0" smtClean="0">
                                  <a:solidFill>
                                    <a:schemeClr val="tx1"/>
                                  </a:solidFill>
                                  <a:latin typeface="Cambria Math" panose="02040503050406030204" pitchFamily="18" charset="0"/>
                                </a:rPr>
                              </m:ctrlPr>
                            </m:radPr>
                            <m:deg/>
                            <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b="0" i="0" dirty="0" smtClean="0">
                                          <a:solidFill>
                                            <a:schemeClr val="tx1"/>
                                          </a:solidFill>
                                          <a:latin typeface="Cambria Math" panose="02040503050406030204" pitchFamily="18" charset="0"/>
                                        </a:rPr>
                                        <m:t>tan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1</m:t>
                              </m:r>
                            </m:e>
                          </m:rad>
                        </m:den>
                      </m:f>
                    </m:oMath>
                  </m:oMathPara>
                </a14:m>
                <a:endParaRPr lang="en-US" altLang="zh-CN" sz="1300" b="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ad>
                        <m:radPr>
                          <m:degHide m:val="on"/>
                          <m:ctrlPr>
                            <a:rPr lang="en-US" altLang="zh-CN" sz="1300" b="1" i="1" dirty="0">
                              <a:solidFill>
                                <a:schemeClr val="tx1"/>
                              </a:solidFill>
                              <a:latin typeface="Cambria Math" panose="02040503050406030204" pitchFamily="18" charset="0"/>
                            </a:rPr>
                          </m:ctrlPr>
                        </m:radPr>
                        <m:deg/>
                        <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tan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r>
                            <a:rPr lang="en-US" altLang="zh-CN" sz="1300" i="1" dirty="0">
                              <a:solidFill>
                                <a:schemeClr val="tx1"/>
                              </a:solidFill>
                              <a:latin typeface="Cambria Math" panose="02040503050406030204" pitchFamily="18" charset="0"/>
                            </a:rPr>
                            <m:t>1</m:t>
                          </m:r>
                        </m:e>
                      </m:rad>
                      <m:r>
                        <a:rPr lang="en-US" altLang="zh-CN" sz="1300" b="1" i="1" dirty="0" smtClean="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r>
                            <a:rPr lang="en-US" altLang="zh-CN" sz="1300" b="0" i="1" dirty="0" smtClean="0">
                              <a:solidFill>
                                <a:schemeClr val="tx1"/>
                              </a:solidFill>
                              <a:latin typeface="Cambria Math" panose="02040503050406030204" pitchFamily="18" charset="0"/>
                            </a:rPr>
                            <m:t>1</m:t>
                          </m:r>
                        </m:num>
                        <m:den>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cos</m:t>
                              </m:r>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den>
                      </m:f>
                      <m:r>
                        <a:rPr lang="en-US" altLang="zh-CN" sz="1300" b="0" i="1" dirty="0" smtClean="0">
                          <a:solidFill>
                            <a:schemeClr val="tx1"/>
                          </a:solidFill>
                          <a:latin typeface="Cambria Math" panose="02040503050406030204" pitchFamily="18" charset="0"/>
                        </a:rPr>
                        <m:t>,  </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tan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r>
                        <a:rPr lang="en-US" altLang="zh-CN" sz="1300" i="1" dirty="0">
                          <a:solidFill>
                            <a:schemeClr val="tx1"/>
                          </a:solidFill>
                          <a:latin typeface="Cambria Math" panose="02040503050406030204" pitchFamily="18" charset="0"/>
                        </a:rPr>
                        <m:t>1</m:t>
                      </m:r>
                      <m:r>
                        <a:rPr lang="en-US" altLang="zh-CN" sz="1300" b="0" i="1" dirty="0" smtClean="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r>
                            <a:rPr lang="en-US" altLang="zh-CN" sz="1300" b="0" i="1" dirty="0" smtClean="0">
                              <a:solidFill>
                                <a:schemeClr val="tx1"/>
                              </a:solidFill>
                              <a:latin typeface="Cambria Math" panose="02040503050406030204" pitchFamily="18" charset="0"/>
                            </a:rPr>
                            <m:t>1</m:t>
                          </m:r>
                        </m:num>
                        <m:den>
                          <m:func>
                            <m:funcPr>
                              <m:ctrlPr>
                                <a:rPr lang="en-US" altLang="zh-CN" sz="1300" b="0" i="1" dirty="0" smtClean="0">
                                  <a:solidFill>
                                    <a:schemeClr val="tx1"/>
                                  </a:solidFill>
                                  <a:latin typeface="Cambria Math" panose="02040503050406030204" pitchFamily="18" charset="0"/>
                                </a:rPr>
                              </m:ctrlPr>
                            </m:funcPr>
                            <m:fName>
                              <m:sSup>
                                <m:sSupPr>
                                  <m:ctrlPr>
                                    <a:rPr lang="en-US" altLang="zh-CN" sz="1300" b="0" i="1" dirty="0" smtClean="0">
                                      <a:solidFill>
                                        <a:schemeClr val="tx1"/>
                                      </a:solidFill>
                                      <a:latin typeface="Cambria Math" panose="02040503050406030204" pitchFamily="18" charset="0"/>
                                    </a:rPr>
                                  </m:ctrlPr>
                                </m:sSupPr>
                                <m:e>
                                  <m:r>
                                    <m:rPr>
                                      <m:sty m:val="p"/>
                                    </m:rPr>
                                    <a:rPr lang="en-US" altLang="zh-CN" sz="1300" b="0" i="0" dirty="0" smtClean="0">
                                      <a:solidFill>
                                        <a:schemeClr val="tx1"/>
                                      </a:solidFill>
                                      <a:latin typeface="Cambria Math" panose="02040503050406030204" pitchFamily="18" charset="0"/>
                                    </a:rPr>
                                    <m:t>cos</m:t>
                                  </m:r>
                                </m:e>
                                <m:sup>
                                  <m:r>
                                    <a:rPr lang="en-US" altLang="zh-CN" sz="1300" b="0" i="1" dirty="0" smtClean="0">
                                      <a:solidFill>
                                        <a:schemeClr val="tx1"/>
                                      </a:solidFill>
                                      <a:latin typeface="Cambria Math" panose="02040503050406030204" pitchFamily="18" charset="0"/>
                                    </a:rPr>
                                    <m:t>2</m:t>
                                  </m:r>
                                </m:sup>
                              </m:sSup>
                            </m:fName>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𝜃</m:t>
                                  </m:r>
                                </m:e>
                                <m:sub>
                                  <m:r>
                                    <a:rPr lang="en-US" altLang="zh-CN" sz="1300" b="0" i="1" dirty="0" smtClean="0">
                                      <a:solidFill>
                                        <a:schemeClr val="tx1"/>
                                      </a:solidFill>
                                      <a:latin typeface="Cambria Math" panose="02040503050406030204" pitchFamily="18" charset="0"/>
                                    </a:rPr>
                                    <m:t>𝑚</m:t>
                                  </m:r>
                                </m:sub>
                              </m:sSub>
                            </m:e>
                          </m:func>
                        </m:den>
                      </m:f>
                      <m:r>
                        <a:rPr lang="en-US" altLang="zh-CN" sz="1300" b="0" i="1" dirty="0" smtClean="0">
                          <a:solidFill>
                            <a:schemeClr val="tx1"/>
                          </a:solidFill>
                          <a:latin typeface="Cambria Math" panose="02040503050406030204" pitchFamily="18" charset="0"/>
                        </a:rPr>
                        <m:t>,  </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tan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1</m:t>
                          </m:r>
                        </m:num>
                        <m:den>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den>
                      </m:f>
                      <m:r>
                        <a:rPr lang="en-US" altLang="zh-CN" sz="1300" b="0" i="1" dirty="0" smtClean="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1</m:t>
                      </m:r>
                      <m:r>
                        <a:rPr lang="en-US" altLang="zh-CN" sz="1300" b="0" i="1" dirty="0" smtClean="0">
                          <a:solidFill>
                            <a:schemeClr val="tx1"/>
                          </a:solidFill>
                          <a:latin typeface="Cambria Math" panose="02040503050406030204" pitchFamily="18" charset="0"/>
                        </a:rPr>
                        <m:t>=</m:t>
                      </m:r>
                      <m:func>
                        <m:funcPr>
                          <m:ctrlPr>
                            <a:rPr lang="en-US" altLang="zh-CN" sz="1300" b="0" i="1" dirty="0" smtClean="0">
                              <a:solidFill>
                                <a:schemeClr val="tx1"/>
                              </a:solidFill>
                              <a:latin typeface="Cambria Math" panose="02040503050406030204" pitchFamily="18" charset="0"/>
                            </a:rPr>
                          </m:ctrlPr>
                        </m:funcPr>
                        <m:fName>
                          <m:sSup>
                            <m:sSupPr>
                              <m:ctrlPr>
                                <a:rPr lang="en-US" altLang="zh-CN" sz="1300" b="0" i="1" dirty="0" smtClean="0">
                                  <a:solidFill>
                                    <a:schemeClr val="tx1"/>
                                  </a:solidFill>
                                  <a:latin typeface="Cambria Math" panose="02040503050406030204" pitchFamily="18" charset="0"/>
                                </a:rPr>
                              </m:ctrlPr>
                            </m:sSupPr>
                            <m:e>
                              <m:r>
                                <m:rPr>
                                  <m:sty m:val="p"/>
                                </m:rPr>
                                <a:rPr lang="en-US" altLang="zh-CN" sz="1300" b="0" i="0" dirty="0" smtClean="0">
                                  <a:solidFill>
                                    <a:schemeClr val="tx1"/>
                                  </a:solidFill>
                                  <a:latin typeface="Cambria Math" panose="02040503050406030204" pitchFamily="18" charset="0"/>
                                </a:rPr>
                                <m:t>tan</m:t>
                              </m:r>
                            </m:e>
                            <m:sup>
                              <m:r>
                                <a:rPr lang="en-US" altLang="zh-CN" sz="1300" b="0" i="1" dirty="0" smtClean="0">
                                  <a:solidFill>
                                    <a:schemeClr val="tx1"/>
                                  </a:solidFill>
                                  <a:latin typeface="Cambria Math" panose="02040503050406030204" pitchFamily="18" charset="0"/>
                                </a:rPr>
                                <m:t>2</m:t>
                              </m:r>
                            </m:sup>
                          </m:sSup>
                        </m:fName>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𝜃</m:t>
                              </m:r>
                            </m:e>
                            <m:sub>
                              <m:r>
                                <a:rPr lang="en-US" altLang="zh-CN" sz="1300" b="0" i="1" dirty="0" smtClean="0">
                                  <a:solidFill>
                                    <a:schemeClr val="tx1"/>
                                  </a:solidFill>
                                  <a:latin typeface="Cambria Math" panose="02040503050406030204" pitchFamily="18" charset="0"/>
                                </a:rPr>
                                <m:t>𝑚</m:t>
                              </m:r>
                            </m:sub>
                          </m:sSub>
                        </m:e>
                      </m:func>
                    </m:oMath>
                  </m:oMathPara>
                </a14:m>
                <a:endParaRPr lang="en-US" altLang="zh-CN" sz="1300" b="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1300" i="1" dirty="0">
                          <a:solidFill>
                            <a:schemeClr val="tx1"/>
                          </a:solidFill>
                          <a:latin typeface="Cambria Math" panose="02040503050406030204" pitchFamily="18" charset="0"/>
                        </a:rPr>
                        <m:t>即</m:t>
                      </m:r>
                      <m:r>
                        <a:rPr lang="zh-CN" altLang="en-US" sz="1300" i="1" dirty="0" smtClean="0">
                          <a:solidFill>
                            <a:schemeClr val="tx1"/>
                          </a:solidFill>
                          <a:latin typeface="Cambria Math" panose="02040503050406030204" pitchFamily="18" charset="0"/>
                        </a:rPr>
                        <m:t>：</m:t>
                      </m:r>
                      <m:r>
                        <a:rPr lang="en-US" altLang="zh-CN" sz="1300" i="1" dirty="0">
                          <a:solidFill>
                            <a:schemeClr val="tx1"/>
                          </a:solidFill>
                          <a:latin typeface="Cambria Math" panose="02040503050406030204" pitchFamily="18" charset="0"/>
                        </a:rPr>
                        <m:t>𝛼</m:t>
                      </m:r>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tan</m:t>
                          </m:r>
                        </m:fName>
                        <m:e>
                          <m:r>
                            <a:rPr lang="en-US" altLang="zh-CN" sz="1300" b="0" i="1" dirty="0" smtClean="0">
                              <a:solidFill>
                                <a:schemeClr val="tx1"/>
                              </a:solidFill>
                              <a:latin typeface="Cambria Math" panose="02040503050406030204" pitchFamily="18" charset="0"/>
                            </a:rPr>
                            <m:t>𝜃</m:t>
                          </m:r>
                        </m:e>
                      </m:func>
                      <m:r>
                        <a:rPr lang="en-US" altLang="zh-CN" sz="1300" b="0" i="1" dirty="0" smtClean="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r>
                            <a:rPr lang="en-US" altLang="zh-CN" sz="1300" i="1" dirty="0">
                              <a:solidFill>
                                <a:schemeClr val="tx1"/>
                              </a:solidFill>
                              <a:latin typeface="Cambria Math" panose="02040503050406030204" pitchFamily="18" charset="0"/>
                            </a:rPr>
                            <m:t>𝑡𝑎𝑛</m:t>
                          </m:r>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r>
                        <a:rPr lang="en-US" altLang="zh-CN" sz="1300" i="1" dirty="0">
                          <a:solidFill>
                            <a:schemeClr val="tx1"/>
                          </a:solidFill>
                          <a:latin typeface="Cambria Math" panose="02040503050406030204" pitchFamily="18" charset="0"/>
                        </a:rPr>
                        <m:t>,  </m:t>
                      </m:r>
                      <m:sSub>
                        <m:sSubPr>
                          <m:ctrlPr>
                            <a:rPr lang="en-US" altLang="zh-CN" sz="1300" b="0" i="1" dirty="0" smtClean="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b="0" i="1" dirty="0" smtClean="0">
                              <a:solidFill>
                                <a:schemeClr val="tx1"/>
                              </a:solidFill>
                              <a:latin typeface="Cambria Math" panose="02040503050406030204" pitchFamily="18" charset="0"/>
                            </a:rPr>
                            <m:t>𝑚</m:t>
                          </m:r>
                        </m:sub>
                      </m:sSub>
                      <m:r>
                        <a:rPr lang="en-US" altLang="zh-CN" sz="1300" i="1" dirty="0">
                          <a:solidFill>
                            <a:schemeClr val="tx1"/>
                          </a:solidFill>
                          <a:latin typeface="Cambria Math" panose="02040503050406030204" pitchFamily="18" charset="0"/>
                        </a:rPr>
                        <m:t>=</m:t>
                      </m:r>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arctan</m:t>
                          </m:r>
                        </m:fName>
                        <m:e>
                          <m:d>
                            <m:dPr>
                              <m:ctrlPr>
                                <a:rPr lang="en-US" altLang="zh-CN" sz="1300" b="0" i="1" dirty="0" smtClean="0">
                                  <a:solidFill>
                                    <a:schemeClr val="tx1"/>
                                  </a:solidFill>
                                  <a:latin typeface="Cambria Math" panose="02040503050406030204" pitchFamily="18" charset="0"/>
                                </a:rPr>
                              </m:ctrlPr>
                            </m:dPr>
                            <m:e>
                              <m:r>
                                <a:rPr lang="en-US" altLang="zh-CN" sz="1300" i="1" dirty="0">
                                  <a:solidFill>
                                    <a:schemeClr val="tx1"/>
                                  </a:solidFill>
                                  <a:latin typeface="Cambria Math" panose="02040503050406030204" pitchFamily="18" charset="0"/>
                                </a:rPr>
                                <m:t>𝛼</m:t>
                              </m:r>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tan</m:t>
                                  </m:r>
                                </m:fName>
                                <m:e>
                                  <m:r>
                                    <a:rPr lang="en-US" altLang="zh-CN" sz="1300" i="1" dirty="0">
                                      <a:solidFill>
                                        <a:schemeClr val="tx1"/>
                                      </a:solidFill>
                                      <a:latin typeface="Cambria Math" panose="02040503050406030204" pitchFamily="18" charset="0"/>
                                    </a:rPr>
                                    <m:t>𝜃</m:t>
                                  </m:r>
                                </m:e>
                              </m:func>
                            </m:e>
                          </m:d>
                        </m:e>
                      </m:func>
                    </m:oMath>
                  </m:oMathPara>
                </a14:m>
                <a:br>
                  <a:rPr lang="en-US" altLang="zh-CN" sz="1300" b="0" i="1" dirty="0">
                    <a:solidFill>
                      <a:schemeClr val="tx1"/>
                    </a:solidFill>
                    <a:latin typeface="Cambria Math" panose="02040503050406030204" pitchFamily="18" charset="0"/>
                  </a:rPr>
                </a:br>
                <a:endParaRPr lang="en-US" altLang="zh-CN" sz="130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1300" i="1" dirty="0" smtClean="0">
                          <a:solidFill>
                            <a:schemeClr val="tx1"/>
                          </a:solidFill>
                          <a:latin typeface="Cambria Math" panose="02040503050406030204" pitchFamily="18" charset="0"/>
                        </a:rPr>
                        <m:t>对</m:t>
                      </m:r>
                      <m:r>
                        <a:rPr lang="en-US" altLang="zh-CN" sz="1300" b="0" i="1" dirty="0" smtClean="0">
                          <a:solidFill>
                            <a:schemeClr val="tx1"/>
                          </a:solidFill>
                          <a:latin typeface="Cambria Math" panose="02040503050406030204" pitchFamily="18" charset="0"/>
                        </a:rPr>
                        <m:t>𝜃</m:t>
                      </m:r>
                      <m:r>
                        <a:rPr lang="zh-CN" altLang="en-US" sz="1300" i="1" dirty="0">
                          <a:solidFill>
                            <a:schemeClr val="tx1"/>
                          </a:solidFill>
                          <a:latin typeface="Cambria Math" panose="02040503050406030204" pitchFamily="18" charset="0"/>
                        </a:rPr>
                        <m:t>求导</m:t>
                      </m:r>
                      <m:r>
                        <a:rPr lang="zh-CN" altLang="en-US" sz="1300" i="1" dirty="0" smtClean="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r>
                            <a:rPr lang="en-US" altLang="zh-CN" sz="1300" b="0" i="1" dirty="0" smtClean="0">
                              <a:solidFill>
                                <a:schemeClr val="tx1"/>
                              </a:solidFill>
                              <a:latin typeface="Cambria Math" panose="02040503050406030204" pitchFamily="18" charset="0"/>
                            </a:rPr>
                            <m:t>𝜕</m:t>
                          </m:r>
                          <m:sSub>
                            <m:sSubPr>
                              <m:ctrlPr>
                                <a:rPr lang="en-US" altLang="zh-CN" sz="1300" b="0" i="1" dirty="0" smtClean="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b="0" i="1" dirty="0" smtClean="0">
                                  <a:solidFill>
                                    <a:schemeClr val="tx1"/>
                                  </a:solidFill>
                                  <a:latin typeface="Cambria Math" panose="02040503050406030204" pitchFamily="18" charset="0"/>
                                </a:rPr>
                                <m:t>𝑚</m:t>
                              </m:r>
                            </m:sub>
                          </m:sSub>
                        </m:num>
                        <m:den>
                          <m:r>
                            <a:rPr lang="en-US" altLang="zh-CN" sz="1300" b="0" i="1" dirty="0" smtClean="0">
                              <a:solidFill>
                                <a:schemeClr val="tx1"/>
                              </a:solidFill>
                              <a:latin typeface="Cambria Math" panose="02040503050406030204" pitchFamily="18" charset="0"/>
                            </a:rPr>
                            <m:t>𝜕𝜃</m:t>
                          </m:r>
                        </m:den>
                      </m:f>
                      <m:r>
                        <a:rPr lang="en-US" altLang="zh-CN" sz="1300" i="1" dirty="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r>
                            <a:rPr lang="en-US" altLang="zh-CN" sz="1300" b="0" i="1" dirty="0" smtClean="0">
                              <a:solidFill>
                                <a:schemeClr val="tx1"/>
                              </a:solidFill>
                              <a:latin typeface="Cambria Math" panose="02040503050406030204" pitchFamily="18" charset="0"/>
                            </a:rPr>
                            <m:t>1</m:t>
                          </m:r>
                        </m:num>
                        <m:den>
                          <m:r>
                            <a:rPr lang="en-US" altLang="zh-CN" sz="1300" b="0" i="1" dirty="0" smtClean="0">
                              <a:solidFill>
                                <a:schemeClr val="tx1"/>
                              </a:solidFill>
                              <a:latin typeface="Cambria Math" panose="02040503050406030204" pitchFamily="18" charset="0"/>
                            </a:rPr>
                            <m:t>1</m:t>
                          </m:r>
                          <m:r>
                            <a:rPr lang="en-US" altLang="zh-CN" sz="1300" b="0" i="1" dirty="0" smtClean="0">
                              <a:solidFill>
                                <a:schemeClr val="tx1"/>
                              </a:solidFill>
                              <a:latin typeface="Cambria Math" panose="02040503050406030204" pitchFamily="18" charset="0"/>
                            </a:rPr>
                            <m:t>+</m:t>
                          </m:r>
                          <m:sSup>
                            <m:sSupPr>
                              <m:ctrlPr>
                                <a:rPr lang="en-US" altLang="zh-CN" sz="1300" b="0" i="1" dirty="0" smtClean="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b="0" i="1" dirty="0" smtClean="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b="0" i="1" dirty="0" smtClean="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tan</m:t>
                                  </m:r>
                                </m:e>
                                <m:sup>
                                  <m:r>
                                    <a:rPr lang="en-US" altLang="zh-CN" sz="1300" b="0" i="1" dirty="0" smtClean="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den>
                      </m:f>
                      <m:r>
                        <a:rPr lang="en-US" altLang="zh-CN" sz="1300" b="0" i="1" dirty="0" smtClean="0">
                          <a:solidFill>
                            <a:schemeClr val="tx1"/>
                          </a:solidFill>
                          <a:latin typeface="Cambria Math" panose="02040503050406030204" pitchFamily="18" charset="0"/>
                        </a:rPr>
                        <m:t> </m:t>
                      </m:r>
                      <m:sSup>
                        <m:sSupPr>
                          <m:ctrlPr>
                            <a:rPr lang="en-US" altLang="zh-CN" sz="1300" b="0" i="1" dirty="0" smtClean="0">
                              <a:solidFill>
                                <a:schemeClr val="tx1"/>
                              </a:solidFill>
                              <a:latin typeface="Cambria Math" panose="02040503050406030204" pitchFamily="18" charset="0"/>
                            </a:rPr>
                          </m:ctrlPr>
                        </m:sSupPr>
                        <m:e>
                          <m:d>
                            <m:dPr>
                              <m:ctrlPr>
                                <a:rPr lang="en-US" altLang="zh-CN" sz="1300" b="0" i="1" dirty="0" smtClean="0">
                                  <a:solidFill>
                                    <a:schemeClr val="tx1"/>
                                  </a:solidFill>
                                  <a:latin typeface="Cambria Math" panose="02040503050406030204" pitchFamily="18" charset="0"/>
                                </a:rPr>
                              </m:ctrlPr>
                            </m:dPr>
                            <m:e>
                              <m:r>
                                <a:rPr lang="en-US" altLang="zh-CN" sz="1300" i="1" dirty="0">
                                  <a:solidFill>
                                    <a:schemeClr val="tx1"/>
                                  </a:solidFill>
                                  <a:latin typeface="Cambria Math" panose="02040503050406030204" pitchFamily="18" charset="0"/>
                                </a:rPr>
                                <m:t>𝛼</m:t>
                              </m:r>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tan</m:t>
                                  </m:r>
                                </m:fName>
                                <m:e>
                                  <m:r>
                                    <a:rPr lang="en-US" altLang="zh-CN" sz="1300" i="1" dirty="0">
                                      <a:solidFill>
                                        <a:schemeClr val="tx1"/>
                                      </a:solidFill>
                                      <a:latin typeface="Cambria Math" panose="02040503050406030204" pitchFamily="18" charset="0"/>
                                    </a:rPr>
                                    <m:t>𝜃</m:t>
                                  </m:r>
                                </m:e>
                              </m:func>
                            </m:e>
                          </m:d>
                        </m:e>
                        <m:sup>
                          <m:r>
                            <a:rPr lang="en-US" altLang="zh-CN" sz="1300" b="0" i="1" dirty="0" smtClean="0">
                              <a:solidFill>
                                <a:schemeClr val="tx1"/>
                              </a:solidFill>
                              <a:latin typeface="Cambria Math" panose="02040503050406030204" pitchFamily="18" charset="0"/>
                            </a:rPr>
                            <m:t>′</m:t>
                          </m:r>
                        </m:sup>
                      </m:sSup>
                      <m:r>
                        <a:rPr lang="en-US" altLang="zh-CN" sz="1300" b="0" i="1" dirty="0" smtClean="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1</m:t>
                          </m:r>
                        </m:num>
                        <m:den>
                          <m:r>
                            <a:rPr lang="en-US" altLang="zh-CN" sz="1300" i="1" dirty="0">
                              <a:solidFill>
                                <a:schemeClr val="tx1"/>
                              </a:solidFill>
                              <a:latin typeface="Cambria Math" panose="02040503050406030204" pitchFamily="18" charset="0"/>
                            </a:rPr>
                            <m:t>1</m:t>
                          </m:r>
                          <m:r>
                            <a:rPr lang="en-US" altLang="zh-CN" sz="1300" i="1" dirty="0">
                              <a:solidFill>
                                <a:schemeClr val="tx1"/>
                              </a:solidFill>
                              <a:latin typeface="Cambria Math" panose="02040503050406030204" pitchFamily="18" charset="0"/>
                            </a:rPr>
                            <m:t>+</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tan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den>
                      </m:f>
                      <m:r>
                        <a:rPr lang="en-US" altLang="zh-CN" sz="1300" b="0" i="1" dirty="0" smtClean="0">
                          <a:solidFill>
                            <a:schemeClr val="tx1"/>
                          </a:solidFill>
                          <a:latin typeface="Cambria Math" panose="02040503050406030204" pitchFamily="18" charset="0"/>
                        </a:rPr>
                        <m:t> </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𝛼</m:t>
                          </m:r>
                        </m:num>
                        <m:den>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b="0" i="1" dirty="0" smtClean="0">
                                  <a:solidFill>
                                    <a:schemeClr val="tx1"/>
                                  </a:solidFill>
                                  <a:latin typeface="Cambria Math" panose="02040503050406030204" pitchFamily="18" charset="0"/>
                                </a:rPr>
                                <m:t>𝜃</m:t>
                              </m:r>
                            </m:e>
                          </m:func>
                        </m:den>
                      </m:f>
                      <m:r>
                        <a:rPr lang="en-US" altLang="zh-CN" sz="1300" b="0" i="1" dirty="0" smtClean="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r>
                            <a:rPr lang="en-US" altLang="zh-CN" sz="1300" b="0" i="1" dirty="0" smtClean="0">
                              <a:solidFill>
                                <a:schemeClr val="tx1"/>
                              </a:solidFill>
                              <a:latin typeface="Cambria Math" panose="02040503050406030204" pitchFamily="18" charset="0"/>
                            </a:rPr>
                            <m:t>𝛼</m:t>
                          </m:r>
                        </m:num>
                        <m:den>
                          <m:func>
                            <m:funcPr>
                              <m:ctrlPr>
                                <a:rPr lang="en-US" altLang="zh-CN" sz="1300" b="0" i="1" dirty="0" smtClean="0">
                                  <a:solidFill>
                                    <a:schemeClr val="tx1"/>
                                  </a:solidFill>
                                  <a:latin typeface="Cambria Math" panose="02040503050406030204" pitchFamily="18" charset="0"/>
                                </a:rPr>
                              </m:ctrlPr>
                            </m:funcPr>
                            <m:fName>
                              <m:sSup>
                                <m:sSupPr>
                                  <m:ctrlPr>
                                    <a:rPr lang="en-US" altLang="zh-CN" sz="1300" b="0" i="1" dirty="0" smtClean="0">
                                      <a:solidFill>
                                        <a:schemeClr val="tx1"/>
                                      </a:solidFill>
                                      <a:latin typeface="Cambria Math" panose="02040503050406030204" pitchFamily="18" charset="0"/>
                                    </a:rPr>
                                  </m:ctrlPr>
                                </m:sSupPr>
                                <m:e>
                                  <m:r>
                                    <m:rPr>
                                      <m:sty m:val="p"/>
                                    </m:rPr>
                                    <a:rPr lang="en-US" altLang="zh-CN" sz="1300" b="0" i="0" dirty="0" smtClean="0">
                                      <a:solidFill>
                                        <a:schemeClr val="tx1"/>
                                      </a:solidFill>
                                      <a:latin typeface="Cambria Math" panose="02040503050406030204" pitchFamily="18" charset="0"/>
                                    </a:rPr>
                                    <m:t>cos</m:t>
                                  </m:r>
                                </m:e>
                                <m:sup>
                                  <m:r>
                                    <a:rPr lang="en-US" altLang="zh-CN" sz="1300" b="0" i="1" dirty="0" smtClean="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b="0" i="1" dirty="0" smtClean="0">
                              <a:solidFill>
                                <a:schemeClr val="tx1"/>
                              </a:solidFill>
                              <a:latin typeface="Cambria Math" panose="02040503050406030204" pitchFamily="18" charset="0"/>
                            </a:rPr>
                            <m:t>+</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b="0" i="1" dirty="0" smtClean="0">
                                  <a:solidFill>
                                    <a:schemeClr val="tx1"/>
                                  </a:solidFill>
                                  <a:latin typeface="Cambria Math" panose="02040503050406030204" pitchFamily="18" charset="0"/>
                                </a:rPr>
                              </m:ctrlPr>
                            </m:funcPr>
                            <m:fName>
                              <m:sSup>
                                <m:sSupPr>
                                  <m:ctrlPr>
                                    <a:rPr lang="en-US" altLang="zh-CN" sz="1300" b="0" i="1" dirty="0" smtClean="0">
                                      <a:solidFill>
                                        <a:schemeClr val="tx1"/>
                                      </a:solidFill>
                                      <a:latin typeface="Cambria Math" panose="02040503050406030204" pitchFamily="18" charset="0"/>
                                    </a:rPr>
                                  </m:ctrlPr>
                                </m:sSupPr>
                                <m:e>
                                  <m:r>
                                    <m:rPr>
                                      <m:sty m:val="p"/>
                                    </m:rPr>
                                    <a:rPr lang="en-US" altLang="zh-CN" sz="1300" b="0" i="0" dirty="0" smtClean="0">
                                      <a:solidFill>
                                        <a:schemeClr val="tx1"/>
                                      </a:solidFill>
                                      <a:latin typeface="Cambria Math" panose="02040503050406030204" pitchFamily="18" charset="0"/>
                                    </a:rPr>
                                    <m:t>sin</m:t>
                                  </m:r>
                                </m:e>
                                <m:sup>
                                  <m:r>
                                    <a:rPr lang="en-US" altLang="zh-CN" sz="1300" b="0" i="1" dirty="0" smtClean="0">
                                      <a:solidFill>
                                        <a:schemeClr val="tx1"/>
                                      </a:solidFill>
                                      <a:latin typeface="Cambria Math" panose="02040503050406030204" pitchFamily="18" charset="0"/>
                                    </a:rPr>
                                    <m:t>2</m:t>
                                  </m:r>
                                </m:sup>
                              </m:sSup>
                            </m:fName>
                            <m:e>
                              <m:r>
                                <a:rPr lang="en-US" altLang="zh-CN" sz="1300" b="0" i="1" dirty="0" smtClean="0">
                                  <a:solidFill>
                                    <a:schemeClr val="tx1"/>
                                  </a:solidFill>
                                  <a:latin typeface="Cambria Math" panose="02040503050406030204" pitchFamily="18" charset="0"/>
                                </a:rPr>
                                <m:t>𝜃</m:t>
                              </m:r>
                            </m:e>
                          </m:func>
                        </m:den>
                      </m:f>
                    </m:oMath>
                  </m:oMathPara>
                </a14:m>
                <a:endParaRPr lang="en-US" altLang="zh-CN" sz="1300" b="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zh-CN" sz="1300" b="0" i="1" dirty="0" smtClean="0">
                          <a:solidFill>
                            <a:schemeClr val="tx1"/>
                          </a:solidFill>
                          <a:latin typeface="Cambria Math" panose="02040503050406030204" pitchFamily="18" charset="0"/>
                        </a:rPr>
                        <m:t>𝑑</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𝜔</m:t>
                          </m:r>
                        </m:e>
                        <m:sub>
                          <m:r>
                            <a:rPr lang="en-US" altLang="zh-CN" sz="1300" b="0" i="1" dirty="0" smtClean="0">
                              <a:solidFill>
                                <a:schemeClr val="tx1"/>
                              </a:solidFill>
                              <a:latin typeface="Cambria Math" panose="02040503050406030204" pitchFamily="18" charset="0"/>
                            </a:rPr>
                            <m:t>𝑚</m:t>
                          </m:r>
                        </m:sub>
                      </m:sSub>
                      <m:r>
                        <a:rPr lang="en-US" altLang="zh-CN" sz="1300" b="0" i="1" dirty="0" smtClean="0">
                          <a:solidFill>
                            <a:schemeClr val="tx1"/>
                          </a:solidFill>
                          <a:latin typeface="Cambria Math" panose="02040503050406030204" pitchFamily="18" charset="0"/>
                        </a:rPr>
                        <m:t>=</m:t>
                      </m:r>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sin</m:t>
                          </m:r>
                        </m:fName>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𝜃</m:t>
                              </m:r>
                            </m:e>
                            <m:sub>
                              <m:r>
                                <a:rPr lang="en-US" altLang="zh-CN" sz="1300" b="0" i="1" dirty="0" smtClean="0">
                                  <a:solidFill>
                                    <a:schemeClr val="tx1"/>
                                  </a:solidFill>
                                  <a:latin typeface="Cambria Math" panose="02040503050406030204" pitchFamily="18" charset="0"/>
                                </a:rPr>
                                <m:t>𝑚</m:t>
                              </m:r>
                            </m:sub>
                          </m:sSub>
                        </m:e>
                      </m:func>
                      <m:r>
                        <a:rPr lang="en-US" altLang="zh-CN" sz="1300" b="0" i="1" dirty="0" smtClean="0">
                          <a:solidFill>
                            <a:schemeClr val="tx1"/>
                          </a:solidFill>
                          <a:latin typeface="Cambria Math" panose="02040503050406030204" pitchFamily="18" charset="0"/>
                        </a:rPr>
                        <m:t>𝑑</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𝜃</m:t>
                          </m:r>
                        </m:e>
                        <m:sub>
                          <m:r>
                            <a:rPr lang="en-US" altLang="zh-CN" sz="1300" b="0" i="1" dirty="0" smtClean="0">
                              <a:solidFill>
                                <a:schemeClr val="tx1"/>
                              </a:solidFill>
                              <a:latin typeface="Cambria Math" panose="02040503050406030204" pitchFamily="18" charset="0"/>
                            </a:rPr>
                            <m:t>𝑚</m:t>
                          </m:r>
                        </m:sub>
                      </m:sSub>
                      <m:r>
                        <a:rPr lang="en-US" altLang="zh-CN" sz="1300" b="0" i="1" dirty="0" smtClean="0">
                          <a:solidFill>
                            <a:schemeClr val="tx1"/>
                          </a:solidFill>
                          <a:latin typeface="Cambria Math" panose="02040503050406030204" pitchFamily="18" charset="0"/>
                        </a:rPr>
                        <m:t>𝑑</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𝜙</m:t>
                          </m:r>
                        </m:e>
                        <m:sub>
                          <m:r>
                            <a:rPr lang="en-US" altLang="zh-CN" sz="1300" b="0" i="1" dirty="0" smtClean="0">
                              <a:solidFill>
                                <a:schemeClr val="tx1"/>
                              </a:solidFill>
                              <a:latin typeface="Cambria Math" panose="02040503050406030204" pitchFamily="18" charset="0"/>
                            </a:rPr>
                            <m:t>𝑚</m:t>
                          </m:r>
                        </m:sub>
                      </m:sSub>
                      <m:r>
                        <a:rPr lang="en-US" altLang="zh-CN" sz="1300" b="0" i="1" dirty="0" smtClean="0">
                          <a:solidFill>
                            <a:schemeClr val="tx1"/>
                          </a:solidFill>
                          <a:latin typeface="Cambria Math" panose="02040503050406030204" pitchFamily="18" charset="0"/>
                        </a:rPr>
                        <m:t>=</m:t>
                      </m:r>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sin</m:t>
                          </m:r>
                        </m:fName>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𝜃</m:t>
                              </m:r>
                            </m:e>
                            <m:sub>
                              <m:r>
                                <a:rPr lang="en-US" altLang="zh-CN" sz="1300" b="0" i="1" dirty="0" smtClean="0">
                                  <a:solidFill>
                                    <a:schemeClr val="tx1"/>
                                  </a:solidFill>
                                  <a:latin typeface="Cambria Math" panose="02040503050406030204" pitchFamily="18" charset="0"/>
                                </a:rPr>
                                <m:t>𝑚</m:t>
                              </m:r>
                            </m:sub>
                          </m:sSub>
                        </m:e>
                      </m:func>
                      <m:d>
                        <m:dPr>
                          <m:begChr m:val="|"/>
                          <m:endChr m:val="|"/>
                          <m:ctrlPr>
                            <a:rPr lang="en-US" altLang="zh-CN" sz="1300" b="0" i="1" dirty="0" smtClean="0">
                              <a:solidFill>
                                <a:schemeClr val="tx1"/>
                              </a:solidFill>
                              <a:latin typeface="Cambria Math" panose="02040503050406030204" pitchFamily="18" charset="0"/>
                            </a:rPr>
                          </m:ctrlPr>
                        </m:dPr>
                        <m:e>
                          <m:func>
                            <m:funcPr>
                              <m:ctrlPr>
                                <a:rPr lang="en-US" altLang="zh-CN" sz="1300" b="0" i="1" dirty="0" smtClean="0">
                                  <a:solidFill>
                                    <a:schemeClr val="tx1"/>
                                  </a:solidFill>
                                  <a:latin typeface="Cambria Math" panose="02040503050406030204" pitchFamily="18" charset="0"/>
                                </a:rPr>
                              </m:ctrlPr>
                            </m:funcPr>
                            <m:fName>
                              <m:r>
                                <m:rPr>
                                  <m:sty m:val="p"/>
                                </m:rPr>
                                <a:rPr lang="en-US" altLang="zh-CN" sz="1300" b="0" i="0" dirty="0" smtClean="0">
                                  <a:solidFill>
                                    <a:schemeClr val="tx1"/>
                                  </a:solidFill>
                                  <a:latin typeface="Cambria Math" panose="02040503050406030204" pitchFamily="18" charset="0"/>
                                </a:rPr>
                                <m:t>det</m:t>
                              </m:r>
                            </m:fName>
                            <m:e>
                              <m:d>
                                <m:dPr>
                                  <m:ctrlPr>
                                    <a:rPr lang="en-US" altLang="zh-CN" sz="1300" b="0" i="1" dirty="0" smtClean="0">
                                      <a:solidFill>
                                        <a:schemeClr val="tx1"/>
                                      </a:solidFill>
                                      <a:latin typeface="Cambria Math" panose="02040503050406030204" pitchFamily="18" charset="0"/>
                                    </a:rPr>
                                  </m:ctrlPr>
                                </m:dPr>
                                <m:e>
                                  <m:f>
                                    <m:fPr>
                                      <m:ctrlPr>
                                        <a:rPr lang="en-US" altLang="zh-CN" sz="1300" b="0" i="1" dirty="0" smtClean="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d>
                                        <m:dPr>
                                          <m:ctrlPr>
                                            <a:rPr lang="en-US" altLang="zh-CN" sz="1300" b="0" i="1" dirty="0" smtClean="0">
                                              <a:solidFill>
                                                <a:schemeClr val="tx1"/>
                                              </a:solidFill>
                                              <a:latin typeface="Cambria Math" panose="02040503050406030204" pitchFamily="18" charset="0"/>
                                            </a:rPr>
                                          </m:ctrlPr>
                                        </m:dPr>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𝜃</m:t>
                                              </m:r>
                                            </m:e>
                                            <m:sub>
                                              <m:r>
                                                <a:rPr lang="en-US" altLang="zh-CN" sz="1300" b="0" i="1" dirty="0" smtClean="0">
                                                  <a:solidFill>
                                                    <a:schemeClr val="tx1"/>
                                                  </a:solidFill>
                                                  <a:latin typeface="Cambria Math" panose="02040503050406030204" pitchFamily="18" charset="0"/>
                                                </a:rPr>
                                                <m:t>𝑚</m:t>
                                              </m:r>
                                            </m:sub>
                                          </m:sSub>
                                          <m:r>
                                            <a:rPr lang="en-US" altLang="zh-CN" sz="1300" b="0" i="1" dirty="0" smtClean="0">
                                              <a:solidFill>
                                                <a:schemeClr val="tx1"/>
                                              </a:solidFill>
                                              <a:latin typeface="Cambria Math" panose="02040503050406030204" pitchFamily="18" charset="0"/>
                                            </a:rPr>
                                            <m:t>,</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𝜙</m:t>
                                              </m:r>
                                            </m:e>
                                            <m:sub>
                                              <m:r>
                                                <a:rPr lang="en-US" altLang="zh-CN" sz="1300" b="0" i="1" dirty="0" smtClean="0">
                                                  <a:solidFill>
                                                    <a:schemeClr val="tx1"/>
                                                  </a:solidFill>
                                                  <a:latin typeface="Cambria Math" panose="02040503050406030204" pitchFamily="18" charset="0"/>
                                                </a:rPr>
                                                <m:t>𝑚</m:t>
                                              </m:r>
                                            </m:sub>
                                          </m:sSub>
                                        </m:e>
                                      </m:d>
                                    </m:num>
                                    <m:den>
                                      <m:r>
                                        <a:rPr lang="en-US" altLang="zh-CN" sz="1300" i="1" dirty="0">
                                          <a:solidFill>
                                            <a:schemeClr val="tx1"/>
                                          </a:solidFill>
                                          <a:latin typeface="Cambria Math" panose="02040503050406030204" pitchFamily="18" charset="0"/>
                                        </a:rPr>
                                        <m:t>𝜕</m:t>
                                      </m:r>
                                      <m:d>
                                        <m:dPr>
                                          <m:ctrlPr>
                                            <a:rPr lang="en-US" altLang="zh-CN" sz="1300" i="1" dirty="0">
                                              <a:solidFill>
                                                <a:schemeClr val="tx1"/>
                                              </a:solidFill>
                                              <a:latin typeface="Cambria Math" panose="02040503050406030204" pitchFamily="18" charset="0"/>
                                            </a:rPr>
                                          </m:ctrlPr>
                                        </m:dPr>
                                        <m:e>
                                          <m:r>
                                            <a:rPr lang="en-US" altLang="zh-CN" sz="1300" b="0" i="1" dirty="0" smtClean="0">
                                              <a:solidFill>
                                                <a:schemeClr val="tx1"/>
                                              </a:solidFill>
                                              <a:latin typeface="Cambria Math" panose="02040503050406030204" pitchFamily="18" charset="0"/>
                                            </a:rPr>
                                            <m:t>𝜃</m:t>
                                          </m:r>
                                          <m:r>
                                            <a:rPr lang="en-US" altLang="zh-CN" sz="1300" i="1" dirty="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𝜙</m:t>
                                          </m:r>
                                        </m:e>
                                      </m:d>
                                    </m:den>
                                  </m:f>
                                </m:e>
                              </m:d>
                            </m:e>
                          </m:func>
                        </m:e>
                      </m:d>
                      <m:r>
                        <a:rPr lang="en-US" altLang="zh-CN" sz="1300" b="0" i="1" dirty="0" smtClean="0">
                          <a:solidFill>
                            <a:schemeClr val="tx1"/>
                          </a:solidFill>
                          <a:latin typeface="Cambria Math" panose="02040503050406030204" pitchFamily="18" charset="0"/>
                        </a:rPr>
                        <m:t>𝑑</m:t>
                      </m:r>
                      <m:r>
                        <a:rPr lang="en-US" altLang="zh-CN" sz="1300" b="0" i="1" dirty="0" smtClean="0">
                          <a:solidFill>
                            <a:schemeClr val="tx1"/>
                          </a:solidFill>
                          <a:latin typeface="Cambria Math" panose="02040503050406030204" pitchFamily="18" charset="0"/>
                        </a:rPr>
                        <m:t>𝜃</m:t>
                      </m:r>
                      <m:r>
                        <a:rPr lang="en-US" altLang="zh-CN" sz="1300" b="0" i="1" dirty="0" smtClean="0">
                          <a:solidFill>
                            <a:schemeClr val="tx1"/>
                          </a:solidFill>
                          <a:latin typeface="Cambria Math" panose="02040503050406030204" pitchFamily="18" charset="0"/>
                        </a:rPr>
                        <m:t>𝑑</m:t>
                      </m:r>
                      <m:r>
                        <a:rPr lang="en-US" altLang="zh-CN" sz="1300" b="0" i="1" dirty="0" smtClean="0">
                          <a:solidFill>
                            <a:schemeClr val="tx1"/>
                          </a:solidFill>
                          <a:latin typeface="Cambria Math" panose="02040503050406030204" pitchFamily="18" charset="0"/>
                        </a:rPr>
                        <m:t>𝜙</m:t>
                      </m:r>
                      <m:r>
                        <a:rPr lang="en-US" altLang="zh-CN" sz="1300" b="0" i="1" dirty="0" smtClean="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sin</m:t>
                          </m:r>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d>
                        <m:dPr>
                          <m:begChr m:val="|"/>
                          <m:endChr m:val="|"/>
                          <m:ctrlPr>
                            <a:rPr lang="en-US" altLang="zh-CN" sz="1300" i="1" dirty="0">
                              <a:solidFill>
                                <a:schemeClr val="tx1"/>
                              </a:solidFill>
                              <a:latin typeface="Cambria Math" panose="02040503050406030204" pitchFamily="18" charset="0"/>
                            </a:rPr>
                          </m:ctrlPr>
                        </m:dPr>
                        <m:e>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num>
                            <m:den>
                              <m:r>
                                <a:rPr lang="en-US" altLang="zh-CN" sz="1300" i="1" dirty="0">
                                  <a:solidFill>
                                    <a:schemeClr val="tx1"/>
                                  </a:solidFill>
                                  <a:latin typeface="Cambria Math" panose="02040503050406030204" pitchFamily="18" charset="0"/>
                                </a:rPr>
                                <m:t>𝜕𝜃</m:t>
                              </m:r>
                            </m:den>
                          </m:f>
                          <m:r>
                            <a:rPr lang="en-US" altLang="zh-CN" sz="1300" i="1" dirty="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𝜙</m:t>
                                  </m:r>
                                </m:e>
                                <m:sub>
                                  <m:r>
                                    <a:rPr lang="en-US" altLang="zh-CN" sz="1300" i="1" dirty="0">
                                      <a:solidFill>
                                        <a:schemeClr val="tx1"/>
                                      </a:solidFill>
                                      <a:latin typeface="Cambria Math" panose="02040503050406030204" pitchFamily="18" charset="0"/>
                                    </a:rPr>
                                    <m:t>𝑚</m:t>
                                  </m:r>
                                </m:sub>
                              </m:sSub>
                            </m:num>
                            <m:den>
                              <m:r>
                                <a:rPr lang="en-US" altLang="zh-CN" sz="1300" i="1" dirty="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𝜙</m:t>
                              </m:r>
                            </m:den>
                          </m:f>
                          <m:r>
                            <a:rPr lang="en-US" altLang="zh-CN" sz="1300" i="1" dirty="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num>
                            <m:den>
                              <m:r>
                                <a:rPr lang="en-US" altLang="zh-CN" sz="1300" i="1" dirty="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𝜙</m:t>
                              </m:r>
                            </m:den>
                          </m:f>
                          <m:r>
                            <a:rPr lang="en-US" altLang="zh-CN" sz="1300" i="1" dirty="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𝜙</m:t>
                                  </m:r>
                                </m:e>
                                <m:sub>
                                  <m:r>
                                    <a:rPr lang="en-US" altLang="zh-CN" sz="1300" i="1" dirty="0">
                                      <a:solidFill>
                                        <a:schemeClr val="tx1"/>
                                      </a:solidFill>
                                      <a:latin typeface="Cambria Math" panose="02040503050406030204" pitchFamily="18" charset="0"/>
                                    </a:rPr>
                                    <m:t>𝑚</m:t>
                                  </m:r>
                                </m:sub>
                              </m:sSub>
                            </m:num>
                            <m:den>
                              <m:r>
                                <a:rPr lang="en-US" altLang="zh-CN" sz="1300" i="1" dirty="0">
                                  <a:solidFill>
                                    <a:schemeClr val="tx1"/>
                                  </a:solidFill>
                                  <a:latin typeface="Cambria Math" panose="02040503050406030204" pitchFamily="18" charset="0"/>
                                </a:rPr>
                                <m:t>𝜕𝜃</m:t>
                              </m:r>
                            </m:den>
                          </m:f>
                        </m:e>
                      </m:d>
                      <m:r>
                        <a:rPr lang="en-US" altLang="zh-CN" sz="1300" i="1" dirty="0">
                          <a:solidFill>
                            <a:schemeClr val="tx1"/>
                          </a:solidFill>
                          <a:latin typeface="Cambria Math" panose="02040503050406030204" pitchFamily="18" charset="0"/>
                        </a:rPr>
                        <m:t>𝑑</m:t>
                      </m:r>
                      <m:r>
                        <a:rPr lang="en-US" altLang="zh-CN" sz="1300" i="1" dirty="0">
                          <a:solidFill>
                            <a:schemeClr val="tx1"/>
                          </a:solidFill>
                          <a:latin typeface="Cambria Math" panose="02040503050406030204" pitchFamily="18" charset="0"/>
                        </a:rPr>
                        <m:t>𝜃</m:t>
                      </m:r>
                      <m:r>
                        <a:rPr lang="en-US" altLang="zh-CN" sz="1300" i="1" dirty="0">
                          <a:solidFill>
                            <a:schemeClr val="tx1"/>
                          </a:solidFill>
                          <a:latin typeface="Cambria Math" panose="02040503050406030204" pitchFamily="18" charset="0"/>
                        </a:rPr>
                        <m:t>𝑑</m:t>
                      </m:r>
                      <m:r>
                        <a:rPr lang="en-US" altLang="zh-CN" sz="1300" i="1" dirty="0">
                          <a:solidFill>
                            <a:schemeClr val="tx1"/>
                          </a:solidFill>
                          <a:latin typeface="Cambria Math" panose="02040503050406030204" pitchFamily="18" charset="0"/>
                        </a:rPr>
                        <m:t>𝜙</m:t>
                      </m:r>
                    </m:oMath>
                  </m:oMathPara>
                </a14:m>
                <a:endParaRPr lang="en-US" altLang="zh-CN" sz="1300" i="1"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AFFFB46C-1C82-796B-48CA-1B4DF1AFDC53}"/>
                  </a:ext>
                </a:extLst>
              </p:cNvPr>
              <p:cNvSpPr>
                <a:spLocks noRot="1" noChangeAspect="1" noMove="1" noResize="1" noEditPoints="1" noAdjustHandles="1" noChangeArrowheads="1" noChangeShapeType="1" noTextEdit="1"/>
              </p:cNvSpPr>
              <p:nvPr/>
            </p:nvSpPr>
            <p:spPr>
              <a:xfrm>
                <a:off x="224803" y="1144044"/>
                <a:ext cx="7170668" cy="5402806"/>
              </a:xfrm>
              <a:prstGeom prst="rect">
                <a:avLst/>
              </a:prstGeom>
              <a:blipFill>
                <a:blip r:embed="rId3"/>
                <a:stretch>
                  <a:fillRect/>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3B648B10-F206-A8A5-C9EE-7F196E3FF568}"/>
              </a:ext>
            </a:extLst>
          </p:cNvPr>
          <p:cNvSpPr/>
          <p:nvPr/>
        </p:nvSpPr>
        <p:spPr>
          <a:xfrm>
            <a:off x="7797057" y="1735116"/>
            <a:ext cx="4320195" cy="25988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7BC2CC43-9C9C-B296-6154-0087F7A041EB}"/>
              </a:ext>
            </a:extLst>
          </p:cNvPr>
          <p:cNvSpPr/>
          <p:nvPr/>
        </p:nvSpPr>
        <p:spPr>
          <a:xfrm>
            <a:off x="7647003" y="1563666"/>
            <a:ext cx="4320195" cy="259889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a:extLst>
              <a:ext uri="{FF2B5EF4-FFF2-40B4-BE49-F238E27FC236}">
                <a16:creationId xmlns:a16="http://schemas.microsoft.com/office/drawing/2014/main" id="{F2FE177B-4F37-8B1D-05BD-C8C1CA59FDCD}"/>
              </a:ext>
            </a:extLst>
          </p:cNvPr>
          <p:cNvGrpSpPr/>
          <p:nvPr/>
        </p:nvGrpSpPr>
        <p:grpSpPr>
          <a:xfrm>
            <a:off x="8174548" y="1792531"/>
            <a:ext cx="3648740" cy="2224104"/>
            <a:chOff x="8174548" y="1792531"/>
            <a:chExt cx="3648740" cy="2224104"/>
          </a:xfrm>
        </p:grpSpPr>
        <p:sp>
          <p:nvSpPr>
            <p:cNvPr id="10" name="任意多边形: 形状 9">
              <a:extLst>
                <a:ext uri="{FF2B5EF4-FFF2-40B4-BE49-F238E27FC236}">
                  <a16:creationId xmlns:a16="http://schemas.microsoft.com/office/drawing/2014/main" id="{5BC278D2-D5A4-50CE-5519-6C17958D3ABE}"/>
                </a:ext>
              </a:extLst>
            </p:cNvPr>
            <p:cNvSpPr/>
            <p:nvPr/>
          </p:nvSpPr>
          <p:spPr>
            <a:xfrm>
              <a:off x="10263718" y="2609040"/>
              <a:ext cx="84176" cy="31603"/>
            </a:xfrm>
            <a:custGeom>
              <a:avLst/>
              <a:gdLst>
                <a:gd name="connsiteX0" fmla="*/ 0 w 86783"/>
                <a:gd name="connsiteY0" fmla="*/ 12808 h 19158"/>
                <a:gd name="connsiteX1" fmla="*/ 50800 w 86783"/>
                <a:gd name="connsiteY1" fmla="*/ 108 h 19158"/>
                <a:gd name="connsiteX2" fmla="*/ 86783 w 86783"/>
                <a:gd name="connsiteY2" fmla="*/ 19158 h 19158"/>
                <a:gd name="connsiteX0" fmla="*/ 0 w 86783"/>
                <a:gd name="connsiteY0" fmla="*/ 6893 h 13243"/>
                <a:gd name="connsiteX1" fmla="*/ 46436 w 86783"/>
                <a:gd name="connsiteY1" fmla="*/ 402 h 13243"/>
                <a:gd name="connsiteX2" fmla="*/ 86783 w 86783"/>
                <a:gd name="connsiteY2" fmla="*/ 13243 h 13243"/>
              </a:gdLst>
              <a:ahLst/>
              <a:cxnLst>
                <a:cxn ang="0">
                  <a:pos x="connsiteX0" y="connsiteY0"/>
                </a:cxn>
                <a:cxn ang="0">
                  <a:pos x="connsiteX1" y="connsiteY1"/>
                </a:cxn>
                <a:cxn ang="0">
                  <a:pos x="connsiteX2" y="connsiteY2"/>
                </a:cxn>
              </a:cxnLst>
              <a:rect l="l" t="t" r="r" b="b"/>
              <a:pathLst>
                <a:path w="86783" h="13243">
                  <a:moveTo>
                    <a:pt x="0" y="6893"/>
                  </a:moveTo>
                  <a:cubicBezTo>
                    <a:pt x="18168" y="14"/>
                    <a:pt x="31972" y="-656"/>
                    <a:pt x="46436" y="402"/>
                  </a:cubicBezTo>
                  <a:cubicBezTo>
                    <a:pt x="60900" y="1460"/>
                    <a:pt x="79375" y="1954"/>
                    <a:pt x="86783" y="1324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id="{07BE2B7C-5F67-6A8E-B7CC-B575C7CD1403}"/>
                </a:ext>
              </a:extLst>
            </p:cNvPr>
            <p:cNvSpPr/>
            <p:nvPr/>
          </p:nvSpPr>
          <p:spPr>
            <a:xfrm>
              <a:off x="9842500" y="3371562"/>
              <a:ext cx="154517" cy="48971"/>
            </a:xfrm>
            <a:custGeom>
              <a:avLst/>
              <a:gdLst>
                <a:gd name="connsiteX0" fmla="*/ 0 w 154517"/>
                <a:gd name="connsiteY0" fmla="*/ 10871 h 48971"/>
                <a:gd name="connsiteX1" fmla="*/ 84667 w 154517"/>
                <a:gd name="connsiteY1" fmla="*/ 2405 h 48971"/>
                <a:gd name="connsiteX2" fmla="*/ 154517 w 154517"/>
                <a:gd name="connsiteY2" fmla="*/ 48971 h 48971"/>
              </a:gdLst>
              <a:ahLst/>
              <a:cxnLst>
                <a:cxn ang="0">
                  <a:pos x="connsiteX0" y="connsiteY0"/>
                </a:cxn>
                <a:cxn ang="0">
                  <a:pos x="connsiteX1" y="connsiteY1"/>
                </a:cxn>
                <a:cxn ang="0">
                  <a:pos x="connsiteX2" y="connsiteY2"/>
                </a:cxn>
              </a:cxnLst>
              <a:rect l="l" t="t" r="r" b="b"/>
              <a:pathLst>
                <a:path w="154517" h="48971">
                  <a:moveTo>
                    <a:pt x="0" y="10871"/>
                  </a:moveTo>
                  <a:cubicBezTo>
                    <a:pt x="29457" y="3463"/>
                    <a:pt x="58914" y="-3945"/>
                    <a:pt x="84667" y="2405"/>
                  </a:cubicBezTo>
                  <a:cubicBezTo>
                    <a:pt x="110420" y="8755"/>
                    <a:pt x="132468" y="28863"/>
                    <a:pt x="154517" y="4897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a:extLst>
                <a:ext uri="{FF2B5EF4-FFF2-40B4-BE49-F238E27FC236}">
                  <a16:creationId xmlns:a16="http://schemas.microsoft.com/office/drawing/2014/main" id="{DF0009DE-865E-AD18-722C-C89A78188C94}"/>
                </a:ext>
              </a:extLst>
            </p:cNvPr>
            <p:cNvCxnSpPr>
              <a:cxnSpLocks/>
            </p:cNvCxnSpPr>
            <p:nvPr/>
          </p:nvCxnSpPr>
          <p:spPr>
            <a:xfrm flipV="1">
              <a:off x="8176689" y="3695168"/>
              <a:ext cx="3320413" cy="2257"/>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54BFA2F1-55A6-C57F-61F1-5D185EEEF675}"/>
                </a:ext>
              </a:extLst>
            </p:cNvPr>
            <p:cNvCxnSpPr>
              <a:cxnSpLocks/>
            </p:cNvCxnSpPr>
            <p:nvPr/>
          </p:nvCxnSpPr>
          <p:spPr>
            <a:xfrm flipV="1">
              <a:off x="9837460" y="1986770"/>
              <a:ext cx="0" cy="170511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任意多边形: 形状 15">
              <a:extLst>
                <a:ext uri="{FF2B5EF4-FFF2-40B4-BE49-F238E27FC236}">
                  <a16:creationId xmlns:a16="http://schemas.microsoft.com/office/drawing/2014/main" id="{03FA9B5D-9BFC-363E-E6A3-7A35D4965DA6}"/>
                </a:ext>
              </a:extLst>
            </p:cNvPr>
            <p:cNvSpPr/>
            <p:nvPr/>
          </p:nvSpPr>
          <p:spPr>
            <a:xfrm>
              <a:off x="8436400" y="3007269"/>
              <a:ext cx="2800128" cy="690099"/>
            </a:xfrm>
            <a:custGeom>
              <a:avLst/>
              <a:gdLst>
                <a:gd name="connsiteX0" fmla="*/ 58251 w 1325700"/>
                <a:gd name="connsiteY0" fmla="*/ 481345 h 481345"/>
                <a:gd name="connsiteX1" fmla="*/ 58251 w 1325700"/>
                <a:gd name="connsiteY1" fmla="*/ 58012 h 481345"/>
                <a:gd name="connsiteX2" fmla="*/ 663617 w 1325700"/>
                <a:gd name="connsiteY2" fmla="*/ 32612 h 481345"/>
                <a:gd name="connsiteX3" fmla="*/ 1294384 w 1325700"/>
                <a:gd name="connsiteY3" fmla="*/ 32612 h 481345"/>
                <a:gd name="connsiteX4" fmla="*/ 1268984 w 1325700"/>
                <a:gd name="connsiteY4" fmla="*/ 472878 h 481345"/>
                <a:gd name="connsiteX0" fmla="*/ 58251 w 1268984"/>
                <a:gd name="connsiteY0" fmla="*/ 463413 h 463413"/>
                <a:gd name="connsiteX1" fmla="*/ 58251 w 1268984"/>
                <a:gd name="connsiteY1" fmla="*/ 40080 h 463413"/>
                <a:gd name="connsiteX2" fmla="*/ 663617 w 1268984"/>
                <a:gd name="connsiteY2" fmla="*/ 14680 h 463413"/>
                <a:gd name="connsiteX3" fmla="*/ 1132459 w 1268984"/>
                <a:gd name="connsiteY3" fmla="*/ 179780 h 463413"/>
                <a:gd name="connsiteX4" fmla="*/ 1268984 w 1268984"/>
                <a:gd name="connsiteY4" fmla="*/ 454946 h 463413"/>
                <a:gd name="connsiteX0" fmla="*/ 58251 w 1269055"/>
                <a:gd name="connsiteY0" fmla="*/ 463413 h 463413"/>
                <a:gd name="connsiteX1" fmla="*/ 58251 w 1269055"/>
                <a:gd name="connsiteY1" fmla="*/ 40080 h 463413"/>
                <a:gd name="connsiteX2" fmla="*/ 663617 w 1269055"/>
                <a:gd name="connsiteY2" fmla="*/ 14680 h 463413"/>
                <a:gd name="connsiteX3" fmla="*/ 1132459 w 1269055"/>
                <a:gd name="connsiteY3" fmla="*/ 179780 h 463413"/>
                <a:gd name="connsiteX4" fmla="*/ 1268984 w 1269055"/>
                <a:gd name="connsiteY4" fmla="*/ 454946 h 463413"/>
                <a:gd name="connsiteX0" fmla="*/ 58251 w 1269038"/>
                <a:gd name="connsiteY0" fmla="*/ 463413 h 463413"/>
                <a:gd name="connsiteX1" fmla="*/ 58251 w 1269038"/>
                <a:gd name="connsiteY1" fmla="*/ 40080 h 463413"/>
                <a:gd name="connsiteX2" fmla="*/ 663617 w 1269038"/>
                <a:gd name="connsiteY2" fmla="*/ 14680 h 463413"/>
                <a:gd name="connsiteX3" fmla="*/ 1132459 w 1269038"/>
                <a:gd name="connsiteY3" fmla="*/ 179780 h 463413"/>
                <a:gd name="connsiteX4" fmla="*/ 1268984 w 1269038"/>
                <a:gd name="connsiteY4" fmla="*/ 454946 h 463413"/>
                <a:gd name="connsiteX0" fmla="*/ 14055 w 1224842"/>
                <a:gd name="connsiteY0" fmla="*/ 448733 h 448733"/>
                <a:gd name="connsiteX1" fmla="*/ 158518 w 1224842"/>
                <a:gd name="connsiteY1" fmla="*/ 163512 h 448733"/>
                <a:gd name="connsiteX2" fmla="*/ 619421 w 1224842"/>
                <a:gd name="connsiteY2" fmla="*/ 0 h 448733"/>
                <a:gd name="connsiteX3" fmla="*/ 1088263 w 1224842"/>
                <a:gd name="connsiteY3" fmla="*/ 165100 h 448733"/>
                <a:gd name="connsiteX4" fmla="*/ 1224788 w 1224842"/>
                <a:gd name="connsiteY4" fmla="*/ 440266 h 448733"/>
                <a:gd name="connsiteX0" fmla="*/ 11238 w 1222025"/>
                <a:gd name="connsiteY0" fmla="*/ 448733 h 448733"/>
                <a:gd name="connsiteX1" fmla="*/ 155701 w 1222025"/>
                <a:gd name="connsiteY1" fmla="*/ 163512 h 448733"/>
                <a:gd name="connsiteX2" fmla="*/ 616604 w 1222025"/>
                <a:gd name="connsiteY2" fmla="*/ 0 h 448733"/>
                <a:gd name="connsiteX3" fmla="*/ 1085446 w 1222025"/>
                <a:gd name="connsiteY3" fmla="*/ 165100 h 448733"/>
                <a:gd name="connsiteX4" fmla="*/ 1221971 w 1222025"/>
                <a:gd name="connsiteY4" fmla="*/ 440266 h 448733"/>
                <a:gd name="connsiteX0" fmla="*/ 14 w 1210801"/>
                <a:gd name="connsiteY0" fmla="*/ 448733 h 448733"/>
                <a:gd name="connsiteX1" fmla="*/ 144477 w 1210801"/>
                <a:gd name="connsiteY1" fmla="*/ 163512 h 448733"/>
                <a:gd name="connsiteX2" fmla="*/ 605380 w 1210801"/>
                <a:gd name="connsiteY2" fmla="*/ 0 h 448733"/>
                <a:gd name="connsiteX3" fmla="*/ 1074222 w 1210801"/>
                <a:gd name="connsiteY3" fmla="*/ 165100 h 448733"/>
                <a:gd name="connsiteX4" fmla="*/ 1210747 w 1210801"/>
                <a:gd name="connsiteY4" fmla="*/ 440266 h 448733"/>
                <a:gd name="connsiteX0" fmla="*/ 15 w 1210802"/>
                <a:gd name="connsiteY0" fmla="*/ 448733 h 448733"/>
                <a:gd name="connsiteX1" fmla="*/ 144478 w 1210802"/>
                <a:gd name="connsiteY1" fmla="*/ 163512 h 448733"/>
                <a:gd name="connsiteX2" fmla="*/ 605381 w 1210802"/>
                <a:gd name="connsiteY2" fmla="*/ 0 h 448733"/>
                <a:gd name="connsiteX3" fmla="*/ 1074223 w 1210802"/>
                <a:gd name="connsiteY3" fmla="*/ 165100 h 448733"/>
                <a:gd name="connsiteX4" fmla="*/ 1210748 w 1210802"/>
                <a:gd name="connsiteY4" fmla="*/ 440266 h 448733"/>
                <a:gd name="connsiteX0" fmla="*/ 0 w 1210787"/>
                <a:gd name="connsiteY0" fmla="*/ 448733 h 448733"/>
                <a:gd name="connsiteX1" fmla="*/ 144463 w 1210787"/>
                <a:gd name="connsiteY1" fmla="*/ 163512 h 448733"/>
                <a:gd name="connsiteX2" fmla="*/ 605366 w 1210787"/>
                <a:gd name="connsiteY2" fmla="*/ 0 h 448733"/>
                <a:gd name="connsiteX3" fmla="*/ 1074208 w 1210787"/>
                <a:gd name="connsiteY3" fmla="*/ 165100 h 448733"/>
                <a:gd name="connsiteX4" fmla="*/ 1210733 w 1210787"/>
                <a:gd name="connsiteY4" fmla="*/ 440266 h 448733"/>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2373"/>
                <a:gd name="connsiteY0" fmla="*/ 440795 h 445028"/>
                <a:gd name="connsiteX1" fmla="*/ 144463 w 1212373"/>
                <a:gd name="connsiteY1" fmla="*/ 155574 h 445028"/>
                <a:gd name="connsiteX2" fmla="*/ 606954 w 1212373"/>
                <a:gd name="connsiteY2" fmla="*/ 0 h 445028"/>
                <a:gd name="connsiteX3" fmla="*/ 1074208 w 1212373"/>
                <a:gd name="connsiteY3" fmla="*/ 157162 h 445028"/>
                <a:gd name="connsiteX4" fmla="*/ 1212321 w 1212373"/>
                <a:gd name="connsiteY4" fmla="*/ 445028 h 445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373" h="445028">
                  <a:moveTo>
                    <a:pt x="0" y="440795"/>
                  </a:moveTo>
                  <a:cubicBezTo>
                    <a:pt x="25753" y="272873"/>
                    <a:pt x="71879" y="219515"/>
                    <a:pt x="144463" y="155574"/>
                  </a:cubicBezTo>
                  <a:cubicBezTo>
                    <a:pt x="217047" y="91633"/>
                    <a:pt x="403049" y="4233"/>
                    <a:pt x="606954" y="0"/>
                  </a:cubicBezTo>
                  <a:cubicBezTo>
                    <a:pt x="817210" y="0"/>
                    <a:pt x="973313" y="83784"/>
                    <a:pt x="1074208" y="157162"/>
                  </a:cubicBezTo>
                  <a:cubicBezTo>
                    <a:pt x="1162403" y="230540"/>
                    <a:pt x="1214261" y="371122"/>
                    <a:pt x="1212321" y="445028"/>
                  </a:cubicBezTo>
                </a:path>
              </a:pathLst>
            </a:cu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D50598AA-B5B6-AE2F-9C7D-710818A8E92E}"/>
                    </a:ext>
                  </a:extLst>
                </p:cNvPr>
                <p:cNvSpPr txBox="1"/>
                <p:nvPr/>
              </p:nvSpPr>
              <p:spPr>
                <a:xfrm>
                  <a:off x="11423630" y="3589472"/>
                  <a:ext cx="399658" cy="3829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𝑥</m:t>
                        </m:r>
                      </m:oMath>
                    </m:oMathPara>
                  </a14:m>
                  <a:endParaRPr lang="zh-CN" altLang="en-US" dirty="0"/>
                </a:p>
              </p:txBody>
            </p:sp>
          </mc:Choice>
          <mc:Fallback xmlns="">
            <p:sp>
              <p:nvSpPr>
                <p:cNvPr id="17" name="文本框 16">
                  <a:extLst>
                    <a:ext uri="{FF2B5EF4-FFF2-40B4-BE49-F238E27FC236}">
                      <a16:creationId xmlns:a16="http://schemas.microsoft.com/office/drawing/2014/main" id="{D50598AA-B5B6-AE2F-9C7D-710818A8E92E}"/>
                    </a:ext>
                  </a:extLst>
                </p:cNvPr>
                <p:cNvSpPr txBox="1">
                  <a:spLocks noRot="1" noChangeAspect="1" noMove="1" noResize="1" noEditPoints="1" noAdjustHandles="1" noChangeArrowheads="1" noChangeShapeType="1" noTextEdit="1"/>
                </p:cNvSpPr>
                <p:nvPr/>
              </p:nvSpPr>
              <p:spPr>
                <a:xfrm>
                  <a:off x="11423630" y="3589472"/>
                  <a:ext cx="399658" cy="38290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08E5DD9F-D8E3-4ACB-D50A-B1A97390CCC7}"/>
                    </a:ext>
                  </a:extLst>
                </p:cNvPr>
                <p:cNvSpPr txBox="1"/>
                <p:nvPr/>
              </p:nvSpPr>
              <p:spPr>
                <a:xfrm>
                  <a:off x="9406528" y="1792531"/>
                  <a:ext cx="44678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𝑦</m:t>
                        </m:r>
                      </m:oMath>
                    </m:oMathPara>
                  </a14:m>
                  <a:endParaRPr lang="zh-CN" altLang="en-US" dirty="0"/>
                </a:p>
              </p:txBody>
            </p:sp>
          </mc:Choice>
          <mc:Fallback xmlns="">
            <p:sp>
              <p:nvSpPr>
                <p:cNvPr id="18" name="文本框 17">
                  <a:extLst>
                    <a:ext uri="{FF2B5EF4-FFF2-40B4-BE49-F238E27FC236}">
                      <a16:creationId xmlns:a16="http://schemas.microsoft.com/office/drawing/2014/main" id="{08E5DD9F-D8E3-4ACB-D50A-B1A97390CCC7}"/>
                    </a:ext>
                  </a:extLst>
                </p:cNvPr>
                <p:cNvSpPr txBox="1">
                  <a:spLocks noRot="1" noChangeAspect="1" noMove="1" noResize="1" noEditPoints="1" noAdjustHandles="1" noChangeArrowheads="1" noChangeShapeType="1" noTextEdit="1"/>
                </p:cNvSpPr>
                <p:nvPr/>
              </p:nvSpPr>
              <p:spPr>
                <a:xfrm>
                  <a:off x="9406528" y="1792531"/>
                  <a:ext cx="446781" cy="369332"/>
                </a:xfrm>
                <a:prstGeom prst="rect">
                  <a:avLst/>
                </a:prstGeom>
                <a:blipFill>
                  <a:blip r:embed="rId5"/>
                  <a:stretch>
                    <a:fillRect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33868B21-024C-DBA2-3B02-0A9D34A16805}"/>
                    </a:ext>
                  </a:extLst>
                </p:cNvPr>
                <p:cNvSpPr txBox="1"/>
                <p:nvPr/>
              </p:nvSpPr>
              <p:spPr>
                <a:xfrm>
                  <a:off x="11133715" y="3646471"/>
                  <a:ext cx="289916" cy="37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1</m:t>
                        </m:r>
                      </m:oMath>
                    </m:oMathPara>
                  </a14:m>
                  <a:endParaRPr lang="zh-CN" altLang="en-US" dirty="0"/>
                </a:p>
              </p:txBody>
            </p:sp>
          </mc:Choice>
          <mc:Fallback xmlns="">
            <p:sp>
              <p:nvSpPr>
                <p:cNvPr id="19" name="文本框 18">
                  <a:extLst>
                    <a:ext uri="{FF2B5EF4-FFF2-40B4-BE49-F238E27FC236}">
                      <a16:creationId xmlns:a16="http://schemas.microsoft.com/office/drawing/2014/main" id="{33868B21-024C-DBA2-3B02-0A9D34A16805}"/>
                    </a:ext>
                  </a:extLst>
                </p:cNvPr>
                <p:cNvSpPr txBox="1">
                  <a:spLocks noRot="1" noChangeAspect="1" noMove="1" noResize="1" noEditPoints="1" noAdjustHandles="1" noChangeArrowheads="1" noChangeShapeType="1" noTextEdit="1"/>
                </p:cNvSpPr>
                <p:nvPr/>
              </p:nvSpPr>
              <p:spPr>
                <a:xfrm>
                  <a:off x="11133715" y="3646471"/>
                  <a:ext cx="289916" cy="370164"/>
                </a:xfrm>
                <a:prstGeom prst="rect">
                  <a:avLst/>
                </a:prstGeom>
                <a:blipFill>
                  <a:blip r:embed="rId6"/>
                  <a:stretch>
                    <a:fillRect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ABBEDFE1-58CA-E507-B60B-DDAFB573EE7F}"/>
                    </a:ext>
                  </a:extLst>
                </p:cNvPr>
                <p:cNvSpPr txBox="1"/>
                <p:nvPr/>
              </p:nvSpPr>
              <p:spPr>
                <a:xfrm>
                  <a:off x="8174548" y="3627326"/>
                  <a:ext cx="576988" cy="37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m:t>
                        </m:r>
                        <m:r>
                          <a:rPr lang="en-US" altLang="zh-CN" b="0" i="1" dirty="0" smtClean="0">
                            <a:latin typeface="Cambria Math" panose="02040503050406030204" pitchFamily="18" charset="0"/>
                          </a:rPr>
                          <m:t>1</m:t>
                        </m:r>
                      </m:oMath>
                    </m:oMathPara>
                  </a14:m>
                  <a:endParaRPr lang="zh-CN" altLang="en-US" dirty="0"/>
                </a:p>
              </p:txBody>
            </p:sp>
          </mc:Choice>
          <mc:Fallback xmlns="">
            <p:sp>
              <p:nvSpPr>
                <p:cNvPr id="24" name="文本框 23">
                  <a:extLst>
                    <a:ext uri="{FF2B5EF4-FFF2-40B4-BE49-F238E27FC236}">
                      <a16:creationId xmlns:a16="http://schemas.microsoft.com/office/drawing/2014/main" id="{ABBEDFE1-58CA-E507-B60B-DDAFB573EE7F}"/>
                    </a:ext>
                  </a:extLst>
                </p:cNvPr>
                <p:cNvSpPr txBox="1">
                  <a:spLocks noRot="1" noChangeAspect="1" noMove="1" noResize="1" noEditPoints="1" noAdjustHandles="1" noChangeArrowheads="1" noChangeShapeType="1" noTextEdit="1"/>
                </p:cNvSpPr>
                <p:nvPr/>
              </p:nvSpPr>
              <p:spPr>
                <a:xfrm>
                  <a:off x="8174548" y="3627326"/>
                  <a:ext cx="576988" cy="37016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2DA4BC94-8643-CA71-2ACA-7123FCF622F8}"/>
                    </a:ext>
                  </a:extLst>
                </p:cNvPr>
                <p:cNvSpPr txBox="1"/>
                <p:nvPr/>
              </p:nvSpPr>
              <p:spPr>
                <a:xfrm>
                  <a:off x="9403904" y="2593725"/>
                  <a:ext cx="550208" cy="4533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𝛼</m:t>
                        </m:r>
                      </m:oMath>
                    </m:oMathPara>
                  </a14:m>
                  <a:endParaRPr lang="zh-CN" altLang="en-US" dirty="0"/>
                </a:p>
              </p:txBody>
            </p:sp>
          </mc:Choice>
          <mc:Fallback xmlns="">
            <p:sp>
              <p:nvSpPr>
                <p:cNvPr id="25" name="文本框 24">
                  <a:extLst>
                    <a:ext uri="{FF2B5EF4-FFF2-40B4-BE49-F238E27FC236}">
                      <a16:creationId xmlns:a16="http://schemas.microsoft.com/office/drawing/2014/main" id="{2DA4BC94-8643-CA71-2ACA-7123FCF622F8}"/>
                    </a:ext>
                  </a:extLst>
                </p:cNvPr>
                <p:cNvSpPr txBox="1">
                  <a:spLocks noRot="1" noChangeAspect="1" noMove="1" noResize="1" noEditPoints="1" noAdjustHandles="1" noChangeArrowheads="1" noChangeShapeType="1" noTextEdit="1"/>
                </p:cNvSpPr>
                <p:nvPr/>
              </p:nvSpPr>
              <p:spPr>
                <a:xfrm>
                  <a:off x="9403904" y="2593725"/>
                  <a:ext cx="550208" cy="453337"/>
                </a:xfrm>
                <a:prstGeom prst="rect">
                  <a:avLst/>
                </a:prstGeom>
                <a:blipFill>
                  <a:blip r:embed="rId8"/>
                  <a:stretch>
                    <a:fillRect/>
                  </a:stretch>
                </a:blipFill>
              </p:spPr>
              <p:txBody>
                <a:bodyPr/>
                <a:lstStyle/>
                <a:p>
                  <a:r>
                    <a:rPr lang="zh-CN" altLang="en-US">
                      <a:noFill/>
                    </a:rPr>
                    <a:t> </a:t>
                  </a:r>
                </a:p>
              </p:txBody>
            </p:sp>
          </mc:Fallback>
        </mc:AlternateContent>
        <p:cxnSp>
          <p:nvCxnSpPr>
            <p:cNvPr id="28" name="直接箭头连接符 27">
              <a:extLst>
                <a:ext uri="{FF2B5EF4-FFF2-40B4-BE49-F238E27FC236}">
                  <a16:creationId xmlns:a16="http://schemas.microsoft.com/office/drawing/2014/main" id="{51B743FF-53C5-7ECA-3BD8-919B938E31AF}"/>
                </a:ext>
              </a:extLst>
            </p:cNvPr>
            <p:cNvCxnSpPr>
              <a:cxnSpLocks/>
            </p:cNvCxnSpPr>
            <p:nvPr/>
          </p:nvCxnSpPr>
          <p:spPr>
            <a:xfrm flipV="1">
              <a:off x="9826297" y="3029907"/>
              <a:ext cx="443770" cy="661972"/>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692462A9-3915-5FC2-FC46-D7E4164CAF53}"/>
                </a:ext>
              </a:extLst>
            </p:cNvPr>
            <p:cNvCxnSpPr>
              <a:cxnSpLocks/>
            </p:cNvCxnSpPr>
            <p:nvPr/>
          </p:nvCxnSpPr>
          <p:spPr>
            <a:xfrm flipV="1">
              <a:off x="10261550" y="2339897"/>
              <a:ext cx="160979" cy="698454"/>
            </a:xfrm>
            <a:prstGeom prst="straightConnector1">
              <a:avLst/>
            </a:prstGeom>
            <a:ln w="19050">
              <a:solidFill>
                <a:srgbClr val="16560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A1BA17D9-FA23-D429-0CF4-68F7947F7817}"/>
                    </a:ext>
                  </a:extLst>
                </p:cNvPr>
                <p:cNvSpPr txBox="1"/>
                <p:nvPr/>
              </p:nvSpPr>
              <p:spPr>
                <a:xfrm>
                  <a:off x="10096149" y="3067778"/>
                  <a:ext cx="4126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𝒓</m:t>
                        </m:r>
                      </m:oMath>
                    </m:oMathPara>
                  </a14:m>
                  <a:endParaRPr lang="zh-CN" altLang="en-US" b="1" dirty="0"/>
                </a:p>
              </p:txBody>
            </p:sp>
          </mc:Choice>
          <mc:Fallback xmlns="">
            <p:sp>
              <p:nvSpPr>
                <p:cNvPr id="30" name="文本框 29">
                  <a:extLst>
                    <a:ext uri="{FF2B5EF4-FFF2-40B4-BE49-F238E27FC236}">
                      <a16:creationId xmlns:a16="http://schemas.microsoft.com/office/drawing/2014/main" id="{A1BA17D9-FA23-D429-0CF4-68F7947F7817}"/>
                    </a:ext>
                  </a:extLst>
                </p:cNvPr>
                <p:cNvSpPr txBox="1">
                  <a:spLocks noRot="1" noChangeAspect="1" noMove="1" noResize="1" noEditPoints="1" noAdjustHandles="1" noChangeArrowheads="1" noChangeShapeType="1" noTextEdit="1"/>
                </p:cNvSpPr>
                <p:nvPr/>
              </p:nvSpPr>
              <p:spPr>
                <a:xfrm>
                  <a:off x="10096149" y="3067778"/>
                  <a:ext cx="412642"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91EBB7E9-158B-4D14-0FFF-55223CCD85E3}"/>
                    </a:ext>
                  </a:extLst>
                </p:cNvPr>
                <p:cNvSpPr txBox="1"/>
                <p:nvPr/>
              </p:nvSpPr>
              <p:spPr>
                <a:xfrm>
                  <a:off x="10332085" y="2317869"/>
                  <a:ext cx="4126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𝒎</m:t>
                        </m:r>
                      </m:oMath>
                    </m:oMathPara>
                  </a14:m>
                  <a:endParaRPr lang="zh-CN" altLang="en-US" b="1" dirty="0"/>
                </a:p>
              </p:txBody>
            </p:sp>
          </mc:Choice>
          <mc:Fallback xmlns="">
            <p:sp>
              <p:nvSpPr>
                <p:cNvPr id="32" name="文本框 31">
                  <a:extLst>
                    <a:ext uri="{FF2B5EF4-FFF2-40B4-BE49-F238E27FC236}">
                      <a16:creationId xmlns:a16="http://schemas.microsoft.com/office/drawing/2014/main" id="{91EBB7E9-158B-4D14-0FFF-55223CCD85E3}"/>
                    </a:ext>
                  </a:extLst>
                </p:cNvPr>
                <p:cNvSpPr txBox="1">
                  <a:spLocks noRot="1" noChangeAspect="1" noMove="1" noResize="1" noEditPoints="1" noAdjustHandles="1" noChangeArrowheads="1" noChangeShapeType="1" noTextEdit="1"/>
                </p:cNvSpPr>
                <p:nvPr/>
              </p:nvSpPr>
              <p:spPr>
                <a:xfrm>
                  <a:off x="10332085" y="2317869"/>
                  <a:ext cx="412642" cy="369332"/>
                </a:xfrm>
                <a:prstGeom prst="rect">
                  <a:avLst/>
                </a:prstGeom>
                <a:blipFill>
                  <a:blip r:embed="rId10"/>
                  <a:stretch>
                    <a:fillRect/>
                  </a:stretch>
                </a:blipFill>
              </p:spPr>
              <p:txBody>
                <a:bodyPr/>
                <a:lstStyle/>
                <a:p>
                  <a:r>
                    <a:rPr lang="zh-CN" altLang="en-US">
                      <a:noFill/>
                    </a:rPr>
                    <a:t> </a:t>
                  </a:r>
                </a:p>
              </p:txBody>
            </p:sp>
          </mc:Fallback>
        </mc:AlternateContent>
        <p:cxnSp>
          <p:nvCxnSpPr>
            <p:cNvPr id="33" name="直接箭头连接符 32">
              <a:extLst>
                <a:ext uri="{FF2B5EF4-FFF2-40B4-BE49-F238E27FC236}">
                  <a16:creationId xmlns:a16="http://schemas.microsoft.com/office/drawing/2014/main" id="{C9806D8C-C101-7AAD-141A-AC9757A7611B}"/>
                </a:ext>
              </a:extLst>
            </p:cNvPr>
            <p:cNvCxnSpPr>
              <a:cxnSpLocks/>
            </p:cNvCxnSpPr>
            <p:nvPr/>
          </p:nvCxnSpPr>
          <p:spPr>
            <a:xfrm flipV="1">
              <a:off x="10255640" y="2317869"/>
              <a:ext cx="0" cy="749909"/>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F696AA62-AFDA-0204-2F15-CAE52AC56CCA}"/>
                    </a:ext>
                  </a:extLst>
                </p:cNvPr>
                <p:cNvSpPr txBox="1"/>
                <p:nvPr/>
              </p:nvSpPr>
              <p:spPr>
                <a:xfrm>
                  <a:off x="9750746" y="3039320"/>
                  <a:ext cx="4126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𝜃</m:t>
                        </m:r>
                      </m:oMath>
                    </m:oMathPara>
                  </a14:m>
                  <a:endParaRPr lang="zh-CN" altLang="en-US" sz="1400" dirty="0"/>
                </a:p>
              </p:txBody>
            </p:sp>
          </mc:Choice>
          <mc:Fallback xmlns="">
            <p:sp>
              <p:nvSpPr>
                <p:cNvPr id="34" name="文本框 33">
                  <a:extLst>
                    <a:ext uri="{FF2B5EF4-FFF2-40B4-BE49-F238E27FC236}">
                      <a16:creationId xmlns:a16="http://schemas.microsoft.com/office/drawing/2014/main" id="{F696AA62-AFDA-0204-2F15-CAE52AC56CCA}"/>
                    </a:ext>
                  </a:extLst>
                </p:cNvPr>
                <p:cNvSpPr txBox="1">
                  <a:spLocks noRot="1" noChangeAspect="1" noMove="1" noResize="1" noEditPoints="1" noAdjustHandles="1" noChangeArrowheads="1" noChangeShapeType="1" noTextEdit="1"/>
                </p:cNvSpPr>
                <p:nvPr/>
              </p:nvSpPr>
              <p:spPr>
                <a:xfrm>
                  <a:off x="9750746" y="3039320"/>
                  <a:ext cx="412642" cy="307777"/>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C04A899C-2D27-85B8-8A18-B2F6327B1685}"/>
                    </a:ext>
                  </a:extLst>
                </p:cNvPr>
                <p:cNvSpPr txBox="1"/>
                <p:nvPr/>
              </p:nvSpPr>
              <p:spPr>
                <a:xfrm>
                  <a:off x="10271017" y="1872502"/>
                  <a:ext cx="4126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𝜃</m:t>
                            </m:r>
                          </m:e>
                          <m:sub>
                            <m:r>
                              <a:rPr lang="en-US" altLang="zh-CN" sz="1400" b="0" i="1" smtClean="0">
                                <a:latin typeface="Cambria Math" panose="02040503050406030204" pitchFamily="18" charset="0"/>
                              </a:rPr>
                              <m:t>𝑚</m:t>
                            </m:r>
                          </m:sub>
                        </m:sSub>
                      </m:oMath>
                    </m:oMathPara>
                  </a14:m>
                  <a:endParaRPr lang="zh-CN" altLang="en-US" sz="1400" dirty="0"/>
                </a:p>
              </p:txBody>
            </p:sp>
          </mc:Choice>
          <mc:Fallback xmlns="">
            <p:sp>
              <p:nvSpPr>
                <p:cNvPr id="37" name="文本框 36">
                  <a:extLst>
                    <a:ext uri="{FF2B5EF4-FFF2-40B4-BE49-F238E27FC236}">
                      <a16:creationId xmlns:a16="http://schemas.microsoft.com/office/drawing/2014/main" id="{C04A899C-2D27-85B8-8A18-B2F6327B1685}"/>
                    </a:ext>
                  </a:extLst>
                </p:cNvPr>
                <p:cNvSpPr txBox="1">
                  <a:spLocks noRot="1" noChangeAspect="1" noMove="1" noResize="1" noEditPoints="1" noAdjustHandles="1" noChangeArrowheads="1" noChangeShapeType="1" noTextEdit="1"/>
                </p:cNvSpPr>
                <p:nvPr/>
              </p:nvSpPr>
              <p:spPr>
                <a:xfrm>
                  <a:off x="10271017" y="1872502"/>
                  <a:ext cx="412642" cy="307777"/>
                </a:xfrm>
                <a:prstGeom prst="rect">
                  <a:avLst/>
                </a:prstGeom>
                <a:blipFill>
                  <a:blip r:embed="rId12"/>
                  <a:stretch>
                    <a:fillRect/>
                  </a:stretch>
                </a:blipFill>
              </p:spPr>
              <p:txBody>
                <a:bodyPr/>
                <a:lstStyle/>
                <a:p>
                  <a:r>
                    <a:rPr lang="zh-CN" altLang="en-US">
                      <a:noFill/>
                    </a:rPr>
                    <a:t> </a:t>
                  </a:r>
                </a:p>
              </p:txBody>
            </p:sp>
          </mc:Fallback>
        </mc:AlternateContent>
        <p:cxnSp>
          <p:nvCxnSpPr>
            <p:cNvPr id="38" name="直接连接符 37">
              <a:extLst>
                <a:ext uri="{FF2B5EF4-FFF2-40B4-BE49-F238E27FC236}">
                  <a16:creationId xmlns:a16="http://schemas.microsoft.com/office/drawing/2014/main" id="{4635BAB4-5478-A151-0050-A5C0035BADA0}"/>
                </a:ext>
              </a:extLst>
            </p:cNvPr>
            <p:cNvCxnSpPr>
              <a:cxnSpLocks/>
            </p:cNvCxnSpPr>
            <p:nvPr/>
          </p:nvCxnSpPr>
          <p:spPr>
            <a:xfrm flipV="1">
              <a:off x="10302470" y="2120490"/>
              <a:ext cx="86678" cy="44660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59959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A9ABAF-0BAE-1B9B-1E08-4DB9B8766B12}"/>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EC1E2A65-5361-6444-DDFD-EC78EAFD91D0}"/>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r>
                      <a:rPr lang="en-US" altLang="zh-CN" sz="3200" i="1" dirty="0" smtClean="0">
                        <a:solidFill>
                          <a:schemeClr val="tx1"/>
                        </a:solidFill>
                        <a:latin typeface="Cambria Math" panose="02040503050406030204" pitchFamily="18" charset="0"/>
                      </a:rPr>
                      <m:t>𝐷</m:t>
                    </m:r>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𝒎</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EC1E2A65-5361-6444-DDFD-EC78EAFD91D0}"/>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864" b="-7627"/>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4AB5500E-6B18-2474-A148-4AAAB24472C5}"/>
              </a:ext>
            </a:extLst>
          </p:cNvPr>
          <p:cNvSpPr/>
          <p:nvPr/>
        </p:nvSpPr>
        <p:spPr>
          <a:xfrm>
            <a:off x="521112" y="1315233"/>
            <a:ext cx="6929212"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FC506E5C-4179-835F-5864-6606BD6043B6}"/>
                  </a:ext>
                </a:extLst>
              </p:cNvPr>
              <p:cNvSpPr/>
              <p:nvPr/>
            </p:nvSpPr>
            <p:spPr>
              <a:xfrm>
                <a:off x="368712" y="1144044"/>
                <a:ext cx="6929212"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30000"/>
                  </a:lnSpc>
                </a:pPr>
                <a14:m>
                  <m:oMathPara xmlns:m="http://schemas.openxmlformats.org/officeDocument/2006/math">
                    <m:oMathParaPr>
                      <m:jc m:val="centerGroup"/>
                    </m:oMathParaPr>
                    <m:oMath xmlns:m="http://schemas.openxmlformats.org/officeDocument/2006/math">
                      <m:func>
                        <m:funcPr>
                          <m:ctrlPr>
                            <a:rPr lang="en-US" altLang="zh-CN" sz="1300" i="1" dirty="0" smtClean="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sin</m:t>
                          </m:r>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r>
                        <a:rPr lang="en-US" altLang="zh-CN" sz="1300" i="1" dirty="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𝛼</m:t>
                          </m:r>
                        </m:num>
                        <m:den>
                          <m:rad>
                            <m:radPr>
                              <m:degHide m:val="on"/>
                              <m:ctrlPr>
                                <a:rPr lang="en-US" altLang="zh-CN" sz="1300" i="1" dirty="0">
                                  <a:solidFill>
                                    <a:schemeClr val="tx1"/>
                                  </a:solidFill>
                                  <a:latin typeface="Cambria Math" panose="02040503050406030204" pitchFamily="18" charset="0"/>
                                </a:rPr>
                              </m:ctrlPr>
                            </m:radPr>
                            <m:deg/>
                            <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r>
                                <a:rPr lang="en-US" altLang="zh-CN" sz="1300" i="1" dirty="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cot</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rad>
                        </m:den>
                      </m:f>
                      <m:r>
                        <a:rPr lang="en-US" altLang="zh-CN" sz="1300" b="0" i="1" dirty="0" smtClean="0">
                          <a:solidFill>
                            <a:schemeClr val="tx1"/>
                          </a:solidFill>
                          <a:latin typeface="Cambria Math" panose="02040503050406030204" pitchFamily="18" charset="0"/>
                        </a:rPr>
                        <m:t>,  </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num>
                        <m:den>
                          <m:r>
                            <a:rPr lang="en-US" altLang="zh-CN" sz="1300" i="1" dirty="0">
                              <a:solidFill>
                                <a:schemeClr val="tx1"/>
                              </a:solidFill>
                              <a:latin typeface="Cambria Math" panose="02040503050406030204" pitchFamily="18" charset="0"/>
                            </a:rPr>
                            <m:t>𝜕𝜃</m:t>
                          </m:r>
                        </m:den>
                      </m:f>
                      <m:r>
                        <a:rPr lang="en-US" altLang="zh-CN" sz="1300" b="0" i="1" dirty="0" smtClean="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𝛼</m:t>
                          </m:r>
                        </m:num>
                        <m:den>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den>
                      </m:f>
                      <m:r>
                        <a:rPr lang="en-US" altLang="zh-CN" sz="1300" b="0" i="1" dirty="0" smtClean="0">
                          <a:solidFill>
                            <a:schemeClr val="tx1"/>
                          </a:solidFill>
                          <a:latin typeface="Cambria Math" panose="02040503050406030204" pitchFamily="18" charset="0"/>
                        </a:rPr>
                        <m:t>,  </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𝜙</m:t>
                              </m:r>
                            </m:e>
                            <m:sub>
                              <m:r>
                                <a:rPr lang="en-US" altLang="zh-CN" sz="1300" i="1" dirty="0">
                                  <a:solidFill>
                                    <a:schemeClr val="tx1"/>
                                  </a:solidFill>
                                  <a:latin typeface="Cambria Math" panose="02040503050406030204" pitchFamily="18" charset="0"/>
                                </a:rPr>
                                <m:t>𝑚</m:t>
                              </m:r>
                            </m:sub>
                          </m:sSub>
                        </m:num>
                        <m:den>
                          <m:r>
                            <a:rPr lang="en-US" altLang="zh-CN" sz="1300" i="1" dirty="0">
                              <a:solidFill>
                                <a:schemeClr val="tx1"/>
                              </a:solidFill>
                              <a:latin typeface="Cambria Math" panose="02040503050406030204" pitchFamily="18" charset="0"/>
                            </a:rPr>
                            <m:t>𝜕𝜙</m:t>
                          </m:r>
                        </m:den>
                      </m:f>
                      <m:r>
                        <a:rPr lang="en-US" altLang="zh-CN" sz="1300" b="0" i="1" dirty="0" smtClean="0">
                          <a:solidFill>
                            <a:schemeClr val="tx1"/>
                          </a:solidFill>
                          <a:latin typeface="Cambria Math" panose="02040503050406030204" pitchFamily="18" charset="0"/>
                        </a:rPr>
                        <m:t>=1,  </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num>
                        <m:den>
                          <m:r>
                            <a:rPr lang="en-US" altLang="zh-CN" sz="1300" i="1" dirty="0">
                              <a:solidFill>
                                <a:schemeClr val="tx1"/>
                              </a:solidFill>
                              <a:latin typeface="Cambria Math" panose="02040503050406030204" pitchFamily="18" charset="0"/>
                            </a:rPr>
                            <m:t>𝜕𝜙</m:t>
                          </m:r>
                        </m:den>
                      </m:f>
                      <m:r>
                        <a:rPr lang="en-US" altLang="zh-CN" sz="1300" b="0" i="1" dirty="0" smtClean="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m:t>
                          </m:r>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𝜙</m:t>
                              </m:r>
                            </m:e>
                            <m:sub>
                              <m:r>
                                <a:rPr lang="en-US" altLang="zh-CN" sz="1300" i="1" dirty="0">
                                  <a:solidFill>
                                    <a:schemeClr val="tx1"/>
                                  </a:solidFill>
                                  <a:latin typeface="Cambria Math" panose="02040503050406030204" pitchFamily="18" charset="0"/>
                                </a:rPr>
                                <m:t>𝑚</m:t>
                              </m:r>
                            </m:sub>
                          </m:sSub>
                        </m:num>
                        <m:den>
                          <m:r>
                            <a:rPr lang="en-US" altLang="zh-CN" sz="1300" i="1" dirty="0">
                              <a:solidFill>
                                <a:schemeClr val="tx1"/>
                              </a:solidFill>
                              <a:latin typeface="Cambria Math" panose="02040503050406030204" pitchFamily="18" charset="0"/>
                            </a:rPr>
                            <m:t>𝜕𝜃</m:t>
                          </m:r>
                        </m:den>
                      </m:f>
                      <m:r>
                        <a:rPr lang="en-US" altLang="zh-CN" sz="1300" b="0" i="1" dirty="0" smtClean="0">
                          <a:solidFill>
                            <a:schemeClr val="tx1"/>
                          </a:solidFill>
                          <a:latin typeface="Cambria Math" panose="02040503050406030204" pitchFamily="18" charset="0"/>
                        </a:rPr>
                        <m:t>=0</m:t>
                      </m:r>
                    </m:oMath>
                  </m:oMathPara>
                </a14:m>
                <a:endParaRPr lang="en-US" altLang="zh-CN" sz="130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en-US" altLang="zh-CN" sz="1250" b="0" i="1" dirty="0" smtClean="0">
                          <a:solidFill>
                            <a:schemeClr val="tx1"/>
                          </a:solidFill>
                          <a:latin typeface="Cambria Math" panose="02040503050406030204" pitchFamily="18" charset="0"/>
                        </a:rPr>
                        <m:t>𝑑</m:t>
                      </m:r>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𝜔</m:t>
                          </m:r>
                        </m:e>
                        <m:sub>
                          <m:r>
                            <a:rPr lang="en-US" altLang="zh-CN" sz="1250" b="0" i="1" dirty="0" smtClean="0">
                              <a:solidFill>
                                <a:schemeClr val="tx1"/>
                              </a:solidFill>
                              <a:latin typeface="Cambria Math" panose="02040503050406030204" pitchFamily="18" charset="0"/>
                            </a:rPr>
                            <m:t>𝑚</m:t>
                          </m:r>
                        </m:sub>
                      </m:sSub>
                      <m:r>
                        <a:rPr lang="en-US" altLang="zh-CN" sz="1250" b="0" i="1" dirty="0" smtClean="0">
                          <a:solidFill>
                            <a:schemeClr val="tx1"/>
                          </a:solidFill>
                          <a:latin typeface="Cambria Math" panose="02040503050406030204" pitchFamily="18" charset="0"/>
                        </a:rPr>
                        <m:t>=</m:t>
                      </m:r>
                      <m:func>
                        <m:funcPr>
                          <m:ctrlPr>
                            <a:rPr lang="en-US" altLang="zh-CN" sz="1250" b="0" i="1" dirty="0" smtClean="0">
                              <a:solidFill>
                                <a:schemeClr val="tx1"/>
                              </a:solidFill>
                              <a:latin typeface="Cambria Math" panose="02040503050406030204" pitchFamily="18" charset="0"/>
                            </a:rPr>
                          </m:ctrlPr>
                        </m:funcPr>
                        <m:fName>
                          <m:r>
                            <m:rPr>
                              <m:sty m:val="p"/>
                            </m:rPr>
                            <a:rPr lang="en-US" altLang="zh-CN" sz="1250" b="0" i="0" dirty="0" smtClean="0">
                              <a:solidFill>
                                <a:schemeClr val="tx1"/>
                              </a:solidFill>
                              <a:latin typeface="Cambria Math" panose="02040503050406030204" pitchFamily="18" charset="0"/>
                            </a:rPr>
                            <m:t>sin</m:t>
                          </m:r>
                        </m:fName>
                        <m:e>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𝜃</m:t>
                              </m:r>
                            </m:e>
                            <m:sub>
                              <m:r>
                                <a:rPr lang="en-US" altLang="zh-CN" sz="1250" b="0" i="1" dirty="0" smtClean="0">
                                  <a:solidFill>
                                    <a:schemeClr val="tx1"/>
                                  </a:solidFill>
                                  <a:latin typeface="Cambria Math" panose="02040503050406030204" pitchFamily="18" charset="0"/>
                                </a:rPr>
                                <m:t>𝑚</m:t>
                              </m:r>
                            </m:sub>
                          </m:sSub>
                        </m:e>
                      </m:func>
                      <m:r>
                        <a:rPr lang="en-US" altLang="zh-CN" sz="1250" b="0" i="1" dirty="0" smtClean="0">
                          <a:solidFill>
                            <a:schemeClr val="tx1"/>
                          </a:solidFill>
                          <a:latin typeface="Cambria Math" panose="02040503050406030204" pitchFamily="18" charset="0"/>
                        </a:rPr>
                        <m:t>𝑑</m:t>
                      </m:r>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𝜃</m:t>
                          </m:r>
                        </m:e>
                        <m:sub>
                          <m:r>
                            <a:rPr lang="en-US" altLang="zh-CN" sz="1250" b="0" i="1" dirty="0" smtClean="0">
                              <a:solidFill>
                                <a:schemeClr val="tx1"/>
                              </a:solidFill>
                              <a:latin typeface="Cambria Math" panose="02040503050406030204" pitchFamily="18" charset="0"/>
                            </a:rPr>
                            <m:t>𝑚</m:t>
                          </m:r>
                        </m:sub>
                      </m:sSub>
                      <m:r>
                        <a:rPr lang="en-US" altLang="zh-CN" sz="1250" b="0" i="1" dirty="0" smtClean="0">
                          <a:solidFill>
                            <a:schemeClr val="tx1"/>
                          </a:solidFill>
                          <a:latin typeface="Cambria Math" panose="02040503050406030204" pitchFamily="18" charset="0"/>
                        </a:rPr>
                        <m:t>𝑑</m:t>
                      </m:r>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𝜙</m:t>
                          </m:r>
                        </m:e>
                        <m:sub>
                          <m:r>
                            <a:rPr lang="en-US" altLang="zh-CN" sz="1250" b="0" i="1" dirty="0" smtClean="0">
                              <a:solidFill>
                                <a:schemeClr val="tx1"/>
                              </a:solidFill>
                              <a:latin typeface="Cambria Math" panose="02040503050406030204" pitchFamily="18" charset="0"/>
                            </a:rPr>
                            <m:t>𝑚</m:t>
                          </m:r>
                        </m:sub>
                      </m:sSub>
                      <m:r>
                        <a:rPr lang="en-US" altLang="zh-CN" sz="1250" b="0" i="1" dirty="0" smtClean="0">
                          <a:solidFill>
                            <a:schemeClr val="tx1"/>
                          </a:solidFill>
                          <a:latin typeface="Cambria Math" panose="02040503050406030204" pitchFamily="18" charset="0"/>
                        </a:rPr>
                        <m:t>=</m:t>
                      </m:r>
                      <m:func>
                        <m:funcPr>
                          <m:ctrlPr>
                            <a:rPr lang="en-US" altLang="zh-CN" sz="1250" b="0" i="1" dirty="0" smtClean="0">
                              <a:solidFill>
                                <a:schemeClr val="tx1"/>
                              </a:solidFill>
                              <a:latin typeface="Cambria Math" panose="02040503050406030204" pitchFamily="18" charset="0"/>
                            </a:rPr>
                          </m:ctrlPr>
                        </m:funcPr>
                        <m:fName>
                          <m:r>
                            <m:rPr>
                              <m:sty m:val="p"/>
                            </m:rPr>
                            <a:rPr lang="en-US" altLang="zh-CN" sz="1250" b="0" i="0" dirty="0" smtClean="0">
                              <a:solidFill>
                                <a:schemeClr val="tx1"/>
                              </a:solidFill>
                              <a:latin typeface="Cambria Math" panose="02040503050406030204" pitchFamily="18" charset="0"/>
                            </a:rPr>
                            <m:t>sin</m:t>
                          </m:r>
                        </m:fName>
                        <m:e>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𝜃</m:t>
                              </m:r>
                            </m:e>
                            <m:sub>
                              <m:r>
                                <a:rPr lang="en-US" altLang="zh-CN" sz="1250" b="0" i="1" dirty="0" smtClean="0">
                                  <a:solidFill>
                                    <a:schemeClr val="tx1"/>
                                  </a:solidFill>
                                  <a:latin typeface="Cambria Math" panose="02040503050406030204" pitchFamily="18" charset="0"/>
                                </a:rPr>
                                <m:t>𝑚</m:t>
                              </m:r>
                            </m:sub>
                          </m:sSub>
                        </m:e>
                      </m:func>
                      <m:d>
                        <m:dPr>
                          <m:begChr m:val="|"/>
                          <m:endChr m:val="|"/>
                          <m:ctrlPr>
                            <a:rPr lang="en-US" altLang="zh-CN" sz="1250" b="0" i="1" dirty="0" smtClean="0">
                              <a:solidFill>
                                <a:schemeClr val="tx1"/>
                              </a:solidFill>
                              <a:latin typeface="Cambria Math" panose="02040503050406030204" pitchFamily="18" charset="0"/>
                            </a:rPr>
                          </m:ctrlPr>
                        </m:dPr>
                        <m:e>
                          <m:func>
                            <m:funcPr>
                              <m:ctrlPr>
                                <a:rPr lang="en-US" altLang="zh-CN" sz="1250" b="0" i="1" dirty="0" smtClean="0">
                                  <a:solidFill>
                                    <a:schemeClr val="tx1"/>
                                  </a:solidFill>
                                  <a:latin typeface="Cambria Math" panose="02040503050406030204" pitchFamily="18" charset="0"/>
                                </a:rPr>
                              </m:ctrlPr>
                            </m:funcPr>
                            <m:fName>
                              <m:r>
                                <m:rPr>
                                  <m:sty m:val="p"/>
                                </m:rPr>
                                <a:rPr lang="en-US" altLang="zh-CN" sz="1250" b="0" i="0" dirty="0" smtClean="0">
                                  <a:solidFill>
                                    <a:schemeClr val="tx1"/>
                                  </a:solidFill>
                                  <a:latin typeface="Cambria Math" panose="02040503050406030204" pitchFamily="18" charset="0"/>
                                </a:rPr>
                                <m:t>det</m:t>
                              </m:r>
                            </m:fName>
                            <m:e>
                              <m:d>
                                <m:dPr>
                                  <m:ctrlPr>
                                    <a:rPr lang="en-US" altLang="zh-CN" sz="1250" b="0" i="1" dirty="0" smtClean="0">
                                      <a:solidFill>
                                        <a:schemeClr val="tx1"/>
                                      </a:solidFill>
                                      <a:latin typeface="Cambria Math" panose="02040503050406030204" pitchFamily="18" charset="0"/>
                                    </a:rPr>
                                  </m:ctrlPr>
                                </m:dPr>
                                <m:e>
                                  <m:f>
                                    <m:fPr>
                                      <m:ctrlPr>
                                        <a:rPr lang="en-US" altLang="zh-CN" sz="1250" b="0" i="1" dirty="0" smtClean="0">
                                          <a:solidFill>
                                            <a:schemeClr val="tx1"/>
                                          </a:solidFill>
                                          <a:latin typeface="Cambria Math" panose="02040503050406030204" pitchFamily="18" charset="0"/>
                                        </a:rPr>
                                      </m:ctrlPr>
                                    </m:fPr>
                                    <m:num>
                                      <m:r>
                                        <a:rPr lang="en-US" altLang="zh-CN" sz="1250" i="1" dirty="0">
                                          <a:solidFill>
                                            <a:schemeClr val="tx1"/>
                                          </a:solidFill>
                                          <a:latin typeface="Cambria Math" panose="02040503050406030204" pitchFamily="18" charset="0"/>
                                        </a:rPr>
                                        <m:t>𝜕</m:t>
                                      </m:r>
                                      <m:d>
                                        <m:dPr>
                                          <m:ctrlPr>
                                            <a:rPr lang="en-US" altLang="zh-CN" sz="1250" b="0" i="1" dirty="0" smtClean="0">
                                              <a:solidFill>
                                                <a:schemeClr val="tx1"/>
                                              </a:solidFill>
                                              <a:latin typeface="Cambria Math" panose="02040503050406030204" pitchFamily="18" charset="0"/>
                                            </a:rPr>
                                          </m:ctrlPr>
                                        </m:dPr>
                                        <m:e>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𝜃</m:t>
                                              </m:r>
                                            </m:e>
                                            <m:sub>
                                              <m:r>
                                                <a:rPr lang="en-US" altLang="zh-CN" sz="1250" b="0" i="1" dirty="0" smtClean="0">
                                                  <a:solidFill>
                                                    <a:schemeClr val="tx1"/>
                                                  </a:solidFill>
                                                  <a:latin typeface="Cambria Math" panose="02040503050406030204" pitchFamily="18" charset="0"/>
                                                </a:rPr>
                                                <m:t>𝑚</m:t>
                                              </m:r>
                                            </m:sub>
                                          </m:sSub>
                                          <m:r>
                                            <a:rPr lang="en-US" altLang="zh-CN" sz="1250" b="0" i="1" dirty="0" smtClean="0">
                                              <a:solidFill>
                                                <a:schemeClr val="tx1"/>
                                              </a:solidFill>
                                              <a:latin typeface="Cambria Math" panose="02040503050406030204" pitchFamily="18" charset="0"/>
                                            </a:rPr>
                                            <m:t>,</m:t>
                                          </m:r>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𝜙</m:t>
                                              </m:r>
                                            </m:e>
                                            <m:sub>
                                              <m:r>
                                                <a:rPr lang="en-US" altLang="zh-CN" sz="1250" b="0" i="1" dirty="0" smtClean="0">
                                                  <a:solidFill>
                                                    <a:schemeClr val="tx1"/>
                                                  </a:solidFill>
                                                  <a:latin typeface="Cambria Math" panose="02040503050406030204" pitchFamily="18" charset="0"/>
                                                </a:rPr>
                                                <m:t>𝑚</m:t>
                                              </m:r>
                                            </m:sub>
                                          </m:sSub>
                                        </m:e>
                                      </m:d>
                                    </m:num>
                                    <m:den>
                                      <m:r>
                                        <a:rPr lang="en-US" altLang="zh-CN" sz="1250" i="1" dirty="0">
                                          <a:solidFill>
                                            <a:schemeClr val="tx1"/>
                                          </a:solidFill>
                                          <a:latin typeface="Cambria Math" panose="02040503050406030204" pitchFamily="18" charset="0"/>
                                        </a:rPr>
                                        <m:t>𝜕</m:t>
                                      </m:r>
                                      <m:d>
                                        <m:dPr>
                                          <m:ctrlPr>
                                            <a:rPr lang="en-US" altLang="zh-CN" sz="1250" i="1" dirty="0">
                                              <a:solidFill>
                                                <a:schemeClr val="tx1"/>
                                              </a:solidFill>
                                              <a:latin typeface="Cambria Math" panose="02040503050406030204" pitchFamily="18" charset="0"/>
                                            </a:rPr>
                                          </m:ctrlPr>
                                        </m:dPr>
                                        <m:e>
                                          <m:r>
                                            <a:rPr lang="en-US" altLang="zh-CN" sz="1250" b="0" i="1" dirty="0" smtClean="0">
                                              <a:solidFill>
                                                <a:schemeClr val="tx1"/>
                                              </a:solidFill>
                                              <a:latin typeface="Cambria Math" panose="02040503050406030204" pitchFamily="18" charset="0"/>
                                            </a:rPr>
                                            <m:t>𝜃</m:t>
                                          </m:r>
                                          <m:r>
                                            <a:rPr lang="en-US" altLang="zh-CN" sz="1250" i="1" dirty="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𝜙</m:t>
                                          </m:r>
                                        </m:e>
                                      </m:d>
                                    </m:den>
                                  </m:f>
                                </m:e>
                              </m:d>
                            </m:e>
                          </m:func>
                        </m:e>
                      </m:d>
                      <m:r>
                        <a:rPr lang="en-US" altLang="zh-CN" sz="1250" b="0" i="1" dirty="0" smtClean="0">
                          <a:solidFill>
                            <a:schemeClr val="tx1"/>
                          </a:solidFill>
                          <a:latin typeface="Cambria Math" panose="02040503050406030204" pitchFamily="18" charset="0"/>
                        </a:rPr>
                        <m:t>𝑑</m:t>
                      </m:r>
                      <m:r>
                        <a:rPr lang="en-US" altLang="zh-CN" sz="1250" b="0" i="1" dirty="0" smtClean="0">
                          <a:solidFill>
                            <a:schemeClr val="tx1"/>
                          </a:solidFill>
                          <a:latin typeface="Cambria Math" panose="02040503050406030204" pitchFamily="18" charset="0"/>
                        </a:rPr>
                        <m:t>𝜃</m:t>
                      </m:r>
                      <m:r>
                        <a:rPr lang="en-US" altLang="zh-CN" sz="1250" i="1" dirty="0">
                          <a:solidFill>
                            <a:schemeClr val="tx1"/>
                          </a:solidFill>
                          <a:latin typeface="Cambria Math" panose="02040503050406030204" pitchFamily="18" charset="0"/>
                        </a:rPr>
                        <m:t>𝑑</m:t>
                      </m:r>
                      <m:r>
                        <a:rPr lang="en-US" altLang="zh-CN" sz="1250" b="0" i="1" dirty="0" smtClean="0">
                          <a:solidFill>
                            <a:schemeClr val="tx1"/>
                          </a:solidFill>
                          <a:latin typeface="Cambria Math" panose="02040503050406030204" pitchFamily="18" charset="0"/>
                        </a:rPr>
                        <m:t>𝜙</m:t>
                      </m:r>
                      <m:r>
                        <a:rPr lang="en-US" altLang="zh-CN" sz="1250" b="0" i="1" dirty="0" smtClean="0">
                          <a:solidFill>
                            <a:schemeClr val="tx1"/>
                          </a:solidFill>
                          <a:latin typeface="Cambria Math" panose="02040503050406030204" pitchFamily="18" charset="0"/>
                        </a:rPr>
                        <m:t>=</m:t>
                      </m:r>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sin</m:t>
                          </m:r>
                        </m:fName>
                        <m:e>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𝜃</m:t>
                              </m:r>
                            </m:e>
                            <m:sub>
                              <m:r>
                                <a:rPr lang="en-US" altLang="zh-CN" sz="1250" i="1" dirty="0">
                                  <a:solidFill>
                                    <a:schemeClr val="tx1"/>
                                  </a:solidFill>
                                  <a:latin typeface="Cambria Math" panose="02040503050406030204" pitchFamily="18" charset="0"/>
                                </a:rPr>
                                <m:t>𝑚</m:t>
                              </m:r>
                            </m:sub>
                          </m:sSub>
                        </m:e>
                      </m:func>
                      <m:d>
                        <m:dPr>
                          <m:begChr m:val="|"/>
                          <m:endChr m:val="|"/>
                          <m:ctrlPr>
                            <a:rPr lang="en-US" altLang="zh-CN" sz="1250" i="1" dirty="0">
                              <a:solidFill>
                                <a:schemeClr val="tx1"/>
                              </a:solidFill>
                              <a:latin typeface="Cambria Math" panose="02040503050406030204" pitchFamily="18" charset="0"/>
                            </a:rPr>
                          </m:ctrlPr>
                        </m:dPr>
                        <m:e>
                          <m:f>
                            <m:fPr>
                              <m:ctrlPr>
                                <a:rPr lang="en-US" altLang="zh-CN" sz="1250" i="1" dirty="0">
                                  <a:solidFill>
                                    <a:schemeClr val="tx1"/>
                                  </a:solidFill>
                                  <a:latin typeface="Cambria Math" panose="02040503050406030204" pitchFamily="18" charset="0"/>
                                </a:rPr>
                              </m:ctrlPr>
                            </m:fPr>
                            <m:num>
                              <m:r>
                                <a:rPr lang="en-US" altLang="zh-CN" sz="1250" i="1" dirty="0">
                                  <a:solidFill>
                                    <a:schemeClr val="tx1"/>
                                  </a:solidFill>
                                  <a:latin typeface="Cambria Math" panose="02040503050406030204" pitchFamily="18" charset="0"/>
                                </a:rPr>
                                <m:t>𝜕</m:t>
                              </m:r>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𝜃</m:t>
                                  </m:r>
                                </m:e>
                                <m:sub>
                                  <m:r>
                                    <a:rPr lang="en-US" altLang="zh-CN" sz="1250" i="1" dirty="0">
                                      <a:solidFill>
                                        <a:schemeClr val="tx1"/>
                                      </a:solidFill>
                                      <a:latin typeface="Cambria Math" panose="02040503050406030204" pitchFamily="18" charset="0"/>
                                    </a:rPr>
                                    <m:t>𝑚</m:t>
                                  </m:r>
                                </m:sub>
                              </m:sSub>
                            </m:num>
                            <m:den>
                              <m:r>
                                <a:rPr lang="en-US" altLang="zh-CN" sz="1250" i="1" dirty="0">
                                  <a:solidFill>
                                    <a:schemeClr val="tx1"/>
                                  </a:solidFill>
                                  <a:latin typeface="Cambria Math" panose="02040503050406030204" pitchFamily="18" charset="0"/>
                                </a:rPr>
                                <m:t>𝜕𝜃</m:t>
                              </m:r>
                            </m:den>
                          </m:f>
                          <m:r>
                            <a:rPr lang="en-US" altLang="zh-CN" sz="1250" i="1" dirty="0">
                              <a:solidFill>
                                <a:schemeClr val="tx1"/>
                              </a:solidFill>
                              <a:latin typeface="Cambria Math" panose="02040503050406030204" pitchFamily="18" charset="0"/>
                            </a:rPr>
                            <m:t>⋅</m:t>
                          </m:r>
                          <m:f>
                            <m:fPr>
                              <m:ctrlPr>
                                <a:rPr lang="en-US" altLang="zh-CN" sz="1250" i="1" dirty="0">
                                  <a:solidFill>
                                    <a:schemeClr val="tx1"/>
                                  </a:solidFill>
                                  <a:latin typeface="Cambria Math" panose="02040503050406030204" pitchFamily="18" charset="0"/>
                                </a:rPr>
                              </m:ctrlPr>
                            </m:fPr>
                            <m:num>
                              <m:r>
                                <a:rPr lang="en-US" altLang="zh-CN" sz="1250" i="1" dirty="0">
                                  <a:solidFill>
                                    <a:schemeClr val="tx1"/>
                                  </a:solidFill>
                                  <a:latin typeface="Cambria Math" panose="02040503050406030204" pitchFamily="18" charset="0"/>
                                </a:rPr>
                                <m:t>𝜕</m:t>
                              </m:r>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𝜙</m:t>
                                  </m:r>
                                </m:e>
                                <m:sub>
                                  <m:r>
                                    <a:rPr lang="en-US" altLang="zh-CN" sz="1250" i="1" dirty="0">
                                      <a:solidFill>
                                        <a:schemeClr val="tx1"/>
                                      </a:solidFill>
                                      <a:latin typeface="Cambria Math" panose="02040503050406030204" pitchFamily="18" charset="0"/>
                                    </a:rPr>
                                    <m:t>𝑚</m:t>
                                  </m:r>
                                </m:sub>
                              </m:sSub>
                            </m:num>
                            <m:den>
                              <m:r>
                                <a:rPr lang="en-US" altLang="zh-CN" sz="1250" i="1" dirty="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𝜙</m:t>
                              </m:r>
                            </m:den>
                          </m:f>
                          <m:r>
                            <a:rPr lang="en-US" altLang="zh-CN" sz="1250" i="1" dirty="0">
                              <a:solidFill>
                                <a:schemeClr val="tx1"/>
                              </a:solidFill>
                              <a:latin typeface="Cambria Math" panose="02040503050406030204" pitchFamily="18" charset="0"/>
                            </a:rPr>
                            <m:t>−</m:t>
                          </m:r>
                          <m:f>
                            <m:fPr>
                              <m:ctrlPr>
                                <a:rPr lang="en-US" altLang="zh-CN" sz="1250" i="1" dirty="0">
                                  <a:solidFill>
                                    <a:schemeClr val="tx1"/>
                                  </a:solidFill>
                                  <a:latin typeface="Cambria Math" panose="02040503050406030204" pitchFamily="18" charset="0"/>
                                </a:rPr>
                              </m:ctrlPr>
                            </m:fPr>
                            <m:num>
                              <m:r>
                                <a:rPr lang="en-US" altLang="zh-CN" sz="1250" i="1" dirty="0">
                                  <a:solidFill>
                                    <a:schemeClr val="tx1"/>
                                  </a:solidFill>
                                  <a:latin typeface="Cambria Math" panose="02040503050406030204" pitchFamily="18" charset="0"/>
                                </a:rPr>
                                <m:t>𝜕</m:t>
                              </m:r>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𝜃</m:t>
                                  </m:r>
                                </m:e>
                                <m:sub>
                                  <m:r>
                                    <a:rPr lang="en-US" altLang="zh-CN" sz="1250" i="1" dirty="0">
                                      <a:solidFill>
                                        <a:schemeClr val="tx1"/>
                                      </a:solidFill>
                                      <a:latin typeface="Cambria Math" panose="02040503050406030204" pitchFamily="18" charset="0"/>
                                    </a:rPr>
                                    <m:t>𝑚</m:t>
                                  </m:r>
                                </m:sub>
                              </m:sSub>
                            </m:num>
                            <m:den>
                              <m:r>
                                <a:rPr lang="en-US" altLang="zh-CN" sz="1250" i="1" dirty="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𝜙</m:t>
                              </m:r>
                            </m:den>
                          </m:f>
                          <m:r>
                            <a:rPr lang="en-US" altLang="zh-CN" sz="1250" i="1" dirty="0">
                              <a:solidFill>
                                <a:schemeClr val="tx1"/>
                              </a:solidFill>
                              <a:latin typeface="Cambria Math" panose="02040503050406030204" pitchFamily="18" charset="0"/>
                            </a:rPr>
                            <m:t>⋅</m:t>
                          </m:r>
                          <m:f>
                            <m:fPr>
                              <m:ctrlPr>
                                <a:rPr lang="en-US" altLang="zh-CN" sz="1250" i="1" dirty="0">
                                  <a:solidFill>
                                    <a:schemeClr val="tx1"/>
                                  </a:solidFill>
                                  <a:latin typeface="Cambria Math" panose="02040503050406030204" pitchFamily="18" charset="0"/>
                                </a:rPr>
                              </m:ctrlPr>
                            </m:fPr>
                            <m:num>
                              <m:r>
                                <a:rPr lang="en-US" altLang="zh-CN" sz="1250" i="1" dirty="0">
                                  <a:solidFill>
                                    <a:schemeClr val="tx1"/>
                                  </a:solidFill>
                                  <a:latin typeface="Cambria Math" panose="02040503050406030204" pitchFamily="18" charset="0"/>
                                </a:rPr>
                                <m:t>𝜕</m:t>
                              </m:r>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𝜙</m:t>
                                  </m:r>
                                </m:e>
                                <m:sub>
                                  <m:r>
                                    <a:rPr lang="en-US" altLang="zh-CN" sz="1250" i="1" dirty="0">
                                      <a:solidFill>
                                        <a:schemeClr val="tx1"/>
                                      </a:solidFill>
                                      <a:latin typeface="Cambria Math" panose="02040503050406030204" pitchFamily="18" charset="0"/>
                                    </a:rPr>
                                    <m:t>𝑚</m:t>
                                  </m:r>
                                </m:sub>
                              </m:sSub>
                            </m:num>
                            <m:den>
                              <m:r>
                                <a:rPr lang="en-US" altLang="zh-CN" sz="1250" i="1" dirty="0">
                                  <a:solidFill>
                                    <a:schemeClr val="tx1"/>
                                  </a:solidFill>
                                  <a:latin typeface="Cambria Math" panose="02040503050406030204" pitchFamily="18" charset="0"/>
                                </a:rPr>
                                <m:t>𝜕𝜃</m:t>
                              </m:r>
                            </m:den>
                          </m:f>
                        </m:e>
                      </m:d>
                      <m:r>
                        <a:rPr lang="en-US" altLang="zh-CN" sz="1250" i="1" dirty="0">
                          <a:solidFill>
                            <a:schemeClr val="tx1"/>
                          </a:solidFill>
                          <a:latin typeface="Cambria Math" panose="02040503050406030204" pitchFamily="18" charset="0"/>
                        </a:rPr>
                        <m:t>𝑑</m:t>
                      </m:r>
                      <m:r>
                        <a:rPr lang="en-US" altLang="zh-CN" sz="1250" i="1" dirty="0">
                          <a:solidFill>
                            <a:schemeClr val="tx1"/>
                          </a:solidFill>
                          <a:latin typeface="Cambria Math" panose="02040503050406030204" pitchFamily="18" charset="0"/>
                        </a:rPr>
                        <m:t>𝜃</m:t>
                      </m:r>
                      <m:r>
                        <a:rPr lang="en-US" altLang="zh-CN" sz="1250" i="1" dirty="0">
                          <a:solidFill>
                            <a:schemeClr val="tx1"/>
                          </a:solidFill>
                          <a:latin typeface="Cambria Math" panose="02040503050406030204" pitchFamily="18" charset="0"/>
                        </a:rPr>
                        <m:t>𝑑</m:t>
                      </m:r>
                      <m:r>
                        <a:rPr lang="en-US" altLang="zh-CN" sz="1250" i="1" dirty="0">
                          <a:solidFill>
                            <a:schemeClr val="tx1"/>
                          </a:solidFill>
                          <a:latin typeface="Cambria Math" panose="02040503050406030204" pitchFamily="18" charset="0"/>
                        </a:rPr>
                        <m:t>𝜙</m:t>
                      </m:r>
                    </m:oMath>
                  </m:oMathPara>
                </a14:m>
                <a:endParaRPr lang="en-US" altLang="zh-CN" sz="125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en-US" altLang="zh-CN" sz="1300" b="0" i="1" dirty="0" smtClean="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𝛼</m:t>
                          </m:r>
                        </m:num>
                        <m:den>
                          <m:rad>
                            <m:radPr>
                              <m:degHide m:val="on"/>
                              <m:ctrlPr>
                                <a:rPr lang="en-US" altLang="zh-CN" sz="1300" i="1" dirty="0">
                                  <a:solidFill>
                                    <a:schemeClr val="tx1"/>
                                  </a:solidFill>
                                  <a:latin typeface="Cambria Math" panose="02040503050406030204" pitchFamily="18" charset="0"/>
                                </a:rPr>
                              </m:ctrlPr>
                            </m:radPr>
                            <m:deg/>
                            <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r>
                                <a:rPr lang="en-US" altLang="zh-CN" sz="1300" i="1" dirty="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cot</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rad>
                        </m:den>
                      </m:f>
                      <m:r>
                        <a:rPr lang="en-US" altLang="zh-CN" sz="1300" b="0" i="1" dirty="0" smtClean="0">
                          <a:solidFill>
                            <a:schemeClr val="tx1"/>
                          </a:solidFill>
                          <a:latin typeface="Cambria Math" panose="02040503050406030204" pitchFamily="18" charset="0"/>
                        </a:rPr>
                        <m:t> </m:t>
                      </m:r>
                      <m:f>
                        <m:fPr>
                          <m:ctrlPr>
                            <a:rPr lang="en-US" altLang="zh-CN" sz="1300" i="1" dirty="0">
                              <a:solidFill>
                                <a:schemeClr val="tx1"/>
                              </a:solidFill>
                              <a:latin typeface="Cambria Math" panose="02040503050406030204" pitchFamily="18" charset="0"/>
                            </a:rPr>
                          </m:ctrlPr>
                        </m:fPr>
                        <m:num>
                          <m:r>
                            <a:rPr lang="en-US" altLang="zh-CN" sz="1300" i="1" dirty="0">
                              <a:solidFill>
                                <a:schemeClr val="tx1"/>
                              </a:solidFill>
                              <a:latin typeface="Cambria Math" panose="02040503050406030204" pitchFamily="18" charset="0"/>
                            </a:rPr>
                            <m:t>𝛼</m:t>
                          </m:r>
                        </m:num>
                        <m:den>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den>
                      </m:f>
                      <m:r>
                        <a:rPr lang="en-US" altLang="zh-CN" sz="1300" i="1" dirty="0">
                          <a:solidFill>
                            <a:schemeClr val="tx1"/>
                          </a:solidFill>
                          <a:latin typeface="Cambria Math" panose="02040503050406030204" pitchFamily="18" charset="0"/>
                        </a:rPr>
                        <m:t>𝑑</m:t>
                      </m:r>
                      <m:r>
                        <a:rPr lang="en-US" altLang="zh-CN" sz="1300" i="1" dirty="0">
                          <a:solidFill>
                            <a:schemeClr val="tx1"/>
                          </a:solidFill>
                          <a:latin typeface="Cambria Math" panose="02040503050406030204" pitchFamily="18" charset="0"/>
                        </a:rPr>
                        <m:t>𝜃</m:t>
                      </m:r>
                      <m:r>
                        <a:rPr lang="en-US" altLang="zh-CN" sz="1300" i="1" dirty="0">
                          <a:solidFill>
                            <a:schemeClr val="tx1"/>
                          </a:solidFill>
                          <a:latin typeface="Cambria Math" panose="02040503050406030204" pitchFamily="18" charset="0"/>
                        </a:rPr>
                        <m:t>𝑑</m:t>
                      </m:r>
                      <m:r>
                        <a:rPr lang="en-US" altLang="zh-CN" sz="1300" i="1" dirty="0">
                          <a:solidFill>
                            <a:schemeClr val="tx1"/>
                          </a:solidFill>
                          <a:latin typeface="Cambria Math" panose="02040503050406030204" pitchFamily="18" charset="0"/>
                        </a:rPr>
                        <m:t>𝜙</m:t>
                      </m:r>
                      <m:r>
                        <a:rPr lang="en-US" altLang="zh-CN" sz="1300" b="0" i="1" dirty="0" smtClean="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sSup>
                            <m:sSupPr>
                              <m:ctrlPr>
                                <a:rPr lang="en-US" altLang="zh-CN" sz="1300" b="0" i="1" dirty="0" smtClean="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b="0" i="1" dirty="0" smtClean="0">
                                  <a:solidFill>
                                    <a:schemeClr val="tx1"/>
                                  </a:solidFill>
                                  <a:latin typeface="Cambria Math" panose="02040503050406030204" pitchFamily="18" charset="0"/>
                                </a:rPr>
                                <m:t>2</m:t>
                              </m:r>
                            </m:sup>
                          </m:sSup>
                        </m:num>
                        <m:den>
                          <m:d>
                            <m:dPr>
                              <m:ctrlPr>
                                <a:rPr lang="en-US" altLang="zh-CN" sz="1300" b="0" i="1" dirty="0" smtClean="0">
                                  <a:solidFill>
                                    <a:schemeClr val="tx1"/>
                                  </a:solidFill>
                                  <a:latin typeface="Cambria Math" panose="02040503050406030204" pitchFamily="18" charset="0"/>
                                </a:rPr>
                              </m:ctrlPr>
                            </m:dPr>
                            <m:e>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d>
                          <m:rad>
                            <m:radPr>
                              <m:degHide m:val="on"/>
                              <m:ctrlPr>
                                <a:rPr lang="en-US" altLang="zh-CN" sz="1300" i="1" dirty="0">
                                  <a:solidFill>
                                    <a:schemeClr val="tx1"/>
                                  </a:solidFill>
                                  <a:latin typeface="Cambria Math" panose="02040503050406030204" pitchFamily="18" charset="0"/>
                                </a:rPr>
                              </m:ctrlPr>
                            </m:radPr>
                            <m:deg/>
                            <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r>
                                <a:rPr lang="en-US" altLang="zh-CN" sz="1300" i="1" dirty="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cot</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rad>
                        </m:den>
                      </m:f>
                      <m:r>
                        <a:rPr lang="en-US" altLang="zh-CN" sz="1300" i="1" dirty="0">
                          <a:solidFill>
                            <a:schemeClr val="tx1"/>
                          </a:solidFill>
                          <a:latin typeface="Cambria Math" panose="02040503050406030204" pitchFamily="18" charset="0"/>
                        </a:rPr>
                        <m:t>𝑑</m:t>
                      </m:r>
                      <m:r>
                        <a:rPr lang="en-US" altLang="zh-CN" sz="1300" i="1" dirty="0">
                          <a:solidFill>
                            <a:schemeClr val="tx1"/>
                          </a:solidFill>
                          <a:latin typeface="Cambria Math" panose="02040503050406030204" pitchFamily="18" charset="0"/>
                        </a:rPr>
                        <m:t>𝜃</m:t>
                      </m:r>
                      <m:r>
                        <a:rPr lang="en-US" altLang="zh-CN" sz="1300" i="1" dirty="0">
                          <a:solidFill>
                            <a:schemeClr val="tx1"/>
                          </a:solidFill>
                          <a:latin typeface="Cambria Math" panose="02040503050406030204" pitchFamily="18" charset="0"/>
                        </a:rPr>
                        <m:t>𝑑</m:t>
                      </m:r>
                      <m:r>
                        <a:rPr lang="en-US" altLang="zh-CN" sz="1300" i="1" dirty="0">
                          <a:solidFill>
                            <a:schemeClr val="tx1"/>
                          </a:solidFill>
                          <a:latin typeface="Cambria Math" panose="02040503050406030204" pitchFamily="18" charset="0"/>
                        </a:rPr>
                        <m:t>𝜙</m:t>
                      </m:r>
                    </m:oMath>
                  </m:oMathPara>
                </a14:m>
                <a:endParaRPr lang="en-US" altLang="zh-CN" sz="130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en-US" altLang="zh-CN" sz="1300" b="0" i="1" dirty="0" smtClean="0">
                          <a:solidFill>
                            <a:schemeClr val="tx1"/>
                          </a:solidFill>
                          <a:latin typeface="Cambria Math" panose="02040503050406030204" pitchFamily="18" charset="0"/>
                        </a:rPr>
                        <m:t>𝑑𝐴</m:t>
                      </m:r>
                      <m:r>
                        <a:rPr lang="en-US" altLang="zh-CN" sz="1300" b="0" i="1" dirty="0" smtClean="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sin</m:t>
                          </m:r>
                        </m:fName>
                        <m:e>
                          <m:r>
                            <a:rPr lang="en-US" altLang="zh-CN" sz="1300" b="0" i="1" dirty="0" smtClean="0">
                              <a:solidFill>
                                <a:schemeClr val="tx1"/>
                              </a:solidFill>
                              <a:latin typeface="Cambria Math" panose="02040503050406030204" pitchFamily="18" charset="0"/>
                            </a:rPr>
                            <m:t>𝜃</m:t>
                          </m:r>
                        </m:e>
                      </m:func>
                      <m:rad>
                        <m:radPr>
                          <m:degHide m:val="on"/>
                          <m:ctrlPr>
                            <a:rPr lang="en-US" altLang="zh-CN" sz="1300" i="1" dirty="0">
                              <a:solidFill>
                                <a:schemeClr val="tx1"/>
                              </a:solidFill>
                              <a:latin typeface="Cambria Math" panose="02040503050406030204" pitchFamily="18" charset="0"/>
                            </a:rPr>
                          </m:ctrlPr>
                        </m:radPr>
                        <m:deg/>
                        <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b="0" i="1" dirty="0" smtClean="0">
                                  <a:solidFill>
                                    <a:schemeClr val="tx1"/>
                                  </a:solidFill>
                                  <a:latin typeface="Cambria Math" panose="02040503050406030204" pitchFamily="18" charset="0"/>
                                </a:rPr>
                              </m:ctrlPr>
                            </m:funcPr>
                            <m:fName>
                              <m:sSup>
                                <m:sSupPr>
                                  <m:ctrlPr>
                                    <a:rPr lang="en-US" altLang="zh-CN" sz="1300" b="0" i="1" dirty="0" smtClean="0">
                                      <a:solidFill>
                                        <a:schemeClr val="tx1"/>
                                      </a:solidFill>
                                      <a:latin typeface="Cambria Math" panose="02040503050406030204" pitchFamily="18" charset="0"/>
                                    </a:rPr>
                                  </m:ctrlPr>
                                </m:sSupPr>
                                <m:e>
                                  <m:r>
                                    <m:rPr>
                                      <m:sty m:val="p"/>
                                    </m:rPr>
                                    <a:rPr lang="en-US" altLang="zh-CN" sz="1300" i="0" dirty="0" smtClean="0">
                                      <a:solidFill>
                                        <a:schemeClr val="tx1"/>
                                      </a:solidFill>
                                      <a:latin typeface="Cambria Math" panose="02040503050406030204" pitchFamily="18" charset="0"/>
                                    </a:rPr>
                                    <m:t>sin</m:t>
                                  </m:r>
                                </m:e>
                                <m:sup>
                                  <m:r>
                                    <a:rPr lang="en-US" altLang="zh-CN" sz="1300" b="0" i="1" dirty="0" smtClean="0">
                                      <a:solidFill>
                                        <a:schemeClr val="tx1"/>
                                      </a:solidFill>
                                      <a:latin typeface="Cambria Math" panose="02040503050406030204" pitchFamily="18" charset="0"/>
                                    </a:rPr>
                                    <m:t>2</m:t>
                                  </m:r>
                                </m:sup>
                              </m:sSup>
                            </m:fName>
                            <m:e>
                              <m:r>
                                <a:rPr lang="en-US" altLang="zh-CN" sz="1300" b="0" i="1" dirty="0" smtClean="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func>
                            <m:funcPr>
                              <m:ctrlPr>
                                <a:rPr lang="en-US" altLang="zh-CN" sz="1300" b="0" i="1" dirty="0" smtClean="0">
                                  <a:solidFill>
                                    <a:schemeClr val="tx1"/>
                                  </a:solidFill>
                                  <a:latin typeface="Cambria Math" panose="02040503050406030204" pitchFamily="18" charset="0"/>
                                </a:rPr>
                              </m:ctrlPr>
                            </m:funcPr>
                            <m:fName>
                              <m:sSup>
                                <m:sSupPr>
                                  <m:ctrlPr>
                                    <a:rPr lang="en-US" altLang="zh-CN" sz="1300" b="0" i="1" dirty="0" smtClean="0">
                                      <a:solidFill>
                                        <a:schemeClr val="tx1"/>
                                      </a:solidFill>
                                      <a:latin typeface="Cambria Math" panose="02040503050406030204" pitchFamily="18" charset="0"/>
                                    </a:rPr>
                                  </m:ctrlPr>
                                </m:sSupPr>
                                <m:e>
                                  <m:r>
                                    <m:rPr>
                                      <m:sty m:val="p"/>
                                    </m:rPr>
                                    <a:rPr lang="en-US" altLang="zh-CN" sz="1300" b="0" i="0" dirty="0" smtClean="0">
                                      <a:solidFill>
                                        <a:schemeClr val="tx1"/>
                                      </a:solidFill>
                                      <a:latin typeface="Cambria Math" panose="02040503050406030204" pitchFamily="18" charset="0"/>
                                    </a:rPr>
                                    <m:t>cos</m:t>
                                  </m:r>
                                </m:e>
                                <m:sup>
                                  <m:r>
                                    <a:rPr lang="en-US" altLang="zh-CN" sz="1300" b="0" i="1" dirty="0" smtClean="0">
                                      <a:solidFill>
                                        <a:schemeClr val="tx1"/>
                                      </a:solidFill>
                                      <a:latin typeface="Cambria Math" panose="02040503050406030204" pitchFamily="18" charset="0"/>
                                    </a:rPr>
                                    <m:t>2</m:t>
                                  </m:r>
                                </m:sup>
                              </m:sSup>
                            </m:fName>
                            <m:e>
                              <m:r>
                                <a:rPr lang="en-US" altLang="zh-CN" sz="1300" b="0" i="1" dirty="0" smtClean="0">
                                  <a:solidFill>
                                    <a:schemeClr val="tx1"/>
                                  </a:solidFill>
                                  <a:latin typeface="Cambria Math" panose="02040503050406030204" pitchFamily="18" charset="0"/>
                                </a:rPr>
                                <m:t>𝜃</m:t>
                              </m:r>
                            </m:e>
                          </m:func>
                        </m:e>
                      </m:rad>
                      <m:r>
                        <m:rPr>
                          <m:sty m:val="p"/>
                        </m:rPr>
                        <a:rPr lang="en-US" altLang="zh-CN" sz="1300" i="1" dirty="0">
                          <a:solidFill>
                            <a:schemeClr val="tx1"/>
                          </a:solidFill>
                          <a:latin typeface="Cambria Math" panose="02040503050406030204" pitchFamily="18" charset="0"/>
                        </a:rPr>
                        <m:t>d</m:t>
                      </m:r>
                      <m:r>
                        <a:rPr lang="en-US" altLang="zh-CN" sz="1300" i="1" dirty="0">
                          <a:solidFill>
                            <a:schemeClr val="tx1"/>
                          </a:solidFill>
                          <a:latin typeface="Cambria Math" panose="02040503050406030204" pitchFamily="18" charset="0"/>
                        </a:rPr>
                        <m:t>𝜃</m:t>
                      </m:r>
                      <m:r>
                        <a:rPr lang="en-US" altLang="zh-CN" sz="1300" i="1" dirty="0">
                          <a:solidFill>
                            <a:schemeClr val="tx1"/>
                          </a:solidFill>
                          <a:latin typeface="Cambria Math" panose="02040503050406030204" pitchFamily="18" charset="0"/>
                        </a:rPr>
                        <m:t>𝑑</m:t>
                      </m:r>
                      <m:r>
                        <a:rPr lang="en-US" altLang="zh-CN" sz="1300" i="1" dirty="0">
                          <a:solidFill>
                            <a:schemeClr val="tx1"/>
                          </a:solidFill>
                          <a:latin typeface="Cambria Math" panose="02040503050406030204" pitchFamily="18" charset="0"/>
                        </a:rPr>
                        <m:t>𝜙</m:t>
                      </m:r>
                      <m:r>
                        <a:rPr lang="en-US" altLang="zh-CN" sz="1300" b="0" i="1" dirty="0" smtClean="0">
                          <a:solidFill>
                            <a:schemeClr val="tx1"/>
                          </a:solidFill>
                          <a:latin typeface="Cambria Math" panose="02040503050406030204" pitchFamily="18" charset="0"/>
                        </a:rPr>
                        <m:t>,  </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𝐴</m:t>
                          </m:r>
                        </m:e>
                        <m:sub>
                          <m:r>
                            <a:rPr lang="en-US" altLang="zh-CN" sz="1300" b="0" i="1" dirty="0" smtClean="0">
                              <a:solidFill>
                                <a:schemeClr val="tx1"/>
                              </a:solidFill>
                              <a:latin typeface="Cambria Math" panose="02040503050406030204" pitchFamily="18" charset="0"/>
                            </a:rPr>
                            <m:t>𝑀</m:t>
                          </m:r>
                        </m:sub>
                      </m:sSub>
                      <m:r>
                        <a:rPr lang="en-US" altLang="zh-CN" sz="1300" b="0" i="1" dirty="0" smtClean="0">
                          <a:solidFill>
                            <a:schemeClr val="tx1"/>
                          </a:solidFill>
                          <a:latin typeface="Cambria Math" panose="02040503050406030204" pitchFamily="18" charset="0"/>
                        </a:rPr>
                        <m:t>=</m:t>
                      </m:r>
                      <m:r>
                        <a:rPr lang="en-US" altLang="zh-CN" sz="1300" b="0" i="1" dirty="0" smtClean="0">
                          <a:solidFill>
                            <a:schemeClr val="tx1"/>
                          </a:solidFill>
                          <a:latin typeface="Cambria Math" panose="02040503050406030204" pitchFamily="18" charset="0"/>
                        </a:rPr>
                        <m:t>𝜋</m:t>
                      </m:r>
                    </m:oMath>
                  </m:oMathPara>
                </a14:m>
                <a:endParaRPr lang="en-US" altLang="zh-CN" sz="1300" b="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en-US" altLang="zh-CN" sz="1300" b="0" i="1" dirty="0" smtClean="0">
                          <a:solidFill>
                            <a:schemeClr val="tx1"/>
                          </a:solidFill>
                          <a:latin typeface="Cambria Math" panose="02040503050406030204" pitchFamily="18" charset="0"/>
                        </a:rPr>
                        <m:t>𝐷</m:t>
                      </m:r>
                      <m:d>
                        <m:dPr>
                          <m:ctrlPr>
                            <a:rPr lang="en-US" altLang="zh-CN" sz="1300" b="0" i="1" dirty="0" smtClean="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𝒎</m:t>
                          </m:r>
                        </m:e>
                      </m:d>
                      <m:r>
                        <a:rPr lang="en-US" altLang="zh-CN" sz="1300" b="0" i="1" dirty="0" smtClean="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r>
                            <a:rPr lang="en-US" altLang="zh-CN" sz="1300" b="0" i="1" dirty="0" smtClean="0">
                              <a:solidFill>
                                <a:schemeClr val="tx1"/>
                              </a:solidFill>
                              <a:latin typeface="Cambria Math" panose="02040503050406030204" pitchFamily="18" charset="0"/>
                            </a:rPr>
                            <m:t>𝑑𝐴</m:t>
                          </m:r>
                        </m:num>
                        <m:den>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𝐴</m:t>
                              </m:r>
                            </m:e>
                            <m:sub>
                              <m:r>
                                <a:rPr lang="en-US" altLang="zh-CN" sz="1300" b="0" i="1" dirty="0" smtClean="0">
                                  <a:solidFill>
                                    <a:schemeClr val="tx1"/>
                                  </a:solidFill>
                                  <a:latin typeface="Cambria Math" panose="02040503050406030204" pitchFamily="18" charset="0"/>
                                </a:rPr>
                                <m:t>𝑀</m:t>
                              </m:r>
                            </m:sub>
                          </m:sSub>
                          <m:r>
                            <a:rPr lang="en-US" altLang="zh-CN" sz="1300" b="0" i="1" dirty="0" smtClean="0">
                              <a:solidFill>
                                <a:schemeClr val="tx1"/>
                              </a:solidFill>
                              <a:latin typeface="Cambria Math" panose="02040503050406030204" pitchFamily="18" charset="0"/>
                            </a:rPr>
                            <m:t> </m:t>
                          </m:r>
                          <m:r>
                            <a:rPr lang="en-US" altLang="zh-CN" sz="1300" b="0" i="1" dirty="0" smtClean="0">
                              <a:solidFill>
                                <a:schemeClr val="tx1"/>
                              </a:solidFill>
                              <a:latin typeface="Cambria Math" panose="02040503050406030204" pitchFamily="18" charset="0"/>
                            </a:rPr>
                            <m:t>𝑑</m:t>
                          </m:r>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𝜔</m:t>
                              </m:r>
                            </m:e>
                            <m:sub>
                              <m:r>
                                <a:rPr lang="en-US" altLang="zh-CN" sz="1300" b="0" i="1" dirty="0" smtClean="0">
                                  <a:solidFill>
                                    <a:schemeClr val="tx1"/>
                                  </a:solidFill>
                                  <a:latin typeface="Cambria Math" panose="02040503050406030204" pitchFamily="18" charset="0"/>
                                </a:rPr>
                                <m:t>𝑚</m:t>
                              </m:r>
                            </m:sub>
                          </m:sSub>
                        </m:den>
                      </m:f>
                      <m:r>
                        <a:rPr lang="en-US" altLang="zh-CN" sz="1300" b="0" i="1" dirty="0" smtClean="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sin</m:t>
                              </m:r>
                            </m:fName>
                            <m:e>
                              <m:r>
                                <a:rPr lang="en-US" altLang="zh-CN" sz="1300" i="1" dirty="0">
                                  <a:solidFill>
                                    <a:schemeClr val="tx1"/>
                                  </a:solidFill>
                                  <a:latin typeface="Cambria Math" panose="02040503050406030204" pitchFamily="18" charset="0"/>
                                </a:rPr>
                                <m:t>𝜃</m:t>
                              </m:r>
                            </m:e>
                          </m:func>
                          <m:rad>
                            <m:radPr>
                              <m:degHide m:val="on"/>
                              <m:ctrlPr>
                                <a:rPr lang="en-US" altLang="zh-CN" sz="1300" i="1" dirty="0">
                                  <a:solidFill>
                                    <a:schemeClr val="tx1"/>
                                  </a:solidFill>
                                  <a:latin typeface="Cambria Math" panose="02040503050406030204" pitchFamily="18" charset="0"/>
                                </a:rPr>
                              </m:ctrlPr>
                            </m:radPr>
                            <m:deg/>
                            <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rad>
                          <m:r>
                            <m:rPr>
                              <m:sty m:val="p"/>
                            </m:rPr>
                            <a:rPr lang="en-US" altLang="zh-CN" sz="1300" i="1" dirty="0">
                              <a:solidFill>
                                <a:schemeClr val="tx1"/>
                              </a:solidFill>
                              <a:latin typeface="Cambria Math" panose="02040503050406030204" pitchFamily="18" charset="0"/>
                            </a:rPr>
                            <m:t>d</m:t>
                          </m:r>
                          <m:r>
                            <a:rPr lang="en-US" altLang="zh-CN" sz="1300" i="1" dirty="0">
                              <a:solidFill>
                                <a:schemeClr val="tx1"/>
                              </a:solidFill>
                              <a:latin typeface="Cambria Math" panose="02040503050406030204" pitchFamily="18" charset="0"/>
                            </a:rPr>
                            <m:t>𝜃</m:t>
                          </m:r>
                          <m:r>
                            <a:rPr lang="en-US" altLang="zh-CN" sz="1300" i="1" dirty="0">
                              <a:solidFill>
                                <a:schemeClr val="tx1"/>
                              </a:solidFill>
                              <a:latin typeface="Cambria Math" panose="02040503050406030204" pitchFamily="18" charset="0"/>
                            </a:rPr>
                            <m:t>𝑑</m:t>
                          </m:r>
                          <m:r>
                            <a:rPr lang="en-US" altLang="zh-CN" sz="1300" i="1" dirty="0">
                              <a:solidFill>
                                <a:schemeClr val="tx1"/>
                              </a:solidFill>
                              <a:latin typeface="Cambria Math" panose="02040503050406030204" pitchFamily="18" charset="0"/>
                            </a:rPr>
                            <m:t>𝜙</m:t>
                          </m:r>
                        </m:num>
                        <m:den>
                          <m:r>
                            <a:rPr lang="en-US" altLang="zh-CN" sz="1300" i="1" dirty="0">
                              <a:solidFill>
                                <a:schemeClr val="tx1"/>
                              </a:solidFill>
                              <a:latin typeface="Cambria Math" panose="02040503050406030204" pitchFamily="18" charset="0"/>
                            </a:rPr>
                            <m:t>𝜋</m:t>
                          </m:r>
                          <m:f>
                            <m:fPr>
                              <m:ctrlPr>
                                <a:rPr lang="en-US" altLang="zh-CN" sz="1300" i="1" dirty="0">
                                  <a:solidFill>
                                    <a:schemeClr val="tx1"/>
                                  </a:solidFill>
                                  <a:latin typeface="Cambria Math" panose="02040503050406030204" pitchFamily="18" charset="0"/>
                                </a:rPr>
                              </m:ctrlPr>
                            </m:fPr>
                            <m:num>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num>
                            <m:den>
                              <m:d>
                                <m:dPr>
                                  <m:ctrlPr>
                                    <a:rPr lang="en-US" altLang="zh-CN" sz="1300" i="1" dirty="0">
                                      <a:solidFill>
                                        <a:schemeClr val="tx1"/>
                                      </a:solidFill>
                                      <a:latin typeface="Cambria Math" panose="02040503050406030204" pitchFamily="18" charset="0"/>
                                    </a:rPr>
                                  </m:ctrlPr>
                                </m:dPr>
                                <m:e>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d>
                              <m:rad>
                                <m:radPr>
                                  <m:degHide m:val="on"/>
                                  <m:ctrlPr>
                                    <a:rPr lang="en-US" altLang="zh-CN" sz="1300" i="1" dirty="0">
                                      <a:solidFill>
                                        <a:schemeClr val="tx1"/>
                                      </a:solidFill>
                                      <a:latin typeface="Cambria Math" panose="02040503050406030204" pitchFamily="18" charset="0"/>
                                    </a:rPr>
                                  </m:ctrlPr>
                                </m:radPr>
                                <m:deg/>
                                <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r>
                                    <a:rPr lang="en-US" altLang="zh-CN" sz="1300" i="1" dirty="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cot</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rad>
                            </m:den>
                          </m:f>
                          <m:r>
                            <a:rPr lang="en-US" altLang="zh-CN" sz="1300" i="1" dirty="0">
                              <a:solidFill>
                                <a:schemeClr val="tx1"/>
                              </a:solidFill>
                              <a:latin typeface="Cambria Math" panose="02040503050406030204" pitchFamily="18" charset="0"/>
                            </a:rPr>
                            <m:t>𝑑</m:t>
                          </m:r>
                          <m:r>
                            <a:rPr lang="en-US" altLang="zh-CN" sz="1300" i="1" dirty="0">
                              <a:solidFill>
                                <a:schemeClr val="tx1"/>
                              </a:solidFill>
                              <a:latin typeface="Cambria Math" panose="02040503050406030204" pitchFamily="18" charset="0"/>
                            </a:rPr>
                            <m:t>𝜃</m:t>
                          </m:r>
                          <m:r>
                            <a:rPr lang="en-US" altLang="zh-CN" sz="1300" i="1" dirty="0">
                              <a:solidFill>
                                <a:schemeClr val="tx1"/>
                              </a:solidFill>
                              <a:latin typeface="Cambria Math" panose="02040503050406030204" pitchFamily="18" charset="0"/>
                            </a:rPr>
                            <m:t>𝑑</m:t>
                          </m:r>
                          <m:r>
                            <a:rPr lang="en-US" altLang="zh-CN" sz="1300" i="1" dirty="0">
                              <a:solidFill>
                                <a:schemeClr val="tx1"/>
                              </a:solidFill>
                              <a:latin typeface="Cambria Math" panose="02040503050406030204" pitchFamily="18" charset="0"/>
                            </a:rPr>
                            <m:t>𝜙</m:t>
                          </m:r>
                          <m:r>
                            <m:rPr>
                              <m:nor/>
                            </m:rPr>
                            <a:rPr lang="en-US" altLang="zh-CN" sz="1300" i="1" dirty="0">
                              <a:solidFill>
                                <a:schemeClr val="tx1"/>
                              </a:solidFill>
                              <a:latin typeface="Cambria Math" panose="02040503050406030204" pitchFamily="18" charset="0"/>
                            </a:rPr>
                            <m:t> </m:t>
                          </m:r>
                        </m:den>
                      </m:f>
                      <m:r>
                        <a:rPr lang="en-US" altLang="zh-CN" sz="1300" b="0" i="1" dirty="0" smtClean="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func>
                            <m:funcPr>
                              <m:ctrlPr>
                                <a:rPr lang="en-US" altLang="zh-CN" sz="1300" i="1" dirty="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sin</m:t>
                              </m:r>
                            </m:fName>
                            <m:e>
                              <m:r>
                                <a:rPr lang="en-US" altLang="zh-CN" sz="1300" i="1" dirty="0">
                                  <a:solidFill>
                                    <a:schemeClr val="tx1"/>
                                  </a:solidFill>
                                  <a:latin typeface="Cambria Math" panose="02040503050406030204" pitchFamily="18" charset="0"/>
                                </a:rPr>
                                <m:t>𝜃</m:t>
                              </m:r>
                            </m:e>
                          </m:func>
                          <m:rad>
                            <m:radPr>
                              <m:degHide m:val="on"/>
                              <m:ctrlPr>
                                <a:rPr lang="en-US" altLang="zh-CN" sz="1300" i="1" dirty="0">
                                  <a:solidFill>
                                    <a:schemeClr val="tx1"/>
                                  </a:solidFill>
                                  <a:latin typeface="Cambria Math" panose="02040503050406030204" pitchFamily="18" charset="0"/>
                                </a:rPr>
                              </m:ctrlPr>
                            </m:radPr>
                            <m:deg/>
                            <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rad>
                          <m:d>
                            <m:dPr>
                              <m:ctrlPr>
                                <a:rPr lang="en-US" altLang="zh-CN" sz="1300" i="1" dirty="0">
                                  <a:solidFill>
                                    <a:schemeClr val="tx1"/>
                                  </a:solidFill>
                                  <a:latin typeface="Cambria Math" panose="02040503050406030204" pitchFamily="18" charset="0"/>
                                </a:rPr>
                              </m:ctrlPr>
                            </m:dPr>
                            <m:e>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d>
                          <m:rad>
                            <m:radPr>
                              <m:degHide m:val="on"/>
                              <m:ctrlPr>
                                <a:rPr lang="en-US" altLang="zh-CN" sz="1300" i="1" dirty="0">
                                  <a:solidFill>
                                    <a:schemeClr val="tx1"/>
                                  </a:solidFill>
                                  <a:latin typeface="Cambria Math" panose="02040503050406030204" pitchFamily="18" charset="0"/>
                                </a:rPr>
                              </m:ctrlPr>
                            </m:radPr>
                            <m:deg/>
                            <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r>
                                <a:rPr lang="en-US" altLang="zh-CN" sz="1300" i="1" dirty="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cot</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rad>
                        </m:num>
                        <m:den>
                          <m:r>
                            <a:rPr lang="en-US" altLang="zh-CN" sz="1300" i="1" dirty="0">
                              <a:solidFill>
                                <a:schemeClr val="tx1"/>
                              </a:solidFill>
                              <a:latin typeface="Cambria Math" panose="02040503050406030204" pitchFamily="18" charset="0"/>
                            </a:rPr>
                            <m:t>𝜋</m:t>
                          </m:r>
                          <m:sSup>
                            <m:sSupPr>
                              <m:ctrlPr>
                                <a:rPr lang="en-US" altLang="zh-CN" sz="1300" b="0" i="1" dirty="0" smtClean="0">
                                  <a:solidFill>
                                    <a:schemeClr val="tx1"/>
                                  </a:solidFill>
                                  <a:latin typeface="Cambria Math" panose="02040503050406030204" pitchFamily="18" charset="0"/>
                                </a:rPr>
                              </m:ctrlPr>
                            </m:sSupPr>
                            <m:e>
                              <m:r>
                                <a:rPr lang="en-US" altLang="zh-CN" sz="1300" b="0" i="1" dirty="0" smtClean="0">
                                  <a:solidFill>
                                    <a:schemeClr val="tx1"/>
                                  </a:solidFill>
                                  <a:latin typeface="Cambria Math" panose="02040503050406030204" pitchFamily="18" charset="0"/>
                                </a:rPr>
                                <m:t>𝛼</m:t>
                              </m:r>
                            </m:e>
                            <m:sup>
                              <m:r>
                                <a:rPr lang="en-US" altLang="zh-CN" sz="1300" b="0" i="1" dirty="0" smtClean="0">
                                  <a:solidFill>
                                    <a:schemeClr val="tx1"/>
                                  </a:solidFill>
                                  <a:latin typeface="Cambria Math" panose="02040503050406030204" pitchFamily="18" charset="0"/>
                                </a:rPr>
                                <m:t>2</m:t>
                              </m:r>
                            </m:sup>
                          </m:sSup>
                        </m:den>
                      </m:f>
                      <m:r>
                        <a:rPr lang="en-US" altLang="zh-CN" sz="1300" b="0" i="1" dirty="0" smtClean="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rad>
                            <m:radPr>
                              <m:degHide m:val="on"/>
                              <m:ctrlPr>
                                <a:rPr lang="en-US" altLang="zh-CN" sz="1300" i="1" dirty="0">
                                  <a:solidFill>
                                    <a:schemeClr val="tx1"/>
                                  </a:solidFill>
                                  <a:latin typeface="Cambria Math" panose="02040503050406030204" pitchFamily="18" charset="0"/>
                                </a:rPr>
                              </m:ctrlPr>
                            </m:radPr>
                            <m:deg/>
                            <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rad>
                          <m:d>
                            <m:dPr>
                              <m:ctrlPr>
                                <a:rPr lang="en-US" altLang="zh-CN" sz="1300" i="1" dirty="0">
                                  <a:solidFill>
                                    <a:schemeClr val="tx1"/>
                                  </a:solidFill>
                                  <a:latin typeface="Cambria Math" panose="02040503050406030204" pitchFamily="18" charset="0"/>
                                </a:rPr>
                              </m:ctrlPr>
                            </m:dPr>
                            <m:e>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d>
                          <m:rad>
                            <m:radPr>
                              <m:degHide m:val="on"/>
                              <m:ctrlPr>
                                <a:rPr lang="en-US" altLang="zh-CN" sz="1300" i="1" dirty="0">
                                  <a:solidFill>
                                    <a:schemeClr val="tx1"/>
                                  </a:solidFill>
                                  <a:latin typeface="Cambria Math" panose="02040503050406030204" pitchFamily="18" charset="0"/>
                                </a:rPr>
                              </m:ctrlPr>
                            </m:radPr>
                            <m:deg/>
                            <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b="0" i="1" dirty="0" smtClean="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b="0" i="1" dirty="0" smtClean="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m:t>
                                      </m:r>
                                      <m:r>
                                        <m:rPr>
                                          <m:sty m:val="p"/>
                                        </m:rPr>
                                        <a:rPr lang="en-US" altLang="zh-CN" sz="1300" b="0" i="0" dirty="0" smtClean="0">
                                          <a:solidFill>
                                            <a:schemeClr val="tx1"/>
                                          </a:solidFill>
                                          <a:latin typeface="Cambria Math" panose="02040503050406030204" pitchFamily="18" charset="0"/>
                                        </a:rPr>
                                        <m:t>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rad>
                        </m:num>
                        <m:den>
                          <m:r>
                            <a:rPr lang="en-US" altLang="zh-CN" sz="1300" i="1" dirty="0">
                              <a:solidFill>
                                <a:schemeClr val="tx1"/>
                              </a:solidFill>
                              <a:latin typeface="Cambria Math" panose="02040503050406030204" pitchFamily="18" charset="0"/>
                            </a:rPr>
                            <m:t>𝜋</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den>
                      </m:f>
                      <m:r>
                        <a:rPr lang="en-US" altLang="zh-CN" sz="1300" b="0" i="1" dirty="0" smtClean="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sSup>
                            <m:sSupPr>
                              <m:ctrlPr>
                                <a:rPr lang="en-US" altLang="zh-CN" sz="1300" b="0" i="1" dirty="0" smtClean="0">
                                  <a:solidFill>
                                    <a:schemeClr val="tx1"/>
                                  </a:solidFill>
                                  <a:latin typeface="Cambria Math" panose="02040503050406030204" pitchFamily="18" charset="0"/>
                                </a:rPr>
                              </m:ctrlPr>
                            </m:sSupPr>
                            <m:e>
                              <m:d>
                                <m:dPr>
                                  <m:ctrlPr>
                                    <a:rPr lang="en-US" altLang="zh-CN" sz="1300" i="1" dirty="0">
                                      <a:solidFill>
                                        <a:schemeClr val="tx1"/>
                                      </a:solidFill>
                                      <a:latin typeface="Cambria Math" panose="02040503050406030204" pitchFamily="18" charset="0"/>
                                    </a:rPr>
                                  </m:ctrlPr>
                                </m:dPr>
                                <m:e>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d>
                            </m:e>
                            <m:sup>
                              <m:r>
                                <a:rPr lang="en-US" altLang="zh-CN" sz="1300" b="0" i="1" dirty="0" smtClean="0">
                                  <a:solidFill>
                                    <a:schemeClr val="tx1"/>
                                  </a:solidFill>
                                  <a:latin typeface="Cambria Math" panose="02040503050406030204" pitchFamily="18" charset="0"/>
                                </a:rPr>
                                <m:t>2</m:t>
                              </m:r>
                            </m:sup>
                          </m:sSup>
                        </m:num>
                        <m:den>
                          <m:r>
                            <a:rPr lang="en-US" altLang="zh-CN" sz="1300" i="1" dirty="0">
                              <a:solidFill>
                                <a:schemeClr val="tx1"/>
                              </a:solidFill>
                              <a:latin typeface="Cambria Math" panose="02040503050406030204" pitchFamily="18" charset="0"/>
                            </a:rPr>
                            <m:t>𝜋</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den>
                      </m:f>
                    </m:oMath>
                  </m:oMathPara>
                </a14:m>
                <a:endParaRPr lang="en-US" altLang="zh-CN" sz="130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func>
                        <m:funcPr>
                          <m:ctrlPr>
                            <a:rPr lang="en-US" altLang="zh-CN" sz="1300" i="1" dirty="0" smtClean="0">
                              <a:solidFill>
                                <a:schemeClr val="tx1"/>
                              </a:solidFill>
                              <a:latin typeface="Cambria Math" panose="02040503050406030204" pitchFamily="18" charset="0"/>
                            </a:rPr>
                          </m:ctrlPr>
                        </m:funcPr>
                        <m:fName>
                          <m:r>
                            <m:rPr>
                              <m:sty m:val="p"/>
                            </m:rPr>
                            <a:rPr lang="en-US" altLang="zh-CN" sz="1300" dirty="0">
                              <a:solidFill>
                                <a:schemeClr val="tx1"/>
                              </a:solidFill>
                              <a:latin typeface="Cambria Math" panose="02040503050406030204" pitchFamily="18" charset="0"/>
                            </a:rPr>
                            <m:t>cos</m:t>
                          </m:r>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r>
                        <a:rPr lang="en-US" altLang="zh-CN" sz="1300" b="0" i="1" dirty="0" smtClean="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r>
                            <m:rPr>
                              <m:sty m:val="p"/>
                            </m:rPr>
                            <a:rPr lang="en-US" altLang="zh-CN" sz="1300" i="1" dirty="0">
                              <a:solidFill>
                                <a:schemeClr val="tx1"/>
                              </a:solidFill>
                              <a:latin typeface="Cambria Math" panose="02040503050406030204" pitchFamily="18" charset="0"/>
                            </a:rPr>
                            <m:t>cos</m:t>
                          </m:r>
                          <m:r>
                            <a:rPr lang="en-US" altLang="zh-CN" sz="1300" b="0" i="1" dirty="0" smtClean="0">
                              <a:solidFill>
                                <a:schemeClr val="tx1"/>
                              </a:solidFill>
                              <a:latin typeface="Cambria Math" panose="02040503050406030204" pitchFamily="18" charset="0"/>
                            </a:rPr>
                            <m:t> </m:t>
                          </m:r>
                          <m:r>
                            <a:rPr lang="en-US" altLang="zh-CN" sz="1300" b="0" i="1" dirty="0" smtClean="0">
                              <a:solidFill>
                                <a:schemeClr val="tx1"/>
                              </a:solidFill>
                              <a:latin typeface="Cambria Math" panose="02040503050406030204" pitchFamily="18" charset="0"/>
                            </a:rPr>
                            <m:t>𝜃</m:t>
                          </m:r>
                        </m:num>
                        <m:den>
                          <m:rad>
                            <m:radPr>
                              <m:degHide m:val="on"/>
                              <m:ctrlPr>
                                <a:rPr lang="en-US" altLang="zh-CN" sz="1300" b="1" i="1" dirty="0" smtClean="0">
                                  <a:solidFill>
                                    <a:schemeClr val="tx1"/>
                                  </a:solidFill>
                                  <a:latin typeface="Cambria Math" panose="02040503050406030204" pitchFamily="18" charset="0"/>
                                </a:rPr>
                              </m:ctrlPr>
                            </m:radPr>
                            <m:deg/>
                            <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𝑠𝑖𝑛</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e>
                          </m:rad>
                        </m:den>
                      </m:f>
                      <m:r>
                        <a:rPr lang="en-US" altLang="zh-CN" sz="1300" b="0" i="1" dirty="0" smtClean="0">
                          <a:solidFill>
                            <a:schemeClr val="tx1"/>
                          </a:solidFill>
                          <a:latin typeface="Cambria Math" panose="02040503050406030204" pitchFamily="18" charset="0"/>
                        </a:rPr>
                        <m:t>,  </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𝑠𝑖𝑛</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i="1" dirty="0">
                          <a:solidFill>
                            <a:schemeClr val="tx1"/>
                          </a:solidFill>
                          <a:latin typeface="Cambria Math" panose="02040503050406030204" pitchFamily="18" charset="0"/>
                        </a:rPr>
                        <m:t>+</m:t>
                      </m:r>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r>
                            <a:rPr lang="en-US" altLang="zh-CN" sz="1300" i="1" dirty="0">
                              <a:solidFill>
                                <a:schemeClr val="tx1"/>
                              </a:solidFill>
                              <a:latin typeface="Cambria Math" panose="02040503050406030204" pitchFamily="18" charset="0"/>
                            </a:rPr>
                            <m:t>𝜃</m:t>
                          </m:r>
                        </m:e>
                      </m:func>
                      <m:r>
                        <a:rPr lang="en-US" altLang="zh-CN" sz="1300" b="0" i="1" dirty="0" smtClean="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func>
                            <m:funcPr>
                              <m:ctrlPr>
                                <a:rPr lang="en-US" altLang="zh-CN" sz="1300" b="0" i="1" dirty="0" smtClean="0">
                                  <a:solidFill>
                                    <a:schemeClr val="tx1"/>
                                  </a:solidFill>
                                  <a:latin typeface="Cambria Math" panose="02040503050406030204" pitchFamily="18" charset="0"/>
                                </a:rPr>
                              </m:ctrlPr>
                            </m:funcPr>
                            <m:fName>
                              <m:sSup>
                                <m:sSupPr>
                                  <m:ctrlPr>
                                    <a:rPr lang="en-US" altLang="zh-CN" sz="1300" b="0" i="1" dirty="0" smtClean="0">
                                      <a:solidFill>
                                        <a:schemeClr val="tx1"/>
                                      </a:solidFill>
                                      <a:latin typeface="Cambria Math" panose="02040503050406030204" pitchFamily="18" charset="0"/>
                                    </a:rPr>
                                  </m:ctrlPr>
                                </m:sSupPr>
                                <m:e>
                                  <m:r>
                                    <m:rPr>
                                      <m:sty m:val="p"/>
                                    </m:rPr>
                                    <a:rPr lang="en-US" altLang="zh-CN" sz="1300" b="0" i="0" dirty="0" smtClean="0">
                                      <a:solidFill>
                                        <a:schemeClr val="tx1"/>
                                      </a:solidFill>
                                      <a:latin typeface="Cambria Math" panose="02040503050406030204" pitchFamily="18" charset="0"/>
                                    </a:rPr>
                                    <m:t>cos</m:t>
                                  </m:r>
                                </m:e>
                                <m:sup>
                                  <m:r>
                                    <a:rPr lang="en-US" altLang="zh-CN" sz="1300" b="0" i="1" dirty="0" smtClean="0">
                                      <a:solidFill>
                                        <a:schemeClr val="tx1"/>
                                      </a:solidFill>
                                      <a:latin typeface="Cambria Math" panose="02040503050406030204" pitchFamily="18" charset="0"/>
                                    </a:rPr>
                                    <m:t>2</m:t>
                                  </m:r>
                                </m:sup>
                              </m:sSup>
                            </m:fName>
                            <m:e>
                              <m:r>
                                <a:rPr lang="en-US" altLang="zh-CN" sz="1300" b="0" i="1" dirty="0" smtClean="0">
                                  <a:solidFill>
                                    <a:schemeClr val="tx1"/>
                                  </a:solidFill>
                                  <a:latin typeface="Cambria Math" panose="02040503050406030204" pitchFamily="18" charset="0"/>
                                </a:rPr>
                                <m:t>𝜃</m:t>
                              </m:r>
                            </m:e>
                          </m:func>
                        </m:num>
                        <m:den>
                          <m:func>
                            <m:funcPr>
                              <m:ctrlPr>
                                <a:rPr lang="en-US" altLang="zh-CN" sz="1300" b="0" i="1" dirty="0" smtClean="0">
                                  <a:solidFill>
                                    <a:schemeClr val="tx1"/>
                                  </a:solidFill>
                                  <a:latin typeface="Cambria Math" panose="02040503050406030204" pitchFamily="18" charset="0"/>
                                </a:rPr>
                              </m:ctrlPr>
                            </m:funcPr>
                            <m:fName>
                              <m:sSup>
                                <m:sSupPr>
                                  <m:ctrlPr>
                                    <a:rPr lang="en-US" altLang="zh-CN" sz="1300" b="0" i="1" dirty="0" smtClean="0">
                                      <a:solidFill>
                                        <a:schemeClr val="tx1"/>
                                      </a:solidFill>
                                      <a:latin typeface="Cambria Math" panose="02040503050406030204" pitchFamily="18" charset="0"/>
                                    </a:rPr>
                                  </m:ctrlPr>
                                </m:sSupPr>
                                <m:e>
                                  <m:r>
                                    <m:rPr>
                                      <m:sty m:val="p"/>
                                    </m:rPr>
                                    <a:rPr lang="en-US" altLang="zh-CN" sz="1300" b="0" i="0" dirty="0" smtClean="0">
                                      <a:solidFill>
                                        <a:schemeClr val="tx1"/>
                                      </a:solidFill>
                                      <a:latin typeface="Cambria Math" panose="02040503050406030204" pitchFamily="18" charset="0"/>
                                    </a:rPr>
                                    <m:t>cos</m:t>
                                  </m:r>
                                </m:e>
                                <m:sup>
                                  <m:r>
                                    <a:rPr lang="en-US" altLang="zh-CN" sz="1300" b="0" i="1" dirty="0" smtClean="0">
                                      <a:solidFill>
                                        <a:schemeClr val="tx1"/>
                                      </a:solidFill>
                                      <a:latin typeface="Cambria Math" panose="02040503050406030204" pitchFamily="18" charset="0"/>
                                    </a:rPr>
                                    <m:t>2</m:t>
                                  </m:r>
                                </m:sup>
                              </m:sSup>
                            </m:fName>
                            <m:e>
                              <m:sSub>
                                <m:sSubPr>
                                  <m:ctrlPr>
                                    <a:rPr lang="en-US" altLang="zh-CN" sz="1300" b="0" i="1" dirty="0" smtClean="0">
                                      <a:solidFill>
                                        <a:schemeClr val="tx1"/>
                                      </a:solidFill>
                                      <a:latin typeface="Cambria Math" panose="02040503050406030204" pitchFamily="18" charset="0"/>
                                    </a:rPr>
                                  </m:ctrlPr>
                                </m:sSubPr>
                                <m:e>
                                  <m:r>
                                    <a:rPr lang="en-US" altLang="zh-CN" sz="1300" b="0" i="1" dirty="0" smtClean="0">
                                      <a:solidFill>
                                        <a:schemeClr val="tx1"/>
                                      </a:solidFill>
                                      <a:latin typeface="Cambria Math" panose="02040503050406030204" pitchFamily="18" charset="0"/>
                                    </a:rPr>
                                    <m:t>𝜃</m:t>
                                  </m:r>
                                </m:e>
                                <m:sub>
                                  <m:r>
                                    <a:rPr lang="en-US" altLang="zh-CN" sz="1300" b="0" i="1" dirty="0" smtClean="0">
                                      <a:solidFill>
                                        <a:schemeClr val="tx1"/>
                                      </a:solidFill>
                                      <a:latin typeface="Cambria Math" panose="02040503050406030204" pitchFamily="18" charset="0"/>
                                    </a:rPr>
                                    <m:t>𝑚</m:t>
                                  </m:r>
                                </m:sub>
                              </m:sSub>
                            </m:e>
                          </m:func>
                        </m:den>
                      </m:f>
                    </m:oMath>
                  </m:oMathPara>
                </a14:m>
                <a:endParaRPr lang="en-US" altLang="zh-CN" sz="1300" i="1" dirty="0">
                  <a:solidFill>
                    <a:schemeClr val="tx1"/>
                  </a:solidFill>
                  <a:latin typeface="Cambria Math" panose="02040503050406030204" pitchFamily="18" charset="0"/>
                </a:endParaRPr>
              </a:p>
              <a:p>
                <a:pPr>
                  <a:lnSpc>
                    <a:spcPct val="130000"/>
                  </a:lnSpc>
                </a:pPr>
                <a14:m>
                  <m:oMathPara xmlns:m="http://schemas.openxmlformats.org/officeDocument/2006/math">
                    <m:oMathParaPr>
                      <m:jc m:val="centerGroup"/>
                    </m:oMathParaPr>
                    <m:oMath xmlns:m="http://schemas.openxmlformats.org/officeDocument/2006/math">
                      <m:r>
                        <a:rPr lang="en-US" altLang="zh-CN" sz="1300" b="0" i="1" dirty="0" smtClean="0">
                          <a:solidFill>
                            <a:schemeClr val="tx1"/>
                          </a:solidFill>
                          <a:latin typeface="Cambria Math" panose="02040503050406030204" pitchFamily="18" charset="0"/>
                        </a:rPr>
                        <m:t>𝐷</m:t>
                      </m:r>
                      <m:d>
                        <m:dPr>
                          <m:ctrlPr>
                            <a:rPr lang="en-US" altLang="zh-CN" sz="1300" b="0" i="1" dirty="0" smtClean="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𝒎</m:t>
                          </m:r>
                        </m:e>
                      </m:d>
                      <m:r>
                        <a:rPr lang="en-US" altLang="zh-CN" sz="1300" i="1" dirty="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b="0" i="1" dirty="0" smtClean="0">
                                      <a:solidFill>
                                        <a:schemeClr val="tx1"/>
                                      </a:solidFill>
                                      <a:latin typeface="Cambria Math" panose="02040503050406030204" pitchFamily="18" charset="0"/>
                                    </a:rPr>
                                    <m:t>4</m:t>
                                  </m:r>
                                </m:sup>
                              </m:sSup>
                            </m:fName>
                            <m:e>
                              <m:r>
                                <a:rPr lang="en-US" altLang="zh-CN" sz="1300" i="1" dirty="0">
                                  <a:solidFill>
                                    <a:schemeClr val="tx1"/>
                                  </a:solidFill>
                                  <a:latin typeface="Cambria Math" panose="02040503050406030204" pitchFamily="18" charset="0"/>
                                </a:rPr>
                                <m:t>𝜃</m:t>
                              </m:r>
                            </m:e>
                          </m:func>
                        </m:num>
                        <m:den>
                          <m:r>
                            <a:rPr lang="en-US" altLang="zh-CN" sz="1300" i="1" dirty="0">
                              <a:solidFill>
                                <a:schemeClr val="tx1"/>
                              </a:solidFill>
                              <a:latin typeface="Cambria Math" panose="02040503050406030204" pitchFamily="18" charset="0"/>
                            </a:rPr>
                            <m:t>𝜋</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b="0" i="1" dirty="0" smtClean="0">
                                      <a:solidFill>
                                        <a:schemeClr val="tx1"/>
                                      </a:solidFill>
                                      <a:latin typeface="Cambria Math" panose="02040503050406030204" pitchFamily="18" charset="0"/>
                                    </a:rPr>
                                    <m:t>4</m:t>
                                  </m:r>
                                </m:sup>
                              </m:sSup>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den>
                      </m:f>
                    </m:oMath>
                  </m:oMathPara>
                </a14:m>
                <a:endParaRPr lang="en-US" altLang="zh-CN" sz="1300" i="1"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FC506E5C-4179-835F-5864-6606BD6043B6}"/>
                  </a:ext>
                </a:extLst>
              </p:cNvPr>
              <p:cNvSpPr>
                <a:spLocks noRot="1" noChangeAspect="1" noMove="1" noResize="1" noEditPoints="1" noAdjustHandles="1" noChangeArrowheads="1" noChangeShapeType="1" noTextEdit="1"/>
              </p:cNvSpPr>
              <p:nvPr/>
            </p:nvSpPr>
            <p:spPr>
              <a:xfrm>
                <a:off x="368712" y="1144044"/>
                <a:ext cx="6929212" cy="5402806"/>
              </a:xfrm>
              <a:prstGeom prst="rect">
                <a:avLst/>
              </a:prstGeom>
              <a:blipFill>
                <a:blip r:embed="rId3"/>
                <a:stretch>
                  <a:fillRect/>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403D8BCC-857D-8057-BB61-13980EA2F68B}"/>
              </a:ext>
            </a:extLst>
          </p:cNvPr>
          <p:cNvSpPr/>
          <p:nvPr/>
        </p:nvSpPr>
        <p:spPr>
          <a:xfrm>
            <a:off x="7797057" y="1735116"/>
            <a:ext cx="4320195" cy="25988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3519B9EE-7747-0EC6-88CD-B9B2E528B936}"/>
              </a:ext>
            </a:extLst>
          </p:cNvPr>
          <p:cNvSpPr/>
          <p:nvPr/>
        </p:nvSpPr>
        <p:spPr>
          <a:xfrm>
            <a:off x="7647003" y="1563666"/>
            <a:ext cx="4320195" cy="259889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a:extLst>
              <a:ext uri="{FF2B5EF4-FFF2-40B4-BE49-F238E27FC236}">
                <a16:creationId xmlns:a16="http://schemas.microsoft.com/office/drawing/2014/main" id="{F37BED66-F82E-250E-37FE-D500F542F2A1}"/>
              </a:ext>
            </a:extLst>
          </p:cNvPr>
          <p:cNvGrpSpPr/>
          <p:nvPr/>
        </p:nvGrpSpPr>
        <p:grpSpPr>
          <a:xfrm>
            <a:off x="8174548" y="1792531"/>
            <a:ext cx="3648740" cy="2224104"/>
            <a:chOff x="8174548" y="1792531"/>
            <a:chExt cx="3648740" cy="2224104"/>
          </a:xfrm>
        </p:grpSpPr>
        <p:sp>
          <p:nvSpPr>
            <p:cNvPr id="10" name="任意多边形: 形状 9">
              <a:extLst>
                <a:ext uri="{FF2B5EF4-FFF2-40B4-BE49-F238E27FC236}">
                  <a16:creationId xmlns:a16="http://schemas.microsoft.com/office/drawing/2014/main" id="{730B9B0F-8984-3BDA-D94D-0D8D86DF6194}"/>
                </a:ext>
              </a:extLst>
            </p:cNvPr>
            <p:cNvSpPr/>
            <p:nvPr/>
          </p:nvSpPr>
          <p:spPr>
            <a:xfrm>
              <a:off x="10263718" y="2609040"/>
              <a:ext cx="84176" cy="31603"/>
            </a:xfrm>
            <a:custGeom>
              <a:avLst/>
              <a:gdLst>
                <a:gd name="connsiteX0" fmla="*/ 0 w 86783"/>
                <a:gd name="connsiteY0" fmla="*/ 12808 h 19158"/>
                <a:gd name="connsiteX1" fmla="*/ 50800 w 86783"/>
                <a:gd name="connsiteY1" fmla="*/ 108 h 19158"/>
                <a:gd name="connsiteX2" fmla="*/ 86783 w 86783"/>
                <a:gd name="connsiteY2" fmla="*/ 19158 h 19158"/>
                <a:gd name="connsiteX0" fmla="*/ 0 w 86783"/>
                <a:gd name="connsiteY0" fmla="*/ 6893 h 13243"/>
                <a:gd name="connsiteX1" fmla="*/ 46436 w 86783"/>
                <a:gd name="connsiteY1" fmla="*/ 402 h 13243"/>
                <a:gd name="connsiteX2" fmla="*/ 86783 w 86783"/>
                <a:gd name="connsiteY2" fmla="*/ 13243 h 13243"/>
              </a:gdLst>
              <a:ahLst/>
              <a:cxnLst>
                <a:cxn ang="0">
                  <a:pos x="connsiteX0" y="connsiteY0"/>
                </a:cxn>
                <a:cxn ang="0">
                  <a:pos x="connsiteX1" y="connsiteY1"/>
                </a:cxn>
                <a:cxn ang="0">
                  <a:pos x="connsiteX2" y="connsiteY2"/>
                </a:cxn>
              </a:cxnLst>
              <a:rect l="l" t="t" r="r" b="b"/>
              <a:pathLst>
                <a:path w="86783" h="13243">
                  <a:moveTo>
                    <a:pt x="0" y="6893"/>
                  </a:moveTo>
                  <a:cubicBezTo>
                    <a:pt x="18168" y="14"/>
                    <a:pt x="31972" y="-656"/>
                    <a:pt x="46436" y="402"/>
                  </a:cubicBezTo>
                  <a:cubicBezTo>
                    <a:pt x="60900" y="1460"/>
                    <a:pt x="79375" y="1954"/>
                    <a:pt x="86783" y="1324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id="{8BE42101-6DC9-9704-6E45-34D39C04AF54}"/>
                </a:ext>
              </a:extLst>
            </p:cNvPr>
            <p:cNvSpPr/>
            <p:nvPr/>
          </p:nvSpPr>
          <p:spPr>
            <a:xfrm>
              <a:off x="9842500" y="3371562"/>
              <a:ext cx="154517" cy="48971"/>
            </a:xfrm>
            <a:custGeom>
              <a:avLst/>
              <a:gdLst>
                <a:gd name="connsiteX0" fmla="*/ 0 w 154517"/>
                <a:gd name="connsiteY0" fmla="*/ 10871 h 48971"/>
                <a:gd name="connsiteX1" fmla="*/ 84667 w 154517"/>
                <a:gd name="connsiteY1" fmla="*/ 2405 h 48971"/>
                <a:gd name="connsiteX2" fmla="*/ 154517 w 154517"/>
                <a:gd name="connsiteY2" fmla="*/ 48971 h 48971"/>
              </a:gdLst>
              <a:ahLst/>
              <a:cxnLst>
                <a:cxn ang="0">
                  <a:pos x="connsiteX0" y="connsiteY0"/>
                </a:cxn>
                <a:cxn ang="0">
                  <a:pos x="connsiteX1" y="connsiteY1"/>
                </a:cxn>
                <a:cxn ang="0">
                  <a:pos x="connsiteX2" y="connsiteY2"/>
                </a:cxn>
              </a:cxnLst>
              <a:rect l="l" t="t" r="r" b="b"/>
              <a:pathLst>
                <a:path w="154517" h="48971">
                  <a:moveTo>
                    <a:pt x="0" y="10871"/>
                  </a:moveTo>
                  <a:cubicBezTo>
                    <a:pt x="29457" y="3463"/>
                    <a:pt x="58914" y="-3945"/>
                    <a:pt x="84667" y="2405"/>
                  </a:cubicBezTo>
                  <a:cubicBezTo>
                    <a:pt x="110420" y="8755"/>
                    <a:pt x="132468" y="28863"/>
                    <a:pt x="154517" y="4897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a:extLst>
                <a:ext uri="{FF2B5EF4-FFF2-40B4-BE49-F238E27FC236}">
                  <a16:creationId xmlns:a16="http://schemas.microsoft.com/office/drawing/2014/main" id="{393502AA-1C67-472C-6EB0-9CA10F4BC3B3}"/>
                </a:ext>
              </a:extLst>
            </p:cNvPr>
            <p:cNvCxnSpPr>
              <a:cxnSpLocks/>
            </p:cNvCxnSpPr>
            <p:nvPr/>
          </p:nvCxnSpPr>
          <p:spPr>
            <a:xfrm flipV="1">
              <a:off x="8176689" y="3695168"/>
              <a:ext cx="3320413" cy="2257"/>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8A894BF2-6304-0CF5-5920-9288B57C3F47}"/>
                </a:ext>
              </a:extLst>
            </p:cNvPr>
            <p:cNvCxnSpPr>
              <a:cxnSpLocks/>
            </p:cNvCxnSpPr>
            <p:nvPr/>
          </p:nvCxnSpPr>
          <p:spPr>
            <a:xfrm flipV="1">
              <a:off x="9837460" y="1986770"/>
              <a:ext cx="0" cy="170511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任意多边形: 形状 15">
              <a:extLst>
                <a:ext uri="{FF2B5EF4-FFF2-40B4-BE49-F238E27FC236}">
                  <a16:creationId xmlns:a16="http://schemas.microsoft.com/office/drawing/2014/main" id="{BD4EF954-9C30-505E-8DBA-8FBB4549A9AF}"/>
                </a:ext>
              </a:extLst>
            </p:cNvPr>
            <p:cNvSpPr/>
            <p:nvPr/>
          </p:nvSpPr>
          <p:spPr>
            <a:xfrm>
              <a:off x="8436400" y="3007269"/>
              <a:ext cx="2800128" cy="690099"/>
            </a:xfrm>
            <a:custGeom>
              <a:avLst/>
              <a:gdLst>
                <a:gd name="connsiteX0" fmla="*/ 58251 w 1325700"/>
                <a:gd name="connsiteY0" fmla="*/ 481345 h 481345"/>
                <a:gd name="connsiteX1" fmla="*/ 58251 w 1325700"/>
                <a:gd name="connsiteY1" fmla="*/ 58012 h 481345"/>
                <a:gd name="connsiteX2" fmla="*/ 663617 w 1325700"/>
                <a:gd name="connsiteY2" fmla="*/ 32612 h 481345"/>
                <a:gd name="connsiteX3" fmla="*/ 1294384 w 1325700"/>
                <a:gd name="connsiteY3" fmla="*/ 32612 h 481345"/>
                <a:gd name="connsiteX4" fmla="*/ 1268984 w 1325700"/>
                <a:gd name="connsiteY4" fmla="*/ 472878 h 481345"/>
                <a:gd name="connsiteX0" fmla="*/ 58251 w 1268984"/>
                <a:gd name="connsiteY0" fmla="*/ 463413 h 463413"/>
                <a:gd name="connsiteX1" fmla="*/ 58251 w 1268984"/>
                <a:gd name="connsiteY1" fmla="*/ 40080 h 463413"/>
                <a:gd name="connsiteX2" fmla="*/ 663617 w 1268984"/>
                <a:gd name="connsiteY2" fmla="*/ 14680 h 463413"/>
                <a:gd name="connsiteX3" fmla="*/ 1132459 w 1268984"/>
                <a:gd name="connsiteY3" fmla="*/ 179780 h 463413"/>
                <a:gd name="connsiteX4" fmla="*/ 1268984 w 1268984"/>
                <a:gd name="connsiteY4" fmla="*/ 454946 h 463413"/>
                <a:gd name="connsiteX0" fmla="*/ 58251 w 1269055"/>
                <a:gd name="connsiteY0" fmla="*/ 463413 h 463413"/>
                <a:gd name="connsiteX1" fmla="*/ 58251 w 1269055"/>
                <a:gd name="connsiteY1" fmla="*/ 40080 h 463413"/>
                <a:gd name="connsiteX2" fmla="*/ 663617 w 1269055"/>
                <a:gd name="connsiteY2" fmla="*/ 14680 h 463413"/>
                <a:gd name="connsiteX3" fmla="*/ 1132459 w 1269055"/>
                <a:gd name="connsiteY3" fmla="*/ 179780 h 463413"/>
                <a:gd name="connsiteX4" fmla="*/ 1268984 w 1269055"/>
                <a:gd name="connsiteY4" fmla="*/ 454946 h 463413"/>
                <a:gd name="connsiteX0" fmla="*/ 58251 w 1269038"/>
                <a:gd name="connsiteY0" fmla="*/ 463413 h 463413"/>
                <a:gd name="connsiteX1" fmla="*/ 58251 w 1269038"/>
                <a:gd name="connsiteY1" fmla="*/ 40080 h 463413"/>
                <a:gd name="connsiteX2" fmla="*/ 663617 w 1269038"/>
                <a:gd name="connsiteY2" fmla="*/ 14680 h 463413"/>
                <a:gd name="connsiteX3" fmla="*/ 1132459 w 1269038"/>
                <a:gd name="connsiteY3" fmla="*/ 179780 h 463413"/>
                <a:gd name="connsiteX4" fmla="*/ 1268984 w 1269038"/>
                <a:gd name="connsiteY4" fmla="*/ 454946 h 463413"/>
                <a:gd name="connsiteX0" fmla="*/ 14055 w 1224842"/>
                <a:gd name="connsiteY0" fmla="*/ 448733 h 448733"/>
                <a:gd name="connsiteX1" fmla="*/ 158518 w 1224842"/>
                <a:gd name="connsiteY1" fmla="*/ 163512 h 448733"/>
                <a:gd name="connsiteX2" fmla="*/ 619421 w 1224842"/>
                <a:gd name="connsiteY2" fmla="*/ 0 h 448733"/>
                <a:gd name="connsiteX3" fmla="*/ 1088263 w 1224842"/>
                <a:gd name="connsiteY3" fmla="*/ 165100 h 448733"/>
                <a:gd name="connsiteX4" fmla="*/ 1224788 w 1224842"/>
                <a:gd name="connsiteY4" fmla="*/ 440266 h 448733"/>
                <a:gd name="connsiteX0" fmla="*/ 11238 w 1222025"/>
                <a:gd name="connsiteY0" fmla="*/ 448733 h 448733"/>
                <a:gd name="connsiteX1" fmla="*/ 155701 w 1222025"/>
                <a:gd name="connsiteY1" fmla="*/ 163512 h 448733"/>
                <a:gd name="connsiteX2" fmla="*/ 616604 w 1222025"/>
                <a:gd name="connsiteY2" fmla="*/ 0 h 448733"/>
                <a:gd name="connsiteX3" fmla="*/ 1085446 w 1222025"/>
                <a:gd name="connsiteY3" fmla="*/ 165100 h 448733"/>
                <a:gd name="connsiteX4" fmla="*/ 1221971 w 1222025"/>
                <a:gd name="connsiteY4" fmla="*/ 440266 h 448733"/>
                <a:gd name="connsiteX0" fmla="*/ 14 w 1210801"/>
                <a:gd name="connsiteY0" fmla="*/ 448733 h 448733"/>
                <a:gd name="connsiteX1" fmla="*/ 144477 w 1210801"/>
                <a:gd name="connsiteY1" fmla="*/ 163512 h 448733"/>
                <a:gd name="connsiteX2" fmla="*/ 605380 w 1210801"/>
                <a:gd name="connsiteY2" fmla="*/ 0 h 448733"/>
                <a:gd name="connsiteX3" fmla="*/ 1074222 w 1210801"/>
                <a:gd name="connsiteY3" fmla="*/ 165100 h 448733"/>
                <a:gd name="connsiteX4" fmla="*/ 1210747 w 1210801"/>
                <a:gd name="connsiteY4" fmla="*/ 440266 h 448733"/>
                <a:gd name="connsiteX0" fmla="*/ 15 w 1210802"/>
                <a:gd name="connsiteY0" fmla="*/ 448733 h 448733"/>
                <a:gd name="connsiteX1" fmla="*/ 144478 w 1210802"/>
                <a:gd name="connsiteY1" fmla="*/ 163512 h 448733"/>
                <a:gd name="connsiteX2" fmla="*/ 605381 w 1210802"/>
                <a:gd name="connsiteY2" fmla="*/ 0 h 448733"/>
                <a:gd name="connsiteX3" fmla="*/ 1074223 w 1210802"/>
                <a:gd name="connsiteY3" fmla="*/ 165100 h 448733"/>
                <a:gd name="connsiteX4" fmla="*/ 1210748 w 1210802"/>
                <a:gd name="connsiteY4" fmla="*/ 440266 h 448733"/>
                <a:gd name="connsiteX0" fmla="*/ 0 w 1210787"/>
                <a:gd name="connsiteY0" fmla="*/ 448733 h 448733"/>
                <a:gd name="connsiteX1" fmla="*/ 144463 w 1210787"/>
                <a:gd name="connsiteY1" fmla="*/ 163512 h 448733"/>
                <a:gd name="connsiteX2" fmla="*/ 605366 w 1210787"/>
                <a:gd name="connsiteY2" fmla="*/ 0 h 448733"/>
                <a:gd name="connsiteX3" fmla="*/ 1074208 w 1210787"/>
                <a:gd name="connsiteY3" fmla="*/ 165100 h 448733"/>
                <a:gd name="connsiteX4" fmla="*/ 1210733 w 1210787"/>
                <a:gd name="connsiteY4" fmla="*/ 440266 h 448733"/>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2373"/>
                <a:gd name="connsiteY0" fmla="*/ 440795 h 445028"/>
                <a:gd name="connsiteX1" fmla="*/ 144463 w 1212373"/>
                <a:gd name="connsiteY1" fmla="*/ 155574 h 445028"/>
                <a:gd name="connsiteX2" fmla="*/ 606954 w 1212373"/>
                <a:gd name="connsiteY2" fmla="*/ 0 h 445028"/>
                <a:gd name="connsiteX3" fmla="*/ 1074208 w 1212373"/>
                <a:gd name="connsiteY3" fmla="*/ 157162 h 445028"/>
                <a:gd name="connsiteX4" fmla="*/ 1212321 w 1212373"/>
                <a:gd name="connsiteY4" fmla="*/ 445028 h 445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373" h="445028">
                  <a:moveTo>
                    <a:pt x="0" y="440795"/>
                  </a:moveTo>
                  <a:cubicBezTo>
                    <a:pt x="25753" y="272873"/>
                    <a:pt x="71879" y="219515"/>
                    <a:pt x="144463" y="155574"/>
                  </a:cubicBezTo>
                  <a:cubicBezTo>
                    <a:pt x="217047" y="91633"/>
                    <a:pt x="403049" y="4233"/>
                    <a:pt x="606954" y="0"/>
                  </a:cubicBezTo>
                  <a:cubicBezTo>
                    <a:pt x="817210" y="0"/>
                    <a:pt x="973313" y="83784"/>
                    <a:pt x="1074208" y="157162"/>
                  </a:cubicBezTo>
                  <a:cubicBezTo>
                    <a:pt x="1162403" y="230540"/>
                    <a:pt x="1214261" y="371122"/>
                    <a:pt x="1212321" y="445028"/>
                  </a:cubicBezTo>
                </a:path>
              </a:pathLst>
            </a:cu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2B57DF3F-B990-4465-3765-BE6DA3B8F9A0}"/>
                    </a:ext>
                  </a:extLst>
                </p:cNvPr>
                <p:cNvSpPr txBox="1"/>
                <p:nvPr/>
              </p:nvSpPr>
              <p:spPr>
                <a:xfrm>
                  <a:off x="11423630" y="3589472"/>
                  <a:ext cx="399658" cy="3829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𝑥</m:t>
                        </m:r>
                      </m:oMath>
                    </m:oMathPara>
                  </a14:m>
                  <a:endParaRPr lang="zh-CN" altLang="en-US" dirty="0"/>
                </a:p>
              </p:txBody>
            </p:sp>
          </mc:Choice>
          <mc:Fallback xmlns="">
            <p:sp>
              <p:nvSpPr>
                <p:cNvPr id="17" name="文本框 16">
                  <a:extLst>
                    <a:ext uri="{FF2B5EF4-FFF2-40B4-BE49-F238E27FC236}">
                      <a16:creationId xmlns:a16="http://schemas.microsoft.com/office/drawing/2014/main" id="{2B57DF3F-B990-4465-3765-BE6DA3B8F9A0}"/>
                    </a:ext>
                  </a:extLst>
                </p:cNvPr>
                <p:cNvSpPr txBox="1">
                  <a:spLocks noRot="1" noChangeAspect="1" noMove="1" noResize="1" noEditPoints="1" noAdjustHandles="1" noChangeArrowheads="1" noChangeShapeType="1" noTextEdit="1"/>
                </p:cNvSpPr>
                <p:nvPr/>
              </p:nvSpPr>
              <p:spPr>
                <a:xfrm>
                  <a:off x="11423630" y="3589472"/>
                  <a:ext cx="399658" cy="38290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5A6C31EF-DF8C-A068-3B62-168DADC7545E}"/>
                    </a:ext>
                  </a:extLst>
                </p:cNvPr>
                <p:cNvSpPr txBox="1"/>
                <p:nvPr/>
              </p:nvSpPr>
              <p:spPr>
                <a:xfrm>
                  <a:off x="9406528" y="1792531"/>
                  <a:ext cx="44678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𝑦</m:t>
                        </m:r>
                      </m:oMath>
                    </m:oMathPara>
                  </a14:m>
                  <a:endParaRPr lang="zh-CN" altLang="en-US" dirty="0"/>
                </a:p>
              </p:txBody>
            </p:sp>
          </mc:Choice>
          <mc:Fallback xmlns="">
            <p:sp>
              <p:nvSpPr>
                <p:cNvPr id="18" name="文本框 17">
                  <a:extLst>
                    <a:ext uri="{FF2B5EF4-FFF2-40B4-BE49-F238E27FC236}">
                      <a16:creationId xmlns:a16="http://schemas.microsoft.com/office/drawing/2014/main" id="{5A6C31EF-DF8C-A068-3B62-168DADC7545E}"/>
                    </a:ext>
                  </a:extLst>
                </p:cNvPr>
                <p:cNvSpPr txBox="1">
                  <a:spLocks noRot="1" noChangeAspect="1" noMove="1" noResize="1" noEditPoints="1" noAdjustHandles="1" noChangeArrowheads="1" noChangeShapeType="1" noTextEdit="1"/>
                </p:cNvSpPr>
                <p:nvPr/>
              </p:nvSpPr>
              <p:spPr>
                <a:xfrm>
                  <a:off x="9406528" y="1792531"/>
                  <a:ext cx="446781" cy="369332"/>
                </a:xfrm>
                <a:prstGeom prst="rect">
                  <a:avLst/>
                </a:prstGeom>
                <a:blipFill>
                  <a:blip r:embed="rId5"/>
                  <a:stretch>
                    <a:fillRect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E9431497-769A-D092-7390-5E8C54219338}"/>
                    </a:ext>
                  </a:extLst>
                </p:cNvPr>
                <p:cNvSpPr txBox="1"/>
                <p:nvPr/>
              </p:nvSpPr>
              <p:spPr>
                <a:xfrm>
                  <a:off x="11133715" y="3646471"/>
                  <a:ext cx="289916" cy="37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1</m:t>
                        </m:r>
                      </m:oMath>
                    </m:oMathPara>
                  </a14:m>
                  <a:endParaRPr lang="zh-CN" altLang="en-US" dirty="0"/>
                </a:p>
              </p:txBody>
            </p:sp>
          </mc:Choice>
          <mc:Fallback xmlns="">
            <p:sp>
              <p:nvSpPr>
                <p:cNvPr id="19" name="文本框 18">
                  <a:extLst>
                    <a:ext uri="{FF2B5EF4-FFF2-40B4-BE49-F238E27FC236}">
                      <a16:creationId xmlns:a16="http://schemas.microsoft.com/office/drawing/2014/main" id="{E9431497-769A-D092-7390-5E8C54219338}"/>
                    </a:ext>
                  </a:extLst>
                </p:cNvPr>
                <p:cNvSpPr txBox="1">
                  <a:spLocks noRot="1" noChangeAspect="1" noMove="1" noResize="1" noEditPoints="1" noAdjustHandles="1" noChangeArrowheads="1" noChangeShapeType="1" noTextEdit="1"/>
                </p:cNvSpPr>
                <p:nvPr/>
              </p:nvSpPr>
              <p:spPr>
                <a:xfrm>
                  <a:off x="11133715" y="3646471"/>
                  <a:ext cx="289916" cy="370164"/>
                </a:xfrm>
                <a:prstGeom prst="rect">
                  <a:avLst/>
                </a:prstGeom>
                <a:blipFill>
                  <a:blip r:embed="rId6"/>
                  <a:stretch>
                    <a:fillRect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D947D140-2E17-DE99-06F1-ED02399E6905}"/>
                    </a:ext>
                  </a:extLst>
                </p:cNvPr>
                <p:cNvSpPr txBox="1"/>
                <p:nvPr/>
              </p:nvSpPr>
              <p:spPr>
                <a:xfrm>
                  <a:off x="8174548" y="3627326"/>
                  <a:ext cx="576988" cy="37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−1</m:t>
                        </m:r>
                      </m:oMath>
                    </m:oMathPara>
                  </a14:m>
                  <a:endParaRPr lang="zh-CN" altLang="en-US" dirty="0"/>
                </a:p>
              </p:txBody>
            </p:sp>
          </mc:Choice>
          <mc:Fallback xmlns="">
            <p:sp>
              <p:nvSpPr>
                <p:cNvPr id="24" name="文本框 23">
                  <a:extLst>
                    <a:ext uri="{FF2B5EF4-FFF2-40B4-BE49-F238E27FC236}">
                      <a16:creationId xmlns:a16="http://schemas.microsoft.com/office/drawing/2014/main" id="{D947D140-2E17-DE99-06F1-ED02399E6905}"/>
                    </a:ext>
                  </a:extLst>
                </p:cNvPr>
                <p:cNvSpPr txBox="1">
                  <a:spLocks noRot="1" noChangeAspect="1" noMove="1" noResize="1" noEditPoints="1" noAdjustHandles="1" noChangeArrowheads="1" noChangeShapeType="1" noTextEdit="1"/>
                </p:cNvSpPr>
                <p:nvPr/>
              </p:nvSpPr>
              <p:spPr>
                <a:xfrm>
                  <a:off x="8174548" y="3627326"/>
                  <a:ext cx="576988" cy="37016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43F7DB28-6984-99F8-7234-BC86F75481E9}"/>
                    </a:ext>
                  </a:extLst>
                </p:cNvPr>
                <p:cNvSpPr txBox="1"/>
                <p:nvPr/>
              </p:nvSpPr>
              <p:spPr>
                <a:xfrm>
                  <a:off x="9403904" y="2593725"/>
                  <a:ext cx="550208" cy="4533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𝛼</m:t>
                        </m:r>
                      </m:oMath>
                    </m:oMathPara>
                  </a14:m>
                  <a:endParaRPr lang="zh-CN" altLang="en-US" dirty="0"/>
                </a:p>
              </p:txBody>
            </p:sp>
          </mc:Choice>
          <mc:Fallback xmlns="">
            <p:sp>
              <p:nvSpPr>
                <p:cNvPr id="25" name="文本框 24">
                  <a:extLst>
                    <a:ext uri="{FF2B5EF4-FFF2-40B4-BE49-F238E27FC236}">
                      <a16:creationId xmlns:a16="http://schemas.microsoft.com/office/drawing/2014/main" id="{43F7DB28-6984-99F8-7234-BC86F75481E9}"/>
                    </a:ext>
                  </a:extLst>
                </p:cNvPr>
                <p:cNvSpPr txBox="1">
                  <a:spLocks noRot="1" noChangeAspect="1" noMove="1" noResize="1" noEditPoints="1" noAdjustHandles="1" noChangeArrowheads="1" noChangeShapeType="1" noTextEdit="1"/>
                </p:cNvSpPr>
                <p:nvPr/>
              </p:nvSpPr>
              <p:spPr>
                <a:xfrm>
                  <a:off x="9403904" y="2593725"/>
                  <a:ext cx="550208" cy="453337"/>
                </a:xfrm>
                <a:prstGeom prst="rect">
                  <a:avLst/>
                </a:prstGeom>
                <a:blipFill>
                  <a:blip r:embed="rId8"/>
                  <a:stretch>
                    <a:fillRect/>
                  </a:stretch>
                </a:blipFill>
              </p:spPr>
              <p:txBody>
                <a:bodyPr/>
                <a:lstStyle/>
                <a:p>
                  <a:r>
                    <a:rPr lang="zh-CN" altLang="en-US">
                      <a:noFill/>
                    </a:rPr>
                    <a:t> </a:t>
                  </a:r>
                </a:p>
              </p:txBody>
            </p:sp>
          </mc:Fallback>
        </mc:AlternateContent>
        <p:cxnSp>
          <p:nvCxnSpPr>
            <p:cNvPr id="28" name="直接箭头连接符 27">
              <a:extLst>
                <a:ext uri="{FF2B5EF4-FFF2-40B4-BE49-F238E27FC236}">
                  <a16:creationId xmlns:a16="http://schemas.microsoft.com/office/drawing/2014/main" id="{C3A64636-F8C1-93FD-5AE5-2E0598E8BA61}"/>
                </a:ext>
              </a:extLst>
            </p:cNvPr>
            <p:cNvCxnSpPr>
              <a:cxnSpLocks/>
            </p:cNvCxnSpPr>
            <p:nvPr/>
          </p:nvCxnSpPr>
          <p:spPr>
            <a:xfrm flipV="1">
              <a:off x="9826297" y="3029907"/>
              <a:ext cx="443770" cy="661972"/>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2B3FEBE8-D68E-7D91-75D5-853D8419DD73}"/>
                </a:ext>
              </a:extLst>
            </p:cNvPr>
            <p:cNvCxnSpPr>
              <a:cxnSpLocks/>
            </p:cNvCxnSpPr>
            <p:nvPr/>
          </p:nvCxnSpPr>
          <p:spPr>
            <a:xfrm flipV="1">
              <a:off x="10261550" y="2339897"/>
              <a:ext cx="160979" cy="698454"/>
            </a:xfrm>
            <a:prstGeom prst="straightConnector1">
              <a:avLst/>
            </a:prstGeom>
            <a:ln w="19050">
              <a:solidFill>
                <a:srgbClr val="16560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25D8D335-928B-7718-AF03-B5E75C84CAEA}"/>
                    </a:ext>
                  </a:extLst>
                </p:cNvPr>
                <p:cNvSpPr txBox="1"/>
                <p:nvPr/>
              </p:nvSpPr>
              <p:spPr>
                <a:xfrm>
                  <a:off x="10096149" y="3067778"/>
                  <a:ext cx="4126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𝒓</m:t>
                        </m:r>
                      </m:oMath>
                    </m:oMathPara>
                  </a14:m>
                  <a:endParaRPr lang="zh-CN" altLang="en-US" b="1" dirty="0"/>
                </a:p>
              </p:txBody>
            </p:sp>
          </mc:Choice>
          <mc:Fallback xmlns="">
            <p:sp>
              <p:nvSpPr>
                <p:cNvPr id="30" name="文本框 29">
                  <a:extLst>
                    <a:ext uri="{FF2B5EF4-FFF2-40B4-BE49-F238E27FC236}">
                      <a16:creationId xmlns:a16="http://schemas.microsoft.com/office/drawing/2014/main" id="{25D8D335-928B-7718-AF03-B5E75C84CAEA}"/>
                    </a:ext>
                  </a:extLst>
                </p:cNvPr>
                <p:cNvSpPr txBox="1">
                  <a:spLocks noRot="1" noChangeAspect="1" noMove="1" noResize="1" noEditPoints="1" noAdjustHandles="1" noChangeArrowheads="1" noChangeShapeType="1" noTextEdit="1"/>
                </p:cNvSpPr>
                <p:nvPr/>
              </p:nvSpPr>
              <p:spPr>
                <a:xfrm>
                  <a:off x="10096149" y="3067778"/>
                  <a:ext cx="412642" cy="369332"/>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320D794B-C3D8-A606-3FA5-8F7931889E92}"/>
                    </a:ext>
                  </a:extLst>
                </p:cNvPr>
                <p:cNvSpPr txBox="1"/>
                <p:nvPr/>
              </p:nvSpPr>
              <p:spPr>
                <a:xfrm>
                  <a:off x="10332085" y="2317869"/>
                  <a:ext cx="4126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𝒎</m:t>
                        </m:r>
                      </m:oMath>
                    </m:oMathPara>
                  </a14:m>
                  <a:endParaRPr lang="zh-CN" altLang="en-US" b="1" dirty="0"/>
                </a:p>
              </p:txBody>
            </p:sp>
          </mc:Choice>
          <mc:Fallback xmlns="">
            <p:sp>
              <p:nvSpPr>
                <p:cNvPr id="32" name="文本框 31">
                  <a:extLst>
                    <a:ext uri="{FF2B5EF4-FFF2-40B4-BE49-F238E27FC236}">
                      <a16:creationId xmlns:a16="http://schemas.microsoft.com/office/drawing/2014/main" id="{320D794B-C3D8-A606-3FA5-8F7931889E92}"/>
                    </a:ext>
                  </a:extLst>
                </p:cNvPr>
                <p:cNvSpPr txBox="1">
                  <a:spLocks noRot="1" noChangeAspect="1" noMove="1" noResize="1" noEditPoints="1" noAdjustHandles="1" noChangeArrowheads="1" noChangeShapeType="1" noTextEdit="1"/>
                </p:cNvSpPr>
                <p:nvPr/>
              </p:nvSpPr>
              <p:spPr>
                <a:xfrm>
                  <a:off x="10332085" y="2317869"/>
                  <a:ext cx="412642" cy="369332"/>
                </a:xfrm>
                <a:prstGeom prst="rect">
                  <a:avLst/>
                </a:prstGeom>
                <a:blipFill>
                  <a:blip r:embed="rId9"/>
                  <a:stretch>
                    <a:fillRect/>
                  </a:stretch>
                </a:blipFill>
              </p:spPr>
              <p:txBody>
                <a:bodyPr/>
                <a:lstStyle/>
                <a:p>
                  <a:r>
                    <a:rPr lang="zh-CN" altLang="en-US">
                      <a:noFill/>
                    </a:rPr>
                    <a:t> </a:t>
                  </a:r>
                </a:p>
              </p:txBody>
            </p:sp>
          </mc:Fallback>
        </mc:AlternateContent>
        <p:cxnSp>
          <p:nvCxnSpPr>
            <p:cNvPr id="33" name="直接箭头连接符 32">
              <a:extLst>
                <a:ext uri="{FF2B5EF4-FFF2-40B4-BE49-F238E27FC236}">
                  <a16:creationId xmlns:a16="http://schemas.microsoft.com/office/drawing/2014/main" id="{75FDD7D8-D0B0-14E7-D24D-785E8DEB0D94}"/>
                </a:ext>
              </a:extLst>
            </p:cNvPr>
            <p:cNvCxnSpPr>
              <a:cxnSpLocks/>
            </p:cNvCxnSpPr>
            <p:nvPr/>
          </p:nvCxnSpPr>
          <p:spPr>
            <a:xfrm flipV="1">
              <a:off x="10255640" y="2317869"/>
              <a:ext cx="0" cy="749909"/>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11C7A41A-DA86-D8D6-72A4-03B54C7038E1}"/>
                    </a:ext>
                  </a:extLst>
                </p:cNvPr>
                <p:cNvSpPr txBox="1"/>
                <p:nvPr/>
              </p:nvSpPr>
              <p:spPr>
                <a:xfrm>
                  <a:off x="9750746" y="3039320"/>
                  <a:ext cx="4126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𝜃</m:t>
                        </m:r>
                      </m:oMath>
                    </m:oMathPara>
                  </a14:m>
                  <a:endParaRPr lang="zh-CN" altLang="en-US" sz="1400" dirty="0"/>
                </a:p>
              </p:txBody>
            </p:sp>
          </mc:Choice>
          <mc:Fallback xmlns="">
            <p:sp>
              <p:nvSpPr>
                <p:cNvPr id="34" name="文本框 33">
                  <a:extLst>
                    <a:ext uri="{FF2B5EF4-FFF2-40B4-BE49-F238E27FC236}">
                      <a16:creationId xmlns:a16="http://schemas.microsoft.com/office/drawing/2014/main" id="{11C7A41A-DA86-D8D6-72A4-03B54C7038E1}"/>
                    </a:ext>
                  </a:extLst>
                </p:cNvPr>
                <p:cNvSpPr txBox="1">
                  <a:spLocks noRot="1" noChangeAspect="1" noMove="1" noResize="1" noEditPoints="1" noAdjustHandles="1" noChangeArrowheads="1" noChangeShapeType="1" noTextEdit="1"/>
                </p:cNvSpPr>
                <p:nvPr/>
              </p:nvSpPr>
              <p:spPr>
                <a:xfrm>
                  <a:off x="9750746" y="3039320"/>
                  <a:ext cx="412642" cy="307777"/>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2FE7B3A8-F103-B854-27FB-C9A6FC5D5BA4}"/>
                    </a:ext>
                  </a:extLst>
                </p:cNvPr>
                <p:cNvSpPr txBox="1"/>
                <p:nvPr/>
              </p:nvSpPr>
              <p:spPr>
                <a:xfrm>
                  <a:off x="10271017" y="1872502"/>
                  <a:ext cx="4126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𝜃</m:t>
                            </m:r>
                          </m:e>
                          <m:sub>
                            <m:r>
                              <a:rPr lang="en-US" altLang="zh-CN" sz="1400" b="0" i="1" smtClean="0">
                                <a:latin typeface="Cambria Math" panose="02040503050406030204" pitchFamily="18" charset="0"/>
                              </a:rPr>
                              <m:t>𝑚</m:t>
                            </m:r>
                          </m:sub>
                        </m:sSub>
                      </m:oMath>
                    </m:oMathPara>
                  </a14:m>
                  <a:endParaRPr lang="zh-CN" altLang="en-US" sz="1400" dirty="0"/>
                </a:p>
              </p:txBody>
            </p:sp>
          </mc:Choice>
          <mc:Fallback xmlns="">
            <p:sp>
              <p:nvSpPr>
                <p:cNvPr id="37" name="文本框 36">
                  <a:extLst>
                    <a:ext uri="{FF2B5EF4-FFF2-40B4-BE49-F238E27FC236}">
                      <a16:creationId xmlns:a16="http://schemas.microsoft.com/office/drawing/2014/main" id="{2FE7B3A8-F103-B854-27FB-C9A6FC5D5BA4}"/>
                    </a:ext>
                  </a:extLst>
                </p:cNvPr>
                <p:cNvSpPr txBox="1">
                  <a:spLocks noRot="1" noChangeAspect="1" noMove="1" noResize="1" noEditPoints="1" noAdjustHandles="1" noChangeArrowheads="1" noChangeShapeType="1" noTextEdit="1"/>
                </p:cNvSpPr>
                <p:nvPr/>
              </p:nvSpPr>
              <p:spPr>
                <a:xfrm>
                  <a:off x="10271017" y="1872502"/>
                  <a:ext cx="412642" cy="307777"/>
                </a:xfrm>
                <a:prstGeom prst="rect">
                  <a:avLst/>
                </a:prstGeom>
                <a:blipFill>
                  <a:blip r:embed="rId11"/>
                  <a:stretch>
                    <a:fillRect/>
                  </a:stretch>
                </a:blipFill>
              </p:spPr>
              <p:txBody>
                <a:bodyPr/>
                <a:lstStyle/>
                <a:p>
                  <a:r>
                    <a:rPr lang="zh-CN" altLang="en-US">
                      <a:noFill/>
                    </a:rPr>
                    <a:t> </a:t>
                  </a:r>
                </a:p>
              </p:txBody>
            </p:sp>
          </mc:Fallback>
        </mc:AlternateContent>
        <p:cxnSp>
          <p:nvCxnSpPr>
            <p:cNvPr id="38" name="直接连接符 37">
              <a:extLst>
                <a:ext uri="{FF2B5EF4-FFF2-40B4-BE49-F238E27FC236}">
                  <a16:creationId xmlns:a16="http://schemas.microsoft.com/office/drawing/2014/main" id="{593A4E0C-62BF-CB34-24D3-E7F55BE11FAD}"/>
                </a:ext>
              </a:extLst>
            </p:cNvPr>
            <p:cNvCxnSpPr>
              <a:cxnSpLocks/>
            </p:cNvCxnSpPr>
            <p:nvPr/>
          </p:nvCxnSpPr>
          <p:spPr>
            <a:xfrm flipV="1">
              <a:off x="10302470" y="2120490"/>
              <a:ext cx="86678" cy="44660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305296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649C8-E616-1D40-4A0A-2FCBC73000B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22CAD827-1D38-CF2F-4F94-9F87EDB995C3}"/>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r>
                      <a:rPr lang="en-US" altLang="zh-CN" sz="3200" i="1" dirty="0" smtClean="0">
                        <a:solidFill>
                          <a:schemeClr val="tx1"/>
                        </a:solidFill>
                        <a:latin typeface="Cambria Math" panose="02040503050406030204" pitchFamily="18" charset="0"/>
                      </a:rPr>
                      <m:t>𝐷</m:t>
                    </m:r>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𝒎</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22CAD827-1D38-CF2F-4F94-9F87EDB995C3}"/>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864" b="-7627"/>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589C100F-AD6C-ECAE-59BB-362772B5EAFA}"/>
              </a:ext>
            </a:extLst>
          </p:cNvPr>
          <p:cNvSpPr/>
          <p:nvPr/>
        </p:nvSpPr>
        <p:spPr>
          <a:xfrm>
            <a:off x="521112" y="1315233"/>
            <a:ext cx="6929212"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BF21D7D7-F68D-D842-2DB7-23F559A9E016}"/>
                  </a:ext>
                </a:extLst>
              </p:cNvPr>
              <p:cNvSpPr/>
              <p:nvPr/>
            </p:nvSpPr>
            <p:spPr>
              <a:xfrm>
                <a:off x="368712" y="1144044"/>
                <a:ext cx="6929212"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14:m>
                  <m:oMathPara xmlns:m="http://schemas.openxmlformats.org/officeDocument/2006/math">
                    <m:oMathParaPr>
                      <m:jc m:val="centerGroup"/>
                    </m:oMathParaPr>
                    <m:oMath xmlns:m="http://schemas.openxmlformats.org/officeDocument/2006/math">
                      <m:func>
                        <m:funcPr>
                          <m:ctrlPr>
                            <a:rPr lang="en-US" altLang="zh-CN" sz="1400" i="1" dirty="0" smtClean="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m:rPr>
                              <m:sty m:val="p"/>
                            </m:rPr>
                            <a:rPr lang="en-US" altLang="zh-CN" sz="1400" i="1" dirty="0">
                              <a:solidFill>
                                <a:schemeClr val="tx1"/>
                              </a:solidFill>
                              <a:latin typeface="Cambria Math" panose="02040503050406030204" pitchFamily="18" charset="0"/>
                            </a:rPr>
                            <m:t>cos</m:t>
                          </m:r>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𝜃</m:t>
                          </m:r>
                        </m:num>
                        <m:den>
                          <m:rad>
                            <m:radPr>
                              <m:degHide m:val="on"/>
                              <m:ctrlPr>
                                <a:rPr lang="en-US" altLang="zh-CN" sz="1400" b="1" i="1" dirty="0" smtClean="0">
                                  <a:solidFill>
                                    <a:schemeClr val="tx1"/>
                                  </a:solidFill>
                                  <a:latin typeface="Cambria Math" panose="02040503050406030204" pitchFamily="18" charset="0"/>
                                </a:rPr>
                              </m:ctrlPr>
                            </m:radPr>
                            <m:deg/>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𝑠𝑖𝑛</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e>
                          </m:rad>
                        </m:den>
                      </m:f>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𝑠𝑖𝑛</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𝜃</m:t>
                              </m:r>
                            </m:e>
                          </m:func>
                        </m:num>
                        <m:den>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den>
                      </m:f>
                    </m:oMath>
                  </m:oMathPara>
                </a14:m>
                <a:endParaRPr lang="en-US" altLang="zh-CN" sz="14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𝐷</m:t>
                      </m:r>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4</m:t>
                                  </m:r>
                                </m:sup>
                              </m:sSup>
                            </m:fName>
                            <m:e>
                              <m:r>
                                <a:rPr lang="en-US" altLang="zh-CN" sz="1400" i="1" dirty="0">
                                  <a:solidFill>
                                    <a:schemeClr val="tx1"/>
                                  </a:solidFill>
                                  <a:latin typeface="Cambria Math" panose="02040503050406030204" pitchFamily="18" charset="0"/>
                                </a:rPr>
                                <m:t>𝜃</m:t>
                              </m:r>
                            </m:e>
                          </m:func>
                        </m:num>
                        <m:den>
                          <m:r>
                            <a:rPr lang="en-US" altLang="zh-CN" sz="1400" i="1" dirty="0">
                              <a:solidFill>
                                <a:schemeClr val="tx1"/>
                              </a:solidFill>
                              <a:latin typeface="Cambria Math" panose="02040503050406030204" pitchFamily="18" charset="0"/>
                            </a:rPr>
                            <m:t>𝜋</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4</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en>
                      </m:f>
                    </m:oMath>
                  </m:oMathPara>
                </a14:m>
                <a:endParaRPr lang="en-US" altLang="zh-CN" sz="14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en>
                      </m:f>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𝑠𝑖𝑛</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1−</m:t>
                          </m:r>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𝜃</m:t>
                              </m:r>
                            </m:e>
                          </m:func>
                        </m:e>
                      </m:d>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r>
                        <a:rPr lang="en-US" altLang="zh-CN" sz="1400" b="0" i="1" dirty="0" smtClean="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1−</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e>
                      </m:d>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0"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𝜃</m:t>
                          </m:r>
                        </m:e>
                      </m:func>
                    </m:oMath>
                  </m:oMathPara>
                </a14:m>
                <a:endParaRPr lang="en-US" altLang="zh-CN" sz="1400" b="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en>
                      </m:f>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num>
                        <m:den>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𝜃</m:t>
                              </m:r>
                            </m:e>
                          </m:func>
                        </m:den>
                      </m:f>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1−</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e>
                      </m:d>
                      <m:r>
                        <a:rPr lang="en-US" altLang="zh-CN" sz="1400" b="0" i="1" dirty="0" smtClean="0">
                          <a:solidFill>
                            <a:schemeClr val="tx1"/>
                          </a:solidFill>
                          <a:latin typeface="Cambria Math" panose="02040503050406030204" pitchFamily="18" charset="0"/>
                        </a:rPr>
                        <m:t>,   </m:t>
                      </m:r>
                      <m:f>
                        <m:fPr>
                          <m:ctrlPr>
                            <a:rPr lang="en-US" altLang="zh-CN" sz="1400" b="0" i="1" dirty="0" smtClean="0">
                              <a:solidFill>
                                <a:schemeClr val="tx1"/>
                              </a:solidFill>
                              <a:latin typeface="Cambria Math" panose="02040503050406030204" pitchFamily="18" charset="0"/>
                            </a:rPr>
                          </m:ctrlPr>
                        </m:fPr>
                        <m:num>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en>
                          </m:f>
                          <m:r>
                            <a:rPr lang="en-US" altLang="zh-CN" sz="1400" b="0" i="1" dirty="0" smtClean="0">
                              <a:solidFill>
                                <a:schemeClr val="tx1"/>
                              </a:solidFill>
                              <a:latin typeface="Cambria Math" panose="02040503050406030204" pitchFamily="18" charset="0"/>
                            </a:rPr>
                            <m:t>−</m:t>
                          </m:r>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1−</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e>
                          </m:d>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den>
                      </m:f>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𝜃</m:t>
                              </m:r>
                            </m:e>
                          </m:func>
                        </m:den>
                      </m:f>
                    </m:oMath>
                  </m:oMathPara>
                </a14:m>
                <a:endParaRPr lang="en-US" altLang="zh-CN" sz="14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func>
                        <m:funcPr>
                          <m:ctrlPr>
                            <a:rPr lang="en-US" altLang="zh-CN" sz="1150" i="1" dirty="0">
                              <a:solidFill>
                                <a:schemeClr val="tx1"/>
                              </a:solidFill>
                              <a:latin typeface="Cambria Math" panose="02040503050406030204" pitchFamily="18" charset="0"/>
                            </a:rPr>
                          </m:ctrlPr>
                        </m:funcPr>
                        <m:fName>
                          <m:sSup>
                            <m:sSupPr>
                              <m:ctrlPr>
                                <a:rPr lang="en-US" altLang="zh-CN" sz="1150" i="1" dirty="0">
                                  <a:solidFill>
                                    <a:schemeClr val="tx1"/>
                                  </a:solidFill>
                                  <a:latin typeface="Cambria Math" panose="02040503050406030204" pitchFamily="18" charset="0"/>
                                </a:rPr>
                              </m:ctrlPr>
                            </m:sSupPr>
                            <m:e>
                              <m:r>
                                <m:rPr>
                                  <m:sty m:val="p"/>
                                </m:rPr>
                                <a:rPr lang="en-US" altLang="zh-CN" sz="1150" dirty="0">
                                  <a:solidFill>
                                    <a:schemeClr val="tx1"/>
                                  </a:solidFill>
                                  <a:latin typeface="Cambria Math" panose="02040503050406030204" pitchFamily="18" charset="0"/>
                                </a:rPr>
                                <m:t>cos</m:t>
                              </m:r>
                            </m:e>
                            <m:sup>
                              <m:r>
                                <a:rPr lang="en-US" altLang="zh-CN" sz="1150" i="1" dirty="0">
                                  <a:solidFill>
                                    <a:schemeClr val="tx1"/>
                                  </a:solidFill>
                                  <a:latin typeface="Cambria Math" panose="02040503050406030204" pitchFamily="18" charset="0"/>
                                </a:rPr>
                                <m:t>2</m:t>
                              </m:r>
                            </m:sup>
                          </m:sSup>
                        </m:fName>
                        <m:e>
                          <m:r>
                            <a:rPr lang="en-US" altLang="zh-CN" sz="1150" i="1" dirty="0">
                              <a:solidFill>
                                <a:schemeClr val="tx1"/>
                              </a:solidFill>
                              <a:latin typeface="Cambria Math" panose="02040503050406030204" pitchFamily="18" charset="0"/>
                            </a:rPr>
                            <m:t>𝜃</m:t>
                          </m:r>
                        </m:e>
                      </m:func>
                      <m:r>
                        <a:rPr lang="en-US" altLang="zh-CN" sz="1150" b="0" i="1" dirty="0" smtClean="0">
                          <a:solidFill>
                            <a:schemeClr val="tx1"/>
                          </a:solidFill>
                          <a:latin typeface="Cambria Math" panose="02040503050406030204" pitchFamily="18" charset="0"/>
                        </a:rPr>
                        <m:t>=</m:t>
                      </m:r>
                      <m:f>
                        <m:fPr>
                          <m:ctrlPr>
                            <a:rPr lang="en-US" altLang="zh-CN" sz="1150" i="1" dirty="0">
                              <a:solidFill>
                                <a:schemeClr val="tx1"/>
                              </a:solidFill>
                              <a:latin typeface="Cambria Math" panose="02040503050406030204" pitchFamily="18" charset="0"/>
                            </a:rPr>
                          </m:ctrlPr>
                        </m:fPr>
                        <m:num>
                          <m:sSup>
                            <m:sSupPr>
                              <m:ctrlPr>
                                <a:rPr lang="en-US" altLang="zh-CN" sz="1150" i="1" dirty="0">
                                  <a:solidFill>
                                    <a:schemeClr val="tx1"/>
                                  </a:solidFill>
                                  <a:latin typeface="Cambria Math" panose="02040503050406030204" pitchFamily="18" charset="0"/>
                                </a:rPr>
                              </m:ctrlPr>
                            </m:sSupPr>
                            <m:e>
                              <m:r>
                                <a:rPr lang="en-US" altLang="zh-CN" sz="1150" i="1" dirty="0">
                                  <a:solidFill>
                                    <a:schemeClr val="tx1"/>
                                  </a:solidFill>
                                  <a:latin typeface="Cambria Math" panose="02040503050406030204" pitchFamily="18" charset="0"/>
                                </a:rPr>
                                <m:t>𝛼</m:t>
                              </m:r>
                            </m:e>
                            <m:sup>
                              <m:r>
                                <a:rPr lang="en-US" altLang="zh-CN" sz="1150" i="1" dirty="0">
                                  <a:solidFill>
                                    <a:schemeClr val="tx1"/>
                                  </a:solidFill>
                                  <a:latin typeface="Cambria Math" panose="02040503050406030204" pitchFamily="18" charset="0"/>
                                </a:rPr>
                                <m:t>2</m:t>
                              </m:r>
                            </m:sup>
                          </m:sSup>
                        </m:num>
                        <m:den>
                          <m:f>
                            <m:fPr>
                              <m:ctrlPr>
                                <a:rPr lang="en-US" altLang="zh-CN" sz="1150" i="1" dirty="0">
                                  <a:solidFill>
                                    <a:schemeClr val="tx1"/>
                                  </a:solidFill>
                                  <a:latin typeface="Cambria Math" panose="02040503050406030204" pitchFamily="18" charset="0"/>
                                </a:rPr>
                              </m:ctrlPr>
                            </m:fPr>
                            <m:num>
                              <m:r>
                                <a:rPr lang="en-US" altLang="zh-CN" sz="1150" i="1" dirty="0">
                                  <a:solidFill>
                                    <a:schemeClr val="tx1"/>
                                  </a:solidFill>
                                  <a:latin typeface="Cambria Math" panose="02040503050406030204" pitchFamily="18" charset="0"/>
                                </a:rPr>
                                <m:t>1</m:t>
                              </m:r>
                            </m:num>
                            <m:den>
                              <m:func>
                                <m:funcPr>
                                  <m:ctrlPr>
                                    <a:rPr lang="en-US" altLang="zh-CN" sz="1150" i="1" dirty="0">
                                      <a:solidFill>
                                        <a:schemeClr val="tx1"/>
                                      </a:solidFill>
                                      <a:latin typeface="Cambria Math" panose="02040503050406030204" pitchFamily="18" charset="0"/>
                                    </a:rPr>
                                  </m:ctrlPr>
                                </m:funcPr>
                                <m:fName>
                                  <m:sSup>
                                    <m:sSupPr>
                                      <m:ctrlPr>
                                        <a:rPr lang="en-US" altLang="zh-CN" sz="1150" i="1" dirty="0">
                                          <a:solidFill>
                                            <a:schemeClr val="tx1"/>
                                          </a:solidFill>
                                          <a:latin typeface="Cambria Math" panose="02040503050406030204" pitchFamily="18" charset="0"/>
                                        </a:rPr>
                                      </m:ctrlPr>
                                    </m:sSupPr>
                                    <m:e>
                                      <m:r>
                                        <m:rPr>
                                          <m:sty m:val="p"/>
                                        </m:rPr>
                                        <a:rPr lang="en-US" altLang="zh-CN" sz="1150" dirty="0">
                                          <a:solidFill>
                                            <a:schemeClr val="tx1"/>
                                          </a:solidFill>
                                          <a:latin typeface="Cambria Math" panose="02040503050406030204" pitchFamily="18" charset="0"/>
                                        </a:rPr>
                                        <m:t>cos</m:t>
                                      </m:r>
                                    </m:e>
                                    <m:sup>
                                      <m:r>
                                        <a:rPr lang="en-US" altLang="zh-CN" sz="1150" i="1" dirty="0">
                                          <a:solidFill>
                                            <a:schemeClr val="tx1"/>
                                          </a:solidFill>
                                          <a:latin typeface="Cambria Math" panose="02040503050406030204" pitchFamily="18" charset="0"/>
                                        </a:rPr>
                                        <m:t>2</m:t>
                                      </m:r>
                                    </m:sup>
                                  </m:sSup>
                                </m:fName>
                                <m:e>
                                  <m:sSub>
                                    <m:sSubPr>
                                      <m:ctrlPr>
                                        <a:rPr lang="en-US" altLang="zh-CN" sz="1150" i="1" dirty="0">
                                          <a:solidFill>
                                            <a:schemeClr val="tx1"/>
                                          </a:solidFill>
                                          <a:latin typeface="Cambria Math" panose="02040503050406030204" pitchFamily="18" charset="0"/>
                                        </a:rPr>
                                      </m:ctrlPr>
                                    </m:sSubPr>
                                    <m:e>
                                      <m:r>
                                        <a:rPr lang="en-US" altLang="zh-CN" sz="1150" i="1" dirty="0">
                                          <a:solidFill>
                                            <a:schemeClr val="tx1"/>
                                          </a:solidFill>
                                          <a:latin typeface="Cambria Math" panose="02040503050406030204" pitchFamily="18" charset="0"/>
                                        </a:rPr>
                                        <m:t>𝜃</m:t>
                                      </m:r>
                                    </m:e>
                                    <m:sub>
                                      <m:r>
                                        <a:rPr lang="en-US" altLang="zh-CN" sz="1150" i="1" dirty="0">
                                          <a:solidFill>
                                            <a:schemeClr val="tx1"/>
                                          </a:solidFill>
                                          <a:latin typeface="Cambria Math" panose="02040503050406030204" pitchFamily="18" charset="0"/>
                                        </a:rPr>
                                        <m:t>𝑚</m:t>
                                      </m:r>
                                    </m:sub>
                                  </m:sSub>
                                </m:e>
                              </m:func>
                            </m:den>
                          </m:f>
                          <m:r>
                            <a:rPr lang="en-US" altLang="zh-CN" sz="1150" i="1" dirty="0">
                              <a:solidFill>
                                <a:schemeClr val="tx1"/>
                              </a:solidFill>
                              <a:latin typeface="Cambria Math" panose="02040503050406030204" pitchFamily="18" charset="0"/>
                            </a:rPr>
                            <m:t>−</m:t>
                          </m:r>
                          <m:d>
                            <m:dPr>
                              <m:ctrlPr>
                                <a:rPr lang="en-US" altLang="zh-CN" sz="1150" i="1" dirty="0">
                                  <a:solidFill>
                                    <a:schemeClr val="tx1"/>
                                  </a:solidFill>
                                  <a:latin typeface="Cambria Math" panose="02040503050406030204" pitchFamily="18" charset="0"/>
                                </a:rPr>
                              </m:ctrlPr>
                            </m:dPr>
                            <m:e>
                              <m:r>
                                <a:rPr lang="en-US" altLang="zh-CN" sz="1150" i="1" dirty="0">
                                  <a:solidFill>
                                    <a:schemeClr val="tx1"/>
                                  </a:solidFill>
                                  <a:latin typeface="Cambria Math" panose="02040503050406030204" pitchFamily="18" charset="0"/>
                                </a:rPr>
                                <m:t>1−</m:t>
                              </m:r>
                              <m:sSup>
                                <m:sSupPr>
                                  <m:ctrlPr>
                                    <a:rPr lang="en-US" altLang="zh-CN" sz="1150" i="1" dirty="0">
                                      <a:solidFill>
                                        <a:schemeClr val="tx1"/>
                                      </a:solidFill>
                                      <a:latin typeface="Cambria Math" panose="02040503050406030204" pitchFamily="18" charset="0"/>
                                    </a:rPr>
                                  </m:ctrlPr>
                                </m:sSupPr>
                                <m:e>
                                  <m:r>
                                    <a:rPr lang="en-US" altLang="zh-CN" sz="1150" i="1" dirty="0">
                                      <a:solidFill>
                                        <a:schemeClr val="tx1"/>
                                      </a:solidFill>
                                      <a:latin typeface="Cambria Math" panose="02040503050406030204" pitchFamily="18" charset="0"/>
                                    </a:rPr>
                                    <m:t>𝛼</m:t>
                                  </m:r>
                                </m:e>
                                <m:sup>
                                  <m:r>
                                    <a:rPr lang="en-US" altLang="zh-CN" sz="1150" i="1" dirty="0">
                                      <a:solidFill>
                                        <a:schemeClr val="tx1"/>
                                      </a:solidFill>
                                      <a:latin typeface="Cambria Math" panose="02040503050406030204" pitchFamily="18" charset="0"/>
                                    </a:rPr>
                                    <m:t>2</m:t>
                                  </m:r>
                                </m:sup>
                              </m:sSup>
                            </m:e>
                          </m:d>
                        </m:den>
                      </m:f>
                      <m:r>
                        <a:rPr lang="en-US" altLang="zh-CN" sz="1150" i="1" dirty="0">
                          <a:solidFill>
                            <a:schemeClr val="tx1"/>
                          </a:solidFill>
                          <a:latin typeface="Cambria Math" panose="02040503050406030204" pitchFamily="18" charset="0"/>
                        </a:rPr>
                        <m:t>=</m:t>
                      </m:r>
                      <m:f>
                        <m:fPr>
                          <m:ctrlPr>
                            <a:rPr lang="en-US" altLang="zh-CN" sz="1150" i="1" dirty="0">
                              <a:solidFill>
                                <a:schemeClr val="tx1"/>
                              </a:solidFill>
                              <a:latin typeface="Cambria Math" panose="02040503050406030204" pitchFamily="18" charset="0"/>
                            </a:rPr>
                          </m:ctrlPr>
                        </m:fPr>
                        <m:num>
                          <m:sSup>
                            <m:sSupPr>
                              <m:ctrlPr>
                                <a:rPr lang="en-US" altLang="zh-CN" sz="1150" i="1" dirty="0">
                                  <a:solidFill>
                                    <a:schemeClr val="tx1"/>
                                  </a:solidFill>
                                  <a:latin typeface="Cambria Math" panose="02040503050406030204" pitchFamily="18" charset="0"/>
                                </a:rPr>
                              </m:ctrlPr>
                            </m:sSupPr>
                            <m:e>
                              <m:r>
                                <a:rPr lang="en-US" altLang="zh-CN" sz="1150" i="1" dirty="0">
                                  <a:solidFill>
                                    <a:schemeClr val="tx1"/>
                                  </a:solidFill>
                                  <a:latin typeface="Cambria Math" panose="02040503050406030204" pitchFamily="18" charset="0"/>
                                </a:rPr>
                                <m:t>𝛼</m:t>
                              </m:r>
                            </m:e>
                            <m:sup>
                              <m:r>
                                <a:rPr lang="en-US" altLang="zh-CN" sz="1150" i="1" dirty="0">
                                  <a:solidFill>
                                    <a:schemeClr val="tx1"/>
                                  </a:solidFill>
                                  <a:latin typeface="Cambria Math" panose="02040503050406030204" pitchFamily="18" charset="0"/>
                                </a:rPr>
                                <m:t>2</m:t>
                              </m:r>
                            </m:sup>
                          </m:sSup>
                          <m:func>
                            <m:funcPr>
                              <m:ctrlPr>
                                <a:rPr lang="en-US" altLang="zh-CN" sz="1150" i="1" dirty="0">
                                  <a:solidFill>
                                    <a:schemeClr val="tx1"/>
                                  </a:solidFill>
                                  <a:latin typeface="Cambria Math" panose="02040503050406030204" pitchFamily="18" charset="0"/>
                                </a:rPr>
                              </m:ctrlPr>
                            </m:funcPr>
                            <m:fName>
                              <m:sSup>
                                <m:sSupPr>
                                  <m:ctrlPr>
                                    <a:rPr lang="en-US" altLang="zh-CN" sz="1150" i="1" dirty="0">
                                      <a:solidFill>
                                        <a:schemeClr val="tx1"/>
                                      </a:solidFill>
                                      <a:latin typeface="Cambria Math" panose="02040503050406030204" pitchFamily="18" charset="0"/>
                                    </a:rPr>
                                  </m:ctrlPr>
                                </m:sSupPr>
                                <m:e>
                                  <m:r>
                                    <m:rPr>
                                      <m:sty m:val="p"/>
                                    </m:rPr>
                                    <a:rPr lang="en-US" altLang="zh-CN" sz="1150" dirty="0">
                                      <a:solidFill>
                                        <a:schemeClr val="tx1"/>
                                      </a:solidFill>
                                      <a:latin typeface="Cambria Math" panose="02040503050406030204" pitchFamily="18" charset="0"/>
                                    </a:rPr>
                                    <m:t>cos</m:t>
                                  </m:r>
                                </m:e>
                                <m:sup>
                                  <m:r>
                                    <a:rPr lang="en-US" altLang="zh-CN" sz="1150" i="1" dirty="0">
                                      <a:solidFill>
                                        <a:schemeClr val="tx1"/>
                                      </a:solidFill>
                                      <a:latin typeface="Cambria Math" panose="02040503050406030204" pitchFamily="18" charset="0"/>
                                    </a:rPr>
                                    <m:t>2</m:t>
                                  </m:r>
                                </m:sup>
                              </m:sSup>
                            </m:fName>
                            <m:e>
                              <m:sSub>
                                <m:sSubPr>
                                  <m:ctrlPr>
                                    <a:rPr lang="en-US" altLang="zh-CN" sz="1150" i="1" dirty="0">
                                      <a:solidFill>
                                        <a:schemeClr val="tx1"/>
                                      </a:solidFill>
                                      <a:latin typeface="Cambria Math" panose="02040503050406030204" pitchFamily="18" charset="0"/>
                                    </a:rPr>
                                  </m:ctrlPr>
                                </m:sSubPr>
                                <m:e>
                                  <m:r>
                                    <a:rPr lang="en-US" altLang="zh-CN" sz="1150" i="1" dirty="0">
                                      <a:solidFill>
                                        <a:schemeClr val="tx1"/>
                                      </a:solidFill>
                                      <a:latin typeface="Cambria Math" panose="02040503050406030204" pitchFamily="18" charset="0"/>
                                    </a:rPr>
                                    <m:t>𝜃</m:t>
                                  </m:r>
                                </m:e>
                                <m:sub>
                                  <m:r>
                                    <a:rPr lang="en-US" altLang="zh-CN" sz="1150" i="1" dirty="0">
                                      <a:solidFill>
                                        <a:schemeClr val="tx1"/>
                                      </a:solidFill>
                                      <a:latin typeface="Cambria Math" panose="02040503050406030204" pitchFamily="18" charset="0"/>
                                    </a:rPr>
                                    <m:t>𝑚</m:t>
                                  </m:r>
                                </m:sub>
                              </m:sSub>
                            </m:e>
                          </m:func>
                        </m:num>
                        <m:den>
                          <m:r>
                            <a:rPr lang="en-US" altLang="zh-CN" sz="1150" b="0" i="1" dirty="0" smtClean="0">
                              <a:solidFill>
                                <a:schemeClr val="tx1"/>
                              </a:solidFill>
                              <a:latin typeface="Cambria Math" panose="02040503050406030204" pitchFamily="18" charset="0"/>
                            </a:rPr>
                            <m:t>1</m:t>
                          </m:r>
                          <m:r>
                            <a:rPr lang="en-US" altLang="zh-CN" sz="1150" i="1" dirty="0">
                              <a:solidFill>
                                <a:schemeClr val="tx1"/>
                              </a:solidFill>
                              <a:latin typeface="Cambria Math" panose="02040503050406030204" pitchFamily="18" charset="0"/>
                            </a:rPr>
                            <m:t>−</m:t>
                          </m:r>
                          <m:d>
                            <m:dPr>
                              <m:ctrlPr>
                                <a:rPr lang="en-US" altLang="zh-CN" sz="1150" i="1" dirty="0">
                                  <a:solidFill>
                                    <a:schemeClr val="tx1"/>
                                  </a:solidFill>
                                  <a:latin typeface="Cambria Math" panose="02040503050406030204" pitchFamily="18" charset="0"/>
                                </a:rPr>
                              </m:ctrlPr>
                            </m:dPr>
                            <m:e>
                              <m:r>
                                <a:rPr lang="en-US" altLang="zh-CN" sz="1150" i="1" dirty="0">
                                  <a:solidFill>
                                    <a:schemeClr val="tx1"/>
                                  </a:solidFill>
                                  <a:latin typeface="Cambria Math" panose="02040503050406030204" pitchFamily="18" charset="0"/>
                                </a:rPr>
                                <m:t>1−</m:t>
                              </m:r>
                              <m:sSup>
                                <m:sSupPr>
                                  <m:ctrlPr>
                                    <a:rPr lang="en-US" altLang="zh-CN" sz="1150" i="1" dirty="0">
                                      <a:solidFill>
                                        <a:schemeClr val="tx1"/>
                                      </a:solidFill>
                                      <a:latin typeface="Cambria Math" panose="02040503050406030204" pitchFamily="18" charset="0"/>
                                    </a:rPr>
                                  </m:ctrlPr>
                                </m:sSupPr>
                                <m:e>
                                  <m:r>
                                    <a:rPr lang="en-US" altLang="zh-CN" sz="1150" i="1" dirty="0">
                                      <a:solidFill>
                                        <a:schemeClr val="tx1"/>
                                      </a:solidFill>
                                      <a:latin typeface="Cambria Math" panose="02040503050406030204" pitchFamily="18" charset="0"/>
                                    </a:rPr>
                                    <m:t>𝛼</m:t>
                                  </m:r>
                                </m:e>
                                <m:sup>
                                  <m:r>
                                    <a:rPr lang="en-US" altLang="zh-CN" sz="1150" i="1" dirty="0">
                                      <a:solidFill>
                                        <a:schemeClr val="tx1"/>
                                      </a:solidFill>
                                      <a:latin typeface="Cambria Math" panose="02040503050406030204" pitchFamily="18" charset="0"/>
                                    </a:rPr>
                                    <m:t>2</m:t>
                                  </m:r>
                                </m:sup>
                              </m:sSup>
                            </m:e>
                          </m:d>
                          <m:func>
                            <m:funcPr>
                              <m:ctrlPr>
                                <a:rPr lang="en-US" altLang="zh-CN" sz="1150" i="1" dirty="0">
                                  <a:solidFill>
                                    <a:schemeClr val="tx1"/>
                                  </a:solidFill>
                                  <a:latin typeface="Cambria Math" panose="02040503050406030204" pitchFamily="18" charset="0"/>
                                </a:rPr>
                              </m:ctrlPr>
                            </m:funcPr>
                            <m:fName>
                              <m:sSup>
                                <m:sSupPr>
                                  <m:ctrlPr>
                                    <a:rPr lang="en-US" altLang="zh-CN" sz="1150" i="1" dirty="0">
                                      <a:solidFill>
                                        <a:schemeClr val="tx1"/>
                                      </a:solidFill>
                                      <a:latin typeface="Cambria Math" panose="02040503050406030204" pitchFamily="18" charset="0"/>
                                    </a:rPr>
                                  </m:ctrlPr>
                                </m:sSupPr>
                                <m:e>
                                  <m:r>
                                    <m:rPr>
                                      <m:sty m:val="p"/>
                                    </m:rPr>
                                    <a:rPr lang="en-US" altLang="zh-CN" sz="1150" dirty="0">
                                      <a:solidFill>
                                        <a:schemeClr val="tx1"/>
                                      </a:solidFill>
                                      <a:latin typeface="Cambria Math" panose="02040503050406030204" pitchFamily="18" charset="0"/>
                                    </a:rPr>
                                    <m:t>cos</m:t>
                                  </m:r>
                                </m:e>
                                <m:sup>
                                  <m:r>
                                    <a:rPr lang="en-US" altLang="zh-CN" sz="1150" i="1" dirty="0">
                                      <a:solidFill>
                                        <a:schemeClr val="tx1"/>
                                      </a:solidFill>
                                      <a:latin typeface="Cambria Math" panose="02040503050406030204" pitchFamily="18" charset="0"/>
                                    </a:rPr>
                                    <m:t>2</m:t>
                                  </m:r>
                                </m:sup>
                              </m:sSup>
                            </m:fName>
                            <m:e>
                              <m:sSub>
                                <m:sSubPr>
                                  <m:ctrlPr>
                                    <a:rPr lang="en-US" altLang="zh-CN" sz="1150" i="1" dirty="0">
                                      <a:solidFill>
                                        <a:schemeClr val="tx1"/>
                                      </a:solidFill>
                                      <a:latin typeface="Cambria Math" panose="02040503050406030204" pitchFamily="18" charset="0"/>
                                    </a:rPr>
                                  </m:ctrlPr>
                                </m:sSubPr>
                                <m:e>
                                  <m:r>
                                    <a:rPr lang="en-US" altLang="zh-CN" sz="1150" i="1" dirty="0">
                                      <a:solidFill>
                                        <a:schemeClr val="tx1"/>
                                      </a:solidFill>
                                      <a:latin typeface="Cambria Math" panose="02040503050406030204" pitchFamily="18" charset="0"/>
                                    </a:rPr>
                                    <m:t>𝜃</m:t>
                                  </m:r>
                                </m:e>
                                <m:sub>
                                  <m:r>
                                    <a:rPr lang="en-US" altLang="zh-CN" sz="1150" i="1" dirty="0">
                                      <a:solidFill>
                                        <a:schemeClr val="tx1"/>
                                      </a:solidFill>
                                      <a:latin typeface="Cambria Math" panose="02040503050406030204" pitchFamily="18" charset="0"/>
                                    </a:rPr>
                                    <m:t>𝑚</m:t>
                                  </m:r>
                                </m:sub>
                              </m:sSub>
                            </m:e>
                          </m:func>
                        </m:den>
                      </m:f>
                      <m:r>
                        <a:rPr lang="en-US" altLang="zh-CN" sz="1150" b="0" i="1" dirty="0" smtClean="0">
                          <a:solidFill>
                            <a:schemeClr val="tx1"/>
                          </a:solidFill>
                          <a:latin typeface="Cambria Math" panose="02040503050406030204" pitchFamily="18" charset="0"/>
                        </a:rPr>
                        <m:t>=</m:t>
                      </m:r>
                      <m:f>
                        <m:fPr>
                          <m:ctrlPr>
                            <a:rPr lang="en-US" altLang="zh-CN" sz="1150" i="1" dirty="0">
                              <a:solidFill>
                                <a:schemeClr val="tx1"/>
                              </a:solidFill>
                              <a:latin typeface="Cambria Math" panose="02040503050406030204" pitchFamily="18" charset="0"/>
                            </a:rPr>
                          </m:ctrlPr>
                        </m:fPr>
                        <m:num>
                          <m:sSup>
                            <m:sSupPr>
                              <m:ctrlPr>
                                <a:rPr lang="en-US" altLang="zh-CN" sz="1150" i="1" dirty="0">
                                  <a:solidFill>
                                    <a:schemeClr val="tx1"/>
                                  </a:solidFill>
                                  <a:latin typeface="Cambria Math" panose="02040503050406030204" pitchFamily="18" charset="0"/>
                                </a:rPr>
                              </m:ctrlPr>
                            </m:sSupPr>
                            <m:e>
                              <m:r>
                                <a:rPr lang="en-US" altLang="zh-CN" sz="1150" i="1" dirty="0">
                                  <a:solidFill>
                                    <a:schemeClr val="tx1"/>
                                  </a:solidFill>
                                  <a:latin typeface="Cambria Math" panose="02040503050406030204" pitchFamily="18" charset="0"/>
                                </a:rPr>
                                <m:t>𝛼</m:t>
                              </m:r>
                            </m:e>
                            <m:sup>
                              <m:r>
                                <a:rPr lang="en-US" altLang="zh-CN" sz="1150" i="1" dirty="0">
                                  <a:solidFill>
                                    <a:schemeClr val="tx1"/>
                                  </a:solidFill>
                                  <a:latin typeface="Cambria Math" panose="02040503050406030204" pitchFamily="18" charset="0"/>
                                </a:rPr>
                                <m:t>2</m:t>
                              </m:r>
                            </m:sup>
                          </m:sSup>
                          <m:func>
                            <m:funcPr>
                              <m:ctrlPr>
                                <a:rPr lang="en-US" altLang="zh-CN" sz="1150" i="1" dirty="0">
                                  <a:solidFill>
                                    <a:schemeClr val="tx1"/>
                                  </a:solidFill>
                                  <a:latin typeface="Cambria Math" panose="02040503050406030204" pitchFamily="18" charset="0"/>
                                </a:rPr>
                              </m:ctrlPr>
                            </m:funcPr>
                            <m:fName>
                              <m:sSup>
                                <m:sSupPr>
                                  <m:ctrlPr>
                                    <a:rPr lang="en-US" altLang="zh-CN" sz="1150" i="1" dirty="0">
                                      <a:solidFill>
                                        <a:schemeClr val="tx1"/>
                                      </a:solidFill>
                                      <a:latin typeface="Cambria Math" panose="02040503050406030204" pitchFamily="18" charset="0"/>
                                    </a:rPr>
                                  </m:ctrlPr>
                                </m:sSupPr>
                                <m:e>
                                  <m:r>
                                    <m:rPr>
                                      <m:sty m:val="p"/>
                                    </m:rPr>
                                    <a:rPr lang="en-US" altLang="zh-CN" sz="1150" dirty="0">
                                      <a:solidFill>
                                        <a:schemeClr val="tx1"/>
                                      </a:solidFill>
                                      <a:latin typeface="Cambria Math" panose="02040503050406030204" pitchFamily="18" charset="0"/>
                                    </a:rPr>
                                    <m:t>cos</m:t>
                                  </m:r>
                                </m:e>
                                <m:sup>
                                  <m:r>
                                    <a:rPr lang="en-US" altLang="zh-CN" sz="1150" i="1" dirty="0">
                                      <a:solidFill>
                                        <a:schemeClr val="tx1"/>
                                      </a:solidFill>
                                      <a:latin typeface="Cambria Math" panose="02040503050406030204" pitchFamily="18" charset="0"/>
                                    </a:rPr>
                                    <m:t>2</m:t>
                                  </m:r>
                                </m:sup>
                              </m:sSup>
                            </m:fName>
                            <m:e>
                              <m:sSub>
                                <m:sSubPr>
                                  <m:ctrlPr>
                                    <a:rPr lang="en-US" altLang="zh-CN" sz="1150" i="1" dirty="0">
                                      <a:solidFill>
                                        <a:schemeClr val="tx1"/>
                                      </a:solidFill>
                                      <a:latin typeface="Cambria Math" panose="02040503050406030204" pitchFamily="18" charset="0"/>
                                    </a:rPr>
                                  </m:ctrlPr>
                                </m:sSubPr>
                                <m:e>
                                  <m:r>
                                    <a:rPr lang="en-US" altLang="zh-CN" sz="1150" i="1" dirty="0">
                                      <a:solidFill>
                                        <a:schemeClr val="tx1"/>
                                      </a:solidFill>
                                      <a:latin typeface="Cambria Math" panose="02040503050406030204" pitchFamily="18" charset="0"/>
                                    </a:rPr>
                                    <m:t>𝜃</m:t>
                                  </m:r>
                                </m:e>
                                <m:sub>
                                  <m:r>
                                    <a:rPr lang="en-US" altLang="zh-CN" sz="1150" i="1" dirty="0">
                                      <a:solidFill>
                                        <a:schemeClr val="tx1"/>
                                      </a:solidFill>
                                      <a:latin typeface="Cambria Math" panose="02040503050406030204" pitchFamily="18" charset="0"/>
                                    </a:rPr>
                                    <m:t>𝑚</m:t>
                                  </m:r>
                                </m:sub>
                              </m:sSub>
                            </m:e>
                          </m:func>
                        </m:num>
                        <m:den>
                          <m:r>
                            <a:rPr lang="en-US" altLang="zh-CN" sz="1150" i="1" dirty="0">
                              <a:solidFill>
                                <a:schemeClr val="tx1"/>
                              </a:solidFill>
                              <a:latin typeface="Cambria Math" panose="02040503050406030204" pitchFamily="18" charset="0"/>
                            </a:rPr>
                            <m:t>1−</m:t>
                          </m:r>
                          <m:func>
                            <m:funcPr>
                              <m:ctrlPr>
                                <a:rPr lang="en-US" altLang="zh-CN" sz="1150" i="1" dirty="0">
                                  <a:solidFill>
                                    <a:schemeClr val="tx1"/>
                                  </a:solidFill>
                                  <a:latin typeface="Cambria Math" panose="02040503050406030204" pitchFamily="18" charset="0"/>
                                </a:rPr>
                              </m:ctrlPr>
                            </m:funcPr>
                            <m:fName>
                              <m:sSup>
                                <m:sSupPr>
                                  <m:ctrlPr>
                                    <a:rPr lang="en-US" altLang="zh-CN" sz="1150" i="1" dirty="0">
                                      <a:solidFill>
                                        <a:schemeClr val="tx1"/>
                                      </a:solidFill>
                                      <a:latin typeface="Cambria Math" panose="02040503050406030204" pitchFamily="18" charset="0"/>
                                    </a:rPr>
                                  </m:ctrlPr>
                                </m:sSupPr>
                                <m:e>
                                  <m:r>
                                    <m:rPr>
                                      <m:sty m:val="p"/>
                                    </m:rPr>
                                    <a:rPr lang="en-US" altLang="zh-CN" sz="1150" dirty="0">
                                      <a:solidFill>
                                        <a:schemeClr val="tx1"/>
                                      </a:solidFill>
                                      <a:latin typeface="Cambria Math" panose="02040503050406030204" pitchFamily="18" charset="0"/>
                                    </a:rPr>
                                    <m:t>cos</m:t>
                                  </m:r>
                                </m:e>
                                <m:sup>
                                  <m:r>
                                    <a:rPr lang="en-US" altLang="zh-CN" sz="1150" i="1" dirty="0">
                                      <a:solidFill>
                                        <a:schemeClr val="tx1"/>
                                      </a:solidFill>
                                      <a:latin typeface="Cambria Math" panose="02040503050406030204" pitchFamily="18" charset="0"/>
                                    </a:rPr>
                                    <m:t>2</m:t>
                                  </m:r>
                                </m:sup>
                              </m:sSup>
                            </m:fName>
                            <m:e>
                              <m:sSub>
                                <m:sSubPr>
                                  <m:ctrlPr>
                                    <a:rPr lang="en-US" altLang="zh-CN" sz="1150" i="1" dirty="0">
                                      <a:solidFill>
                                        <a:schemeClr val="tx1"/>
                                      </a:solidFill>
                                      <a:latin typeface="Cambria Math" panose="02040503050406030204" pitchFamily="18" charset="0"/>
                                    </a:rPr>
                                  </m:ctrlPr>
                                </m:sSubPr>
                                <m:e>
                                  <m:r>
                                    <a:rPr lang="en-US" altLang="zh-CN" sz="1150" i="1" dirty="0">
                                      <a:solidFill>
                                        <a:schemeClr val="tx1"/>
                                      </a:solidFill>
                                      <a:latin typeface="Cambria Math" panose="02040503050406030204" pitchFamily="18" charset="0"/>
                                    </a:rPr>
                                    <m:t>𝜃</m:t>
                                  </m:r>
                                </m:e>
                                <m:sub>
                                  <m:r>
                                    <a:rPr lang="en-US" altLang="zh-CN" sz="1150" i="1" dirty="0">
                                      <a:solidFill>
                                        <a:schemeClr val="tx1"/>
                                      </a:solidFill>
                                      <a:latin typeface="Cambria Math" panose="02040503050406030204" pitchFamily="18" charset="0"/>
                                    </a:rPr>
                                    <m:t>𝑚</m:t>
                                  </m:r>
                                </m:sub>
                              </m:sSub>
                            </m:e>
                          </m:func>
                          <m:r>
                            <a:rPr lang="en-US" altLang="zh-CN" sz="1150" i="1" dirty="0">
                              <a:solidFill>
                                <a:schemeClr val="tx1"/>
                              </a:solidFill>
                              <a:latin typeface="Cambria Math" panose="02040503050406030204" pitchFamily="18" charset="0"/>
                            </a:rPr>
                            <m:t>+</m:t>
                          </m:r>
                          <m:sSup>
                            <m:sSupPr>
                              <m:ctrlPr>
                                <a:rPr lang="en-US" altLang="zh-CN" sz="1150" i="1" dirty="0">
                                  <a:solidFill>
                                    <a:schemeClr val="tx1"/>
                                  </a:solidFill>
                                  <a:latin typeface="Cambria Math" panose="02040503050406030204" pitchFamily="18" charset="0"/>
                                </a:rPr>
                              </m:ctrlPr>
                            </m:sSupPr>
                            <m:e>
                              <m:r>
                                <a:rPr lang="en-US" altLang="zh-CN" sz="1150" i="1" dirty="0">
                                  <a:solidFill>
                                    <a:schemeClr val="tx1"/>
                                  </a:solidFill>
                                  <a:latin typeface="Cambria Math" panose="02040503050406030204" pitchFamily="18" charset="0"/>
                                </a:rPr>
                                <m:t>𝛼</m:t>
                              </m:r>
                            </m:e>
                            <m:sup>
                              <m:r>
                                <a:rPr lang="en-US" altLang="zh-CN" sz="1150" i="1" dirty="0">
                                  <a:solidFill>
                                    <a:schemeClr val="tx1"/>
                                  </a:solidFill>
                                  <a:latin typeface="Cambria Math" panose="02040503050406030204" pitchFamily="18" charset="0"/>
                                </a:rPr>
                                <m:t>2</m:t>
                              </m:r>
                            </m:sup>
                          </m:sSup>
                          <m:func>
                            <m:funcPr>
                              <m:ctrlPr>
                                <a:rPr lang="en-US" altLang="zh-CN" sz="1150" i="1" dirty="0">
                                  <a:solidFill>
                                    <a:schemeClr val="tx1"/>
                                  </a:solidFill>
                                  <a:latin typeface="Cambria Math" panose="02040503050406030204" pitchFamily="18" charset="0"/>
                                </a:rPr>
                              </m:ctrlPr>
                            </m:funcPr>
                            <m:fName>
                              <m:sSup>
                                <m:sSupPr>
                                  <m:ctrlPr>
                                    <a:rPr lang="en-US" altLang="zh-CN" sz="1150" i="1" dirty="0">
                                      <a:solidFill>
                                        <a:schemeClr val="tx1"/>
                                      </a:solidFill>
                                      <a:latin typeface="Cambria Math" panose="02040503050406030204" pitchFamily="18" charset="0"/>
                                    </a:rPr>
                                  </m:ctrlPr>
                                </m:sSupPr>
                                <m:e>
                                  <m:r>
                                    <m:rPr>
                                      <m:sty m:val="p"/>
                                    </m:rPr>
                                    <a:rPr lang="en-US" altLang="zh-CN" sz="1150" dirty="0">
                                      <a:solidFill>
                                        <a:schemeClr val="tx1"/>
                                      </a:solidFill>
                                      <a:latin typeface="Cambria Math" panose="02040503050406030204" pitchFamily="18" charset="0"/>
                                    </a:rPr>
                                    <m:t>cos</m:t>
                                  </m:r>
                                </m:e>
                                <m:sup>
                                  <m:r>
                                    <a:rPr lang="en-US" altLang="zh-CN" sz="1150" i="1" dirty="0">
                                      <a:solidFill>
                                        <a:schemeClr val="tx1"/>
                                      </a:solidFill>
                                      <a:latin typeface="Cambria Math" panose="02040503050406030204" pitchFamily="18" charset="0"/>
                                    </a:rPr>
                                    <m:t>2</m:t>
                                  </m:r>
                                </m:sup>
                              </m:sSup>
                            </m:fName>
                            <m:e>
                              <m:sSub>
                                <m:sSubPr>
                                  <m:ctrlPr>
                                    <a:rPr lang="en-US" altLang="zh-CN" sz="1150" i="1" dirty="0">
                                      <a:solidFill>
                                        <a:schemeClr val="tx1"/>
                                      </a:solidFill>
                                      <a:latin typeface="Cambria Math" panose="02040503050406030204" pitchFamily="18" charset="0"/>
                                    </a:rPr>
                                  </m:ctrlPr>
                                </m:sSubPr>
                                <m:e>
                                  <m:r>
                                    <a:rPr lang="en-US" altLang="zh-CN" sz="1150" i="1" dirty="0">
                                      <a:solidFill>
                                        <a:schemeClr val="tx1"/>
                                      </a:solidFill>
                                      <a:latin typeface="Cambria Math" panose="02040503050406030204" pitchFamily="18" charset="0"/>
                                    </a:rPr>
                                    <m:t>𝜃</m:t>
                                  </m:r>
                                </m:e>
                                <m:sub>
                                  <m:r>
                                    <a:rPr lang="en-US" altLang="zh-CN" sz="1150" i="1" dirty="0">
                                      <a:solidFill>
                                        <a:schemeClr val="tx1"/>
                                      </a:solidFill>
                                      <a:latin typeface="Cambria Math" panose="02040503050406030204" pitchFamily="18" charset="0"/>
                                    </a:rPr>
                                    <m:t>𝑚</m:t>
                                  </m:r>
                                </m:sub>
                              </m:sSub>
                            </m:e>
                          </m:func>
                        </m:den>
                      </m:f>
                      <m:r>
                        <a:rPr lang="en-US" altLang="zh-CN" sz="1150" b="0" i="1" dirty="0" smtClean="0">
                          <a:solidFill>
                            <a:schemeClr val="tx1"/>
                          </a:solidFill>
                          <a:latin typeface="Cambria Math" panose="02040503050406030204" pitchFamily="18" charset="0"/>
                        </a:rPr>
                        <m:t>=</m:t>
                      </m:r>
                      <m:f>
                        <m:fPr>
                          <m:ctrlPr>
                            <a:rPr lang="en-US" altLang="zh-CN" sz="1150" i="1" dirty="0">
                              <a:solidFill>
                                <a:schemeClr val="tx1"/>
                              </a:solidFill>
                              <a:latin typeface="Cambria Math" panose="02040503050406030204" pitchFamily="18" charset="0"/>
                            </a:rPr>
                          </m:ctrlPr>
                        </m:fPr>
                        <m:num>
                          <m:sSup>
                            <m:sSupPr>
                              <m:ctrlPr>
                                <a:rPr lang="en-US" altLang="zh-CN" sz="1150" i="1" dirty="0">
                                  <a:solidFill>
                                    <a:schemeClr val="tx1"/>
                                  </a:solidFill>
                                  <a:latin typeface="Cambria Math" panose="02040503050406030204" pitchFamily="18" charset="0"/>
                                </a:rPr>
                              </m:ctrlPr>
                            </m:sSupPr>
                            <m:e>
                              <m:r>
                                <a:rPr lang="en-US" altLang="zh-CN" sz="1150" i="1" dirty="0">
                                  <a:solidFill>
                                    <a:schemeClr val="tx1"/>
                                  </a:solidFill>
                                  <a:latin typeface="Cambria Math" panose="02040503050406030204" pitchFamily="18" charset="0"/>
                                </a:rPr>
                                <m:t>𝛼</m:t>
                              </m:r>
                            </m:e>
                            <m:sup>
                              <m:r>
                                <a:rPr lang="en-US" altLang="zh-CN" sz="1150" i="1" dirty="0">
                                  <a:solidFill>
                                    <a:schemeClr val="tx1"/>
                                  </a:solidFill>
                                  <a:latin typeface="Cambria Math" panose="02040503050406030204" pitchFamily="18" charset="0"/>
                                </a:rPr>
                                <m:t>2</m:t>
                              </m:r>
                            </m:sup>
                          </m:sSup>
                          <m:func>
                            <m:funcPr>
                              <m:ctrlPr>
                                <a:rPr lang="en-US" altLang="zh-CN" sz="1150" i="1" dirty="0">
                                  <a:solidFill>
                                    <a:schemeClr val="tx1"/>
                                  </a:solidFill>
                                  <a:latin typeface="Cambria Math" panose="02040503050406030204" pitchFamily="18" charset="0"/>
                                </a:rPr>
                              </m:ctrlPr>
                            </m:funcPr>
                            <m:fName>
                              <m:sSup>
                                <m:sSupPr>
                                  <m:ctrlPr>
                                    <a:rPr lang="en-US" altLang="zh-CN" sz="1150" i="1" dirty="0">
                                      <a:solidFill>
                                        <a:schemeClr val="tx1"/>
                                      </a:solidFill>
                                      <a:latin typeface="Cambria Math" panose="02040503050406030204" pitchFamily="18" charset="0"/>
                                    </a:rPr>
                                  </m:ctrlPr>
                                </m:sSupPr>
                                <m:e>
                                  <m:r>
                                    <m:rPr>
                                      <m:sty m:val="p"/>
                                    </m:rPr>
                                    <a:rPr lang="en-US" altLang="zh-CN" sz="1150" dirty="0">
                                      <a:solidFill>
                                        <a:schemeClr val="tx1"/>
                                      </a:solidFill>
                                      <a:latin typeface="Cambria Math" panose="02040503050406030204" pitchFamily="18" charset="0"/>
                                    </a:rPr>
                                    <m:t>cos</m:t>
                                  </m:r>
                                </m:e>
                                <m:sup>
                                  <m:r>
                                    <a:rPr lang="en-US" altLang="zh-CN" sz="1150" i="1" dirty="0">
                                      <a:solidFill>
                                        <a:schemeClr val="tx1"/>
                                      </a:solidFill>
                                      <a:latin typeface="Cambria Math" panose="02040503050406030204" pitchFamily="18" charset="0"/>
                                    </a:rPr>
                                    <m:t>2</m:t>
                                  </m:r>
                                </m:sup>
                              </m:sSup>
                            </m:fName>
                            <m:e>
                              <m:sSub>
                                <m:sSubPr>
                                  <m:ctrlPr>
                                    <a:rPr lang="en-US" altLang="zh-CN" sz="1150" i="1" dirty="0">
                                      <a:solidFill>
                                        <a:schemeClr val="tx1"/>
                                      </a:solidFill>
                                      <a:latin typeface="Cambria Math" panose="02040503050406030204" pitchFamily="18" charset="0"/>
                                    </a:rPr>
                                  </m:ctrlPr>
                                </m:sSubPr>
                                <m:e>
                                  <m:r>
                                    <a:rPr lang="en-US" altLang="zh-CN" sz="1150" i="1" dirty="0">
                                      <a:solidFill>
                                        <a:schemeClr val="tx1"/>
                                      </a:solidFill>
                                      <a:latin typeface="Cambria Math" panose="02040503050406030204" pitchFamily="18" charset="0"/>
                                    </a:rPr>
                                    <m:t>𝜃</m:t>
                                  </m:r>
                                </m:e>
                                <m:sub>
                                  <m:r>
                                    <a:rPr lang="en-US" altLang="zh-CN" sz="1150" i="1" dirty="0">
                                      <a:solidFill>
                                        <a:schemeClr val="tx1"/>
                                      </a:solidFill>
                                      <a:latin typeface="Cambria Math" panose="02040503050406030204" pitchFamily="18" charset="0"/>
                                    </a:rPr>
                                    <m:t>𝑚</m:t>
                                  </m:r>
                                </m:sub>
                              </m:sSub>
                            </m:e>
                          </m:func>
                        </m:num>
                        <m:den>
                          <m:func>
                            <m:funcPr>
                              <m:ctrlPr>
                                <a:rPr lang="en-US" altLang="zh-CN" sz="1150" i="1" dirty="0">
                                  <a:solidFill>
                                    <a:schemeClr val="tx1"/>
                                  </a:solidFill>
                                  <a:latin typeface="Cambria Math" panose="02040503050406030204" pitchFamily="18" charset="0"/>
                                </a:rPr>
                              </m:ctrlPr>
                            </m:funcPr>
                            <m:fName>
                              <m:sSup>
                                <m:sSupPr>
                                  <m:ctrlPr>
                                    <a:rPr lang="en-US" altLang="zh-CN" sz="1150" i="1" dirty="0">
                                      <a:solidFill>
                                        <a:schemeClr val="tx1"/>
                                      </a:solidFill>
                                      <a:latin typeface="Cambria Math" panose="02040503050406030204" pitchFamily="18" charset="0"/>
                                    </a:rPr>
                                  </m:ctrlPr>
                                </m:sSupPr>
                                <m:e>
                                  <m:r>
                                    <m:rPr>
                                      <m:sty m:val="p"/>
                                    </m:rPr>
                                    <a:rPr lang="en-US" altLang="zh-CN" sz="1150" b="0" i="0" dirty="0" smtClean="0">
                                      <a:solidFill>
                                        <a:schemeClr val="tx1"/>
                                      </a:solidFill>
                                      <a:latin typeface="Cambria Math" panose="02040503050406030204" pitchFamily="18" charset="0"/>
                                    </a:rPr>
                                    <m:t>sin</m:t>
                                  </m:r>
                                </m:e>
                                <m:sup>
                                  <m:r>
                                    <a:rPr lang="en-US" altLang="zh-CN" sz="1150" i="1" dirty="0">
                                      <a:solidFill>
                                        <a:schemeClr val="tx1"/>
                                      </a:solidFill>
                                      <a:latin typeface="Cambria Math" panose="02040503050406030204" pitchFamily="18" charset="0"/>
                                    </a:rPr>
                                    <m:t>2</m:t>
                                  </m:r>
                                </m:sup>
                              </m:sSup>
                            </m:fName>
                            <m:e>
                              <m:sSub>
                                <m:sSubPr>
                                  <m:ctrlPr>
                                    <a:rPr lang="en-US" altLang="zh-CN" sz="1150" i="1" dirty="0">
                                      <a:solidFill>
                                        <a:schemeClr val="tx1"/>
                                      </a:solidFill>
                                      <a:latin typeface="Cambria Math" panose="02040503050406030204" pitchFamily="18" charset="0"/>
                                    </a:rPr>
                                  </m:ctrlPr>
                                </m:sSubPr>
                                <m:e>
                                  <m:r>
                                    <a:rPr lang="en-US" altLang="zh-CN" sz="1150" i="1" dirty="0">
                                      <a:solidFill>
                                        <a:schemeClr val="tx1"/>
                                      </a:solidFill>
                                      <a:latin typeface="Cambria Math" panose="02040503050406030204" pitchFamily="18" charset="0"/>
                                    </a:rPr>
                                    <m:t>𝜃</m:t>
                                  </m:r>
                                </m:e>
                                <m:sub>
                                  <m:r>
                                    <a:rPr lang="en-US" altLang="zh-CN" sz="1150" i="1" dirty="0">
                                      <a:solidFill>
                                        <a:schemeClr val="tx1"/>
                                      </a:solidFill>
                                      <a:latin typeface="Cambria Math" panose="02040503050406030204" pitchFamily="18" charset="0"/>
                                    </a:rPr>
                                    <m:t>𝑚</m:t>
                                  </m:r>
                                </m:sub>
                              </m:sSub>
                            </m:e>
                          </m:func>
                          <m:r>
                            <a:rPr lang="en-US" altLang="zh-CN" sz="1150" i="1" dirty="0">
                              <a:solidFill>
                                <a:schemeClr val="tx1"/>
                              </a:solidFill>
                              <a:latin typeface="Cambria Math" panose="02040503050406030204" pitchFamily="18" charset="0"/>
                            </a:rPr>
                            <m:t>+</m:t>
                          </m:r>
                          <m:sSup>
                            <m:sSupPr>
                              <m:ctrlPr>
                                <a:rPr lang="en-US" altLang="zh-CN" sz="1150" i="1" dirty="0">
                                  <a:solidFill>
                                    <a:schemeClr val="tx1"/>
                                  </a:solidFill>
                                  <a:latin typeface="Cambria Math" panose="02040503050406030204" pitchFamily="18" charset="0"/>
                                </a:rPr>
                              </m:ctrlPr>
                            </m:sSupPr>
                            <m:e>
                              <m:r>
                                <a:rPr lang="en-US" altLang="zh-CN" sz="1150" i="1" dirty="0">
                                  <a:solidFill>
                                    <a:schemeClr val="tx1"/>
                                  </a:solidFill>
                                  <a:latin typeface="Cambria Math" panose="02040503050406030204" pitchFamily="18" charset="0"/>
                                </a:rPr>
                                <m:t>𝛼</m:t>
                              </m:r>
                            </m:e>
                            <m:sup>
                              <m:r>
                                <a:rPr lang="en-US" altLang="zh-CN" sz="1150" i="1" dirty="0">
                                  <a:solidFill>
                                    <a:schemeClr val="tx1"/>
                                  </a:solidFill>
                                  <a:latin typeface="Cambria Math" panose="02040503050406030204" pitchFamily="18" charset="0"/>
                                </a:rPr>
                                <m:t>2</m:t>
                              </m:r>
                            </m:sup>
                          </m:sSup>
                          <m:func>
                            <m:funcPr>
                              <m:ctrlPr>
                                <a:rPr lang="en-US" altLang="zh-CN" sz="1150" i="1" dirty="0">
                                  <a:solidFill>
                                    <a:schemeClr val="tx1"/>
                                  </a:solidFill>
                                  <a:latin typeface="Cambria Math" panose="02040503050406030204" pitchFamily="18" charset="0"/>
                                </a:rPr>
                              </m:ctrlPr>
                            </m:funcPr>
                            <m:fName>
                              <m:sSup>
                                <m:sSupPr>
                                  <m:ctrlPr>
                                    <a:rPr lang="en-US" altLang="zh-CN" sz="1150" i="1" dirty="0">
                                      <a:solidFill>
                                        <a:schemeClr val="tx1"/>
                                      </a:solidFill>
                                      <a:latin typeface="Cambria Math" panose="02040503050406030204" pitchFamily="18" charset="0"/>
                                    </a:rPr>
                                  </m:ctrlPr>
                                </m:sSupPr>
                                <m:e>
                                  <m:r>
                                    <m:rPr>
                                      <m:sty m:val="p"/>
                                    </m:rPr>
                                    <a:rPr lang="en-US" altLang="zh-CN" sz="1150" dirty="0">
                                      <a:solidFill>
                                        <a:schemeClr val="tx1"/>
                                      </a:solidFill>
                                      <a:latin typeface="Cambria Math" panose="02040503050406030204" pitchFamily="18" charset="0"/>
                                    </a:rPr>
                                    <m:t>cos</m:t>
                                  </m:r>
                                </m:e>
                                <m:sup>
                                  <m:r>
                                    <a:rPr lang="en-US" altLang="zh-CN" sz="1150" i="1" dirty="0">
                                      <a:solidFill>
                                        <a:schemeClr val="tx1"/>
                                      </a:solidFill>
                                      <a:latin typeface="Cambria Math" panose="02040503050406030204" pitchFamily="18" charset="0"/>
                                    </a:rPr>
                                    <m:t>2</m:t>
                                  </m:r>
                                </m:sup>
                              </m:sSup>
                            </m:fName>
                            <m:e>
                              <m:sSub>
                                <m:sSubPr>
                                  <m:ctrlPr>
                                    <a:rPr lang="en-US" altLang="zh-CN" sz="1150" i="1" dirty="0">
                                      <a:solidFill>
                                        <a:schemeClr val="tx1"/>
                                      </a:solidFill>
                                      <a:latin typeface="Cambria Math" panose="02040503050406030204" pitchFamily="18" charset="0"/>
                                    </a:rPr>
                                  </m:ctrlPr>
                                </m:sSubPr>
                                <m:e>
                                  <m:r>
                                    <a:rPr lang="en-US" altLang="zh-CN" sz="1150" i="1" dirty="0">
                                      <a:solidFill>
                                        <a:schemeClr val="tx1"/>
                                      </a:solidFill>
                                      <a:latin typeface="Cambria Math" panose="02040503050406030204" pitchFamily="18" charset="0"/>
                                    </a:rPr>
                                    <m:t>𝜃</m:t>
                                  </m:r>
                                </m:e>
                                <m:sub>
                                  <m:r>
                                    <a:rPr lang="en-US" altLang="zh-CN" sz="1150" i="1" dirty="0">
                                      <a:solidFill>
                                        <a:schemeClr val="tx1"/>
                                      </a:solidFill>
                                      <a:latin typeface="Cambria Math" panose="02040503050406030204" pitchFamily="18" charset="0"/>
                                    </a:rPr>
                                    <m:t>𝑚</m:t>
                                  </m:r>
                                </m:sub>
                              </m:sSub>
                            </m:e>
                          </m:func>
                        </m:den>
                      </m:f>
                    </m:oMath>
                  </m:oMathPara>
                </a14:m>
                <a:endParaRPr lang="en-US" altLang="zh-CN" sz="115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4</m:t>
                              </m:r>
                            </m:sup>
                          </m:sSup>
                        </m:fName>
                        <m:e>
                          <m:r>
                            <a:rPr lang="en-US" altLang="zh-CN" sz="1400" b="0" i="1" dirty="0" smtClean="0">
                              <a:solidFill>
                                <a:schemeClr val="tx1"/>
                              </a:solidFill>
                              <a:latin typeface="Cambria Math" panose="02040503050406030204" pitchFamily="18" charset="0"/>
                            </a:rPr>
                            <m:t>𝜃</m:t>
                          </m:r>
                        </m:e>
                      </m:func>
                      <m:r>
                        <a:rPr lang="en-US" altLang="zh-CN" sz="1400" b="0" i="1" dirty="0" smtClean="0">
                          <a:solidFill>
                            <a:schemeClr val="tx1"/>
                          </a:solidFill>
                          <a:latin typeface="Cambria Math" panose="02040503050406030204" pitchFamily="18" charset="0"/>
                        </a:rPr>
                        <m:t>=</m:t>
                      </m:r>
                      <m:f>
                        <m:fPr>
                          <m:ctrlPr>
                            <a:rPr lang="en-US" altLang="zh-CN" sz="1400" i="1" dirty="0" smtClean="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4</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4</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num>
                        <m:den>
                          <m:sSup>
                            <m:sSupPr>
                              <m:ctrlPr>
                                <a:rPr lang="en-US" altLang="zh-CN" sz="1400" b="0" i="1" dirty="0" smtClean="0">
                                  <a:solidFill>
                                    <a:schemeClr val="tx1"/>
                                  </a:solidFill>
                                  <a:latin typeface="Cambria Math" panose="02040503050406030204" pitchFamily="18" charset="0"/>
                                </a:rPr>
                              </m:ctrlPr>
                            </m:sSupPr>
                            <m:e>
                              <m:d>
                                <m:dPr>
                                  <m:ctrlPr>
                                    <a:rPr lang="en-US" altLang="zh-CN" sz="1400" b="0" i="1" dirty="0" smtClean="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sin</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e>
                              </m:d>
                            </m:e>
                            <m:sup>
                              <m:r>
                                <a:rPr lang="en-US" altLang="zh-CN" sz="1400" b="0" i="1" dirty="0" smtClean="0">
                                  <a:solidFill>
                                    <a:schemeClr val="tx1"/>
                                  </a:solidFill>
                                  <a:latin typeface="Cambria Math" panose="02040503050406030204" pitchFamily="18" charset="0"/>
                                </a:rPr>
                                <m:t>2</m:t>
                              </m:r>
                            </m:sup>
                          </m:sSup>
                        </m:den>
                      </m:f>
                    </m:oMath>
                  </m:oMathPara>
                </a14:m>
                <a:endParaRPr lang="en-US" altLang="zh-CN" sz="14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en-US" altLang="zh-CN" sz="1300" b="0" i="1" dirty="0" smtClean="0">
                          <a:solidFill>
                            <a:schemeClr val="tx1"/>
                          </a:solidFill>
                          <a:latin typeface="Cambria Math" panose="02040503050406030204" pitchFamily="18" charset="0"/>
                        </a:rPr>
                        <m:t>𝐷</m:t>
                      </m:r>
                      <m:d>
                        <m:dPr>
                          <m:ctrlPr>
                            <a:rPr lang="en-US" altLang="zh-CN" sz="1300" b="0" i="1" dirty="0" smtClean="0">
                              <a:solidFill>
                                <a:schemeClr val="tx1"/>
                              </a:solidFill>
                              <a:latin typeface="Cambria Math" panose="02040503050406030204" pitchFamily="18" charset="0"/>
                            </a:rPr>
                          </m:ctrlPr>
                        </m:dPr>
                        <m:e>
                          <m:r>
                            <a:rPr lang="en-US" altLang="zh-CN" sz="1300" b="1" i="1" dirty="0" smtClean="0">
                              <a:solidFill>
                                <a:schemeClr val="tx1"/>
                              </a:solidFill>
                              <a:latin typeface="Cambria Math" panose="02040503050406030204" pitchFamily="18" charset="0"/>
                            </a:rPr>
                            <m:t>𝒎</m:t>
                          </m:r>
                        </m:e>
                      </m:d>
                      <m:r>
                        <a:rPr lang="en-US" altLang="zh-CN" sz="1300" i="1" dirty="0">
                          <a:solidFill>
                            <a:schemeClr val="tx1"/>
                          </a:solidFill>
                          <a:latin typeface="Cambria Math" panose="02040503050406030204" pitchFamily="18" charset="0"/>
                        </a:rPr>
                        <m:t>=</m:t>
                      </m:r>
                      <m:f>
                        <m:fPr>
                          <m:ctrlPr>
                            <a:rPr lang="en-US" altLang="zh-CN" sz="1300" b="0" i="1" dirty="0" smtClean="0">
                              <a:solidFill>
                                <a:schemeClr val="tx1"/>
                              </a:solidFill>
                              <a:latin typeface="Cambria Math" panose="02040503050406030204" pitchFamily="18" charset="0"/>
                            </a:rPr>
                          </m:ctrlPr>
                        </m:fPr>
                        <m:num>
                          <m:r>
                            <a:rPr lang="en-US" altLang="zh-CN" sz="1300" b="0" i="1" dirty="0" smtClean="0">
                              <a:solidFill>
                                <a:schemeClr val="tx1"/>
                              </a:solidFill>
                              <a:latin typeface="Cambria Math" panose="02040503050406030204" pitchFamily="18" charset="0"/>
                            </a:rPr>
                            <m:t>1</m:t>
                          </m:r>
                        </m:num>
                        <m:den>
                          <m:r>
                            <a:rPr lang="en-US" altLang="zh-CN" sz="1300" i="1" dirty="0">
                              <a:solidFill>
                                <a:schemeClr val="tx1"/>
                              </a:solidFill>
                              <a:latin typeface="Cambria Math" panose="02040503050406030204" pitchFamily="18" charset="0"/>
                            </a:rPr>
                            <m:t>𝜋</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4</m:t>
                                  </m:r>
                                </m:sup>
                              </m:sSup>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den>
                      </m:f>
                      <m:r>
                        <a:rPr lang="en-US" altLang="zh-CN" sz="1300" b="0" i="1" dirty="0" smtClean="0">
                          <a:solidFill>
                            <a:schemeClr val="tx1"/>
                          </a:solidFill>
                          <a:latin typeface="Cambria Math" panose="02040503050406030204" pitchFamily="18" charset="0"/>
                        </a:rPr>
                        <m:t> </m:t>
                      </m:r>
                      <m:f>
                        <m:fPr>
                          <m:ctrlPr>
                            <a:rPr lang="en-US" altLang="zh-CN" sz="1300" i="1" dirty="0">
                              <a:solidFill>
                                <a:schemeClr val="tx1"/>
                              </a:solidFill>
                              <a:latin typeface="Cambria Math" panose="02040503050406030204" pitchFamily="18" charset="0"/>
                            </a:rPr>
                          </m:ctrlPr>
                        </m:fPr>
                        <m:num>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4</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4</m:t>
                                  </m:r>
                                </m:sup>
                              </m:sSup>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num>
                        <m:den>
                          <m:sSup>
                            <m:sSupPr>
                              <m:ctrlPr>
                                <a:rPr lang="en-US" altLang="zh-CN" sz="1300" i="1" dirty="0">
                                  <a:solidFill>
                                    <a:schemeClr val="tx1"/>
                                  </a:solidFill>
                                  <a:latin typeface="Cambria Math" panose="02040503050406030204" pitchFamily="18" charset="0"/>
                                </a:rPr>
                              </m:ctrlPr>
                            </m:sSupPr>
                            <m:e>
                              <m:d>
                                <m:dPr>
                                  <m:ctrlPr>
                                    <a:rPr lang="en-US" altLang="zh-CN" sz="1300" i="1" dirty="0">
                                      <a:solidFill>
                                        <a:schemeClr val="tx1"/>
                                      </a:solidFill>
                                      <a:latin typeface="Cambria Math" panose="02040503050406030204" pitchFamily="18" charset="0"/>
                                    </a:rPr>
                                  </m:ctrlPr>
                                </m:dPr>
                                <m:e>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r>
                                    <a:rPr lang="en-US" altLang="zh-CN" sz="1300" i="1" dirty="0">
                                      <a:solidFill>
                                        <a:schemeClr val="tx1"/>
                                      </a:solidFill>
                                      <a:latin typeface="Cambria Math" panose="02040503050406030204" pitchFamily="18" charset="0"/>
                                    </a:rPr>
                                    <m:t>+</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e>
                              </m:d>
                            </m:e>
                            <m:sup>
                              <m:r>
                                <a:rPr lang="en-US" altLang="zh-CN" sz="1300" i="1" dirty="0">
                                  <a:solidFill>
                                    <a:schemeClr val="tx1"/>
                                  </a:solidFill>
                                  <a:latin typeface="Cambria Math" panose="02040503050406030204" pitchFamily="18" charset="0"/>
                                </a:rPr>
                                <m:t>2</m:t>
                              </m:r>
                            </m:sup>
                          </m:sSup>
                        </m:den>
                      </m:f>
                      <m:r>
                        <a:rPr lang="en-US" altLang="zh-CN" sz="1300" b="0" i="1" dirty="0" smtClean="0">
                          <a:solidFill>
                            <a:schemeClr val="tx1"/>
                          </a:solidFill>
                          <a:latin typeface="Cambria Math" panose="02040503050406030204" pitchFamily="18" charset="0"/>
                        </a:rPr>
                        <m:t>=</m:t>
                      </m:r>
                      <m:f>
                        <m:fPr>
                          <m:ctrlPr>
                            <a:rPr lang="en-US" altLang="zh-CN" sz="1300" i="1" dirty="0">
                              <a:solidFill>
                                <a:schemeClr val="tx1"/>
                              </a:solidFill>
                              <a:latin typeface="Cambria Math" panose="02040503050406030204" pitchFamily="18" charset="0"/>
                            </a:rPr>
                          </m:ctrlPr>
                        </m:fPr>
                        <m:num>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num>
                        <m:den>
                          <m:sSup>
                            <m:sSupPr>
                              <m:ctrlPr>
                                <a:rPr lang="en-US" altLang="zh-CN" sz="1300" i="1" dirty="0">
                                  <a:solidFill>
                                    <a:schemeClr val="tx1"/>
                                  </a:solidFill>
                                  <a:latin typeface="Cambria Math" panose="02040503050406030204" pitchFamily="18" charset="0"/>
                                </a:rPr>
                              </m:ctrlPr>
                            </m:sSupPr>
                            <m:e>
                              <m:r>
                                <a:rPr lang="en-US" altLang="zh-CN" sz="1300" b="0" i="1" dirty="0" smtClean="0">
                                  <a:solidFill>
                                    <a:schemeClr val="tx1"/>
                                  </a:solidFill>
                                  <a:latin typeface="Cambria Math" panose="02040503050406030204" pitchFamily="18" charset="0"/>
                                </a:rPr>
                                <m:t>𝜋</m:t>
                              </m:r>
                              <m:d>
                                <m:dPr>
                                  <m:ctrlPr>
                                    <a:rPr lang="en-US" altLang="zh-CN" sz="1300" i="1" dirty="0">
                                      <a:solidFill>
                                        <a:schemeClr val="tx1"/>
                                      </a:solidFill>
                                      <a:latin typeface="Cambria Math" panose="02040503050406030204" pitchFamily="18" charset="0"/>
                                    </a:rPr>
                                  </m:ctrlPr>
                                </m:dPr>
                                <m:e>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sin</m:t>
                                          </m:r>
                                        </m:e>
                                        <m:sup>
                                          <m:r>
                                            <a:rPr lang="en-US" altLang="zh-CN" sz="1300" i="1" dirty="0">
                                              <a:solidFill>
                                                <a:schemeClr val="tx1"/>
                                              </a:solidFill>
                                              <a:latin typeface="Cambria Math" panose="02040503050406030204" pitchFamily="18" charset="0"/>
                                            </a:rPr>
                                            <m:t>2</m:t>
                                          </m:r>
                                        </m:sup>
                                      </m:sSup>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r>
                                    <a:rPr lang="en-US" altLang="zh-CN" sz="1300" i="1" dirty="0">
                                      <a:solidFill>
                                        <a:schemeClr val="tx1"/>
                                      </a:solidFill>
                                      <a:latin typeface="Cambria Math" panose="02040503050406030204" pitchFamily="18" charset="0"/>
                                    </a:rPr>
                                    <m:t>+</m:t>
                                  </m:r>
                                  <m:sSup>
                                    <m:sSupPr>
                                      <m:ctrlPr>
                                        <a:rPr lang="en-US" altLang="zh-CN" sz="1300" i="1" dirty="0">
                                          <a:solidFill>
                                            <a:schemeClr val="tx1"/>
                                          </a:solidFill>
                                          <a:latin typeface="Cambria Math" panose="02040503050406030204" pitchFamily="18" charset="0"/>
                                        </a:rPr>
                                      </m:ctrlPr>
                                    </m:sSupPr>
                                    <m:e>
                                      <m:r>
                                        <a:rPr lang="en-US" altLang="zh-CN" sz="1300" i="1" dirty="0">
                                          <a:solidFill>
                                            <a:schemeClr val="tx1"/>
                                          </a:solidFill>
                                          <a:latin typeface="Cambria Math" panose="02040503050406030204" pitchFamily="18" charset="0"/>
                                        </a:rPr>
                                        <m:t>𝛼</m:t>
                                      </m:r>
                                    </m:e>
                                    <m:sup>
                                      <m:r>
                                        <a:rPr lang="en-US" altLang="zh-CN" sz="1300" i="1" dirty="0">
                                          <a:solidFill>
                                            <a:schemeClr val="tx1"/>
                                          </a:solidFill>
                                          <a:latin typeface="Cambria Math" panose="02040503050406030204" pitchFamily="18" charset="0"/>
                                        </a:rPr>
                                        <m:t>2</m:t>
                                      </m:r>
                                    </m:sup>
                                  </m:sSup>
                                  <m:func>
                                    <m:funcPr>
                                      <m:ctrlPr>
                                        <a:rPr lang="en-US" altLang="zh-CN" sz="1300" i="1" dirty="0">
                                          <a:solidFill>
                                            <a:schemeClr val="tx1"/>
                                          </a:solidFill>
                                          <a:latin typeface="Cambria Math" panose="02040503050406030204" pitchFamily="18" charset="0"/>
                                        </a:rPr>
                                      </m:ctrlPr>
                                    </m:funcPr>
                                    <m:fName>
                                      <m:sSup>
                                        <m:sSupPr>
                                          <m:ctrlPr>
                                            <a:rPr lang="en-US" altLang="zh-CN" sz="1300" i="1" dirty="0">
                                              <a:solidFill>
                                                <a:schemeClr val="tx1"/>
                                              </a:solidFill>
                                              <a:latin typeface="Cambria Math" panose="02040503050406030204" pitchFamily="18" charset="0"/>
                                            </a:rPr>
                                          </m:ctrlPr>
                                        </m:sSupPr>
                                        <m:e>
                                          <m:r>
                                            <m:rPr>
                                              <m:sty m:val="p"/>
                                            </m:rPr>
                                            <a:rPr lang="en-US" altLang="zh-CN" sz="1300" dirty="0">
                                              <a:solidFill>
                                                <a:schemeClr val="tx1"/>
                                              </a:solidFill>
                                              <a:latin typeface="Cambria Math" panose="02040503050406030204" pitchFamily="18" charset="0"/>
                                            </a:rPr>
                                            <m:t>cos</m:t>
                                          </m:r>
                                        </m:e>
                                        <m:sup>
                                          <m:r>
                                            <a:rPr lang="en-US" altLang="zh-CN" sz="1300" i="1" dirty="0">
                                              <a:solidFill>
                                                <a:schemeClr val="tx1"/>
                                              </a:solidFill>
                                              <a:latin typeface="Cambria Math" panose="02040503050406030204" pitchFamily="18" charset="0"/>
                                            </a:rPr>
                                            <m:t>2</m:t>
                                          </m:r>
                                        </m:sup>
                                      </m:sSup>
                                    </m:fName>
                                    <m:e>
                                      <m:sSub>
                                        <m:sSubPr>
                                          <m:ctrlPr>
                                            <a:rPr lang="en-US" altLang="zh-CN" sz="1300" i="1" dirty="0">
                                              <a:solidFill>
                                                <a:schemeClr val="tx1"/>
                                              </a:solidFill>
                                              <a:latin typeface="Cambria Math" panose="02040503050406030204" pitchFamily="18" charset="0"/>
                                            </a:rPr>
                                          </m:ctrlPr>
                                        </m:sSubPr>
                                        <m:e>
                                          <m:r>
                                            <a:rPr lang="en-US" altLang="zh-CN" sz="1300" i="1" dirty="0">
                                              <a:solidFill>
                                                <a:schemeClr val="tx1"/>
                                              </a:solidFill>
                                              <a:latin typeface="Cambria Math" panose="02040503050406030204" pitchFamily="18" charset="0"/>
                                            </a:rPr>
                                            <m:t>𝜃</m:t>
                                          </m:r>
                                        </m:e>
                                        <m:sub>
                                          <m:r>
                                            <a:rPr lang="en-US" altLang="zh-CN" sz="1300" i="1" dirty="0">
                                              <a:solidFill>
                                                <a:schemeClr val="tx1"/>
                                              </a:solidFill>
                                              <a:latin typeface="Cambria Math" panose="02040503050406030204" pitchFamily="18" charset="0"/>
                                            </a:rPr>
                                            <m:t>𝑚</m:t>
                                          </m:r>
                                        </m:sub>
                                      </m:sSub>
                                    </m:e>
                                  </m:func>
                                </m:e>
                              </m:d>
                            </m:e>
                            <m:sup>
                              <m:r>
                                <a:rPr lang="en-US" altLang="zh-CN" sz="1300" i="1" dirty="0">
                                  <a:solidFill>
                                    <a:schemeClr val="tx1"/>
                                  </a:solidFill>
                                  <a:latin typeface="Cambria Math" panose="02040503050406030204" pitchFamily="18" charset="0"/>
                                </a:rPr>
                                <m:t>2</m:t>
                              </m:r>
                            </m:sup>
                          </m:sSup>
                        </m:den>
                      </m:f>
                    </m:oMath>
                  </m:oMathPara>
                </a14:m>
                <a:endParaRPr lang="en-US" altLang="zh-CN" sz="13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𝜋</m:t>
                              </m:r>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4</m:t>
                                      </m:r>
                                    </m:sup>
                                  </m:sSup>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e>
                              </m:d>
                            </m:e>
                            <m:sup>
                              <m:r>
                                <a:rPr lang="en-US" altLang="zh-CN" sz="1400" i="1" dirty="0">
                                  <a:solidFill>
                                    <a:schemeClr val="tx1"/>
                                  </a:solidFill>
                                  <a:latin typeface="Cambria Math" panose="02040503050406030204" pitchFamily="18" charset="0"/>
                                </a:rPr>
                                <m:t>2</m:t>
                              </m:r>
                            </m:sup>
                          </m:sSup>
                        </m:den>
                      </m:f>
                    </m:oMath>
                  </m:oMathPara>
                </a14:m>
                <a:endParaRPr lang="en-US" altLang="zh-CN" sz="1400" i="1"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BF21D7D7-F68D-D842-2DB7-23F559A9E016}"/>
                  </a:ext>
                </a:extLst>
              </p:cNvPr>
              <p:cNvSpPr>
                <a:spLocks noRot="1" noChangeAspect="1" noMove="1" noResize="1" noEditPoints="1" noAdjustHandles="1" noChangeArrowheads="1" noChangeShapeType="1" noTextEdit="1"/>
              </p:cNvSpPr>
              <p:nvPr/>
            </p:nvSpPr>
            <p:spPr>
              <a:xfrm>
                <a:off x="368712" y="1144044"/>
                <a:ext cx="6929212" cy="5402806"/>
              </a:xfrm>
              <a:prstGeom prst="rect">
                <a:avLst/>
              </a:prstGeom>
              <a:blipFill>
                <a:blip r:embed="rId3"/>
                <a:stretch>
                  <a:fillRect/>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897F45A0-F0DE-1586-8388-76720E05B010}"/>
              </a:ext>
            </a:extLst>
          </p:cNvPr>
          <p:cNvSpPr/>
          <p:nvPr/>
        </p:nvSpPr>
        <p:spPr>
          <a:xfrm>
            <a:off x="7797057" y="1735116"/>
            <a:ext cx="4320195" cy="259889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a:extLst>
              <a:ext uri="{FF2B5EF4-FFF2-40B4-BE49-F238E27FC236}">
                <a16:creationId xmlns:a16="http://schemas.microsoft.com/office/drawing/2014/main" id="{6955B5F1-7455-50C1-3FC1-84A44254CAD4}"/>
              </a:ext>
            </a:extLst>
          </p:cNvPr>
          <p:cNvSpPr/>
          <p:nvPr/>
        </p:nvSpPr>
        <p:spPr>
          <a:xfrm>
            <a:off x="7647003" y="1563666"/>
            <a:ext cx="4320195" cy="259889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a:extLst>
              <a:ext uri="{FF2B5EF4-FFF2-40B4-BE49-F238E27FC236}">
                <a16:creationId xmlns:a16="http://schemas.microsoft.com/office/drawing/2014/main" id="{C6FE1F40-1893-27FF-9FF0-B93C5692D85E}"/>
              </a:ext>
            </a:extLst>
          </p:cNvPr>
          <p:cNvGrpSpPr/>
          <p:nvPr/>
        </p:nvGrpSpPr>
        <p:grpSpPr>
          <a:xfrm>
            <a:off x="8174548" y="1792531"/>
            <a:ext cx="3648740" cy="2224104"/>
            <a:chOff x="8174548" y="1792531"/>
            <a:chExt cx="3648740" cy="2224104"/>
          </a:xfrm>
        </p:grpSpPr>
        <p:sp>
          <p:nvSpPr>
            <p:cNvPr id="10" name="任意多边形: 形状 9">
              <a:extLst>
                <a:ext uri="{FF2B5EF4-FFF2-40B4-BE49-F238E27FC236}">
                  <a16:creationId xmlns:a16="http://schemas.microsoft.com/office/drawing/2014/main" id="{3726643C-72E8-413F-8F1E-8F733C954017}"/>
                </a:ext>
              </a:extLst>
            </p:cNvPr>
            <p:cNvSpPr/>
            <p:nvPr/>
          </p:nvSpPr>
          <p:spPr>
            <a:xfrm>
              <a:off x="10263718" y="2609040"/>
              <a:ext cx="84176" cy="31603"/>
            </a:xfrm>
            <a:custGeom>
              <a:avLst/>
              <a:gdLst>
                <a:gd name="connsiteX0" fmla="*/ 0 w 86783"/>
                <a:gd name="connsiteY0" fmla="*/ 12808 h 19158"/>
                <a:gd name="connsiteX1" fmla="*/ 50800 w 86783"/>
                <a:gd name="connsiteY1" fmla="*/ 108 h 19158"/>
                <a:gd name="connsiteX2" fmla="*/ 86783 w 86783"/>
                <a:gd name="connsiteY2" fmla="*/ 19158 h 19158"/>
                <a:gd name="connsiteX0" fmla="*/ 0 w 86783"/>
                <a:gd name="connsiteY0" fmla="*/ 6893 h 13243"/>
                <a:gd name="connsiteX1" fmla="*/ 46436 w 86783"/>
                <a:gd name="connsiteY1" fmla="*/ 402 h 13243"/>
                <a:gd name="connsiteX2" fmla="*/ 86783 w 86783"/>
                <a:gd name="connsiteY2" fmla="*/ 13243 h 13243"/>
              </a:gdLst>
              <a:ahLst/>
              <a:cxnLst>
                <a:cxn ang="0">
                  <a:pos x="connsiteX0" y="connsiteY0"/>
                </a:cxn>
                <a:cxn ang="0">
                  <a:pos x="connsiteX1" y="connsiteY1"/>
                </a:cxn>
                <a:cxn ang="0">
                  <a:pos x="connsiteX2" y="connsiteY2"/>
                </a:cxn>
              </a:cxnLst>
              <a:rect l="l" t="t" r="r" b="b"/>
              <a:pathLst>
                <a:path w="86783" h="13243">
                  <a:moveTo>
                    <a:pt x="0" y="6893"/>
                  </a:moveTo>
                  <a:cubicBezTo>
                    <a:pt x="18168" y="14"/>
                    <a:pt x="31972" y="-656"/>
                    <a:pt x="46436" y="402"/>
                  </a:cubicBezTo>
                  <a:cubicBezTo>
                    <a:pt x="60900" y="1460"/>
                    <a:pt x="79375" y="1954"/>
                    <a:pt x="86783" y="13243"/>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形状 10">
              <a:extLst>
                <a:ext uri="{FF2B5EF4-FFF2-40B4-BE49-F238E27FC236}">
                  <a16:creationId xmlns:a16="http://schemas.microsoft.com/office/drawing/2014/main" id="{F85D2EF5-F6B8-D36F-BFEC-AD391B14BFBC}"/>
                </a:ext>
              </a:extLst>
            </p:cNvPr>
            <p:cNvSpPr/>
            <p:nvPr/>
          </p:nvSpPr>
          <p:spPr>
            <a:xfrm>
              <a:off x="9842500" y="3371562"/>
              <a:ext cx="154517" cy="48971"/>
            </a:xfrm>
            <a:custGeom>
              <a:avLst/>
              <a:gdLst>
                <a:gd name="connsiteX0" fmla="*/ 0 w 154517"/>
                <a:gd name="connsiteY0" fmla="*/ 10871 h 48971"/>
                <a:gd name="connsiteX1" fmla="*/ 84667 w 154517"/>
                <a:gd name="connsiteY1" fmla="*/ 2405 h 48971"/>
                <a:gd name="connsiteX2" fmla="*/ 154517 w 154517"/>
                <a:gd name="connsiteY2" fmla="*/ 48971 h 48971"/>
              </a:gdLst>
              <a:ahLst/>
              <a:cxnLst>
                <a:cxn ang="0">
                  <a:pos x="connsiteX0" y="connsiteY0"/>
                </a:cxn>
                <a:cxn ang="0">
                  <a:pos x="connsiteX1" y="connsiteY1"/>
                </a:cxn>
                <a:cxn ang="0">
                  <a:pos x="connsiteX2" y="connsiteY2"/>
                </a:cxn>
              </a:cxnLst>
              <a:rect l="l" t="t" r="r" b="b"/>
              <a:pathLst>
                <a:path w="154517" h="48971">
                  <a:moveTo>
                    <a:pt x="0" y="10871"/>
                  </a:moveTo>
                  <a:cubicBezTo>
                    <a:pt x="29457" y="3463"/>
                    <a:pt x="58914" y="-3945"/>
                    <a:pt x="84667" y="2405"/>
                  </a:cubicBezTo>
                  <a:cubicBezTo>
                    <a:pt x="110420" y="8755"/>
                    <a:pt x="132468" y="28863"/>
                    <a:pt x="154517" y="48971"/>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直接箭头连接符 13">
              <a:extLst>
                <a:ext uri="{FF2B5EF4-FFF2-40B4-BE49-F238E27FC236}">
                  <a16:creationId xmlns:a16="http://schemas.microsoft.com/office/drawing/2014/main" id="{534C22E8-2418-34AF-86C7-5990087B9918}"/>
                </a:ext>
              </a:extLst>
            </p:cNvPr>
            <p:cNvCxnSpPr>
              <a:cxnSpLocks/>
            </p:cNvCxnSpPr>
            <p:nvPr/>
          </p:nvCxnSpPr>
          <p:spPr>
            <a:xfrm flipV="1">
              <a:off x="8176689" y="3695168"/>
              <a:ext cx="3320413" cy="2257"/>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8079D285-46DA-D0A8-C47F-57546A77D527}"/>
                </a:ext>
              </a:extLst>
            </p:cNvPr>
            <p:cNvCxnSpPr>
              <a:cxnSpLocks/>
            </p:cNvCxnSpPr>
            <p:nvPr/>
          </p:nvCxnSpPr>
          <p:spPr>
            <a:xfrm flipV="1">
              <a:off x="9837460" y="1986770"/>
              <a:ext cx="0" cy="1705110"/>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6" name="任意多边形: 形状 15">
              <a:extLst>
                <a:ext uri="{FF2B5EF4-FFF2-40B4-BE49-F238E27FC236}">
                  <a16:creationId xmlns:a16="http://schemas.microsoft.com/office/drawing/2014/main" id="{02277A01-8B9E-AA08-69A1-22E319223677}"/>
                </a:ext>
              </a:extLst>
            </p:cNvPr>
            <p:cNvSpPr/>
            <p:nvPr/>
          </p:nvSpPr>
          <p:spPr>
            <a:xfrm>
              <a:off x="8436400" y="3007269"/>
              <a:ext cx="2800128" cy="690099"/>
            </a:xfrm>
            <a:custGeom>
              <a:avLst/>
              <a:gdLst>
                <a:gd name="connsiteX0" fmla="*/ 58251 w 1325700"/>
                <a:gd name="connsiteY0" fmla="*/ 481345 h 481345"/>
                <a:gd name="connsiteX1" fmla="*/ 58251 w 1325700"/>
                <a:gd name="connsiteY1" fmla="*/ 58012 h 481345"/>
                <a:gd name="connsiteX2" fmla="*/ 663617 w 1325700"/>
                <a:gd name="connsiteY2" fmla="*/ 32612 h 481345"/>
                <a:gd name="connsiteX3" fmla="*/ 1294384 w 1325700"/>
                <a:gd name="connsiteY3" fmla="*/ 32612 h 481345"/>
                <a:gd name="connsiteX4" fmla="*/ 1268984 w 1325700"/>
                <a:gd name="connsiteY4" fmla="*/ 472878 h 481345"/>
                <a:gd name="connsiteX0" fmla="*/ 58251 w 1268984"/>
                <a:gd name="connsiteY0" fmla="*/ 463413 h 463413"/>
                <a:gd name="connsiteX1" fmla="*/ 58251 w 1268984"/>
                <a:gd name="connsiteY1" fmla="*/ 40080 h 463413"/>
                <a:gd name="connsiteX2" fmla="*/ 663617 w 1268984"/>
                <a:gd name="connsiteY2" fmla="*/ 14680 h 463413"/>
                <a:gd name="connsiteX3" fmla="*/ 1132459 w 1268984"/>
                <a:gd name="connsiteY3" fmla="*/ 179780 h 463413"/>
                <a:gd name="connsiteX4" fmla="*/ 1268984 w 1268984"/>
                <a:gd name="connsiteY4" fmla="*/ 454946 h 463413"/>
                <a:gd name="connsiteX0" fmla="*/ 58251 w 1269055"/>
                <a:gd name="connsiteY0" fmla="*/ 463413 h 463413"/>
                <a:gd name="connsiteX1" fmla="*/ 58251 w 1269055"/>
                <a:gd name="connsiteY1" fmla="*/ 40080 h 463413"/>
                <a:gd name="connsiteX2" fmla="*/ 663617 w 1269055"/>
                <a:gd name="connsiteY2" fmla="*/ 14680 h 463413"/>
                <a:gd name="connsiteX3" fmla="*/ 1132459 w 1269055"/>
                <a:gd name="connsiteY3" fmla="*/ 179780 h 463413"/>
                <a:gd name="connsiteX4" fmla="*/ 1268984 w 1269055"/>
                <a:gd name="connsiteY4" fmla="*/ 454946 h 463413"/>
                <a:gd name="connsiteX0" fmla="*/ 58251 w 1269038"/>
                <a:gd name="connsiteY0" fmla="*/ 463413 h 463413"/>
                <a:gd name="connsiteX1" fmla="*/ 58251 w 1269038"/>
                <a:gd name="connsiteY1" fmla="*/ 40080 h 463413"/>
                <a:gd name="connsiteX2" fmla="*/ 663617 w 1269038"/>
                <a:gd name="connsiteY2" fmla="*/ 14680 h 463413"/>
                <a:gd name="connsiteX3" fmla="*/ 1132459 w 1269038"/>
                <a:gd name="connsiteY3" fmla="*/ 179780 h 463413"/>
                <a:gd name="connsiteX4" fmla="*/ 1268984 w 1269038"/>
                <a:gd name="connsiteY4" fmla="*/ 454946 h 463413"/>
                <a:gd name="connsiteX0" fmla="*/ 14055 w 1224842"/>
                <a:gd name="connsiteY0" fmla="*/ 448733 h 448733"/>
                <a:gd name="connsiteX1" fmla="*/ 158518 w 1224842"/>
                <a:gd name="connsiteY1" fmla="*/ 163512 h 448733"/>
                <a:gd name="connsiteX2" fmla="*/ 619421 w 1224842"/>
                <a:gd name="connsiteY2" fmla="*/ 0 h 448733"/>
                <a:gd name="connsiteX3" fmla="*/ 1088263 w 1224842"/>
                <a:gd name="connsiteY3" fmla="*/ 165100 h 448733"/>
                <a:gd name="connsiteX4" fmla="*/ 1224788 w 1224842"/>
                <a:gd name="connsiteY4" fmla="*/ 440266 h 448733"/>
                <a:gd name="connsiteX0" fmla="*/ 11238 w 1222025"/>
                <a:gd name="connsiteY0" fmla="*/ 448733 h 448733"/>
                <a:gd name="connsiteX1" fmla="*/ 155701 w 1222025"/>
                <a:gd name="connsiteY1" fmla="*/ 163512 h 448733"/>
                <a:gd name="connsiteX2" fmla="*/ 616604 w 1222025"/>
                <a:gd name="connsiteY2" fmla="*/ 0 h 448733"/>
                <a:gd name="connsiteX3" fmla="*/ 1085446 w 1222025"/>
                <a:gd name="connsiteY3" fmla="*/ 165100 h 448733"/>
                <a:gd name="connsiteX4" fmla="*/ 1221971 w 1222025"/>
                <a:gd name="connsiteY4" fmla="*/ 440266 h 448733"/>
                <a:gd name="connsiteX0" fmla="*/ 14 w 1210801"/>
                <a:gd name="connsiteY0" fmla="*/ 448733 h 448733"/>
                <a:gd name="connsiteX1" fmla="*/ 144477 w 1210801"/>
                <a:gd name="connsiteY1" fmla="*/ 163512 h 448733"/>
                <a:gd name="connsiteX2" fmla="*/ 605380 w 1210801"/>
                <a:gd name="connsiteY2" fmla="*/ 0 h 448733"/>
                <a:gd name="connsiteX3" fmla="*/ 1074222 w 1210801"/>
                <a:gd name="connsiteY3" fmla="*/ 165100 h 448733"/>
                <a:gd name="connsiteX4" fmla="*/ 1210747 w 1210801"/>
                <a:gd name="connsiteY4" fmla="*/ 440266 h 448733"/>
                <a:gd name="connsiteX0" fmla="*/ 15 w 1210802"/>
                <a:gd name="connsiteY0" fmla="*/ 448733 h 448733"/>
                <a:gd name="connsiteX1" fmla="*/ 144478 w 1210802"/>
                <a:gd name="connsiteY1" fmla="*/ 163512 h 448733"/>
                <a:gd name="connsiteX2" fmla="*/ 605381 w 1210802"/>
                <a:gd name="connsiteY2" fmla="*/ 0 h 448733"/>
                <a:gd name="connsiteX3" fmla="*/ 1074223 w 1210802"/>
                <a:gd name="connsiteY3" fmla="*/ 165100 h 448733"/>
                <a:gd name="connsiteX4" fmla="*/ 1210748 w 1210802"/>
                <a:gd name="connsiteY4" fmla="*/ 440266 h 448733"/>
                <a:gd name="connsiteX0" fmla="*/ 0 w 1210787"/>
                <a:gd name="connsiteY0" fmla="*/ 448733 h 448733"/>
                <a:gd name="connsiteX1" fmla="*/ 144463 w 1210787"/>
                <a:gd name="connsiteY1" fmla="*/ 163512 h 448733"/>
                <a:gd name="connsiteX2" fmla="*/ 605366 w 1210787"/>
                <a:gd name="connsiteY2" fmla="*/ 0 h 448733"/>
                <a:gd name="connsiteX3" fmla="*/ 1074208 w 1210787"/>
                <a:gd name="connsiteY3" fmla="*/ 165100 h 448733"/>
                <a:gd name="connsiteX4" fmla="*/ 1210733 w 1210787"/>
                <a:gd name="connsiteY4" fmla="*/ 440266 h 448733"/>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0787"/>
                <a:gd name="connsiteY0" fmla="*/ 440795 h 440795"/>
                <a:gd name="connsiteX1" fmla="*/ 144463 w 1210787"/>
                <a:gd name="connsiteY1" fmla="*/ 155574 h 440795"/>
                <a:gd name="connsiteX2" fmla="*/ 606954 w 1210787"/>
                <a:gd name="connsiteY2" fmla="*/ 0 h 440795"/>
                <a:gd name="connsiteX3" fmla="*/ 1074208 w 1210787"/>
                <a:gd name="connsiteY3" fmla="*/ 157162 h 440795"/>
                <a:gd name="connsiteX4" fmla="*/ 1210733 w 1210787"/>
                <a:gd name="connsiteY4" fmla="*/ 432328 h 440795"/>
                <a:gd name="connsiteX0" fmla="*/ 0 w 1212373"/>
                <a:gd name="connsiteY0" fmla="*/ 440795 h 445028"/>
                <a:gd name="connsiteX1" fmla="*/ 144463 w 1212373"/>
                <a:gd name="connsiteY1" fmla="*/ 155574 h 445028"/>
                <a:gd name="connsiteX2" fmla="*/ 606954 w 1212373"/>
                <a:gd name="connsiteY2" fmla="*/ 0 h 445028"/>
                <a:gd name="connsiteX3" fmla="*/ 1074208 w 1212373"/>
                <a:gd name="connsiteY3" fmla="*/ 157162 h 445028"/>
                <a:gd name="connsiteX4" fmla="*/ 1212321 w 1212373"/>
                <a:gd name="connsiteY4" fmla="*/ 445028 h 4450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2373" h="445028">
                  <a:moveTo>
                    <a:pt x="0" y="440795"/>
                  </a:moveTo>
                  <a:cubicBezTo>
                    <a:pt x="25753" y="272873"/>
                    <a:pt x="71879" y="219515"/>
                    <a:pt x="144463" y="155574"/>
                  </a:cubicBezTo>
                  <a:cubicBezTo>
                    <a:pt x="217047" y="91633"/>
                    <a:pt x="403049" y="4233"/>
                    <a:pt x="606954" y="0"/>
                  </a:cubicBezTo>
                  <a:cubicBezTo>
                    <a:pt x="817210" y="0"/>
                    <a:pt x="973313" y="83784"/>
                    <a:pt x="1074208" y="157162"/>
                  </a:cubicBezTo>
                  <a:cubicBezTo>
                    <a:pt x="1162403" y="230540"/>
                    <a:pt x="1214261" y="371122"/>
                    <a:pt x="1212321" y="445028"/>
                  </a:cubicBezTo>
                </a:path>
              </a:pathLst>
            </a:cu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ED71BBA7-C455-A9A3-B49E-3D5E4991574A}"/>
                    </a:ext>
                  </a:extLst>
                </p:cNvPr>
                <p:cNvSpPr txBox="1"/>
                <p:nvPr/>
              </p:nvSpPr>
              <p:spPr>
                <a:xfrm>
                  <a:off x="11423630" y="3589472"/>
                  <a:ext cx="399658" cy="38290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𝑥</m:t>
                        </m:r>
                      </m:oMath>
                    </m:oMathPara>
                  </a14:m>
                  <a:endParaRPr lang="zh-CN" altLang="en-US" dirty="0"/>
                </a:p>
              </p:txBody>
            </p:sp>
          </mc:Choice>
          <mc:Fallback xmlns="">
            <p:sp>
              <p:nvSpPr>
                <p:cNvPr id="17" name="文本框 16">
                  <a:extLst>
                    <a:ext uri="{FF2B5EF4-FFF2-40B4-BE49-F238E27FC236}">
                      <a16:creationId xmlns:a16="http://schemas.microsoft.com/office/drawing/2014/main" id="{ED71BBA7-C455-A9A3-B49E-3D5E4991574A}"/>
                    </a:ext>
                  </a:extLst>
                </p:cNvPr>
                <p:cNvSpPr txBox="1">
                  <a:spLocks noRot="1" noChangeAspect="1" noMove="1" noResize="1" noEditPoints="1" noAdjustHandles="1" noChangeArrowheads="1" noChangeShapeType="1" noTextEdit="1"/>
                </p:cNvSpPr>
                <p:nvPr/>
              </p:nvSpPr>
              <p:spPr>
                <a:xfrm>
                  <a:off x="11423630" y="3589472"/>
                  <a:ext cx="399658" cy="382903"/>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D8E1D392-4EDE-AC98-15FE-EDF5DDEF8B7E}"/>
                    </a:ext>
                  </a:extLst>
                </p:cNvPr>
                <p:cNvSpPr txBox="1"/>
                <p:nvPr/>
              </p:nvSpPr>
              <p:spPr>
                <a:xfrm>
                  <a:off x="9406528" y="1792531"/>
                  <a:ext cx="44678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𝑦</m:t>
                        </m:r>
                      </m:oMath>
                    </m:oMathPara>
                  </a14:m>
                  <a:endParaRPr lang="zh-CN" altLang="en-US" dirty="0"/>
                </a:p>
              </p:txBody>
            </p:sp>
          </mc:Choice>
          <mc:Fallback xmlns="">
            <p:sp>
              <p:nvSpPr>
                <p:cNvPr id="18" name="文本框 17">
                  <a:extLst>
                    <a:ext uri="{FF2B5EF4-FFF2-40B4-BE49-F238E27FC236}">
                      <a16:creationId xmlns:a16="http://schemas.microsoft.com/office/drawing/2014/main" id="{D8E1D392-4EDE-AC98-15FE-EDF5DDEF8B7E}"/>
                    </a:ext>
                  </a:extLst>
                </p:cNvPr>
                <p:cNvSpPr txBox="1">
                  <a:spLocks noRot="1" noChangeAspect="1" noMove="1" noResize="1" noEditPoints="1" noAdjustHandles="1" noChangeArrowheads="1" noChangeShapeType="1" noTextEdit="1"/>
                </p:cNvSpPr>
                <p:nvPr/>
              </p:nvSpPr>
              <p:spPr>
                <a:xfrm>
                  <a:off x="9406528" y="1792531"/>
                  <a:ext cx="446781" cy="369332"/>
                </a:xfrm>
                <a:prstGeom prst="rect">
                  <a:avLst/>
                </a:prstGeom>
                <a:blipFill>
                  <a:blip r:embed="rId5"/>
                  <a:stretch>
                    <a:fillRect b="-81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9272713B-54CC-CA1D-2D06-08CAFB26C47D}"/>
                    </a:ext>
                  </a:extLst>
                </p:cNvPr>
                <p:cNvSpPr txBox="1"/>
                <p:nvPr/>
              </p:nvSpPr>
              <p:spPr>
                <a:xfrm>
                  <a:off x="11133715" y="3646471"/>
                  <a:ext cx="289916" cy="37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1</m:t>
                        </m:r>
                      </m:oMath>
                    </m:oMathPara>
                  </a14:m>
                  <a:endParaRPr lang="zh-CN" altLang="en-US" dirty="0"/>
                </a:p>
              </p:txBody>
            </p:sp>
          </mc:Choice>
          <mc:Fallback xmlns="">
            <p:sp>
              <p:nvSpPr>
                <p:cNvPr id="19" name="文本框 18">
                  <a:extLst>
                    <a:ext uri="{FF2B5EF4-FFF2-40B4-BE49-F238E27FC236}">
                      <a16:creationId xmlns:a16="http://schemas.microsoft.com/office/drawing/2014/main" id="{9272713B-54CC-CA1D-2D06-08CAFB26C47D}"/>
                    </a:ext>
                  </a:extLst>
                </p:cNvPr>
                <p:cNvSpPr txBox="1">
                  <a:spLocks noRot="1" noChangeAspect="1" noMove="1" noResize="1" noEditPoints="1" noAdjustHandles="1" noChangeArrowheads="1" noChangeShapeType="1" noTextEdit="1"/>
                </p:cNvSpPr>
                <p:nvPr/>
              </p:nvSpPr>
              <p:spPr>
                <a:xfrm>
                  <a:off x="11133715" y="3646471"/>
                  <a:ext cx="289916" cy="370164"/>
                </a:xfrm>
                <a:prstGeom prst="rect">
                  <a:avLst/>
                </a:prstGeom>
                <a:blipFill>
                  <a:blip r:embed="rId6"/>
                  <a:stretch>
                    <a:fillRect r="-41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9D32C230-598D-E4D4-3B87-683DF5B27082}"/>
                    </a:ext>
                  </a:extLst>
                </p:cNvPr>
                <p:cNvSpPr txBox="1"/>
                <p:nvPr/>
              </p:nvSpPr>
              <p:spPr>
                <a:xfrm>
                  <a:off x="8174548" y="3627326"/>
                  <a:ext cx="576988" cy="37016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dirty="0" smtClean="0">
                            <a:latin typeface="Cambria Math" panose="02040503050406030204" pitchFamily="18" charset="0"/>
                          </a:rPr>
                          <m:t>−1</m:t>
                        </m:r>
                      </m:oMath>
                    </m:oMathPara>
                  </a14:m>
                  <a:endParaRPr lang="zh-CN" altLang="en-US" dirty="0"/>
                </a:p>
              </p:txBody>
            </p:sp>
          </mc:Choice>
          <mc:Fallback xmlns="">
            <p:sp>
              <p:nvSpPr>
                <p:cNvPr id="24" name="文本框 23">
                  <a:extLst>
                    <a:ext uri="{FF2B5EF4-FFF2-40B4-BE49-F238E27FC236}">
                      <a16:creationId xmlns:a16="http://schemas.microsoft.com/office/drawing/2014/main" id="{9D32C230-598D-E4D4-3B87-683DF5B27082}"/>
                    </a:ext>
                  </a:extLst>
                </p:cNvPr>
                <p:cNvSpPr txBox="1">
                  <a:spLocks noRot="1" noChangeAspect="1" noMove="1" noResize="1" noEditPoints="1" noAdjustHandles="1" noChangeArrowheads="1" noChangeShapeType="1" noTextEdit="1"/>
                </p:cNvSpPr>
                <p:nvPr/>
              </p:nvSpPr>
              <p:spPr>
                <a:xfrm>
                  <a:off x="8174548" y="3627326"/>
                  <a:ext cx="576988" cy="370164"/>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8B2E1D3F-BF49-8E49-C3B1-37F65BFE1BA7}"/>
                    </a:ext>
                  </a:extLst>
                </p:cNvPr>
                <p:cNvSpPr txBox="1"/>
                <p:nvPr/>
              </p:nvSpPr>
              <p:spPr>
                <a:xfrm>
                  <a:off x="9403904" y="2593725"/>
                  <a:ext cx="550208" cy="45333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𝛼</m:t>
                        </m:r>
                      </m:oMath>
                    </m:oMathPara>
                  </a14:m>
                  <a:endParaRPr lang="zh-CN" altLang="en-US" dirty="0"/>
                </a:p>
              </p:txBody>
            </p:sp>
          </mc:Choice>
          <mc:Fallback xmlns="">
            <p:sp>
              <p:nvSpPr>
                <p:cNvPr id="25" name="文本框 24">
                  <a:extLst>
                    <a:ext uri="{FF2B5EF4-FFF2-40B4-BE49-F238E27FC236}">
                      <a16:creationId xmlns:a16="http://schemas.microsoft.com/office/drawing/2014/main" id="{8B2E1D3F-BF49-8E49-C3B1-37F65BFE1BA7}"/>
                    </a:ext>
                  </a:extLst>
                </p:cNvPr>
                <p:cNvSpPr txBox="1">
                  <a:spLocks noRot="1" noChangeAspect="1" noMove="1" noResize="1" noEditPoints="1" noAdjustHandles="1" noChangeArrowheads="1" noChangeShapeType="1" noTextEdit="1"/>
                </p:cNvSpPr>
                <p:nvPr/>
              </p:nvSpPr>
              <p:spPr>
                <a:xfrm>
                  <a:off x="9403904" y="2593725"/>
                  <a:ext cx="550208" cy="453337"/>
                </a:xfrm>
                <a:prstGeom prst="rect">
                  <a:avLst/>
                </a:prstGeom>
                <a:blipFill>
                  <a:blip r:embed="rId8"/>
                  <a:stretch>
                    <a:fillRect/>
                  </a:stretch>
                </a:blipFill>
              </p:spPr>
              <p:txBody>
                <a:bodyPr/>
                <a:lstStyle/>
                <a:p>
                  <a:r>
                    <a:rPr lang="zh-CN" altLang="en-US">
                      <a:noFill/>
                    </a:rPr>
                    <a:t> </a:t>
                  </a:r>
                </a:p>
              </p:txBody>
            </p:sp>
          </mc:Fallback>
        </mc:AlternateContent>
        <p:cxnSp>
          <p:nvCxnSpPr>
            <p:cNvPr id="28" name="直接箭头连接符 27">
              <a:extLst>
                <a:ext uri="{FF2B5EF4-FFF2-40B4-BE49-F238E27FC236}">
                  <a16:creationId xmlns:a16="http://schemas.microsoft.com/office/drawing/2014/main" id="{551DB2B8-0871-11BB-2725-3E723324671A}"/>
                </a:ext>
              </a:extLst>
            </p:cNvPr>
            <p:cNvCxnSpPr>
              <a:cxnSpLocks/>
            </p:cNvCxnSpPr>
            <p:nvPr/>
          </p:nvCxnSpPr>
          <p:spPr>
            <a:xfrm flipV="1">
              <a:off x="9826297" y="3029907"/>
              <a:ext cx="443770" cy="661972"/>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B1B574F0-2E02-ABDC-0ABE-F825AEE9E042}"/>
                </a:ext>
              </a:extLst>
            </p:cNvPr>
            <p:cNvCxnSpPr>
              <a:cxnSpLocks/>
            </p:cNvCxnSpPr>
            <p:nvPr/>
          </p:nvCxnSpPr>
          <p:spPr>
            <a:xfrm flipV="1">
              <a:off x="10261550" y="2339897"/>
              <a:ext cx="160979" cy="698454"/>
            </a:xfrm>
            <a:prstGeom prst="straightConnector1">
              <a:avLst/>
            </a:prstGeom>
            <a:ln w="19050">
              <a:solidFill>
                <a:srgbClr val="165602"/>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CC618332-F5F8-AE90-D725-90E76D155C95}"/>
                    </a:ext>
                  </a:extLst>
                </p:cNvPr>
                <p:cNvSpPr txBox="1"/>
                <p:nvPr/>
              </p:nvSpPr>
              <p:spPr>
                <a:xfrm>
                  <a:off x="10096149" y="3067778"/>
                  <a:ext cx="4126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𝒓</m:t>
                        </m:r>
                      </m:oMath>
                    </m:oMathPara>
                  </a14:m>
                  <a:endParaRPr lang="zh-CN" altLang="en-US" b="1" dirty="0"/>
                </a:p>
              </p:txBody>
            </p:sp>
          </mc:Choice>
          <mc:Fallback xmlns="">
            <p:sp>
              <p:nvSpPr>
                <p:cNvPr id="30" name="文本框 29">
                  <a:extLst>
                    <a:ext uri="{FF2B5EF4-FFF2-40B4-BE49-F238E27FC236}">
                      <a16:creationId xmlns:a16="http://schemas.microsoft.com/office/drawing/2014/main" id="{CC618332-F5F8-AE90-D725-90E76D155C95}"/>
                    </a:ext>
                  </a:extLst>
                </p:cNvPr>
                <p:cNvSpPr txBox="1">
                  <a:spLocks noRot="1" noChangeAspect="1" noMove="1" noResize="1" noEditPoints="1" noAdjustHandles="1" noChangeArrowheads="1" noChangeShapeType="1" noTextEdit="1"/>
                </p:cNvSpPr>
                <p:nvPr/>
              </p:nvSpPr>
              <p:spPr>
                <a:xfrm>
                  <a:off x="10096149" y="3067778"/>
                  <a:ext cx="412642" cy="369332"/>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463E187A-9360-8FEF-235C-F7E62380FD95}"/>
                    </a:ext>
                  </a:extLst>
                </p:cNvPr>
                <p:cNvSpPr txBox="1"/>
                <p:nvPr/>
              </p:nvSpPr>
              <p:spPr>
                <a:xfrm>
                  <a:off x="10332085" y="2317869"/>
                  <a:ext cx="412642"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b="1" i="1" smtClean="0">
                            <a:latin typeface="Cambria Math" panose="02040503050406030204" pitchFamily="18" charset="0"/>
                          </a:rPr>
                          <m:t>𝒎</m:t>
                        </m:r>
                      </m:oMath>
                    </m:oMathPara>
                  </a14:m>
                  <a:endParaRPr lang="zh-CN" altLang="en-US" b="1" dirty="0"/>
                </a:p>
              </p:txBody>
            </p:sp>
          </mc:Choice>
          <mc:Fallback xmlns="">
            <p:sp>
              <p:nvSpPr>
                <p:cNvPr id="32" name="文本框 31">
                  <a:extLst>
                    <a:ext uri="{FF2B5EF4-FFF2-40B4-BE49-F238E27FC236}">
                      <a16:creationId xmlns:a16="http://schemas.microsoft.com/office/drawing/2014/main" id="{463E187A-9360-8FEF-235C-F7E62380FD95}"/>
                    </a:ext>
                  </a:extLst>
                </p:cNvPr>
                <p:cNvSpPr txBox="1">
                  <a:spLocks noRot="1" noChangeAspect="1" noMove="1" noResize="1" noEditPoints="1" noAdjustHandles="1" noChangeArrowheads="1" noChangeShapeType="1" noTextEdit="1"/>
                </p:cNvSpPr>
                <p:nvPr/>
              </p:nvSpPr>
              <p:spPr>
                <a:xfrm>
                  <a:off x="10332085" y="2317869"/>
                  <a:ext cx="412642" cy="369332"/>
                </a:xfrm>
                <a:prstGeom prst="rect">
                  <a:avLst/>
                </a:prstGeom>
                <a:blipFill>
                  <a:blip r:embed="rId10"/>
                  <a:stretch>
                    <a:fillRect/>
                  </a:stretch>
                </a:blipFill>
              </p:spPr>
              <p:txBody>
                <a:bodyPr/>
                <a:lstStyle/>
                <a:p>
                  <a:r>
                    <a:rPr lang="zh-CN" altLang="en-US">
                      <a:noFill/>
                    </a:rPr>
                    <a:t> </a:t>
                  </a:r>
                </a:p>
              </p:txBody>
            </p:sp>
          </mc:Fallback>
        </mc:AlternateContent>
        <p:cxnSp>
          <p:nvCxnSpPr>
            <p:cNvPr id="33" name="直接箭头连接符 32">
              <a:extLst>
                <a:ext uri="{FF2B5EF4-FFF2-40B4-BE49-F238E27FC236}">
                  <a16:creationId xmlns:a16="http://schemas.microsoft.com/office/drawing/2014/main" id="{5151DB6E-047B-66DC-B35E-79ADF38A6753}"/>
                </a:ext>
              </a:extLst>
            </p:cNvPr>
            <p:cNvCxnSpPr>
              <a:cxnSpLocks/>
            </p:cNvCxnSpPr>
            <p:nvPr/>
          </p:nvCxnSpPr>
          <p:spPr>
            <a:xfrm flipV="1">
              <a:off x="10255640" y="2317869"/>
              <a:ext cx="0" cy="749909"/>
            </a:xfrm>
            <a:prstGeom prst="straightConnector1">
              <a:avLst/>
            </a:prstGeom>
            <a:ln w="1905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6F1CFB0B-4411-3B2E-C093-73C607C1D33E}"/>
                    </a:ext>
                  </a:extLst>
                </p:cNvPr>
                <p:cNvSpPr txBox="1"/>
                <p:nvPr/>
              </p:nvSpPr>
              <p:spPr>
                <a:xfrm>
                  <a:off x="9750746" y="3039320"/>
                  <a:ext cx="4126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𝜃</m:t>
                        </m:r>
                      </m:oMath>
                    </m:oMathPara>
                  </a14:m>
                  <a:endParaRPr lang="zh-CN" altLang="en-US" sz="1400" dirty="0"/>
                </a:p>
              </p:txBody>
            </p:sp>
          </mc:Choice>
          <mc:Fallback xmlns="">
            <p:sp>
              <p:nvSpPr>
                <p:cNvPr id="34" name="文本框 33">
                  <a:extLst>
                    <a:ext uri="{FF2B5EF4-FFF2-40B4-BE49-F238E27FC236}">
                      <a16:creationId xmlns:a16="http://schemas.microsoft.com/office/drawing/2014/main" id="{6F1CFB0B-4411-3B2E-C093-73C607C1D33E}"/>
                    </a:ext>
                  </a:extLst>
                </p:cNvPr>
                <p:cNvSpPr txBox="1">
                  <a:spLocks noRot="1" noChangeAspect="1" noMove="1" noResize="1" noEditPoints="1" noAdjustHandles="1" noChangeArrowheads="1" noChangeShapeType="1" noTextEdit="1"/>
                </p:cNvSpPr>
                <p:nvPr/>
              </p:nvSpPr>
              <p:spPr>
                <a:xfrm>
                  <a:off x="9750746" y="3039320"/>
                  <a:ext cx="412642" cy="307777"/>
                </a:xfrm>
                <a:prstGeom prst="rect">
                  <a:avLst/>
                </a:prstGeom>
                <a:blipFill>
                  <a:blip r:embed="rId1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B010B856-430B-65F5-7EAF-7BFC56E7E39A}"/>
                    </a:ext>
                  </a:extLst>
                </p:cNvPr>
                <p:cNvSpPr txBox="1"/>
                <p:nvPr/>
              </p:nvSpPr>
              <p:spPr>
                <a:xfrm>
                  <a:off x="10271017" y="1872502"/>
                  <a:ext cx="412642"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𝜃</m:t>
                            </m:r>
                          </m:e>
                          <m:sub>
                            <m:r>
                              <a:rPr lang="en-US" altLang="zh-CN" sz="1400" b="0" i="1" smtClean="0">
                                <a:latin typeface="Cambria Math" panose="02040503050406030204" pitchFamily="18" charset="0"/>
                              </a:rPr>
                              <m:t>𝑚</m:t>
                            </m:r>
                          </m:sub>
                        </m:sSub>
                      </m:oMath>
                    </m:oMathPara>
                  </a14:m>
                  <a:endParaRPr lang="zh-CN" altLang="en-US" sz="1400" dirty="0"/>
                </a:p>
              </p:txBody>
            </p:sp>
          </mc:Choice>
          <mc:Fallback xmlns="">
            <p:sp>
              <p:nvSpPr>
                <p:cNvPr id="37" name="文本框 36">
                  <a:extLst>
                    <a:ext uri="{FF2B5EF4-FFF2-40B4-BE49-F238E27FC236}">
                      <a16:creationId xmlns:a16="http://schemas.microsoft.com/office/drawing/2014/main" id="{B010B856-430B-65F5-7EAF-7BFC56E7E39A}"/>
                    </a:ext>
                  </a:extLst>
                </p:cNvPr>
                <p:cNvSpPr txBox="1">
                  <a:spLocks noRot="1" noChangeAspect="1" noMove="1" noResize="1" noEditPoints="1" noAdjustHandles="1" noChangeArrowheads="1" noChangeShapeType="1" noTextEdit="1"/>
                </p:cNvSpPr>
                <p:nvPr/>
              </p:nvSpPr>
              <p:spPr>
                <a:xfrm>
                  <a:off x="10271017" y="1872502"/>
                  <a:ext cx="412642" cy="307777"/>
                </a:xfrm>
                <a:prstGeom prst="rect">
                  <a:avLst/>
                </a:prstGeom>
                <a:blipFill>
                  <a:blip r:embed="rId12"/>
                  <a:stretch>
                    <a:fillRect/>
                  </a:stretch>
                </a:blipFill>
              </p:spPr>
              <p:txBody>
                <a:bodyPr/>
                <a:lstStyle/>
                <a:p>
                  <a:r>
                    <a:rPr lang="zh-CN" altLang="en-US">
                      <a:noFill/>
                    </a:rPr>
                    <a:t> </a:t>
                  </a:r>
                </a:p>
              </p:txBody>
            </p:sp>
          </mc:Fallback>
        </mc:AlternateContent>
        <p:cxnSp>
          <p:nvCxnSpPr>
            <p:cNvPr id="38" name="直接连接符 37">
              <a:extLst>
                <a:ext uri="{FF2B5EF4-FFF2-40B4-BE49-F238E27FC236}">
                  <a16:creationId xmlns:a16="http://schemas.microsoft.com/office/drawing/2014/main" id="{95FE4274-FE1B-25FA-9231-3A0FFBE8FE06}"/>
                </a:ext>
              </a:extLst>
            </p:cNvPr>
            <p:cNvCxnSpPr>
              <a:cxnSpLocks/>
            </p:cNvCxnSpPr>
            <p:nvPr/>
          </p:nvCxnSpPr>
          <p:spPr>
            <a:xfrm flipV="1">
              <a:off x="10302470" y="2120490"/>
              <a:ext cx="86678" cy="446601"/>
            </a:xfrm>
            <a:prstGeom prst="line">
              <a:avLst/>
            </a:prstGeom>
            <a:ln w="9525">
              <a:solidFill>
                <a:schemeClr val="tx2"/>
              </a:solidFill>
              <a:prstDash val="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9890950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C4FA4-05AD-EDB3-D3EE-1B0A3D9F3FE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8BADD618-E6D5-765A-C504-E6437F242A0F}"/>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sSub>
                      <m:sSubPr>
                        <m:ctrlPr>
                          <a:rPr lang="en-US" altLang="zh-CN" sz="3200" b="0" i="1" dirty="0" smtClean="0">
                            <a:solidFill>
                              <a:schemeClr val="tx1"/>
                            </a:solidFill>
                            <a:latin typeface="Cambria Math" panose="02040503050406030204" pitchFamily="18" charset="0"/>
                          </a:rPr>
                        </m:ctrlPr>
                      </m:sSubPr>
                      <m:e>
                        <m:r>
                          <a:rPr lang="en-US" altLang="zh-CN" sz="3200" b="0" i="1" dirty="0" smtClean="0">
                            <a:solidFill>
                              <a:schemeClr val="tx1"/>
                            </a:solidFill>
                            <a:latin typeface="Cambria Math" panose="02040503050406030204" pitchFamily="18" charset="0"/>
                          </a:rPr>
                          <m:t>𝐺</m:t>
                        </m:r>
                      </m:e>
                      <m:sub>
                        <m:r>
                          <a:rPr lang="en-US" altLang="zh-CN" sz="3200" b="0" i="1" dirty="0" smtClean="0">
                            <a:solidFill>
                              <a:schemeClr val="tx1"/>
                            </a:solidFill>
                            <a:latin typeface="Cambria Math" panose="02040503050406030204" pitchFamily="18" charset="0"/>
                          </a:rPr>
                          <m:t>1</m:t>
                        </m:r>
                      </m:sub>
                    </m:sSub>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𝒐</m:t>
                        </m:r>
                        <m:r>
                          <a:rPr lang="en-US" altLang="zh-CN" sz="3200" b="0" i="1" dirty="0" smtClean="0">
                            <a:solidFill>
                              <a:schemeClr val="tx1"/>
                            </a:solidFill>
                            <a:latin typeface="Cambria Math" panose="02040503050406030204" pitchFamily="18" charset="0"/>
                          </a:rPr>
                          <m:t>,</m:t>
                        </m:r>
                        <m:r>
                          <a:rPr lang="en-US" altLang="zh-CN" sz="3200" b="1" i="1" dirty="0" smtClean="0">
                            <a:solidFill>
                              <a:schemeClr val="tx1"/>
                            </a:solidFill>
                            <a:latin typeface="Cambria Math" panose="02040503050406030204" pitchFamily="18" charset="0"/>
                          </a:rPr>
                          <m:t>𝒎</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8BADD618-E6D5-765A-C504-E6437F242A0F}"/>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864" b="-7627"/>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A3428F94-8A25-C885-C10E-594C51402970}"/>
              </a:ext>
            </a:extLst>
          </p:cNvPr>
          <p:cNvSpPr/>
          <p:nvPr/>
        </p:nvSpPr>
        <p:spPr>
          <a:xfrm>
            <a:off x="521112" y="1315233"/>
            <a:ext cx="11286756"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F78E33D3-7A39-610F-48F5-FE276E873BFA}"/>
                  </a:ext>
                </a:extLst>
              </p:cNvPr>
              <p:cNvSpPr/>
              <p:nvPr/>
            </p:nvSpPr>
            <p:spPr>
              <a:xfrm>
                <a:off x="368712" y="1144044"/>
                <a:ext cx="11286756"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14:m>
                  <m:oMathPara xmlns:m="http://schemas.openxmlformats.org/officeDocument/2006/math">
                    <m:oMathParaPr>
                      <m:jc m:val="centerGroup"/>
                    </m:oMathParaPr>
                    <m:oMath xmlns:m="http://schemas.openxmlformats.org/officeDocument/2006/math">
                      <m:sSubSup>
                        <m:sSubSupPr>
                          <m:ctrlPr>
                            <a:rPr lang="en-US" altLang="zh-CN" sz="140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num>
                        <m:den>
                          <m:nary>
                            <m:naryPr>
                              <m:supHide m:val="on"/>
                              <m:ctrlPr>
                                <a:rPr lang="en-US" altLang="zh-CN" sz="1400" i="1" dirty="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err="1">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e>
                          </m:nary>
                        </m:den>
                      </m:f>
                      <m:r>
                        <a:rPr lang="en-US" altLang="zh-CN" sz="1400" b="0" i="1" dirty="0" smtClean="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supHide m:val="on"/>
                          <m:ctrlPr>
                            <a:rPr lang="en-US" altLang="zh-CN" sz="1400" i="1" dirty="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err="1">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e>
                      </m:nary>
                      <m:r>
                        <a:rPr lang="en-US" altLang="zh-CN" sz="1400" i="1" dirty="0">
                          <a:solidFill>
                            <a:schemeClr val="tx1"/>
                          </a:solidFill>
                          <a:latin typeface="Cambria Math" panose="02040503050406030204" pitchFamily="18" charset="0"/>
                        </a:rPr>
                        <m:t>=</m:t>
                      </m:r>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  </m:t>
                      </m:r>
                      <m:nary>
                        <m:naryPr>
                          <m:ctrlPr>
                            <a:rPr lang="en-US" altLang="zh-CN" sz="1400" i="1">
                              <a:solidFill>
                                <a:schemeClr val="tx1"/>
                              </a:solidFill>
                              <a:latin typeface="Cambria Math" panose="02040503050406030204" pitchFamily="18" charset="0"/>
                            </a:rPr>
                          </m:ctrlPr>
                        </m:naryPr>
                        <m:sub>
                          <m:sSup>
                            <m:sSupPr>
                              <m:ctrlPr>
                                <a:rPr lang="en-US" altLang="zh-CN" sz="1400" i="1">
                                  <a:solidFill>
                                    <a:schemeClr val="tx1"/>
                                  </a:solidFill>
                                  <a:latin typeface="Cambria Math" panose="02040503050406030204" pitchFamily="18" charset="0"/>
                                </a:rPr>
                              </m:ctrlPr>
                            </m:sSupPr>
                            <m:e>
                              <m:r>
                                <a:rPr lang="en-US" altLang="zh-CN" sz="1400" i="1">
                                  <a:solidFill>
                                    <a:schemeClr val="tx1"/>
                                  </a:solidFill>
                                  <a:latin typeface="Cambria Math" panose="02040503050406030204" pitchFamily="18" charset="0"/>
                                </a:rPr>
                                <m:t>𝐻</m:t>
                              </m:r>
                            </m:e>
                            <m:sup>
                              <m:r>
                                <a:rPr lang="en-US" altLang="zh-CN" sz="1400" i="1">
                                  <a:solidFill>
                                    <a:schemeClr val="tx1"/>
                                  </a:solidFill>
                                  <a:latin typeface="Cambria Math" panose="02040503050406030204" pitchFamily="18" charset="0"/>
                                </a:rPr>
                                <m:t>2</m:t>
                              </m:r>
                            </m:sup>
                          </m:sSup>
                        </m:sub>
                        <m:sup>
                          <m:r>
                            <a:rPr lang="en-US" altLang="zh-CN" sz="1400" i="1">
                              <a:solidFill>
                                <a:schemeClr val="tx1"/>
                              </a:solidFill>
                              <a:latin typeface="Cambria Math" panose="02040503050406030204" pitchFamily="18" charset="0"/>
                            </a:rPr>
                            <m:t> </m:t>
                          </m:r>
                        </m:sup>
                        <m:e>
                          <m:r>
                            <m:rPr>
                              <m:sty m:val="p"/>
                            </m:rPr>
                            <a:rPr lang="en-US" altLang="zh-CN" sz="1400" i="1" dirty="0">
                              <a:solidFill>
                                <a:schemeClr val="tx1"/>
                              </a:solidFill>
                              <a:latin typeface="Cambria Math" panose="02040503050406030204" pitchFamily="18" charset="0"/>
                            </a:rPr>
                            <m:t>D</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r>
                                <a:rPr lang="en-US" altLang="zh-CN" sz="1400" i="1">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𝒈</m:t>
                              </m:r>
                            </m:e>
                          </m:d>
                          <m:r>
                            <a:rPr lang="en-US" altLang="zh-CN" sz="1400" i="1">
                              <a:solidFill>
                                <a:schemeClr val="tx1"/>
                              </a:solidFill>
                              <a:latin typeface="Cambria Math" panose="02040503050406030204" pitchFamily="18" charset="0"/>
                            </a:rPr>
                            <m:t> </m:t>
                          </m:r>
                          <m:r>
                            <a:rPr lang="en-US" altLang="zh-CN" sz="1400" i="1">
                              <a:solidFill>
                                <a:schemeClr val="tx1"/>
                              </a:solidFill>
                              <a:latin typeface="Cambria Math" panose="02040503050406030204" pitchFamily="18" charset="0"/>
                            </a:rPr>
                            <m:t>𝑑</m:t>
                          </m:r>
                          <m:sSub>
                            <m:sSubPr>
                              <m:ctrlPr>
                                <a:rPr lang="en-US" altLang="zh-CN" sz="1400" i="1">
                                  <a:solidFill>
                                    <a:schemeClr val="tx1"/>
                                  </a:solidFill>
                                  <a:latin typeface="Cambria Math" panose="02040503050406030204" pitchFamily="18" charset="0"/>
                                </a:rPr>
                              </m:ctrlPr>
                            </m:sSubPr>
                            <m:e>
                              <m:r>
                                <a:rPr lang="zh-CN" altLang="en-US" sz="1400" i="1" dirty="0">
                                  <a:solidFill>
                                    <a:schemeClr val="tx1"/>
                                  </a:solidFill>
                                  <a:latin typeface="Cambria Math" panose="02040503050406030204" pitchFamily="18" charset="0"/>
                                </a:rPr>
                                <m:t>𝜔</m:t>
                              </m:r>
                            </m:e>
                            <m:sub>
                              <m:r>
                                <a:rPr lang="en-US" altLang="zh-CN" sz="1400" i="1">
                                  <a:solidFill>
                                    <a:schemeClr val="tx1"/>
                                  </a:solidFill>
                                  <a:latin typeface="Cambria Math" panose="02040503050406030204" pitchFamily="18" charset="0"/>
                                </a:rPr>
                                <m:t>𝑚</m:t>
                              </m:r>
                            </m:sub>
                          </m:sSub>
                        </m:e>
                      </m:nary>
                      <m:r>
                        <a:rPr lang="en-US" altLang="zh-CN" sz="1400" i="1">
                          <a:solidFill>
                            <a:schemeClr val="tx1"/>
                          </a:solidFill>
                          <a:latin typeface="Cambria Math" panose="02040503050406030204" pitchFamily="18" charset="0"/>
                        </a:rPr>
                        <m:t>=</m:t>
                      </m:r>
                      <m:r>
                        <a:rPr lang="en-US" altLang="zh-CN" sz="1400" i="1">
                          <a:solidFill>
                            <a:schemeClr val="tx1"/>
                          </a:solidFill>
                          <a:latin typeface="Cambria Math" panose="02040503050406030204" pitchFamily="18" charset="0"/>
                        </a:rPr>
                        <m:t>1</m:t>
                      </m:r>
                    </m:oMath>
                  </m:oMathPara>
                </a14:m>
                <a:endParaRPr lang="en-US" altLang="zh-CN" sz="14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将</m:t>
                      </m:r>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r>
                        <a:rPr lang="zh-CN" altLang="en-US" sz="1400" i="1" dirty="0">
                          <a:solidFill>
                            <a:schemeClr val="tx1"/>
                          </a:solidFill>
                          <a:latin typeface="Cambria Math" panose="02040503050406030204" pitchFamily="18" charset="0"/>
                        </a:rPr>
                        <m:t>从法</m:t>
                      </m:r>
                      <m:r>
                        <a:rPr lang="zh-CN" altLang="en-US" sz="1400" i="1" dirty="0" smtClean="0">
                          <a:solidFill>
                            <a:schemeClr val="tx1"/>
                          </a:solidFill>
                          <a:latin typeface="Cambria Math" panose="02040503050406030204" pitchFamily="18" charset="0"/>
                        </a:rPr>
                        <m:t>向量</m:t>
                      </m:r>
                      <m:r>
                        <m:rPr>
                          <m:nor/>
                        </m:rPr>
                        <a:rPr lang="zh-CN" altLang="en-US" sz="1400" dirty="0">
                          <a:solidFill>
                            <a:schemeClr val="tx1"/>
                          </a:solidFill>
                          <a:latin typeface="Cambria Math" panose="02040503050406030204" pitchFamily="18" charset="0"/>
                        </a:rPr>
                        <m:t>空间</m:t>
                      </m:r>
                      <m:r>
                        <a:rPr lang="zh-CN" altLang="en-US" sz="1400" i="1" dirty="0" smtClean="0">
                          <a:solidFill>
                            <a:schemeClr val="tx1"/>
                          </a:solidFill>
                          <a:latin typeface="Cambria Math" panose="02040503050406030204" pitchFamily="18" charset="0"/>
                        </a:rPr>
                        <m:t>转换</m:t>
                      </m:r>
                      <m:r>
                        <a:rPr lang="zh-CN" altLang="en-US" sz="1400" i="1" dirty="0">
                          <a:solidFill>
                            <a:schemeClr val="tx1"/>
                          </a:solidFill>
                          <a:latin typeface="Cambria Math" panose="02040503050406030204" pitchFamily="18" charset="0"/>
                        </a:rPr>
                        <m:t>到</m:t>
                      </m:r>
                      <m:r>
                        <a:rPr lang="zh-CN" altLang="en-US" sz="1400" i="1" dirty="0" smtClean="0">
                          <a:solidFill>
                            <a:schemeClr val="tx1"/>
                          </a:solidFill>
                          <a:latin typeface="Cambria Math" panose="02040503050406030204" pitchFamily="18" charset="0"/>
                        </a:rPr>
                        <m:t>微面</m:t>
                      </m:r>
                      <m:r>
                        <m:rPr>
                          <m:nor/>
                        </m:rPr>
                        <a:rPr lang="zh-CN" altLang="en-US" sz="1400" dirty="0">
                          <a:solidFill>
                            <a:schemeClr val="tx1"/>
                          </a:solidFill>
                          <a:latin typeface="Cambria Math" panose="02040503050406030204" pitchFamily="18" charset="0"/>
                        </a:rPr>
                        <m:t>斜率空间</m:t>
                      </m:r>
                      <m:r>
                        <a:rPr lang="zh-CN" altLang="en-US" sz="1400" i="1" dirty="0" smtClean="0">
                          <a:solidFill>
                            <a:schemeClr val="tx1"/>
                          </a:solidFill>
                          <a:latin typeface="Cambria Math" panose="02040503050406030204" pitchFamily="18" charset="0"/>
                        </a:rPr>
                        <m:t>可以</m:t>
                      </m:r>
                      <m:r>
                        <a:rPr lang="zh-CN" altLang="en-US" sz="1400" i="1" dirty="0">
                          <a:solidFill>
                            <a:schemeClr val="tx1"/>
                          </a:solidFill>
                          <a:latin typeface="Cambria Math" panose="02040503050406030204" pitchFamily="18" charset="0"/>
                        </a:rPr>
                        <m:t>方便</m:t>
                      </m:r>
                      <m:r>
                        <a:rPr lang="zh-CN" altLang="en-US" sz="1400" i="1" dirty="0" smtClean="0">
                          <a:solidFill>
                            <a:schemeClr val="tx1"/>
                          </a:solidFill>
                          <a:latin typeface="Cambria Math" panose="02040503050406030204" pitchFamily="18" charset="0"/>
                        </a:rPr>
                        <m:t>计算</m:t>
                      </m:r>
                      <m:r>
                        <a:rPr lang="zh-CN" altLang="en-US" sz="1400" i="1" dirty="0">
                          <a:solidFill>
                            <a:schemeClr val="tx1"/>
                          </a:solidFill>
                          <a:latin typeface="Cambria Math" panose="02040503050406030204" pitchFamily="18" charset="0"/>
                        </a:rPr>
                        <m:t>积分</m:t>
                      </m:r>
                      <m:r>
                        <a:rPr lang="zh-CN" altLang="en-US" sz="1400" i="1" dirty="0" smtClean="0">
                          <a:solidFill>
                            <a:schemeClr val="tx1"/>
                          </a:solidFill>
                          <a:latin typeface="Cambria Math" panose="02040503050406030204" pitchFamily="18" charset="0"/>
                        </a:rPr>
                        <m:t>，</m:t>
                      </m:r>
                      <m:r>
                        <a:rPr lang="zh-CN" altLang="en-US" sz="1400" i="1" dirty="0" smtClean="0">
                          <a:solidFill>
                            <a:schemeClr val="tx1"/>
                          </a:solidFill>
                          <a:latin typeface="Cambria Math" panose="02040503050406030204" pitchFamily="18" charset="0"/>
                        </a:rPr>
                        <m:t>法向量空间与微面斜率空间</m:t>
                      </m:r>
                      <m:r>
                        <a:rPr lang="zh-CN" altLang="en-US" sz="1400" i="1" dirty="0">
                          <a:solidFill>
                            <a:schemeClr val="tx1"/>
                          </a:solidFill>
                          <a:latin typeface="Cambria Math" panose="02040503050406030204" pitchFamily="18" charset="0"/>
                        </a:rPr>
                        <m:t>的转换关系如下</m:t>
                      </m:r>
                      <m:r>
                        <m:rPr>
                          <m:nor/>
                        </m:rPr>
                        <a:rPr lang="zh-CN" altLang="en-US" sz="1400" dirty="0">
                          <a:solidFill>
                            <a:schemeClr val="tx1"/>
                          </a:solidFill>
                          <a:latin typeface="Cambria Math" panose="02040503050406030204" pitchFamily="18" charset="0"/>
                        </a:rPr>
                        <m:t>：</m:t>
                      </m:r>
                    </m:oMath>
                  </m:oMathPara>
                </a14:m>
                <a:endParaRPr lang="en-US" altLang="zh-CN" sz="1400"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en-US" altLang="zh-CN" sz="1400" b="1" i="1" dirty="0" smtClean="0">
                          <a:solidFill>
                            <a:schemeClr val="tx1"/>
                          </a:solidFill>
                          <a:latin typeface="Cambria Math" panose="02040503050406030204" pitchFamily="18" charset="0"/>
                        </a:rPr>
                        <m:t>𝒎</m:t>
                      </m:r>
                      <m:r>
                        <a:rPr lang="en-US" altLang="zh-CN" sz="1400" b="1" i="1" dirty="0" smtClean="0">
                          <a:solidFill>
                            <a:schemeClr val="tx1"/>
                          </a:solidFill>
                          <a:latin typeface="Cambria Math" panose="02040503050406030204" pitchFamily="18" charset="0"/>
                        </a:rPr>
                        <m:t>=</m:t>
                      </m:r>
                      <m:d>
                        <m:dPr>
                          <m:ctrlPr>
                            <a:rPr lang="en-US" altLang="zh-CN" sz="1400" b="1" i="1" dirty="0" smtClean="0">
                              <a:solidFill>
                                <a:schemeClr val="tx1"/>
                              </a:solidFill>
                              <a:latin typeface="Cambria Math" panose="02040503050406030204" pitchFamily="18" charset="0"/>
                            </a:rPr>
                          </m:ctrlPr>
                        </m:dPr>
                        <m:e>
                          <m:sSub>
                            <m:sSubPr>
                              <m:ctrlPr>
                                <a:rPr lang="en-US" altLang="zh-CN" sz="140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𝑚</m:t>
                              </m:r>
                            </m:e>
                            <m:sub>
                              <m:r>
                                <a:rPr lang="en-US" altLang="zh-CN" sz="1400" b="0" i="1" dirty="0" smtClean="0">
                                  <a:solidFill>
                                    <a:schemeClr val="tx1"/>
                                  </a:solidFill>
                                  <a:latin typeface="Cambria Math" panose="02040503050406030204" pitchFamily="18" charset="0"/>
                                </a:rPr>
                                <m:t>𝑥</m:t>
                              </m:r>
                            </m:sub>
                          </m:sSub>
                          <m:r>
                            <a:rPr lang="en-US" altLang="zh-CN" sz="1400" b="0" i="1" dirty="0" smtClean="0">
                              <a:solidFill>
                                <a:schemeClr val="tx1"/>
                              </a:solidFill>
                              <a:latin typeface="Cambria Math" panose="02040503050406030204" pitchFamily="18" charset="0"/>
                            </a:rPr>
                            <m:t>,</m:t>
                          </m:r>
                          <m:sSub>
                            <m:sSubPr>
                              <m:ctrlPr>
                                <a:rPr lang="en-US" altLang="zh-CN" sz="140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𝑚</m:t>
                              </m:r>
                            </m:e>
                            <m:sub>
                              <m:r>
                                <a:rPr lang="en-US" altLang="zh-CN" sz="1400" b="0" i="1" dirty="0" smtClean="0">
                                  <a:solidFill>
                                    <a:schemeClr val="tx1"/>
                                  </a:solidFill>
                                  <a:latin typeface="Cambria Math" panose="02040503050406030204" pitchFamily="18" charset="0"/>
                                </a:rPr>
                                <m:t>𝑦</m:t>
                              </m:r>
                            </m:sub>
                          </m:sSub>
                          <m:r>
                            <a:rPr lang="en-US" altLang="zh-CN" sz="1400" b="0" i="1" dirty="0" smtClean="0">
                              <a:solidFill>
                                <a:schemeClr val="tx1"/>
                              </a:solidFill>
                              <a:latin typeface="Cambria Math" panose="02040503050406030204" pitchFamily="18" charset="0"/>
                            </a:rPr>
                            <m:t>,</m:t>
                          </m:r>
                          <m:sSub>
                            <m:sSubPr>
                              <m:ctrlPr>
                                <a:rPr lang="en-US" altLang="zh-CN" sz="140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𝑚</m:t>
                              </m:r>
                            </m:e>
                            <m:sub>
                              <m:r>
                                <a:rPr lang="en-US" altLang="zh-CN" sz="1400" b="0" i="1" dirty="0" smtClean="0">
                                  <a:solidFill>
                                    <a:schemeClr val="tx1"/>
                                  </a:solidFill>
                                  <a:latin typeface="Cambria Math" panose="02040503050406030204" pitchFamily="18" charset="0"/>
                                </a:rPr>
                                <m:t>𝑧</m:t>
                              </m:r>
                            </m:sub>
                          </m:sSub>
                        </m:e>
                      </m:d>
                      <m:r>
                        <a:rPr lang="en-US" altLang="zh-CN" sz="1400" b="1" i="1" dirty="0" smtClean="0">
                          <a:solidFill>
                            <a:schemeClr val="tx1"/>
                          </a:solidFill>
                          <a:latin typeface="Cambria Math" panose="02040503050406030204" pitchFamily="18" charset="0"/>
                        </a:rPr>
                        <m:t>,  </m:t>
                      </m:r>
                      <m:acc>
                        <m:accPr>
                          <m:chr m:val="̃"/>
                          <m:ctrlPr>
                            <a:rPr lang="en-US" altLang="zh-CN" sz="1400" b="1" i="1" dirty="0" smtClean="0">
                              <a:solidFill>
                                <a:schemeClr val="tx1"/>
                              </a:solidFill>
                              <a:latin typeface="Cambria Math" panose="02040503050406030204" pitchFamily="18" charset="0"/>
                            </a:rPr>
                          </m:ctrlPr>
                        </m:accPr>
                        <m:e>
                          <m:r>
                            <m:rPr>
                              <m:nor/>
                            </m:rPr>
                            <a:rPr lang="en-US" altLang="zh-CN" sz="1400" b="1" i="0" dirty="0" smtClean="0">
                              <a:solidFill>
                                <a:schemeClr val="tx1"/>
                              </a:solidFill>
                              <a:latin typeface="Cambria Math" panose="02040503050406030204" pitchFamily="18" charset="0"/>
                            </a:rPr>
                            <m:t>m</m:t>
                          </m:r>
                        </m:e>
                      </m:acc>
                      <m:r>
                        <a:rPr lang="en-US" altLang="zh-CN" sz="1400" b="1" i="1" dirty="0" smtClean="0">
                          <a:solidFill>
                            <a:schemeClr val="tx1"/>
                          </a:solidFill>
                          <a:latin typeface="Cambria Math" panose="02040503050406030204" pitchFamily="18" charset="0"/>
                        </a:rPr>
                        <m:t>=</m:t>
                      </m:r>
                      <m:d>
                        <m:dPr>
                          <m:ctrlPr>
                            <a:rPr lang="en-US" altLang="zh-CN" sz="1400" b="1" i="1" dirty="0" smtClean="0">
                              <a:solidFill>
                                <a:schemeClr val="tx1"/>
                              </a:solidFill>
                              <a:latin typeface="Cambria Math" panose="02040503050406030204" pitchFamily="18" charset="0"/>
                            </a:rPr>
                          </m:ctrlPr>
                        </m:dPr>
                        <m:e>
                          <m:sSub>
                            <m:sSubPr>
                              <m:ctrlPr>
                                <a:rPr lang="en-US" altLang="zh-CN" sz="1400" i="1" dirty="0" smtClean="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m:rPr>
                                      <m:nor/>
                                    </m:rPr>
                                    <a:rPr lang="en-US" altLang="zh-CN" sz="1400" dirty="0">
                                      <a:solidFill>
                                        <a:schemeClr val="tx1"/>
                                      </a:solidFill>
                                      <a:latin typeface="Cambria Math" panose="02040503050406030204" pitchFamily="18" charset="0"/>
                                    </a:rPr>
                                    <m:t>m</m:t>
                                  </m:r>
                                </m:e>
                              </m:acc>
                            </m:e>
                            <m:sub>
                              <m:r>
                                <a:rPr lang="en-US" altLang="zh-CN" sz="1400" b="0" i="1" dirty="0" smtClean="0">
                                  <a:solidFill>
                                    <a:schemeClr val="tx1"/>
                                  </a:solidFill>
                                  <a:latin typeface="Cambria Math" panose="02040503050406030204" pitchFamily="18" charset="0"/>
                                </a:rPr>
                                <m:t>𝑥</m:t>
                              </m:r>
                            </m:sub>
                          </m:sSub>
                          <m:r>
                            <a:rPr lang="en-US" altLang="zh-CN" sz="1400" b="0" i="1" dirty="0" smtClean="0">
                              <a:solidFill>
                                <a:schemeClr val="tx1"/>
                              </a:solidFill>
                              <a:latin typeface="Cambria Math" panose="02040503050406030204" pitchFamily="18" charset="0"/>
                            </a:rPr>
                            <m:t>,</m:t>
                          </m:r>
                          <m:sSub>
                            <m:sSubPr>
                              <m:ctrlPr>
                                <a:rPr lang="en-US" altLang="zh-CN" sz="1400" i="1" dirty="0" smtClean="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m:rPr>
                                      <m:nor/>
                                    </m:rPr>
                                    <a:rPr lang="en-US" altLang="zh-CN" sz="1400" dirty="0">
                                      <a:solidFill>
                                        <a:schemeClr val="tx1"/>
                                      </a:solidFill>
                                      <a:latin typeface="Cambria Math" panose="02040503050406030204" pitchFamily="18" charset="0"/>
                                    </a:rPr>
                                    <m:t>m</m:t>
                                  </m:r>
                                </m:e>
                              </m:acc>
                            </m:e>
                            <m:sub>
                              <m:r>
                                <a:rPr lang="en-US" altLang="zh-CN" sz="1400" b="0" i="1" dirty="0" smtClean="0">
                                  <a:solidFill>
                                    <a:schemeClr val="tx1"/>
                                  </a:solidFill>
                                  <a:latin typeface="Cambria Math" panose="02040503050406030204" pitchFamily="18" charset="0"/>
                                </a:rPr>
                                <m:t>𝑧</m:t>
                              </m:r>
                            </m:sub>
                          </m:sSub>
                        </m:e>
                      </m:d>
                      <m:r>
                        <a:rPr lang="en-US" altLang="zh-CN" sz="1400" b="1"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𝑇</m:t>
                      </m:r>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f>
                            <m:fPr>
                              <m:ctrlPr>
                                <a:rPr lang="en-US" altLang="zh-CN" sz="140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m:t>
                              </m:r>
                              <m:sSub>
                                <m:sSubPr>
                                  <m:ctrlPr>
                                    <a:rPr lang="en-US" altLang="zh-CN" sz="140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𝑚</m:t>
                                  </m:r>
                                </m:e>
                                <m:sub>
                                  <m:r>
                                    <a:rPr lang="en-US" altLang="zh-CN" sz="1400" b="0" i="1" dirty="0" smtClean="0">
                                      <a:solidFill>
                                        <a:schemeClr val="tx1"/>
                                      </a:solidFill>
                                      <a:latin typeface="Cambria Math" panose="02040503050406030204" pitchFamily="18" charset="0"/>
                                    </a:rPr>
                                    <m:t>𝑥</m:t>
                                  </m:r>
                                </m:sub>
                              </m:sSub>
                            </m:num>
                            <m:den>
                              <m:sSub>
                                <m:sSubPr>
                                  <m:ctrlPr>
                                    <a:rPr lang="en-US" altLang="zh-CN" sz="140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𝑚</m:t>
                                  </m:r>
                                </m:e>
                                <m:sub>
                                  <m:r>
                                    <a:rPr lang="en-US" altLang="zh-CN" sz="1400" b="0" i="1" dirty="0" smtClean="0">
                                      <a:solidFill>
                                        <a:schemeClr val="tx1"/>
                                      </a:solidFill>
                                      <a:latin typeface="Cambria Math" panose="02040503050406030204" pitchFamily="18" charset="0"/>
                                    </a:rPr>
                                    <m:t>𝑦</m:t>
                                  </m:r>
                                </m:sub>
                              </m:sSub>
                            </m:den>
                          </m:f>
                          <m:r>
                            <a:rPr lang="en-US" altLang="zh-CN" sz="1400" b="0" i="1" dirty="0" smtClean="0">
                              <a:solidFill>
                                <a:schemeClr val="tx1"/>
                              </a:solidFill>
                              <a:latin typeface="Cambria Math" panose="02040503050406030204" pitchFamily="18" charset="0"/>
                            </a:rPr>
                            <m:t>,</m:t>
                          </m:r>
                          <m:f>
                            <m:fPr>
                              <m:ctrlPr>
                                <a:rPr lang="en-US" altLang="zh-CN" sz="140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m:t>
                              </m:r>
                              <m:sSub>
                                <m:sSubPr>
                                  <m:ctrlPr>
                                    <a:rPr lang="en-US" altLang="zh-CN" sz="140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𝑚</m:t>
                                  </m:r>
                                </m:e>
                                <m:sub>
                                  <m:r>
                                    <a:rPr lang="en-US" altLang="zh-CN" sz="1400" b="0" i="1" dirty="0" smtClean="0">
                                      <a:solidFill>
                                        <a:schemeClr val="tx1"/>
                                      </a:solidFill>
                                      <a:latin typeface="Cambria Math" panose="02040503050406030204" pitchFamily="18" charset="0"/>
                                    </a:rPr>
                                    <m:t>𝑧</m:t>
                                  </m:r>
                                </m:sub>
                              </m:sSub>
                            </m:num>
                            <m:den>
                              <m:sSub>
                                <m:sSubPr>
                                  <m:ctrlPr>
                                    <a:rPr lang="en-US" altLang="zh-CN" sz="140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𝑚</m:t>
                                  </m:r>
                                </m:e>
                                <m:sub>
                                  <m:r>
                                    <a:rPr lang="en-US" altLang="zh-CN" sz="1400" b="0" i="1" dirty="0" smtClean="0">
                                      <a:solidFill>
                                        <a:schemeClr val="tx1"/>
                                      </a:solidFill>
                                      <a:latin typeface="Cambria Math" panose="02040503050406030204" pitchFamily="18" charset="0"/>
                                    </a:rPr>
                                    <m:t>𝑦</m:t>
                                  </m:r>
                                </m:sub>
                              </m:sSub>
                            </m:den>
                          </m:f>
                        </m:e>
                      </m:d>
                      <m:r>
                        <a:rPr lang="en-US" altLang="zh-CN" sz="1400" b="0"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  </m:t>
                      </m:r>
                      <m:r>
                        <a:rPr lang="en-US" altLang="zh-CN" sz="1400" b="1" i="1" dirty="0">
                          <a:solidFill>
                            <a:schemeClr val="tx1"/>
                          </a:solidFill>
                          <a:latin typeface="Cambria Math" panose="02040503050406030204" pitchFamily="18" charset="0"/>
                        </a:rPr>
                        <m:t>𝒎</m:t>
                      </m:r>
                      <m:r>
                        <a:rPr lang="en-US" altLang="zh-CN" sz="1400" b="1" i="1" dirty="0" smtClean="0">
                          <a:solidFill>
                            <a:schemeClr val="tx1"/>
                          </a:solidFill>
                          <a:latin typeface="Cambria Math" panose="02040503050406030204" pitchFamily="18" charset="0"/>
                        </a:rPr>
                        <m:t>=</m:t>
                      </m:r>
                      <m:sSup>
                        <m:sSupPr>
                          <m:ctrlPr>
                            <a:rPr lang="en-US" altLang="zh-CN" sz="140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𝑇</m:t>
                          </m:r>
                        </m:e>
                        <m:sup>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1</m:t>
                          </m:r>
                        </m:sup>
                      </m:sSup>
                      <m:d>
                        <m:dPr>
                          <m:ctrlPr>
                            <a:rPr lang="en-US" altLang="zh-CN" sz="1400" b="1" i="1" dirty="0" smtClean="0">
                              <a:solidFill>
                                <a:schemeClr val="tx1"/>
                              </a:solidFill>
                              <a:latin typeface="Cambria Math" panose="02040503050406030204" pitchFamily="18" charset="0"/>
                            </a:rPr>
                          </m:ctrlPr>
                        </m:dPr>
                        <m:e>
                          <m:acc>
                            <m:accPr>
                              <m:chr m:val="̃"/>
                              <m:ctrlPr>
                                <a:rPr lang="en-US" altLang="zh-CN" sz="1400" b="1" i="1" dirty="0" smtClean="0">
                                  <a:solidFill>
                                    <a:schemeClr val="tx1"/>
                                  </a:solidFill>
                                  <a:latin typeface="Cambria Math" panose="02040503050406030204" pitchFamily="18" charset="0"/>
                                </a:rPr>
                              </m:ctrlPr>
                            </m:accPr>
                            <m:e>
                              <m:r>
                                <a:rPr lang="en-US" altLang="zh-CN" sz="1400" b="1" i="1" dirty="0" smtClean="0">
                                  <a:solidFill>
                                    <a:schemeClr val="tx1"/>
                                  </a:solidFill>
                                  <a:latin typeface="Cambria Math" panose="02040503050406030204" pitchFamily="18" charset="0"/>
                                </a:rPr>
                                <m:t>𝒎</m:t>
                              </m:r>
                            </m:e>
                          </m:acc>
                        </m:e>
                      </m:d>
                      <m:r>
                        <a:rPr lang="en-US" altLang="zh-CN" sz="1400" b="1" i="1" dirty="0" smtClean="0">
                          <a:solidFill>
                            <a:schemeClr val="tx1"/>
                          </a:solidFill>
                          <a:latin typeface="Cambria Math" panose="02040503050406030204" pitchFamily="18" charset="0"/>
                        </a:rPr>
                        <m:t>=</m:t>
                      </m:r>
                      <m:f>
                        <m:fPr>
                          <m:ctrlPr>
                            <a:rPr lang="en-US" altLang="zh-CN" sz="1400" b="1" i="1" dirty="0" smtClean="0">
                              <a:solidFill>
                                <a:schemeClr val="tx1"/>
                              </a:solidFill>
                              <a:latin typeface="Cambria Math" panose="02040503050406030204" pitchFamily="18" charset="0"/>
                            </a:rPr>
                          </m:ctrlPr>
                        </m:fPr>
                        <m:num>
                          <m:d>
                            <m:dPr>
                              <m:ctrlPr>
                                <a:rPr lang="en-US" altLang="zh-CN" sz="1400" b="1" i="1" dirty="0" smtClean="0">
                                  <a:solidFill>
                                    <a:schemeClr val="tx1"/>
                                  </a:solidFill>
                                  <a:latin typeface="Cambria Math" panose="02040503050406030204" pitchFamily="18" charset="0"/>
                                </a:rPr>
                              </m:ctrlPr>
                            </m:dPr>
                            <m:e>
                              <m:r>
                                <a:rPr lang="en-US" altLang="zh-CN" sz="1400" b="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1</m:t>
                              </m:r>
                              <m:r>
                                <a:rPr lang="en-US" altLang="zh-CN" sz="1400" b="0" i="1" dirty="0" smtClean="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e>
                          </m:d>
                        </m:num>
                        <m:den>
                          <m:rad>
                            <m:radPr>
                              <m:degHide m:val="on"/>
                              <m:ctrlPr>
                                <a:rPr lang="en-US" altLang="zh-CN" sz="1400" b="1" i="1" dirty="0" smtClean="0">
                                  <a:solidFill>
                                    <a:schemeClr val="tx1"/>
                                  </a:solidFill>
                                  <a:latin typeface="Cambria Math" panose="02040503050406030204" pitchFamily="18" charset="0"/>
                                </a:rPr>
                              </m:ctrlPr>
                            </m:radPr>
                            <m:deg/>
                            <m:e>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up>
                                  <m:r>
                                    <a:rPr lang="en-US" altLang="zh-CN" sz="1400" b="0" i="1" dirty="0">
                                      <a:solidFill>
                                        <a:schemeClr val="tx1"/>
                                      </a:solidFill>
                                      <a:latin typeface="Cambria Math" panose="02040503050406030204" pitchFamily="18" charset="0"/>
                                    </a:rPr>
                                    <m:t>2</m:t>
                                  </m:r>
                                </m:sup>
                              </m:sSubSup>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1</m:t>
                              </m:r>
                              <m:r>
                                <a:rPr lang="en-US" altLang="zh-CN" sz="1400" b="0" i="1" dirty="0" smtClean="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up>
                                  <m:r>
                                    <a:rPr lang="en-US" altLang="zh-CN" sz="1400" b="0" i="1" dirty="0">
                                      <a:solidFill>
                                        <a:schemeClr val="tx1"/>
                                      </a:solidFill>
                                      <a:latin typeface="Cambria Math" panose="02040503050406030204" pitchFamily="18" charset="0"/>
                                    </a:rPr>
                                    <m:t>2</m:t>
                                  </m:r>
                                </m:sup>
                              </m:sSubSup>
                            </m:e>
                          </m:rad>
                        </m:den>
                      </m:f>
                      <m:r>
                        <a:rPr lang="en-US" altLang="zh-CN" sz="1400" b="1" i="1" dirty="0" smtClean="0">
                          <a:solidFill>
                            <a:schemeClr val="tx1"/>
                          </a:solidFill>
                          <a:latin typeface="Cambria Math" panose="02040503050406030204" pitchFamily="18" charset="0"/>
                        </a:rPr>
                        <m:t>,  </m:t>
                      </m:r>
                      <m:rad>
                        <m:radPr>
                          <m:degHide m:val="on"/>
                          <m:ctrlPr>
                            <a:rPr lang="en-US" altLang="zh-CN" sz="1400" b="1" i="1" dirty="0">
                              <a:solidFill>
                                <a:schemeClr val="tx1"/>
                              </a:solidFill>
                              <a:latin typeface="Cambria Math" panose="02040503050406030204" pitchFamily="18" charset="0"/>
                            </a:rPr>
                          </m:ctrlPr>
                        </m:radPr>
                        <m:deg/>
                        <m:e>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up>
                              <m:r>
                                <a:rPr lang="en-US" altLang="zh-CN" sz="1400" b="0" i="1" dirty="0">
                                  <a:solidFill>
                                    <a:schemeClr val="tx1"/>
                                  </a:solidFill>
                                  <a:latin typeface="Cambria Math" panose="02040503050406030204" pitchFamily="18" charset="0"/>
                                </a:rPr>
                                <m:t>2</m:t>
                              </m:r>
                            </m:sup>
                          </m:sSubSup>
                          <m:r>
                            <a:rPr lang="en-US" altLang="zh-CN" sz="1400" b="0" i="1" dirty="0">
                              <a:solidFill>
                                <a:schemeClr val="tx1"/>
                              </a:solidFill>
                              <a:latin typeface="Cambria Math" panose="02040503050406030204" pitchFamily="18" charset="0"/>
                            </a:rPr>
                            <m:t>+</m:t>
                          </m:r>
                          <m:r>
                            <a:rPr lang="en-US" altLang="zh-CN" sz="1400" b="0" i="1" dirty="0">
                              <a:solidFill>
                                <a:schemeClr val="tx1"/>
                              </a:solidFill>
                              <a:latin typeface="Cambria Math" panose="02040503050406030204" pitchFamily="18" charset="0"/>
                            </a:rPr>
                            <m:t>1</m:t>
                          </m:r>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up>
                              <m:r>
                                <a:rPr lang="en-US" altLang="zh-CN" sz="1400" b="0" i="1" dirty="0">
                                  <a:solidFill>
                                    <a:schemeClr val="tx1"/>
                                  </a:solidFill>
                                  <a:latin typeface="Cambria Math" panose="02040503050406030204" pitchFamily="18" charset="0"/>
                                </a:rPr>
                                <m:t>2</m:t>
                              </m:r>
                            </m:sup>
                          </m:sSubSup>
                        </m:e>
                      </m:rad>
                      <m:r>
                        <a:rPr lang="en-US" altLang="zh-CN" sz="1400" b="1" i="1" dirty="0" smtClean="0">
                          <a:solidFill>
                            <a:schemeClr val="tx1"/>
                          </a:solidFill>
                          <a:latin typeface="Cambria Math" panose="02040503050406030204" pitchFamily="18" charset="0"/>
                        </a:rPr>
                        <m:t>=</m:t>
                      </m:r>
                      <m:f>
                        <m:fPr>
                          <m:ctrlPr>
                            <a:rPr lang="en-US" altLang="zh-CN" sz="1400" b="1"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sSub>
                            <m:sSubPr>
                              <m:ctrlPr>
                                <a:rPr lang="en-US" altLang="zh-CN" sz="140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𝑚</m:t>
                              </m:r>
                            </m:e>
                            <m:sub>
                              <m:r>
                                <a:rPr lang="en-US" altLang="zh-CN" sz="1400" b="0" i="1" dirty="0" smtClean="0">
                                  <a:solidFill>
                                    <a:schemeClr val="tx1"/>
                                  </a:solidFill>
                                  <a:latin typeface="Cambria Math" panose="02040503050406030204" pitchFamily="18" charset="0"/>
                                </a:rPr>
                                <m:t>𝑦</m:t>
                              </m:r>
                            </m:sub>
                          </m:sSub>
                        </m:den>
                      </m:f>
                    </m:oMath>
                  </m:oMathPara>
                </a14:m>
                <a:endParaRPr lang="en-US" altLang="zh-CN" sz="1400" b="1"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sSup>
                        <m:sSupPr>
                          <m:ctrlPr>
                            <a:rPr lang="en-US" altLang="zh-CN" sz="1400" b="1" i="1" dirty="0" smtClean="0">
                              <a:solidFill>
                                <a:schemeClr val="tx1"/>
                              </a:solidFill>
                              <a:latin typeface="Cambria Math" panose="02040503050406030204" pitchFamily="18" charset="0"/>
                            </a:rPr>
                          </m:ctrlPr>
                        </m:sSupPr>
                        <m:e>
                          <m:r>
                            <m:rPr>
                              <m:sty m:val="p"/>
                            </m:rPr>
                            <a:rPr lang="en-US" altLang="zh-CN" sz="1400" b="1" i="1" dirty="0">
                              <a:solidFill>
                                <a:schemeClr val="tx1"/>
                              </a:solidFill>
                              <a:latin typeface="Cambria Math" panose="02040503050406030204" pitchFamily="18" charset="0"/>
                            </a:rPr>
                            <m:t>P</m:t>
                          </m:r>
                        </m:e>
                        <m:sup>
                          <m:r>
                            <a:rPr lang="en-US" altLang="zh-CN" sz="1400" b="1" i="1" dirty="0" smtClean="0">
                              <a:solidFill>
                                <a:schemeClr val="tx1"/>
                              </a:solidFill>
                              <a:latin typeface="Cambria Math" panose="02040503050406030204" pitchFamily="18" charset="0"/>
                            </a:rPr>
                            <m:t>𝟐𝟐</m:t>
                          </m:r>
                        </m:sup>
                      </m:sSup>
                      <m:d>
                        <m:dPr>
                          <m:ctrlPr>
                            <a:rPr lang="en-US" altLang="zh-CN" sz="1400" b="1" i="1" dirty="0" smtClean="0">
                              <a:solidFill>
                                <a:schemeClr val="tx1"/>
                              </a:solidFill>
                              <a:latin typeface="Cambria Math" panose="02040503050406030204" pitchFamily="18" charset="0"/>
                            </a:rPr>
                          </m:ctrlPr>
                        </m:dPr>
                        <m:e>
                          <m:acc>
                            <m:accPr>
                              <m:chr m:val="̃"/>
                              <m:ctrlPr>
                                <a:rPr lang="en-US" altLang="zh-CN" sz="1400" b="1" i="1" dirty="0" smtClean="0">
                                  <a:solidFill>
                                    <a:schemeClr val="tx1"/>
                                  </a:solidFill>
                                  <a:latin typeface="Cambria Math" panose="02040503050406030204" pitchFamily="18" charset="0"/>
                                </a:rPr>
                              </m:ctrlPr>
                            </m:accPr>
                            <m:e>
                              <m:r>
                                <a:rPr lang="en-US" altLang="zh-CN" sz="1400" b="1" i="1" dirty="0" smtClean="0">
                                  <a:solidFill>
                                    <a:schemeClr val="tx1"/>
                                  </a:solidFill>
                                  <a:latin typeface="Cambria Math" panose="02040503050406030204" pitchFamily="18" charset="0"/>
                                </a:rPr>
                                <m:t>𝒎</m:t>
                              </m:r>
                            </m:e>
                          </m:acc>
                        </m:e>
                      </m:d>
                      <m:r>
                        <a:rPr lang="zh-CN" altLang="en-US" sz="1400" b="1" i="1" dirty="0">
                          <a:solidFill>
                            <a:schemeClr val="tx1"/>
                          </a:solidFill>
                          <a:latin typeface="Cambria Math" panose="02040503050406030204" pitchFamily="18" charset="0"/>
                        </a:rPr>
                        <m:t>为</m:t>
                      </m:r>
                      <m:r>
                        <a:rPr lang="zh-CN" altLang="en-US" sz="1400" b="1" i="1" dirty="0" smtClean="0">
                          <a:solidFill>
                            <a:schemeClr val="tx1"/>
                          </a:solidFill>
                          <a:latin typeface="Cambria Math" panose="02040503050406030204" pitchFamily="18" charset="0"/>
                        </a:rPr>
                        <m:t>斜率空间</m:t>
                      </m:r>
                      <m:r>
                        <a:rPr lang="zh-CN" altLang="en-US" sz="1400" b="1" i="1" dirty="0">
                          <a:solidFill>
                            <a:schemeClr val="tx1"/>
                          </a:solidFill>
                          <a:latin typeface="Cambria Math" panose="02040503050406030204" pitchFamily="18" charset="0"/>
                        </a:rPr>
                        <m:t>下的</m:t>
                      </m:r>
                      <m:r>
                        <a:rPr lang="zh-CN" altLang="en-US" sz="1400" b="1" i="1" dirty="0" smtClean="0">
                          <a:solidFill>
                            <a:schemeClr val="tx1"/>
                          </a:solidFill>
                          <a:latin typeface="Cambria Math" panose="02040503050406030204" pitchFamily="18" charset="0"/>
                        </a:rPr>
                        <m:t>法线</m:t>
                      </m:r>
                      <m:r>
                        <a:rPr lang="zh-CN" altLang="en-US" sz="1400" b="1" i="1" dirty="0">
                          <a:solidFill>
                            <a:schemeClr val="tx1"/>
                          </a:solidFill>
                          <a:latin typeface="Cambria Math" panose="02040503050406030204" pitchFamily="18" charset="0"/>
                        </a:rPr>
                        <m:t>分布</m:t>
                      </m:r>
                      <m:r>
                        <a:rPr lang="zh-CN" altLang="en-US" sz="1400" b="1" i="1" dirty="0" smtClean="0">
                          <a:solidFill>
                            <a:schemeClr val="tx1"/>
                          </a:solidFill>
                          <a:latin typeface="Cambria Math" panose="02040503050406030204" pitchFamily="18" charset="0"/>
                        </a:rPr>
                        <m:t>函数</m:t>
                      </m:r>
                      <m:r>
                        <a:rPr lang="zh-CN" altLang="en-US" sz="1400" b="1" i="1" dirty="0">
                          <a:solidFill>
                            <a:schemeClr val="tx1"/>
                          </a:solidFill>
                          <a:latin typeface="Cambria Math" panose="02040503050406030204" pitchFamily="18" charset="0"/>
                        </a:rPr>
                        <m:t>，</m:t>
                      </m:r>
                      <m:r>
                        <a:rPr lang="zh-CN" altLang="en-US" sz="1400" b="1" i="1" dirty="0" smtClean="0">
                          <a:solidFill>
                            <a:schemeClr val="tx1"/>
                          </a:solidFill>
                          <a:latin typeface="Cambria Math" panose="02040503050406030204" pitchFamily="18" charset="0"/>
                        </a:rPr>
                        <m:t>不同的是</m:t>
                      </m:r>
                      <m:r>
                        <a:rPr lang="zh-CN" altLang="en-US" sz="1400" b="1" i="1" dirty="0">
                          <a:solidFill>
                            <a:schemeClr val="tx1"/>
                          </a:solidFill>
                          <a:latin typeface="Cambria Math" panose="02040503050406030204" pitchFamily="18" charset="0"/>
                        </a:rPr>
                        <m:t>，</m:t>
                      </m:r>
                      <m:sSup>
                        <m:sSupPr>
                          <m:ctrlPr>
                            <a:rPr lang="en-US" altLang="zh-CN" sz="140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𝑃</m:t>
                          </m:r>
                        </m:e>
                        <m:sup>
                          <m:r>
                            <a:rPr lang="en-US" altLang="zh-CN" sz="1400" b="0" i="1" dirty="0" smtClean="0">
                              <a:solidFill>
                                <a:schemeClr val="tx1"/>
                              </a:solidFill>
                              <a:latin typeface="Cambria Math" panose="02040503050406030204" pitchFamily="18" charset="0"/>
                            </a:rPr>
                            <m:t>22</m:t>
                          </m:r>
                        </m:sup>
                      </m:sSup>
                      <m:d>
                        <m:dPr>
                          <m:ctrlPr>
                            <a:rPr lang="en-US" altLang="zh-CN" sz="1400" b="1" i="1" dirty="0" smtClean="0">
                              <a:solidFill>
                                <a:schemeClr val="tx1"/>
                              </a:solidFill>
                              <a:latin typeface="Cambria Math" panose="02040503050406030204" pitchFamily="18" charset="0"/>
                            </a:rPr>
                          </m:ctrlPr>
                        </m:dPr>
                        <m:e>
                          <m:acc>
                            <m:accPr>
                              <m:chr m:val="̃"/>
                              <m:ctrlPr>
                                <a:rPr lang="en-US" altLang="zh-CN" sz="1400" b="1" i="1" dirty="0" smtClean="0">
                                  <a:solidFill>
                                    <a:schemeClr val="tx1"/>
                                  </a:solidFill>
                                  <a:latin typeface="Cambria Math" panose="02040503050406030204" pitchFamily="18" charset="0"/>
                                </a:rPr>
                              </m:ctrlPr>
                            </m:accPr>
                            <m:e>
                              <m:r>
                                <a:rPr lang="en-US" altLang="zh-CN" sz="1400" b="1" i="1" dirty="0" smtClean="0">
                                  <a:solidFill>
                                    <a:schemeClr val="tx1"/>
                                  </a:solidFill>
                                  <a:latin typeface="Cambria Math" panose="02040503050406030204" pitchFamily="18" charset="0"/>
                                </a:rPr>
                                <m:t>𝒎</m:t>
                              </m:r>
                            </m:e>
                          </m:acc>
                        </m:e>
                      </m:d>
                      <m:r>
                        <a:rPr lang="zh-CN" altLang="en-US" sz="1400" b="1" i="1" dirty="0">
                          <a:solidFill>
                            <a:schemeClr val="tx1"/>
                          </a:solidFill>
                          <a:latin typeface="Cambria Math" panose="02040503050406030204" pitchFamily="18" charset="0"/>
                        </a:rPr>
                        <m:t>在</m:t>
                      </m:r>
                      <m:r>
                        <a:rPr lang="zh-CN" altLang="en-US" sz="1400" b="1" i="1" dirty="0" smtClean="0">
                          <a:solidFill>
                            <a:schemeClr val="tx1"/>
                          </a:solidFill>
                          <a:latin typeface="Cambria Math" panose="02040503050406030204" pitchFamily="18" charset="0"/>
                        </a:rPr>
                        <m:t>其</m:t>
                      </m:r>
                      <m:r>
                        <a:rPr lang="zh-CN" altLang="en-US" sz="1400" b="1" i="1" dirty="0">
                          <a:solidFill>
                            <a:schemeClr val="tx1"/>
                          </a:solidFill>
                          <a:latin typeface="Cambria Math" panose="02040503050406030204" pitchFamily="18" charset="0"/>
                        </a:rPr>
                        <m:t>域</m:t>
                      </m:r>
                      <m:r>
                        <a:rPr lang="zh-CN" altLang="en-US" sz="1400" b="1" i="1" dirty="0" smtClean="0">
                          <a:solidFill>
                            <a:schemeClr val="tx1"/>
                          </a:solidFill>
                          <a:latin typeface="Cambria Math" panose="02040503050406030204" pitchFamily="18" charset="0"/>
                        </a:rPr>
                        <m:t>上的</m:t>
                      </m:r>
                      <m:r>
                        <a:rPr lang="zh-CN" altLang="en-US" sz="1400" b="1" i="1" dirty="0">
                          <a:solidFill>
                            <a:schemeClr val="tx1"/>
                          </a:solidFill>
                          <a:latin typeface="Cambria Math" panose="02040503050406030204" pitchFamily="18" charset="0"/>
                        </a:rPr>
                        <m:t>积分</m:t>
                      </m:r>
                      <m:r>
                        <a:rPr lang="zh-CN" altLang="en-US" sz="1400" b="1" i="1" dirty="0" smtClean="0">
                          <a:solidFill>
                            <a:schemeClr val="tx1"/>
                          </a:solidFill>
                          <a:latin typeface="Cambria Math" panose="02040503050406030204" pitchFamily="18" charset="0"/>
                        </a:rPr>
                        <m:t>为</m:t>
                      </m:r>
                      <m:r>
                        <a:rPr lang="en-US" altLang="zh-CN" sz="1400" b="0" i="1" dirty="0" smtClean="0">
                          <a:solidFill>
                            <a:schemeClr val="tx1"/>
                          </a:solidFill>
                          <a:latin typeface="Cambria Math" panose="02040503050406030204" pitchFamily="18" charset="0"/>
                        </a:rPr>
                        <m:t>1</m:t>
                      </m:r>
                      <m:r>
                        <a:rPr lang="zh-CN" altLang="en-US" sz="1400" i="1" dirty="0">
                          <a:solidFill>
                            <a:schemeClr val="tx1"/>
                          </a:solidFill>
                          <a:latin typeface="Cambria Math" panose="02040503050406030204" pitchFamily="18" charset="0"/>
                        </a:rPr>
                        <m:t>：</m:t>
                      </m:r>
                    </m:oMath>
                  </m:oMathPara>
                </a14:m>
                <a:endParaRPr lang="en-US" altLang="zh-CN" sz="14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nary>
                        <m:naryPr>
                          <m:supHide m:val="on"/>
                          <m:ctrlPr>
                            <a:rPr lang="en-US" altLang="zh-CN" sz="1400" i="1" dirty="0" smtClean="0">
                              <a:solidFill>
                                <a:schemeClr val="tx1"/>
                              </a:solidFill>
                              <a:latin typeface="Cambria Math" panose="02040503050406030204" pitchFamily="18" charset="0"/>
                            </a:rPr>
                          </m:ctrlPr>
                        </m:naryPr>
                        <m:sub>
                          <m:sSup>
                            <m:sSupPr>
                              <m:ctrlPr>
                                <a:rPr lang="en-US" altLang="zh-CN" sz="1400" b="0" i="1" dirty="0" smtClean="0">
                                  <a:solidFill>
                                    <a:schemeClr val="tx1"/>
                                  </a:solidFill>
                                  <a:latin typeface="Cambria Math" panose="02040503050406030204" pitchFamily="18" charset="0"/>
                                </a:rPr>
                              </m:ctrlPr>
                            </m:sSupPr>
                            <m:e>
                              <m:r>
                                <a:rPr lang="en-US" altLang="zh-CN" sz="1400" i="1" dirty="0" smtClean="0">
                                  <a:solidFill>
                                    <a:schemeClr val="tx1"/>
                                  </a:solidFill>
                                  <a:latin typeface="Cambria Math" panose="02040503050406030204" pitchFamily="18" charset="0"/>
                                </a:rPr>
                                <m:t>𝐻</m:t>
                              </m:r>
                            </m:e>
                            <m:sup>
                              <m:r>
                                <a:rPr lang="en-US" altLang="zh-CN" sz="1400" b="0" i="1" dirty="0" smtClean="0">
                                  <a:solidFill>
                                    <a:schemeClr val="tx1"/>
                                  </a:solidFill>
                                  <a:latin typeface="Cambria Math" panose="02040503050406030204" pitchFamily="18" charset="0"/>
                                </a:rPr>
                                <m:t>2</m:t>
                              </m:r>
                            </m:sup>
                          </m:sSup>
                        </m:sub>
                        <m:sup/>
                        <m:e>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err="1">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e>
                      </m:nary>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1</m:t>
                      </m:r>
                      <m:r>
                        <a:rPr lang="en-US" altLang="zh-CN" sz="1400" b="0" i="1" dirty="0" smtClean="0">
                          <a:solidFill>
                            <a:schemeClr val="tx1"/>
                          </a:solidFill>
                          <a:latin typeface="Cambria Math" panose="02040503050406030204" pitchFamily="18" charset="0"/>
                        </a:rPr>
                        <m:t>,  </m:t>
                      </m:r>
                      <m:nary>
                        <m:naryPr>
                          <m:ctrlPr>
                            <a:rPr lang="en-US" altLang="zh-CN" sz="1400" b="0" i="1" dirty="0" smtClean="0">
                              <a:solidFill>
                                <a:schemeClr val="tx1"/>
                              </a:solidFill>
                              <a:latin typeface="Cambria Math" panose="02040503050406030204" pitchFamily="18" charset="0"/>
                            </a:rPr>
                          </m:ctrlPr>
                        </m:naryPr>
                        <m:sub>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m:t>
                          </m:r>
                        </m:sub>
                        <m:sup>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m:t>
                          </m:r>
                        </m:sup>
                        <m:e>
                          <m:nary>
                            <m:naryPr>
                              <m:ctrlPr>
                                <a:rPr lang="en-US" altLang="zh-CN" sz="1400" b="0" i="1" dirty="0" smtClean="0">
                                  <a:solidFill>
                                    <a:schemeClr val="tx1"/>
                                  </a:solidFill>
                                  <a:latin typeface="Cambria Math" panose="02040503050406030204" pitchFamily="18" charset="0"/>
                                </a:rPr>
                              </m:ctrlPr>
                            </m:naryPr>
                            <m:sub>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m:t>
                              </m:r>
                            </m:sub>
                            <m:sup>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m:t>
                              </m:r>
                            </m:sup>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22</m:t>
                                  </m:r>
                                </m:sup>
                              </m:sSup>
                              <m:d>
                                <m:dPr>
                                  <m:ctrlPr>
                                    <a:rPr lang="en-US" altLang="zh-CN" sz="1400"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r>
                                <a:rPr lang="en-US" altLang="zh-CN" sz="1400" i="1" dirty="0" smtClean="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nary>
                        </m:e>
                      </m:nary>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1</m:t>
                      </m:r>
                    </m:oMath>
                  </m:oMathPara>
                </a14:m>
                <a:endParaRPr lang="en-US" altLang="zh-CN" sz="14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zh-CN" altLang="en-US" sz="1400" i="1" dirty="0" smtClean="0">
                          <a:solidFill>
                            <a:schemeClr val="tx1"/>
                          </a:solidFill>
                          <a:latin typeface="Cambria Math" panose="02040503050406030204" pitchFamily="18" charset="0"/>
                        </a:rPr>
                        <m:t>所以</m:t>
                      </m:r>
                      <m:r>
                        <a:rPr lang="zh-CN" altLang="en-US" sz="1400" i="1" dirty="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𝑃</m:t>
                          </m:r>
                        </m:e>
                        <m:sup>
                          <m:r>
                            <a:rPr lang="en-US" altLang="zh-CN" sz="1400" b="0" i="1" dirty="0" smtClean="0">
                              <a:solidFill>
                                <a:schemeClr val="tx1"/>
                              </a:solidFill>
                              <a:latin typeface="Cambria Math" panose="02040503050406030204" pitchFamily="18" charset="0"/>
                            </a:rPr>
                            <m:t>22</m:t>
                          </m:r>
                        </m:sup>
                      </m:sSup>
                      <m:d>
                        <m:dPr>
                          <m:ctrlPr>
                            <a:rPr lang="en-US" altLang="zh-CN" sz="1400" b="0" i="1" dirty="0" smtClean="0">
                              <a:solidFill>
                                <a:schemeClr val="tx1"/>
                              </a:solidFill>
                              <a:latin typeface="Cambria Math" panose="02040503050406030204" pitchFamily="18" charset="0"/>
                            </a:rPr>
                          </m:ctrlPr>
                        </m:dPr>
                        <m:e>
                          <m:acc>
                            <m:accPr>
                              <m:chr m:val="̃"/>
                              <m:ctrlPr>
                                <a:rPr lang="en-US" altLang="zh-CN" sz="1400" b="1" i="1" dirty="0" smtClean="0">
                                  <a:solidFill>
                                    <a:schemeClr val="tx1"/>
                                  </a:solidFill>
                                  <a:latin typeface="Cambria Math" panose="02040503050406030204" pitchFamily="18" charset="0"/>
                                </a:rPr>
                              </m:ctrlPr>
                            </m:accPr>
                            <m:e>
                              <m:r>
                                <a:rPr lang="en-US" altLang="zh-CN" sz="1400" b="1" i="1" dirty="0" smtClean="0">
                                  <a:solidFill>
                                    <a:schemeClr val="tx1"/>
                                  </a:solidFill>
                                  <a:latin typeface="Cambria Math" panose="02040503050406030204" pitchFamily="18" charset="0"/>
                                </a:rPr>
                                <m:t>𝒎</m:t>
                              </m:r>
                            </m:e>
                          </m:acc>
                        </m:e>
                      </m:d>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𝑑</m:t>
                      </m:r>
                      <m:acc>
                        <m:accPr>
                          <m:chr m:val="̃"/>
                          <m:ctrlPr>
                            <a:rPr lang="en-US" altLang="zh-CN" sz="1400" b="1" i="1" dirty="0" smtClean="0">
                              <a:solidFill>
                                <a:schemeClr val="tx1"/>
                              </a:solidFill>
                              <a:latin typeface="Cambria Math" panose="02040503050406030204" pitchFamily="18" charset="0"/>
                            </a:rPr>
                          </m:ctrlPr>
                        </m:accPr>
                        <m:e>
                          <m:r>
                            <a:rPr lang="en-US" altLang="zh-CN" sz="1400" b="1" i="1" dirty="0" smtClean="0">
                              <a:solidFill>
                                <a:schemeClr val="tx1"/>
                              </a:solidFill>
                              <a:latin typeface="Cambria Math" panose="02040503050406030204" pitchFamily="18" charset="0"/>
                            </a:rPr>
                            <m:t>𝒎</m:t>
                          </m:r>
                        </m:e>
                      </m:acc>
                      <m:r>
                        <a:rPr lang="en-US" altLang="zh-CN" sz="1400" b="1"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𝐷</m:t>
                      </m:r>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r>
                            <a:rPr lang="en-US" altLang="zh-CN" sz="1400" b="0"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𝑑</m:t>
                      </m:r>
                      <m:sSub>
                        <m:sSubPr>
                          <m:ctrlPr>
                            <a:rPr lang="en-US" altLang="zh-CN" sz="140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𝑚</m:t>
                          </m:r>
                        </m:sub>
                      </m:sSub>
                    </m:oMath>
                  </m:oMathPara>
                </a14:m>
                <a:endParaRPr lang="en-US" altLang="zh-CN" sz="1400"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en-US" altLang="zh-CN" sz="1400" i="1" dirty="0" smtClean="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err="1">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𝑇</m:t>
                                  </m:r>
                                </m:e>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sup>
                              </m:sSup>
                              <m:d>
                                <m:dPr>
                                  <m:ctrlPr>
                                    <a:rPr lang="en-US" altLang="zh-CN" sz="1400" b="1"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e>
                          </m:d>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𝑇</m:t>
                              </m:r>
                            </m:e>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sup>
                          </m:sSup>
                          <m:d>
                            <m:dPr>
                              <m:ctrlPr>
                                <a:rPr lang="en-US" altLang="zh-CN" sz="1400" b="1"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den>
                      </m:f>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22</m:t>
                          </m:r>
                        </m:sup>
                      </m:sSup>
                      <m:d>
                        <m:dPr>
                          <m:ctrlPr>
                            <a:rPr lang="en-US" altLang="zh-CN" sz="1400"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r>
                        <a:rPr lang="en-US" altLang="zh-CN" sz="140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r>
                        <a:rPr lang="en-US" altLang="zh-CN" sz="1400" b="1"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  </m:t>
                      </m:r>
                      <m:nary>
                        <m:naryPr>
                          <m:supHide m:val="on"/>
                          <m:ctrlPr>
                            <a:rPr lang="en-US" altLang="zh-CN" sz="1400" i="1" dirty="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err="1">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e>
                      </m:nary>
                      <m:r>
                        <a:rPr lang="en-US" altLang="zh-CN" sz="1400" b="0" i="1" dirty="0" smtClean="0">
                          <a:solidFill>
                            <a:schemeClr val="tx1"/>
                          </a:solidFill>
                          <a:latin typeface="Cambria Math" panose="02040503050406030204" pitchFamily="18" charset="0"/>
                        </a:rPr>
                        <m:t>=</m:t>
                      </m:r>
                      <m:nary>
                        <m:naryPr>
                          <m:ctrlPr>
                            <a:rPr lang="en-US" altLang="zh-CN" sz="1400" b="0" i="1" dirty="0" smtClean="0">
                              <a:solidFill>
                                <a:schemeClr val="tx1"/>
                              </a:solidFill>
                              <a:latin typeface="Cambria Math" panose="02040503050406030204" pitchFamily="18" charset="0"/>
                            </a:rPr>
                          </m:ctrlPr>
                        </m:naryPr>
                        <m:sub>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m:t>
                          </m:r>
                        </m:sub>
                        <m:sup>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m:t>
                          </m:r>
                        </m:sup>
                        <m:e>
                          <m:nary>
                            <m:naryPr>
                              <m:ctrlPr>
                                <a:rPr lang="en-US" altLang="zh-CN" sz="1400" b="0" i="1" dirty="0" smtClean="0">
                                  <a:solidFill>
                                    <a:schemeClr val="tx1"/>
                                  </a:solidFill>
                                  <a:latin typeface="Cambria Math" panose="02040503050406030204" pitchFamily="18" charset="0"/>
                                </a:rPr>
                              </m:ctrlPr>
                            </m:naryPr>
                            <m:sub>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m:t>
                              </m:r>
                            </m:sub>
                            <m:sup>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m:t>
                              </m:r>
                            </m:sup>
                            <m:e>
                              <m:f>
                                <m:fPr>
                                  <m:ctrlPr>
                                    <a:rPr lang="en-US" altLang="zh-CN" sz="1400" i="1" dirty="0">
                                      <a:solidFill>
                                        <a:schemeClr val="tx1"/>
                                      </a:solidFill>
                                      <a:latin typeface="Cambria Math" panose="02040503050406030204" pitchFamily="18" charset="0"/>
                                    </a:rPr>
                                  </m:ctrlPr>
                                </m:fPr>
                                <m:num>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𝑇</m:t>
                                          </m:r>
                                        </m:e>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sup>
                                      </m:sSup>
                                      <m:d>
                                        <m:dPr>
                                          <m:ctrlPr>
                                            <a:rPr lang="en-US" altLang="zh-CN" sz="1400" b="1"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e>
                                  </m:d>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𝑇</m:t>
                                      </m:r>
                                    </m:e>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sup>
                                  </m:sSup>
                                  <m:d>
                                    <m:dPr>
                                      <m:ctrlPr>
                                        <a:rPr lang="en-US" altLang="zh-CN" sz="1400" b="1"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den>
                              </m:f>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22</m:t>
                                  </m:r>
                                </m:sup>
                              </m:sSup>
                              <m:d>
                                <m:dPr>
                                  <m:ctrlPr>
                                    <a:rPr lang="en-US" altLang="zh-CN" sz="1400"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r>
                                <a:rPr lang="en-US" altLang="zh-CN" sz="140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nary>
                        </m:e>
                      </m:nary>
                    </m:oMath>
                  </m:oMathPara>
                </a14:m>
                <a:endParaRPr lang="en-US" altLang="zh-CN" sz="1400" b="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en-US" altLang="zh-CN" sz="1400" b="1" i="1" dirty="0" smtClean="0">
                          <a:solidFill>
                            <a:schemeClr val="tx1"/>
                          </a:solidFill>
                          <a:latin typeface="Cambria Math" panose="02040503050406030204" pitchFamily="18" charset="0"/>
                        </a:rPr>
                        <m:t>𝒈</m:t>
                      </m:r>
                      <m:r>
                        <a:rPr lang="en-US" altLang="zh-CN" sz="1400" b="1"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0</m:t>
                          </m:r>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1</m:t>
                          </m:r>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0</m:t>
                          </m:r>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𝑇</m:t>
                          </m:r>
                        </m:e>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sup>
                      </m:sSup>
                      <m:d>
                        <m:dPr>
                          <m:ctrlPr>
                            <a:rPr lang="en-US" altLang="zh-CN" sz="1400" b="1"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r>
                        <a:rPr lang="en-US" altLang="zh-CN" sz="1400" b="1" i="1" dirty="0" smtClean="0">
                          <a:solidFill>
                            <a:schemeClr val="tx1"/>
                          </a:solidFill>
                          <a:latin typeface="Cambria Math" panose="02040503050406030204" pitchFamily="18" charset="0"/>
                        </a:rPr>
                        <m:t>=</m:t>
                      </m:r>
                      <m:f>
                        <m:fPr>
                          <m:ctrlPr>
                            <a:rPr lang="en-US" altLang="zh-CN" sz="1400" b="1"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rad>
                            <m:radPr>
                              <m:degHide m:val="on"/>
                              <m:ctrlPr>
                                <a:rPr lang="en-US" altLang="zh-CN" sz="1400" b="1" i="1" dirty="0">
                                  <a:solidFill>
                                    <a:schemeClr val="tx1"/>
                                  </a:solidFill>
                                  <a:latin typeface="Cambria Math" panose="02040503050406030204" pitchFamily="18" charset="0"/>
                                </a:rPr>
                              </m:ctrlPr>
                            </m:radPr>
                            <m:deg/>
                            <m:e>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up>
                                  <m:r>
                                    <a:rPr lang="en-US" altLang="zh-CN" sz="1400" b="0" i="1" dirty="0">
                                      <a:solidFill>
                                        <a:schemeClr val="tx1"/>
                                      </a:solidFill>
                                      <a:latin typeface="Cambria Math" panose="02040503050406030204" pitchFamily="18" charset="0"/>
                                    </a:rPr>
                                    <m:t>2</m:t>
                                  </m:r>
                                </m:sup>
                              </m:sSubSup>
                              <m:r>
                                <a:rPr lang="en-US" altLang="zh-CN" sz="1400" b="0" i="1" dirty="0">
                                  <a:solidFill>
                                    <a:schemeClr val="tx1"/>
                                  </a:solidFill>
                                  <a:latin typeface="Cambria Math" panose="02040503050406030204" pitchFamily="18" charset="0"/>
                                </a:rPr>
                                <m:t>+</m:t>
                              </m:r>
                              <m:r>
                                <a:rPr lang="en-US" altLang="zh-CN" sz="1400" b="0" i="1" dirty="0">
                                  <a:solidFill>
                                    <a:schemeClr val="tx1"/>
                                  </a:solidFill>
                                  <a:latin typeface="Cambria Math" panose="02040503050406030204" pitchFamily="18" charset="0"/>
                                </a:rPr>
                                <m:t>1</m:t>
                              </m:r>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up>
                                  <m:r>
                                    <a:rPr lang="en-US" altLang="zh-CN" sz="1400" b="0" i="1" dirty="0">
                                      <a:solidFill>
                                        <a:schemeClr val="tx1"/>
                                      </a:solidFill>
                                      <a:latin typeface="Cambria Math" panose="02040503050406030204" pitchFamily="18" charset="0"/>
                                    </a:rPr>
                                    <m:t>2</m:t>
                                  </m:r>
                                </m:sup>
                              </m:sSubSup>
                            </m:e>
                          </m:rad>
                        </m:den>
                      </m:f>
                      <m:r>
                        <a:rPr lang="en-US" altLang="zh-CN" sz="1400" b="1" i="1" dirty="0" smtClean="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𝑇</m:t>
                              </m:r>
                            </m:e>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sup>
                          </m:sSup>
                          <m:d>
                            <m:dPr>
                              <m:ctrlPr>
                                <a:rPr lang="en-US" altLang="zh-CN" sz="1400" b="1"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e>
                      </m:d>
                      <m:r>
                        <a:rPr lang="en-US" altLang="zh-CN" sz="1400" b="1" i="1" dirty="0" smtClean="0">
                          <a:solidFill>
                            <a:schemeClr val="tx1"/>
                          </a:solidFill>
                          <a:latin typeface="Cambria Math" panose="02040503050406030204" pitchFamily="18" charset="0"/>
                        </a:rPr>
                        <m:t>=</m:t>
                      </m:r>
                      <m:sSup>
                        <m:sSupPr>
                          <m:ctrlPr>
                            <a:rPr lang="en-US" altLang="zh-CN" sz="140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𝑋</m:t>
                          </m:r>
                        </m:e>
                        <m:sup>
                          <m:r>
                            <a:rPr lang="en-US" altLang="zh-CN" sz="1400" b="0" i="1" dirty="0" smtClean="0">
                              <a:solidFill>
                                <a:schemeClr val="tx1"/>
                              </a:solidFill>
                              <a:latin typeface="Cambria Math" panose="02040503050406030204" pitchFamily="18" charset="0"/>
                            </a:rPr>
                            <m:t>+</m:t>
                          </m:r>
                        </m:sup>
                      </m:sSup>
                      <m:d>
                        <m:dPr>
                          <m:ctrlPr>
                            <a:rPr lang="en-US" altLang="zh-CN" sz="1400" b="0" i="1" dirty="0" smtClean="0">
                              <a:solidFill>
                                <a:schemeClr val="tx1"/>
                              </a:solidFill>
                              <a:latin typeface="Cambria Math" panose="02040503050406030204" pitchFamily="18" charset="0"/>
                            </a:rPr>
                          </m:ctrlPr>
                        </m:dPr>
                        <m:e>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𝑥</m:t>
                              </m:r>
                            </m:sub>
                            <m:sup>
                              <m:r>
                                <a:rPr lang="en-US" altLang="zh-CN" sz="1400" b="0" i="1" dirty="0">
                                  <a:solidFill>
                                    <a:schemeClr val="tx1"/>
                                  </a:solidFill>
                                  <a:latin typeface="Cambria Math" panose="02040503050406030204" pitchFamily="18" charset="0"/>
                                </a:rPr>
                                <m:t>+</m:t>
                              </m:r>
                            </m:sup>
                          </m:sSubSup>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𝑦</m:t>
                              </m:r>
                            </m:sub>
                            <m:sup>
                              <m:r>
                                <a:rPr lang="en-US" altLang="zh-CN" sz="1400" b="0" i="1" dirty="0">
                                  <a:solidFill>
                                    <a:schemeClr val="tx1"/>
                                  </a:solidFill>
                                  <a:latin typeface="Cambria Math" panose="02040503050406030204" pitchFamily="18" charset="0"/>
                                </a:rPr>
                                <m:t>+</m:t>
                              </m:r>
                            </m:sup>
                          </m:sSubSup>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𝑧</m:t>
                              </m:r>
                            </m:sub>
                            <m:sup>
                              <m:r>
                                <a:rPr lang="en-US" altLang="zh-CN" sz="1400" b="0" i="1" dirty="0">
                                  <a:solidFill>
                                    <a:schemeClr val="tx1"/>
                                  </a:solidFill>
                                  <a:latin typeface="Cambria Math" panose="02040503050406030204" pitchFamily="18" charset="0"/>
                                </a:rPr>
                                <m:t>+</m:t>
                              </m:r>
                            </m:sup>
                          </m:sSubSup>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𝑧</m:t>
                              </m:r>
                            </m:sub>
                          </m:sSub>
                        </m:e>
                      </m:d>
                      <m:r>
                        <a:rPr lang="en-US" altLang="zh-CN" sz="1400" b="0" i="1" dirty="0" smtClean="0">
                          <a:solidFill>
                            <a:schemeClr val="tx1"/>
                          </a:solidFill>
                          <a:latin typeface="Cambria Math" panose="02040503050406030204" pitchFamily="18" charset="0"/>
                        </a:rPr>
                        <m:t> </m:t>
                      </m:r>
                      <m:d>
                        <m:dPr>
                          <m:ctrlPr>
                            <a:rPr lang="en-US" altLang="zh-CN" sz="1400" b="1" i="1" dirty="0">
                              <a:solidFill>
                                <a:schemeClr val="tx1"/>
                              </a:solidFill>
                              <a:latin typeface="Cambria Math" panose="02040503050406030204" pitchFamily="18" charset="0"/>
                            </a:rPr>
                          </m:ctrlPr>
                        </m:dPr>
                        <m:e>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𝑥</m:t>
                              </m:r>
                            </m:sub>
                            <m:sup>
                              <m:r>
                                <a:rPr lang="en-US" altLang="zh-CN" sz="1400" b="0" i="1" dirty="0">
                                  <a:solidFill>
                                    <a:schemeClr val="tx1"/>
                                  </a:solidFill>
                                  <a:latin typeface="Cambria Math" panose="02040503050406030204" pitchFamily="18" charset="0"/>
                                </a:rPr>
                                <m:t>+</m:t>
                              </m:r>
                            </m:sup>
                          </m:sSubSup>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𝑦</m:t>
                              </m:r>
                            </m:sub>
                            <m:sup>
                              <m:r>
                                <a:rPr lang="en-US" altLang="zh-CN" sz="1400" b="0" i="1" dirty="0">
                                  <a:solidFill>
                                    <a:schemeClr val="tx1"/>
                                  </a:solidFill>
                                  <a:latin typeface="Cambria Math" panose="02040503050406030204" pitchFamily="18" charset="0"/>
                                </a:rPr>
                                <m:t>+</m:t>
                              </m:r>
                            </m:sup>
                          </m:sSubSup>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𝑧</m:t>
                              </m:r>
                            </m:sub>
                            <m:sup>
                              <m:r>
                                <a:rPr lang="en-US" altLang="zh-CN" sz="1400" b="0" i="1" dirty="0">
                                  <a:solidFill>
                                    <a:schemeClr val="tx1"/>
                                  </a:solidFill>
                                  <a:latin typeface="Cambria Math" panose="02040503050406030204" pitchFamily="18" charset="0"/>
                                </a:rPr>
                                <m:t>+</m:t>
                              </m:r>
                            </m:sup>
                          </m:sSubSup>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𝑧</m:t>
                              </m:r>
                            </m:sub>
                          </m:sSub>
                        </m:e>
                      </m:d>
                      <m:f>
                        <m:fPr>
                          <m:ctrlPr>
                            <a:rPr lang="en-US" altLang="zh-CN" sz="1400" b="1" i="1" dirty="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rad>
                            <m:radPr>
                              <m:degHide m:val="on"/>
                              <m:ctrlPr>
                                <a:rPr lang="en-US" altLang="zh-CN" sz="1400" b="1" i="1" dirty="0" smtClean="0">
                                  <a:solidFill>
                                    <a:schemeClr val="tx1"/>
                                  </a:solidFill>
                                  <a:latin typeface="Cambria Math" panose="02040503050406030204" pitchFamily="18" charset="0"/>
                                </a:rPr>
                              </m:ctrlPr>
                            </m:radPr>
                            <m:deg/>
                            <m:e>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up>
                                  <m:r>
                                    <a:rPr lang="en-US" altLang="zh-CN" sz="1400" b="0" i="1" dirty="0">
                                      <a:solidFill>
                                        <a:schemeClr val="tx1"/>
                                      </a:solidFill>
                                      <a:latin typeface="Cambria Math" panose="02040503050406030204" pitchFamily="18" charset="0"/>
                                    </a:rPr>
                                    <m:t>2</m:t>
                                  </m:r>
                                </m:sup>
                              </m:sSubSup>
                              <m:r>
                                <a:rPr lang="en-US" altLang="zh-CN" sz="1400" b="0" i="1" dirty="0">
                                  <a:solidFill>
                                    <a:schemeClr val="tx1"/>
                                  </a:solidFill>
                                  <a:latin typeface="Cambria Math" panose="02040503050406030204" pitchFamily="18" charset="0"/>
                                </a:rPr>
                                <m:t>+</m:t>
                              </m:r>
                              <m:r>
                                <a:rPr lang="en-US" altLang="zh-CN" sz="1400" b="0" i="1" dirty="0">
                                  <a:solidFill>
                                    <a:schemeClr val="tx1"/>
                                  </a:solidFill>
                                  <a:latin typeface="Cambria Math" panose="02040503050406030204" pitchFamily="18" charset="0"/>
                                </a:rPr>
                                <m:t>1</m:t>
                              </m:r>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up>
                                  <m:r>
                                    <a:rPr lang="en-US" altLang="zh-CN" sz="1400" b="0" i="1" dirty="0">
                                      <a:solidFill>
                                        <a:schemeClr val="tx1"/>
                                      </a:solidFill>
                                      <a:latin typeface="Cambria Math" panose="02040503050406030204" pitchFamily="18" charset="0"/>
                                    </a:rPr>
                                    <m:t>2</m:t>
                                  </m:r>
                                </m:sup>
                              </m:sSubSup>
                            </m:e>
                          </m:rad>
                        </m:den>
                      </m:f>
                    </m:oMath>
                  </m:oMathPara>
                </a14:m>
                <a:endParaRPr lang="en-US" altLang="zh-CN" sz="1400" b="1"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zh-CN" altLang="en-US" sz="1400" b="1" i="1" dirty="0">
                          <a:solidFill>
                            <a:schemeClr val="tx1"/>
                          </a:solidFill>
                          <a:latin typeface="Cambria Math" panose="02040503050406030204" pitchFamily="18" charset="0"/>
                        </a:rPr>
                        <m:t>代入后得到</m:t>
                      </m:r>
                      <m:r>
                        <a:rPr lang="zh-CN" altLang="en-US" sz="1400" b="1" i="1" dirty="0">
                          <a:solidFill>
                            <a:schemeClr val="tx1"/>
                          </a:solidFill>
                          <a:latin typeface="Cambria Math" panose="02040503050406030204" pitchFamily="18" charset="0"/>
                        </a:rPr>
                        <m:t>：</m:t>
                      </m:r>
                      <m:nary>
                        <m:naryPr>
                          <m:supHide m:val="on"/>
                          <m:ctrlPr>
                            <a:rPr lang="en-US" altLang="zh-CN" sz="1400" i="1" dirty="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err="1">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e>
                      </m:nary>
                      <m:r>
                        <a:rPr lang="en-US" altLang="zh-CN" sz="1400" i="1" dirty="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p>
                        <m:e>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p>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𝑥</m:t>
                                      </m:r>
                                    </m:sub>
                                    <m:sup>
                                      <m:r>
                                        <a:rPr lang="en-US" altLang="zh-CN" sz="1400" b="0" i="1" dirty="0">
                                          <a:solidFill>
                                            <a:schemeClr val="tx1"/>
                                          </a:solidFill>
                                          <a:latin typeface="Cambria Math" panose="02040503050406030204" pitchFamily="18" charset="0"/>
                                        </a:rPr>
                                        <m:t>+</m:t>
                                      </m:r>
                                    </m:sup>
                                  </m:sSubSup>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𝑦</m:t>
                                      </m:r>
                                    </m:sub>
                                    <m:sup>
                                      <m:r>
                                        <a:rPr lang="en-US" altLang="zh-CN" sz="1400" b="0" i="1" dirty="0">
                                          <a:solidFill>
                                            <a:schemeClr val="tx1"/>
                                          </a:solidFill>
                                          <a:latin typeface="Cambria Math" panose="02040503050406030204" pitchFamily="18" charset="0"/>
                                        </a:rPr>
                                        <m:t>+</m:t>
                                      </m:r>
                                    </m:sup>
                                  </m:sSubSup>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𝑧</m:t>
                                      </m:r>
                                    </m:sub>
                                    <m:sup>
                                      <m:r>
                                        <a:rPr lang="en-US" altLang="zh-CN" sz="1400" b="0" i="1" dirty="0">
                                          <a:solidFill>
                                            <a:schemeClr val="tx1"/>
                                          </a:solidFill>
                                          <a:latin typeface="Cambria Math" panose="02040503050406030204" pitchFamily="18" charset="0"/>
                                        </a:rPr>
                                        <m:t>+</m:t>
                                      </m:r>
                                    </m:sup>
                                  </m:sSubSup>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𝑧</m:t>
                                      </m:r>
                                    </m:sub>
                                  </m:sSub>
                                </m:e>
                              </m:d>
                              <m:r>
                                <a:rPr lang="en-US" altLang="zh-CN" sz="1400" b="0" i="1" dirty="0" smtClean="0">
                                  <a:solidFill>
                                    <a:schemeClr val="tx1"/>
                                  </a:solidFill>
                                  <a:latin typeface="Cambria Math" panose="02040503050406030204" pitchFamily="18" charset="0"/>
                                </a:rPr>
                                <m:t> </m:t>
                              </m:r>
                              <m:d>
                                <m:dPr>
                                  <m:ctrlPr>
                                    <a:rPr lang="en-US" altLang="zh-CN" sz="1400" b="1" i="1" dirty="0">
                                      <a:solidFill>
                                        <a:schemeClr val="tx1"/>
                                      </a:solidFill>
                                      <a:latin typeface="Cambria Math" panose="02040503050406030204" pitchFamily="18" charset="0"/>
                                    </a:rPr>
                                  </m:ctrlPr>
                                </m:dPr>
                                <m:e>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𝑥</m:t>
                                      </m:r>
                                    </m:sub>
                                    <m:sup>
                                      <m:r>
                                        <a:rPr lang="en-US" altLang="zh-CN" sz="1400" b="0" i="1" dirty="0">
                                          <a:solidFill>
                                            <a:schemeClr val="tx1"/>
                                          </a:solidFill>
                                          <a:latin typeface="Cambria Math" panose="02040503050406030204" pitchFamily="18" charset="0"/>
                                        </a:rPr>
                                        <m:t>+</m:t>
                                      </m:r>
                                    </m:sup>
                                  </m:sSubSup>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𝑦</m:t>
                                      </m:r>
                                    </m:sub>
                                    <m:sup>
                                      <m:r>
                                        <a:rPr lang="en-US" altLang="zh-CN" sz="1400" b="0" i="1" dirty="0">
                                          <a:solidFill>
                                            <a:schemeClr val="tx1"/>
                                          </a:solidFill>
                                          <a:latin typeface="Cambria Math" panose="02040503050406030204" pitchFamily="18" charset="0"/>
                                        </a:rPr>
                                        <m:t>+</m:t>
                                      </m:r>
                                    </m:sup>
                                  </m:sSubSup>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𝑧</m:t>
                                      </m:r>
                                    </m:sub>
                                    <m:sup>
                                      <m:r>
                                        <a:rPr lang="en-US" altLang="zh-CN" sz="1400" b="0" i="1" dirty="0">
                                          <a:solidFill>
                                            <a:schemeClr val="tx1"/>
                                          </a:solidFill>
                                          <a:latin typeface="Cambria Math" panose="02040503050406030204" pitchFamily="18" charset="0"/>
                                        </a:rPr>
                                        <m:t>+</m:t>
                                      </m:r>
                                    </m:sup>
                                  </m:sSubSup>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𝑧</m:t>
                                      </m:r>
                                    </m:sub>
                                  </m:sSub>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22</m:t>
                                  </m:r>
                                </m:sup>
                              </m:sSup>
                              <m:d>
                                <m:dPr>
                                  <m:ctrlPr>
                                    <a:rPr lang="en-US" altLang="zh-CN" sz="1400"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r>
                                <a:rPr lang="en-US" altLang="zh-CN" sz="140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nary>
                        </m:e>
                      </m:nary>
                    </m:oMath>
                  </m:oMathPara>
                </a14:m>
                <a:endParaRPr lang="en-US" altLang="zh-CN" sz="1400" b="1"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F78E33D3-7A39-610F-48F5-FE276E873BFA}"/>
                  </a:ext>
                </a:extLst>
              </p:cNvPr>
              <p:cNvSpPr>
                <a:spLocks noRot="1" noChangeAspect="1" noMove="1" noResize="1" noEditPoints="1" noAdjustHandles="1" noChangeArrowheads="1" noChangeShapeType="1" noTextEdit="1"/>
              </p:cNvSpPr>
              <p:nvPr/>
            </p:nvSpPr>
            <p:spPr>
              <a:xfrm>
                <a:off x="368712" y="1144044"/>
                <a:ext cx="11286756" cy="540280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41916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09DEB-7AAD-708F-AD06-98D982C67EF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3C86561E-5FA4-99F6-4230-6DD1C3D7D889}"/>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sSub>
                      <m:sSubPr>
                        <m:ctrlPr>
                          <a:rPr lang="en-US" altLang="zh-CN" sz="3200" b="0" i="1" dirty="0" smtClean="0">
                            <a:solidFill>
                              <a:schemeClr val="tx1"/>
                            </a:solidFill>
                            <a:latin typeface="Cambria Math" panose="02040503050406030204" pitchFamily="18" charset="0"/>
                          </a:rPr>
                        </m:ctrlPr>
                      </m:sSubPr>
                      <m:e>
                        <m:r>
                          <a:rPr lang="en-US" altLang="zh-CN" sz="3200" b="0" i="1" dirty="0" smtClean="0">
                            <a:solidFill>
                              <a:schemeClr val="tx1"/>
                            </a:solidFill>
                            <a:latin typeface="Cambria Math" panose="02040503050406030204" pitchFamily="18" charset="0"/>
                          </a:rPr>
                          <m:t>𝐺</m:t>
                        </m:r>
                      </m:e>
                      <m:sub>
                        <m:r>
                          <a:rPr lang="en-US" altLang="zh-CN" sz="3200" b="0" i="1" dirty="0" smtClean="0">
                            <a:solidFill>
                              <a:schemeClr val="tx1"/>
                            </a:solidFill>
                            <a:latin typeface="Cambria Math" panose="02040503050406030204" pitchFamily="18" charset="0"/>
                          </a:rPr>
                          <m:t>1</m:t>
                        </m:r>
                      </m:sub>
                    </m:sSub>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𝒐</m:t>
                        </m:r>
                        <m:r>
                          <a:rPr lang="en-US" altLang="zh-CN" sz="3200" b="0" i="1" dirty="0" smtClean="0">
                            <a:solidFill>
                              <a:schemeClr val="tx1"/>
                            </a:solidFill>
                            <a:latin typeface="Cambria Math" panose="02040503050406030204" pitchFamily="18" charset="0"/>
                          </a:rPr>
                          <m:t>,</m:t>
                        </m:r>
                        <m:r>
                          <a:rPr lang="en-US" altLang="zh-CN" sz="3200" b="1" i="1" dirty="0" smtClean="0">
                            <a:solidFill>
                              <a:schemeClr val="tx1"/>
                            </a:solidFill>
                            <a:latin typeface="Cambria Math" panose="02040503050406030204" pitchFamily="18" charset="0"/>
                          </a:rPr>
                          <m:t>𝒎</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8BADD618-E6D5-765A-C504-E6437F242A0F}"/>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864" b="-7627"/>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3FBD0684-30E3-9A08-FDB1-3EE27C856CCC}"/>
              </a:ext>
            </a:extLst>
          </p:cNvPr>
          <p:cNvSpPr/>
          <p:nvPr/>
        </p:nvSpPr>
        <p:spPr>
          <a:xfrm>
            <a:off x="521112" y="1315233"/>
            <a:ext cx="11286756"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452F8DD3-C88C-8A4F-B497-D5BE1B7DD96F}"/>
                  </a:ext>
                </a:extLst>
              </p:cNvPr>
              <p:cNvSpPr/>
              <p:nvPr/>
            </p:nvSpPr>
            <p:spPr>
              <a:xfrm>
                <a:off x="368712" y="1144044"/>
                <a:ext cx="11286756"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14:m>
                  <m:oMathPara xmlns:m="http://schemas.openxmlformats.org/officeDocument/2006/math">
                    <m:oMathParaPr>
                      <m:jc m:val="centerGroup"/>
                    </m:oMathParaPr>
                    <m:oMath xmlns:m="http://schemas.openxmlformats.org/officeDocument/2006/math">
                      <m:nary>
                        <m:naryPr>
                          <m:supHide m:val="on"/>
                          <m:ctrlPr>
                            <a:rPr lang="en-US" altLang="zh-CN" sz="1400" i="1" dirty="0" smtClean="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err="1">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e>
                      </m:nary>
                      <m:r>
                        <a:rPr lang="en-US" altLang="zh-CN" sz="1400" i="1" dirty="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𝑥</m:t>
                                      </m:r>
                                    </m:sub>
                                    <m:sup>
                                      <m:r>
                                        <a:rPr lang="en-US" altLang="zh-CN" sz="1400" b="0" i="1" dirty="0">
                                          <a:solidFill>
                                            <a:schemeClr val="tx1"/>
                                          </a:solidFill>
                                          <a:latin typeface="Cambria Math" panose="02040503050406030204" pitchFamily="18" charset="0"/>
                                        </a:rPr>
                                        <m:t>+</m:t>
                                      </m:r>
                                    </m:sup>
                                  </m:sSubSup>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𝑦</m:t>
                                      </m:r>
                                    </m:sub>
                                    <m:sup>
                                      <m:r>
                                        <a:rPr lang="en-US" altLang="zh-CN" sz="1400" b="0" i="1" dirty="0">
                                          <a:solidFill>
                                            <a:schemeClr val="tx1"/>
                                          </a:solidFill>
                                          <a:latin typeface="Cambria Math" panose="02040503050406030204" pitchFamily="18" charset="0"/>
                                        </a:rPr>
                                        <m:t>+</m:t>
                                      </m:r>
                                    </m:sup>
                                  </m:sSubSup>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𝑧</m:t>
                                      </m:r>
                                    </m:sub>
                                    <m:sup>
                                      <m:r>
                                        <a:rPr lang="en-US" altLang="zh-CN" sz="1400" b="0" i="1" dirty="0">
                                          <a:solidFill>
                                            <a:schemeClr val="tx1"/>
                                          </a:solidFill>
                                          <a:latin typeface="Cambria Math" panose="02040503050406030204" pitchFamily="18" charset="0"/>
                                        </a:rPr>
                                        <m:t>+</m:t>
                                      </m:r>
                                    </m:sup>
                                  </m:sSubSup>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𝑧</m:t>
                                      </m:r>
                                    </m:sub>
                                  </m:sSub>
                                </m:e>
                              </m:d>
                              <m:r>
                                <a:rPr lang="en-US" altLang="zh-CN" sz="1400" b="0" i="1" dirty="0" smtClean="0">
                                  <a:solidFill>
                                    <a:schemeClr val="tx1"/>
                                  </a:solidFill>
                                  <a:latin typeface="Cambria Math" panose="02040503050406030204" pitchFamily="18" charset="0"/>
                                </a:rPr>
                                <m:t> </m:t>
                              </m:r>
                              <m:d>
                                <m:dPr>
                                  <m:ctrlPr>
                                    <a:rPr lang="en-US" altLang="zh-CN" sz="1400" b="1" i="1" dirty="0">
                                      <a:solidFill>
                                        <a:schemeClr val="tx1"/>
                                      </a:solidFill>
                                      <a:latin typeface="Cambria Math" panose="02040503050406030204" pitchFamily="18" charset="0"/>
                                    </a:rPr>
                                  </m:ctrlPr>
                                </m:dPr>
                                <m:e>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𝑥</m:t>
                                      </m:r>
                                    </m:sub>
                                    <m:sup>
                                      <m:r>
                                        <a:rPr lang="en-US" altLang="zh-CN" sz="1400" b="0" i="1" dirty="0">
                                          <a:solidFill>
                                            <a:schemeClr val="tx1"/>
                                          </a:solidFill>
                                          <a:latin typeface="Cambria Math" panose="02040503050406030204" pitchFamily="18" charset="0"/>
                                        </a:rPr>
                                        <m:t>+</m:t>
                                      </m:r>
                                    </m:sup>
                                  </m:sSubSup>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𝑦</m:t>
                                      </m:r>
                                    </m:sub>
                                    <m:sup>
                                      <m:r>
                                        <a:rPr lang="en-US" altLang="zh-CN" sz="1400" b="0" i="1" dirty="0">
                                          <a:solidFill>
                                            <a:schemeClr val="tx1"/>
                                          </a:solidFill>
                                          <a:latin typeface="Cambria Math" panose="02040503050406030204" pitchFamily="18" charset="0"/>
                                        </a:rPr>
                                        <m:t>+</m:t>
                                      </m:r>
                                    </m:sup>
                                  </m:sSubSup>
                                  <m:r>
                                    <a:rPr lang="en-US" altLang="zh-CN" sz="1400" b="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𝑜</m:t>
                                      </m:r>
                                    </m:e>
                                    <m:sub>
                                      <m:r>
                                        <a:rPr lang="en-US" altLang="zh-CN" sz="1400" b="0" i="1" dirty="0">
                                          <a:solidFill>
                                            <a:schemeClr val="tx1"/>
                                          </a:solidFill>
                                          <a:latin typeface="Cambria Math" panose="02040503050406030204" pitchFamily="18" charset="0"/>
                                        </a:rPr>
                                        <m:t>𝑧</m:t>
                                      </m:r>
                                    </m:sub>
                                    <m:sup>
                                      <m:r>
                                        <a:rPr lang="en-US" altLang="zh-CN" sz="1400" b="0" i="1" dirty="0">
                                          <a:solidFill>
                                            <a:schemeClr val="tx1"/>
                                          </a:solidFill>
                                          <a:latin typeface="Cambria Math" panose="02040503050406030204" pitchFamily="18" charset="0"/>
                                        </a:rPr>
                                        <m:t>+</m:t>
                                      </m:r>
                                    </m:sup>
                                  </m:sSubSup>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𝑧</m:t>
                                      </m:r>
                                    </m:sub>
                                  </m:sSub>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22</m:t>
                                  </m:r>
                                </m:sup>
                              </m:sSup>
                              <m:d>
                                <m:dPr>
                                  <m:ctrlPr>
                                    <a:rPr lang="en-US" altLang="zh-CN" sz="1400"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r>
                                <a:rPr lang="en-US" altLang="zh-CN" sz="140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nary>
                        </m:e>
                      </m:nary>
                    </m:oMath>
                  </m:oMathPara>
                </a14:m>
                <a:endParaRPr lang="en-US" altLang="zh-CN" sz="14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为方便计算，且不丢失通用性，我们假设</m:t>
                      </m:r>
                      <m:sSup>
                        <m:sSupPr>
                          <m:ctrlPr>
                            <a:rPr lang="en-US" altLang="zh-CN" sz="1400" b="1" i="1" dirty="0" smtClean="0">
                              <a:solidFill>
                                <a:schemeClr val="tx1"/>
                              </a:solidFill>
                              <a:latin typeface="Cambria Math" panose="02040503050406030204" pitchFamily="18" charset="0"/>
                            </a:rPr>
                          </m:ctrlPr>
                        </m:sSupPr>
                        <m:e>
                          <m:r>
                            <a:rPr lang="en-US" altLang="zh-CN" sz="1400" b="1" i="1" dirty="0" smtClean="0">
                              <a:solidFill>
                                <a:schemeClr val="tx1"/>
                              </a:solidFill>
                              <a:latin typeface="Cambria Math" panose="02040503050406030204" pitchFamily="18" charset="0"/>
                            </a:rPr>
                            <m:t>𝒐</m:t>
                          </m:r>
                        </m:e>
                        <m:sup>
                          <m:r>
                            <a:rPr lang="en-US" altLang="zh-CN" sz="1400" b="1" i="1" dirty="0" smtClean="0">
                              <a:solidFill>
                                <a:schemeClr val="tx1"/>
                              </a:solidFill>
                              <a:latin typeface="Cambria Math" panose="02040503050406030204" pitchFamily="18" charset="0"/>
                            </a:rPr>
                            <m:t>+</m:t>
                          </m:r>
                        </m:sup>
                      </m:sSup>
                      <m:r>
                        <a:rPr lang="zh-CN" altLang="en-US" sz="1400" b="1" i="1" dirty="0">
                          <a:solidFill>
                            <a:schemeClr val="tx1"/>
                          </a:solidFill>
                          <a:latin typeface="Cambria Math" panose="02040503050406030204" pitchFamily="18" charset="0"/>
                        </a:rPr>
                        <m:t>在</m:t>
                      </m:r>
                      <m:r>
                        <a:rPr lang="en-US" altLang="zh-CN" sz="1400" b="0" i="1" dirty="0" smtClean="0">
                          <a:solidFill>
                            <a:schemeClr val="tx1"/>
                          </a:solidFill>
                          <a:latin typeface="Cambria Math" panose="02040503050406030204" pitchFamily="18" charset="0"/>
                        </a:rPr>
                        <m:t>𝑥𝑦</m:t>
                      </m:r>
                      <m:r>
                        <a:rPr lang="zh-CN" altLang="en-US" sz="1400" b="1" i="1" dirty="0">
                          <a:solidFill>
                            <a:schemeClr val="tx1"/>
                          </a:solidFill>
                          <a:latin typeface="Cambria Math" panose="02040503050406030204" pitchFamily="18" charset="0"/>
                        </a:rPr>
                        <m:t>平面</m:t>
                      </m:r>
                      <m:r>
                        <a:rPr lang="zh-CN" altLang="en-US" sz="1400" b="1" i="1" dirty="0" smtClean="0">
                          <a:solidFill>
                            <a:schemeClr val="tx1"/>
                          </a:solidFill>
                          <a:latin typeface="Cambria Math" panose="02040503050406030204" pitchFamily="18" charset="0"/>
                        </a:rPr>
                        <m:t>上</m:t>
                      </m:r>
                      <m:r>
                        <a:rPr lang="zh-CN" altLang="en-US" sz="1400" b="1" i="1" dirty="0">
                          <a:solidFill>
                            <a:schemeClr val="tx1"/>
                          </a:solidFill>
                          <a:latin typeface="Cambria Math" panose="02040503050406030204" pitchFamily="18" charset="0"/>
                        </a:rPr>
                        <m:t>，即</m:t>
                      </m:r>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b="1" i="1" dirty="0" smtClean="0">
                          <a:solidFill>
                            <a:schemeClr val="tx1"/>
                          </a:solidFill>
                          <a:latin typeface="Cambria Math" panose="02040503050406030204" pitchFamily="18" charset="0"/>
                        </a:rPr>
                        <m:t>=</m:t>
                      </m:r>
                      <m:d>
                        <m:dPr>
                          <m:ctrlPr>
                            <a:rPr lang="en-US" altLang="zh-CN" sz="1400" b="1" i="1" dirty="0" smtClean="0">
                              <a:solidFill>
                                <a:schemeClr val="tx1"/>
                              </a:solidFill>
                              <a:latin typeface="Cambria Math" panose="02040503050406030204" pitchFamily="18" charset="0"/>
                            </a:rPr>
                          </m:ctrlPr>
                        </m:dPr>
                        <m:e>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sSubSup>
                                <m:sSubSupPr>
                                  <m:ctrlPr>
                                    <a:rPr lang="en-US" altLang="zh-CN" sz="1400" b="0" i="1" dirty="0" smtClean="0">
                                      <a:solidFill>
                                        <a:schemeClr val="tx1"/>
                                      </a:solidFill>
                                      <a:latin typeface="Cambria Math" panose="02040503050406030204" pitchFamily="18" charset="0"/>
                                    </a:rPr>
                                  </m:ctrlPr>
                                </m:sSubSup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e>
                          </m:func>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sSubSup>
                                <m:sSubSupPr>
                                  <m:ctrlPr>
                                    <a:rPr lang="en-US" altLang="zh-CN" sz="1400" b="0" i="1" dirty="0" smtClean="0">
                                      <a:solidFill>
                                        <a:schemeClr val="tx1"/>
                                      </a:solidFill>
                                      <a:latin typeface="Cambria Math" panose="02040503050406030204" pitchFamily="18" charset="0"/>
                                    </a:rPr>
                                  </m:ctrlPr>
                                </m:sSubSup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e>
                          </m:func>
                          <m:r>
                            <a:rPr lang="en-US" altLang="zh-CN" sz="1400" b="1"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0</m:t>
                          </m:r>
                        </m:e>
                      </m:d>
                      <m:r>
                        <a:rPr lang="en-US" altLang="zh-CN" sz="1400" b="1" i="1" dirty="0" smtClean="0">
                          <a:solidFill>
                            <a:schemeClr val="tx1"/>
                          </a:solidFill>
                          <a:latin typeface="Cambria Math" panose="02040503050406030204" pitchFamily="18" charset="0"/>
                        </a:rPr>
                        <m:t>,  </m:t>
                      </m:r>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r>
                        <a:rPr lang="zh-CN" altLang="en-US" sz="1400" i="1" dirty="0" smtClean="0">
                          <a:solidFill>
                            <a:schemeClr val="tx1"/>
                          </a:solidFill>
                          <a:latin typeface="Cambria Math" panose="02040503050406030204" pitchFamily="18" charset="0"/>
                        </a:rPr>
                        <m:t>为</m:t>
                      </m:r>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zh-CN" altLang="en-US" sz="1400" b="1" i="1" dirty="0" smtClean="0">
                          <a:solidFill>
                            <a:schemeClr val="tx1"/>
                          </a:solidFill>
                          <a:latin typeface="Cambria Math" panose="02040503050406030204" pitchFamily="18" charset="0"/>
                        </a:rPr>
                        <m:t>与</m:t>
                      </m:r>
                      <m:r>
                        <a:rPr lang="en-US" altLang="zh-CN" sz="1400" b="1" i="1" dirty="0" smtClean="0">
                          <a:solidFill>
                            <a:schemeClr val="tx1"/>
                          </a:solidFill>
                          <a:latin typeface="Cambria Math" panose="02040503050406030204" pitchFamily="18" charset="0"/>
                        </a:rPr>
                        <m:t>𝒈</m:t>
                      </m:r>
                      <m:r>
                        <a:rPr lang="zh-CN" altLang="en-US" sz="1400" b="1" i="1" dirty="0">
                          <a:solidFill>
                            <a:schemeClr val="tx1"/>
                          </a:solidFill>
                          <a:latin typeface="Cambria Math" panose="02040503050406030204" pitchFamily="18" charset="0"/>
                        </a:rPr>
                        <m:t>的</m:t>
                      </m:r>
                      <m:r>
                        <a:rPr lang="zh-CN" altLang="en-US" sz="1400" b="1" i="1" dirty="0" smtClean="0">
                          <a:solidFill>
                            <a:schemeClr val="tx1"/>
                          </a:solidFill>
                          <a:latin typeface="Cambria Math" panose="02040503050406030204" pitchFamily="18" charset="0"/>
                        </a:rPr>
                        <m:t>夹角</m:t>
                      </m:r>
                      <m:r>
                        <a:rPr lang="en-US" altLang="zh-CN" sz="1400" b="0" i="1" dirty="0" smtClean="0">
                          <a:solidFill>
                            <a:schemeClr val="tx1"/>
                          </a:solidFill>
                          <a:latin typeface="Cambria Math" panose="02040503050406030204" pitchFamily="18" charset="0"/>
                        </a:rPr>
                        <m:t>,  </m:t>
                      </m:r>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0,</m:t>
                          </m:r>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𝜋</m:t>
                              </m:r>
                            </m:num>
                            <m:den>
                              <m:r>
                                <a:rPr lang="en-US" altLang="zh-CN" sz="1400" b="0" i="1" dirty="0" smtClean="0">
                                  <a:solidFill>
                                    <a:schemeClr val="tx1"/>
                                  </a:solidFill>
                                  <a:latin typeface="Cambria Math" panose="02040503050406030204" pitchFamily="18" charset="0"/>
                                </a:rPr>
                                <m:t>2</m:t>
                              </m:r>
                            </m:den>
                          </m:f>
                        </m:e>
                      </m:d>
                    </m:oMath>
                  </m:oMathPara>
                </a14:m>
                <a:endParaRPr lang="en-US" altLang="zh-CN" sz="1400" b="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nary>
                        <m:naryPr>
                          <m:supHide m:val="on"/>
                          <m:ctrlPr>
                            <a:rPr lang="en-US" altLang="zh-CN" sz="1400" i="1" dirty="0" smtClean="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err="1">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e>
                      </m:nary>
                      <m:r>
                        <a:rPr lang="en-US" altLang="zh-CN" sz="1400" i="1" dirty="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e>
                                  </m:func>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e>
                                  </m:func>
                                </m:e>
                              </m:d>
                              <m:r>
                                <a:rPr lang="en-US" altLang="zh-CN" sz="1400" b="0" i="1" dirty="0" smtClean="0">
                                  <a:solidFill>
                                    <a:schemeClr val="tx1"/>
                                  </a:solidFill>
                                  <a:latin typeface="Cambria Math" panose="02040503050406030204" pitchFamily="18" charset="0"/>
                                </a:rPr>
                                <m:t> </m:t>
                              </m:r>
                              <m:d>
                                <m:dPr>
                                  <m:ctrlPr>
                                    <a:rPr lang="en-US" altLang="zh-CN" sz="1400" b="1"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a:rPr lang="en-US" altLang="zh-CN" sz="1400" b="0" i="1" dirty="0">
                                          <a:solidFill>
                                            <a:schemeClr val="tx1"/>
                                          </a:solidFill>
                                          <a:latin typeface="Cambria Math" panose="02040503050406030204" pitchFamily="18" charset="0"/>
                                        </a:rPr>
                                        <m:t>𝑠𝑖𝑛</m:t>
                                      </m:r>
                                    </m:fName>
                                    <m:e>
                                      <m:sSubSup>
                                        <m:sSubSupPr>
                                          <m:ctrlPr>
                                            <a:rPr lang="en-US" altLang="zh-CN" sz="1400" b="0" i="1" dirty="0" smtClean="0">
                                              <a:solidFill>
                                                <a:schemeClr val="tx1"/>
                                              </a:solidFill>
                                              <a:latin typeface="Cambria Math" panose="02040503050406030204" pitchFamily="18" charset="0"/>
                                            </a:rPr>
                                          </m:ctrlPr>
                                        </m:sSubSupPr>
                                        <m:e>
                                          <m:r>
                                            <a:rPr lang="en-US" altLang="zh-CN" sz="1400" b="0" i="1" dirty="0">
                                              <a:solidFill>
                                                <a:schemeClr val="tx1"/>
                                              </a:solidFill>
                                              <a:latin typeface="Cambria Math" panose="02040503050406030204" pitchFamily="18" charset="0"/>
                                            </a:rPr>
                                            <m:t>𝜃</m:t>
                                          </m:r>
                                        </m:e>
                                        <m:sub>
                                          <m:r>
                                            <a:rPr lang="en-US" altLang="zh-CN" sz="1400" b="0" i="1" dirty="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e>
                                  </m:func>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e>
                                  </m:func>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smtClean="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e>
                              </m:d>
                              <m:r>
                                <a:rPr lang="en-US" altLang="zh-CN" sz="140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e>
                          </m:nary>
                          <m:r>
                            <a:rPr lang="en-US" altLang="zh-CN" sz="1400" b="0" i="1" dirty="0" smtClean="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𝑥</m:t>
                              </m:r>
                            </m:sub>
                          </m:sSub>
                        </m:e>
                      </m:nary>
                      <m:r>
                        <a:rPr lang="en-US" altLang="zh-CN" sz="1400" b="1" i="1" dirty="0" smtClean="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d>
                            <m:dPr>
                              <m:ctrlPr>
                                <a:rPr lang="en-US" altLang="zh-CN" sz="1400" b="1"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a:rPr lang="en-US" altLang="zh-CN" sz="1400" i="1" dirty="0">
                                      <a:solidFill>
                                        <a:schemeClr val="tx1"/>
                                      </a:solidFill>
                                      <a:latin typeface="Cambria Math" panose="02040503050406030204" pitchFamily="18" charset="0"/>
                                    </a:rPr>
                                    <m:t>𝑠𝑖𝑛</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d>
                            <m:dPr>
                              <m:ctrlPr>
                                <a:rPr lang="en-US" altLang="zh-CN" sz="1400" b="0" i="1" dirty="0" smtClean="0">
                                  <a:solidFill>
                                    <a:schemeClr val="tx1"/>
                                  </a:solidFill>
                                  <a:latin typeface="Cambria Math" panose="02040503050406030204" pitchFamily="18" charset="0"/>
                                </a:rPr>
                              </m:ctrlPr>
                            </m:dPr>
                            <m:e>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𝑧</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𝑧</m:t>
                                      </m:r>
                                    </m:sub>
                                  </m:sSub>
                                </m:e>
                              </m:nary>
                            </m:e>
                          </m:d>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1" i="1" dirty="0" smtClean="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a:rPr lang="en-US" altLang="zh-CN" sz="1400" i="1" dirty="0">
                                      <a:solidFill>
                                        <a:schemeClr val="tx1"/>
                                      </a:solidFill>
                                      <a:latin typeface="Cambria Math" panose="02040503050406030204" pitchFamily="18" charset="0"/>
                                    </a:rPr>
                                    <m:t>𝑠𝑖𝑛</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d>
                            <m:dPr>
                              <m:ctrlPr>
                                <a:rPr lang="en-US" altLang="zh-CN" sz="1400" b="1"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a:rPr lang="en-US" altLang="zh-CN" sz="1400" i="1" dirty="0">
                                      <a:solidFill>
                                        <a:schemeClr val="tx1"/>
                                      </a:solidFill>
                                      <a:latin typeface="Cambria Math" panose="02040503050406030204" pitchFamily="18" charset="0"/>
                                    </a:rPr>
                                    <m:t>𝑠𝑖𝑛</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b="0" i="1" dirty="0" smtClean="0">
                              <a:solidFill>
                                <a:schemeClr val="tx1"/>
                              </a:solidFill>
                              <a:latin typeface="Cambria Math" panose="02040503050406030204" pitchFamily="18" charset="0"/>
                            </a:rPr>
                            <m:t> </m:t>
                          </m:r>
                          <m:sSup>
                            <m:sSupPr>
                              <m:ctrlPr>
                                <a:rPr lang="en-US" altLang="zh-CN" sz="1400" b="0" i="1" dirty="0" smtClean="0">
                                  <a:solidFill>
                                    <a:schemeClr val="tx1"/>
                                  </a:solidFill>
                                  <a:latin typeface="Cambria Math" panose="02040503050406030204" pitchFamily="18" charset="0"/>
                                </a:rPr>
                              </m:ctrlPr>
                            </m:sSupPr>
                            <m:e>
                              <m:r>
                                <a:rPr lang="en-US" altLang="zh-CN" sz="1400" i="1" dirty="0" smtClean="0">
                                  <a:solidFill>
                                    <a:schemeClr val="tx1"/>
                                  </a:solidFill>
                                  <a:latin typeface="Cambria Math" panose="02040503050406030204" pitchFamily="18" charset="0"/>
                                </a:rPr>
                                <m:t>𝑃</m:t>
                              </m:r>
                            </m:e>
                            <m:sup>
                              <m:r>
                                <a:rPr lang="en-US" altLang="zh-CN" sz="1400" b="0" i="1" dirty="0" smtClean="0">
                                  <a:solidFill>
                                    <a:schemeClr val="tx1"/>
                                  </a:solidFill>
                                  <a:latin typeface="Cambria Math" panose="02040503050406030204" pitchFamily="18" charset="0"/>
                                </a:rPr>
                                <m:t>2−</m:t>
                              </m:r>
                            </m:sup>
                          </m:sSup>
                          <m:d>
                            <m:dPr>
                              <m:ctrlPr>
                                <a:rPr lang="en-US" altLang="zh-CN" sz="1400" i="1" dirty="0" smtClean="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oMath>
                  </m:oMathPara>
                </a14:m>
                <a:endParaRPr lang="en-US" altLang="zh-CN" sz="1400" b="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zh-CN" altLang="en-US" sz="1400" b="1" i="1" dirty="0">
                          <a:solidFill>
                            <a:schemeClr val="tx1"/>
                          </a:solidFill>
                          <a:latin typeface="Cambria Math" panose="02040503050406030204" pitchFamily="18" charset="0"/>
                        </a:rPr>
                        <m:t>注意到</m:t>
                      </m:r>
                      <m:r>
                        <a:rPr lang="zh-CN" altLang="en-US" sz="1400" b="1" i="1" dirty="0" smtClean="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a:rPr lang="en-US" altLang="zh-CN" sz="1400" i="1" dirty="0">
                              <a:solidFill>
                                <a:schemeClr val="tx1"/>
                              </a:solidFill>
                              <a:latin typeface="Cambria Math" panose="02040503050406030204" pitchFamily="18" charset="0"/>
                            </a:rPr>
                            <m:t>𝑠𝑖𝑛</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b="0" i="1" dirty="0" smtClean="0">
                          <a:solidFill>
                            <a:schemeClr val="tx1"/>
                          </a:solidFill>
                          <a:latin typeface="Cambria Math" panose="02040503050406030204" pitchFamily="18" charset="0"/>
                        </a:rPr>
                        <m:t>&gt;0 ⇒</m:t>
                      </m:r>
                      <m:r>
                        <a:rPr lang="en-US" altLang="zh-CN" sz="1400" b="1" i="1" dirty="0" smtClean="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smtClean="0">
                          <a:solidFill>
                            <a:schemeClr val="tx1"/>
                          </a:solidFill>
                          <a:latin typeface="Cambria Math" panose="02040503050406030204" pitchFamily="18" charset="0"/>
                        </a:rPr>
                        <m:t>&lt;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cot</m:t>
                          </m:r>
                        </m:fName>
                        <m:e>
                          <m:sSubSup>
                            <m:sSubSupPr>
                              <m:ctrlPr>
                                <a:rPr lang="en-US" altLang="zh-CN" sz="1400" b="0" i="1" dirty="0" smtClean="0">
                                  <a:solidFill>
                                    <a:schemeClr val="tx1"/>
                                  </a:solidFill>
                                  <a:latin typeface="Cambria Math" panose="02040503050406030204" pitchFamily="18" charset="0"/>
                                </a:rPr>
                              </m:ctrlPr>
                            </m:sSubSup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e>
                      </m:func>
                    </m:oMath>
                  </m:oMathPara>
                </a14:m>
                <a:endParaRPr lang="en-US" altLang="zh-CN" sz="1400" b="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所以</m:t>
                      </m:r>
                      <m:r>
                        <a:rPr lang="zh-CN" altLang="en-US" sz="1400" i="1" dirty="0" smtClean="0">
                          <a:solidFill>
                            <a:schemeClr val="tx1"/>
                          </a:solidFill>
                          <a:latin typeface="Cambria Math" panose="02040503050406030204" pitchFamily="18" charset="0"/>
                        </a:rPr>
                        <m:t>：</m:t>
                      </m:r>
                      <m:nary>
                        <m:naryPr>
                          <m:ctrlPr>
                            <a:rPr lang="en-US" altLang="zh-CN" sz="1400" i="1" dirty="0" smtClean="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a:rPr lang="en-US" altLang="zh-CN" sz="1400" i="1" dirty="0">
                                      <a:solidFill>
                                        <a:schemeClr val="tx1"/>
                                      </a:solidFill>
                                      <a:latin typeface="Cambria Math" panose="02040503050406030204" pitchFamily="18" charset="0"/>
                                    </a:rPr>
                                    <m:t>𝑠𝑖𝑛</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d>
                            <m:dPr>
                              <m:ctrlPr>
                                <a:rPr lang="en-US" altLang="zh-CN" sz="1400" b="1"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a:rPr lang="en-US" altLang="zh-CN" sz="1400" i="1" dirty="0">
                                      <a:solidFill>
                                        <a:schemeClr val="tx1"/>
                                      </a:solidFill>
                                      <a:latin typeface="Cambria Math" panose="02040503050406030204" pitchFamily="18" charset="0"/>
                                    </a:rPr>
                                    <m:t>𝑠𝑖𝑛</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b="0" i="1" dirty="0" smtClean="0">
                              <a:solidFill>
                                <a:schemeClr val="tx1"/>
                              </a:solidFill>
                              <a:latin typeface="Cambria Math" panose="02040503050406030204" pitchFamily="18" charset="0"/>
                            </a:rPr>
                            <m:t> </m:t>
                          </m:r>
                          <m:sSup>
                            <m:sSupPr>
                              <m:ctrlPr>
                                <a:rPr lang="en-US" altLang="zh-CN" sz="1400" b="0" i="1" dirty="0" smtClean="0">
                                  <a:solidFill>
                                    <a:schemeClr val="tx1"/>
                                  </a:solidFill>
                                  <a:latin typeface="Cambria Math" panose="02040503050406030204" pitchFamily="18" charset="0"/>
                                </a:rPr>
                              </m:ctrlPr>
                            </m:sSupPr>
                            <m:e>
                              <m:r>
                                <a:rPr lang="en-US" altLang="zh-CN" sz="1400" i="1" dirty="0" smtClean="0">
                                  <a:solidFill>
                                    <a:schemeClr val="tx1"/>
                                  </a:solidFill>
                                  <a:latin typeface="Cambria Math" panose="02040503050406030204" pitchFamily="18" charset="0"/>
                                </a:rPr>
                                <m:t>𝑃</m:t>
                              </m:r>
                            </m:e>
                            <m:sup>
                              <m:r>
                                <a:rPr lang="en-US" altLang="zh-CN" sz="1400" b="0" i="1" dirty="0" smtClean="0">
                                  <a:solidFill>
                                    <a:schemeClr val="tx1"/>
                                  </a:solidFill>
                                  <a:latin typeface="Cambria Math" panose="02040503050406030204" pitchFamily="18" charset="0"/>
                                </a:rPr>
                                <m:t>2−</m:t>
                              </m:r>
                            </m:sup>
                          </m:sSup>
                          <m:d>
                            <m:dPr>
                              <m:ctrlPr>
                                <a:rPr lang="en-US" altLang="zh-CN" sz="1400" b="0" i="1" dirty="0" smtClean="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1" i="1" dirty="0" smtClean="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e>
                          </m:func>
                        </m:sup>
                        <m:e>
                          <m:d>
                            <m:dPr>
                              <m:ctrlPr>
                                <a:rPr lang="en-US" altLang="zh-CN" sz="1400" b="1"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a:rPr lang="en-US" altLang="zh-CN" sz="1400" i="1" dirty="0">
                                      <a:solidFill>
                                        <a:schemeClr val="tx1"/>
                                      </a:solidFill>
                                      <a:latin typeface="Cambria Math" panose="02040503050406030204" pitchFamily="18" charset="0"/>
                                    </a:rPr>
                                    <m:t>𝑠𝑖𝑛</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oMath>
                  </m:oMathPara>
                </a14:m>
                <a:endParaRPr lang="en-US" altLang="zh-CN" sz="1400" b="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sSubSup>
                        <m:sSubSupPr>
                          <m:ctrlPr>
                            <a:rPr lang="en-US" altLang="zh-CN" sz="140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supHide m:val="on"/>
                          <m:ctrlPr>
                            <a:rPr lang="en-US" altLang="zh-CN" sz="1400" i="1" dirty="0">
                              <a:solidFill>
                                <a:schemeClr val="tx1"/>
                              </a:solidFill>
                              <a:latin typeface="Cambria Math" panose="02040503050406030204" pitchFamily="18" charset="0"/>
                            </a:rPr>
                          </m:ctrlPr>
                        </m:naryPr>
                        <m:sub>
                          <m:sSup>
                            <m:sSupPr>
                              <m:ctrlPr>
                                <a:rPr lang="en-US" altLang="zh-CN" sz="1400" i="1" dirty="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𝐻</m:t>
                              </m:r>
                            </m:e>
                            <m:sup>
                              <m:r>
                                <a:rPr lang="en-US" altLang="zh-CN" sz="1400" i="1" dirty="0">
                                  <a:solidFill>
                                    <a:schemeClr val="tx1"/>
                                  </a:solidFill>
                                  <a:latin typeface="Cambria Math" panose="02040503050406030204" pitchFamily="18" charset="0"/>
                                </a:rPr>
                                <m:t>2</m:t>
                              </m:r>
                            </m:sup>
                          </m:sSup>
                        </m:sub>
                        <m:sup/>
                        <m:e>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err="1">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𝜔</m:t>
                              </m:r>
                            </m:e>
                            <m:sub>
                              <m:r>
                                <a:rPr lang="en-US" altLang="zh-CN" sz="1400" i="1" dirty="0">
                                  <a:solidFill>
                                    <a:schemeClr val="tx1"/>
                                  </a:solidFill>
                                  <a:latin typeface="Cambria Math" panose="02040503050406030204" pitchFamily="18" charset="0"/>
                                </a:rPr>
                                <m:t>𝑚</m:t>
                              </m:r>
                            </m:sub>
                          </m:sSub>
                        </m:e>
                      </m:nary>
                      <m:r>
                        <a:rPr lang="en-US" altLang="zh-CN" sz="1400" i="1" dirty="0">
                          <a:solidFill>
                            <a:schemeClr val="tx1"/>
                          </a:solidFill>
                          <a:latin typeface="Cambria Math" panose="02040503050406030204" pitchFamily="18" charset="0"/>
                        </a:rPr>
                        <m:t>=</m:t>
                      </m:r>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r>
                        <a:rPr lang="en-US" altLang="zh-CN" sz="1400" b="1"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e>
                          </m:func>
                        </m:sup>
                        <m:e>
                          <m:d>
                            <m:dPr>
                              <m:ctrlPr>
                                <a:rPr lang="en-US" altLang="zh-CN" sz="1400" b="1"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a:rPr lang="en-US" altLang="zh-CN" sz="1400" i="1" dirty="0">
                                      <a:solidFill>
                                        <a:schemeClr val="tx1"/>
                                      </a:solidFill>
                                      <a:latin typeface="Cambria Math" panose="02040503050406030204" pitchFamily="18" charset="0"/>
                                    </a:rPr>
                                    <m:t>𝑠𝑖𝑛</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i="1" dirty="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i="0" dirty="0" smtClean="0">
                              <a:solidFill>
                                <a:schemeClr val="tx1"/>
                              </a:solidFill>
                              <a:latin typeface="Cambria Math" panose="02040503050406030204" pitchFamily="18" charset="0"/>
                            </a:rPr>
                            <m:t>cos</m:t>
                          </m:r>
                        </m:fName>
                        <m:e>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e>
                      </m:func>
                    </m:oMath>
                  </m:oMathPara>
                </a14:m>
                <a:endParaRPr lang="en-US" altLang="zh-CN" sz="1400" b="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两边</m:t>
                      </m:r>
                      <m:r>
                        <a:rPr lang="zh-CN" altLang="en-US" sz="1400" i="1" dirty="0" smtClean="0">
                          <a:solidFill>
                            <a:schemeClr val="tx1"/>
                          </a:solidFill>
                          <a:latin typeface="Cambria Math" panose="02040503050406030204" pitchFamily="18" charset="0"/>
                        </a:rPr>
                        <m:t>同除</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sSubSup>
                            <m:sSubSupPr>
                              <m:ctrlPr>
                                <a:rPr lang="en-US" altLang="zh-CN" sz="1400" b="0" i="1" dirty="0" smtClean="0">
                                  <a:solidFill>
                                    <a:schemeClr val="tx1"/>
                                  </a:solidFill>
                                  <a:latin typeface="Cambria Math" panose="02040503050406030204" pitchFamily="18" charset="0"/>
                                </a:rPr>
                              </m:ctrlPr>
                            </m:sSubSup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e>
                      </m:func>
                      <m:r>
                        <a:rPr lang="zh-CN" altLang="en-US" sz="140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b="0" i="1" dirty="0" smtClean="0">
                                      <a:solidFill>
                                        <a:schemeClr val="tx1"/>
                                      </a:solidFill>
                                      <a:latin typeface="Cambria Math" panose="02040503050406030204" pitchFamily="18" charset="0"/>
                                    </a:rPr>
                                    <m:t>+</m:t>
                                  </m:r>
                                </m:sup>
                              </m:sSubSup>
                            </m:e>
                          </m:func>
                        </m:sup>
                        <m:e>
                          <m:d>
                            <m:dPr>
                              <m:ctrlPr>
                                <a:rPr lang="en-US" altLang="zh-CN" sz="1400" b="1" i="1" dirty="0">
                                  <a:solidFill>
                                    <a:schemeClr val="tx1"/>
                                  </a:solidFill>
                                  <a:latin typeface="Cambria Math" panose="02040503050406030204" pitchFamily="18" charset="0"/>
                                </a:rPr>
                              </m:ctrlPr>
                            </m:dPr>
                            <m:e>
                              <m:r>
                                <a:rPr lang="en-US" altLang="zh-CN" sz="1400" b="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m:t>
                                  </m:r>
                                  <m:r>
                                    <m:rPr>
                                      <m:sty m:val="p"/>
                                    </m:rPr>
                                    <a:rPr lang="en-US" altLang="zh-CN" sz="1400" b="0" i="0" dirty="0" smtClean="0">
                                      <a:solidFill>
                                        <a:schemeClr val="tx1"/>
                                      </a:solidFill>
                                      <a:latin typeface="Cambria Math" panose="02040503050406030204" pitchFamily="18" charset="0"/>
                                    </a:rPr>
                                    <m:t>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m:t>
                          </m:r>
                          <m:r>
                            <m:rPr>
                              <m:sty m:val="p"/>
                            </m:rPr>
                            <a:rPr lang="en-US" altLang="zh-CN" sz="1400" b="0" i="0" dirty="0" smtClean="0">
                              <a:solidFill>
                                <a:schemeClr val="tx1"/>
                              </a:solidFill>
                              <a:latin typeface="Cambria Math" panose="02040503050406030204" pitchFamily="18" charset="0"/>
                            </a:rPr>
                            <m:t>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oMath>
                  </m:oMathPara>
                </a14:m>
                <a:endParaRPr lang="en-US" altLang="zh-CN" sz="1400"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452F8DD3-C88C-8A4F-B497-D5BE1B7DD96F}"/>
                  </a:ext>
                </a:extLst>
              </p:cNvPr>
              <p:cNvSpPr>
                <a:spLocks noRot="1" noChangeAspect="1" noMove="1" noResize="1" noEditPoints="1" noAdjustHandles="1" noChangeArrowheads="1" noChangeShapeType="1" noTextEdit="1"/>
              </p:cNvSpPr>
              <p:nvPr/>
            </p:nvSpPr>
            <p:spPr>
              <a:xfrm>
                <a:off x="368712" y="1144044"/>
                <a:ext cx="11286756" cy="540280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245972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C2B0A-1801-B8BB-1BE3-BE9DEFC443C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2F840B32-69BE-2396-0BDE-B04E12DD6FF3}"/>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sSub>
                      <m:sSubPr>
                        <m:ctrlPr>
                          <a:rPr lang="en-US" altLang="zh-CN" sz="3200" b="0" i="1" dirty="0" smtClean="0">
                            <a:solidFill>
                              <a:schemeClr val="tx1"/>
                            </a:solidFill>
                            <a:latin typeface="Cambria Math" panose="02040503050406030204" pitchFamily="18" charset="0"/>
                          </a:rPr>
                        </m:ctrlPr>
                      </m:sSubPr>
                      <m:e>
                        <m:r>
                          <a:rPr lang="en-US" altLang="zh-CN" sz="3200" b="0" i="1" dirty="0" smtClean="0">
                            <a:solidFill>
                              <a:schemeClr val="tx1"/>
                            </a:solidFill>
                            <a:latin typeface="Cambria Math" panose="02040503050406030204" pitchFamily="18" charset="0"/>
                          </a:rPr>
                          <m:t>𝐺</m:t>
                        </m:r>
                      </m:e>
                      <m:sub>
                        <m:r>
                          <a:rPr lang="en-US" altLang="zh-CN" sz="3200" b="0" i="1" dirty="0" smtClean="0">
                            <a:solidFill>
                              <a:schemeClr val="tx1"/>
                            </a:solidFill>
                            <a:latin typeface="Cambria Math" panose="02040503050406030204" pitchFamily="18" charset="0"/>
                          </a:rPr>
                          <m:t>1</m:t>
                        </m:r>
                      </m:sub>
                    </m:sSub>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𝒐</m:t>
                        </m:r>
                        <m:r>
                          <a:rPr lang="en-US" altLang="zh-CN" sz="3200" b="0" i="1" dirty="0" smtClean="0">
                            <a:solidFill>
                              <a:schemeClr val="tx1"/>
                            </a:solidFill>
                            <a:latin typeface="Cambria Math" panose="02040503050406030204" pitchFamily="18" charset="0"/>
                          </a:rPr>
                          <m:t>,</m:t>
                        </m:r>
                        <m:r>
                          <a:rPr lang="en-US" altLang="zh-CN" sz="3200" b="1" i="1" dirty="0" smtClean="0">
                            <a:solidFill>
                              <a:schemeClr val="tx1"/>
                            </a:solidFill>
                            <a:latin typeface="Cambria Math" panose="02040503050406030204" pitchFamily="18" charset="0"/>
                          </a:rPr>
                          <m:t>𝒎</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8BADD618-E6D5-765A-C504-E6437F242A0F}"/>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864" b="-7627"/>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8EC2059C-EE59-446A-264E-53EF3F6D62FD}"/>
              </a:ext>
            </a:extLst>
          </p:cNvPr>
          <p:cNvSpPr/>
          <p:nvPr/>
        </p:nvSpPr>
        <p:spPr>
          <a:xfrm>
            <a:off x="521112" y="1315233"/>
            <a:ext cx="11286756"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F79F48A4-F2DF-D6C8-5126-5BED872D3EB7}"/>
                  </a:ext>
                </a:extLst>
              </p:cNvPr>
              <p:cNvSpPr/>
              <p:nvPr/>
            </p:nvSpPr>
            <p:spPr>
              <a:xfrm>
                <a:off x="368712" y="1144044"/>
                <a:ext cx="11286756"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0000"/>
                  </a:lnSpc>
                </a:pPr>
                <a14:m>
                  <m:oMathPara xmlns:m="http://schemas.openxmlformats.org/officeDocument/2006/math">
                    <m:oMathParaPr>
                      <m:jc m:val="centerGroup"/>
                    </m:oMathParaPr>
                    <m:oMath xmlns:m="http://schemas.openxmlformats.org/officeDocument/2006/math">
                      <m:sSubSup>
                        <m:sSubSupPr>
                          <m:ctrlPr>
                            <a:rPr lang="en-US" altLang="zh-CN" sz="140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p>
                        <m:e>
                          <m:d>
                            <m:dPr>
                              <m:ctrlPr>
                                <a:rPr lang="en-US" altLang="zh-CN" sz="1400" b="1"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m:t>
                                  </m:r>
                                  <m:r>
                                    <m:rPr>
                                      <m:sty m:val="p"/>
                                    </m:rPr>
                                    <a:rPr lang="en-US" altLang="zh-CN" sz="1400" b="0" i="0" dirty="0" smtClean="0">
                                      <a:solidFill>
                                        <a:schemeClr val="tx1"/>
                                      </a:solidFill>
                                      <a:latin typeface="Cambria Math" panose="02040503050406030204" pitchFamily="18" charset="0"/>
                                    </a:rPr>
                                    <m:t>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m:t>
                          </m:r>
                          <m:r>
                            <m:rPr>
                              <m:sty m:val="p"/>
                            </m:rPr>
                            <a:rPr lang="en-US" altLang="zh-CN" sz="1400" b="0" i="0" dirty="0" smtClean="0">
                              <a:solidFill>
                                <a:schemeClr val="tx1"/>
                              </a:solidFill>
                              <a:latin typeface="Cambria Math" panose="02040503050406030204" pitchFamily="18" charset="0"/>
                            </a:rPr>
                            <m:t>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oMath>
                  </m:oMathPara>
                </a14:m>
                <a:endParaRPr lang="en-US" altLang="zh-CN" sz="1400" i="1" dirty="0">
                  <a:solidFill>
                    <a:schemeClr val="tx1"/>
                  </a:solidFill>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因为微面法线是各向同性的</m:t>
                      </m:r>
                      <m:d>
                        <m:dPr>
                          <m:ctrlPr>
                            <a:rPr lang="en-US" altLang="zh-CN" sz="1400" b="0" i="1" dirty="0" smtClean="0">
                              <a:solidFill>
                                <a:schemeClr val="tx1"/>
                              </a:solidFill>
                              <a:latin typeface="Cambria Math" panose="02040503050406030204" pitchFamily="18" charset="0"/>
                            </a:rPr>
                          </m:ctrlPr>
                        </m:dPr>
                        <m:e>
                          <m:r>
                            <a:rPr lang="zh-CN" altLang="en-US" sz="1400" i="1" dirty="0">
                              <a:solidFill>
                                <a:schemeClr val="tx1"/>
                              </a:solidFill>
                              <a:latin typeface="Cambria Math" panose="02040503050406030204" pitchFamily="18" charset="0"/>
                            </a:rPr>
                            <m:t>法</m:t>
                          </m:r>
                          <m:r>
                            <a:rPr lang="zh-CN" altLang="en-US" sz="1400" i="1" dirty="0" smtClean="0">
                              <a:solidFill>
                                <a:schemeClr val="tx1"/>
                              </a:solidFill>
                              <a:latin typeface="Cambria Math" panose="02040503050406030204" pitchFamily="18" charset="0"/>
                            </a:rPr>
                            <m:t>线</m:t>
                          </m:r>
                          <m:r>
                            <a:rPr lang="zh-CN" altLang="en-US" sz="1400" i="1" dirty="0">
                              <a:solidFill>
                                <a:schemeClr val="tx1"/>
                              </a:solidFill>
                              <a:latin typeface="Cambria Math" panose="02040503050406030204" pitchFamily="18" charset="0"/>
                            </a:rPr>
                            <m:t>分布</m:t>
                          </m:r>
                          <m:r>
                            <a:rPr lang="zh-CN" altLang="en-US" sz="1400" i="1" dirty="0" smtClean="0">
                              <a:solidFill>
                                <a:schemeClr val="tx1"/>
                              </a:solidFill>
                              <a:latin typeface="Cambria Math" panose="02040503050406030204" pitchFamily="18" charset="0"/>
                            </a:rPr>
                            <m:t>与</m:t>
                          </m:r>
                          <m:r>
                            <a:rPr lang="zh-CN" altLang="en-US" sz="1400" i="1" dirty="0">
                              <a:solidFill>
                                <a:schemeClr val="tx1"/>
                              </a:solidFill>
                              <a:latin typeface="Cambria Math" panose="02040503050406030204" pitchFamily="18" charset="0"/>
                            </a:rPr>
                            <m:t>方向角</m:t>
                          </m:r>
                          <m:r>
                            <a:rPr lang="en-US" altLang="zh-CN" sz="1400" b="0" i="1" dirty="0" smtClean="0">
                              <a:solidFill>
                                <a:schemeClr val="tx1"/>
                              </a:solidFill>
                              <a:latin typeface="Cambria Math" panose="02040503050406030204" pitchFamily="18" charset="0"/>
                            </a:rPr>
                            <m:t>𝜙</m:t>
                          </m:r>
                          <m:r>
                            <a:rPr lang="zh-CN" altLang="en-US" sz="1400" i="1" dirty="0" smtClean="0">
                              <a:solidFill>
                                <a:schemeClr val="tx1"/>
                              </a:solidFill>
                              <a:latin typeface="Cambria Math" panose="02040503050406030204" pitchFamily="18" charset="0"/>
                            </a:rPr>
                            <m:t>无关</m:t>
                          </m:r>
                          <m:r>
                            <a:rPr lang="zh-CN" altLang="en-US" sz="1400" i="1" dirty="0">
                              <a:solidFill>
                                <a:schemeClr val="tx1"/>
                              </a:solidFill>
                              <a:latin typeface="Cambria Math" panose="02040503050406030204" pitchFamily="18" charset="0"/>
                            </a:rPr>
                            <m:t>，</m:t>
                          </m:r>
                          <m:r>
                            <a:rPr lang="zh-CN" altLang="en-US" sz="1400" i="1" dirty="0" smtClean="0">
                              <a:solidFill>
                                <a:schemeClr val="tx1"/>
                              </a:solidFill>
                              <a:latin typeface="Cambria Math" panose="02040503050406030204" pitchFamily="18" charset="0"/>
                            </a:rPr>
                            <m:t>仅与</m:t>
                          </m:r>
                          <m:r>
                            <a:rPr lang="zh-CN" altLang="en-US" sz="1400" i="1" dirty="0">
                              <a:solidFill>
                                <a:schemeClr val="tx1"/>
                              </a:solidFill>
                              <a:latin typeface="Cambria Math" panose="02040503050406030204" pitchFamily="18" charset="0"/>
                            </a:rPr>
                            <m:t>极角</m:t>
                          </m:r>
                          <m:r>
                            <a:rPr lang="en-US" altLang="zh-CN" sz="1400" b="0" i="1" dirty="0" smtClean="0">
                              <a:solidFill>
                                <a:schemeClr val="tx1"/>
                              </a:solidFill>
                              <a:latin typeface="Cambria Math" panose="02040503050406030204" pitchFamily="18" charset="0"/>
                            </a:rPr>
                            <m:t>𝜃</m:t>
                          </m:r>
                          <m:r>
                            <a:rPr lang="zh-CN" altLang="en-US" sz="1400" i="1" dirty="0">
                              <a:solidFill>
                                <a:schemeClr val="tx1"/>
                              </a:solidFill>
                              <a:latin typeface="Cambria Math" panose="02040503050406030204" pitchFamily="18" charset="0"/>
                            </a:rPr>
                            <m:t>有关</m:t>
                          </m:r>
                        </m:e>
                      </m:d>
                      <m:r>
                        <a:rPr lang="zh-CN" altLang="en-US" sz="1400" i="1" dirty="0">
                          <a:solidFill>
                            <a:schemeClr val="tx1"/>
                          </a:solidFill>
                          <a:latin typeface="Cambria Math" panose="02040503050406030204" pitchFamily="18" charset="0"/>
                        </a:rPr>
                        <m:t>，</m:t>
                      </m:r>
                      <m:r>
                        <a:rPr lang="zh-CN" altLang="en-US" sz="1400" i="1" dirty="0" smtClean="0">
                          <a:solidFill>
                            <a:schemeClr val="tx1"/>
                          </a:solidFill>
                          <a:latin typeface="Cambria Math" panose="02040503050406030204" pitchFamily="18" charset="0"/>
                        </a:rPr>
                        <m:t>所以</m:t>
                      </m:r>
                      <m:sSup>
                        <m:sSupPr>
                          <m:ctrlPr>
                            <a:rPr lang="en-US" altLang="zh-CN" sz="1400" b="0" i="1" dirty="0" smtClean="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b="0" i="1" dirty="0" smtClean="0">
                              <a:solidFill>
                                <a:schemeClr val="tx1"/>
                              </a:solidFill>
                              <a:latin typeface="Cambria Math" panose="02040503050406030204" pitchFamily="18" charset="0"/>
                            </a:rPr>
                            <m:t>2−</m:t>
                          </m:r>
                        </m:sup>
                      </m:sSup>
                      <m:d>
                        <m:dPr>
                          <m:ctrlPr>
                            <a:rPr lang="en-US" altLang="zh-CN" sz="1400" b="0" i="1" dirty="0" smtClean="0">
                              <a:solidFill>
                                <a:schemeClr val="tx1"/>
                              </a:solidFill>
                              <a:latin typeface="Cambria Math" panose="02040503050406030204" pitchFamily="18" charset="0"/>
                            </a:rPr>
                          </m:ctrlPr>
                        </m:dPr>
                        <m:e>
                          <m:sSub>
                            <m:sSubPr>
                              <m:ctrlPr>
                                <a:rPr lang="en-US" altLang="zh-CN" sz="1400" i="1" dirty="0" smtClean="0">
                                  <a:solidFill>
                                    <a:schemeClr val="tx1"/>
                                  </a:solidFill>
                                  <a:latin typeface="Cambria Math" panose="02040503050406030204" pitchFamily="18" charset="0"/>
                                </a:rPr>
                              </m:ctrlPr>
                            </m:sSubPr>
                            <m:e>
                              <m:acc>
                                <m:accPr>
                                  <m:chr m:val="̃"/>
                                  <m:ctrlPr>
                                    <a:rPr lang="en-US" altLang="zh-CN" sz="1400" i="1" dirty="0" smtClean="0">
                                      <a:solidFill>
                                        <a:schemeClr val="tx1"/>
                                      </a:solidFill>
                                      <a:latin typeface="Cambria Math" panose="02040503050406030204" pitchFamily="18" charset="0"/>
                                    </a:rPr>
                                  </m:ctrlPr>
                                </m:accPr>
                                <m:e>
                                  <m:r>
                                    <a:rPr lang="en-US" altLang="zh-CN" sz="1400" b="0" i="1" dirty="0" smtClean="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zh-CN" altLang="en-US" sz="1400" b="1" i="1" dirty="0" smtClean="0">
                          <a:solidFill>
                            <a:schemeClr val="tx1"/>
                          </a:solidFill>
                          <a:latin typeface="Cambria Math" panose="02040503050406030204" pitchFamily="18" charset="0"/>
                        </a:rPr>
                        <m:t>，</m:t>
                      </m:r>
                      <m:nary>
                        <m:naryPr>
                          <m:ctrlPr>
                            <a:rPr lang="en-US" altLang="zh-CN" sz="1400" b="1" i="1" dirty="0" smtClean="0">
                              <a:solidFill>
                                <a:schemeClr val="tx1"/>
                              </a:solidFill>
                              <a:latin typeface="Cambria Math" panose="02040503050406030204" pitchFamily="18" charset="0"/>
                            </a:rPr>
                          </m:ctrlPr>
                        </m:naryPr>
                        <m:sub>
                          <m:r>
                            <a:rPr lang="en-US" altLang="zh-CN" sz="1400" b="1" i="1" dirty="0" smtClean="0">
                              <a:solidFill>
                                <a:schemeClr val="tx1"/>
                              </a:solidFill>
                              <a:latin typeface="Cambria Math" panose="02040503050406030204" pitchFamily="18" charset="0"/>
                            </a:rPr>
                            <m:t>−∞</m:t>
                          </m:r>
                        </m:sub>
                        <m:sup>
                          <m:r>
                            <a:rPr lang="en-US" altLang="zh-CN" sz="1400" b="1" i="1" dirty="0" smtClean="0">
                              <a:solidFill>
                                <a:schemeClr val="tx1"/>
                              </a:solidFill>
                              <a:latin typeface="Cambria Math" panose="02040503050406030204" pitchFamily="18" charset="0"/>
                            </a:rPr>
                            <m:t>+∞</m:t>
                          </m:r>
                        </m:sup>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1"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0</m:t>
                      </m:r>
                    </m:oMath>
                  </m:oMathPara>
                </a14:m>
                <a:endParaRPr lang="en-US" altLang="zh-CN" sz="1400" b="0" dirty="0">
                  <a:solidFill>
                    <a:schemeClr val="tx1"/>
                  </a:solidFill>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b="1" i="1" dirty="0">
                              <a:solidFill>
                                <a:schemeClr val="tx1"/>
                              </a:solidFill>
                              <a:latin typeface="Cambria Math" panose="02040503050406030204" pitchFamily="18" charset="0"/>
                            </a:rPr>
                          </m:ctrlPr>
                        </m:naryPr>
                        <m:sub>
                          <m:r>
                            <a:rPr lang="en-US" altLang="zh-CN" sz="1400" b="1" i="1" dirty="0">
                              <a:solidFill>
                                <a:schemeClr val="tx1"/>
                              </a:solidFill>
                              <a:latin typeface="Cambria Math" panose="02040503050406030204" pitchFamily="18" charset="0"/>
                            </a:rPr>
                            <m:t>−∞</m:t>
                          </m:r>
                        </m:sub>
                        <m:sup>
                          <m:r>
                            <a:rPr lang="en-US" altLang="zh-CN" sz="1400" b="1" i="1" dirty="0">
                              <a:solidFill>
                                <a:schemeClr val="tx1"/>
                              </a:solidFill>
                              <a:latin typeface="Cambria Math" panose="02040503050406030204" pitchFamily="18" charset="0"/>
                            </a:rPr>
                            <m:t>+∞</m:t>
                          </m:r>
                        </m:sup>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1" i="1" dirty="0" smtClean="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0" i="1" dirty="0" smtClean="0">
                          <a:solidFill>
                            <a:schemeClr val="tx1"/>
                          </a:solidFill>
                          <a:latin typeface="Cambria Math" panose="02040503050406030204" pitchFamily="18" charset="0"/>
                        </a:rPr>
                        <m:t>+</m:t>
                      </m:r>
                      <m:sSubSup>
                        <m:sSubSupPr>
                          <m:ctrlPr>
                            <a:rPr lang="en-US" altLang="zh-CN" sz="140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p>
                        <m:e>
                          <m:d>
                            <m:dPr>
                              <m:ctrlPr>
                                <a:rPr lang="en-US" altLang="zh-CN" sz="1400" b="1" i="1" dirty="0">
                                  <a:solidFill>
                                    <a:schemeClr val="tx1"/>
                                  </a:solidFill>
                                  <a:latin typeface="Cambria Math" panose="02040503050406030204" pitchFamily="18" charset="0"/>
                                </a:rPr>
                              </m:ctrlPr>
                            </m:dPr>
                            <m:e>
                              <m:r>
                                <a:rPr lang="en-US" altLang="zh-CN" sz="1400" b="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m:t>
                                  </m:r>
                                  <m:r>
                                    <m:rPr>
                                      <m:sty m:val="p"/>
                                    </m:rPr>
                                    <a:rPr lang="en-US" altLang="zh-CN" sz="1400" b="0" i="0" dirty="0" smtClean="0">
                                      <a:solidFill>
                                        <a:schemeClr val="tx1"/>
                                      </a:solidFill>
                                      <a:latin typeface="Cambria Math" panose="02040503050406030204" pitchFamily="18" charset="0"/>
                                    </a:rPr>
                                    <m:t>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m:t>
                          </m:r>
                          <m:r>
                            <m:rPr>
                              <m:sty m:val="p"/>
                            </m:rPr>
                            <a:rPr lang="en-US" altLang="zh-CN" sz="1400" b="0" i="0" dirty="0" smtClean="0">
                              <a:solidFill>
                                <a:schemeClr val="tx1"/>
                              </a:solidFill>
                              <a:latin typeface="Cambria Math" panose="02040503050406030204" pitchFamily="18" charset="0"/>
                            </a:rPr>
                            <m:t>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1−</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e>
                      </m:d>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b="0" i="1" dirty="0" smtClean="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oMath>
                  </m:oMathPara>
                </a14:m>
                <a:endParaRPr lang="en-US" altLang="zh-CN" sz="1400" dirty="0">
                  <a:solidFill>
                    <a:schemeClr val="tx1"/>
                  </a:solidFill>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1−</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e>
                      </m:d>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b="0" i="1" dirty="0" smtClean="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b="1" i="1" dirty="0">
                              <a:solidFill>
                                <a:schemeClr val="tx1"/>
                              </a:solidFill>
                              <a:latin typeface="Cambria Math" panose="02040503050406030204" pitchFamily="18" charset="0"/>
                            </a:rPr>
                          </m:ctrlPr>
                        </m:naryPr>
                        <m:sub>
                          <m:r>
                            <a:rPr lang="en-US" altLang="zh-CN" sz="1400" b="1" i="1" dirty="0">
                              <a:solidFill>
                                <a:schemeClr val="tx1"/>
                              </a:solidFill>
                              <a:latin typeface="Cambria Math" panose="02040503050406030204" pitchFamily="18" charset="0"/>
                            </a:rPr>
                            <m:t>−∞</m:t>
                          </m:r>
                        </m:sub>
                        <m:sup>
                          <m:r>
                            <a:rPr lang="en-US" altLang="zh-CN" sz="1400" b="1" i="1" dirty="0">
                              <a:solidFill>
                                <a:schemeClr val="tx1"/>
                              </a:solidFill>
                              <a:latin typeface="Cambria Math" panose="02040503050406030204" pitchFamily="18" charset="0"/>
                            </a:rPr>
                            <m:t>+∞</m:t>
                          </m:r>
                        </m:sup>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1" i="1" dirty="0" smtClean="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p>
                        <m:e>
                          <m:d>
                            <m:dPr>
                              <m:ctrlPr>
                                <a:rPr lang="en-US" altLang="zh-CN" sz="1400" b="1"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0" i="1" dirty="0" smtClean="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oMath>
                  </m:oMathPara>
                </a14:m>
                <a:endParaRPr lang="en-US" altLang="zh-CN" sz="1400" i="1" dirty="0">
                  <a:solidFill>
                    <a:schemeClr val="tx1"/>
                  </a:solidFill>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因为</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𝑃</m:t>
                          </m:r>
                        </m:e>
                        <m:sup>
                          <m:r>
                            <a:rPr lang="en-US" altLang="zh-CN" sz="1400" b="0" i="1" dirty="0" smtClean="0">
                              <a:solidFill>
                                <a:schemeClr val="tx1"/>
                              </a:solidFill>
                              <a:latin typeface="Cambria Math" panose="02040503050406030204" pitchFamily="18" charset="0"/>
                            </a:rPr>
                            <m:t>22</m:t>
                          </m:r>
                        </m:sup>
                      </m:sSup>
                      <m:d>
                        <m:dPr>
                          <m:ctrlPr>
                            <a:rPr lang="en-US" altLang="zh-CN" sz="1400" b="0" i="1" dirty="0" smtClean="0">
                              <a:solidFill>
                                <a:schemeClr val="tx1"/>
                              </a:solidFill>
                              <a:latin typeface="Cambria Math" panose="02040503050406030204" pitchFamily="18" charset="0"/>
                            </a:rPr>
                          </m:ctrlPr>
                        </m:dPr>
                        <m:e>
                          <m:acc>
                            <m:accPr>
                              <m:chr m:val="̃"/>
                              <m:ctrlPr>
                                <a:rPr lang="en-US" altLang="zh-CN" sz="1400" b="1" i="1" dirty="0" smtClean="0">
                                  <a:solidFill>
                                    <a:schemeClr val="tx1"/>
                                  </a:solidFill>
                                  <a:latin typeface="Cambria Math" panose="02040503050406030204" pitchFamily="18" charset="0"/>
                                </a:rPr>
                              </m:ctrlPr>
                            </m:accPr>
                            <m:e>
                              <m:r>
                                <a:rPr lang="en-US" altLang="zh-CN" sz="1400" b="1" i="1" dirty="0" smtClean="0">
                                  <a:solidFill>
                                    <a:schemeClr val="tx1"/>
                                  </a:solidFill>
                                  <a:latin typeface="Cambria Math" panose="02040503050406030204" pitchFamily="18" charset="0"/>
                                </a:rPr>
                                <m:t>𝒎</m:t>
                              </m:r>
                            </m:e>
                          </m:acc>
                        </m:e>
                      </m:d>
                      <m:r>
                        <a:rPr lang="zh-CN" altLang="en-US" sz="1400" i="1" dirty="0">
                          <a:solidFill>
                            <a:schemeClr val="tx1"/>
                          </a:solidFill>
                          <a:latin typeface="Cambria Math" panose="02040503050406030204" pitchFamily="18" charset="0"/>
                        </a:rPr>
                        <m:t>积分</m:t>
                      </m:r>
                      <m:r>
                        <a:rPr lang="zh-CN" altLang="en-US" sz="1400" i="1" dirty="0" smtClean="0">
                          <a:solidFill>
                            <a:schemeClr val="tx1"/>
                          </a:solidFill>
                          <a:latin typeface="Cambria Math" panose="02040503050406030204" pitchFamily="18" charset="0"/>
                        </a:rPr>
                        <m:t>为</m:t>
                      </m:r>
                      <m:r>
                        <a:rPr lang="en-US" altLang="zh-CN" sz="1400" b="0" i="1" dirty="0" smtClean="0">
                          <a:solidFill>
                            <a:schemeClr val="tx1"/>
                          </a:solidFill>
                          <a:latin typeface="Cambria Math" panose="02040503050406030204" pitchFamily="18" charset="0"/>
                        </a:rPr>
                        <m:t>1</m:t>
                      </m:r>
                      <m:r>
                        <a:rPr lang="zh-CN" altLang="en-US" sz="1400" i="1" dirty="0">
                          <a:solidFill>
                            <a:schemeClr val="tx1"/>
                          </a:solidFill>
                          <a:latin typeface="Cambria Math" panose="02040503050406030204" pitchFamily="18" charset="0"/>
                        </a:rPr>
                        <m:t>，</m:t>
                      </m:r>
                      <m:r>
                        <a:rPr lang="zh-CN" altLang="en-US" sz="1400" i="1" dirty="0" smtClean="0">
                          <a:solidFill>
                            <a:schemeClr val="tx1"/>
                          </a:solidFill>
                          <a:latin typeface="Cambria Math" panose="02040503050406030204" pitchFamily="18" charset="0"/>
                        </a:rPr>
                        <m:t>所以</m:t>
                      </m:r>
                      <m:r>
                        <a:rPr lang="zh-CN" altLang="en-US" sz="1400" i="1" dirty="0">
                          <a:solidFill>
                            <a:schemeClr val="tx1"/>
                          </a:solidFill>
                          <a:latin typeface="Cambria Math" panose="02040503050406030204" pitchFamily="18" charset="0"/>
                        </a:rPr>
                        <m:t>：</m:t>
                      </m:r>
                      <m:nary>
                        <m:naryPr>
                          <m:ctrlPr>
                            <a:rPr lang="en-US" altLang="zh-CN" sz="1400" b="0" i="1" dirty="0" smtClean="0">
                              <a:solidFill>
                                <a:schemeClr val="tx1"/>
                              </a:solidFill>
                              <a:latin typeface="Cambria Math" panose="02040503050406030204" pitchFamily="18" charset="0"/>
                            </a:rPr>
                          </m:ctrlPr>
                        </m:naryPr>
                        <m:sub>
                          <m:r>
                            <a:rPr lang="en-US" altLang="zh-CN" sz="1400" b="0" i="1" dirty="0" smtClean="0">
                              <a:solidFill>
                                <a:schemeClr val="tx1"/>
                              </a:solidFill>
                              <a:latin typeface="Cambria Math" panose="02040503050406030204" pitchFamily="18" charset="0"/>
                            </a:rPr>
                            <m:t>−∞</m:t>
                          </m:r>
                        </m:sub>
                        <m:sup>
                          <m:r>
                            <a:rPr lang="en-US" altLang="zh-CN" sz="1400" b="0" i="1" dirty="0" smtClean="0">
                              <a:solidFill>
                                <a:schemeClr val="tx1"/>
                              </a:solidFill>
                              <a:latin typeface="Cambria Math" panose="02040503050406030204" pitchFamily="18" charset="0"/>
                            </a:rPr>
                            <m:t>+∞</m:t>
                          </m:r>
                        </m:sup>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0" i="1" dirty="0" smtClean="0">
                          <a:solidFill>
                            <a:schemeClr val="tx1"/>
                          </a:solidFill>
                          <a:latin typeface="Cambria Math" panose="02040503050406030204" pitchFamily="18" charset="0"/>
                        </a:rPr>
                        <m:t>=1,  </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b="0" i="1" dirty="0" smtClean="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oMath>
                  </m:oMathPara>
                </a14:m>
                <a:endParaRPr lang="en-US" altLang="zh-CN" sz="1400" b="0" dirty="0">
                  <a:solidFill>
                    <a:schemeClr val="tx1"/>
                  </a:solidFill>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1−</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e>
                      </m:d>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b="0" i="1" dirty="0" smtClean="0">
                          <a:solidFill>
                            <a:schemeClr val="tx1"/>
                          </a:solidFill>
                          <a:latin typeface="Cambria Math" panose="02040503050406030204" pitchFamily="18" charset="0"/>
                        </a:rPr>
                        <m:t>=</m:t>
                      </m:r>
                      <m:sSubSup>
                        <m:sSubSupPr>
                          <m:ctrlPr>
                            <a:rPr lang="en-US" altLang="zh-CN" sz="140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b="1" i="1" dirty="0">
                              <a:solidFill>
                                <a:schemeClr val="tx1"/>
                              </a:solidFill>
                              <a:latin typeface="Cambria Math" panose="02040503050406030204" pitchFamily="18" charset="0"/>
                            </a:rPr>
                          </m:ctrlPr>
                        </m:naryPr>
                        <m:sub>
                          <m:r>
                            <a:rPr lang="en-US" altLang="zh-CN" sz="1400" b="1" i="1" dirty="0">
                              <a:solidFill>
                                <a:schemeClr val="tx1"/>
                              </a:solidFill>
                              <a:latin typeface="Cambria Math" panose="02040503050406030204" pitchFamily="18" charset="0"/>
                            </a:rPr>
                            <m:t>−∞</m:t>
                          </m:r>
                        </m:sub>
                        <m:sup>
                          <m:r>
                            <a:rPr lang="en-US" altLang="zh-CN" sz="1400" b="1" i="1" dirty="0">
                              <a:solidFill>
                                <a:schemeClr val="tx1"/>
                              </a:solidFill>
                              <a:latin typeface="Cambria Math" panose="02040503050406030204" pitchFamily="18" charset="0"/>
                            </a:rPr>
                            <m:t>+∞</m:t>
                          </m:r>
                        </m:sup>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1" i="1" dirty="0" smtClean="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p>
                        <m:e>
                          <m:d>
                            <m:dPr>
                              <m:ctrlPr>
                                <a:rPr lang="en-US" altLang="zh-CN" sz="1400" b="1"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0" i="1" dirty="0" smtClean="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b="1"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oMath>
                    <m:oMath xmlns:m="http://schemas.openxmlformats.org/officeDocument/2006/math">
                      <m:r>
                        <a:rPr lang="en-US" altLang="zh-CN" sz="1400" b="0" i="1" dirty="0" smtClean="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d>
                        <m:dPr>
                          <m:ctrlPr>
                            <a:rPr lang="en-US" altLang="zh-CN" sz="1400" b="1" i="1" dirty="0" smtClean="0">
                              <a:solidFill>
                                <a:schemeClr val="tx1"/>
                              </a:solidFill>
                              <a:latin typeface="Cambria Math" panose="02040503050406030204" pitchFamily="18" charset="0"/>
                            </a:rPr>
                          </m:ctrlPr>
                        </m:dPr>
                        <m:e>
                          <m:nary>
                            <m:naryPr>
                              <m:ctrlPr>
                                <a:rPr lang="en-US" altLang="zh-CN" sz="1400" b="1" i="1" dirty="0">
                                  <a:solidFill>
                                    <a:schemeClr val="tx1"/>
                                  </a:solidFill>
                                  <a:latin typeface="Cambria Math" panose="02040503050406030204" pitchFamily="18" charset="0"/>
                                </a:rPr>
                              </m:ctrlPr>
                            </m:naryPr>
                            <m:sub>
                              <m:r>
                                <a:rPr lang="en-US" altLang="zh-CN" sz="1400" b="1" i="1" dirty="0">
                                  <a:solidFill>
                                    <a:schemeClr val="tx1"/>
                                  </a:solidFill>
                                  <a:latin typeface="Cambria Math" panose="02040503050406030204" pitchFamily="18" charset="0"/>
                                </a:rPr>
                                <m:t>−∞</m:t>
                              </m:r>
                            </m:sub>
                            <m:sup>
                              <m:r>
                                <a:rPr lang="en-US" altLang="zh-CN" sz="1400" b="1" i="1" dirty="0">
                                  <a:solidFill>
                                    <a:schemeClr val="tx1"/>
                                  </a:solidFill>
                                  <a:latin typeface="Cambria Math" panose="02040503050406030204" pitchFamily="18" charset="0"/>
                                </a:rPr>
                                <m:t>+∞</m:t>
                              </m:r>
                            </m:sup>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1" i="1" dirty="0" smtClean="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p>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e>
                      </m:d>
                      <m:r>
                        <a:rPr lang="en-US" altLang="zh-CN" sz="1400" b="1" i="1" dirty="0" smtClean="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d>
                        <m:dPr>
                          <m:ctrlPr>
                            <a:rPr lang="en-US" altLang="zh-CN" sz="1400" b="1" i="1" dirty="0" smtClean="0">
                              <a:solidFill>
                                <a:schemeClr val="tx1"/>
                              </a:solidFill>
                              <a:latin typeface="Cambria Math" panose="02040503050406030204" pitchFamily="18" charset="0"/>
                            </a:rPr>
                          </m:ctrlPr>
                        </m:dPr>
                        <m:e>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p>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1" i="1" dirty="0" smtClean="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e>
                      </m:d>
                    </m:oMath>
                    <m:oMath xmlns:m="http://schemas.openxmlformats.org/officeDocument/2006/math">
                      <m:r>
                        <a:rPr lang="en-US" altLang="zh-CN" sz="1400" b="1" i="1" dirty="0" smtClean="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b="1" i="1" dirty="0">
                              <a:solidFill>
                                <a:schemeClr val="tx1"/>
                              </a:solidFill>
                              <a:latin typeface="Cambria Math" panose="02040503050406030204" pitchFamily="18" charset="0"/>
                            </a:rPr>
                          </m:ctrlPr>
                        </m:naryPr>
                        <m:sub>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b>
                        <m:sup>
                          <m:r>
                            <a:rPr lang="en-US" altLang="zh-CN" sz="1400" b="1" i="1" dirty="0">
                              <a:solidFill>
                                <a:schemeClr val="tx1"/>
                              </a:solidFill>
                              <a:latin typeface="Cambria Math" panose="02040503050406030204" pitchFamily="18" charset="0"/>
                            </a:rPr>
                            <m:t>+∞</m:t>
                          </m:r>
                        </m:sup>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1" i="1" dirty="0" smtClean="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i="1" dirty="0">
                              <a:solidFill>
                                <a:schemeClr val="tx1"/>
                              </a:solidFill>
                              <a:latin typeface="Cambria Math" panose="02040503050406030204" pitchFamily="18" charset="0"/>
                            </a:rPr>
                          </m:ctrlPr>
                        </m:naryPr>
                        <m:sub>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b>
                        <m:sup>
                          <m:r>
                            <a:rPr lang="en-US" altLang="zh-CN" sz="1400" i="1" dirty="0">
                              <a:solidFill>
                                <a:schemeClr val="tx1"/>
                              </a:solidFill>
                              <a:latin typeface="Cambria Math" panose="02040503050406030204" pitchFamily="18" charset="0"/>
                            </a:rPr>
                            <m:t>+∞</m:t>
                          </m:r>
                        </m:sup>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oMath>
                    <m:oMath xmlns:m="http://schemas.openxmlformats.org/officeDocument/2006/math">
                      <m:r>
                        <a:rPr lang="en-US" altLang="zh-CN" sz="1400" b="1" i="1" dirty="0" smtClean="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b="1" i="1" dirty="0">
                              <a:solidFill>
                                <a:schemeClr val="tx1"/>
                              </a:solidFill>
                              <a:latin typeface="Cambria Math" panose="02040503050406030204" pitchFamily="18" charset="0"/>
                            </a:rPr>
                          </m:ctrlPr>
                        </m:naryPr>
                        <m:sub>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b>
                        <m:sup>
                          <m:r>
                            <a:rPr lang="en-US" altLang="zh-CN" sz="1400" b="1" i="1" dirty="0">
                              <a:solidFill>
                                <a:schemeClr val="tx1"/>
                              </a:solidFill>
                              <a:latin typeface="Cambria Math" panose="02040503050406030204" pitchFamily="18" charset="0"/>
                            </a:rPr>
                            <m:t>+∞</m:t>
                          </m:r>
                        </m:sup>
                        <m:e>
                          <m:d>
                            <m:dPr>
                              <m:ctrlPr>
                                <a:rPr lang="en-US" altLang="zh-CN" sz="1400" b="1" i="1" dirty="0" smtClean="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oMath>
                  </m:oMathPara>
                </a14:m>
                <a:endParaRPr lang="en-US" altLang="zh-CN" sz="1400"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F79F48A4-F2DF-D6C8-5126-5BED872D3EB7}"/>
                  </a:ext>
                </a:extLst>
              </p:cNvPr>
              <p:cNvSpPr>
                <a:spLocks noRot="1" noChangeAspect="1" noMove="1" noResize="1" noEditPoints="1" noAdjustHandles="1" noChangeArrowheads="1" noChangeShapeType="1" noTextEdit="1"/>
              </p:cNvSpPr>
              <p:nvPr/>
            </p:nvSpPr>
            <p:spPr>
              <a:xfrm>
                <a:off x="368712" y="1144044"/>
                <a:ext cx="11286756" cy="540280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716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4B9495-A96D-A7B4-EE5D-A69A9AAD75EE}"/>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D8EB1F03-2974-FAD4-2A44-A90E26232C09}"/>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sSub>
                      <m:sSubPr>
                        <m:ctrlPr>
                          <a:rPr lang="en-US" altLang="zh-CN" sz="3200" b="0" i="1" dirty="0" smtClean="0">
                            <a:solidFill>
                              <a:schemeClr val="tx1"/>
                            </a:solidFill>
                            <a:latin typeface="Cambria Math" panose="02040503050406030204" pitchFamily="18" charset="0"/>
                          </a:rPr>
                        </m:ctrlPr>
                      </m:sSubPr>
                      <m:e>
                        <m:r>
                          <a:rPr lang="en-US" altLang="zh-CN" sz="3200" b="0" i="1" dirty="0" smtClean="0">
                            <a:solidFill>
                              <a:schemeClr val="tx1"/>
                            </a:solidFill>
                            <a:latin typeface="Cambria Math" panose="02040503050406030204" pitchFamily="18" charset="0"/>
                          </a:rPr>
                          <m:t>𝐺</m:t>
                        </m:r>
                      </m:e>
                      <m:sub>
                        <m:r>
                          <a:rPr lang="en-US" altLang="zh-CN" sz="3200" b="0" i="1" dirty="0" smtClean="0">
                            <a:solidFill>
                              <a:schemeClr val="tx1"/>
                            </a:solidFill>
                            <a:latin typeface="Cambria Math" panose="02040503050406030204" pitchFamily="18" charset="0"/>
                          </a:rPr>
                          <m:t>1</m:t>
                        </m:r>
                      </m:sub>
                    </m:sSub>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𝒐</m:t>
                        </m:r>
                        <m:r>
                          <a:rPr lang="en-US" altLang="zh-CN" sz="3200" b="0" i="1" dirty="0" smtClean="0">
                            <a:solidFill>
                              <a:schemeClr val="tx1"/>
                            </a:solidFill>
                            <a:latin typeface="Cambria Math" panose="02040503050406030204" pitchFamily="18" charset="0"/>
                          </a:rPr>
                          <m:t>,</m:t>
                        </m:r>
                        <m:r>
                          <a:rPr lang="en-US" altLang="zh-CN" sz="3200" b="1" i="1" dirty="0" smtClean="0">
                            <a:solidFill>
                              <a:schemeClr val="tx1"/>
                            </a:solidFill>
                            <a:latin typeface="Cambria Math" panose="02040503050406030204" pitchFamily="18" charset="0"/>
                          </a:rPr>
                          <m:t>𝒎</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8BADD618-E6D5-765A-C504-E6437F242A0F}"/>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864" b="-7627"/>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642B1331-F895-56E5-DD25-B98C64DF9775}"/>
              </a:ext>
            </a:extLst>
          </p:cNvPr>
          <p:cNvSpPr/>
          <p:nvPr/>
        </p:nvSpPr>
        <p:spPr>
          <a:xfrm>
            <a:off x="521112" y="1315233"/>
            <a:ext cx="11286756"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9D275E6-588F-9A3C-4E27-CBFA57418D4B}"/>
                  </a:ext>
                </a:extLst>
              </p:cNvPr>
              <p:cNvSpPr/>
              <p:nvPr/>
            </p:nvSpPr>
            <p:spPr>
              <a:xfrm>
                <a:off x="368712" y="1144044"/>
                <a:ext cx="11286756"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0000"/>
                  </a:lnSpc>
                </a:pPr>
                <a:endParaRPr lang="en-US" altLang="zh-CN" sz="1400" dirty="0">
                  <a:solidFill>
                    <a:schemeClr val="tx1"/>
                  </a:solidFill>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1−</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e>
                      </m:d>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b="1" i="1" dirty="0" smtClean="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ary>
                        <m:naryPr>
                          <m:ctrlPr>
                            <a:rPr lang="en-US" altLang="zh-CN" sz="1400" b="1" i="1" dirty="0">
                              <a:solidFill>
                                <a:schemeClr val="tx1"/>
                              </a:solidFill>
                              <a:latin typeface="Cambria Math" panose="02040503050406030204" pitchFamily="18" charset="0"/>
                            </a:rPr>
                          </m:ctrlPr>
                        </m:naryPr>
                        <m:sub>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b>
                        <m:sup>
                          <m:r>
                            <a:rPr lang="en-US" altLang="zh-CN" sz="1400" b="1" i="1" dirty="0">
                              <a:solidFill>
                                <a:schemeClr val="tx1"/>
                              </a:solidFill>
                              <a:latin typeface="Cambria Math" panose="02040503050406030204" pitchFamily="18" charset="0"/>
                            </a:rPr>
                            <m:t>+∞</m:t>
                          </m:r>
                        </m:sup>
                        <m:e>
                          <m:d>
                            <m:dPr>
                              <m:ctrlPr>
                                <a:rPr lang="en-US" altLang="zh-CN" sz="1400" b="1" i="1" dirty="0" smtClean="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smtClean="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oMath>
                  </m:oMathPara>
                </a14:m>
                <a:endParaRPr lang="en-US" altLang="zh-CN" sz="1400" b="1" dirty="0">
                  <a:solidFill>
                    <a:schemeClr val="tx1"/>
                  </a:solidFill>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f>
                        <m:fPr>
                          <m:ctrlPr>
                            <a:rPr lang="en-US" altLang="zh-CN" sz="1400" b="0" i="1" dirty="0" smtClean="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um>
                        <m:den>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den>
                      </m:f>
                      <m:r>
                        <a:rPr lang="en-US" altLang="zh-CN" sz="1400" b="1" i="1" dirty="0" smtClean="0">
                          <a:solidFill>
                            <a:schemeClr val="tx1"/>
                          </a:solidFill>
                          <a:latin typeface="Cambria Math" panose="02040503050406030204" pitchFamily="18" charset="0"/>
                        </a:rPr>
                        <m:t>=</m:t>
                      </m:r>
                      <m:f>
                        <m:fPr>
                          <m:ctrlPr>
                            <a:rPr lang="en-US" altLang="zh-CN" sz="1400" b="1"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nary>
                        <m:naryPr>
                          <m:ctrlPr>
                            <a:rPr lang="en-US" altLang="zh-CN" sz="1400" b="1" i="1" dirty="0">
                              <a:solidFill>
                                <a:schemeClr val="tx1"/>
                              </a:solidFill>
                              <a:latin typeface="Cambria Math" panose="02040503050406030204" pitchFamily="18" charset="0"/>
                            </a:rPr>
                          </m:ctrlPr>
                        </m:naryPr>
                        <m:sub>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b>
                        <m:sup>
                          <m:r>
                            <a:rPr lang="en-US" altLang="zh-CN" sz="1400" b="1" i="1" dirty="0">
                              <a:solidFill>
                                <a:schemeClr val="tx1"/>
                              </a:solidFill>
                              <a:latin typeface="Cambria Math" panose="02040503050406030204" pitchFamily="18" charset="0"/>
                            </a:rPr>
                            <m:t>+∞</m:t>
                          </m:r>
                        </m:sup>
                        <m:e>
                          <m:d>
                            <m:dPr>
                              <m:ctrlPr>
                                <a:rPr lang="en-US" altLang="zh-CN" sz="1400" b="1" i="1" dirty="0" smtClean="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oMath>
                  </m:oMathPara>
                </a14:m>
                <a:endParaRPr lang="en-US" altLang="zh-CN" sz="1400" b="1" i="1" dirty="0">
                  <a:solidFill>
                    <a:schemeClr val="tx1"/>
                  </a:solidFill>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r>
                        <a:rPr lang="zh-CN" altLang="en-US" sz="1400" b="1" i="1" dirty="0">
                          <a:solidFill>
                            <a:schemeClr val="tx1"/>
                          </a:solidFill>
                          <a:latin typeface="Cambria Math" panose="02040503050406030204" pitchFamily="18" charset="0"/>
                        </a:rPr>
                        <m:t>令</m:t>
                      </m:r>
                      <m:r>
                        <m:rPr>
                          <m:sty m:val="p"/>
                        </m:rPr>
                        <a:rPr lang="en-US" altLang="zh-CN" sz="1400" b="0" i="0" dirty="0" smtClean="0">
                          <a:solidFill>
                            <a:schemeClr val="tx1"/>
                          </a:solidFill>
                          <a:latin typeface="Cambria Math" panose="02040503050406030204" pitchFamily="18" charset="0"/>
                        </a:rPr>
                        <m:t>Λ</m:t>
                      </m:r>
                      <m:d>
                        <m:dPr>
                          <m:ctrlPr>
                            <a:rPr lang="en-US" altLang="zh-CN" sz="1400" b="1" i="1" dirty="0" smtClean="0">
                              <a:solidFill>
                                <a:schemeClr val="tx1"/>
                              </a:solidFill>
                              <a:latin typeface="Cambria Math" panose="02040503050406030204" pitchFamily="18" charset="0"/>
                            </a:rPr>
                          </m:ctrlPr>
                        </m:dPr>
                        <m:e>
                          <m:r>
                            <a:rPr lang="en-US" altLang="zh-CN" sz="1400" b="1" i="0" dirty="0" smtClean="0">
                              <a:solidFill>
                                <a:schemeClr val="tx1"/>
                              </a:solidFill>
                              <a:latin typeface="Cambria Math" panose="02040503050406030204" pitchFamily="18" charset="0"/>
                            </a:rPr>
                            <m:t>𝐨</m:t>
                          </m:r>
                        </m:e>
                      </m:d>
                      <m:r>
                        <a:rPr lang="en-US" altLang="zh-CN" sz="1400" b="1" i="0" dirty="0" smtClean="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nary>
                        <m:naryPr>
                          <m:ctrlPr>
                            <a:rPr lang="en-US" altLang="zh-CN" sz="1400" b="1" i="1" dirty="0">
                              <a:solidFill>
                                <a:schemeClr val="tx1"/>
                              </a:solidFill>
                              <a:latin typeface="Cambria Math" panose="02040503050406030204" pitchFamily="18" charset="0"/>
                            </a:rPr>
                          </m:ctrlPr>
                        </m:naryPr>
                        <m:sub>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b>
                        <m:sup>
                          <m:r>
                            <a:rPr lang="en-US" altLang="zh-CN" sz="1400" b="1" i="1" dirty="0">
                              <a:solidFill>
                                <a:schemeClr val="tx1"/>
                              </a:solidFill>
                              <a:latin typeface="Cambria Math" panose="02040503050406030204" pitchFamily="18" charset="0"/>
                            </a:rPr>
                            <m:t>+∞</m:t>
                          </m:r>
                        </m:sup>
                        <m:e>
                          <m:d>
                            <m:dPr>
                              <m:ctrlPr>
                                <a:rPr lang="en-US" altLang="zh-CN" sz="1400" b="1"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1"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r>
                        <a:rPr lang="zh-CN" altLang="en-US" sz="1400" i="1" dirty="0">
                          <a:solidFill>
                            <a:schemeClr val="tx1"/>
                          </a:solidFill>
                          <a:latin typeface="Cambria Math" panose="02040503050406030204" pitchFamily="18" charset="0"/>
                        </a:rPr>
                        <m:t>为</m:t>
                      </m:r>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zh-CN" altLang="en-US" sz="1400" b="1" i="1" dirty="0">
                          <a:solidFill>
                            <a:schemeClr val="tx1"/>
                          </a:solidFill>
                          <a:latin typeface="Cambria Math" panose="02040503050406030204" pitchFamily="18" charset="0"/>
                        </a:rPr>
                        <m:t>与</m:t>
                      </m:r>
                      <m:r>
                        <a:rPr lang="en-US" altLang="zh-CN" sz="1400" b="1" i="1" dirty="0">
                          <a:solidFill>
                            <a:schemeClr val="tx1"/>
                          </a:solidFill>
                          <a:latin typeface="Cambria Math" panose="02040503050406030204" pitchFamily="18" charset="0"/>
                        </a:rPr>
                        <m:t>𝒈</m:t>
                      </m:r>
                      <m:r>
                        <a:rPr lang="zh-CN" altLang="en-US" sz="1400" b="1" i="1" dirty="0">
                          <a:solidFill>
                            <a:schemeClr val="tx1"/>
                          </a:solidFill>
                          <a:latin typeface="Cambria Math" panose="02040503050406030204" pitchFamily="18" charset="0"/>
                        </a:rPr>
                        <m:t>的夹角</m:t>
                      </m:r>
                    </m:oMath>
                  </m:oMathPara>
                </a14:m>
                <a:endParaRPr lang="en-US" altLang="zh-CN" sz="1400" b="1" dirty="0">
                  <a:solidFill>
                    <a:schemeClr val="tx1"/>
                  </a:solidFill>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um>
                        <m:den>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den>
                      </m:f>
                      <m:r>
                        <a:rPr lang="en-US" altLang="zh-CN" sz="1400"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oMath>
                  </m:oMathPara>
                </a14:m>
                <a:endParaRPr lang="en-US" altLang="zh-CN" sz="1400" b="1" dirty="0">
                  <a:solidFill>
                    <a:schemeClr val="tx1"/>
                  </a:solidFill>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r>
                        <a:rPr lang="en-US" altLang="zh-CN" sz="1400" i="1" dirty="0">
                          <a:solidFill>
                            <a:schemeClr val="tx1"/>
                          </a:solidFill>
                          <a:latin typeface="Cambria Math" panose="02040503050406030204" pitchFamily="18" charset="0"/>
                        </a:rPr>
                        <m:t>1</m:t>
                      </m:r>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num>
                        <m:den>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den>
                      </m:f>
                      <m:r>
                        <a:rPr lang="en-US" altLang="zh-CN" sz="1400" b="0" i="1" dirty="0" smtClean="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oMath>
                  </m:oMathPara>
                </a14:m>
                <a:endParaRPr lang="en-US" altLang="zh-CN" sz="1400" b="0" dirty="0">
                  <a:solidFill>
                    <a:schemeClr val="tx1"/>
                  </a:solidFill>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f>
                        <m:fPr>
                          <m:ctrlPr>
                            <a:rPr lang="en-US" altLang="zh-CN" sz="1400" b="0" i="1" dirty="0" smtClean="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den>
                      </m:f>
                      <m:r>
                        <a:rPr lang="en-US" altLang="zh-CN" sz="1400" b="0" i="1" dirty="0" smtClean="0">
                          <a:solidFill>
                            <a:schemeClr val="tx1"/>
                          </a:solidFill>
                          <a:latin typeface="Cambria Math" panose="02040503050406030204" pitchFamily="18" charset="0"/>
                        </a:rPr>
                        <m:t>=</m:t>
                      </m:r>
                      <m:r>
                        <a:rPr lang="en-US" altLang="zh-CN" sz="1400" b="0" i="0" dirty="0" smtClean="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oMath>
                  </m:oMathPara>
                </a14:m>
                <a:endParaRPr lang="en-US" altLang="zh-CN" sz="1400" b="0" dirty="0">
                  <a:solidFill>
                    <a:schemeClr val="tx1"/>
                  </a:solidFill>
                  <a:latin typeface="Cambria Math" panose="02040503050406030204" pitchFamily="18" charset="0"/>
                </a:endParaRPr>
              </a:p>
              <a:p>
                <a:pPr>
                  <a:lnSpc>
                    <a:spcPct val="110000"/>
                  </a:lnSpc>
                </a:pPr>
                <a14:m>
                  <m:oMathPara xmlns:m="http://schemas.openxmlformats.org/officeDocument/2006/math">
                    <m:oMathParaPr>
                      <m:jc m:val="centerGroup"/>
                    </m:oMathParaPr>
                    <m:oMath xmlns:m="http://schemas.openxmlformats.org/officeDocument/2006/math">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up>
                          <m:r>
                            <a:rPr lang="en-US" altLang="zh-CN" sz="1400" i="1" dirty="0">
                              <a:solidFill>
                                <a:schemeClr val="tx1"/>
                              </a:solidFill>
                              <a:latin typeface="Cambria Math" panose="02040503050406030204" pitchFamily="18" charset="0"/>
                            </a:rPr>
                            <m:t>𝑑𝑖𝑠𝑡</m:t>
                          </m:r>
                        </m:sup>
                      </m:sSub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a:rPr lang="en-US" altLang="zh-CN" sz="1400" b="0" i="0" dirty="0" smtClean="0">
                              <a:solidFill>
                                <a:schemeClr val="tx1"/>
                              </a:solidFill>
                              <a:latin typeface="Cambria Math" panose="02040503050406030204" pitchFamily="18" charset="0"/>
                            </a:rPr>
                            <m:t>1</m:t>
                          </m:r>
                        </m:num>
                        <m:den>
                          <m:r>
                            <a:rPr lang="en-US" altLang="zh-CN" sz="1400" b="0" i="0" dirty="0" smtClean="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den>
                      </m:f>
                    </m:oMath>
                  </m:oMathPara>
                </a14:m>
                <a:endParaRPr lang="en-US" altLang="zh-CN" sz="1400" b="0"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sz="1400" b="0" i="1" dirty="0" smtClean="0">
                              <a:solidFill>
                                <a:schemeClr val="tx1"/>
                              </a:solidFill>
                              <a:latin typeface="Cambria Math" panose="02040503050406030204" pitchFamily="18" charset="0"/>
                            </a:rPr>
                          </m:ctrlPr>
                        </m:sSubPr>
                        <m:e>
                          <m:r>
                            <a:rPr lang="en-US" altLang="zh-CN" sz="1400" i="1" dirty="0" smtClean="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Sub>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b="0" i="1" dirty="0" smtClean="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m:t>
                      </m:r>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up>
                          <m:r>
                            <a:rPr lang="en-US" altLang="zh-CN" sz="1400" b="0" i="1" dirty="0" smtClean="0">
                              <a:solidFill>
                                <a:schemeClr val="tx1"/>
                              </a:solidFill>
                              <a:latin typeface="Cambria Math" panose="02040503050406030204" pitchFamily="18" charset="0"/>
                            </a:rPr>
                            <m:t>𝑙𝑜𝑐𝑎𝑙</m:t>
                          </m:r>
                        </m:sup>
                      </m:sSub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m:rPr>
                          <m:lit/>
                        </m:rPr>
                        <a:rPr lang="en-US" altLang="zh-CN" sz="1400" b="0" i="1" dirty="0" smtClean="0">
                          <a:solidFill>
                            <a:schemeClr val="tx1"/>
                          </a:solidFill>
                          <a:latin typeface="Cambria Math" panose="02040503050406030204" pitchFamily="18" charset="0"/>
                        </a:rPr>
                        <m:t> </m:t>
                      </m:r>
                      <m:sSubSup>
                        <m:sSubSupPr>
                          <m:ctrlPr>
                            <a:rPr lang="en-US" altLang="zh-CN" sz="1400" b="0" i="1" dirty="0" smtClean="0">
                              <a:solidFill>
                                <a:schemeClr val="tx1"/>
                              </a:solidFill>
                              <a:latin typeface="Cambria Math" panose="02040503050406030204" pitchFamily="18" charset="0"/>
                            </a:rPr>
                          </m:ctrlPr>
                        </m:sSubSupPr>
                        <m:e>
                          <m:r>
                            <a:rPr lang="en-US" altLang="zh-CN" sz="1400" b="0" i="1" dirty="0" smtClean="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up>
                          <m:r>
                            <a:rPr lang="en-US" altLang="zh-CN" sz="1400" b="0" i="1" dirty="0" smtClean="0">
                              <a:solidFill>
                                <a:schemeClr val="tx1"/>
                              </a:solidFill>
                              <a:latin typeface="Cambria Math" panose="02040503050406030204" pitchFamily="18" charset="0"/>
                            </a:rPr>
                            <m:t>𝑑𝑖𝑠𝑡</m:t>
                          </m:r>
                        </m:sup>
                      </m:sSubSup>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e>
                      </m:d>
                      <m:r>
                        <a:rPr lang="en-US" altLang="zh-CN" sz="1400" b="0" i="1" dirty="0" smtClean="0">
                          <a:solidFill>
                            <a:schemeClr val="tx1"/>
                          </a:solidFill>
                          <a:latin typeface="Cambria Math" panose="02040503050406030204" pitchFamily="18" charset="0"/>
                        </a:rPr>
                        <m:t>,  </m:t>
                      </m:r>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up>
                          <m:r>
                            <a:rPr lang="en-US" altLang="zh-CN" sz="1400" b="0" i="1" dirty="0" smtClean="0">
                              <a:solidFill>
                                <a:schemeClr val="tx1"/>
                              </a:solidFill>
                              <a:latin typeface="Cambria Math" panose="02040503050406030204" pitchFamily="18" charset="0"/>
                            </a:rPr>
                            <m:t>𝑙𝑜𝑐𝑎𝑙</m:t>
                          </m:r>
                        </m:sup>
                      </m:sSub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𝑋</m:t>
                          </m:r>
                        </m:e>
                        <m:sup>
                          <m:r>
                            <a:rPr lang="en-US" altLang="zh-CN" sz="1400" b="0" i="1" dirty="0" smtClean="0">
                              <a:solidFill>
                                <a:schemeClr val="tx1"/>
                              </a:solidFill>
                              <a:latin typeface="Cambria Math" panose="02040503050406030204" pitchFamily="18" charset="0"/>
                            </a:rPr>
                            <m:t>+</m:t>
                          </m:r>
                        </m:sup>
                      </m:sSup>
                      <m:d>
                        <m:dPr>
                          <m:ctrlPr>
                            <a:rPr lang="en-US" altLang="zh-CN" sz="1400" b="0" i="1" dirty="0" smtClean="0">
                              <a:solidFill>
                                <a:schemeClr val="tx1"/>
                              </a:solidFill>
                              <a:latin typeface="Cambria Math" panose="02040503050406030204" pitchFamily="18" charset="0"/>
                            </a:rPr>
                          </m:ctrlPr>
                        </m:dPr>
                        <m:e>
                          <m:sSup>
                            <m:sSupPr>
                              <m:ctrlPr>
                                <a:rPr lang="en-US" altLang="zh-CN" sz="1400" b="1" i="1" dirty="0" smtClean="0">
                                  <a:solidFill>
                                    <a:schemeClr val="tx1"/>
                                  </a:solidFill>
                                  <a:latin typeface="Cambria Math" panose="02040503050406030204" pitchFamily="18" charset="0"/>
                                </a:rPr>
                              </m:ctrlPr>
                            </m:sSupPr>
                            <m:e>
                              <m:r>
                                <a:rPr lang="en-US" altLang="zh-CN" sz="1400" b="1" i="1" dirty="0" smtClean="0">
                                  <a:solidFill>
                                    <a:schemeClr val="tx1"/>
                                  </a:solidFill>
                                  <a:latin typeface="Cambria Math" panose="02040503050406030204" pitchFamily="18" charset="0"/>
                                </a:rPr>
                                <m:t>𝒐</m:t>
                              </m:r>
                            </m:e>
                            <m:sup>
                              <m:r>
                                <a:rPr lang="en-US" altLang="zh-CN" sz="1400" b="1" i="1" dirty="0" smtClean="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oMath>
                  </m:oMathPara>
                </a14:m>
                <a:endParaRPr lang="en-US" altLang="zh-CN" sz="1400" b="0"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en-US" altLang="zh-CN" sz="1400" b="0" i="1" dirty="0" smtClean="0">
                              <a:solidFill>
                                <a:schemeClr val="tx1"/>
                              </a:solidFill>
                              <a:latin typeface="Cambria Math" panose="02040503050406030204" pitchFamily="18" charset="0"/>
                            </a:rPr>
                          </m:ctrlPr>
                        </m:sSubPr>
                        <m:e>
                          <m:r>
                            <a:rPr lang="en-US" altLang="zh-CN" sz="1400" i="1" dirty="0" smtClean="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Sub>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b="0" i="1" dirty="0" smtClean="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dirty="0">
                              <a:solidFill>
                                <a:schemeClr val="tx1"/>
                              </a:solidFill>
                              <a:latin typeface="Cambria Math" panose="02040503050406030204" pitchFamily="18" charset="0"/>
                            </a:rPr>
                            <m:t>1</m:t>
                          </m:r>
                        </m:num>
                        <m:den>
                          <m:r>
                            <a:rPr lang="en-US" altLang="zh-CN" sz="1400" b="0" i="0" dirty="0" smtClean="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den>
                      </m:f>
                    </m:oMath>
                  </m:oMathPara>
                </a14:m>
                <a:endParaRPr lang="en-US" altLang="zh-CN" sz="1400" dirty="0">
                  <a:solidFill>
                    <a:schemeClr val="tx1"/>
                  </a:solidFill>
                  <a:latin typeface="Cambria Math" panose="02040503050406030204" pitchFamily="18" charset="0"/>
                </a:endParaRPr>
              </a:p>
              <a:p>
                <a:pPr>
                  <a:lnSpc>
                    <a:spcPct val="110000"/>
                  </a:lnSpc>
                </a:pPr>
                <a:endParaRPr lang="en-US" altLang="zh-CN" sz="1400"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89D275E6-588F-9A3C-4E27-CBFA57418D4B}"/>
                  </a:ext>
                </a:extLst>
              </p:cNvPr>
              <p:cNvSpPr>
                <a:spLocks noRot="1" noChangeAspect="1" noMove="1" noResize="1" noEditPoints="1" noAdjustHandles="1" noChangeArrowheads="1" noChangeShapeType="1" noTextEdit="1"/>
              </p:cNvSpPr>
              <p:nvPr/>
            </p:nvSpPr>
            <p:spPr>
              <a:xfrm>
                <a:off x="368712" y="1144044"/>
                <a:ext cx="11286756" cy="540280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830555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BA9D6-E75D-CE8B-C885-B2AD06F2133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A2C43DE6-D39F-FF6E-35DF-4B3B7117C76B}"/>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en-US" altLang="zh-CN" dirty="0">
                    <a:solidFill>
                      <a:schemeClr val="tx1"/>
                    </a:solidFill>
                  </a:rPr>
                  <a:t>GGX </a:t>
                </a:r>
                <a14:m>
                  <m:oMath xmlns:m="http://schemas.openxmlformats.org/officeDocument/2006/math">
                    <m:r>
                      <m:rPr>
                        <m:sty m:val="p"/>
                      </m:rPr>
                      <a:rPr lang="en-US" altLang="zh-CN" i="0" dirty="0" smtClean="0">
                        <a:solidFill>
                          <a:schemeClr val="tx1"/>
                        </a:solidFill>
                        <a:latin typeface="Cambria Math" panose="02040503050406030204" pitchFamily="18" charset="0"/>
                      </a:rPr>
                      <m:t>Λ</m:t>
                    </m:r>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𝒐</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A2C43DE6-D39F-FF6E-35DF-4B3B7117C76B}"/>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017" b="-8475"/>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5F4BEB0D-8754-DC18-8141-5F803ADB0DE2}"/>
              </a:ext>
            </a:extLst>
          </p:cNvPr>
          <p:cNvSpPr/>
          <p:nvPr/>
        </p:nvSpPr>
        <p:spPr>
          <a:xfrm>
            <a:off x="521112" y="1315233"/>
            <a:ext cx="11286756"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BCAF345A-713A-182C-C619-2870E4CA47F6}"/>
                  </a:ext>
                </a:extLst>
              </p:cNvPr>
              <p:cNvSpPr/>
              <p:nvPr/>
            </p:nvSpPr>
            <p:spPr>
              <a:xfrm>
                <a:off x="368712" y="1144044"/>
                <a:ext cx="11286756"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14:m>
                  <m:oMathPara xmlns:m="http://schemas.openxmlformats.org/officeDocument/2006/math">
                    <m:oMathParaPr>
                      <m:jc m:val="centerGroup"/>
                    </m:oMathParaPr>
                    <m:oMath xmlns:m="http://schemas.openxmlformats.org/officeDocument/2006/math">
                      <m:r>
                        <m:rPr>
                          <m:sty m:val="p"/>
                        </m:rPr>
                        <a:rPr lang="en-US" altLang="zh-CN" sz="1400" b="0" i="0" dirty="0" smtClean="0">
                          <a:solidFill>
                            <a:schemeClr val="tx1"/>
                          </a:solidFill>
                          <a:latin typeface="Cambria Math" panose="02040503050406030204" pitchFamily="18" charset="0"/>
                        </a:rPr>
                        <m:t>Λ</m:t>
                      </m:r>
                      <m:d>
                        <m:dPr>
                          <m:ctrlPr>
                            <a:rPr lang="en-US" altLang="zh-CN" sz="1400" b="1" i="1" dirty="0" smtClean="0">
                              <a:solidFill>
                                <a:schemeClr val="tx1"/>
                              </a:solidFill>
                              <a:latin typeface="Cambria Math" panose="02040503050406030204" pitchFamily="18" charset="0"/>
                            </a:rPr>
                          </m:ctrlPr>
                        </m:dPr>
                        <m:e>
                          <m:r>
                            <a:rPr lang="en-US" altLang="zh-CN" sz="1400" b="1" i="0" dirty="0" smtClean="0">
                              <a:solidFill>
                                <a:schemeClr val="tx1"/>
                              </a:solidFill>
                              <a:latin typeface="Cambria Math" panose="02040503050406030204" pitchFamily="18" charset="0"/>
                            </a:rPr>
                            <m:t>𝐨</m:t>
                          </m:r>
                        </m:e>
                      </m:d>
                      <m:r>
                        <a:rPr lang="en-US" altLang="zh-CN" sz="1400" b="1" i="0" dirty="0" smtClean="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nary>
                        <m:naryPr>
                          <m:ctrlPr>
                            <a:rPr lang="en-US" altLang="zh-CN" sz="1400" b="1" i="1" dirty="0">
                              <a:solidFill>
                                <a:schemeClr val="tx1"/>
                              </a:solidFill>
                              <a:latin typeface="Cambria Math" panose="02040503050406030204" pitchFamily="18" charset="0"/>
                            </a:rPr>
                          </m:ctrlPr>
                        </m:naryPr>
                        <m:sub>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b>
                        <m:sup>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m:t>
                          </m:r>
                        </m:sup>
                        <m:e>
                          <m:d>
                            <m:dPr>
                              <m:ctrlPr>
                                <a:rPr lang="en-US" altLang="zh-CN" sz="1400" b="1"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1" i="1" dirty="0" smtClean="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r>
                        <a:rPr lang="zh-CN" altLang="en-US" sz="1400" i="1" dirty="0">
                          <a:solidFill>
                            <a:schemeClr val="tx1"/>
                          </a:solidFill>
                          <a:latin typeface="Cambria Math" panose="02040503050406030204" pitchFamily="18" charset="0"/>
                        </a:rPr>
                        <m:t>为</m:t>
                      </m:r>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zh-CN" altLang="en-US" sz="1400" b="1" i="1" dirty="0">
                          <a:solidFill>
                            <a:schemeClr val="tx1"/>
                          </a:solidFill>
                          <a:latin typeface="Cambria Math" panose="02040503050406030204" pitchFamily="18" charset="0"/>
                        </a:rPr>
                        <m:t>与</m:t>
                      </m:r>
                      <m:r>
                        <a:rPr lang="en-US" altLang="zh-CN" sz="1400" b="1" i="1" dirty="0">
                          <a:solidFill>
                            <a:schemeClr val="tx1"/>
                          </a:solidFill>
                          <a:latin typeface="Cambria Math" panose="02040503050406030204" pitchFamily="18" charset="0"/>
                        </a:rPr>
                        <m:t>𝒈</m:t>
                      </m:r>
                      <m:r>
                        <a:rPr lang="zh-CN" altLang="en-US" sz="1400" b="1" i="1" dirty="0">
                          <a:solidFill>
                            <a:schemeClr val="tx1"/>
                          </a:solidFill>
                          <a:latin typeface="Cambria Math" panose="02040503050406030204" pitchFamily="18" charset="0"/>
                        </a:rPr>
                        <m:t>的夹角</m:t>
                      </m:r>
                    </m:oMath>
                  </m:oMathPara>
                </a14:m>
                <a:endParaRPr lang="en-US" altLang="zh-CN" sz="1400"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m:t>
                      </m:r>
                      <m:nary>
                        <m:naryPr>
                          <m:ctrlPr>
                            <a:rPr lang="en-US" altLang="zh-CN" sz="1400" i="1" dirty="0" smtClean="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p>
                        <m:e>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𝑧</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𝑧</m:t>
                              </m:r>
                            </m:sub>
                          </m:sSub>
                        </m:e>
                      </m:nary>
                    </m:oMath>
                  </m:oMathPara>
                </a14:m>
                <a:endParaRPr lang="en-US" altLang="zh-CN" sz="1400" b="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𝑃</m:t>
                          </m:r>
                        </m:e>
                        <m:sup>
                          <m:r>
                            <a:rPr lang="en-US" altLang="zh-CN" sz="1400" b="0" i="1" dirty="0" smtClean="0">
                              <a:solidFill>
                                <a:schemeClr val="tx1"/>
                              </a:solidFill>
                              <a:latin typeface="Cambria Math" panose="02040503050406030204" pitchFamily="18" charset="0"/>
                            </a:rPr>
                            <m:t>22</m:t>
                          </m:r>
                        </m:sup>
                      </m:sSup>
                      <m:d>
                        <m:dPr>
                          <m:ctrlPr>
                            <a:rPr lang="en-US" altLang="zh-CN" sz="1400" b="0" i="1" dirty="0" smtClean="0">
                              <a:solidFill>
                                <a:schemeClr val="tx1"/>
                              </a:solidFill>
                              <a:latin typeface="Cambria Math" panose="02040503050406030204" pitchFamily="18" charset="0"/>
                            </a:rPr>
                          </m:ctrlPr>
                        </m:dPr>
                        <m:e>
                          <m:acc>
                            <m:accPr>
                              <m:chr m:val="̃"/>
                              <m:ctrlPr>
                                <a:rPr lang="en-US" altLang="zh-CN" sz="1400" b="1" i="1" dirty="0" smtClean="0">
                                  <a:solidFill>
                                    <a:schemeClr val="tx1"/>
                                  </a:solidFill>
                                  <a:latin typeface="Cambria Math" panose="02040503050406030204" pitchFamily="18" charset="0"/>
                                </a:rPr>
                              </m:ctrlPr>
                            </m:accPr>
                            <m:e>
                              <m:r>
                                <a:rPr lang="en-US" altLang="zh-CN" sz="1400" b="1" i="1" dirty="0" smtClean="0">
                                  <a:solidFill>
                                    <a:schemeClr val="tx1"/>
                                  </a:solidFill>
                                  <a:latin typeface="Cambria Math" panose="02040503050406030204" pitchFamily="18" charset="0"/>
                                </a:rPr>
                                <m:t>𝒎</m:t>
                              </m:r>
                            </m:e>
                          </m:acc>
                        </m:e>
                      </m:d>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𝑑</m:t>
                      </m:r>
                      <m:acc>
                        <m:accPr>
                          <m:chr m:val="̃"/>
                          <m:ctrlPr>
                            <a:rPr lang="en-US" altLang="zh-CN" sz="1400" b="1" i="1" dirty="0" smtClean="0">
                              <a:solidFill>
                                <a:schemeClr val="tx1"/>
                              </a:solidFill>
                              <a:latin typeface="Cambria Math" panose="02040503050406030204" pitchFamily="18" charset="0"/>
                            </a:rPr>
                          </m:ctrlPr>
                        </m:accPr>
                        <m:e>
                          <m:r>
                            <a:rPr lang="en-US" altLang="zh-CN" sz="1400" b="1" i="1" dirty="0" smtClean="0">
                              <a:solidFill>
                                <a:schemeClr val="tx1"/>
                              </a:solidFill>
                              <a:latin typeface="Cambria Math" panose="02040503050406030204" pitchFamily="18" charset="0"/>
                            </a:rPr>
                            <m:t>𝒎</m:t>
                          </m:r>
                        </m:e>
                      </m:acc>
                      <m:r>
                        <a:rPr lang="en-US" altLang="zh-CN" sz="1400" b="1"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𝐷</m:t>
                      </m:r>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r>
                            <a:rPr lang="en-US" altLang="zh-CN" sz="1400" b="0"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𝑑</m:t>
                      </m:r>
                      <m:sSub>
                        <m:sSubPr>
                          <m:ctrlPr>
                            <a:rPr lang="en-US" altLang="zh-CN" sz="140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𝜔</m:t>
                          </m:r>
                        </m:e>
                        <m:sub>
                          <m:r>
                            <a:rPr lang="en-US" altLang="zh-CN" sz="1400" b="0" i="1" dirty="0" smtClean="0">
                              <a:solidFill>
                                <a:schemeClr val="tx1"/>
                              </a:solidFill>
                              <a:latin typeface="Cambria Math" panose="02040503050406030204" pitchFamily="18" charset="0"/>
                            </a:rPr>
                            <m:t>𝑚</m:t>
                          </m:r>
                        </m:sub>
                      </m:sSub>
                    </m:oMath>
                  </m:oMathPara>
                </a14:m>
                <a:endParaRPr lang="en-US" altLang="zh-CN" sz="1400" i="0"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𝑃</m:t>
                          </m:r>
                        </m:e>
                        <m:sup>
                          <m:r>
                            <a:rPr lang="en-US" altLang="zh-CN" sz="1400" b="0" i="1" dirty="0" smtClean="0">
                              <a:solidFill>
                                <a:schemeClr val="tx1"/>
                              </a:solidFill>
                              <a:latin typeface="Cambria Math" panose="02040503050406030204" pitchFamily="18" charset="0"/>
                            </a:rPr>
                            <m:t>22</m:t>
                          </m:r>
                        </m:sup>
                      </m:sSup>
                      <m:d>
                        <m:dPr>
                          <m:ctrlPr>
                            <a:rPr lang="en-US" altLang="zh-CN" sz="1400" b="0" i="1" dirty="0" smtClean="0">
                              <a:solidFill>
                                <a:schemeClr val="tx1"/>
                              </a:solidFill>
                              <a:latin typeface="Cambria Math" panose="02040503050406030204" pitchFamily="18" charset="0"/>
                            </a:rPr>
                          </m:ctrlPr>
                        </m:dPr>
                        <m:e>
                          <m:acc>
                            <m:accPr>
                              <m:chr m:val="̃"/>
                              <m:ctrlPr>
                                <a:rPr lang="en-US" altLang="zh-CN" sz="1400" b="1" i="1" dirty="0" smtClean="0">
                                  <a:solidFill>
                                    <a:schemeClr val="tx1"/>
                                  </a:solidFill>
                                  <a:latin typeface="Cambria Math" panose="02040503050406030204" pitchFamily="18" charset="0"/>
                                </a:rPr>
                              </m:ctrlPr>
                            </m:accPr>
                            <m:e>
                              <m:r>
                                <a:rPr lang="en-US" altLang="zh-CN" sz="1400" b="1" i="1" dirty="0" smtClean="0">
                                  <a:solidFill>
                                    <a:schemeClr val="tx1"/>
                                  </a:solidFill>
                                  <a:latin typeface="Cambria Math" panose="02040503050406030204" pitchFamily="18" charset="0"/>
                                </a:rPr>
                                <m:t>𝒎</m:t>
                              </m:r>
                            </m:e>
                          </m:acc>
                        </m:e>
                      </m:d>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𝑑</m:t>
                      </m:r>
                      <m:sSub>
                        <m:sSubPr>
                          <m:ctrlPr>
                            <a:rPr lang="en-US" altLang="zh-CN" sz="1400" i="1" dirty="0" smtClean="0">
                              <a:solidFill>
                                <a:schemeClr val="tx1"/>
                              </a:solidFill>
                              <a:latin typeface="Cambria Math" panose="02040503050406030204" pitchFamily="18" charset="0"/>
                            </a:rPr>
                          </m:ctrlPr>
                        </m:sSubPr>
                        <m:e>
                          <m:acc>
                            <m:accPr>
                              <m:chr m:val="̃"/>
                              <m:ctrlPr>
                                <a:rPr lang="en-US" altLang="zh-CN" sz="1400" i="1" dirty="0" smtClean="0">
                                  <a:solidFill>
                                    <a:schemeClr val="tx1"/>
                                  </a:solidFill>
                                  <a:latin typeface="Cambria Math" panose="02040503050406030204" pitchFamily="18" charset="0"/>
                                </a:rPr>
                              </m:ctrlPr>
                            </m:accPr>
                            <m:e>
                              <m:r>
                                <a:rPr lang="en-US" altLang="zh-CN" sz="1400" b="0" i="1" dirty="0" smtClean="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𝑥</m:t>
                          </m:r>
                        </m:sub>
                      </m:sSub>
                      <m:r>
                        <a:rPr lang="en-US" altLang="zh-CN" sz="1400" b="0" i="1" dirty="0" smtClean="0">
                          <a:solidFill>
                            <a:schemeClr val="tx1"/>
                          </a:solidFill>
                          <a:latin typeface="Cambria Math" panose="02040503050406030204" pitchFamily="18" charset="0"/>
                        </a:rPr>
                        <m:t>𝑑</m:t>
                      </m:r>
                      <m:sSub>
                        <m:sSubPr>
                          <m:ctrlPr>
                            <a:rPr lang="en-US" altLang="zh-CN" sz="1400" i="1" dirty="0" smtClean="0">
                              <a:solidFill>
                                <a:schemeClr val="tx1"/>
                              </a:solidFill>
                              <a:latin typeface="Cambria Math" panose="02040503050406030204" pitchFamily="18" charset="0"/>
                            </a:rPr>
                          </m:ctrlPr>
                        </m:sSubPr>
                        <m:e>
                          <m:acc>
                            <m:accPr>
                              <m:chr m:val="̃"/>
                              <m:ctrlPr>
                                <a:rPr lang="en-US" altLang="zh-CN" sz="1400" i="1" dirty="0" smtClean="0">
                                  <a:solidFill>
                                    <a:schemeClr val="tx1"/>
                                  </a:solidFill>
                                  <a:latin typeface="Cambria Math" panose="02040503050406030204" pitchFamily="18" charset="0"/>
                                </a:rPr>
                              </m:ctrlPr>
                            </m:accPr>
                            <m:e>
                              <m:r>
                                <a:rPr lang="en-US" altLang="zh-CN" sz="1400" b="0" i="1" dirty="0" smtClean="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r>
                        <a:rPr lang="en-US" altLang="zh-CN" sz="1400" b="1"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𝐷</m:t>
                      </m:r>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r>
                            <a:rPr lang="en-US" altLang="zh-CN" sz="1400" b="0"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𝒈</m:t>
                          </m:r>
                        </m:e>
                      </m:d>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r>
                        <a:rPr lang="en-US" altLang="zh-CN" sz="1400" b="0" i="1" dirty="0" smtClean="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r>
                        <a:rPr lang="en-US" altLang="zh-CN" sz="1400" b="0" i="1" dirty="0" smtClean="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𝜙</m:t>
                          </m:r>
                        </m:e>
                        <m:sub>
                          <m:r>
                            <a:rPr lang="en-US" altLang="zh-CN" sz="1400" b="0" i="1" dirty="0" smtClean="0">
                              <a:solidFill>
                                <a:schemeClr val="tx1"/>
                              </a:solidFill>
                              <a:latin typeface="Cambria Math" panose="02040503050406030204" pitchFamily="18" charset="0"/>
                            </a:rPr>
                            <m:t>𝑚</m:t>
                          </m:r>
                        </m:sub>
                      </m:sSub>
                    </m:oMath>
                  </m:oMathPara>
                </a14:m>
                <a:endParaRPr lang="en-US" altLang="zh-CN" sz="1400" i="0"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𝑃</m:t>
                          </m:r>
                        </m:e>
                        <m:sup>
                          <m:r>
                            <a:rPr lang="en-US" altLang="zh-CN" sz="1400" b="0" i="1" dirty="0" smtClean="0">
                              <a:solidFill>
                                <a:schemeClr val="tx1"/>
                              </a:solidFill>
                              <a:latin typeface="Cambria Math" panose="02040503050406030204" pitchFamily="18" charset="0"/>
                            </a:rPr>
                            <m:t>22</m:t>
                          </m:r>
                        </m:sup>
                      </m:sSup>
                      <m:d>
                        <m:dPr>
                          <m:ctrlPr>
                            <a:rPr lang="en-US" altLang="zh-CN" sz="1400" b="0" i="1" dirty="0" smtClean="0">
                              <a:solidFill>
                                <a:schemeClr val="tx1"/>
                              </a:solidFill>
                              <a:latin typeface="Cambria Math" panose="02040503050406030204" pitchFamily="18" charset="0"/>
                            </a:rPr>
                          </m:ctrlPr>
                        </m:dPr>
                        <m:e>
                          <m:acc>
                            <m:accPr>
                              <m:chr m:val="̃"/>
                              <m:ctrlPr>
                                <a:rPr lang="en-US" altLang="zh-CN" sz="1400" b="1" i="1" dirty="0" smtClean="0">
                                  <a:solidFill>
                                    <a:schemeClr val="tx1"/>
                                  </a:solidFill>
                                  <a:latin typeface="Cambria Math" panose="02040503050406030204" pitchFamily="18" charset="0"/>
                                </a:rPr>
                              </m:ctrlPr>
                            </m:accPr>
                            <m:e>
                              <m:r>
                                <a:rPr lang="en-US" altLang="zh-CN" sz="1400" b="1" i="1" dirty="0" smtClean="0">
                                  <a:solidFill>
                                    <a:schemeClr val="tx1"/>
                                  </a:solidFill>
                                  <a:latin typeface="Cambria Math" panose="02040503050406030204" pitchFamily="18" charset="0"/>
                                </a:rPr>
                                <m:t>𝒎</m:t>
                              </m:r>
                            </m:e>
                          </m:acc>
                        </m:e>
                      </m:d>
                      <m:d>
                        <m:dPr>
                          <m:begChr m:val="|"/>
                          <m:endChr m:val="|"/>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det</m:t>
                              </m:r>
                            </m:fName>
                            <m:e>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r>
                                        <a:rPr lang="en-US" altLang="zh-CN" sz="1400" b="1" i="1" dirty="0">
                                          <a:solidFill>
                                            <a:schemeClr val="tx1"/>
                                          </a:solidFill>
                                          <a:latin typeface="Cambria Math" panose="02040503050406030204" pitchFamily="18" charset="0"/>
                                        </a:rPr>
                                        <m:t>)</m:t>
                                      </m:r>
                                    </m:num>
                                    <m:den>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m:t>
                                      </m:r>
                                      <m:r>
                                        <a:rPr lang="en-US" altLang="zh-CN" sz="1400" i="1" dirty="0" smtClean="0">
                                          <a:solidFill>
                                            <a:schemeClr val="tx1"/>
                                          </a:solidFill>
                                          <a:latin typeface="Cambria Math" panose="02040503050406030204" pitchFamily="18" charset="0"/>
                                        </a:rPr>
                                        <m:t> </m:t>
                                      </m:r>
                                    </m:den>
                                  </m:f>
                                </m:e>
                              </m:d>
                            </m:e>
                          </m:func>
                        </m:e>
                      </m:d>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oMath>
                  </m:oMathPara>
                </a14:m>
                <a:endParaRPr lang="en-US" altLang="zh-CN" sz="1400" b="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d>
                        <m:dPr>
                          <m:begChr m:val="|"/>
                          <m:endChr m:val="|"/>
                          <m:ctrlPr>
                            <a:rPr lang="en-US" altLang="zh-CN" sz="1400" b="0" i="1" dirty="0" smtClean="0">
                              <a:solidFill>
                                <a:schemeClr val="tx1"/>
                              </a:solidFill>
                              <a:latin typeface="Cambria Math" panose="02040503050406030204" pitchFamily="18" charset="0"/>
                            </a:rPr>
                          </m:ctrlPr>
                        </m:dPr>
                        <m:e>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det</m:t>
                              </m:r>
                            </m:fName>
                            <m:e>
                              <m:d>
                                <m:dPr>
                                  <m:ctrlPr>
                                    <a:rPr lang="en-US" altLang="zh-CN" sz="1400" b="0" i="1" dirty="0" smtClean="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r>
                                        <a:rPr lang="en-US" altLang="zh-CN" sz="1400" b="1" i="1" dirty="0">
                                          <a:solidFill>
                                            <a:schemeClr val="tx1"/>
                                          </a:solidFill>
                                          <a:latin typeface="Cambria Math" panose="02040503050406030204" pitchFamily="18" charset="0"/>
                                        </a:rPr>
                                        <m:t>)</m:t>
                                      </m:r>
                                    </m:num>
                                    <m:den>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 </m:t>
                                      </m:r>
                                    </m:den>
                                  </m:f>
                                </m:e>
                              </m:d>
                            </m:e>
                          </m:func>
                        </m:e>
                      </m:d>
                      <m:r>
                        <a:rPr lang="en-US" altLang="zh-CN" sz="1400" b="0" i="1" dirty="0" smtClean="0">
                          <a:solidFill>
                            <a:schemeClr val="tx1"/>
                          </a:solidFill>
                          <a:latin typeface="Cambria Math" panose="02040503050406030204" pitchFamily="18" charset="0"/>
                        </a:rPr>
                        <m:t>=</m:t>
                      </m:r>
                      <m:d>
                        <m:dPr>
                          <m:begChr m:val="‖"/>
                          <m:endChr m:val="‖"/>
                          <m:ctrlPr>
                            <a:rPr lang="en-US" altLang="zh-CN" sz="1400" b="0" i="1" dirty="0" smtClean="0">
                              <a:solidFill>
                                <a:schemeClr val="tx1"/>
                              </a:solidFill>
                              <a:latin typeface="Cambria Math" panose="02040503050406030204" pitchFamily="18" charset="0"/>
                            </a:rPr>
                          </m:ctrlPr>
                        </m:dPr>
                        <m:e>
                          <m:m>
                            <m:mPr>
                              <m:mcs>
                                <m:mc>
                                  <m:mcPr>
                                    <m:count m:val="2"/>
                                    <m:mcJc m:val="center"/>
                                  </m:mcPr>
                                </m:mc>
                              </m:mcs>
                              <m:ctrlPr>
                                <a:rPr lang="en-US" altLang="zh-CN" sz="1400" b="0" i="1" dirty="0" smtClean="0">
                                  <a:solidFill>
                                    <a:schemeClr val="tx1"/>
                                  </a:solidFill>
                                  <a:latin typeface="Cambria Math" panose="02040503050406030204" pitchFamily="18" charset="0"/>
                                </a:rPr>
                              </m:ctrlPr>
                            </m:mPr>
                            <m:mr>
                              <m:e>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num>
                                  <m:den>
                                    <m:r>
                                      <a:rPr lang="en-US" altLang="zh-CN" sz="1400" b="0" i="1" dirty="0" smtClean="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den>
                                </m:f>
                              </m:e>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den>
                                </m:f>
                              </m:e>
                            </m:mr>
                            <m:m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den>
                                </m:f>
                              </m:e>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den>
                                </m:f>
                              </m:e>
                            </m:mr>
                          </m:m>
                        </m:e>
                      </m:d>
                      <m:r>
                        <a:rPr lang="en-US" altLang="zh-CN" sz="1400" b="0" i="1" dirty="0" smtClean="0">
                          <a:solidFill>
                            <a:schemeClr val="tx1"/>
                          </a:solidFill>
                          <a:latin typeface="Cambria Math" panose="02040503050406030204" pitchFamily="18" charset="0"/>
                        </a:rPr>
                        <m:t>=</m:t>
                      </m:r>
                      <m:d>
                        <m:dPr>
                          <m:begChr m:val="|"/>
                          <m:endChr m:val="|"/>
                          <m:ctrlPr>
                            <a:rPr lang="en-US" altLang="zh-CN" sz="1400" b="0" i="1" dirty="0" smtClean="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den>
                          </m:f>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den>
                          </m:f>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den>
                          </m:f>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den>
                          </m:f>
                        </m:e>
                      </m:d>
                    </m:oMath>
                  </m:oMathPara>
                </a14:m>
                <a:endParaRPr lang="en-US" altLang="zh-CN" sz="1400" b="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en-US" altLang="zh-CN" sz="1400" b="1" i="1" dirty="0" smtClean="0">
                          <a:solidFill>
                            <a:schemeClr val="tx1"/>
                          </a:solidFill>
                          <a:latin typeface="Cambria Math" panose="02040503050406030204" pitchFamily="18" charset="0"/>
                        </a:rPr>
                        <m:t>𝒎</m:t>
                      </m:r>
                      <m:r>
                        <a:rPr lang="en-US" altLang="zh-CN" sz="1400" b="1" i="1" dirty="0" smtClean="0">
                          <a:solidFill>
                            <a:schemeClr val="tx1"/>
                          </a:solidFill>
                          <a:latin typeface="Cambria Math" panose="02040503050406030204" pitchFamily="18" charset="0"/>
                        </a:rPr>
                        <m:t>=</m:t>
                      </m:r>
                      <m:d>
                        <m:dPr>
                          <m:ctrlPr>
                            <a:rPr lang="en-US" altLang="zh-CN" sz="1400" b="1" i="1" dirty="0" smtClean="0">
                              <a:solidFill>
                                <a:schemeClr val="tx1"/>
                              </a:solidFill>
                              <a:latin typeface="Cambria Math" panose="02040503050406030204" pitchFamily="18" charset="0"/>
                            </a:rPr>
                          </m:ctrlPr>
                        </m:dPr>
                        <m:e>
                          <m:func>
                            <m:funcPr>
                              <m:ctrlPr>
                                <a:rPr lang="en-US" altLang="zh-CN" sz="1400" b="1"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𝜙</m:t>
                                  </m:r>
                                </m:e>
                                <m:sub>
                                  <m:r>
                                    <a:rPr lang="en-US" altLang="zh-CN" sz="1400" b="0" i="1" dirty="0" smtClean="0">
                                      <a:solidFill>
                                        <a:schemeClr val="tx1"/>
                                      </a:solidFill>
                                      <a:latin typeface="Cambria Math" panose="02040503050406030204" pitchFamily="18" charset="0"/>
                                    </a:rPr>
                                    <m:t>𝑚</m:t>
                                  </m:r>
                                </m:sub>
                              </m:sSub>
                            </m:e>
                          </m:func>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𝜙</m:t>
                                  </m:r>
                                </m:e>
                                <m:sub>
                                  <m:r>
                                    <a:rPr lang="en-US" altLang="zh-CN" sz="1400" b="0" i="1" dirty="0" smtClean="0">
                                      <a:solidFill>
                                        <a:schemeClr val="tx1"/>
                                      </a:solidFill>
                                      <a:latin typeface="Cambria Math" panose="02040503050406030204" pitchFamily="18" charset="0"/>
                                    </a:rPr>
                                    <m:t>𝑚</m:t>
                                  </m:r>
                                </m:sub>
                              </m:sSub>
                            </m:e>
                          </m:func>
                        </m:e>
                      </m:d>
                      <m:r>
                        <a:rPr lang="en-US" altLang="zh-CN" sz="1400" b="0" i="1" dirty="0" smtClean="0">
                          <a:solidFill>
                            <a:schemeClr val="tx1"/>
                          </a:solidFill>
                          <a:latin typeface="Cambria Math" panose="02040503050406030204" pitchFamily="18" charset="0"/>
                        </a:rPr>
                        <m:t>,  </m:t>
                      </m:r>
                      <m:acc>
                        <m:accPr>
                          <m:chr m:val="̃"/>
                          <m:ctrlPr>
                            <a:rPr lang="en-US" altLang="zh-CN" sz="1400" b="1" i="1" dirty="0" smtClean="0">
                              <a:solidFill>
                                <a:schemeClr val="tx1"/>
                              </a:solidFill>
                              <a:latin typeface="Cambria Math" panose="02040503050406030204" pitchFamily="18" charset="0"/>
                            </a:rPr>
                          </m:ctrlPr>
                        </m:accPr>
                        <m:e>
                          <m:r>
                            <a:rPr lang="en-US" altLang="zh-CN" sz="1400" b="1" i="1" dirty="0" smtClean="0">
                              <a:solidFill>
                                <a:schemeClr val="tx1"/>
                              </a:solidFill>
                              <a:latin typeface="Cambria Math" panose="02040503050406030204" pitchFamily="18" charset="0"/>
                            </a:rPr>
                            <m:t>𝒎</m:t>
                          </m:r>
                        </m:e>
                      </m:acc>
                      <m:r>
                        <a:rPr lang="en-US" altLang="zh-CN" sz="1400" b="1" i="1" dirty="0" smtClean="0">
                          <a:solidFill>
                            <a:schemeClr val="tx1"/>
                          </a:solidFill>
                          <a:latin typeface="Cambria Math" panose="02040503050406030204" pitchFamily="18" charset="0"/>
                        </a:rPr>
                        <m:t>=</m:t>
                      </m:r>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b="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b="0" i="1" dirty="0">
                                      <a:solidFill>
                                        <a:schemeClr val="tx1"/>
                                      </a:solidFill>
                                      <a:latin typeface="Cambria Math" panose="02040503050406030204" pitchFamily="18" charset="0"/>
                                    </a:rPr>
                                    <m:t>𝑚</m:t>
                                  </m:r>
                                </m:e>
                                <m:sub>
                                  <m:r>
                                    <a:rPr lang="en-US" altLang="zh-CN" sz="1400" b="0" i="1" dirty="0">
                                      <a:solidFill>
                                        <a:schemeClr val="tx1"/>
                                      </a:solidFill>
                                      <a:latin typeface="Cambria Math" panose="02040503050406030204" pitchFamily="18" charset="0"/>
                                    </a:rPr>
                                    <m:t>𝑥</m:t>
                                  </m:r>
                                </m:sub>
                              </m:sSub>
                            </m:num>
                            <m:den>
                              <m:sSub>
                                <m:sSubPr>
                                  <m:ctrlPr>
                                    <a:rPr lang="en-US" altLang="zh-CN" sz="1400" i="1" dirty="0">
                                      <a:solidFill>
                                        <a:schemeClr val="tx1"/>
                                      </a:solidFill>
                                      <a:latin typeface="Cambria Math" panose="02040503050406030204" pitchFamily="18" charset="0"/>
                                    </a:rPr>
                                  </m:ctrlPr>
                                </m:sSubPr>
                                <m:e>
                                  <m:r>
                                    <a:rPr lang="en-US" altLang="zh-CN" sz="1400" b="0" i="1" dirty="0">
                                      <a:solidFill>
                                        <a:schemeClr val="tx1"/>
                                      </a:solidFill>
                                      <a:latin typeface="Cambria Math" panose="02040503050406030204" pitchFamily="18" charset="0"/>
                                    </a:rPr>
                                    <m:t>𝑚</m:t>
                                  </m:r>
                                </m:e>
                                <m:sub>
                                  <m:r>
                                    <a:rPr lang="en-US" altLang="zh-CN" sz="1400" b="0" i="1" dirty="0">
                                      <a:solidFill>
                                        <a:schemeClr val="tx1"/>
                                      </a:solidFill>
                                      <a:latin typeface="Cambria Math" panose="02040503050406030204" pitchFamily="18" charset="0"/>
                                    </a:rPr>
                                    <m:t>𝑦</m:t>
                                  </m:r>
                                </m:sub>
                              </m:sSub>
                            </m:den>
                          </m:f>
                          <m:r>
                            <a:rPr lang="en-US" altLang="zh-CN" sz="1400" b="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b="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b="0" i="1" dirty="0">
                                      <a:solidFill>
                                        <a:schemeClr val="tx1"/>
                                      </a:solidFill>
                                      <a:latin typeface="Cambria Math" panose="02040503050406030204" pitchFamily="18" charset="0"/>
                                    </a:rPr>
                                    <m:t>𝑚</m:t>
                                  </m:r>
                                </m:e>
                                <m:sub>
                                  <m:r>
                                    <a:rPr lang="en-US" altLang="zh-CN" sz="1400" b="0" i="1" dirty="0">
                                      <a:solidFill>
                                        <a:schemeClr val="tx1"/>
                                      </a:solidFill>
                                      <a:latin typeface="Cambria Math" panose="02040503050406030204" pitchFamily="18" charset="0"/>
                                    </a:rPr>
                                    <m:t>𝑧</m:t>
                                  </m:r>
                                </m:sub>
                              </m:sSub>
                            </m:num>
                            <m:den>
                              <m:sSub>
                                <m:sSubPr>
                                  <m:ctrlPr>
                                    <a:rPr lang="en-US" altLang="zh-CN" sz="1400" i="1" dirty="0">
                                      <a:solidFill>
                                        <a:schemeClr val="tx1"/>
                                      </a:solidFill>
                                      <a:latin typeface="Cambria Math" panose="02040503050406030204" pitchFamily="18" charset="0"/>
                                    </a:rPr>
                                  </m:ctrlPr>
                                </m:sSubPr>
                                <m:e>
                                  <m:r>
                                    <a:rPr lang="en-US" altLang="zh-CN" sz="1400" b="0" i="1" dirty="0">
                                      <a:solidFill>
                                        <a:schemeClr val="tx1"/>
                                      </a:solidFill>
                                      <a:latin typeface="Cambria Math" panose="02040503050406030204" pitchFamily="18" charset="0"/>
                                    </a:rPr>
                                    <m:t>𝑚</m:t>
                                  </m:r>
                                </m:e>
                                <m:sub>
                                  <m:r>
                                    <a:rPr lang="en-US" altLang="zh-CN" sz="1400" b="0" i="1" dirty="0">
                                      <a:solidFill>
                                        <a:schemeClr val="tx1"/>
                                      </a:solidFill>
                                      <a:latin typeface="Cambria Math" panose="02040503050406030204" pitchFamily="18" charset="0"/>
                                    </a:rPr>
                                    <m:t>𝑦</m:t>
                                  </m:r>
                                </m:sub>
                              </m:sSub>
                            </m:den>
                          </m:f>
                        </m:e>
                      </m:d>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func>
                                <m:funcPr>
                                  <m:ctrlPr>
                                    <a:rPr lang="en-US" altLang="zh-CN" sz="1400" b="1"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e>
                              </m:func>
                            </m:num>
                            <m:den>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den>
                          </m:f>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e>
                              </m:func>
                            </m:num>
                            <m:den>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den>
                          </m:f>
                        </m:e>
                      </m:d>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tan</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𝜙</m:t>
                                  </m:r>
                                </m:e>
                                <m:sub>
                                  <m:r>
                                    <a:rPr lang="en-US" altLang="zh-CN" sz="1400" b="0" i="1" dirty="0" smtClean="0">
                                      <a:solidFill>
                                        <a:schemeClr val="tx1"/>
                                      </a:solidFill>
                                      <a:latin typeface="Cambria Math" panose="02040503050406030204" pitchFamily="18" charset="0"/>
                                    </a:rPr>
                                    <m:t>𝑚</m:t>
                                  </m:r>
                                </m:sub>
                              </m:sSub>
                            </m:e>
                          </m:func>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tan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𝜙</m:t>
                                  </m:r>
                                </m:e>
                                <m:sub>
                                  <m:r>
                                    <a:rPr lang="en-US" altLang="zh-CN" sz="1400" b="0" i="1" dirty="0" smtClean="0">
                                      <a:solidFill>
                                        <a:schemeClr val="tx1"/>
                                      </a:solidFill>
                                      <a:latin typeface="Cambria Math" panose="02040503050406030204" pitchFamily="18" charset="0"/>
                                    </a:rPr>
                                    <m:t>𝑚</m:t>
                                  </m:r>
                                </m:sub>
                              </m:sSub>
                            </m:e>
                          </m:func>
                        </m:e>
                      </m:d>
                    </m:oMath>
                  </m:oMathPara>
                </a14:m>
                <a:endParaRPr lang="en-US" altLang="zh-CN" sz="1400" b="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den>
                      </m:f>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𝜙</m:t>
                                  </m:r>
                                </m:e>
                                <m:sub>
                                  <m:r>
                                    <a:rPr lang="en-US" altLang="zh-CN" sz="1400" b="0" i="1" dirty="0" smtClean="0">
                                      <a:solidFill>
                                        <a:schemeClr val="tx1"/>
                                      </a:solidFill>
                                      <a:latin typeface="Cambria Math" panose="02040503050406030204" pitchFamily="18" charset="0"/>
                                    </a:rPr>
                                    <m:t>𝑚</m:t>
                                  </m:r>
                                </m:sub>
                              </m:sSub>
                            </m:e>
                          </m:func>
                        </m:num>
                        <m:den>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den>
                      </m:f>
                      <m:r>
                        <a:rPr lang="en-US" altLang="zh-CN" sz="1400" b="0" i="1" dirty="0" smtClean="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den>
                      </m:f>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tan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m:t>
                          </m:r>
                          <m:r>
                            <a:rPr lang="en-US" altLang="zh-CN" sz="1400" b="0" i="1" dirty="0" smtClean="0">
                              <a:solidFill>
                                <a:schemeClr val="tx1"/>
                              </a:solidFill>
                              <a:latin typeface="Cambria Math" panose="02040503050406030204" pitchFamily="18" charset="0"/>
                            </a:rPr>
                            <m:t>𝑖𝑛</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e>
                      </m:func>
                      <m:r>
                        <a:rPr lang="en-US" altLang="zh-CN" sz="1400" b="0" i="1" dirty="0" smtClean="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den>
                      </m:f>
                      <m:r>
                        <a:rPr lang="en-US" altLang="zh-CN" sz="1400" b="0" i="1" dirty="0" smtClean="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m:t>
                              </m:r>
                              <m:r>
                                <m:rPr>
                                  <m:sty m:val="p"/>
                                </m:rPr>
                                <a:rPr lang="en-US" altLang="zh-CN" sz="1400" b="0" i="0" dirty="0" smtClean="0">
                                  <a:solidFill>
                                    <a:schemeClr val="tx1"/>
                                  </a:solidFill>
                                  <a:latin typeface="Cambria Math" panose="02040503050406030204" pitchFamily="18" charset="0"/>
                                </a:rPr>
                                <m:t>in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e>
                          </m:func>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en>
                      </m:f>
                      <m:r>
                        <a:rPr lang="en-US" altLang="zh-CN" sz="1400" b="0" i="1" dirty="0" smtClean="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num>
                        <m:den>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den>
                      </m:f>
                      <m:r>
                        <a:rPr lang="en-US" altLang="zh-CN" sz="1400" b="0" i="1" dirty="0" smtClean="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tan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e>
                      </m:func>
                    </m:oMath>
                  </m:oMathPara>
                </a14:m>
                <a:endParaRPr lang="en-US" altLang="zh-CN" sz="1400" i="0"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d>
                        <m:dPr>
                          <m:begChr m:val="|"/>
                          <m:endChr m:val="|"/>
                          <m:ctrlPr>
                            <a:rPr lang="en-US" altLang="zh-CN" sz="1400" b="0" i="1" dirty="0" smtClean="0">
                              <a:solidFill>
                                <a:schemeClr val="tx1"/>
                              </a:solidFill>
                              <a:latin typeface="Cambria Math" panose="02040503050406030204" pitchFamily="18" charset="0"/>
                            </a:rPr>
                          </m:ctrlPr>
                        </m:dPr>
                        <m:e>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det</m:t>
                              </m:r>
                            </m:fName>
                            <m:e>
                              <m:d>
                                <m:dPr>
                                  <m:ctrlPr>
                                    <a:rPr lang="en-US" altLang="zh-CN" sz="1400" b="0" i="1" dirty="0" smtClean="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r>
                                        <a:rPr lang="en-US" altLang="zh-CN" sz="1400" b="1" i="1" dirty="0">
                                          <a:solidFill>
                                            <a:schemeClr val="tx1"/>
                                          </a:solidFill>
                                          <a:latin typeface="Cambria Math" panose="02040503050406030204" pitchFamily="18" charset="0"/>
                                        </a:rPr>
                                        <m:t>)</m:t>
                                      </m:r>
                                    </m:num>
                                    <m:den>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 </m:t>
                                      </m:r>
                                    </m:den>
                                  </m:f>
                                </m:e>
                              </m:d>
                            </m:e>
                          </m:func>
                        </m:e>
                      </m:d>
                      <m:r>
                        <a:rPr lang="en-US" altLang="zh-CN" sz="1400" i="1" dirty="0">
                          <a:solidFill>
                            <a:schemeClr val="tx1"/>
                          </a:solidFill>
                          <a:latin typeface="Cambria Math" panose="02040503050406030204" pitchFamily="18" charset="0"/>
                        </a:rPr>
                        <m:t>=</m:t>
                      </m:r>
                      <m:d>
                        <m:dPr>
                          <m:begChr m:val="|"/>
                          <m:endChr m:val="|"/>
                          <m:ctrlPr>
                            <a:rPr lang="en-US" altLang="zh-CN" sz="1400" b="0" i="1" dirty="0" smtClean="0">
                              <a:solidFill>
                                <a:schemeClr val="tx1"/>
                              </a:solidFill>
                              <a:latin typeface="Cambria Math" panose="02040503050406030204" pitchFamily="18" charset="0"/>
                            </a:rPr>
                          </m:ctrlPr>
                        </m:dPr>
                        <m:e>
                          <m:d>
                            <m:dPr>
                              <m:ctrlPr>
                                <a:rPr lang="en-US" altLang="zh-CN" sz="1400" b="0" i="1" dirty="0" smtClean="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e>
                                  </m:func>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en>
                              </m:f>
                            </m:e>
                          </m:d>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tan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e>
                              </m:func>
                            </m:e>
                          </m:d>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tan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m:t>
                              </m:r>
                              <m:r>
                                <a:rPr lang="en-US" altLang="zh-CN" sz="1400" i="1" dirty="0">
                                  <a:solidFill>
                                    <a:schemeClr val="tx1"/>
                                  </a:solidFill>
                                  <a:latin typeface="Cambria Math" panose="02040503050406030204" pitchFamily="18" charset="0"/>
                                </a:rPr>
                                <m:t>𝑖𝑛</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e>
                          </m:func>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e>
                                  </m:func>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en>
                              </m:f>
                            </m:e>
                          </m:d>
                        </m:e>
                      </m:d>
                      <m:r>
                        <a:rPr lang="en-US" altLang="zh-CN" sz="1400" b="0" i="1" dirty="0" smtClean="0">
                          <a:solidFill>
                            <a:schemeClr val="tx1"/>
                          </a:solidFill>
                          <a:latin typeface="Cambria Math" panose="02040503050406030204" pitchFamily="18" charset="0"/>
                        </a:rPr>
                        <m:t>=</m:t>
                      </m:r>
                      <m:d>
                        <m:dPr>
                          <m:begChr m:val="|"/>
                          <m:endChr m:val="|"/>
                          <m:ctrlPr>
                            <a:rPr lang="en-US" altLang="zh-CN" sz="1400" b="0" i="1" dirty="0" smtClean="0">
                              <a:solidFill>
                                <a:schemeClr val="tx1"/>
                              </a:solidFill>
                              <a:latin typeface="Cambria Math" panose="02040503050406030204" pitchFamily="18" charset="0"/>
                            </a:rPr>
                          </m:ctrlPr>
                        </m:dPr>
                        <m:e>
                          <m:f>
                            <m:fPr>
                              <m:ctrlPr>
                                <a:rPr lang="en-US" altLang="zh-CN" sz="1400" b="0" i="1" dirty="0" smtClean="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tan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num>
                            <m:den>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den>
                          </m:f>
                          <m:d>
                            <m:dPr>
                              <m:ctrlPr>
                                <a:rPr lang="en-US" altLang="zh-CN" sz="1400" b="0" i="1" dirty="0" smtClean="0">
                                  <a:solidFill>
                                    <a:schemeClr val="tx1"/>
                                  </a:solidFill>
                                  <a:latin typeface="Cambria Math" panose="02040503050406030204" pitchFamily="18" charset="0"/>
                                </a:rPr>
                              </m:ctrlPr>
                            </m:dPr>
                            <m:e>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𝜙</m:t>
                                      </m:r>
                                    </m:e>
                                    <m:sub>
                                      <m:r>
                                        <a:rPr lang="en-US" altLang="zh-CN" sz="1400" b="0" i="1" dirty="0" smtClean="0">
                                          <a:solidFill>
                                            <a:schemeClr val="tx1"/>
                                          </a:solidFill>
                                          <a:latin typeface="Cambria Math" panose="02040503050406030204" pitchFamily="18" charset="0"/>
                                        </a:rPr>
                                        <m:t>𝑚</m:t>
                                      </m:r>
                                    </m:sub>
                                  </m:sSub>
                                </m:e>
                              </m:func>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sin</m:t>
                                      </m:r>
                                    </m:e>
                                    <m:sup>
                                      <m:r>
                                        <a:rPr lang="en-US" altLang="zh-CN" sz="1400" b="0" i="1" dirty="0" smtClean="0">
                                          <a:solidFill>
                                            <a:schemeClr val="tx1"/>
                                          </a:solidFill>
                                          <a:latin typeface="Cambria Math" panose="02040503050406030204" pitchFamily="18" charset="0"/>
                                        </a:rPr>
                                        <m:t>2</m:t>
                                      </m:r>
                                    </m:sup>
                                  </m:sSup>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𝜙</m:t>
                                      </m:r>
                                    </m:e>
                                    <m:sub>
                                      <m:r>
                                        <a:rPr lang="en-US" altLang="zh-CN" sz="1400" b="0" i="1" dirty="0" smtClean="0">
                                          <a:solidFill>
                                            <a:schemeClr val="tx1"/>
                                          </a:solidFill>
                                          <a:latin typeface="Cambria Math" panose="02040503050406030204" pitchFamily="18" charset="0"/>
                                        </a:rPr>
                                        <m:t>𝑚</m:t>
                                      </m:r>
                                    </m:sub>
                                  </m:sSub>
                                </m:e>
                              </m:func>
                            </m:e>
                          </m:d>
                        </m:e>
                      </m:d>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num>
                        <m:den>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3</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en>
                      </m:f>
                    </m:oMath>
                  </m:oMathPara>
                </a14:m>
                <a:endParaRPr lang="en-US" altLang="zh-CN" sz="1400" b="0" i="0" dirty="0">
                  <a:solidFill>
                    <a:schemeClr val="tx1"/>
                  </a:solidFill>
                  <a:latin typeface="Cambria Math" panose="02040503050406030204" pitchFamily="18" charset="0"/>
                </a:endParaRPr>
              </a:p>
              <a:p>
                <a:pPr>
                  <a:lnSpc>
                    <a:spcPct val="120000"/>
                  </a:lnSpc>
                </a:pPr>
                <a:endParaRPr lang="en-US" altLang="zh-CN" sz="1400"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BCAF345A-713A-182C-C619-2870E4CA47F6}"/>
                  </a:ext>
                </a:extLst>
              </p:cNvPr>
              <p:cNvSpPr>
                <a:spLocks noRot="1" noChangeAspect="1" noMove="1" noResize="1" noEditPoints="1" noAdjustHandles="1" noChangeArrowheads="1" noChangeShapeType="1" noTextEdit="1"/>
              </p:cNvSpPr>
              <p:nvPr/>
            </p:nvSpPr>
            <p:spPr>
              <a:xfrm>
                <a:off x="368712" y="1144044"/>
                <a:ext cx="11286756" cy="540280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166084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153F1-19A9-5AAD-37F0-3BC486B5A54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1E24F237-254C-21F2-4A2E-4BC76053FF92}"/>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en-US" altLang="zh-CN" dirty="0">
                    <a:solidFill>
                      <a:schemeClr val="tx1"/>
                    </a:solidFill>
                  </a:rPr>
                  <a:t>GGX </a:t>
                </a:r>
                <a14:m>
                  <m:oMath xmlns:m="http://schemas.openxmlformats.org/officeDocument/2006/math">
                    <m:r>
                      <m:rPr>
                        <m:sty m:val="p"/>
                      </m:rPr>
                      <a:rPr lang="en-US" altLang="zh-CN" i="0" dirty="0" smtClean="0">
                        <a:solidFill>
                          <a:schemeClr val="tx1"/>
                        </a:solidFill>
                        <a:latin typeface="Cambria Math" panose="02040503050406030204" pitchFamily="18" charset="0"/>
                      </a:rPr>
                      <m:t>Λ</m:t>
                    </m:r>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𝒐</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1E24F237-254C-21F2-4A2E-4BC76053FF92}"/>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017" b="-8475"/>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C1F9F906-30D4-8B63-609A-9BCF87714955}"/>
              </a:ext>
            </a:extLst>
          </p:cNvPr>
          <p:cNvSpPr/>
          <p:nvPr/>
        </p:nvSpPr>
        <p:spPr>
          <a:xfrm>
            <a:off x="521112" y="1315233"/>
            <a:ext cx="11286756"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9668A080-4215-30A5-A416-3912EE536CBE}"/>
                  </a:ext>
                </a:extLst>
              </p:cNvPr>
              <p:cNvSpPr/>
              <p:nvPr/>
            </p:nvSpPr>
            <p:spPr>
              <a:xfrm>
                <a:off x="368712" y="1144044"/>
                <a:ext cx="11286756"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14:m>
                  <m:oMathPara xmlns:m="http://schemas.openxmlformats.org/officeDocument/2006/math">
                    <m:oMathParaPr>
                      <m:jc m:val="centerGroup"/>
                    </m:oMathParaPr>
                    <m:oMath xmlns:m="http://schemas.openxmlformats.org/officeDocument/2006/math">
                      <m:sSup>
                        <m:sSupPr>
                          <m:ctrlPr>
                            <a:rPr lang="en-US" altLang="zh-CN" sz="1400" i="1" dirty="0" smtClean="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22</m:t>
                          </m:r>
                        </m:sup>
                      </m:sSup>
                      <m:d>
                        <m:dPr>
                          <m:ctrlPr>
                            <a:rPr lang="en-US" altLang="zh-CN" sz="1400"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d>
                        <m:dPr>
                          <m:begChr m:val="|"/>
                          <m:endChr m:val="|"/>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det</m:t>
                              </m:r>
                            </m:fName>
                            <m:e>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r>
                                        <a:rPr lang="en-US" altLang="zh-CN" sz="1400" b="1" i="1" dirty="0">
                                          <a:solidFill>
                                            <a:schemeClr val="tx1"/>
                                          </a:solidFill>
                                          <a:latin typeface="Cambria Math" panose="02040503050406030204" pitchFamily="18" charset="0"/>
                                        </a:rPr>
                                        <m:t>)</m:t>
                                      </m:r>
                                    </m:num>
                                    <m:den>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 </m:t>
                                      </m:r>
                                    </m:den>
                                  </m:f>
                                </m:e>
                              </m:d>
                            </m:e>
                          </m:func>
                        </m:e>
                      </m:d>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r>
                        <a:rPr lang="en-US" altLang="zh-CN" sz="1400" b="0" i="1" dirty="0" smtClean="0">
                          <a:solidFill>
                            <a:schemeClr val="tx1"/>
                          </a:solidFill>
                          <a:latin typeface="Cambria Math" panose="02040503050406030204" pitchFamily="18" charset="0"/>
                        </a:rPr>
                        <m:t>,  </m:t>
                      </m:r>
                      <m:d>
                        <m:dPr>
                          <m:begChr m:val="|"/>
                          <m:endChr m:val="|"/>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det</m:t>
                              </m:r>
                            </m:fName>
                            <m:e>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Sub>
                                      <m:r>
                                        <a:rPr lang="en-US" altLang="zh-CN" sz="1400" b="1" i="1" dirty="0">
                                          <a:solidFill>
                                            <a:schemeClr val="tx1"/>
                                          </a:solidFill>
                                          <a:latin typeface="Cambria Math" panose="02040503050406030204" pitchFamily="18" charset="0"/>
                                        </a:rPr>
                                        <m:t>)</m:t>
                                      </m:r>
                                    </m:num>
                                    <m:den>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r>
                                        <a:rPr lang="en-US" altLang="zh-CN" sz="1400" i="1" dirty="0">
                                          <a:solidFill>
                                            <a:schemeClr val="tx1"/>
                                          </a:solidFill>
                                          <a:latin typeface="Cambria Math" panose="02040503050406030204" pitchFamily="18" charset="0"/>
                                        </a:rPr>
                                        <m:t>) </m:t>
                                      </m:r>
                                    </m:den>
                                  </m:f>
                                </m:e>
                              </m:d>
                            </m:e>
                          </m:func>
                        </m:e>
                      </m:d>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3</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en>
                      </m:f>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𝜋</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4</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e>
                              </m:d>
                            </m:e>
                            <m:sup>
                              <m:r>
                                <a:rPr lang="en-US" altLang="zh-CN" sz="1400" i="1" dirty="0">
                                  <a:solidFill>
                                    <a:schemeClr val="tx1"/>
                                  </a:solidFill>
                                  <a:latin typeface="Cambria Math" panose="02040503050406030204" pitchFamily="18" charset="0"/>
                                </a:rPr>
                                <m:t>2</m:t>
                              </m:r>
                            </m:sup>
                          </m:sSup>
                        </m:den>
                      </m:f>
                    </m:oMath>
                  </m:oMathPara>
                </a14:m>
                <a:endParaRPr lang="en-US" altLang="zh-CN" sz="1400"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sSup>
                        <m:sSupPr>
                          <m:ctrlPr>
                            <a:rPr lang="en-US" altLang="zh-CN" sz="1400" i="1" dirty="0" smtClean="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22</m:t>
                          </m:r>
                        </m:sup>
                      </m:sSup>
                      <m:d>
                        <m:dPr>
                          <m:ctrlPr>
                            <a:rPr lang="en-US" altLang="zh-CN" sz="1400"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3</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en>
                      </m:f>
                      <m:r>
                        <a:rPr lang="en-US" altLang="zh-CN" sz="1400" b="1" i="1" dirty="0" smtClean="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i="0" dirty="0" smtClean="0">
                              <a:solidFill>
                                <a:schemeClr val="tx1"/>
                              </a:solidFill>
                              <a:latin typeface="Cambria Math" panose="02040503050406030204" pitchFamily="18" charset="0"/>
                            </a:rPr>
                            <m:t>cos</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22</m:t>
                          </m:r>
                        </m:sup>
                      </m:sSup>
                      <m:d>
                        <m:dPr>
                          <m:ctrlPr>
                            <a:rPr lang="en-US" altLang="zh-CN" sz="1400"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r>
                        <a:rPr lang="en-US" altLang="zh-CN" sz="1400" b="1"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func>
                        <m:funcPr>
                          <m:ctrlPr>
                            <a:rPr lang="en-US" altLang="zh-CN" sz="1400" i="1" dirty="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4</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𝜋</m:t>
                              </m:r>
                              <m:r>
                                <a:rPr lang="en-US" altLang="zh-CN" sz="1400" b="0" i="1" dirty="0" smtClean="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e>
                              </m:d>
                            </m:e>
                            <m:sup>
                              <m:r>
                                <a:rPr lang="en-US" altLang="zh-CN" sz="1400" i="1" dirty="0">
                                  <a:solidFill>
                                    <a:schemeClr val="tx1"/>
                                  </a:solidFill>
                                  <a:latin typeface="Cambria Math" panose="02040503050406030204" pitchFamily="18" charset="0"/>
                                </a:rPr>
                                <m:t>2</m:t>
                              </m:r>
                            </m:sup>
                          </m:sSup>
                        </m:den>
                      </m:f>
                    </m:oMath>
                  </m:oMathPara>
                </a14:m>
                <a:endParaRPr lang="en-US" altLang="zh-CN" sz="14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r>
                        <a:rPr lang="en-US" altLang="zh-CN" sz="1400" b="1" i="1" dirty="0">
                          <a:solidFill>
                            <a:schemeClr val="tx1"/>
                          </a:solidFill>
                          <a:latin typeface="Cambria Math" panose="02040503050406030204" pitchFamily="18" charset="0"/>
                        </a:rPr>
                        <m:t>=</m:t>
                      </m:r>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𝑚</m:t>
                                  </m:r>
                                </m:e>
                                <m:sub>
                                  <m:r>
                                    <a:rPr lang="en-US" altLang="zh-CN" sz="1400" i="1" dirty="0">
                                      <a:solidFill>
                                        <a:schemeClr val="tx1"/>
                                      </a:solidFill>
                                      <a:latin typeface="Cambria Math" panose="02040503050406030204" pitchFamily="18" charset="0"/>
                                    </a:rPr>
                                    <m:t>𝑥</m:t>
                                  </m:r>
                                </m:sub>
                              </m:sSub>
                            </m:num>
                            <m:den>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𝑚</m:t>
                                  </m:r>
                                </m:e>
                                <m:sub>
                                  <m:r>
                                    <a:rPr lang="en-US" altLang="zh-CN" sz="1400" i="1" dirty="0">
                                      <a:solidFill>
                                        <a:schemeClr val="tx1"/>
                                      </a:solidFill>
                                      <a:latin typeface="Cambria Math" panose="02040503050406030204" pitchFamily="18" charset="0"/>
                                    </a:rPr>
                                    <m:t>𝑦</m:t>
                                  </m:r>
                                </m:sub>
                              </m:sSub>
                            </m:den>
                          </m:f>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𝑚</m:t>
                                  </m:r>
                                </m:e>
                                <m:sub>
                                  <m:r>
                                    <a:rPr lang="en-US" altLang="zh-CN" sz="1400" i="1" dirty="0">
                                      <a:solidFill>
                                        <a:schemeClr val="tx1"/>
                                      </a:solidFill>
                                      <a:latin typeface="Cambria Math" panose="02040503050406030204" pitchFamily="18" charset="0"/>
                                    </a:rPr>
                                    <m:t>𝑧</m:t>
                                  </m:r>
                                </m:sub>
                              </m:sSub>
                            </m:num>
                            <m:den>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𝑚</m:t>
                                  </m:r>
                                </m:e>
                                <m:sub>
                                  <m:r>
                                    <a:rPr lang="en-US" altLang="zh-CN" sz="1400" i="1" dirty="0">
                                      <a:solidFill>
                                        <a:schemeClr val="tx1"/>
                                      </a:solidFill>
                                      <a:latin typeface="Cambria Math" panose="02040503050406030204" pitchFamily="18" charset="0"/>
                                    </a:rPr>
                                    <m:t>𝑦</m:t>
                                  </m:r>
                                </m:sub>
                              </m:sSub>
                            </m:den>
                          </m:f>
                        </m:e>
                      </m:d>
                      <m:r>
                        <a:rPr lang="en-US" altLang="zh-CN" sz="1400" b="0" i="1" dirty="0" smtClean="0">
                          <a:solidFill>
                            <a:schemeClr val="tx1"/>
                          </a:solidFill>
                          <a:latin typeface="Cambria Math" panose="02040503050406030204" pitchFamily="18" charset="0"/>
                        </a:rPr>
                        <m:t>,  </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tan</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ad>
                            <m:radPr>
                              <m:degHide m:val="on"/>
                              <m:ctrlPr>
                                <a:rPr lang="en-US" altLang="zh-CN" sz="1400" b="0" i="1" dirty="0" smtClean="0">
                                  <a:solidFill>
                                    <a:schemeClr val="tx1"/>
                                  </a:solidFill>
                                  <a:latin typeface="Cambria Math" panose="02040503050406030204" pitchFamily="18" charset="0"/>
                                </a:rPr>
                              </m:ctrlPr>
                            </m:radPr>
                            <m:deg/>
                            <m:e>
                              <m:sSubSup>
                                <m:sSubSupPr>
                                  <m:ctrlPr>
                                    <a:rPr lang="en-US" altLang="zh-CN" sz="1400" b="0" i="1" dirty="0" smtClean="0">
                                      <a:solidFill>
                                        <a:schemeClr val="tx1"/>
                                      </a:solidFill>
                                      <a:latin typeface="Cambria Math" panose="02040503050406030204" pitchFamily="18" charset="0"/>
                                    </a:rPr>
                                  </m:ctrlPr>
                                </m:sSubSupPr>
                                <m:e>
                                  <m:r>
                                    <a:rPr lang="en-US" altLang="zh-CN" sz="1400" b="0" i="1" dirty="0" smtClean="0">
                                      <a:solidFill>
                                        <a:schemeClr val="tx1"/>
                                      </a:solidFill>
                                      <a:latin typeface="Cambria Math" panose="02040503050406030204" pitchFamily="18" charset="0"/>
                                    </a:rPr>
                                    <m:t>𝑚</m:t>
                                  </m:r>
                                </m:e>
                                <m:sub>
                                  <m:r>
                                    <a:rPr lang="en-US" altLang="zh-CN" sz="1400" b="0" i="1" dirty="0" smtClean="0">
                                      <a:solidFill>
                                        <a:schemeClr val="tx1"/>
                                      </a:solidFill>
                                      <a:latin typeface="Cambria Math" panose="02040503050406030204" pitchFamily="18" charset="0"/>
                                    </a:rPr>
                                    <m:t>𝑥</m:t>
                                  </m:r>
                                </m:sub>
                                <m:sup>
                                  <m:r>
                                    <a:rPr lang="en-US" altLang="zh-CN" sz="1400" b="0" i="1" dirty="0" smtClean="0">
                                      <a:solidFill>
                                        <a:schemeClr val="tx1"/>
                                      </a:solidFill>
                                      <a:latin typeface="Cambria Math" panose="02040503050406030204" pitchFamily="18" charset="0"/>
                                    </a:rPr>
                                    <m:t>2</m:t>
                                  </m:r>
                                </m:sup>
                              </m:sSubSup>
                              <m:r>
                                <a:rPr lang="en-US" altLang="zh-CN" sz="1400" b="0" i="1" dirty="0" smtClean="0">
                                  <a:solidFill>
                                    <a:schemeClr val="tx1"/>
                                  </a:solidFill>
                                  <a:latin typeface="Cambria Math" panose="02040503050406030204" pitchFamily="18" charset="0"/>
                                </a:rPr>
                                <m:t>+</m:t>
                              </m:r>
                              <m:sSubSup>
                                <m:sSubSupPr>
                                  <m:ctrlPr>
                                    <a:rPr lang="en-US" altLang="zh-CN" sz="1400" b="0" i="1" dirty="0" smtClean="0">
                                      <a:solidFill>
                                        <a:schemeClr val="tx1"/>
                                      </a:solidFill>
                                      <a:latin typeface="Cambria Math" panose="02040503050406030204" pitchFamily="18" charset="0"/>
                                    </a:rPr>
                                  </m:ctrlPr>
                                </m:sSubSupPr>
                                <m:e>
                                  <m:r>
                                    <a:rPr lang="en-US" altLang="zh-CN" sz="1400" b="0" i="1" dirty="0" smtClean="0">
                                      <a:solidFill>
                                        <a:schemeClr val="tx1"/>
                                      </a:solidFill>
                                      <a:latin typeface="Cambria Math" panose="02040503050406030204" pitchFamily="18" charset="0"/>
                                    </a:rPr>
                                    <m:t>𝑚</m:t>
                                  </m:r>
                                </m:e>
                                <m:sub>
                                  <m:r>
                                    <a:rPr lang="en-US" altLang="zh-CN" sz="1400" b="0" i="1" dirty="0" smtClean="0">
                                      <a:solidFill>
                                        <a:schemeClr val="tx1"/>
                                      </a:solidFill>
                                      <a:latin typeface="Cambria Math" panose="02040503050406030204" pitchFamily="18" charset="0"/>
                                    </a:rPr>
                                    <m:t>𝑧</m:t>
                                  </m:r>
                                </m:sub>
                                <m:sup>
                                  <m:r>
                                    <a:rPr lang="en-US" altLang="zh-CN" sz="1400" b="0" i="1" dirty="0" smtClean="0">
                                      <a:solidFill>
                                        <a:schemeClr val="tx1"/>
                                      </a:solidFill>
                                      <a:latin typeface="Cambria Math" panose="02040503050406030204" pitchFamily="18" charset="0"/>
                                    </a:rPr>
                                    <m:t>2</m:t>
                                  </m:r>
                                </m:sup>
                              </m:sSubSup>
                            </m:e>
                          </m:rad>
                        </m:num>
                        <m:den>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𝑚</m:t>
                              </m:r>
                            </m:e>
                            <m:sub>
                              <m:r>
                                <a:rPr lang="en-US" altLang="zh-CN" sz="1400" b="0" i="1" dirty="0" smtClean="0">
                                  <a:solidFill>
                                    <a:schemeClr val="tx1"/>
                                  </a:solidFill>
                                  <a:latin typeface="Cambria Math" panose="02040503050406030204" pitchFamily="18" charset="0"/>
                                </a:rPr>
                                <m:t>𝑦</m:t>
                              </m:r>
                            </m:sub>
                          </m:sSub>
                        </m:den>
                      </m:f>
                      <m:r>
                        <a:rPr lang="en-US" altLang="zh-CN" sz="1400" b="0" i="1" dirty="0" smtClean="0">
                          <a:solidFill>
                            <a:schemeClr val="tx1"/>
                          </a:solidFill>
                          <a:latin typeface="Cambria Math" panose="02040503050406030204" pitchFamily="18" charset="0"/>
                        </a:rPr>
                        <m:t>=</m:t>
                      </m:r>
                      <m:rad>
                        <m:radPr>
                          <m:degHide m:val="on"/>
                          <m:ctrlPr>
                            <a:rPr lang="en-US" altLang="zh-CN" sz="1400" b="0" i="1" dirty="0" smtClean="0">
                              <a:solidFill>
                                <a:schemeClr val="tx1"/>
                              </a:solidFill>
                              <a:latin typeface="Cambria Math" panose="02040503050406030204" pitchFamily="18" charset="0"/>
                            </a:rPr>
                          </m:ctrlPr>
                        </m:radPr>
                        <m:deg/>
                        <m:e>
                          <m:sSubSup>
                            <m:sSubSupPr>
                              <m:ctrlPr>
                                <a:rPr lang="en-US" altLang="zh-CN" sz="1400" b="0" i="1" dirty="0" smtClean="0">
                                  <a:solidFill>
                                    <a:schemeClr val="tx1"/>
                                  </a:solidFill>
                                  <a:latin typeface="Cambria Math" panose="02040503050406030204" pitchFamily="18" charset="0"/>
                                </a:rPr>
                              </m:ctrlPr>
                            </m:sSubSupPr>
                            <m:e>
                              <m:acc>
                                <m:accPr>
                                  <m:chr m:val="̃"/>
                                  <m:ctrlPr>
                                    <a:rPr lang="en-US" altLang="zh-CN" sz="1400" b="0" i="1" dirty="0" smtClean="0">
                                      <a:solidFill>
                                        <a:schemeClr val="tx1"/>
                                      </a:solidFill>
                                      <a:latin typeface="Cambria Math" panose="02040503050406030204" pitchFamily="18" charset="0"/>
                                    </a:rPr>
                                  </m:ctrlPr>
                                </m:accPr>
                                <m:e>
                                  <m:r>
                                    <a:rPr lang="en-US" altLang="zh-CN" sz="1400" b="0" i="1" dirty="0" smtClean="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𝑥</m:t>
                              </m:r>
                            </m:sub>
                            <m:sup>
                              <m:r>
                                <a:rPr lang="en-US" altLang="zh-CN" sz="1400" b="0" i="1" dirty="0" smtClean="0">
                                  <a:solidFill>
                                    <a:schemeClr val="tx1"/>
                                  </a:solidFill>
                                  <a:latin typeface="Cambria Math" panose="02040503050406030204" pitchFamily="18" charset="0"/>
                                </a:rPr>
                                <m:t>2</m:t>
                              </m:r>
                            </m:sup>
                          </m:sSubSup>
                          <m:r>
                            <a:rPr lang="en-US" altLang="zh-CN" sz="1400" b="0" i="1" dirty="0" smtClean="0">
                              <a:solidFill>
                                <a:schemeClr val="tx1"/>
                              </a:solidFill>
                              <a:latin typeface="Cambria Math" panose="02040503050406030204" pitchFamily="18" charset="0"/>
                            </a:rPr>
                            <m:t>+</m:t>
                          </m:r>
                          <m:sSubSup>
                            <m:sSubSupPr>
                              <m:ctrlPr>
                                <a:rPr lang="en-US" altLang="zh-CN" sz="1400" b="0" i="1" dirty="0" smtClean="0">
                                  <a:solidFill>
                                    <a:schemeClr val="tx1"/>
                                  </a:solidFill>
                                  <a:latin typeface="Cambria Math" panose="02040503050406030204" pitchFamily="18" charset="0"/>
                                </a:rPr>
                              </m:ctrlPr>
                            </m:sSubSupPr>
                            <m:e>
                              <m:acc>
                                <m:accPr>
                                  <m:chr m:val="̃"/>
                                  <m:ctrlPr>
                                    <a:rPr lang="en-US" altLang="zh-CN" sz="1400" b="0" i="1" dirty="0" smtClean="0">
                                      <a:solidFill>
                                        <a:schemeClr val="tx1"/>
                                      </a:solidFill>
                                      <a:latin typeface="Cambria Math" panose="02040503050406030204" pitchFamily="18" charset="0"/>
                                    </a:rPr>
                                  </m:ctrlPr>
                                </m:accPr>
                                <m:e>
                                  <m:r>
                                    <a:rPr lang="en-US" altLang="zh-CN" sz="1400" b="0" i="1" dirty="0" smtClean="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up>
                              <m:r>
                                <a:rPr lang="en-US" altLang="zh-CN" sz="1400" b="0" i="1" dirty="0" smtClean="0">
                                  <a:solidFill>
                                    <a:schemeClr val="tx1"/>
                                  </a:solidFill>
                                  <a:latin typeface="Cambria Math" panose="02040503050406030204" pitchFamily="18" charset="0"/>
                                </a:rPr>
                                <m:t>2</m:t>
                              </m:r>
                            </m:sup>
                          </m:sSubSup>
                        </m:e>
                      </m:ra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22</m:t>
                          </m:r>
                        </m:sup>
                      </m:sSup>
                      <m:d>
                        <m:dPr>
                          <m:ctrlPr>
                            <a:rPr lang="en-US" altLang="zh-CN" sz="1400" i="1" dirty="0">
                              <a:solidFill>
                                <a:schemeClr val="tx1"/>
                              </a:solidFill>
                              <a:latin typeface="Cambria Math" panose="02040503050406030204" pitchFamily="18" charset="0"/>
                            </a:rPr>
                          </m:ctrlPr>
                        </m:dPr>
                        <m:e>
                          <m:acc>
                            <m:accPr>
                              <m:chr m:val="̃"/>
                              <m:ctrlPr>
                                <a:rPr lang="en-US" altLang="zh-CN" sz="1400" b="1" i="1" dirty="0">
                                  <a:solidFill>
                                    <a:schemeClr val="tx1"/>
                                  </a:solidFill>
                                  <a:latin typeface="Cambria Math" panose="02040503050406030204" pitchFamily="18" charset="0"/>
                                </a:rPr>
                              </m:ctrlPr>
                            </m:accPr>
                            <m:e>
                              <m:r>
                                <a:rPr lang="en-US" altLang="zh-CN" sz="1400" b="1" i="1" dirty="0">
                                  <a:solidFill>
                                    <a:schemeClr val="tx1"/>
                                  </a:solidFill>
                                  <a:latin typeface="Cambria Math" panose="02040503050406030204" pitchFamily="18" charset="0"/>
                                </a:rPr>
                                <m:t>𝒎</m:t>
                              </m:r>
                            </m:e>
                          </m:acc>
                        </m:e>
                      </m:d>
                      <m:r>
                        <a:rPr lang="en-US" altLang="zh-CN" sz="1400" b="1"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𝜋</m:t>
                              </m:r>
                              <m:r>
                                <a:rPr lang="en-US" altLang="zh-CN" sz="1400" i="1" dirty="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r>
                                    <a:rPr lang="en-US" altLang="zh-CN" sz="140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up>
                                      <m:r>
                                        <a:rPr lang="en-US" altLang="zh-CN" sz="1400" i="1" dirty="0">
                                          <a:solidFill>
                                            <a:schemeClr val="tx1"/>
                                          </a:solidFill>
                                          <a:latin typeface="Cambria Math" panose="02040503050406030204" pitchFamily="18" charset="0"/>
                                        </a:rPr>
                                        <m:t>2</m:t>
                                      </m:r>
                                    </m:sup>
                                  </m:sSubSup>
                                  <m:r>
                                    <a:rPr lang="en-US" altLang="zh-CN" sz="140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𝑧</m:t>
                                      </m:r>
                                    </m:sub>
                                    <m:sup>
                                      <m:r>
                                        <a:rPr lang="en-US" altLang="zh-CN" sz="1400" i="1" dirty="0">
                                          <a:solidFill>
                                            <a:schemeClr val="tx1"/>
                                          </a:solidFill>
                                          <a:latin typeface="Cambria Math" panose="02040503050406030204" pitchFamily="18" charset="0"/>
                                        </a:rPr>
                                        <m:t>2</m:t>
                                      </m:r>
                                    </m:sup>
                                  </m:sSubSup>
                                </m:e>
                              </m:d>
                            </m:e>
                            <m:sup>
                              <m:r>
                                <a:rPr lang="en-US" altLang="zh-CN" sz="1400" i="1" dirty="0">
                                  <a:solidFill>
                                    <a:schemeClr val="tx1"/>
                                  </a:solidFill>
                                  <a:latin typeface="Cambria Math" panose="02040503050406030204" pitchFamily="18" charset="0"/>
                                </a:rPr>
                                <m:t>2</m:t>
                              </m:r>
                            </m:sup>
                          </m:sSup>
                        </m:den>
                      </m:f>
                    </m:oMath>
                  </m:oMathPara>
                </a14:m>
                <a:endParaRPr lang="en-US" altLang="zh-CN" sz="1400"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sSup>
                        <m:sSupPr>
                          <m:ctrlPr>
                            <a:rPr lang="en-US" altLang="zh-CN" sz="1400" i="1" dirty="0" smtClean="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m:t>
                      </m:r>
                      <m:nary>
                        <m:naryPr>
                          <m:ctrlPr>
                            <a:rPr lang="en-US" altLang="zh-CN" sz="1400" i="1" dirty="0" smtClean="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𝑧</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𝑧</m:t>
                              </m:r>
                            </m:sub>
                          </m:sSub>
                        </m:e>
                      </m:nary>
                      <m:r>
                        <a:rPr lang="en-US" altLang="zh-CN" sz="1400" b="0" i="1" dirty="0" smtClean="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𝜋</m:t>
                                  </m:r>
                                  <m:r>
                                    <a:rPr lang="en-US" altLang="zh-CN" sz="1400" i="1" dirty="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r>
                                        <a:rPr lang="en-US" altLang="zh-CN" sz="140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up>
                                          <m:r>
                                            <a:rPr lang="en-US" altLang="zh-CN" sz="1400" i="1" dirty="0">
                                              <a:solidFill>
                                                <a:schemeClr val="tx1"/>
                                              </a:solidFill>
                                              <a:latin typeface="Cambria Math" panose="02040503050406030204" pitchFamily="18" charset="0"/>
                                            </a:rPr>
                                            <m:t>2</m:t>
                                          </m:r>
                                        </m:sup>
                                      </m:sSubSup>
                                      <m:r>
                                        <a:rPr lang="en-US" altLang="zh-CN" sz="140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𝑧</m:t>
                                          </m:r>
                                        </m:sub>
                                        <m:sup>
                                          <m:r>
                                            <a:rPr lang="en-US" altLang="zh-CN" sz="1400" i="1" dirty="0">
                                              <a:solidFill>
                                                <a:schemeClr val="tx1"/>
                                              </a:solidFill>
                                              <a:latin typeface="Cambria Math" panose="02040503050406030204" pitchFamily="18" charset="0"/>
                                            </a:rPr>
                                            <m:t>2</m:t>
                                          </m:r>
                                        </m:sup>
                                      </m:sSubSup>
                                    </m:e>
                                  </m:d>
                                </m:e>
                                <m:sup>
                                  <m:r>
                                    <a:rPr lang="en-US" altLang="zh-CN" sz="1400" i="1" dirty="0">
                                      <a:solidFill>
                                        <a:schemeClr val="tx1"/>
                                      </a:solidFill>
                                      <a:latin typeface="Cambria Math" panose="02040503050406030204" pitchFamily="18" charset="0"/>
                                    </a:rPr>
                                    <m:t>2</m:t>
                                  </m:r>
                                </m:sup>
                              </m:sSup>
                            </m:den>
                          </m:f>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𝑧</m:t>
                              </m:r>
                            </m:sub>
                          </m:sSub>
                        </m:e>
                      </m:nary>
                    </m:oMath>
                  </m:oMathPara>
                </a14:m>
                <a:endParaRPr lang="en-US" altLang="zh-CN" sz="14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令</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𝑎</m:t>
                          </m:r>
                        </m:e>
                        <m:sup>
                          <m:r>
                            <a:rPr lang="en-US" altLang="zh-CN" sz="1400" b="0" i="1" dirty="0" smtClean="0">
                              <a:solidFill>
                                <a:schemeClr val="tx1"/>
                              </a:solidFill>
                              <a:latin typeface="Cambria Math" panose="02040503050406030204" pitchFamily="18" charset="0"/>
                            </a:rPr>
                            <m:t>2</m:t>
                          </m:r>
                        </m:sup>
                      </m:sSup>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r>
                        <a:rPr lang="en-US" altLang="zh-CN" sz="140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up>
                          <m:r>
                            <a:rPr lang="en-US" altLang="zh-CN" sz="1400" i="1" dirty="0">
                              <a:solidFill>
                                <a:schemeClr val="tx1"/>
                              </a:solidFill>
                              <a:latin typeface="Cambria Math" panose="02040503050406030204" pitchFamily="18" charset="0"/>
                            </a:rPr>
                            <m:t>2</m:t>
                          </m:r>
                        </m:sup>
                      </m:sSubSup>
                      <m:r>
                        <a:rPr lang="en-US" altLang="zh-CN" sz="1400" b="0" i="0"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  </m:t>
                      </m:r>
                      <m:r>
                        <a:rPr lang="zh-CN" altLang="en-US" sz="1400" i="1" dirty="0">
                          <a:solidFill>
                            <a:schemeClr val="tx1"/>
                          </a:solidFill>
                          <a:latin typeface="Cambria Math" panose="02040503050406030204" pitchFamily="18" charset="0"/>
                        </a:rPr>
                        <m:t>令</m:t>
                      </m:r>
                      <m:sSub>
                        <m:sSubPr>
                          <m:ctrlPr>
                            <a:rPr lang="en-US" altLang="zh-CN" sz="1400" b="0" i="1" dirty="0" smtClean="0">
                              <a:solidFill>
                                <a:schemeClr val="tx1"/>
                              </a:solidFill>
                              <a:latin typeface="Cambria Math" panose="02040503050406030204" pitchFamily="18" charset="0"/>
                            </a:rPr>
                          </m:ctrlPr>
                        </m:sSubPr>
                        <m:e>
                          <m:acc>
                            <m:accPr>
                              <m:chr m:val="̃"/>
                              <m:ctrlPr>
                                <a:rPr lang="en-US" altLang="zh-CN" sz="1400" b="0" i="1" dirty="0" smtClean="0">
                                  <a:solidFill>
                                    <a:schemeClr val="tx1"/>
                                  </a:solidFill>
                                  <a:latin typeface="Cambria Math" panose="02040503050406030204" pitchFamily="18" charset="0"/>
                                </a:rPr>
                              </m:ctrlPr>
                            </m:accPr>
                            <m:e>
                              <m:r>
                                <m:rPr>
                                  <m:sty m:val="p"/>
                                </m:rPr>
                                <a:rPr lang="en-US" altLang="zh-CN" sz="1400" b="0" i="0" dirty="0" smtClean="0">
                                  <a:solidFill>
                                    <a:schemeClr val="tx1"/>
                                  </a:solidFill>
                                  <a:latin typeface="Cambria Math" panose="02040503050406030204" pitchFamily="18" charset="0"/>
                                </a:rPr>
                                <m:t>m</m:t>
                              </m:r>
                            </m:e>
                          </m:acc>
                        </m:e>
                        <m:sub>
                          <m:r>
                            <a:rPr lang="en-US" altLang="zh-CN" sz="1400" b="0" i="1" dirty="0" smtClean="0">
                              <a:solidFill>
                                <a:schemeClr val="tx1"/>
                              </a:solidFill>
                              <a:latin typeface="Cambria Math" panose="02040503050406030204" pitchFamily="18" charset="0"/>
                            </a:rPr>
                            <m:t>𝑧</m:t>
                          </m:r>
                        </m:sub>
                      </m:sSub>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𝑎</m:t>
                      </m:r>
                      <m:func>
                        <m:funcPr>
                          <m:ctrlPr>
                            <a:rPr lang="en-US" altLang="zh-CN" sz="1400" b="0" i="1" dirty="0" smtClean="0">
                              <a:solidFill>
                                <a:schemeClr val="tx1"/>
                              </a:solidFill>
                              <a:latin typeface="Cambria Math" panose="02040503050406030204" pitchFamily="18" charset="0"/>
                            </a:rPr>
                          </m:ctrlPr>
                        </m:funcPr>
                        <m:fName>
                          <m:r>
                            <a:rPr lang="en-US" altLang="zh-CN" sz="1400" b="0" i="1" dirty="0" smtClean="0">
                              <a:solidFill>
                                <a:schemeClr val="tx1"/>
                              </a:solidFill>
                              <a:latin typeface="Cambria Math" panose="02040503050406030204" pitchFamily="18" charset="0"/>
                            </a:rPr>
                            <m:t>𝑡𝑎𝑛</m:t>
                          </m:r>
                        </m:fName>
                        <m:e>
                          <m:r>
                            <a:rPr lang="en-US" altLang="zh-CN" sz="1400" b="0" i="1" dirty="0" smtClean="0">
                              <a:solidFill>
                                <a:schemeClr val="tx1"/>
                              </a:solidFill>
                              <a:latin typeface="Cambria Math" panose="02040503050406030204" pitchFamily="18" charset="0"/>
                            </a:rPr>
                            <m:t>𝛽</m:t>
                          </m:r>
                        </m:e>
                      </m:func>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m:rPr>
                                  <m:sty m:val="p"/>
                                </m:rPr>
                                <a:rPr lang="en-US" altLang="zh-CN" sz="1400" dirty="0">
                                  <a:solidFill>
                                    <a:schemeClr val="tx1"/>
                                  </a:solidFill>
                                  <a:latin typeface="Cambria Math" panose="02040503050406030204" pitchFamily="18" charset="0"/>
                                </a:rPr>
                                <m:t>m</m:t>
                              </m:r>
                            </m:e>
                          </m:acc>
                        </m:e>
                        <m:sub>
                          <m:r>
                            <a:rPr lang="en-US" altLang="zh-CN" sz="1400" i="1" dirty="0">
                              <a:solidFill>
                                <a:schemeClr val="tx1"/>
                              </a:solidFill>
                              <a:latin typeface="Cambria Math" panose="02040503050406030204" pitchFamily="18" charset="0"/>
                            </a:rPr>
                            <m:t>𝑧</m:t>
                          </m:r>
                        </m:sub>
                      </m:sSub>
                      <m:r>
                        <a:rPr lang="en-US" altLang="zh-CN" sz="1400" i="1" dirty="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𝑎</m:t>
                          </m:r>
                        </m:num>
                        <m:den>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0"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𝛽</m:t>
                              </m:r>
                            </m:e>
                          </m:func>
                        </m:den>
                      </m:f>
                      <m:r>
                        <a:rPr lang="en-US" altLang="zh-CN" sz="1400" b="0" i="1" dirty="0" smtClean="0">
                          <a:solidFill>
                            <a:schemeClr val="tx1"/>
                          </a:solidFill>
                          <a:latin typeface="Cambria Math" panose="02040503050406030204" pitchFamily="18" charset="0"/>
                        </a:rPr>
                        <m:t>𝑑</m:t>
                      </m:r>
                      <m:r>
                        <a:rPr lang="en-US" altLang="zh-CN" sz="1400" b="0" i="1" dirty="0" smtClean="0">
                          <a:solidFill>
                            <a:schemeClr val="tx1"/>
                          </a:solidFill>
                          <a:latin typeface="Cambria Math" panose="02040503050406030204" pitchFamily="18" charset="0"/>
                        </a:rPr>
                        <m:t>𝛽</m:t>
                      </m:r>
                    </m:oMath>
                  </m:oMathPara>
                </a14:m>
                <a:endParaRPr lang="en-US" altLang="zh-CN" sz="1400" b="0"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r>
                            <a:rPr lang="en-US" altLang="zh-CN" sz="1400" b="0" i="1" dirty="0" smtClean="0">
                              <a:solidFill>
                                <a:schemeClr val="tx1"/>
                              </a:solidFill>
                              <a:latin typeface="Cambria Math" panose="02040503050406030204" pitchFamily="18" charset="0"/>
                            </a:rPr>
                            <m:t>𝜋</m:t>
                          </m:r>
                        </m:den>
                      </m:f>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𝜋</m:t>
                              </m:r>
                            </m:num>
                            <m:den>
                              <m:r>
                                <a:rPr lang="en-US" altLang="zh-CN" sz="1400" b="0" i="1" dirty="0" smtClean="0">
                                  <a:solidFill>
                                    <a:schemeClr val="tx1"/>
                                  </a:solidFill>
                                  <a:latin typeface="Cambria Math" panose="02040503050406030204" pitchFamily="18" charset="0"/>
                                </a:rPr>
                                <m:t>2</m:t>
                              </m:r>
                            </m:den>
                          </m:f>
                        </m:sub>
                        <m:sup>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𝜋</m:t>
                              </m:r>
                            </m:num>
                            <m:den>
                              <m:r>
                                <a:rPr lang="en-US" altLang="zh-CN" sz="1400" b="0" i="1" dirty="0" smtClean="0">
                                  <a:solidFill>
                                    <a:schemeClr val="tx1"/>
                                  </a:solidFill>
                                  <a:latin typeface="Cambria Math" panose="02040503050406030204" pitchFamily="18" charset="0"/>
                                </a:rPr>
                                <m:t>2</m:t>
                              </m:r>
                            </m:den>
                          </m:f>
                        </m:sup>
                        <m:e>
                          <m:f>
                            <m:fPr>
                              <m:ctrlPr>
                                <a:rPr lang="en-US" altLang="zh-CN" sz="1400" i="1" dirty="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sSup>
                                <m:sSupPr>
                                  <m:ctrlPr>
                                    <a:rPr lang="en-US" altLang="zh-CN" sz="1400" i="1" dirty="0">
                                      <a:solidFill>
                                        <a:schemeClr val="tx1"/>
                                      </a:solidFill>
                                      <a:latin typeface="Cambria Math" panose="02040503050406030204" pitchFamily="18" charset="0"/>
                                    </a:rPr>
                                  </m:ctrlPr>
                                </m:sSupPr>
                                <m:e>
                                  <m:d>
                                    <m:dPr>
                                      <m:ctrlPr>
                                        <a:rPr lang="en-US" altLang="zh-CN" sz="1400" i="1" dirty="0">
                                          <a:solidFill>
                                            <a:schemeClr val="tx1"/>
                                          </a:solidFill>
                                          <a:latin typeface="Cambria Math" panose="02040503050406030204" pitchFamily="18" charset="0"/>
                                        </a:rPr>
                                      </m:ctrlPr>
                                    </m:dPr>
                                    <m:e>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𝑎</m:t>
                                          </m:r>
                                        </m:e>
                                        <m:sup>
                                          <m:r>
                                            <a:rPr lang="en-US" altLang="zh-CN" sz="1400" b="0" i="1" dirty="0" smtClean="0">
                                              <a:solidFill>
                                                <a:schemeClr val="tx1"/>
                                              </a:solidFill>
                                              <a:latin typeface="Cambria Math" panose="02040503050406030204" pitchFamily="18" charset="0"/>
                                            </a:rPr>
                                            <m:t>2</m:t>
                                          </m:r>
                                        </m:sup>
                                      </m:sSup>
                                      <m:r>
                                        <a:rPr lang="en-US" altLang="zh-CN" sz="1400" i="1" dirty="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𝑎</m:t>
                                          </m:r>
                                        </m:e>
                                        <m:sup>
                                          <m:r>
                                            <a:rPr lang="en-US" altLang="zh-CN" sz="1400" b="0" i="1" dirty="0" smtClean="0">
                                              <a:solidFill>
                                                <a:schemeClr val="tx1"/>
                                              </a:solidFill>
                                              <a:latin typeface="Cambria Math" panose="02040503050406030204" pitchFamily="18" charset="0"/>
                                            </a:rPr>
                                            <m:t>2</m:t>
                                          </m:r>
                                        </m:sup>
                                      </m:sSup>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tan</m:t>
                                              </m:r>
                                            </m:e>
                                            <m:sup>
                                              <m:r>
                                                <a:rPr lang="en-US" altLang="zh-CN" sz="1400" b="0" i="1"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𝛽</m:t>
                                          </m:r>
                                        </m:e>
                                      </m:func>
                                    </m:e>
                                  </m:d>
                                </m:e>
                                <m:sup>
                                  <m:r>
                                    <a:rPr lang="en-US" altLang="zh-CN" sz="1400" i="1" dirty="0">
                                      <a:solidFill>
                                        <a:schemeClr val="tx1"/>
                                      </a:solidFill>
                                      <a:latin typeface="Cambria Math" panose="02040503050406030204" pitchFamily="18" charset="0"/>
                                    </a:rPr>
                                    <m:t>2</m:t>
                                  </m:r>
                                </m:sup>
                              </m:sSup>
                            </m:den>
                          </m:f>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𝑎</m:t>
                              </m:r>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𝛽</m:t>
                                  </m:r>
                                </m:e>
                              </m:func>
                            </m:den>
                          </m:f>
                          <m:r>
                            <a:rPr lang="en-US" altLang="zh-CN" sz="1400" i="1" dirty="0">
                              <a:solidFill>
                                <a:schemeClr val="tx1"/>
                              </a:solidFill>
                              <a:latin typeface="Cambria Math" panose="02040503050406030204" pitchFamily="18" charset="0"/>
                            </a:rPr>
                            <m:t>𝑑</m:t>
                          </m:r>
                          <m:r>
                            <a:rPr lang="en-US" altLang="zh-CN" sz="1400" b="0" i="1" dirty="0" smtClean="0">
                              <a:solidFill>
                                <a:schemeClr val="tx1"/>
                              </a:solidFill>
                              <a:latin typeface="Cambria Math" panose="02040503050406030204" pitchFamily="18" charset="0"/>
                            </a:rPr>
                            <m:t>𝛽</m:t>
                          </m:r>
                        </m:e>
                      </m:nary>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r>
                            <a:rPr lang="en-US" altLang="zh-CN" sz="1400" i="1" dirty="0">
                              <a:solidFill>
                                <a:schemeClr val="tx1"/>
                              </a:solidFill>
                              <a:latin typeface="Cambria Math" panose="02040503050406030204" pitchFamily="18" charset="0"/>
                            </a:rPr>
                            <m:t>𝜋</m:t>
                          </m:r>
                        </m:den>
                      </m:f>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b>
                        <m:sup>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p>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sSup>
                                <m:sSupPr>
                                  <m:ctrlPr>
                                    <a:rPr lang="en-US" altLang="zh-CN" sz="1400" i="1" dirty="0">
                                      <a:solidFill>
                                        <a:schemeClr val="tx1"/>
                                      </a:solidFill>
                                      <a:latin typeface="Cambria Math" panose="02040503050406030204" pitchFamily="18" charset="0"/>
                                    </a:rPr>
                                  </m:ctrlPr>
                                </m:sSup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𝑎</m:t>
                                      </m:r>
                                    </m:e>
                                    <m:sup>
                                      <m:r>
                                        <a:rPr lang="en-US" altLang="zh-CN" sz="1400" b="0" i="1" dirty="0" smtClean="0">
                                          <a:solidFill>
                                            <a:schemeClr val="tx1"/>
                                          </a:solidFill>
                                          <a:latin typeface="Cambria Math" panose="02040503050406030204" pitchFamily="18" charset="0"/>
                                        </a:rPr>
                                        <m:t>4</m:t>
                                      </m:r>
                                    </m:sup>
                                  </m:sSup>
                                  <m:d>
                                    <m:dPr>
                                      <m:ctrlPr>
                                        <a:rPr lang="en-US" altLang="zh-CN" sz="1400" i="1" dirty="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1</m:t>
                                      </m:r>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smtClean="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𝛽</m:t>
                                          </m:r>
                                        </m:e>
                                      </m:func>
                                    </m:e>
                                  </m:d>
                                </m:e>
                                <m:sup>
                                  <m:r>
                                    <a:rPr lang="en-US" altLang="zh-CN" sz="1400" i="1" dirty="0">
                                      <a:solidFill>
                                        <a:schemeClr val="tx1"/>
                                      </a:solidFill>
                                      <a:latin typeface="Cambria Math" panose="02040503050406030204" pitchFamily="18" charset="0"/>
                                    </a:rPr>
                                    <m:t>2</m:t>
                                  </m:r>
                                </m:sup>
                              </m:sSup>
                            </m:den>
                          </m:f>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𝑎</m:t>
                              </m:r>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𝛽</m:t>
                                  </m:r>
                                </m:e>
                              </m:func>
                            </m:den>
                          </m:f>
                          <m:r>
                            <a:rPr lang="en-US" altLang="zh-CN" sz="1400" i="1" dirty="0">
                              <a:solidFill>
                                <a:schemeClr val="tx1"/>
                              </a:solidFill>
                              <a:latin typeface="Cambria Math" panose="02040503050406030204" pitchFamily="18" charset="0"/>
                            </a:rPr>
                            <m:t>𝑑</m:t>
                          </m:r>
                          <m:r>
                            <a:rPr lang="en-US" altLang="zh-CN" sz="1400" i="1" dirty="0">
                              <a:solidFill>
                                <a:schemeClr val="tx1"/>
                              </a:solidFill>
                              <a:latin typeface="Cambria Math" panose="02040503050406030204" pitchFamily="18" charset="0"/>
                            </a:rPr>
                            <m:t>𝛽</m:t>
                          </m:r>
                        </m:e>
                      </m:nary>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𝑎</m:t>
                              </m:r>
                            </m:e>
                            <m:sup>
                              <m:r>
                                <a:rPr lang="en-US" altLang="zh-CN" sz="1400" b="0" i="1" dirty="0" smtClean="0">
                                  <a:solidFill>
                                    <a:schemeClr val="tx1"/>
                                  </a:solidFill>
                                  <a:latin typeface="Cambria Math" panose="02040503050406030204" pitchFamily="18" charset="0"/>
                                </a:rPr>
                                <m:t>3</m:t>
                              </m:r>
                            </m:sup>
                          </m:sSup>
                          <m:r>
                            <a:rPr lang="en-US" altLang="zh-CN" sz="1400" i="1" dirty="0">
                              <a:solidFill>
                                <a:schemeClr val="tx1"/>
                              </a:solidFill>
                              <a:latin typeface="Cambria Math" panose="02040503050406030204" pitchFamily="18" charset="0"/>
                            </a:rPr>
                            <m:t>𝜋</m:t>
                          </m:r>
                        </m:den>
                      </m:f>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b>
                        <m:sup>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p>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sSup>
                                <m:sSupPr>
                                  <m:ctrlPr>
                                    <a:rPr lang="en-US" altLang="zh-CN" sz="1400" i="1" dirty="0">
                                      <a:solidFill>
                                        <a:schemeClr val="tx1"/>
                                      </a:solidFill>
                                      <a:latin typeface="Cambria Math" panose="02040503050406030204" pitchFamily="18" charset="0"/>
                                    </a:rPr>
                                  </m:ctrlPr>
                                </m:sSupPr>
                                <m:e>
                                  <m:d>
                                    <m:dPr>
                                      <m:ctrlPr>
                                        <a:rPr lang="en-US" altLang="zh-CN" sz="1400" i="1" dirty="0">
                                          <a:solidFill>
                                            <a:schemeClr val="tx1"/>
                                          </a:solidFill>
                                          <a:latin typeface="Cambria Math" panose="02040503050406030204" pitchFamily="18" charset="0"/>
                                        </a:rPr>
                                      </m:ctrlPr>
                                    </m:dPr>
                                    <m:e>
                                      <m:f>
                                        <m:fPr>
                                          <m:ctrlPr>
                                            <a:rPr lang="en-US" altLang="zh-CN" sz="1400" b="0" i="1" dirty="0" smtClean="0">
                                              <a:solidFill>
                                                <a:schemeClr val="tx1"/>
                                              </a:solidFill>
                                              <a:latin typeface="Cambria Math" panose="02040503050406030204" pitchFamily="18" charset="0"/>
                                            </a:rPr>
                                          </m:ctrlPr>
                                        </m:fPr>
                                        <m:num>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sin</m:t>
                                                  </m:r>
                                                </m:e>
                                                <m:sup>
                                                  <m:r>
                                                    <a:rPr lang="en-US" altLang="zh-CN" sz="1400" b="0" i="1" dirty="0" smtClean="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𝛽</m:t>
                                              </m:r>
                                            </m:e>
                                          </m:func>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𝛽</m:t>
                                              </m:r>
                                            </m:e>
                                          </m:func>
                                        </m:num>
                                        <m:den>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𝛽</m:t>
                                              </m:r>
                                            </m:e>
                                          </m:func>
                                        </m:den>
                                      </m:f>
                                    </m:e>
                                  </m:d>
                                </m:e>
                                <m:sup>
                                  <m:r>
                                    <a:rPr lang="en-US" altLang="zh-CN" sz="1400" i="1" dirty="0">
                                      <a:solidFill>
                                        <a:schemeClr val="tx1"/>
                                      </a:solidFill>
                                      <a:latin typeface="Cambria Math" panose="02040503050406030204" pitchFamily="18" charset="0"/>
                                    </a:rPr>
                                    <m:t>2</m:t>
                                  </m:r>
                                </m:sup>
                              </m:sSup>
                            </m:den>
                          </m:f>
                          <m:f>
                            <m:fPr>
                              <m:ctrlPr>
                                <a:rPr lang="en-US" altLang="zh-CN" sz="1400" i="1" dirty="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𝛽</m:t>
                                  </m:r>
                                </m:e>
                              </m:func>
                            </m:den>
                          </m:f>
                          <m:r>
                            <a:rPr lang="en-US" altLang="zh-CN" sz="1400" i="1" dirty="0">
                              <a:solidFill>
                                <a:schemeClr val="tx1"/>
                              </a:solidFill>
                              <a:latin typeface="Cambria Math" panose="02040503050406030204" pitchFamily="18" charset="0"/>
                            </a:rPr>
                            <m:t>𝑑</m:t>
                          </m:r>
                          <m:r>
                            <a:rPr lang="en-US" altLang="zh-CN" sz="1400" i="1" dirty="0">
                              <a:solidFill>
                                <a:schemeClr val="tx1"/>
                              </a:solidFill>
                              <a:latin typeface="Cambria Math" panose="02040503050406030204" pitchFamily="18" charset="0"/>
                            </a:rPr>
                            <m:t>𝛽</m:t>
                          </m:r>
                        </m:e>
                      </m:nary>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𝑎</m:t>
                              </m:r>
                            </m:e>
                            <m:sup>
                              <m:r>
                                <a:rPr lang="en-US" altLang="zh-CN" sz="1400" i="1" dirty="0">
                                  <a:solidFill>
                                    <a:schemeClr val="tx1"/>
                                  </a:solidFill>
                                  <a:latin typeface="Cambria Math" panose="02040503050406030204" pitchFamily="18" charset="0"/>
                                </a:rPr>
                                <m:t>3</m:t>
                              </m:r>
                            </m:sup>
                          </m:sSup>
                          <m:r>
                            <a:rPr lang="en-US" altLang="zh-CN" sz="1400" i="1" dirty="0">
                              <a:solidFill>
                                <a:schemeClr val="tx1"/>
                              </a:solidFill>
                              <a:latin typeface="Cambria Math" panose="02040503050406030204" pitchFamily="18" charset="0"/>
                            </a:rPr>
                            <m:t>𝜋</m:t>
                          </m:r>
                        </m:den>
                      </m:f>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b>
                        <m:sup>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p>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4</m:t>
                                          </m:r>
                                        </m:sup>
                                      </m:sSup>
                                    </m:fName>
                                    <m:e>
                                      <m:r>
                                        <a:rPr lang="en-US" altLang="zh-CN" sz="1400" b="0" i="1" dirty="0" smtClean="0">
                                          <a:solidFill>
                                            <a:schemeClr val="tx1"/>
                                          </a:solidFill>
                                          <a:latin typeface="Cambria Math" panose="02040503050406030204" pitchFamily="18" charset="0"/>
                                        </a:rPr>
                                        <m:t>𝛽</m:t>
                                      </m:r>
                                    </m:e>
                                  </m:func>
                                </m:den>
                              </m:f>
                            </m:den>
                          </m:f>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𝛽</m:t>
                                  </m:r>
                                </m:e>
                              </m:func>
                            </m:den>
                          </m:f>
                          <m:r>
                            <a:rPr lang="en-US" altLang="zh-CN" sz="1400" i="1" dirty="0">
                              <a:solidFill>
                                <a:schemeClr val="tx1"/>
                              </a:solidFill>
                              <a:latin typeface="Cambria Math" panose="02040503050406030204" pitchFamily="18" charset="0"/>
                            </a:rPr>
                            <m:t>𝑑</m:t>
                          </m:r>
                          <m:r>
                            <a:rPr lang="en-US" altLang="zh-CN" sz="1400" i="1" dirty="0">
                              <a:solidFill>
                                <a:schemeClr val="tx1"/>
                              </a:solidFill>
                              <a:latin typeface="Cambria Math" panose="02040503050406030204" pitchFamily="18" charset="0"/>
                            </a:rPr>
                            <m:t>𝛽</m:t>
                          </m:r>
                        </m:e>
                      </m:nary>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𝑎</m:t>
                              </m:r>
                            </m:e>
                            <m:sup>
                              <m:r>
                                <a:rPr lang="en-US" altLang="zh-CN" sz="1400" i="1" dirty="0">
                                  <a:solidFill>
                                    <a:schemeClr val="tx1"/>
                                  </a:solidFill>
                                  <a:latin typeface="Cambria Math" panose="02040503050406030204" pitchFamily="18" charset="0"/>
                                </a:rPr>
                                <m:t>3</m:t>
                              </m:r>
                            </m:sup>
                          </m:sSup>
                          <m:r>
                            <a:rPr lang="en-US" altLang="zh-CN" sz="1400" i="1" dirty="0">
                              <a:solidFill>
                                <a:schemeClr val="tx1"/>
                              </a:solidFill>
                              <a:latin typeface="Cambria Math" panose="02040503050406030204" pitchFamily="18" charset="0"/>
                            </a:rPr>
                            <m:t>𝜋</m:t>
                          </m:r>
                        </m:den>
                      </m:f>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b>
                        <m:sup>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p>
                        <m:e>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𝛽</m:t>
                              </m:r>
                            </m:e>
                          </m:func>
                          <m:r>
                            <a:rPr lang="en-US" altLang="zh-CN" sz="1400" i="1" dirty="0">
                              <a:solidFill>
                                <a:schemeClr val="tx1"/>
                              </a:solidFill>
                              <a:latin typeface="Cambria Math" panose="02040503050406030204" pitchFamily="18" charset="0"/>
                            </a:rPr>
                            <m:t>𝑑</m:t>
                          </m:r>
                          <m:r>
                            <a:rPr lang="en-US" altLang="zh-CN" sz="1400" i="1" dirty="0">
                              <a:solidFill>
                                <a:schemeClr val="tx1"/>
                              </a:solidFill>
                              <a:latin typeface="Cambria Math" panose="02040503050406030204" pitchFamily="18" charset="0"/>
                            </a:rPr>
                            <m:t>𝛽</m:t>
                          </m:r>
                        </m:e>
                      </m:nary>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𝑎</m:t>
                              </m:r>
                            </m:e>
                            <m:sup>
                              <m:r>
                                <a:rPr lang="en-US" altLang="zh-CN" sz="1400" i="1" dirty="0">
                                  <a:solidFill>
                                    <a:schemeClr val="tx1"/>
                                  </a:solidFill>
                                  <a:latin typeface="Cambria Math" panose="02040503050406030204" pitchFamily="18" charset="0"/>
                                </a:rPr>
                                <m:t>3</m:t>
                              </m:r>
                            </m:sup>
                          </m:sSup>
                          <m:r>
                            <a:rPr lang="en-US" altLang="zh-CN" sz="1400" i="1" dirty="0">
                              <a:solidFill>
                                <a:schemeClr val="tx1"/>
                              </a:solidFill>
                              <a:latin typeface="Cambria Math" panose="02040503050406030204" pitchFamily="18" charset="0"/>
                            </a:rPr>
                            <m:t>𝜋</m:t>
                          </m:r>
                        </m:den>
                      </m:f>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b>
                        <m:sup>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p>
                        <m:e>
                          <m:f>
                            <m:fPr>
                              <m:ctrlPr>
                                <a:rPr lang="en-US" altLang="zh-CN" sz="1400" b="0" i="1" dirty="0" smtClean="0">
                                  <a:solidFill>
                                    <a:schemeClr val="tx1"/>
                                  </a:solidFill>
                                  <a:latin typeface="Cambria Math" panose="02040503050406030204" pitchFamily="18" charset="0"/>
                                </a:rPr>
                              </m:ctrlPr>
                            </m:fPr>
                            <m:num>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2</m:t>
                                  </m:r>
                                  <m:r>
                                    <a:rPr lang="en-US" altLang="zh-CN" sz="1400" b="0" i="1" dirty="0" smtClean="0">
                                      <a:solidFill>
                                        <a:schemeClr val="tx1"/>
                                      </a:solidFill>
                                      <a:latin typeface="Cambria Math" panose="02040503050406030204" pitchFamily="18" charset="0"/>
                                    </a:rPr>
                                    <m:t>𝛽</m:t>
                                  </m:r>
                                </m:e>
                              </m:func>
                              <m:r>
                                <a:rPr lang="en-US" altLang="zh-CN" sz="1400" b="0" i="1" dirty="0" smtClean="0">
                                  <a:solidFill>
                                    <a:schemeClr val="tx1"/>
                                  </a:solidFill>
                                  <a:latin typeface="Cambria Math" panose="02040503050406030204" pitchFamily="18" charset="0"/>
                                </a:rPr>
                                <m:t>+1</m:t>
                              </m:r>
                            </m:num>
                            <m:den>
                              <m:r>
                                <a:rPr lang="en-US" altLang="zh-CN" sz="1400" b="0" i="1" dirty="0" smtClean="0">
                                  <a:solidFill>
                                    <a:schemeClr val="tx1"/>
                                  </a:solidFill>
                                  <a:latin typeface="Cambria Math" panose="02040503050406030204" pitchFamily="18" charset="0"/>
                                </a:rPr>
                                <m:t>2</m:t>
                              </m:r>
                            </m:den>
                          </m:f>
                          <m:r>
                            <a:rPr lang="en-US" altLang="zh-CN" sz="1400" i="1" dirty="0">
                              <a:solidFill>
                                <a:schemeClr val="tx1"/>
                              </a:solidFill>
                              <a:latin typeface="Cambria Math" panose="02040503050406030204" pitchFamily="18" charset="0"/>
                            </a:rPr>
                            <m:t>𝑑</m:t>
                          </m:r>
                          <m:r>
                            <a:rPr lang="en-US" altLang="zh-CN" sz="1400" i="1" dirty="0">
                              <a:solidFill>
                                <a:schemeClr val="tx1"/>
                              </a:solidFill>
                              <a:latin typeface="Cambria Math" panose="02040503050406030204" pitchFamily="18" charset="0"/>
                            </a:rPr>
                            <m:t>𝛽</m:t>
                          </m:r>
                        </m:e>
                      </m:nary>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𝑎</m:t>
                              </m:r>
                            </m:e>
                            <m:sup>
                              <m:r>
                                <a:rPr lang="en-US" altLang="zh-CN" sz="1400" i="1" dirty="0">
                                  <a:solidFill>
                                    <a:schemeClr val="tx1"/>
                                  </a:solidFill>
                                  <a:latin typeface="Cambria Math" panose="02040503050406030204" pitchFamily="18" charset="0"/>
                                </a:rPr>
                                <m:t>3</m:t>
                              </m:r>
                            </m:sup>
                          </m:sSup>
                          <m:r>
                            <a:rPr lang="en-US" altLang="zh-CN" sz="1400" i="1" dirty="0">
                              <a:solidFill>
                                <a:schemeClr val="tx1"/>
                              </a:solidFill>
                              <a:latin typeface="Cambria Math" panose="02040503050406030204" pitchFamily="18" charset="0"/>
                            </a:rPr>
                            <m:t>𝜋</m:t>
                          </m:r>
                        </m:den>
                      </m:f>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b>
                        <m:sup>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p>
                        <m:e>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𝛽</m:t>
                                  </m:r>
                                </m:e>
                              </m:func>
                              <m:r>
                                <a:rPr lang="en-US" altLang="zh-CN" sz="1400" i="1" dirty="0">
                                  <a:solidFill>
                                    <a:schemeClr val="tx1"/>
                                  </a:solidFill>
                                  <a:latin typeface="Cambria Math" panose="02040503050406030204" pitchFamily="18" charset="0"/>
                                </a:rPr>
                                <m:t>+1</m:t>
                              </m:r>
                            </m:num>
                            <m:den>
                              <m:r>
                                <a:rPr lang="en-US" altLang="zh-CN" sz="1400" b="0" i="1" dirty="0" smtClean="0">
                                  <a:solidFill>
                                    <a:schemeClr val="tx1"/>
                                  </a:solidFill>
                                  <a:latin typeface="Cambria Math" panose="02040503050406030204" pitchFamily="18" charset="0"/>
                                </a:rPr>
                                <m:t>4</m:t>
                              </m:r>
                            </m:den>
                          </m:f>
                          <m:r>
                            <a:rPr lang="en-US" altLang="zh-CN" sz="1400" i="1" dirty="0">
                              <a:solidFill>
                                <a:schemeClr val="tx1"/>
                              </a:solidFill>
                              <a:latin typeface="Cambria Math" panose="02040503050406030204" pitchFamily="18" charset="0"/>
                            </a:rPr>
                            <m:t>𝑑</m:t>
                          </m:r>
                          <m:r>
                            <a:rPr lang="en-US" altLang="zh-CN" sz="1400" b="0" i="1" dirty="0" smtClean="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𝛽</m:t>
                          </m:r>
                        </m:e>
                      </m:nary>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r>
                            <a:rPr lang="en-US" altLang="zh-CN" sz="1400" b="0" i="1" dirty="0" smtClean="0">
                              <a:solidFill>
                                <a:schemeClr val="tx1"/>
                              </a:solidFill>
                              <a:latin typeface="Cambria Math" panose="02040503050406030204" pitchFamily="18" charset="0"/>
                            </a:rPr>
                            <m:t>4</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𝑎</m:t>
                              </m:r>
                            </m:e>
                            <m:sup>
                              <m:r>
                                <a:rPr lang="en-US" altLang="zh-CN" sz="1400" i="1" dirty="0">
                                  <a:solidFill>
                                    <a:schemeClr val="tx1"/>
                                  </a:solidFill>
                                  <a:latin typeface="Cambria Math" panose="02040503050406030204" pitchFamily="18" charset="0"/>
                                </a:rPr>
                                <m:t>3</m:t>
                              </m:r>
                            </m:sup>
                          </m:sSup>
                          <m:r>
                            <a:rPr lang="en-US" altLang="zh-CN" sz="1400" i="1" dirty="0">
                              <a:solidFill>
                                <a:schemeClr val="tx1"/>
                              </a:solidFill>
                              <a:latin typeface="Cambria Math" panose="02040503050406030204" pitchFamily="18" charset="0"/>
                            </a:rPr>
                            <m:t>𝜋</m:t>
                          </m:r>
                        </m:den>
                      </m:f>
                      <m:d>
                        <m:dPr>
                          <m:ctrlPr>
                            <a:rPr lang="en-US" altLang="zh-CN" sz="1400" b="0" i="1" dirty="0" smtClean="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𝛽</m:t>
                          </m:r>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2</m:t>
                              </m:r>
                              <m:r>
                                <a:rPr lang="en-US" altLang="zh-CN" sz="1400" b="0" i="1" dirty="0" smtClean="0">
                                  <a:solidFill>
                                    <a:schemeClr val="tx1"/>
                                  </a:solidFill>
                                  <a:latin typeface="Cambria Math" panose="02040503050406030204" pitchFamily="18" charset="0"/>
                                </a:rPr>
                                <m:t>𝛽</m:t>
                              </m:r>
                            </m:e>
                          </m:func>
                        </m:e>
                      </m:d>
                      <m:sSubSup>
                        <m:sSubSupPr>
                          <m:ctrlPr>
                            <a:rPr lang="en-US" altLang="zh-CN" sz="1400" b="0" i="1" dirty="0" smtClean="0">
                              <a:solidFill>
                                <a:schemeClr val="tx1"/>
                              </a:solidFill>
                              <a:latin typeface="Cambria Math" panose="02040503050406030204" pitchFamily="18" charset="0"/>
                            </a:rPr>
                          </m:ctrlPr>
                        </m:sSubSupPr>
                        <m:e>
                          <m:d>
                            <m:dPr>
                              <m:begChr m:val=""/>
                              <m:endChr m:val="|"/>
                              <m:ctrlPr>
                                <a:rPr lang="en-US" altLang="zh-CN" sz="1400" b="0" i="1" dirty="0" smtClean="0">
                                  <a:solidFill>
                                    <a:schemeClr val="tx1"/>
                                  </a:solidFill>
                                  <a:latin typeface="Cambria Math" panose="02040503050406030204" pitchFamily="18" charset="0"/>
                                </a:rPr>
                              </m:ctrlPr>
                            </m:dPr>
                            <m:e>
                              <m:r>
                                <a:rPr lang="zh-CN" altLang="en-US">
                                  <a:latin typeface="Cambria Math" panose="02040503050406030204" pitchFamily="18" charset="0"/>
                                </a:rPr>
                                <m:t>​</m:t>
                              </m:r>
                            </m:e>
                          </m:d>
                        </m:e>
                        <m:sub>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𝜋</m:t>
                              </m:r>
                            </m:num>
                            <m:den>
                              <m:r>
                                <a:rPr lang="en-US" altLang="zh-CN" sz="1400" b="0" i="1" dirty="0" smtClean="0">
                                  <a:solidFill>
                                    <a:schemeClr val="tx1"/>
                                  </a:solidFill>
                                  <a:latin typeface="Cambria Math" panose="02040503050406030204" pitchFamily="18" charset="0"/>
                                </a:rPr>
                                <m:t>2</m:t>
                              </m:r>
                            </m:den>
                          </m:f>
                        </m:sub>
                        <m:sup>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𝜋</m:t>
                              </m:r>
                            </m:num>
                            <m:den>
                              <m:r>
                                <a:rPr lang="en-US" altLang="zh-CN" sz="1400" b="0" i="1" dirty="0" smtClean="0">
                                  <a:solidFill>
                                    <a:schemeClr val="tx1"/>
                                  </a:solidFill>
                                  <a:latin typeface="Cambria Math" panose="02040503050406030204" pitchFamily="18" charset="0"/>
                                </a:rPr>
                                <m:t>2</m:t>
                              </m:r>
                            </m:den>
                          </m:f>
                        </m:sup>
                      </m:sSubSup>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r>
                            <a:rPr lang="en-US" altLang="zh-CN" sz="1400" i="1" dirty="0">
                              <a:solidFill>
                                <a:schemeClr val="tx1"/>
                              </a:solidFill>
                              <a:latin typeface="Cambria Math" panose="02040503050406030204" pitchFamily="18" charset="0"/>
                            </a:rPr>
                            <m:t>4</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𝑎</m:t>
                              </m:r>
                            </m:e>
                            <m:sup>
                              <m:r>
                                <a:rPr lang="en-US" altLang="zh-CN" sz="1400" i="1" dirty="0">
                                  <a:solidFill>
                                    <a:schemeClr val="tx1"/>
                                  </a:solidFill>
                                  <a:latin typeface="Cambria Math" panose="02040503050406030204" pitchFamily="18" charset="0"/>
                                </a:rPr>
                                <m:t>3</m:t>
                              </m:r>
                            </m:sup>
                          </m:sSup>
                          <m:r>
                            <a:rPr lang="en-US" altLang="zh-CN" sz="1400" i="1" dirty="0">
                              <a:solidFill>
                                <a:schemeClr val="tx1"/>
                              </a:solidFill>
                              <a:latin typeface="Cambria Math" panose="02040503050406030204" pitchFamily="18" charset="0"/>
                            </a:rPr>
                            <m:t>𝜋</m:t>
                          </m:r>
                        </m:den>
                      </m:f>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𝜋</m:t>
                          </m:r>
                          <m:r>
                            <a:rPr lang="en-US" altLang="zh-CN" sz="1400" b="0" i="1" dirty="0" smtClean="0">
                              <a:solidFill>
                                <a:schemeClr val="tx1"/>
                              </a:solidFill>
                              <a:latin typeface="Cambria Math" panose="02040503050406030204" pitchFamily="18" charset="0"/>
                            </a:rPr>
                            <m:t>−0−</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𝜋</m:t>
                              </m:r>
                              <m:r>
                                <a:rPr lang="en-US" altLang="zh-CN" sz="1400" b="0" i="1" dirty="0" smtClean="0">
                                  <a:solidFill>
                                    <a:schemeClr val="tx1"/>
                                  </a:solidFill>
                                  <a:latin typeface="Cambria Math" panose="02040503050406030204" pitchFamily="18" charset="0"/>
                                </a:rPr>
                                <m:t>−0</m:t>
                              </m:r>
                            </m:e>
                          </m:d>
                        </m:e>
                      </m:d>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r>
                            <a:rPr lang="en-US" altLang="zh-CN" sz="1400" b="0" i="1" dirty="0" smtClean="0">
                              <a:solidFill>
                                <a:schemeClr val="tx1"/>
                              </a:solidFill>
                              <a:latin typeface="Cambria Math" panose="02040503050406030204" pitchFamily="18" charset="0"/>
                            </a:rPr>
                            <m:t>2</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𝑎</m:t>
                              </m:r>
                            </m:e>
                            <m:sup>
                              <m:r>
                                <a:rPr lang="en-US" altLang="zh-CN" sz="1400" i="1" dirty="0">
                                  <a:solidFill>
                                    <a:schemeClr val="tx1"/>
                                  </a:solidFill>
                                  <a:latin typeface="Cambria Math" panose="02040503050406030204" pitchFamily="18" charset="0"/>
                                </a:rPr>
                                <m:t>3</m:t>
                              </m:r>
                            </m:sup>
                          </m:sSup>
                        </m:den>
                      </m:f>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num>
                        <m:den>
                          <m:r>
                            <a:rPr lang="en-US" altLang="zh-CN" sz="1400" b="0" i="1" dirty="0" smtClean="0">
                              <a:solidFill>
                                <a:schemeClr val="tx1"/>
                              </a:solidFill>
                              <a:latin typeface="Cambria Math" panose="02040503050406030204" pitchFamily="18" charset="0"/>
                            </a:rPr>
                            <m:t>2</m:t>
                          </m:r>
                          <m:sSup>
                            <m:sSupPr>
                              <m:ctrlPr>
                                <a:rPr lang="en-US" altLang="zh-CN" sz="1400" b="0" i="1" dirty="0" smtClean="0">
                                  <a:solidFill>
                                    <a:schemeClr val="tx1"/>
                                  </a:solidFill>
                                  <a:latin typeface="Cambria Math" panose="02040503050406030204" pitchFamily="18" charset="0"/>
                                </a:rPr>
                              </m:ctrlPr>
                            </m:sSupPr>
                            <m:e>
                              <m:rad>
                                <m:radPr>
                                  <m:degHide m:val="on"/>
                                  <m:ctrlPr>
                                    <a:rPr lang="en-US" altLang="zh-CN" sz="1400" b="0" i="1" dirty="0" smtClean="0">
                                      <a:solidFill>
                                        <a:schemeClr val="tx1"/>
                                      </a:solidFill>
                                      <a:latin typeface="Cambria Math" panose="02040503050406030204" pitchFamily="18" charset="0"/>
                                    </a:rPr>
                                  </m:ctrlPr>
                                </m:radPr>
                                <m:deg/>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r>
                                    <a:rPr lang="en-US" altLang="zh-CN" sz="140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up>
                                      <m:r>
                                        <a:rPr lang="en-US" altLang="zh-CN" sz="1400" i="1" dirty="0">
                                          <a:solidFill>
                                            <a:schemeClr val="tx1"/>
                                          </a:solidFill>
                                          <a:latin typeface="Cambria Math" panose="02040503050406030204" pitchFamily="18" charset="0"/>
                                        </a:rPr>
                                        <m:t>2</m:t>
                                      </m:r>
                                    </m:sup>
                                  </m:sSubSup>
                                </m:e>
                              </m:rad>
                            </m:e>
                            <m:sup>
                              <m:r>
                                <a:rPr lang="en-US" altLang="zh-CN" sz="1400" b="0" i="1" dirty="0" smtClean="0">
                                  <a:solidFill>
                                    <a:schemeClr val="tx1"/>
                                  </a:solidFill>
                                  <a:latin typeface="Cambria Math" panose="02040503050406030204" pitchFamily="18" charset="0"/>
                                </a:rPr>
                                <m:t>3</m:t>
                              </m:r>
                            </m:sup>
                          </m:sSup>
                        </m:den>
                      </m:f>
                    </m:oMath>
                  </m:oMathPara>
                </a14:m>
                <a:endParaRPr lang="en-US" altLang="zh-CN" sz="1400"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9668A080-4215-30A5-A416-3912EE536CBE}"/>
                  </a:ext>
                </a:extLst>
              </p:cNvPr>
              <p:cNvSpPr>
                <a:spLocks noRot="1" noChangeAspect="1" noMove="1" noResize="1" noEditPoints="1" noAdjustHandles="1" noChangeArrowheads="1" noChangeShapeType="1" noTextEdit="1"/>
              </p:cNvSpPr>
              <p:nvPr/>
            </p:nvSpPr>
            <p:spPr>
              <a:xfrm>
                <a:off x="368712" y="1144044"/>
                <a:ext cx="11286756" cy="540280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65057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3F27F-8758-4AD9-0E68-AFCC80066C9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CF91674C-0C2C-D263-112D-721EB4FAA983}"/>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en-US" altLang="zh-CN" dirty="0">
                    <a:solidFill>
                      <a:schemeClr val="tx1"/>
                    </a:solidFill>
                  </a:rPr>
                  <a:t>GGX </a:t>
                </a:r>
                <a14:m>
                  <m:oMath xmlns:m="http://schemas.openxmlformats.org/officeDocument/2006/math">
                    <m:r>
                      <m:rPr>
                        <m:sty m:val="p"/>
                      </m:rPr>
                      <a:rPr lang="en-US" altLang="zh-CN" i="0" dirty="0" smtClean="0">
                        <a:solidFill>
                          <a:schemeClr val="tx1"/>
                        </a:solidFill>
                        <a:latin typeface="Cambria Math" panose="02040503050406030204" pitchFamily="18" charset="0"/>
                      </a:rPr>
                      <m:t>Λ</m:t>
                    </m:r>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𝒐</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CF91674C-0C2C-D263-112D-721EB4FAA983}"/>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017" b="-8475"/>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9C34761D-C951-1492-227A-6344A1A31ED3}"/>
              </a:ext>
            </a:extLst>
          </p:cNvPr>
          <p:cNvSpPr/>
          <p:nvPr/>
        </p:nvSpPr>
        <p:spPr>
          <a:xfrm>
            <a:off x="521112" y="1315233"/>
            <a:ext cx="11286756"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8197FB46-F5B7-B2A5-0FFA-194AB6156B5B}"/>
                  </a:ext>
                </a:extLst>
              </p:cNvPr>
              <p:cNvSpPr/>
              <p:nvPr/>
            </p:nvSpPr>
            <p:spPr>
              <a:xfrm>
                <a:off x="368712" y="1144044"/>
                <a:ext cx="11286756"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14:m>
                  <m:oMathPara xmlns:m="http://schemas.openxmlformats.org/officeDocument/2006/math">
                    <m:oMathParaPr>
                      <m:jc m:val="centerGroup"/>
                    </m:oMathParaPr>
                    <m:oMath xmlns:m="http://schemas.openxmlformats.org/officeDocument/2006/math">
                      <m:sSup>
                        <m:sSupPr>
                          <m:ctrlPr>
                            <a:rPr lang="en-US" altLang="zh-CN" sz="1400" i="1" dirty="0" smtClean="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num>
                        <m:den>
                          <m:r>
                            <a:rPr lang="en-US" altLang="zh-CN" sz="1400" b="0" i="1" dirty="0" smtClean="0">
                              <a:solidFill>
                                <a:schemeClr val="tx1"/>
                              </a:solidFill>
                              <a:latin typeface="Cambria Math" panose="02040503050406030204" pitchFamily="18" charset="0"/>
                            </a:rPr>
                            <m:t>2</m:t>
                          </m:r>
                          <m:sSup>
                            <m:sSupPr>
                              <m:ctrlPr>
                                <a:rPr lang="en-US" altLang="zh-CN" sz="1400" b="0" i="1" dirty="0" smtClean="0">
                                  <a:solidFill>
                                    <a:schemeClr val="tx1"/>
                                  </a:solidFill>
                                  <a:latin typeface="Cambria Math" panose="02040503050406030204" pitchFamily="18" charset="0"/>
                                </a:rPr>
                              </m:ctrlPr>
                            </m:sSupPr>
                            <m:e>
                              <m:rad>
                                <m:radPr>
                                  <m:degHide m:val="on"/>
                                  <m:ctrlPr>
                                    <a:rPr lang="en-US" altLang="zh-CN" sz="1400" b="0" i="1" dirty="0" smtClean="0">
                                      <a:solidFill>
                                        <a:schemeClr val="tx1"/>
                                      </a:solidFill>
                                      <a:latin typeface="Cambria Math" panose="02040503050406030204" pitchFamily="18" charset="0"/>
                                    </a:rPr>
                                  </m:ctrlPr>
                                </m:radPr>
                                <m:deg/>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r>
                                    <a:rPr lang="en-US" altLang="zh-CN" sz="140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up>
                                      <m:r>
                                        <a:rPr lang="en-US" altLang="zh-CN" sz="1400" i="1" dirty="0">
                                          <a:solidFill>
                                            <a:schemeClr val="tx1"/>
                                          </a:solidFill>
                                          <a:latin typeface="Cambria Math" panose="02040503050406030204" pitchFamily="18" charset="0"/>
                                        </a:rPr>
                                        <m:t>2</m:t>
                                      </m:r>
                                    </m:sup>
                                  </m:sSubSup>
                                </m:e>
                              </m:rad>
                            </m:e>
                            <m:sup>
                              <m:r>
                                <a:rPr lang="en-US" altLang="zh-CN" sz="1400" b="0" i="1" dirty="0" smtClean="0">
                                  <a:solidFill>
                                    <a:schemeClr val="tx1"/>
                                  </a:solidFill>
                                  <a:latin typeface="Cambria Math" panose="02040503050406030204" pitchFamily="18" charset="0"/>
                                </a:rPr>
                                <m:t>3</m:t>
                              </m:r>
                            </m:sup>
                          </m:sSup>
                        </m:den>
                      </m:f>
                      <m:r>
                        <a:rPr lang="en-US" altLang="zh-CN" sz="1400" b="0" i="1" dirty="0" smtClean="0">
                          <a:solidFill>
                            <a:schemeClr val="tx1"/>
                          </a:solidFill>
                          <a:latin typeface="Cambria Math" panose="02040503050406030204" pitchFamily="18" charset="0"/>
                        </a:rPr>
                        <m:t>,</m:t>
                      </m:r>
                      <m:r>
                        <a:rPr lang="en-US" altLang="zh-CN" sz="1400" b="0" i="0" dirty="0" smtClean="0">
                          <a:solidFill>
                            <a:schemeClr val="tx1"/>
                          </a:solidFill>
                          <a:latin typeface="Cambria Math" panose="02040503050406030204" pitchFamily="18" charset="0"/>
                        </a:rPr>
                        <m:t>  </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r>
                        <a:rPr lang="en-US" altLang="zh-CN" sz="1400" b="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nary>
                        <m:naryPr>
                          <m:ctrlPr>
                            <a:rPr lang="en-US" altLang="zh-CN" sz="1400" b="1" i="1" dirty="0">
                              <a:solidFill>
                                <a:schemeClr val="tx1"/>
                              </a:solidFill>
                              <a:latin typeface="Cambria Math" panose="02040503050406030204" pitchFamily="18" charset="0"/>
                            </a:rPr>
                          </m:ctrlPr>
                        </m:naryPr>
                        <m:sub>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b>
                        <m:sup>
                          <m:r>
                            <a:rPr lang="en-US" altLang="zh-CN" sz="1400" b="1" i="1" dirty="0">
                              <a:solidFill>
                                <a:schemeClr val="tx1"/>
                              </a:solidFill>
                              <a:latin typeface="Cambria Math" panose="02040503050406030204" pitchFamily="18" charset="0"/>
                            </a:rPr>
                            <m:t>+∞</m:t>
                          </m:r>
                        </m:sup>
                        <m:e>
                          <m:d>
                            <m:dPr>
                              <m:ctrlPr>
                                <a:rPr lang="en-US" altLang="zh-CN" sz="1400" b="1"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nary>
                      <m:r>
                        <a:rPr lang="en-US" altLang="zh-CN" sz="1400" b="1"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r>
                        <a:rPr lang="zh-CN" altLang="en-US" sz="1400" i="1" dirty="0">
                          <a:solidFill>
                            <a:schemeClr val="tx1"/>
                          </a:solidFill>
                          <a:latin typeface="Cambria Math" panose="02040503050406030204" pitchFamily="18" charset="0"/>
                        </a:rPr>
                        <m:t>为</m:t>
                      </m:r>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zh-CN" altLang="en-US" sz="1400" b="1" i="1" dirty="0">
                          <a:solidFill>
                            <a:schemeClr val="tx1"/>
                          </a:solidFill>
                          <a:latin typeface="Cambria Math" panose="02040503050406030204" pitchFamily="18" charset="0"/>
                        </a:rPr>
                        <m:t>与</m:t>
                      </m:r>
                      <m:r>
                        <a:rPr lang="en-US" altLang="zh-CN" sz="1400" b="1" i="1" dirty="0">
                          <a:solidFill>
                            <a:schemeClr val="tx1"/>
                          </a:solidFill>
                          <a:latin typeface="Cambria Math" panose="02040503050406030204" pitchFamily="18" charset="0"/>
                        </a:rPr>
                        <m:t>𝒈</m:t>
                      </m:r>
                      <m:r>
                        <a:rPr lang="zh-CN" altLang="en-US" sz="1400" b="1" i="1" dirty="0">
                          <a:solidFill>
                            <a:schemeClr val="tx1"/>
                          </a:solidFill>
                          <a:latin typeface="Cambria Math" panose="02040503050406030204" pitchFamily="18" charset="0"/>
                        </a:rPr>
                        <m:t>的夹角</m:t>
                      </m:r>
                    </m:oMath>
                  </m:oMathPara>
                </a14:m>
                <a:endParaRPr lang="en-US" altLang="zh-CN" sz="1400"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m:rPr>
                          <m:sty m:val="p"/>
                        </m:rPr>
                        <a:rPr lang="en-US" altLang="zh-CN" sz="1400" dirty="0" smtClean="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r>
                        <a:rPr lang="en-US" altLang="zh-CN" sz="1400" b="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nary>
                        <m:naryPr>
                          <m:ctrlPr>
                            <a:rPr lang="en-US" altLang="zh-CN" sz="1400" b="1" i="1" dirty="0">
                              <a:solidFill>
                                <a:schemeClr val="tx1"/>
                              </a:solidFill>
                              <a:latin typeface="Cambria Math" panose="02040503050406030204" pitchFamily="18" charset="0"/>
                            </a:rPr>
                          </m:ctrlPr>
                        </m:naryPr>
                        <m:sub>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b>
                        <m:sup>
                          <m:r>
                            <a:rPr lang="en-US" altLang="zh-CN" sz="1400" b="1" i="1" dirty="0">
                              <a:solidFill>
                                <a:schemeClr val="tx1"/>
                              </a:solidFill>
                              <a:latin typeface="Cambria Math" panose="02040503050406030204" pitchFamily="18" charset="0"/>
                            </a:rPr>
                            <m:t>+∞</m:t>
                          </m:r>
                        </m:sup>
                        <m:e>
                          <m:d>
                            <m:dPr>
                              <m:ctrlPr>
                                <a:rPr lang="en-US" altLang="zh-CN" sz="1400" b="1"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b="1" i="1" dirty="0" smtClean="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r>
                                <a:rPr lang="en-US" altLang="zh-CN" sz="1400" i="1" dirty="0">
                                  <a:solidFill>
                                    <a:schemeClr val="tx1"/>
                                  </a:solidFill>
                                  <a:latin typeface="Cambria Math" panose="02040503050406030204" pitchFamily="18" charset="0"/>
                                </a:rPr>
                                <m:t>2</m:t>
                              </m:r>
                              <m:sSup>
                                <m:sSupPr>
                                  <m:ctrlPr>
                                    <a:rPr lang="en-US" altLang="zh-CN" sz="1400" i="1" dirty="0">
                                      <a:solidFill>
                                        <a:schemeClr val="tx1"/>
                                      </a:solidFill>
                                      <a:latin typeface="Cambria Math" panose="02040503050406030204" pitchFamily="18" charset="0"/>
                                    </a:rPr>
                                  </m:ctrlPr>
                                </m:sSupPr>
                                <m:e>
                                  <m:rad>
                                    <m:radPr>
                                      <m:degHide m:val="on"/>
                                      <m:ctrlPr>
                                        <a:rPr lang="en-US" altLang="zh-CN" sz="1400" i="1" dirty="0">
                                          <a:solidFill>
                                            <a:schemeClr val="tx1"/>
                                          </a:solidFill>
                                          <a:latin typeface="Cambria Math" panose="02040503050406030204" pitchFamily="18" charset="0"/>
                                        </a:rPr>
                                      </m:ctrlPr>
                                    </m:radPr>
                                    <m:deg/>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r>
                                        <a:rPr lang="en-US" altLang="zh-CN" sz="140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up>
                                          <m:r>
                                            <a:rPr lang="en-US" altLang="zh-CN" sz="1400" i="1" dirty="0">
                                              <a:solidFill>
                                                <a:schemeClr val="tx1"/>
                                              </a:solidFill>
                                              <a:latin typeface="Cambria Math" panose="02040503050406030204" pitchFamily="18" charset="0"/>
                                            </a:rPr>
                                            <m:t>2</m:t>
                                          </m:r>
                                        </m:sup>
                                      </m:sSubSup>
                                    </m:e>
                                  </m:rad>
                                </m:e>
                                <m:sup>
                                  <m:r>
                                    <a:rPr lang="en-US" altLang="zh-CN" sz="1400" i="1" dirty="0">
                                      <a:solidFill>
                                        <a:schemeClr val="tx1"/>
                                      </a:solidFill>
                                      <a:latin typeface="Cambria Math" panose="02040503050406030204" pitchFamily="18" charset="0"/>
                                    </a:rPr>
                                    <m:t>3</m:t>
                                  </m:r>
                                </m:sup>
                              </m:sSup>
                            </m:den>
                          </m:f>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nary>
                      <m:r>
                        <a:rPr lang="en-US" altLang="zh-CN" sz="1400" b="1" i="1" dirty="0" smtClean="0">
                          <a:solidFill>
                            <a:schemeClr val="tx1"/>
                          </a:solidFill>
                          <a:latin typeface="Cambria Math" panose="02040503050406030204" pitchFamily="18" charset="0"/>
                        </a:rPr>
                        <m:t>,  </m:t>
                      </m:r>
                      <m:r>
                        <a:rPr lang="zh-CN" altLang="en-US" sz="1400" b="1" i="1" dirty="0">
                          <a:solidFill>
                            <a:schemeClr val="tx1"/>
                          </a:solidFill>
                          <a:latin typeface="Cambria Math" panose="02040503050406030204" pitchFamily="18" charset="0"/>
                        </a:rPr>
                        <m:t>令</m:t>
                      </m:r>
                      <m:sSub>
                        <m:sSubPr>
                          <m:ctrlPr>
                            <a:rPr lang="en-US" altLang="zh-CN" sz="1400" i="1" dirty="0" smtClean="0">
                              <a:solidFill>
                                <a:schemeClr val="tx1"/>
                              </a:solidFill>
                              <a:latin typeface="Cambria Math" panose="02040503050406030204" pitchFamily="18" charset="0"/>
                            </a:rPr>
                          </m:ctrlPr>
                        </m:sSubPr>
                        <m:e>
                          <m:acc>
                            <m:accPr>
                              <m:chr m:val="̃"/>
                              <m:ctrlPr>
                                <a:rPr lang="en-US" altLang="zh-CN" sz="1400" i="1" dirty="0" smtClean="0">
                                  <a:solidFill>
                                    <a:schemeClr val="tx1"/>
                                  </a:solidFill>
                                  <a:latin typeface="Cambria Math" panose="02040503050406030204" pitchFamily="18" charset="0"/>
                                </a:rPr>
                              </m:ctrlPr>
                            </m:accPr>
                            <m:e>
                              <m:r>
                                <a:rPr lang="en-US" altLang="zh-CN" sz="1400" b="0" i="1" dirty="0" smtClean="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𝑥</m:t>
                          </m:r>
                        </m:sub>
                      </m:sSub>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𝛼</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tan</m:t>
                          </m:r>
                        </m:fName>
                        <m:e>
                          <m:r>
                            <a:rPr lang="en-US" altLang="zh-CN" sz="1400" b="0" i="1" dirty="0" smtClean="0">
                              <a:solidFill>
                                <a:schemeClr val="tx1"/>
                              </a:solidFill>
                              <a:latin typeface="Cambria Math" panose="02040503050406030204" pitchFamily="18" charset="0"/>
                            </a:rPr>
                            <m:t>𝛾</m:t>
                          </m:r>
                        </m:e>
                      </m:func>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𝑑</m:t>
                      </m:r>
                      <m:sSub>
                        <m:sSubPr>
                          <m:ctrlPr>
                            <a:rPr lang="en-US" altLang="zh-CN" sz="1400" b="0" i="1" dirty="0" smtClean="0">
                              <a:solidFill>
                                <a:schemeClr val="tx1"/>
                              </a:solidFill>
                              <a:latin typeface="Cambria Math" panose="02040503050406030204" pitchFamily="18" charset="0"/>
                            </a:rPr>
                          </m:ctrlPr>
                        </m:sSubPr>
                        <m:e>
                          <m:acc>
                            <m:accPr>
                              <m:chr m:val="̃"/>
                              <m:ctrlPr>
                                <a:rPr lang="en-US" altLang="zh-CN" sz="1400" b="0" i="1" dirty="0" smtClean="0">
                                  <a:solidFill>
                                    <a:schemeClr val="tx1"/>
                                  </a:solidFill>
                                  <a:latin typeface="Cambria Math" panose="02040503050406030204" pitchFamily="18" charset="0"/>
                                </a:rPr>
                              </m:ctrlPr>
                            </m:accPr>
                            <m:e>
                              <m:r>
                                <a:rPr lang="en-US" altLang="zh-CN" sz="1400" b="0" i="1" dirty="0" smtClean="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𝑥</m:t>
                          </m:r>
                        </m:sub>
                      </m:sSub>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𝛼</m:t>
                          </m:r>
                        </m:num>
                        <m:den>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cos</m:t>
                                  </m:r>
                                </m:e>
                                <m:sup>
                                  <m:r>
                                    <a:rPr lang="en-US" altLang="zh-CN" sz="1400" b="0" i="1" dirty="0" smtClean="0">
                                      <a:solidFill>
                                        <a:schemeClr val="tx1"/>
                                      </a:solidFill>
                                      <a:latin typeface="Cambria Math" panose="02040503050406030204" pitchFamily="18" charset="0"/>
                                    </a:rPr>
                                    <m:t>2</m:t>
                                  </m:r>
                                </m:sup>
                              </m:sSup>
                            </m:fName>
                            <m:e>
                              <m:r>
                                <a:rPr lang="en-US" altLang="zh-CN" sz="1400" b="0" i="1" dirty="0" smtClean="0">
                                  <a:solidFill>
                                    <a:schemeClr val="tx1"/>
                                  </a:solidFill>
                                  <a:latin typeface="Cambria Math" panose="02040503050406030204" pitchFamily="18" charset="0"/>
                                </a:rPr>
                                <m:t>𝛾</m:t>
                              </m:r>
                            </m:e>
                          </m:func>
                        </m:den>
                      </m:f>
                      <m:r>
                        <a:rPr lang="en-US" altLang="zh-CN" sz="1400" b="0" i="1" dirty="0" smtClean="0">
                          <a:solidFill>
                            <a:schemeClr val="tx1"/>
                          </a:solidFill>
                          <a:latin typeface="Cambria Math" panose="02040503050406030204" pitchFamily="18" charset="0"/>
                        </a:rPr>
                        <m:t>𝑑</m:t>
                      </m:r>
                      <m:r>
                        <a:rPr lang="en-US" altLang="zh-CN" sz="1400" b="0" i="1" dirty="0" smtClean="0">
                          <a:solidFill>
                            <a:schemeClr val="tx1"/>
                          </a:solidFill>
                          <a:latin typeface="Cambria Math" panose="02040503050406030204" pitchFamily="18" charset="0"/>
                        </a:rPr>
                        <m:t>𝛾</m:t>
                      </m:r>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𝛾</m:t>
                      </m:r>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0,</m:t>
                          </m:r>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𝜋</m:t>
                              </m:r>
                            </m:num>
                            <m:den>
                              <m:r>
                                <a:rPr lang="en-US" altLang="zh-CN" sz="1400" b="0" i="1" dirty="0" smtClean="0">
                                  <a:solidFill>
                                    <a:schemeClr val="tx1"/>
                                  </a:solidFill>
                                  <a:latin typeface="Cambria Math" panose="02040503050406030204" pitchFamily="18" charset="0"/>
                                </a:rPr>
                                <m:t>2</m:t>
                              </m:r>
                            </m:den>
                          </m:f>
                        </m:e>
                      </m:d>
                      <m:r>
                        <a:rPr lang="en-US" altLang="zh-CN" sz="1400" b="0" i="1" dirty="0" smtClean="0">
                          <a:solidFill>
                            <a:schemeClr val="tx1"/>
                          </a:solidFill>
                          <a:latin typeface="Cambria Math" panose="02040503050406030204" pitchFamily="18" charset="0"/>
                        </a:rPr>
                        <m:t>,  </m:t>
                      </m:r>
                      <m:r>
                        <a:rPr lang="zh-CN" altLang="en-US" sz="1400" i="1" dirty="0">
                          <a:solidFill>
                            <a:schemeClr val="tx1"/>
                          </a:solidFill>
                          <a:latin typeface="Cambria Math" panose="02040503050406030204" pitchFamily="18" charset="0"/>
                        </a:rPr>
                        <m:t>令</m:t>
                      </m:r>
                      <m:r>
                        <a:rPr lang="en-US" altLang="zh-CN" sz="1400" b="0" i="1" dirty="0" smtClean="0">
                          <a:solidFill>
                            <a:schemeClr val="tx1"/>
                          </a:solidFill>
                          <a:latin typeface="Cambria Math" panose="02040503050406030204" pitchFamily="18" charset="0"/>
                        </a:rPr>
                        <m:t>𝜇</m:t>
                      </m:r>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arctan</m:t>
                          </m:r>
                        </m:fName>
                        <m:e>
                          <m:d>
                            <m:dPr>
                              <m:ctrlPr>
                                <a:rPr lang="en-US" altLang="zh-CN" sz="1400" b="0" i="1" dirty="0" smtClean="0">
                                  <a:solidFill>
                                    <a:schemeClr val="tx1"/>
                                  </a:solidFill>
                                  <a:latin typeface="Cambria Math" panose="02040503050406030204" pitchFamily="18" charset="0"/>
                                </a:rPr>
                              </m:ctrlPr>
                            </m:dPr>
                            <m:e>
                              <m:f>
                                <m:fPr>
                                  <m:ctrlPr>
                                    <a:rPr lang="en-US" altLang="zh-CN" sz="1400" b="0" i="1" dirty="0" smtClean="0">
                                      <a:solidFill>
                                        <a:schemeClr val="tx1"/>
                                      </a:solidFill>
                                      <a:latin typeface="Cambria Math" panose="02040503050406030204" pitchFamily="18" charset="0"/>
                                    </a:rPr>
                                  </m:ctrlPr>
                                </m:fPr>
                                <m:num>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num>
                                <m:den>
                                  <m:r>
                                    <a:rPr lang="en-US" altLang="zh-CN" sz="1400" b="0" i="1" dirty="0" smtClean="0">
                                      <a:solidFill>
                                        <a:schemeClr val="tx1"/>
                                      </a:solidFill>
                                      <a:latin typeface="Cambria Math" panose="02040503050406030204" pitchFamily="18" charset="0"/>
                                    </a:rPr>
                                    <m:t>𝛼</m:t>
                                  </m:r>
                                </m:den>
                              </m:f>
                            </m:e>
                          </m:d>
                        </m:e>
                      </m:func>
                    </m:oMath>
                  </m:oMathPara>
                </a14:m>
                <a:endParaRPr lang="en-US" altLang="zh-CN" sz="1400" b="0"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m:rPr>
                          <m:sty m:val="p"/>
                        </m:rPr>
                        <a:rPr lang="en-US" altLang="zh-CN" sz="1400" dirty="0" smtClean="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r>
                        <a:rPr lang="en-US" altLang="zh-CN" sz="1400" b="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nary>
                        <m:naryPr>
                          <m:ctrlPr>
                            <a:rPr lang="en-US" altLang="zh-CN" sz="1400" b="1" i="1" dirty="0">
                              <a:solidFill>
                                <a:schemeClr val="tx1"/>
                              </a:solidFill>
                              <a:latin typeface="Cambria Math" panose="02040503050406030204" pitchFamily="18" charset="0"/>
                            </a:rPr>
                          </m:ctrlPr>
                        </m:naryPr>
                        <m:sub>
                          <m:r>
                            <a:rPr lang="en-US" altLang="zh-CN" sz="1400" b="0" i="1" dirty="0" smtClean="0">
                              <a:solidFill>
                                <a:schemeClr val="tx1"/>
                              </a:solidFill>
                              <a:latin typeface="Cambria Math" panose="02040503050406030204" pitchFamily="18" charset="0"/>
                            </a:rPr>
                            <m:t>𝜇</m:t>
                          </m:r>
                        </m:sub>
                        <m:sup>
                          <m:f>
                            <m:fPr>
                              <m:ctrlPr>
                                <a:rPr lang="en-US" altLang="zh-CN" sz="140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𝜋</m:t>
                              </m:r>
                            </m:num>
                            <m:den>
                              <m:r>
                                <a:rPr lang="en-US" altLang="zh-CN" sz="1400" b="0" i="1" dirty="0" smtClean="0">
                                  <a:solidFill>
                                    <a:schemeClr val="tx1"/>
                                  </a:solidFill>
                                  <a:latin typeface="Cambria Math" panose="02040503050406030204" pitchFamily="18" charset="0"/>
                                </a:rPr>
                                <m:t>2</m:t>
                              </m:r>
                            </m:den>
                          </m:f>
                        </m:sup>
                        <m:e>
                          <m:d>
                            <m:dPr>
                              <m:ctrlPr>
                                <a:rPr lang="en-US" altLang="zh-CN" sz="1400" b="1"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𝛼</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tan</m:t>
                                  </m:r>
                                </m:fName>
                                <m:e>
                                  <m:r>
                                    <a:rPr lang="en-US" altLang="zh-CN" sz="1400" i="1" dirty="0">
                                      <a:solidFill>
                                        <a:schemeClr val="tx1"/>
                                      </a:solidFill>
                                      <a:latin typeface="Cambria Math" panose="02040503050406030204" pitchFamily="18" charset="0"/>
                                    </a:rPr>
                                    <m:t>𝛾</m:t>
                                  </m:r>
                                </m:e>
                              </m:func>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b="1" i="1" dirty="0" smtClean="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r>
                                <a:rPr lang="en-US" altLang="zh-CN" sz="1400" i="1" dirty="0">
                                  <a:solidFill>
                                    <a:schemeClr val="tx1"/>
                                  </a:solidFill>
                                  <a:latin typeface="Cambria Math" panose="02040503050406030204" pitchFamily="18" charset="0"/>
                                </a:rPr>
                                <m:t>2</m:t>
                              </m:r>
                              <m:sSup>
                                <m:sSupPr>
                                  <m:ctrlPr>
                                    <a:rPr lang="en-US" altLang="zh-CN" sz="1400" i="1" dirty="0">
                                      <a:solidFill>
                                        <a:schemeClr val="tx1"/>
                                      </a:solidFill>
                                      <a:latin typeface="Cambria Math" panose="02040503050406030204" pitchFamily="18" charset="0"/>
                                    </a:rPr>
                                  </m:ctrlPr>
                                </m:sSupPr>
                                <m:e>
                                  <m:rad>
                                    <m:radPr>
                                      <m:degHide m:val="on"/>
                                      <m:ctrlPr>
                                        <a:rPr lang="en-US" altLang="zh-CN" sz="1400" i="1" dirty="0">
                                          <a:solidFill>
                                            <a:schemeClr val="tx1"/>
                                          </a:solidFill>
                                          <a:latin typeface="Cambria Math" panose="02040503050406030204" pitchFamily="18" charset="0"/>
                                        </a:rPr>
                                      </m:ctrlPr>
                                    </m:radPr>
                                    <m:deg/>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r>
                                        <a:rPr lang="en-US" altLang="zh-CN" sz="1400" i="1" dirty="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b="0" i="0" dirty="0" smtClean="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𝛾</m:t>
                                          </m:r>
                                        </m:e>
                                      </m:func>
                                    </m:e>
                                  </m:rad>
                                </m:e>
                                <m:sup>
                                  <m:r>
                                    <a:rPr lang="en-US" altLang="zh-CN" sz="1400" i="1" dirty="0">
                                      <a:solidFill>
                                        <a:schemeClr val="tx1"/>
                                      </a:solidFill>
                                      <a:latin typeface="Cambria Math" panose="02040503050406030204" pitchFamily="18" charset="0"/>
                                    </a:rPr>
                                    <m:t>3</m:t>
                                  </m:r>
                                </m:sup>
                              </m:sSup>
                            </m:den>
                          </m:f>
                          <m:r>
                            <a:rPr lang="en-US" altLang="zh-CN" sz="1400" b="0" i="1" dirty="0" smtClean="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𝛼</m:t>
                              </m:r>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𝛾</m:t>
                                  </m:r>
                                </m:e>
                              </m:func>
                            </m:den>
                          </m:f>
                          <m:r>
                            <a:rPr lang="en-US" altLang="zh-CN" sz="1400" i="1" dirty="0">
                              <a:solidFill>
                                <a:schemeClr val="tx1"/>
                              </a:solidFill>
                              <a:latin typeface="Cambria Math" panose="02040503050406030204" pitchFamily="18" charset="0"/>
                            </a:rPr>
                            <m:t>𝑑</m:t>
                          </m:r>
                          <m:r>
                            <a:rPr lang="en-US" altLang="zh-CN" sz="1400" i="1" dirty="0">
                              <a:solidFill>
                                <a:schemeClr val="tx1"/>
                              </a:solidFill>
                              <a:latin typeface="Cambria Math" panose="02040503050406030204" pitchFamily="18" charset="0"/>
                            </a:rPr>
                            <m:t>𝛾</m:t>
                          </m:r>
                        </m:e>
                      </m:nary>
                      <m:r>
                        <a:rPr lang="en-US" altLang="zh-CN" sz="1400" b="1" i="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nary>
                        <m:naryPr>
                          <m:ctrlPr>
                            <a:rPr lang="en-US" altLang="zh-CN" sz="1400" b="1"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𝜇</m:t>
                          </m:r>
                        </m:sub>
                        <m:sup>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p>
                        <m:e>
                          <m:d>
                            <m:dPr>
                              <m:ctrlPr>
                                <a:rPr lang="en-US" altLang="zh-CN" sz="1400" b="1"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𝛼</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tan</m:t>
                                  </m:r>
                                </m:fName>
                                <m:e>
                                  <m:r>
                                    <a:rPr lang="en-US" altLang="zh-CN" sz="1400" i="1" dirty="0">
                                      <a:solidFill>
                                        <a:schemeClr val="tx1"/>
                                      </a:solidFill>
                                      <a:latin typeface="Cambria Math" panose="02040503050406030204" pitchFamily="18" charset="0"/>
                                    </a:rPr>
                                    <m:t>𝛾</m:t>
                                  </m:r>
                                </m:e>
                              </m:func>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b="1" i="1" dirty="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3</m:t>
                                  </m:r>
                                </m:sup>
                              </m:sSup>
                            </m:num>
                            <m:den>
                              <m:r>
                                <a:rPr lang="en-US" altLang="zh-CN" sz="1400" i="1" dirty="0">
                                  <a:solidFill>
                                    <a:schemeClr val="tx1"/>
                                  </a:solidFill>
                                  <a:latin typeface="Cambria Math" panose="02040503050406030204" pitchFamily="18" charset="0"/>
                                </a:rPr>
                                <m:t>2</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3</m:t>
                                  </m:r>
                                </m:sup>
                              </m:sSup>
                              <m:sSup>
                                <m:sSupPr>
                                  <m:ctrlPr>
                                    <a:rPr lang="en-US" altLang="zh-CN" sz="1400" i="1" dirty="0">
                                      <a:solidFill>
                                        <a:schemeClr val="tx1"/>
                                      </a:solidFill>
                                      <a:latin typeface="Cambria Math" panose="02040503050406030204" pitchFamily="18" charset="0"/>
                                    </a:rPr>
                                  </m:ctrlPr>
                                </m:sSupPr>
                                <m:e>
                                  <m:rad>
                                    <m:radPr>
                                      <m:degHide m:val="on"/>
                                      <m:ctrlPr>
                                        <a:rPr lang="en-US" altLang="zh-CN" sz="1400" i="1" dirty="0">
                                          <a:solidFill>
                                            <a:schemeClr val="tx1"/>
                                          </a:solidFill>
                                          <a:latin typeface="Cambria Math" panose="02040503050406030204" pitchFamily="18" charset="0"/>
                                        </a:rPr>
                                      </m:ctrlPr>
                                    </m:radPr>
                                    <m:deg/>
                                    <m:e>
                                      <m:r>
                                        <a:rPr lang="en-US" altLang="zh-CN" sz="1400" i="1" dirty="0">
                                          <a:solidFill>
                                            <a:schemeClr val="tx1"/>
                                          </a:solidFill>
                                          <a:latin typeface="Cambria Math" panose="02040503050406030204" pitchFamily="18" charset="0"/>
                                        </a:rPr>
                                        <m:t>1+</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𝛾</m:t>
                                          </m:r>
                                        </m:e>
                                      </m:func>
                                    </m:e>
                                  </m:rad>
                                </m:e>
                                <m:sup>
                                  <m:r>
                                    <a:rPr lang="en-US" altLang="zh-CN" sz="1400" i="1" dirty="0">
                                      <a:solidFill>
                                        <a:schemeClr val="tx1"/>
                                      </a:solidFill>
                                      <a:latin typeface="Cambria Math" panose="02040503050406030204" pitchFamily="18" charset="0"/>
                                    </a:rPr>
                                    <m:t>3</m:t>
                                  </m:r>
                                </m:sup>
                              </m:sSup>
                            </m:den>
                          </m:f>
                          <m:r>
                            <a:rPr lang="en-US" altLang="zh-CN" sz="1400" i="1" dirty="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𝛾</m:t>
                                  </m:r>
                                </m:e>
                              </m:func>
                            </m:den>
                          </m:f>
                          <m:r>
                            <a:rPr lang="en-US" altLang="zh-CN" sz="1400" i="1" dirty="0">
                              <a:solidFill>
                                <a:schemeClr val="tx1"/>
                              </a:solidFill>
                              <a:latin typeface="Cambria Math" panose="02040503050406030204" pitchFamily="18" charset="0"/>
                            </a:rPr>
                            <m:t>𝑑</m:t>
                          </m:r>
                          <m:r>
                            <a:rPr lang="en-US" altLang="zh-CN" sz="1400" i="1" dirty="0">
                              <a:solidFill>
                                <a:schemeClr val="tx1"/>
                              </a:solidFill>
                              <a:latin typeface="Cambria Math" panose="02040503050406030204" pitchFamily="18" charset="0"/>
                            </a:rPr>
                            <m:t>𝛾</m:t>
                          </m:r>
                        </m:e>
                      </m:nary>
                      <m:r>
                        <a:rPr lang="en-US" altLang="zh-CN" sz="1400" b="1" i="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r>
                            <a:rPr lang="en-US" altLang="zh-CN" sz="1400" b="0" i="1" dirty="0" smtClean="0">
                              <a:solidFill>
                                <a:schemeClr val="tx1"/>
                              </a:solidFill>
                              <a:latin typeface="Cambria Math" panose="02040503050406030204" pitchFamily="18" charset="0"/>
                            </a:rPr>
                            <m:t>2</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nary>
                        <m:naryPr>
                          <m:ctrlPr>
                            <a:rPr lang="en-US" altLang="zh-CN" sz="1400" b="1"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𝜇</m:t>
                          </m:r>
                        </m:sub>
                        <m:sup>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p>
                        <m:e>
                          <m:f>
                            <m:fPr>
                              <m:ctrlPr>
                                <a:rPr lang="en-US" altLang="zh-CN" sz="1400" i="1" dirty="0">
                                  <a:solidFill>
                                    <a:schemeClr val="tx1"/>
                                  </a:solidFill>
                                  <a:latin typeface="Cambria Math" panose="02040503050406030204" pitchFamily="18" charset="0"/>
                                </a:rPr>
                              </m:ctrlPr>
                            </m:fPr>
                            <m:num>
                              <m:d>
                                <m:dPr>
                                  <m:ctrlPr>
                                    <a:rPr lang="en-US" altLang="zh-CN" sz="1400" b="1"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𝛼</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tan</m:t>
                                      </m:r>
                                    </m:fName>
                                    <m:e>
                                      <m:r>
                                        <a:rPr lang="en-US" altLang="zh-CN" sz="1400" i="1" dirty="0">
                                          <a:solidFill>
                                            <a:schemeClr val="tx1"/>
                                          </a:solidFill>
                                          <a:latin typeface="Cambria Math" panose="02040503050406030204" pitchFamily="18" charset="0"/>
                                        </a:rPr>
                                        <m:t>𝛾</m:t>
                                      </m:r>
                                    </m:e>
                                  </m:func>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num>
                            <m:den>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3</m:t>
                                          </m:r>
                                        </m:sup>
                                      </m:sSup>
                                    </m:fName>
                                    <m:e>
                                      <m:r>
                                        <a:rPr lang="en-US" altLang="zh-CN" sz="1400" i="1" dirty="0">
                                          <a:solidFill>
                                            <a:schemeClr val="tx1"/>
                                          </a:solidFill>
                                          <a:latin typeface="Cambria Math" panose="02040503050406030204" pitchFamily="18" charset="0"/>
                                        </a:rPr>
                                        <m:t>𝛾</m:t>
                                      </m:r>
                                    </m:e>
                                  </m:func>
                                </m:den>
                              </m:f>
                            </m:den>
                          </m:f>
                          <m:r>
                            <a:rPr lang="en-US" altLang="zh-CN" sz="1400" i="1" dirty="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r>
                                    <a:rPr lang="en-US" altLang="zh-CN" sz="1400" i="1" dirty="0">
                                      <a:solidFill>
                                        <a:schemeClr val="tx1"/>
                                      </a:solidFill>
                                      <a:latin typeface="Cambria Math" panose="02040503050406030204" pitchFamily="18" charset="0"/>
                                    </a:rPr>
                                    <m:t>𝛾</m:t>
                                  </m:r>
                                </m:e>
                              </m:func>
                            </m:den>
                          </m:f>
                          <m:r>
                            <a:rPr lang="en-US" altLang="zh-CN" sz="1400" i="1" dirty="0">
                              <a:solidFill>
                                <a:schemeClr val="tx1"/>
                              </a:solidFill>
                              <a:latin typeface="Cambria Math" panose="02040503050406030204" pitchFamily="18" charset="0"/>
                            </a:rPr>
                            <m:t>𝑑</m:t>
                          </m:r>
                          <m:r>
                            <a:rPr lang="en-US" altLang="zh-CN" sz="1400" i="1" dirty="0">
                              <a:solidFill>
                                <a:schemeClr val="tx1"/>
                              </a:solidFill>
                              <a:latin typeface="Cambria Math" panose="02040503050406030204" pitchFamily="18" charset="0"/>
                            </a:rPr>
                            <m:t>𝛾</m:t>
                          </m:r>
                        </m:e>
                      </m:nary>
                      <m:r>
                        <a:rPr lang="en-US" altLang="zh-CN" sz="1400" b="1" i="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nary>
                        <m:naryPr>
                          <m:ctrlPr>
                            <a:rPr lang="en-US" altLang="zh-CN" sz="1400" b="1"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𝜇</m:t>
                          </m:r>
                        </m:sub>
                        <m:sup>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p>
                        <m:e>
                          <m:d>
                            <m:dPr>
                              <m:ctrlPr>
                                <a:rPr lang="en-US" altLang="zh-CN" sz="1400" b="1"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𝛼</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tan</m:t>
                                  </m:r>
                                </m:fName>
                                <m:e>
                                  <m:r>
                                    <a:rPr lang="en-US" altLang="zh-CN" sz="1400" i="1" dirty="0">
                                      <a:solidFill>
                                        <a:schemeClr val="tx1"/>
                                      </a:solidFill>
                                      <a:latin typeface="Cambria Math" panose="02040503050406030204" pitchFamily="18" charset="0"/>
                                    </a:rPr>
                                    <m:t>𝛾</m:t>
                                  </m:r>
                                </m:e>
                              </m:func>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𝛾</m:t>
                              </m:r>
                            </m:e>
                          </m:func>
                          <m:r>
                            <a:rPr lang="en-US" altLang="zh-CN" sz="1400" i="1" dirty="0">
                              <a:solidFill>
                                <a:schemeClr val="tx1"/>
                              </a:solidFill>
                              <a:latin typeface="Cambria Math" panose="02040503050406030204" pitchFamily="18" charset="0"/>
                            </a:rPr>
                            <m:t>𝑑</m:t>
                          </m:r>
                          <m:r>
                            <a:rPr lang="en-US" altLang="zh-CN" sz="1400" i="1" dirty="0">
                              <a:solidFill>
                                <a:schemeClr val="tx1"/>
                              </a:solidFill>
                              <a:latin typeface="Cambria Math" panose="02040503050406030204" pitchFamily="18" charset="0"/>
                            </a:rPr>
                            <m:t>𝛾</m:t>
                          </m:r>
                        </m:e>
                      </m:nary>
                      <m:r>
                        <a:rPr lang="en-US" altLang="zh-CN" sz="1400" b="1" i="1" dirty="0" smtClean="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d>
                        <m:dPr>
                          <m:ctrlPr>
                            <a:rPr lang="en-US" altLang="zh-CN" sz="1400" b="1" i="1" dirty="0" smtClean="0">
                              <a:solidFill>
                                <a:schemeClr val="tx1"/>
                              </a:solidFill>
                              <a:latin typeface="Cambria Math" panose="02040503050406030204" pitchFamily="18" charset="0"/>
                            </a:rPr>
                          </m:ctrlPr>
                        </m:dPr>
                        <m:e>
                          <m:nary>
                            <m:naryPr>
                              <m:ctrlPr>
                                <a:rPr lang="en-US" altLang="zh-CN" sz="1400" b="1"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𝜇</m:t>
                              </m:r>
                            </m:sub>
                            <m:sup>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p>
                            <m:e>
                              <m:r>
                                <a:rPr lang="en-US" altLang="zh-CN" sz="1400" i="1" dirty="0">
                                  <a:solidFill>
                                    <a:schemeClr val="tx1"/>
                                  </a:solidFill>
                                  <a:latin typeface="Cambria Math" panose="02040503050406030204" pitchFamily="18" charset="0"/>
                                </a:rPr>
                                <m:t>𝛼</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i="1" dirty="0">
                                      <a:solidFill>
                                        <a:schemeClr val="tx1"/>
                                      </a:solidFill>
                                      <a:latin typeface="Cambria Math" panose="02040503050406030204" pitchFamily="18" charset="0"/>
                                    </a:rPr>
                                    <m:t>𝛾</m:t>
                                  </m:r>
                                </m:e>
                              </m:func>
                              <m:r>
                                <a:rPr lang="en-US" altLang="zh-CN" sz="1400" i="1" dirty="0">
                                  <a:solidFill>
                                    <a:schemeClr val="tx1"/>
                                  </a:solidFill>
                                  <a:latin typeface="Cambria Math" panose="02040503050406030204" pitchFamily="18" charset="0"/>
                                </a:rPr>
                                <m:t>𝑑</m:t>
                              </m:r>
                              <m:r>
                                <a:rPr lang="en-US" altLang="zh-CN" sz="1400" i="1" dirty="0">
                                  <a:solidFill>
                                    <a:schemeClr val="tx1"/>
                                  </a:solidFill>
                                  <a:latin typeface="Cambria Math" panose="02040503050406030204" pitchFamily="18" charset="0"/>
                                </a:rPr>
                                <m:t>𝛾</m:t>
                              </m:r>
                            </m:e>
                          </m:nary>
                          <m:r>
                            <a:rPr lang="en-US" altLang="zh-CN" sz="1400" b="1" i="1" dirty="0" smtClean="0">
                              <a:solidFill>
                                <a:schemeClr val="tx1"/>
                              </a:solidFill>
                              <a:latin typeface="Cambria Math" panose="02040503050406030204" pitchFamily="18" charset="0"/>
                            </a:rPr>
                            <m:t>−</m:t>
                          </m:r>
                          <m:nary>
                            <m:naryPr>
                              <m:ctrlPr>
                                <a:rPr lang="en-US" altLang="zh-CN" sz="1400" i="1" dirty="0" smtClean="0">
                                  <a:solidFill>
                                    <a:schemeClr val="tx1"/>
                                  </a:solidFill>
                                  <a:latin typeface="Cambria Math" panose="02040503050406030204" pitchFamily="18" charset="0"/>
                                </a:rPr>
                              </m:ctrlPr>
                            </m:naryPr>
                            <m:sub>
                              <m:r>
                                <a:rPr lang="en-US" altLang="zh-CN" sz="1400" b="0" i="1" dirty="0" smtClean="0">
                                  <a:solidFill>
                                    <a:schemeClr val="tx1"/>
                                  </a:solidFill>
                                  <a:latin typeface="Cambria Math" panose="02040503050406030204" pitchFamily="18" charset="0"/>
                                </a:rPr>
                                <m:t>𝜇</m:t>
                              </m:r>
                            </m:sub>
                            <m:sup>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p>
                            <m:e>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𝛾</m:t>
                                  </m:r>
                                </m:e>
                              </m:func>
                              <m:r>
                                <a:rPr lang="en-US" altLang="zh-CN" sz="1400" b="0" i="1" dirty="0" smtClean="0">
                                  <a:solidFill>
                                    <a:schemeClr val="tx1"/>
                                  </a:solidFill>
                                  <a:latin typeface="Cambria Math" panose="02040503050406030204" pitchFamily="18" charset="0"/>
                                </a:rPr>
                                <m:t>𝑑</m:t>
                              </m:r>
                              <m:r>
                                <a:rPr lang="en-US" altLang="zh-CN" sz="1400" b="0" i="1" dirty="0" smtClean="0">
                                  <a:solidFill>
                                    <a:schemeClr val="tx1"/>
                                  </a:solidFill>
                                  <a:latin typeface="Cambria Math" panose="02040503050406030204" pitchFamily="18" charset="0"/>
                                </a:rPr>
                                <m:t>𝛾</m:t>
                              </m:r>
                            </m:e>
                          </m:nary>
                        </m:e>
                      </m:d>
                      <m:r>
                        <a:rPr lang="en-US" altLang="zh-CN" sz="1400" b="1" i="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d>
                        <m:dPr>
                          <m:ctrlPr>
                            <a:rPr lang="en-US" altLang="zh-CN" sz="1400" b="1" i="1" dirty="0">
                              <a:solidFill>
                                <a:schemeClr val="tx1"/>
                              </a:solidFill>
                              <a:latin typeface="Cambria Math" panose="02040503050406030204" pitchFamily="18" charset="0"/>
                            </a:rPr>
                          </m:ctrlPr>
                        </m:dPr>
                        <m:e>
                          <m:d>
                            <m:dPr>
                              <m:ctrlPr>
                                <a:rPr lang="en-US" altLang="zh-CN" sz="1400" b="1"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𝛼</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𝛾</m:t>
                                  </m:r>
                                </m:e>
                              </m:func>
                            </m:e>
                          </m:d>
                          <m:sSubSup>
                            <m:sSubSupPr>
                              <m:ctrlPr>
                                <a:rPr lang="en-US" altLang="zh-CN" sz="1400" i="1" dirty="0">
                                  <a:solidFill>
                                    <a:schemeClr val="tx1"/>
                                  </a:solidFill>
                                  <a:latin typeface="Cambria Math" panose="02040503050406030204" pitchFamily="18" charset="0"/>
                                </a:rPr>
                              </m:ctrlPr>
                            </m:sSubSupPr>
                            <m:e>
                              <m:d>
                                <m:dPr>
                                  <m:begChr m:val=""/>
                                  <m:endChr m:val="|"/>
                                  <m:ctrlPr>
                                    <a:rPr lang="en-US" altLang="zh-CN" sz="1400" i="1" dirty="0">
                                      <a:solidFill>
                                        <a:schemeClr val="tx1"/>
                                      </a:solidFill>
                                      <a:latin typeface="Cambria Math" panose="02040503050406030204" pitchFamily="18" charset="0"/>
                                    </a:rPr>
                                  </m:ctrlPr>
                                </m:dPr>
                                <m:e>
                                  <m:r>
                                    <a:rPr lang="zh-CN" altLang="en-US" sz="1400">
                                      <a:latin typeface="Cambria Math" panose="02040503050406030204" pitchFamily="18" charset="0"/>
                                    </a:rPr>
                                    <m:t>​</m:t>
                                  </m:r>
                                </m:e>
                              </m:d>
                            </m:e>
                            <m:sub>
                              <m:r>
                                <a:rPr lang="en-US" altLang="zh-CN" sz="1400" i="1" dirty="0">
                                  <a:solidFill>
                                    <a:schemeClr val="tx1"/>
                                  </a:solidFill>
                                  <a:latin typeface="Cambria Math" panose="02040503050406030204" pitchFamily="18" charset="0"/>
                                </a:rPr>
                                <m:t>𝜇</m:t>
                              </m:r>
                            </m:sub>
                            <m:sup>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p>
                          </m:sSubSup>
                          <m:r>
                            <a:rPr lang="en-US" altLang="zh-CN" sz="1400" b="1" i="1" dirty="0">
                              <a:solidFill>
                                <a:schemeClr val="tx1"/>
                              </a:solidFill>
                              <a:latin typeface="Cambria Math" panose="02040503050406030204" pitchFamily="18" charset="0"/>
                            </a:rPr>
                            <m:t>−</m:t>
                          </m:r>
                          <m:d>
                            <m:dPr>
                              <m:ctrlPr>
                                <a:rPr lang="en-US" altLang="zh-CN" sz="1400" b="1"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sin</m:t>
                                  </m:r>
                                </m:fName>
                                <m:e>
                                  <m:r>
                                    <a:rPr lang="en-US" altLang="zh-CN" sz="1400" i="1" dirty="0">
                                      <a:solidFill>
                                        <a:schemeClr val="tx1"/>
                                      </a:solidFill>
                                      <a:latin typeface="Cambria Math" panose="02040503050406030204" pitchFamily="18" charset="0"/>
                                    </a:rPr>
                                    <m:t>𝛾</m:t>
                                  </m:r>
                                </m:e>
                              </m:func>
                            </m:e>
                          </m:d>
                          <m:sSubSup>
                            <m:sSubSupPr>
                              <m:ctrlPr>
                                <a:rPr lang="en-US" altLang="zh-CN" sz="1400" i="1" dirty="0">
                                  <a:solidFill>
                                    <a:schemeClr val="tx1"/>
                                  </a:solidFill>
                                  <a:latin typeface="Cambria Math" panose="02040503050406030204" pitchFamily="18" charset="0"/>
                                </a:rPr>
                              </m:ctrlPr>
                            </m:sSubSupPr>
                            <m:e>
                              <m:d>
                                <m:dPr>
                                  <m:begChr m:val=""/>
                                  <m:endChr m:val="|"/>
                                  <m:ctrlPr>
                                    <a:rPr lang="en-US" altLang="zh-CN" sz="1400" i="1" dirty="0">
                                      <a:solidFill>
                                        <a:schemeClr val="tx1"/>
                                      </a:solidFill>
                                      <a:latin typeface="Cambria Math" panose="02040503050406030204" pitchFamily="18" charset="0"/>
                                    </a:rPr>
                                  </m:ctrlPr>
                                </m:dPr>
                                <m:e>
                                  <m:r>
                                    <a:rPr lang="zh-CN" altLang="en-US" sz="1400">
                                      <a:latin typeface="Cambria Math" panose="02040503050406030204" pitchFamily="18" charset="0"/>
                                    </a:rPr>
                                    <m:t>​</m:t>
                                  </m:r>
                                </m:e>
                              </m:d>
                            </m:e>
                            <m:sub>
                              <m:r>
                                <a:rPr lang="en-US" altLang="zh-CN" sz="1400" i="1" dirty="0">
                                  <a:solidFill>
                                    <a:schemeClr val="tx1"/>
                                  </a:solidFill>
                                  <a:latin typeface="Cambria Math" panose="02040503050406030204" pitchFamily="18" charset="0"/>
                                </a:rPr>
                                <m:t>𝜇</m:t>
                              </m:r>
                            </m:sub>
                            <m:sup>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𝜋</m:t>
                                  </m:r>
                                </m:num>
                                <m:den>
                                  <m:r>
                                    <a:rPr lang="en-US" altLang="zh-CN" sz="1400" i="1" dirty="0">
                                      <a:solidFill>
                                        <a:schemeClr val="tx1"/>
                                      </a:solidFill>
                                      <a:latin typeface="Cambria Math" panose="02040503050406030204" pitchFamily="18" charset="0"/>
                                    </a:rPr>
                                    <m:t>2</m:t>
                                  </m:r>
                                </m:den>
                              </m:f>
                            </m:sup>
                          </m:sSubSup>
                        </m:e>
                      </m:d>
                      <m:r>
                        <a:rPr lang="en-US" altLang="zh-CN" sz="1400" b="1" i="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d>
                        <m:dPr>
                          <m:ctrlPr>
                            <a:rPr lang="en-US" altLang="zh-CN" sz="1400" b="1"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𝛼</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b="0" i="1" dirty="0" smtClean="0">
                                  <a:solidFill>
                                    <a:schemeClr val="tx1"/>
                                  </a:solidFill>
                                  <a:latin typeface="Cambria Math" panose="02040503050406030204" pitchFamily="18" charset="0"/>
                                </a:rPr>
                                <m:t>𝜇</m:t>
                              </m:r>
                            </m:e>
                          </m:func>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1</m:t>
                              </m:r>
                              <m:r>
                                <a:rPr lang="en-US" altLang="zh-CN" sz="1400" b="1"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𝜇</m:t>
                                  </m:r>
                                </m:e>
                              </m:func>
                            </m:e>
                          </m:d>
                        </m:e>
                      </m:d>
                    </m:oMath>
                  </m:oMathPara>
                </a14:m>
                <a:endParaRPr lang="en-US" altLang="zh-CN" sz="1400"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tan</m:t>
                          </m:r>
                        </m:fName>
                        <m:e>
                          <m:r>
                            <a:rPr lang="en-US" altLang="zh-CN" sz="1400" b="0" i="1" dirty="0" smtClean="0">
                              <a:solidFill>
                                <a:schemeClr val="tx1"/>
                              </a:solidFill>
                              <a:latin typeface="Cambria Math" panose="02040503050406030204" pitchFamily="18" charset="0"/>
                            </a:rPr>
                            <m:t>𝜇</m:t>
                          </m:r>
                        </m:e>
                      </m:func>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num>
                        <m:den>
                          <m:r>
                            <a:rPr lang="en-US" altLang="zh-CN" sz="1400" i="1" dirty="0">
                              <a:solidFill>
                                <a:schemeClr val="tx1"/>
                              </a:solidFill>
                              <a:latin typeface="Cambria Math" panose="02040503050406030204" pitchFamily="18" charset="0"/>
                            </a:rPr>
                            <m:t>𝛼</m:t>
                          </m:r>
                        </m:den>
                      </m:f>
                      <m:r>
                        <a:rPr lang="en-US" altLang="zh-CN" sz="1400" b="0" i="1" dirty="0" smtClean="0">
                          <a:solidFill>
                            <a:schemeClr val="tx1"/>
                          </a:solidFill>
                          <a:latin typeface="Cambria Math" panose="02040503050406030204" pitchFamily="18" charset="0"/>
                        </a:rPr>
                        <m:t>,  </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𝜇</m:t>
                          </m:r>
                        </m:e>
                      </m:func>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num>
                        <m:den>
                          <m:rad>
                            <m:radPr>
                              <m:degHide m:val="on"/>
                              <m:ctrlPr>
                                <a:rPr lang="en-US" altLang="zh-CN" sz="1400" b="0" i="1" dirty="0" smtClean="0">
                                  <a:solidFill>
                                    <a:schemeClr val="tx1"/>
                                  </a:solidFill>
                                  <a:latin typeface="Cambria Math" panose="02040503050406030204" pitchFamily="18" charset="0"/>
                                </a:rPr>
                              </m:ctrlPr>
                            </m:radPr>
                            <m:deg/>
                            <m:e>
                              <m:func>
                                <m:funcPr>
                                  <m:ctrlPr>
                                    <a:rPr lang="en-US" altLang="zh-CN" sz="1400" i="1" dirty="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cot</m:t>
                                      </m:r>
                                    </m:e>
                                    <m:sup>
                                      <m:r>
                                        <a:rPr lang="en-US" altLang="zh-CN" sz="1400" b="0" i="1" dirty="0" smtClean="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b="0" i="1" dirty="0" smtClean="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e>
                          </m:rad>
                        </m:den>
                      </m:f>
                      <m:r>
                        <a:rPr lang="en-US" altLang="zh-CN" sz="1400" b="0" i="1" dirty="0" smtClean="0">
                          <a:solidFill>
                            <a:schemeClr val="tx1"/>
                          </a:solidFill>
                          <a:latin typeface="Cambria Math" panose="02040503050406030204" pitchFamily="18" charset="0"/>
                        </a:rPr>
                        <m:t>,  </m:t>
                      </m:r>
                      <m:func>
                        <m:funcPr>
                          <m:ctrlPr>
                            <a:rPr lang="en-US" altLang="zh-CN" sz="1400" i="1" dirty="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𝜇</m:t>
                          </m:r>
                        </m:e>
                      </m:func>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𝛼</m:t>
                          </m:r>
                        </m:num>
                        <m:den>
                          <m:rad>
                            <m:radPr>
                              <m:degHide m:val="on"/>
                              <m:ctrlPr>
                                <a:rPr lang="en-US" altLang="zh-CN" sz="1400" i="1" dirty="0">
                                  <a:solidFill>
                                    <a:schemeClr val="tx1"/>
                                  </a:solidFill>
                                  <a:latin typeface="Cambria Math" panose="02040503050406030204" pitchFamily="18" charset="0"/>
                                </a:rPr>
                              </m:ctrlPr>
                            </m:radPr>
                            <m:deg/>
                            <m:e>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cot</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e>
                          </m:rad>
                        </m:den>
                      </m:f>
                    </m:oMath>
                  </m:oMathPara>
                </a14:m>
                <a:endParaRPr lang="en-US" altLang="zh-CN" sz="1400"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8197FB46-F5B7-B2A5-0FFA-194AB6156B5B}"/>
                  </a:ext>
                </a:extLst>
              </p:cNvPr>
              <p:cNvSpPr>
                <a:spLocks noRot="1" noChangeAspect="1" noMove="1" noResize="1" noEditPoints="1" noAdjustHandles="1" noChangeArrowheads="1" noChangeShapeType="1" noTextEdit="1"/>
              </p:cNvSpPr>
              <p:nvPr/>
            </p:nvSpPr>
            <p:spPr>
              <a:xfrm>
                <a:off x="368712" y="1144044"/>
                <a:ext cx="11286756" cy="540280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272080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19EFFC-E651-0481-21DE-3E80B4E75FC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2820739F-B3E0-BDA0-4462-09F5B8E1AD4C}"/>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en-US" altLang="zh-CN" dirty="0">
                    <a:solidFill>
                      <a:schemeClr val="tx1"/>
                    </a:solidFill>
                  </a:rPr>
                  <a:t>GGX </a:t>
                </a:r>
                <a14:m>
                  <m:oMath xmlns:m="http://schemas.openxmlformats.org/officeDocument/2006/math">
                    <m:r>
                      <m:rPr>
                        <m:sty m:val="p"/>
                      </m:rPr>
                      <a:rPr lang="en-US" altLang="zh-CN" i="0" dirty="0" smtClean="0">
                        <a:solidFill>
                          <a:schemeClr val="tx1"/>
                        </a:solidFill>
                        <a:latin typeface="Cambria Math" panose="02040503050406030204" pitchFamily="18" charset="0"/>
                      </a:rPr>
                      <m:t>Λ</m:t>
                    </m:r>
                    <m:d>
                      <m:dPr>
                        <m:ctrlPr>
                          <a:rPr lang="en-US" altLang="zh-CN" sz="3200" i="1" dirty="0">
                            <a:solidFill>
                              <a:schemeClr val="tx1"/>
                            </a:solidFill>
                            <a:latin typeface="Cambria Math" panose="02040503050406030204" pitchFamily="18" charset="0"/>
                          </a:rPr>
                        </m:ctrlPr>
                      </m:dPr>
                      <m:e>
                        <m:r>
                          <a:rPr lang="en-US" altLang="zh-CN" sz="3200" b="1" i="1" dirty="0" smtClean="0">
                            <a:solidFill>
                              <a:schemeClr val="tx1"/>
                            </a:solidFill>
                            <a:latin typeface="Cambria Math" panose="02040503050406030204" pitchFamily="18" charset="0"/>
                          </a:rPr>
                          <m:t>𝒐</m:t>
                        </m:r>
                      </m:e>
                    </m:d>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2820739F-B3E0-BDA0-4462-09F5B8E1AD4C}"/>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017" b="-8475"/>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E8AA3E38-78AC-F5F1-1748-F4C9E4616EFB}"/>
              </a:ext>
            </a:extLst>
          </p:cNvPr>
          <p:cNvSpPr/>
          <p:nvPr/>
        </p:nvSpPr>
        <p:spPr>
          <a:xfrm>
            <a:off x="521112" y="1315233"/>
            <a:ext cx="11286756"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FCF7AB4A-6A55-FDB2-4F4F-8874BEB0AD09}"/>
                  </a:ext>
                </a:extLst>
              </p:cNvPr>
              <p:cNvSpPr/>
              <p:nvPr/>
            </p:nvSpPr>
            <p:spPr>
              <a:xfrm>
                <a:off x="368712" y="1144044"/>
                <a:ext cx="11286756"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14:m>
                  <m:oMathPara xmlns:m="http://schemas.openxmlformats.org/officeDocument/2006/math">
                    <m:oMathParaPr>
                      <m:jc m:val="centerGroup"/>
                    </m:oMathParaPr>
                    <m:oMath xmlns:m="http://schemas.openxmlformats.org/officeDocument/2006/math">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tan</m:t>
                          </m:r>
                        </m:fName>
                        <m:e>
                          <m:r>
                            <a:rPr lang="en-US" altLang="zh-CN" sz="1400" b="0" i="1" dirty="0" smtClean="0">
                              <a:solidFill>
                                <a:schemeClr val="tx1"/>
                              </a:solidFill>
                              <a:latin typeface="Cambria Math" panose="02040503050406030204" pitchFamily="18" charset="0"/>
                            </a:rPr>
                            <m:t>𝜇</m:t>
                          </m:r>
                        </m:e>
                      </m:func>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num>
                        <m:den>
                          <m:r>
                            <a:rPr lang="en-US" altLang="zh-CN" sz="1400" i="1" dirty="0">
                              <a:solidFill>
                                <a:schemeClr val="tx1"/>
                              </a:solidFill>
                              <a:latin typeface="Cambria Math" panose="02040503050406030204" pitchFamily="18" charset="0"/>
                            </a:rPr>
                            <m:t>𝛼</m:t>
                          </m:r>
                        </m:den>
                      </m:f>
                      <m:r>
                        <a:rPr lang="en-US" altLang="zh-CN" sz="1400" b="0" i="1" dirty="0" smtClean="0">
                          <a:solidFill>
                            <a:schemeClr val="tx1"/>
                          </a:solidFill>
                          <a:latin typeface="Cambria Math" panose="02040503050406030204" pitchFamily="18" charset="0"/>
                        </a:rPr>
                        <m:t>,  </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𝜇</m:t>
                          </m:r>
                        </m:e>
                      </m:func>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num>
                        <m:den>
                          <m:rad>
                            <m:radPr>
                              <m:degHide m:val="on"/>
                              <m:ctrlPr>
                                <a:rPr lang="en-US" altLang="zh-CN" sz="1400" b="0" i="1" dirty="0" smtClean="0">
                                  <a:solidFill>
                                    <a:schemeClr val="tx1"/>
                                  </a:solidFill>
                                  <a:latin typeface="Cambria Math" panose="02040503050406030204" pitchFamily="18" charset="0"/>
                                </a:rPr>
                              </m:ctrlPr>
                            </m:radPr>
                            <m:deg/>
                            <m:e>
                              <m:func>
                                <m:funcPr>
                                  <m:ctrlPr>
                                    <a:rPr lang="en-US" altLang="zh-CN" sz="1400" i="1" dirty="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cot</m:t>
                                      </m:r>
                                    </m:e>
                                    <m:sup>
                                      <m:r>
                                        <a:rPr lang="en-US" altLang="zh-CN" sz="1400" b="0" i="1" dirty="0" smtClean="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b="0" i="1" dirty="0" smtClean="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e>
                          </m:rad>
                        </m:den>
                      </m:f>
                      <m:r>
                        <a:rPr lang="en-US" altLang="zh-CN" sz="1400" b="0" i="1" dirty="0" smtClean="0">
                          <a:solidFill>
                            <a:schemeClr val="tx1"/>
                          </a:solidFill>
                          <a:latin typeface="Cambria Math" panose="02040503050406030204" pitchFamily="18" charset="0"/>
                        </a:rPr>
                        <m:t>,  </m:t>
                      </m:r>
                      <m:func>
                        <m:funcPr>
                          <m:ctrlPr>
                            <a:rPr lang="en-US" altLang="zh-CN" sz="1400" i="1" dirty="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𝜇</m:t>
                          </m:r>
                        </m:e>
                      </m:func>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𝛼</m:t>
                          </m:r>
                        </m:num>
                        <m:den>
                          <m:rad>
                            <m:radPr>
                              <m:degHide m:val="on"/>
                              <m:ctrlPr>
                                <a:rPr lang="en-US" altLang="zh-CN" sz="1400" i="1" dirty="0">
                                  <a:solidFill>
                                    <a:schemeClr val="tx1"/>
                                  </a:solidFill>
                                  <a:latin typeface="Cambria Math" panose="02040503050406030204" pitchFamily="18" charset="0"/>
                                </a:rPr>
                              </m:ctrlPr>
                            </m:radPr>
                            <m:deg/>
                            <m:e>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cot</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e>
                          </m:rad>
                        </m:den>
                      </m:f>
                    </m:oMath>
                  </m:oMathPara>
                </a14:m>
                <a:endParaRPr lang="en-US" altLang="zh-CN" sz="1400"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m:rPr>
                          <m:sty m:val="p"/>
                        </m:rPr>
                        <a:rPr lang="en-US" altLang="zh-CN" sz="1400" b="0" i="0" dirty="0" smtClean="0">
                          <a:solidFill>
                            <a:schemeClr val="tx1"/>
                          </a:solidFill>
                          <a:latin typeface="Cambria Math" panose="02040503050406030204" pitchFamily="18" charset="0"/>
                        </a:rPr>
                        <m:t>Λ</m:t>
                      </m:r>
                      <m:d>
                        <m:dPr>
                          <m:ctrlPr>
                            <a:rPr lang="en-US" altLang="zh-CN" sz="1400" b="1" i="1" dirty="0" smtClean="0">
                              <a:solidFill>
                                <a:schemeClr val="tx1"/>
                              </a:solidFill>
                              <a:latin typeface="Cambria Math" panose="02040503050406030204" pitchFamily="18" charset="0"/>
                            </a:rPr>
                          </m:ctrlPr>
                        </m:dPr>
                        <m:e>
                          <m:r>
                            <a:rPr lang="en-US" altLang="zh-CN" sz="1400" b="1" i="0" dirty="0" smtClean="0">
                              <a:solidFill>
                                <a:schemeClr val="tx1"/>
                              </a:solidFill>
                              <a:latin typeface="Cambria Math" panose="02040503050406030204" pitchFamily="18" charset="0"/>
                            </a:rPr>
                            <m:t>𝐨</m:t>
                          </m:r>
                        </m:e>
                      </m:d>
                      <m:r>
                        <a:rPr lang="en-US" altLang="zh-CN" sz="1400" b="1" i="0" dirty="0" smtClean="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d>
                        <m:dPr>
                          <m:ctrlPr>
                            <a:rPr lang="en-US" altLang="zh-CN" sz="1400" b="1"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𝛼</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r>
                                <a:rPr lang="en-US" altLang="zh-CN" sz="1400" i="1" dirty="0">
                                  <a:solidFill>
                                    <a:schemeClr val="tx1"/>
                                  </a:solidFill>
                                  <a:latin typeface="Cambria Math" panose="02040503050406030204" pitchFamily="18" charset="0"/>
                                </a:rPr>
                                <m:t>𝜇</m:t>
                              </m:r>
                            </m:e>
                          </m:func>
                          <m:r>
                            <a:rPr lang="en-US" altLang="zh-CN" sz="1400" b="1"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Sub>
                            </m:e>
                          </m:func>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1−</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sin</m:t>
                                  </m:r>
                                </m:fName>
                                <m:e>
                                  <m:r>
                                    <a:rPr lang="en-US" altLang="zh-CN" sz="1400" b="0" i="1" dirty="0" smtClean="0">
                                      <a:solidFill>
                                        <a:schemeClr val="tx1"/>
                                      </a:solidFill>
                                      <a:latin typeface="Cambria Math" panose="02040503050406030204" pitchFamily="18" charset="0"/>
                                    </a:rPr>
                                    <m:t>𝜇</m:t>
                                  </m:r>
                                </m:e>
                              </m:func>
                            </m:e>
                          </m:d>
                        </m:e>
                      </m:d>
                      <m:r>
                        <a:rPr lang="en-US" altLang="zh-CN" sz="1400" b="1" i="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d>
                        <m:dPr>
                          <m:ctrlPr>
                            <a:rPr lang="en-US" altLang="zh-CN" sz="1400" b="1"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rad>
                                <m:radPr>
                                  <m:degHide m:val="on"/>
                                  <m:ctrlPr>
                                    <a:rPr lang="en-US" altLang="zh-CN" sz="1400" i="1" dirty="0">
                                      <a:solidFill>
                                        <a:schemeClr val="tx1"/>
                                      </a:solidFill>
                                      <a:latin typeface="Cambria Math" panose="02040503050406030204" pitchFamily="18" charset="0"/>
                                    </a:rPr>
                                  </m:ctrlPr>
                                </m:radPr>
                                <m:deg/>
                                <m:e>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cot</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e>
                              </m:rad>
                            </m:den>
                          </m:f>
                          <m:r>
                            <a:rPr lang="en-US" altLang="zh-CN" sz="1400" b="1"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Sub>
                            </m:e>
                          </m:func>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cot</m:t>
                                      </m:r>
                                    </m:e>
                                    <m:sup>
                                      <m:r>
                                        <a:rPr lang="en-US" altLang="zh-CN" sz="1400"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num>
                            <m:den>
                              <m:rad>
                                <m:radPr>
                                  <m:degHide m:val="on"/>
                                  <m:ctrlPr>
                                    <a:rPr lang="en-US" altLang="zh-CN" sz="1400" i="1" dirty="0">
                                      <a:solidFill>
                                        <a:schemeClr val="tx1"/>
                                      </a:solidFill>
                                      <a:latin typeface="Cambria Math" panose="02040503050406030204" pitchFamily="18" charset="0"/>
                                    </a:rPr>
                                  </m:ctrlPr>
                                </m:radPr>
                                <m:deg/>
                                <m:e>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cot</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e>
                              </m:rad>
                            </m:den>
                          </m:f>
                        </m:e>
                      </m:d>
                      <m:r>
                        <a:rPr lang="en-US" altLang="zh-CN" sz="1400" b="1" i="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d>
                        <m:dPr>
                          <m:ctrlPr>
                            <a:rPr lang="en-US" altLang="zh-CN" sz="1400" b="1"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cot</m:t>
                                      </m:r>
                                    </m:e>
                                    <m:sup>
                                      <m:r>
                                        <a:rPr lang="en-US" altLang="zh-CN" sz="1400"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num>
                            <m:den>
                              <m:rad>
                                <m:radPr>
                                  <m:degHide m:val="on"/>
                                  <m:ctrlPr>
                                    <a:rPr lang="en-US" altLang="zh-CN" sz="1400" i="1" dirty="0">
                                      <a:solidFill>
                                        <a:schemeClr val="tx1"/>
                                      </a:solidFill>
                                      <a:latin typeface="Cambria Math" panose="02040503050406030204" pitchFamily="18" charset="0"/>
                                    </a:rPr>
                                  </m:ctrlPr>
                                </m:radPr>
                                <m:deg/>
                                <m:e>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cot</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e>
                              </m:rad>
                            </m:den>
                          </m:f>
                          <m:r>
                            <a:rPr lang="en-US" altLang="zh-CN" sz="1400" b="1"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b="1" i="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d>
                        <m:dPr>
                          <m:ctrlPr>
                            <a:rPr lang="en-US" altLang="zh-CN" sz="1400" b="1" i="1" dirty="0">
                              <a:solidFill>
                                <a:schemeClr val="tx1"/>
                              </a:solidFill>
                              <a:latin typeface="Cambria Math" panose="02040503050406030204" pitchFamily="18" charset="0"/>
                            </a:rPr>
                          </m:ctrlPr>
                        </m:dPr>
                        <m:e>
                          <m:rad>
                            <m:radPr>
                              <m:degHide m:val="on"/>
                              <m:ctrlPr>
                                <a:rPr lang="en-US" altLang="zh-CN" sz="1400" i="1" dirty="0">
                                  <a:solidFill>
                                    <a:schemeClr val="tx1"/>
                                  </a:solidFill>
                                  <a:latin typeface="Cambria Math" panose="02040503050406030204" pitchFamily="18" charset="0"/>
                                </a:rPr>
                              </m:ctrlPr>
                            </m:radPr>
                            <m:deg/>
                            <m:e>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cot</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e>
                          </m:rad>
                          <m:r>
                            <a:rPr lang="en-US" altLang="zh-CN" sz="1400" b="1"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b="1" i="1" dirty="0" smtClean="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ad>
                            <m:radPr>
                              <m:degHide m:val="on"/>
                              <m:ctrlPr>
                                <a:rPr lang="en-US" altLang="zh-CN" sz="1400" i="1" dirty="0">
                                  <a:solidFill>
                                    <a:schemeClr val="tx1"/>
                                  </a:solidFill>
                                  <a:latin typeface="Cambria Math" panose="02040503050406030204" pitchFamily="18" charset="0"/>
                                </a:rPr>
                              </m:ctrlPr>
                            </m:radPr>
                            <m:deg/>
                            <m:e>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cot</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e>
                          </m:rad>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num>
                        <m:den>
                          <m:r>
                            <a:rPr lang="en-US" altLang="zh-CN" sz="1400" i="1" dirty="0">
                              <a:solidFill>
                                <a:schemeClr val="tx1"/>
                              </a:solidFill>
                              <a:latin typeface="Cambria Math" panose="02040503050406030204" pitchFamily="18" charset="0"/>
                            </a:rPr>
                            <m:t>2</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r>
                        <a:rPr lang="en-US" altLang="zh-CN" sz="1400" b="1" i="1" dirty="0" smtClean="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ad>
                            <m:radPr>
                              <m:degHide m:val="on"/>
                              <m:ctrlPr>
                                <a:rPr lang="en-US" altLang="zh-CN" sz="1400" i="1" dirty="0">
                                  <a:solidFill>
                                    <a:schemeClr val="tx1"/>
                                  </a:solidFill>
                                  <a:latin typeface="Cambria Math" panose="02040503050406030204" pitchFamily="18" charset="0"/>
                                </a:rPr>
                              </m:ctrlPr>
                            </m:radPr>
                            <m:deg/>
                            <m:e>
                              <m:r>
                                <a:rPr lang="en-US" altLang="zh-CN" sz="1400" b="0" i="1" dirty="0" smtClean="0">
                                  <a:solidFill>
                                    <a:schemeClr val="tx1"/>
                                  </a:solidFill>
                                  <a:latin typeface="Cambria Math" panose="02040503050406030204" pitchFamily="18" charset="0"/>
                                </a:rPr>
                                <m:t>1</m:t>
                              </m:r>
                              <m:r>
                                <a:rPr lang="en-US" altLang="zh-CN" sz="1400" i="1" dirty="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cot</m:t>
                                          </m:r>
                                        </m:e>
                                        <m:sup>
                                          <m:r>
                                            <a:rPr lang="en-US" altLang="zh-CN" sz="1400" b="0" i="1" dirty="0" smtClean="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e>
                          </m:rad>
                          <m:r>
                            <a:rPr lang="en-US" altLang="zh-CN" sz="1400" b="0" i="1" dirty="0" smtClean="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den>
                      </m:f>
                      <m:r>
                        <a:rPr lang="en-US" altLang="zh-CN" sz="1400" b="1" i="1" dirty="0" smtClean="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ad>
                            <m:radPr>
                              <m:degHide m:val="on"/>
                              <m:ctrlPr>
                                <a:rPr lang="en-US" altLang="zh-CN" sz="1400" i="1" dirty="0">
                                  <a:solidFill>
                                    <a:schemeClr val="tx1"/>
                                  </a:solidFill>
                                  <a:latin typeface="Cambria Math" panose="02040503050406030204" pitchFamily="18" charset="0"/>
                                </a:rPr>
                              </m:ctrlPr>
                            </m:radPr>
                            <m:deg/>
                            <m:e>
                              <m:r>
                                <a:rPr lang="en-US" altLang="zh-CN" sz="1400" i="1" dirty="0">
                                  <a:solidFill>
                                    <a:schemeClr val="tx1"/>
                                  </a:solidFill>
                                  <a:latin typeface="Cambria Math" panose="02040503050406030204" pitchFamily="18" charset="0"/>
                                </a:rPr>
                                <m:t>1+</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𝛼</m:t>
                                  </m:r>
                                </m:e>
                                <m:sup>
                                  <m:r>
                                    <a:rPr lang="en-US" altLang="zh-CN" sz="1400" b="0" i="1" dirty="0" smtClean="0">
                                      <a:solidFill>
                                        <a:schemeClr val="tx1"/>
                                      </a:solidFill>
                                      <a:latin typeface="Cambria Math" panose="02040503050406030204" pitchFamily="18" charset="0"/>
                                    </a:rPr>
                                    <m:t>2</m:t>
                                  </m:r>
                                </m:sup>
                              </m:sSup>
                              <m:func>
                                <m:funcPr>
                                  <m:ctrlPr>
                                    <a:rPr lang="en-US" altLang="zh-CN" sz="1400" b="0" i="1" dirty="0" smtClean="0">
                                      <a:solidFill>
                                        <a:schemeClr val="tx1"/>
                                      </a:solidFill>
                                      <a:latin typeface="Cambria Math" panose="02040503050406030204" pitchFamily="18" charset="0"/>
                                    </a:rPr>
                                  </m:ctrlPr>
                                </m:funcPr>
                                <m:fName>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tan</m:t>
                                      </m:r>
                                    </m:e>
                                    <m:sup>
                                      <m:r>
                                        <a:rPr lang="en-US" altLang="zh-CN" sz="1400" b="0" i="1" dirty="0" smtClean="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rad>
                          <m:r>
                            <a:rPr lang="en-US" altLang="zh-CN" sz="1400" b="0" i="1" dirty="0" smtClean="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den>
                      </m:f>
                    </m:oMath>
                  </m:oMathPara>
                </a14:m>
                <a:endParaRPr lang="en-US" altLang="zh-CN" sz="1400" b="1"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r>
                        <m:rPr>
                          <m:sty m:val="p"/>
                        </m:rPr>
                        <a:rPr lang="en-US" altLang="zh-CN" sz="1400" b="0" i="0" dirty="0" smtClean="0">
                          <a:solidFill>
                            <a:schemeClr val="tx1"/>
                          </a:solidFill>
                          <a:latin typeface="Cambria Math" panose="02040503050406030204" pitchFamily="18" charset="0"/>
                        </a:rPr>
                        <m:t>Λ</m:t>
                      </m:r>
                      <m:d>
                        <m:dPr>
                          <m:ctrlPr>
                            <a:rPr lang="en-US" altLang="zh-CN" sz="1400" b="1" i="1" dirty="0" smtClean="0">
                              <a:solidFill>
                                <a:schemeClr val="tx1"/>
                              </a:solidFill>
                              <a:latin typeface="Cambria Math" panose="02040503050406030204" pitchFamily="18" charset="0"/>
                            </a:rPr>
                          </m:ctrlPr>
                        </m:dPr>
                        <m:e>
                          <m:r>
                            <a:rPr lang="en-US" altLang="zh-CN" sz="1400" b="1" i="0" dirty="0" smtClean="0">
                              <a:solidFill>
                                <a:schemeClr val="tx1"/>
                              </a:solidFill>
                              <a:latin typeface="Cambria Math" panose="02040503050406030204" pitchFamily="18" charset="0"/>
                            </a:rPr>
                            <m:t>𝐨</m:t>
                          </m:r>
                        </m:e>
                      </m:d>
                      <m:r>
                        <a:rPr lang="en-US" altLang="zh-CN" sz="1400" b="1" i="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ad>
                            <m:radPr>
                              <m:degHide m:val="on"/>
                              <m:ctrlPr>
                                <a:rPr lang="en-US" altLang="zh-CN" sz="1400" i="1" dirty="0">
                                  <a:solidFill>
                                    <a:schemeClr val="tx1"/>
                                  </a:solidFill>
                                  <a:latin typeface="Cambria Math" panose="02040503050406030204" pitchFamily="18" charset="0"/>
                                </a:rPr>
                              </m:ctrlPr>
                            </m:radPr>
                            <m:deg/>
                            <m:e>
                              <m:r>
                                <a:rPr lang="en-US" altLang="zh-CN" sz="1400" i="1" dirty="0">
                                  <a:solidFill>
                                    <a:schemeClr val="tx1"/>
                                  </a:solidFill>
                                  <a:latin typeface="Cambria Math" panose="02040503050406030204" pitchFamily="18" charset="0"/>
                                </a:rPr>
                                <m:t>1+</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rad>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den>
                      </m:f>
                      <m:r>
                        <a:rPr lang="en-US" altLang="zh-CN" sz="1400" b="1"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r>
                        <a:rPr lang="zh-CN" altLang="en-US" sz="1400" i="1" dirty="0">
                          <a:solidFill>
                            <a:schemeClr val="tx1"/>
                          </a:solidFill>
                          <a:latin typeface="Cambria Math" panose="02040503050406030204" pitchFamily="18" charset="0"/>
                        </a:rPr>
                        <m:t>为</m:t>
                      </m:r>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zh-CN" altLang="en-US" sz="1400" b="1" i="1" dirty="0">
                          <a:solidFill>
                            <a:schemeClr val="tx1"/>
                          </a:solidFill>
                          <a:latin typeface="Cambria Math" panose="02040503050406030204" pitchFamily="18" charset="0"/>
                        </a:rPr>
                        <m:t>与</m:t>
                      </m:r>
                      <m:r>
                        <a:rPr lang="en-US" altLang="zh-CN" sz="1400" b="1" i="1" dirty="0">
                          <a:solidFill>
                            <a:schemeClr val="tx1"/>
                          </a:solidFill>
                          <a:latin typeface="Cambria Math" panose="02040503050406030204" pitchFamily="18" charset="0"/>
                        </a:rPr>
                        <m:t>𝒈</m:t>
                      </m:r>
                      <m:r>
                        <a:rPr lang="zh-CN" altLang="en-US" sz="1400" b="1" i="1" dirty="0">
                          <a:solidFill>
                            <a:schemeClr val="tx1"/>
                          </a:solidFill>
                          <a:latin typeface="Cambria Math" panose="02040503050406030204" pitchFamily="18" charset="0"/>
                        </a:rPr>
                        <m:t>的夹角</m:t>
                      </m:r>
                    </m:oMath>
                  </m:oMathPara>
                </a14:m>
                <a:endParaRPr lang="en-US" altLang="zh-CN" sz="1400" b="1" i="1" dirty="0">
                  <a:solidFill>
                    <a:schemeClr val="tx1"/>
                  </a:solidFill>
                  <a:latin typeface="Cambria Math" panose="02040503050406030204" pitchFamily="18" charset="0"/>
                </a:endParaRPr>
              </a:p>
              <a:p>
                <a:pPr>
                  <a:lnSpc>
                    <a:spcPct val="120000"/>
                  </a:lnSpc>
                </a:pPr>
                <a14:m>
                  <m:oMathPara xmlns:m="http://schemas.openxmlformats.org/officeDocument/2006/math">
                    <m:oMathParaPr>
                      <m:jc m:val="centerGroup"/>
                    </m:oMathParaPr>
                    <m:oMath xmlns:m="http://schemas.openxmlformats.org/officeDocument/2006/math">
                      <m:sSub>
                        <m:sSubPr>
                          <m:ctrlPr>
                            <a:rPr lang="en-US" altLang="zh-CN" sz="1400" b="0" i="1" dirty="0" smtClean="0">
                              <a:solidFill>
                                <a:schemeClr val="tx1"/>
                              </a:solidFill>
                              <a:latin typeface="Cambria Math" panose="02040503050406030204" pitchFamily="18" charset="0"/>
                            </a:rPr>
                          </m:ctrlPr>
                        </m:sSubPr>
                        <m:e>
                          <m:r>
                            <a:rPr lang="en-US" altLang="zh-CN" sz="1400" i="1" dirty="0" smtClean="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Sub>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b="0" i="1" dirty="0" smtClean="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dirty="0">
                              <a:solidFill>
                                <a:schemeClr val="tx1"/>
                              </a:solidFill>
                              <a:latin typeface="Cambria Math" panose="02040503050406030204" pitchFamily="18" charset="0"/>
                            </a:rPr>
                            <m:t>1</m:t>
                          </m:r>
                        </m:num>
                        <m:den>
                          <m:r>
                            <a:rPr lang="en-US" altLang="zh-CN" sz="1400" b="0" i="0" dirty="0" smtClean="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den>
                      </m:f>
                      <m:r>
                        <a:rPr lang="en-US" altLang="zh-CN" sz="1400" b="1"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dirty="0">
                              <a:solidFill>
                                <a:schemeClr val="tx1"/>
                              </a:solidFill>
                              <a:latin typeface="Cambria Math" panose="02040503050406030204" pitchFamily="18" charset="0"/>
                            </a:rPr>
                            <m:t>1</m:t>
                          </m:r>
                        </m:num>
                        <m:den>
                          <m:r>
                            <a:rPr lang="en-US" altLang="zh-CN" sz="1400" dirty="0">
                              <a:solidFill>
                                <a:schemeClr val="tx1"/>
                              </a:solidFill>
                              <a:latin typeface="Cambria Math" panose="02040503050406030204" pitchFamily="18" charset="0"/>
                            </a:rPr>
                            <m:t>1+</m:t>
                          </m:r>
                          <m:f>
                            <m:fPr>
                              <m:ctrlPr>
                                <a:rPr lang="en-US" altLang="zh-CN" sz="1400" b="1" i="1" dirty="0">
                                  <a:solidFill>
                                    <a:schemeClr val="tx1"/>
                                  </a:solidFill>
                                  <a:latin typeface="Cambria Math" panose="02040503050406030204" pitchFamily="18" charset="0"/>
                                </a:rPr>
                              </m:ctrlPr>
                            </m:fPr>
                            <m:num>
                              <m:rad>
                                <m:radPr>
                                  <m:degHide m:val="on"/>
                                  <m:ctrlPr>
                                    <a:rPr lang="en-US" altLang="zh-CN" sz="1400" i="1" dirty="0">
                                      <a:solidFill>
                                        <a:schemeClr val="tx1"/>
                                      </a:solidFill>
                                      <a:latin typeface="Cambria Math" panose="02040503050406030204" pitchFamily="18" charset="0"/>
                                    </a:rPr>
                                  </m:ctrlPr>
                                </m:radPr>
                                <m:deg/>
                                <m:e>
                                  <m:r>
                                    <a:rPr lang="en-US" altLang="zh-CN" sz="1400" i="1" dirty="0">
                                      <a:solidFill>
                                        <a:schemeClr val="tx1"/>
                                      </a:solidFill>
                                      <a:latin typeface="Cambria Math" panose="02040503050406030204" pitchFamily="18" charset="0"/>
                                    </a:rPr>
                                    <m:t>1+</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rad>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den>
                          </m:f>
                        </m:den>
                      </m:f>
                      <m:r>
                        <a:rPr lang="en-US" altLang="zh-CN" sz="1400" b="1"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dirty="0">
                              <a:solidFill>
                                <a:schemeClr val="tx1"/>
                              </a:solidFill>
                              <a:latin typeface="Cambria Math" panose="02040503050406030204" pitchFamily="18" charset="0"/>
                            </a:rPr>
                            <m:t>1</m:t>
                          </m:r>
                        </m:num>
                        <m:den>
                          <m:f>
                            <m:fPr>
                              <m:ctrlPr>
                                <a:rPr lang="en-US" altLang="zh-CN" sz="1400" b="1" i="1" dirty="0">
                                  <a:solidFill>
                                    <a:schemeClr val="tx1"/>
                                  </a:solidFill>
                                  <a:latin typeface="Cambria Math" panose="02040503050406030204" pitchFamily="18" charset="0"/>
                                </a:rPr>
                              </m:ctrlPr>
                            </m:fPr>
                            <m:num>
                              <m:rad>
                                <m:radPr>
                                  <m:degHide m:val="on"/>
                                  <m:ctrlPr>
                                    <a:rPr lang="en-US" altLang="zh-CN" sz="1400" i="1" dirty="0">
                                      <a:solidFill>
                                        <a:schemeClr val="tx1"/>
                                      </a:solidFill>
                                      <a:latin typeface="Cambria Math" panose="02040503050406030204" pitchFamily="18" charset="0"/>
                                    </a:rPr>
                                  </m:ctrlPr>
                                </m:radPr>
                                <m:deg/>
                                <m:e>
                                  <m:r>
                                    <a:rPr lang="en-US" altLang="zh-CN" sz="1400" i="1" dirty="0">
                                      <a:solidFill>
                                        <a:schemeClr val="tx1"/>
                                      </a:solidFill>
                                      <a:latin typeface="Cambria Math" panose="02040503050406030204" pitchFamily="18" charset="0"/>
                                    </a:rPr>
                                    <m:t>1+</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rad>
                              <m:r>
                                <a:rPr lang="en-US" altLang="zh-CN" sz="1400" b="0" i="1" dirty="0" smtClean="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den>
                          </m:f>
                        </m:den>
                      </m:f>
                      <m:r>
                        <a:rPr lang="en-US" altLang="zh-CN" sz="1400" b="1"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2</m:t>
                          </m:r>
                        </m:num>
                        <m:den>
                          <m:r>
                            <a:rPr lang="en-US" altLang="zh-CN" sz="1400" b="0" i="1" dirty="0" smtClean="0">
                              <a:solidFill>
                                <a:schemeClr val="tx1"/>
                              </a:solidFill>
                              <a:latin typeface="Cambria Math" panose="02040503050406030204" pitchFamily="18" charset="0"/>
                            </a:rPr>
                            <m:t>1+</m:t>
                          </m:r>
                          <m:rad>
                            <m:radPr>
                              <m:degHide m:val="on"/>
                              <m:ctrlPr>
                                <a:rPr lang="en-US" altLang="zh-CN" sz="1400" i="1" dirty="0">
                                  <a:solidFill>
                                    <a:schemeClr val="tx1"/>
                                  </a:solidFill>
                                  <a:latin typeface="Cambria Math" panose="02040503050406030204" pitchFamily="18" charset="0"/>
                                </a:rPr>
                              </m:ctrlPr>
                            </m:radPr>
                            <m:deg/>
                            <m:e>
                              <m:r>
                                <a:rPr lang="en-US" altLang="zh-CN" sz="1400" i="1" dirty="0">
                                  <a:solidFill>
                                    <a:schemeClr val="tx1"/>
                                  </a:solidFill>
                                  <a:latin typeface="Cambria Math" panose="02040503050406030204" pitchFamily="18" charset="0"/>
                                </a:rPr>
                                <m:t>1+</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rad>
                        </m:den>
                      </m:f>
                    </m:oMath>
                  </m:oMathPara>
                </a14:m>
                <a:endParaRPr lang="en-US" altLang="zh-CN" sz="1400" i="1"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FCF7AB4A-6A55-FDB2-4F4F-8874BEB0AD09}"/>
                  </a:ext>
                </a:extLst>
              </p:cNvPr>
              <p:cNvSpPr>
                <a:spLocks noRot="1" noChangeAspect="1" noMove="1" noResize="1" noEditPoints="1" noAdjustHandles="1" noChangeArrowheads="1" noChangeShapeType="1" noTextEdit="1"/>
              </p:cNvSpPr>
              <p:nvPr/>
            </p:nvSpPr>
            <p:spPr>
              <a:xfrm>
                <a:off x="368712" y="1144044"/>
                <a:ext cx="11286756" cy="540280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751293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7653F-86D4-6F01-5007-02AE13127E81}"/>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06C3CF4E-3E75-18BD-9EF8-3ED2219DAA5A}"/>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en-US" altLang="zh-CN" dirty="0"/>
              <a:t>Smith</a:t>
            </a:r>
            <a:r>
              <a:rPr lang="zh-CN" altLang="en-US" dirty="0"/>
              <a:t>模型下的掩蔽</a:t>
            </a:r>
            <a:r>
              <a:rPr lang="en-US" altLang="zh-CN" dirty="0"/>
              <a:t>-</a:t>
            </a:r>
            <a:r>
              <a:rPr lang="zh-CN" altLang="en-US" dirty="0"/>
              <a:t>阴影函数</a:t>
            </a:r>
            <a:endParaRPr lang="en-US" altLang="zh-CN" dirty="0"/>
          </a:p>
        </p:txBody>
      </p:sp>
      <p:sp>
        <p:nvSpPr>
          <p:cNvPr id="5" name="矩形 4">
            <a:extLst>
              <a:ext uri="{FF2B5EF4-FFF2-40B4-BE49-F238E27FC236}">
                <a16:creationId xmlns:a16="http://schemas.microsoft.com/office/drawing/2014/main" id="{D7A53F1C-ED1D-CC86-0E00-A601883496EE}"/>
              </a:ext>
            </a:extLst>
          </p:cNvPr>
          <p:cNvSpPr/>
          <p:nvPr/>
        </p:nvSpPr>
        <p:spPr>
          <a:xfrm>
            <a:off x="521112" y="1315233"/>
            <a:ext cx="6851503"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CA94023-D34B-64D7-9717-9782F6DEAC8C}"/>
                  </a:ext>
                </a:extLst>
              </p:cNvPr>
              <p:cNvSpPr/>
              <p:nvPr/>
            </p:nvSpPr>
            <p:spPr>
              <a:xfrm>
                <a:off x="368712" y="1144044"/>
                <a:ext cx="6851503"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400" dirty="0">
                    <a:solidFill>
                      <a:schemeClr val="tx1"/>
                    </a:solidFill>
                  </a:rPr>
                  <a:t>        给定入射方向</a:t>
                </a:r>
                <a14:m>
                  <m:oMath xmlns:m="http://schemas.openxmlformats.org/officeDocument/2006/math">
                    <m:r>
                      <a:rPr lang="en-US" altLang="zh-CN" sz="1400" b="1" i="1">
                        <a:solidFill>
                          <a:schemeClr val="tx1"/>
                        </a:solidFill>
                        <a:latin typeface="Cambria Math" panose="02040503050406030204" pitchFamily="18" charset="0"/>
                      </a:rPr>
                      <m:t>𝒊</m:t>
                    </m:r>
                  </m:oMath>
                </a14:m>
                <a:r>
                  <a:rPr lang="zh-CN" altLang="en-US" sz="1400" dirty="0">
                    <a:solidFill>
                      <a:schemeClr val="tx1"/>
                    </a:solidFill>
                  </a:rPr>
                  <a:t>与观察方向</a:t>
                </a:r>
                <a14:m>
                  <m:oMath xmlns:m="http://schemas.openxmlformats.org/officeDocument/2006/math">
                    <m:r>
                      <a:rPr lang="en-US" altLang="zh-CN" sz="1400" b="1" i="1">
                        <a:solidFill>
                          <a:schemeClr val="tx1"/>
                        </a:solidFill>
                        <a:latin typeface="Cambria Math" panose="02040503050406030204" pitchFamily="18" charset="0"/>
                      </a:rPr>
                      <m:t>𝒐</m:t>
                    </m:r>
                  </m:oMath>
                </a14:m>
                <a:r>
                  <a:rPr lang="zh-CN" altLang="en-US" sz="1400" dirty="0">
                    <a:solidFill>
                      <a:schemeClr val="tx1"/>
                    </a:solidFill>
                  </a:rPr>
                  <a:t>，对于朝向在</a:t>
                </a:r>
                <a14:m>
                  <m:oMath xmlns:m="http://schemas.openxmlformats.org/officeDocument/2006/math">
                    <m:r>
                      <m:rPr>
                        <m:sty m:val="p"/>
                      </m:rPr>
                      <a:rPr lang="en-US" altLang="zh-CN" sz="1400">
                        <a:solidFill>
                          <a:schemeClr val="tx1"/>
                        </a:solidFill>
                        <a:latin typeface="Cambria Math" panose="02040503050406030204" pitchFamily="18" charset="0"/>
                      </a:rPr>
                      <m:t>d</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𝜔</m:t>
                        </m:r>
                      </m:e>
                      <m:sub>
                        <m:r>
                          <a:rPr lang="en-US" altLang="zh-CN" sz="1400" i="1">
                            <a:solidFill>
                              <a:schemeClr val="tx1"/>
                            </a:solidFill>
                            <a:latin typeface="Cambria Math" panose="02040503050406030204" pitchFamily="18" charset="0"/>
                          </a:rPr>
                          <m:t>𝑚</m:t>
                        </m:r>
                      </m:sub>
                    </m:sSub>
                  </m:oMath>
                </a14:m>
                <a:r>
                  <a:rPr lang="zh-CN" altLang="en-US" sz="1400" dirty="0">
                    <a:solidFill>
                      <a:schemeClr val="tx1"/>
                    </a:solidFill>
                  </a:rPr>
                  <a:t>内的微面，一部分入射光会被遮挡</a:t>
                </a:r>
                <a:r>
                  <a:rPr lang="en-US" altLang="zh-CN" sz="1400" dirty="0">
                    <a:solidFill>
                      <a:schemeClr val="tx1"/>
                    </a:solidFill>
                  </a:rPr>
                  <a:t>(</a:t>
                </a:r>
                <a:r>
                  <a:rPr lang="zh-CN" altLang="en-US" sz="1400" dirty="0">
                    <a:solidFill>
                      <a:schemeClr val="tx1"/>
                    </a:solidFill>
                  </a:rPr>
                  <a:t>在其它微面的阴影当中</a:t>
                </a:r>
                <a:r>
                  <a:rPr lang="en-US" altLang="zh-CN" sz="1400" dirty="0">
                    <a:solidFill>
                      <a:schemeClr val="tx1"/>
                    </a:solidFill>
                  </a:rPr>
                  <a:t>)</a:t>
                </a:r>
                <a:r>
                  <a:rPr lang="zh-CN" altLang="en-US" sz="1400" dirty="0">
                    <a:solidFill>
                      <a:schemeClr val="tx1"/>
                    </a:solidFill>
                  </a:rPr>
                  <a:t>，未被遮挡的入射光会在这些微面</a:t>
                </a:r>
                <a14:m>
                  <m:oMath xmlns:m="http://schemas.openxmlformats.org/officeDocument/2006/math">
                    <m:r>
                      <a:rPr lang="en-US" altLang="zh-CN" sz="1400" b="1" i="1">
                        <a:solidFill>
                          <a:schemeClr val="tx1"/>
                        </a:solidFill>
                        <a:latin typeface="Cambria Math" panose="02040503050406030204" pitchFamily="18" charset="0"/>
                      </a:rPr>
                      <m:t>𝒎</m:t>
                    </m:r>
                  </m:oMath>
                </a14:m>
                <a:r>
                  <a:rPr lang="zh-CN" altLang="en-US" sz="1400" dirty="0">
                    <a:solidFill>
                      <a:schemeClr val="tx1"/>
                    </a:solidFill>
                  </a:rPr>
                  <a:t>上被反射，反射后的光又有一部分被掩蔽，所以我们需要同时考虑掩蔽和阴影对光线的影响。</a:t>
                </a:r>
                <a:endParaRPr lang="en-US" altLang="zh-CN" sz="1400" dirty="0">
                  <a:solidFill>
                    <a:schemeClr val="tx1"/>
                  </a:solidFill>
                </a:endParaRPr>
              </a:p>
              <a:p>
                <a:pPr algn="ctr">
                  <a:lnSpc>
                    <a:spcPct val="150000"/>
                  </a:lnSpc>
                </a:pPr>
                <a:r>
                  <a:rPr lang="zh-CN" altLang="en-US" sz="1400" dirty="0">
                    <a:solidFill>
                      <a:schemeClr val="tx1"/>
                    </a:solidFill>
                  </a:rPr>
                  <a:t>一个最简单的想法就是：</a:t>
                </a:r>
                <a:r>
                  <a:rPr lang="en-US" altLang="zh-CN" sz="1400" dirty="0">
                    <a:solidFill>
                      <a:schemeClr val="tx1"/>
                    </a:solidFill>
                  </a:rPr>
                  <a:t> </a:t>
                </a: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400" i="1">
                              <a:solidFill>
                                <a:schemeClr val="tx1"/>
                              </a:solidFill>
                              <a:latin typeface="Cambria Math" panose="02040503050406030204" pitchFamily="18" charset="0"/>
                            </a:rPr>
                          </m:ctrlPr>
                        </m:sSubPr>
                        <m:e>
                          <m:r>
                            <m:rPr>
                              <m:sty m:val="p"/>
                            </m:rPr>
                            <a:rPr lang="en-US" altLang="zh-CN" sz="1400">
                              <a:solidFill>
                                <a:schemeClr val="tx1"/>
                              </a:solidFill>
                              <a:latin typeface="Cambria Math" panose="02040503050406030204" pitchFamily="18" charset="0"/>
                            </a:rPr>
                            <m:t>G</m:t>
                          </m:r>
                        </m:e>
                        <m:sub>
                          <m:r>
                            <a:rPr lang="en-US" altLang="zh-CN" sz="1400">
                              <a:solidFill>
                                <a:schemeClr val="tx1"/>
                              </a:solidFill>
                              <a:latin typeface="Cambria Math" panose="02040503050406030204" pitchFamily="18" charset="0"/>
                            </a:rPr>
                            <m:t>2</m:t>
                          </m:r>
                        </m:sub>
                      </m:sSub>
                      <m:d>
                        <m:dPr>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𝒐</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𝒎</m:t>
                          </m:r>
                        </m:e>
                      </m:d>
                      <m:r>
                        <a:rPr lang="en-US" altLang="zh-CN" sz="1400" b="1" i="1" smtClean="0">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m:rPr>
                              <m:sty m:val="p"/>
                            </m:rPr>
                            <a:rPr lang="en-US" altLang="zh-CN" sz="1400">
                              <a:solidFill>
                                <a:schemeClr val="tx1"/>
                              </a:solidFill>
                              <a:latin typeface="Cambria Math" panose="02040503050406030204" pitchFamily="18" charset="0"/>
                            </a:rPr>
                            <m:t>G</m:t>
                          </m:r>
                        </m:e>
                        <m:sub>
                          <m:r>
                            <a:rPr lang="en-US" altLang="zh-CN" sz="1400" b="0" i="0" smtClean="0">
                              <a:solidFill>
                                <a:schemeClr val="tx1"/>
                              </a:solidFill>
                              <a:latin typeface="Cambria Math" panose="02040503050406030204" pitchFamily="18" charset="0"/>
                            </a:rPr>
                            <m:t>1</m:t>
                          </m:r>
                        </m:sub>
                      </m:sSub>
                      <m:d>
                        <m:dPr>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𝒐</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𝒎</m:t>
                          </m:r>
                        </m:e>
                      </m:d>
                      <m:r>
                        <a:rPr lang="en-US" altLang="zh-CN" sz="1400" b="0" i="1" smtClean="0">
                          <a:solidFill>
                            <a:schemeClr val="tx1"/>
                          </a:solidFill>
                          <a:latin typeface="Cambria Math" panose="02040503050406030204" pitchFamily="18" charset="0"/>
                        </a:rPr>
                        <m:t> </m:t>
                      </m:r>
                      <m:sSub>
                        <m:sSubPr>
                          <m:ctrlPr>
                            <a:rPr lang="en-US" altLang="zh-CN" sz="1400" i="1">
                              <a:solidFill>
                                <a:schemeClr val="tx1"/>
                              </a:solidFill>
                              <a:latin typeface="Cambria Math" panose="02040503050406030204" pitchFamily="18" charset="0"/>
                            </a:rPr>
                          </m:ctrlPr>
                        </m:sSubPr>
                        <m:e>
                          <m:r>
                            <m:rPr>
                              <m:sty m:val="p"/>
                            </m:rPr>
                            <a:rPr lang="en-US" altLang="zh-CN" sz="1400">
                              <a:solidFill>
                                <a:schemeClr val="tx1"/>
                              </a:solidFill>
                              <a:latin typeface="Cambria Math" panose="02040503050406030204" pitchFamily="18" charset="0"/>
                            </a:rPr>
                            <m:t>G</m:t>
                          </m:r>
                        </m:e>
                        <m:sub>
                          <m:r>
                            <a:rPr lang="en-US" altLang="zh-CN" sz="1400" b="0" i="0" smtClean="0">
                              <a:solidFill>
                                <a:schemeClr val="tx1"/>
                              </a:solidFill>
                              <a:latin typeface="Cambria Math" panose="02040503050406030204" pitchFamily="18" charset="0"/>
                            </a:rPr>
                            <m:t>1</m:t>
                          </m:r>
                        </m:sub>
                      </m:sSub>
                      <m:d>
                        <m:dPr>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𝒎</m:t>
                          </m:r>
                        </m:e>
                      </m:d>
                      <m:r>
                        <a:rPr lang="en-US" altLang="zh-CN" sz="1400" b="1" i="1"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num>
                        <m:den>
                          <m:r>
                            <a:rPr lang="en-US" altLang="zh-CN" sz="1400" dirty="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den>
                      </m:f>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smtClean="0">
                                      <a:solidFill>
                                        <a:schemeClr val="tx1"/>
                                      </a:solidFill>
                                      <a:latin typeface="Cambria Math" panose="02040503050406030204" pitchFamily="18" charset="0"/>
                                    </a:rPr>
                                    <m:t>𝒊</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num>
                        <m:den>
                          <m:r>
                            <a:rPr lang="en-US" altLang="zh-CN" sz="1400" dirty="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e>
                          </m:d>
                        </m:den>
                      </m:f>
                    </m:oMath>
                  </m:oMathPara>
                </a14:m>
                <a:endParaRPr lang="en-US" altLang="zh-CN" sz="1400" b="1" dirty="0">
                  <a:solidFill>
                    <a:schemeClr val="tx1"/>
                  </a:solidFill>
                </a:endParaRPr>
              </a:p>
              <a:p>
                <a:pPr>
                  <a:lnSpc>
                    <a:spcPct val="150000"/>
                  </a:lnSpc>
                </a:pPr>
                <a:r>
                  <a:rPr lang="zh-CN" altLang="en-US" sz="1400" dirty="0">
                    <a:solidFill>
                      <a:schemeClr val="tx1"/>
                    </a:solidFill>
                  </a:rPr>
                  <a:t>        这种计算方式意味着掩蔽和阴影之间不存在任何关联，所以它们才可以单独计算并乘在一起，得到掩蔽</a:t>
                </a:r>
                <a:r>
                  <a:rPr lang="en-US" altLang="zh-CN" sz="1400" dirty="0">
                    <a:solidFill>
                      <a:schemeClr val="tx1"/>
                    </a:solidFill>
                  </a:rPr>
                  <a:t>-</a:t>
                </a:r>
                <a:r>
                  <a:rPr lang="zh-CN" altLang="en-US" sz="1400" dirty="0">
                    <a:solidFill>
                      <a:schemeClr val="tx1"/>
                    </a:solidFill>
                  </a:rPr>
                  <a:t>阴影函数。然而掩蔽和阴影之间总会存在一些关联，所以这种计算方式会导致函数值偏低。</a:t>
                </a:r>
                <a:endParaRPr lang="en-US" altLang="zh-CN" sz="1400" dirty="0">
                  <a:solidFill>
                    <a:schemeClr val="tx1"/>
                  </a:solidFill>
                </a:endParaRPr>
              </a:p>
              <a:p>
                <a:pPr>
                  <a:lnSpc>
                    <a:spcPct val="150000"/>
                  </a:lnSpc>
                </a:pPr>
                <a:r>
                  <a:rPr lang="en-US" altLang="zh-CN" sz="1400" dirty="0">
                    <a:solidFill>
                      <a:schemeClr val="tx1"/>
                    </a:solidFill>
                  </a:rPr>
                  <a:t>        </a:t>
                </a:r>
                <a:r>
                  <a:rPr lang="zh-CN" altLang="en-US" sz="1400" dirty="0">
                    <a:solidFill>
                      <a:schemeClr val="tx1"/>
                    </a:solidFill>
                  </a:rPr>
                  <a:t>事实上，掩蔽和阴影之间的关联包括：观察方向与光线方向的夹角 和 微面的高度。第一，当观察方向和光线方向大致相同时，被掩蔽的微面同样位于阴影中，所以如果用上述公式计算，就会导致</a:t>
                </a:r>
                <a14:m>
                  <m:oMath xmlns:m="http://schemas.openxmlformats.org/officeDocument/2006/math">
                    <m:sSub>
                      <m:sSubPr>
                        <m:ctrlPr>
                          <a:rPr lang="en-US" altLang="zh-CN" sz="1400" i="1" smtClean="0">
                            <a:solidFill>
                              <a:schemeClr val="tx1"/>
                            </a:solidFill>
                            <a:latin typeface="Cambria Math" panose="02040503050406030204" pitchFamily="18" charset="0"/>
                          </a:rPr>
                        </m:ctrlPr>
                      </m:sSubPr>
                      <m:e>
                        <m:r>
                          <m:rPr>
                            <m:sty m:val="p"/>
                          </m:rPr>
                          <a:rPr lang="en-US" altLang="zh-CN" sz="1400">
                            <a:solidFill>
                              <a:schemeClr val="tx1"/>
                            </a:solidFill>
                            <a:latin typeface="Cambria Math" panose="02040503050406030204" pitchFamily="18" charset="0"/>
                          </a:rPr>
                          <m:t>G</m:t>
                        </m:r>
                      </m:e>
                      <m:sub>
                        <m:r>
                          <a:rPr lang="en-US" altLang="zh-CN" sz="1400">
                            <a:solidFill>
                              <a:schemeClr val="tx1"/>
                            </a:solidFill>
                            <a:latin typeface="Cambria Math" panose="02040503050406030204" pitchFamily="18" charset="0"/>
                          </a:rPr>
                          <m:t>2</m:t>
                        </m:r>
                      </m:sub>
                    </m:sSub>
                    <m:d>
                      <m:dPr>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𝒐</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𝒎</m:t>
                        </m:r>
                      </m:e>
                    </m:d>
                  </m:oMath>
                </a14:m>
                <a:r>
                  <a:rPr lang="zh-CN" altLang="en-US" sz="1400" dirty="0">
                    <a:solidFill>
                      <a:schemeClr val="tx1"/>
                    </a:solidFill>
                  </a:rPr>
                  <a:t>的值偏低。第二，一个微面相对于宏观表面的高度越高，它被其它微面遮挡的概率就越小，同理，它位于其它微面的阴影中的概率也越小。因此掩蔽函数和阴影函数通过微面的高度关联在了一起。</a:t>
                </a:r>
                <a:endParaRPr lang="en-US" altLang="zh-CN" sz="1400" dirty="0">
                  <a:solidFill>
                    <a:schemeClr val="tx1"/>
                  </a:solidFill>
                </a:endParaRPr>
              </a:p>
            </p:txBody>
          </p:sp>
        </mc:Choice>
        <mc:Fallback xmlns="">
          <p:sp>
            <p:nvSpPr>
              <p:cNvPr id="6" name="矩形 5">
                <a:extLst>
                  <a:ext uri="{FF2B5EF4-FFF2-40B4-BE49-F238E27FC236}">
                    <a16:creationId xmlns:a16="http://schemas.microsoft.com/office/drawing/2014/main" id="{DCA94023-D34B-64D7-9717-9782F6DEAC8C}"/>
                  </a:ext>
                </a:extLst>
              </p:cNvPr>
              <p:cNvSpPr>
                <a:spLocks noRot="1" noChangeAspect="1" noMove="1" noResize="1" noEditPoints="1" noAdjustHandles="1" noChangeArrowheads="1" noChangeShapeType="1" noTextEdit="1"/>
              </p:cNvSpPr>
              <p:nvPr/>
            </p:nvSpPr>
            <p:spPr>
              <a:xfrm>
                <a:off x="368712" y="1144044"/>
                <a:ext cx="6851503" cy="5402806"/>
              </a:xfrm>
              <a:prstGeom prst="rect">
                <a:avLst/>
              </a:prstGeom>
              <a:blipFill>
                <a:blip r:embed="rId3"/>
                <a:stretch>
                  <a:fillRect l="-178"/>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1F090470-EF6A-FE8F-9924-9609515B6512}"/>
              </a:ext>
            </a:extLst>
          </p:cNvPr>
          <p:cNvSpPr/>
          <p:nvPr/>
        </p:nvSpPr>
        <p:spPr>
          <a:xfrm>
            <a:off x="7759478" y="1317398"/>
            <a:ext cx="4320195" cy="253384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a:extLst>
              <a:ext uri="{FF2B5EF4-FFF2-40B4-BE49-F238E27FC236}">
                <a16:creationId xmlns:a16="http://schemas.microsoft.com/office/drawing/2014/main" id="{9AFC5FCC-9E0E-454B-4FF8-D8AC166BCD99}"/>
              </a:ext>
            </a:extLst>
          </p:cNvPr>
          <p:cNvSpPr/>
          <p:nvPr/>
        </p:nvSpPr>
        <p:spPr>
          <a:xfrm>
            <a:off x="7626128" y="1145948"/>
            <a:ext cx="4320195" cy="253384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3" name="组合 32">
            <a:extLst>
              <a:ext uri="{FF2B5EF4-FFF2-40B4-BE49-F238E27FC236}">
                <a16:creationId xmlns:a16="http://schemas.microsoft.com/office/drawing/2014/main" id="{2F54AF99-1E98-2F37-44C9-A3C557EBE738}"/>
              </a:ext>
            </a:extLst>
          </p:cNvPr>
          <p:cNvGrpSpPr/>
          <p:nvPr/>
        </p:nvGrpSpPr>
        <p:grpSpPr>
          <a:xfrm>
            <a:off x="8486408" y="1379003"/>
            <a:ext cx="2866334" cy="1427713"/>
            <a:chOff x="8591875" y="1709203"/>
            <a:chExt cx="2866334" cy="1427713"/>
          </a:xfrm>
        </p:grpSpPr>
        <p:sp>
          <p:nvSpPr>
            <p:cNvPr id="20" name="任意多边形: 形状 19">
              <a:extLst>
                <a:ext uri="{FF2B5EF4-FFF2-40B4-BE49-F238E27FC236}">
                  <a16:creationId xmlns:a16="http://schemas.microsoft.com/office/drawing/2014/main" id="{D0DFC9E0-98AB-1FA5-EE11-55C55E86A9EF}"/>
                </a:ext>
              </a:extLst>
            </p:cNvPr>
            <p:cNvSpPr/>
            <p:nvPr/>
          </p:nvSpPr>
          <p:spPr>
            <a:xfrm>
              <a:off x="9402763" y="2620963"/>
              <a:ext cx="1185862" cy="512762"/>
            </a:xfrm>
            <a:custGeom>
              <a:avLst/>
              <a:gdLst>
                <a:gd name="connsiteX0" fmla="*/ 1185862 w 1185862"/>
                <a:gd name="connsiteY0" fmla="*/ 0 h 512762"/>
                <a:gd name="connsiteX1" fmla="*/ 0 w 1185862"/>
                <a:gd name="connsiteY1" fmla="*/ 319087 h 512762"/>
                <a:gd name="connsiteX2" fmla="*/ 0 w 1185862"/>
                <a:gd name="connsiteY2" fmla="*/ 319087 h 512762"/>
                <a:gd name="connsiteX3" fmla="*/ 30162 w 1185862"/>
                <a:gd name="connsiteY3" fmla="*/ 382587 h 512762"/>
                <a:gd name="connsiteX4" fmla="*/ 73025 w 1185862"/>
                <a:gd name="connsiteY4" fmla="*/ 436562 h 512762"/>
                <a:gd name="connsiteX5" fmla="*/ 147637 w 1185862"/>
                <a:gd name="connsiteY5" fmla="*/ 488950 h 512762"/>
                <a:gd name="connsiteX6" fmla="*/ 258762 w 1185862"/>
                <a:gd name="connsiteY6" fmla="*/ 512762 h 512762"/>
                <a:gd name="connsiteX7" fmla="*/ 382587 w 1185862"/>
                <a:gd name="connsiteY7" fmla="*/ 498475 h 512762"/>
                <a:gd name="connsiteX8" fmla="*/ 511175 w 1185862"/>
                <a:gd name="connsiteY8" fmla="*/ 460375 h 512762"/>
                <a:gd name="connsiteX9" fmla="*/ 622300 w 1185862"/>
                <a:gd name="connsiteY9" fmla="*/ 379412 h 512762"/>
                <a:gd name="connsiteX10" fmla="*/ 739775 w 1185862"/>
                <a:gd name="connsiteY10" fmla="*/ 261937 h 512762"/>
                <a:gd name="connsiteX11" fmla="*/ 815975 w 1185862"/>
                <a:gd name="connsiteY11" fmla="*/ 204787 h 512762"/>
                <a:gd name="connsiteX12" fmla="*/ 1185862 w 1185862"/>
                <a:gd name="connsiteY12" fmla="*/ 0 h 51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5862" h="512762">
                  <a:moveTo>
                    <a:pt x="1185862" y="0"/>
                  </a:moveTo>
                  <a:lnTo>
                    <a:pt x="0" y="319087"/>
                  </a:lnTo>
                  <a:lnTo>
                    <a:pt x="0" y="319087"/>
                  </a:lnTo>
                  <a:lnTo>
                    <a:pt x="30162" y="382587"/>
                  </a:lnTo>
                  <a:lnTo>
                    <a:pt x="73025" y="436562"/>
                  </a:lnTo>
                  <a:lnTo>
                    <a:pt x="147637" y="488950"/>
                  </a:lnTo>
                  <a:lnTo>
                    <a:pt x="258762" y="512762"/>
                  </a:lnTo>
                  <a:lnTo>
                    <a:pt x="382587" y="498475"/>
                  </a:lnTo>
                  <a:lnTo>
                    <a:pt x="511175" y="460375"/>
                  </a:lnTo>
                  <a:lnTo>
                    <a:pt x="622300" y="379412"/>
                  </a:lnTo>
                  <a:lnTo>
                    <a:pt x="739775" y="261937"/>
                  </a:lnTo>
                  <a:lnTo>
                    <a:pt x="815975" y="204787"/>
                  </a:lnTo>
                  <a:lnTo>
                    <a:pt x="1185862" y="0"/>
                  </a:lnTo>
                  <a:close/>
                </a:path>
              </a:pathLst>
            </a:custGeom>
            <a:solidFill>
              <a:schemeClr val="bg2">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3FC3CC46-E533-5ED7-72F2-7FC25CFF738E}"/>
                </a:ext>
              </a:extLst>
            </p:cNvPr>
            <p:cNvCxnSpPr>
              <a:cxnSpLocks/>
            </p:cNvCxnSpPr>
            <p:nvPr/>
          </p:nvCxnSpPr>
          <p:spPr>
            <a:xfrm flipV="1">
              <a:off x="9396522" y="2427879"/>
              <a:ext cx="1922745" cy="513567"/>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17693EB2-19D9-CC69-A194-0D7C4E534B5C}"/>
                </a:ext>
              </a:extLst>
            </p:cNvPr>
            <p:cNvCxnSpPr>
              <a:cxnSpLocks/>
            </p:cNvCxnSpPr>
            <p:nvPr/>
          </p:nvCxnSpPr>
          <p:spPr>
            <a:xfrm flipV="1">
              <a:off x="9375734" y="2376205"/>
              <a:ext cx="1922745" cy="513567"/>
            </a:xfrm>
            <a:prstGeom prst="straightConnector1">
              <a:avLst/>
            </a:prstGeom>
            <a:ln w="190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6941877B-ABC1-8592-149F-2768D53C731E}"/>
                </a:ext>
              </a:extLst>
            </p:cNvPr>
            <p:cNvCxnSpPr>
              <a:cxnSpLocks/>
            </p:cNvCxnSpPr>
            <p:nvPr/>
          </p:nvCxnSpPr>
          <p:spPr>
            <a:xfrm flipV="1">
              <a:off x="9320021" y="2505856"/>
              <a:ext cx="378106" cy="100992"/>
            </a:xfrm>
            <a:prstGeom prst="straightConnector1">
              <a:avLst/>
            </a:prstGeom>
            <a:ln w="190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3A075F4D-61A2-E262-5B0C-37080539866A}"/>
                    </a:ext>
                  </a:extLst>
                </p:cNvPr>
                <p:cNvSpPr txBox="1"/>
                <p:nvPr/>
              </p:nvSpPr>
              <p:spPr>
                <a:xfrm>
                  <a:off x="9711963" y="2323765"/>
                  <a:ext cx="2837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5">
                                <a:lumMod val="60000"/>
                                <a:lumOff val="40000"/>
                              </a:schemeClr>
                            </a:solidFill>
                            <a:latin typeface="Cambria Math" panose="02040503050406030204" pitchFamily="18" charset="0"/>
                          </a:rPr>
                          <m:t>𝒎</m:t>
                        </m:r>
                      </m:oMath>
                    </m:oMathPara>
                  </a14:m>
                  <a:endParaRPr lang="zh-CN" altLang="en-US" b="1" dirty="0">
                    <a:solidFill>
                      <a:schemeClr val="accent5">
                        <a:lumMod val="60000"/>
                        <a:lumOff val="40000"/>
                      </a:schemeClr>
                    </a:solidFill>
                  </a:endParaRPr>
                </a:p>
              </p:txBody>
            </p:sp>
          </mc:Choice>
          <mc:Fallback xmlns="">
            <p:sp>
              <p:nvSpPr>
                <p:cNvPr id="23" name="文本框 22">
                  <a:extLst>
                    <a:ext uri="{FF2B5EF4-FFF2-40B4-BE49-F238E27FC236}">
                      <a16:creationId xmlns:a16="http://schemas.microsoft.com/office/drawing/2014/main" id="{3A075F4D-61A2-E262-5B0C-37080539866A}"/>
                    </a:ext>
                  </a:extLst>
                </p:cNvPr>
                <p:cNvSpPr txBox="1">
                  <a:spLocks noRot="1" noChangeAspect="1" noMove="1" noResize="1" noEditPoints="1" noAdjustHandles="1" noChangeArrowheads="1" noChangeShapeType="1" noTextEdit="1"/>
                </p:cNvSpPr>
                <p:nvPr/>
              </p:nvSpPr>
              <p:spPr>
                <a:xfrm>
                  <a:off x="9711963" y="2323765"/>
                  <a:ext cx="283731" cy="276999"/>
                </a:xfrm>
                <a:prstGeom prst="rect">
                  <a:avLst/>
                </a:prstGeom>
                <a:blipFill>
                  <a:blip r:embed="rId4"/>
                  <a:stretch>
                    <a:fillRect l="-8696" r="-10870" b="-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09258B73-711A-D06C-BA61-4267E2C5A277}"/>
                    </a:ext>
                  </a:extLst>
                </p:cNvPr>
                <p:cNvSpPr txBox="1"/>
                <p:nvPr/>
              </p:nvSpPr>
              <p:spPr>
                <a:xfrm>
                  <a:off x="11256231" y="2103336"/>
                  <a:ext cx="2019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75000"/>
                              </a:schemeClr>
                            </a:solidFill>
                            <a:latin typeface="Cambria Math" panose="02040503050406030204" pitchFamily="18" charset="0"/>
                          </a:rPr>
                          <m:t>𝒐</m:t>
                        </m:r>
                      </m:oMath>
                    </m:oMathPara>
                  </a14:m>
                  <a:endParaRPr lang="zh-CN" altLang="en-US" b="1" dirty="0">
                    <a:solidFill>
                      <a:schemeClr val="accent2">
                        <a:lumMod val="75000"/>
                      </a:schemeClr>
                    </a:solidFill>
                  </a:endParaRPr>
                </a:p>
              </p:txBody>
            </p:sp>
          </mc:Choice>
          <mc:Fallback xmlns="">
            <p:sp>
              <p:nvSpPr>
                <p:cNvPr id="25" name="文本框 24">
                  <a:extLst>
                    <a:ext uri="{FF2B5EF4-FFF2-40B4-BE49-F238E27FC236}">
                      <a16:creationId xmlns:a16="http://schemas.microsoft.com/office/drawing/2014/main" id="{09258B73-711A-D06C-BA61-4267E2C5A277}"/>
                    </a:ext>
                  </a:extLst>
                </p:cNvPr>
                <p:cNvSpPr txBox="1">
                  <a:spLocks noRot="1" noChangeAspect="1" noMove="1" noResize="1" noEditPoints="1" noAdjustHandles="1" noChangeArrowheads="1" noChangeShapeType="1" noTextEdit="1"/>
                </p:cNvSpPr>
                <p:nvPr/>
              </p:nvSpPr>
              <p:spPr>
                <a:xfrm>
                  <a:off x="11256231" y="2103336"/>
                  <a:ext cx="201978" cy="276999"/>
                </a:xfrm>
                <a:prstGeom prst="rect">
                  <a:avLst/>
                </a:prstGeom>
                <a:blipFill>
                  <a:blip r:embed="rId5"/>
                  <a:stretch>
                    <a:fillRect l="-12121" r="-15152" b="-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55BB1116-705F-158F-C19C-96FB007CA6A6}"/>
                    </a:ext>
                  </a:extLst>
                </p:cNvPr>
                <p:cNvSpPr txBox="1"/>
                <p:nvPr/>
              </p:nvSpPr>
              <p:spPr>
                <a:xfrm>
                  <a:off x="11269136" y="2399614"/>
                  <a:ext cx="153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F76409"/>
                            </a:solidFill>
                            <a:latin typeface="Cambria Math" panose="02040503050406030204" pitchFamily="18" charset="0"/>
                          </a:rPr>
                          <m:t>𝒊</m:t>
                        </m:r>
                      </m:oMath>
                    </m:oMathPara>
                  </a14:m>
                  <a:endParaRPr lang="zh-CN" altLang="en-US" b="1" dirty="0">
                    <a:solidFill>
                      <a:srgbClr val="F76409"/>
                    </a:solidFill>
                  </a:endParaRPr>
                </a:p>
              </p:txBody>
            </p:sp>
          </mc:Choice>
          <mc:Fallback xmlns="">
            <p:sp>
              <p:nvSpPr>
                <p:cNvPr id="26" name="文本框 25">
                  <a:extLst>
                    <a:ext uri="{FF2B5EF4-FFF2-40B4-BE49-F238E27FC236}">
                      <a16:creationId xmlns:a16="http://schemas.microsoft.com/office/drawing/2014/main" id="{55BB1116-705F-158F-C19C-96FB007CA6A6}"/>
                    </a:ext>
                  </a:extLst>
                </p:cNvPr>
                <p:cNvSpPr txBox="1">
                  <a:spLocks noRot="1" noChangeAspect="1" noMove="1" noResize="1" noEditPoints="1" noAdjustHandles="1" noChangeArrowheads="1" noChangeShapeType="1" noTextEdit="1"/>
                </p:cNvSpPr>
                <p:nvPr/>
              </p:nvSpPr>
              <p:spPr>
                <a:xfrm>
                  <a:off x="11269136" y="2399614"/>
                  <a:ext cx="153888" cy="276999"/>
                </a:xfrm>
                <a:prstGeom prst="rect">
                  <a:avLst/>
                </a:prstGeom>
                <a:blipFill>
                  <a:blip r:embed="rId6"/>
                  <a:stretch>
                    <a:fillRect l="-26923" r="-30769" b="-8696"/>
                  </a:stretch>
                </a:blipFill>
              </p:spPr>
              <p:txBody>
                <a:bodyPr/>
                <a:lstStyle/>
                <a:p>
                  <a:r>
                    <a:rPr lang="zh-CN" altLang="en-US">
                      <a:noFill/>
                    </a:rPr>
                    <a:t> </a:t>
                  </a:r>
                </a:p>
              </p:txBody>
            </p:sp>
          </mc:Fallback>
        </mc:AlternateContent>
        <p:cxnSp>
          <p:nvCxnSpPr>
            <p:cNvPr id="27" name="直接箭头连接符 26">
              <a:extLst>
                <a:ext uri="{FF2B5EF4-FFF2-40B4-BE49-F238E27FC236}">
                  <a16:creationId xmlns:a16="http://schemas.microsoft.com/office/drawing/2014/main" id="{C5F46514-386C-ADB9-1760-5C03BA2932EE}"/>
                </a:ext>
              </a:extLst>
            </p:cNvPr>
            <p:cNvCxnSpPr>
              <a:cxnSpLocks/>
            </p:cNvCxnSpPr>
            <p:nvPr/>
          </p:nvCxnSpPr>
          <p:spPr>
            <a:xfrm flipV="1">
              <a:off x="9354274" y="2261198"/>
              <a:ext cx="1922745" cy="513567"/>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976FE8AB-27E2-8794-E387-B3DA71D4646D}"/>
                </a:ext>
              </a:extLst>
            </p:cNvPr>
            <p:cNvCxnSpPr>
              <a:cxnSpLocks/>
            </p:cNvCxnSpPr>
            <p:nvPr/>
          </p:nvCxnSpPr>
          <p:spPr>
            <a:xfrm flipV="1">
              <a:off x="9342993" y="2202747"/>
              <a:ext cx="1922745" cy="513567"/>
            </a:xfrm>
            <a:prstGeom prst="straightConnector1">
              <a:avLst/>
            </a:prstGeom>
            <a:ln w="190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FBF5F16E-0267-DB17-2046-759ADBA8909F}"/>
                </a:ext>
              </a:extLst>
            </p:cNvPr>
            <p:cNvCxnSpPr>
              <a:cxnSpLocks/>
            </p:cNvCxnSpPr>
            <p:nvPr/>
          </p:nvCxnSpPr>
          <p:spPr>
            <a:xfrm flipV="1">
              <a:off x="9303336" y="1965986"/>
              <a:ext cx="1922745" cy="513567"/>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7A088B1D-E281-983D-688E-1D89D4084565}"/>
                </a:ext>
              </a:extLst>
            </p:cNvPr>
            <p:cNvCxnSpPr>
              <a:cxnSpLocks/>
            </p:cNvCxnSpPr>
            <p:nvPr/>
          </p:nvCxnSpPr>
          <p:spPr>
            <a:xfrm flipV="1">
              <a:off x="9286151" y="1912443"/>
              <a:ext cx="1922745" cy="513567"/>
            </a:xfrm>
            <a:prstGeom prst="straightConnector1">
              <a:avLst/>
            </a:prstGeom>
            <a:ln w="190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6522533B-2C04-4BEA-A031-771625C7D940}"/>
                </a:ext>
              </a:extLst>
            </p:cNvPr>
            <p:cNvCxnSpPr>
              <a:cxnSpLocks/>
            </p:cNvCxnSpPr>
            <p:nvPr/>
          </p:nvCxnSpPr>
          <p:spPr>
            <a:xfrm flipV="1">
              <a:off x="9265863" y="1764888"/>
              <a:ext cx="1922745" cy="513567"/>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C2FAD663-25B1-61D0-A4CB-7FCBF95B5A19}"/>
                </a:ext>
              </a:extLst>
            </p:cNvPr>
            <p:cNvCxnSpPr>
              <a:cxnSpLocks/>
            </p:cNvCxnSpPr>
            <p:nvPr/>
          </p:nvCxnSpPr>
          <p:spPr>
            <a:xfrm flipV="1">
              <a:off x="9252398" y="1709203"/>
              <a:ext cx="1922745" cy="513567"/>
            </a:xfrm>
            <a:prstGeom prst="straightConnector1">
              <a:avLst/>
            </a:prstGeom>
            <a:ln w="190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任意多边形: 形状 6">
              <a:extLst>
                <a:ext uri="{FF2B5EF4-FFF2-40B4-BE49-F238E27FC236}">
                  <a16:creationId xmlns:a16="http://schemas.microsoft.com/office/drawing/2014/main" id="{57BB3A85-87A4-8224-305B-38D09DCA0078}"/>
                </a:ext>
              </a:extLst>
            </p:cNvPr>
            <p:cNvSpPr/>
            <p:nvPr/>
          </p:nvSpPr>
          <p:spPr>
            <a:xfrm>
              <a:off x="8591875" y="2076781"/>
              <a:ext cx="2511832" cy="1060135"/>
            </a:xfrm>
            <a:custGeom>
              <a:avLst/>
              <a:gdLst>
                <a:gd name="connsiteX0" fmla="*/ 0 w 2589580"/>
                <a:gd name="connsiteY0" fmla="*/ 869340 h 928476"/>
                <a:gd name="connsiteX1" fmla="*/ 307238 w 2589580"/>
                <a:gd name="connsiteY1" fmla="*/ 349961 h 928476"/>
                <a:gd name="connsiteX2" fmla="*/ 621792 w 2589580"/>
                <a:gd name="connsiteY2" fmla="*/ 13462 h 928476"/>
                <a:gd name="connsiteX3" fmla="*/ 863193 w 2589580"/>
                <a:gd name="connsiteY3" fmla="*/ 810818 h 928476"/>
                <a:gd name="connsiteX4" fmla="*/ 1287475 w 2589580"/>
                <a:gd name="connsiteY4" fmla="*/ 905916 h 928476"/>
                <a:gd name="connsiteX5" fmla="*/ 1733702 w 2589580"/>
                <a:gd name="connsiteY5" fmla="*/ 627938 h 928476"/>
                <a:gd name="connsiteX6" fmla="*/ 2187244 w 2589580"/>
                <a:gd name="connsiteY6" fmla="*/ 474319 h 928476"/>
                <a:gd name="connsiteX7" fmla="*/ 2589580 w 2589580"/>
                <a:gd name="connsiteY7" fmla="*/ 796188 h 92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580" h="928476">
                  <a:moveTo>
                    <a:pt x="0" y="869340"/>
                  </a:moveTo>
                  <a:cubicBezTo>
                    <a:pt x="101803" y="680973"/>
                    <a:pt x="203606" y="492607"/>
                    <a:pt x="307238" y="349961"/>
                  </a:cubicBezTo>
                  <a:cubicBezTo>
                    <a:pt x="410870" y="207315"/>
                    <a:pt x="529133" y="-63347"/>
                    <a:pt x="621792" y="13462"/>
                  </a:cubicBezTo>
                  <a:cubicBezTo>
                    <a:pt x="714451" y="90271"/>
                    <a:pt x="752246" y="662076"/>
                    <a:pt x="863193" y="810818"/>
                  </a:cubicBezTo>
                  <a:cubicBezTo>
                    <a:pt x="974140" y="959560"/>
                    <a:pt x="1142390" y="936396"/>
                    <a:pt x="1287475" y="905916"/>
                  </a:cubicBezTo>
                  <a:cubicBezTo>
                    <a:pt x="1432560" y="875436"/>
                    <a:pt x="1583741" y="699871"/>
                    <a:pt x="1733702" y="627938"/>
                  </a:cubicBezTo>
                  <a:cubicBezTo>
                    <a:pt x="1883663" y="556005"/>
                    <a:pt x="2044598" y="446277"/>
                    <a:pt x="2187244" y="474319"/>
                  </a:cubicBezTo>
                  <a:cubicBezTo>
                    <a:pt x="2329890" y="502361"/>
                    <a:pt x="2459735" y="649274"/>
                    <a:pt x="2589580" y="796188"/>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矩形 33">
            <a:extLst>
              <a:ext uri="{FF2B5EF4-FFF2-40B4-BE49-F238E27FC236}">
                <a16:creationId xmlns:a16="http://schemas.microsoft.com/office/drawing/2014/main" id="{85663C67-2DAF-FEB3-C6ED-1E23EB56B3CC}"/>
              </a:ext>
            </a:extLst>
          </p:cNvPr>
          <p:cNvSpPr/>
          <p:nvPr/>
        </p:nvSpPr>
        <p:spPr>
          <a:xfrm>
            <a:off x="7759478" y="4277781"/>
            <a:ext cx="4320195" cy="2440258"/>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矩形 34">
            <a:extLst>
              <a:ext uri="{FF2B5EF4-FFF2-40B4-BE49-F238E27FC236}">
                <a16:creationId xmlns:a16="http://schemas.microsoft.com/office/drawing/2014/main" id="{5823E7D2-31EA-D414-5B4B-D9E5243B9BBC}"/>
              </a:ext>
            </a:extLst>
          </p:cNvPr>
          <p:cNvSpPr/>
          <p:nvPr/>
        </p:nvSpPr>
        <p:spPr>
          <a:xfrm>
            <a:off x="7626128" y="4106331"/>
            <a:ext cx="4320195" cy="244025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2" name="图片 51">
            <a:extLst>
              <a:ext uri="{FF2B5EF4-FFF2-40B4-BE49-F238E27FC236}">
                <a16:creationId xmlns:a16="http://schemas.microsoft.com/office/drawing/2014/main" id="{085C5A8F-9963-FB37-D6A7-96D476587785}"/>
              </a:ext>
            </a:extLst>
          </p:cNvPr>
          <p:cNvPicPr>
            <a:picLocks noChangeAspect="1"/>
          </p:cNvPicPr>
          <p:nvPr/>
        </p:nvPicPr>
        <p:blipFill>
          <a:blip r:embed="rId7"/>
          <a:stretch>
            <a:fillRect/>
          </a:stretch>
        </p:blipFill>
        <p:spPr>
          <a:xfrm>
            <a:off x="7834327" y="4498624"/>
            <a:ext cx="3815993" cy="1168460"/>
          </a:xfrm>
          <a:prstGeom prst="rect">
            <a:avLst/>
          </a:prstGeom>
        </p:spPr>
      </p:pic>
      <p:sp>
        <p:nvSpPr>
          <p:cNvPr id="54" name="文本框 53">
            <a:extLst>
              <a:ext uri="{FF2B5EF4-FFF2-40B4-BE49-F238E27FC236}">
                <a16:creationId xmlns:a16="http://schemas.microsoft.com/office/drawing/2014/main" id="{C5216893-D950-9D71-4443-599326151FFB}"/>
              </a:ext>
            </a:extLst>
          </p:cNvPr>
          <p:cNvSpPr txBox="1"/>
          <p:nvPr/>
        </p:nvSpPr>
        <p:spPr>
          <a:xfrm>
            <a:off x="8986125" y="3010252"/>
            <a:ext cx="1600200" cy="369332"/>
          </a:xfrm>
          <a:prstGeom prst="rect">
            <a:avLst/>
          </a:prstGeom>
          <a:noFill/>
        </p:spPr>
        <p:txBody>
          <a:bodyPr wrap="square">
            <a:spAutoFit/>
          </a:bodyPr>
          <a:lstStyle/>
          <a:p>
            <a:pPr algn="ctr"/>
            <a:r>
              <a:rPr lang="zh-CN" altLang="en-US" dirty="0"/>
              <a:t>方向相关性</a:t>
            </a:r>
          </a:p>
        </p:txBody>
      </p:sp>
      <p:sp>
        <p:nvSpPr>
          <p:cNvPr id="55" name="文本框 54">
            <a:extLst>
              <a:ext uri="{FF2B5EF4-FFF2-40B4-BE49-F238E27FC236}">
                <a16:creationId xmlns:a16="http://schemas.microsoft.com/office/drawing/2014/main" id="{CA269A2C-DEF5-977C-541F-B3015A796A57}"/>
              </a:ext>
            </a:extLst>
          </p:cNvPr>
          <p:cNvSpPr txBox="1"/>
          <p:nvPr/>
        </p:nvSpPr>
        <p:spPr>
          <a:xfrm>
            <a:off x="8942223" y="5922170"/>
            <a:ext cx="1600200" cy="369332"/>
          </a:xfrm>
          <a:prstGeom prst="rect">
            <a:avLst/>
          </a:prstGeom>
          <a:noFill/>
        </p:spPr>
        <p:txBody>
          <a:bodyPr wrap="square">
            <a:spAutoFit/>
          </a:bodyPr>
          <a:lstStyle/>
          <a:p>
            <a:pPr algn="ctr"/>
            <a:r>
              <a:rPr lang="zh-CN" altLang="en-US" dirty="0"/>
              <a:t>高度相关性</a:t>
            </a:r>
          </a:p>
        </p:txBody>
      </p:sp>
    </p:spTree>
    <p:extLst>
      <p:ext uri="{BB962C8B-B14F-4D97-AF65-F5344CB8AC3E}">
        <p14:creationId xmlns:p14="http://schemas.microsoft.com/office/powerpoint/2010/main" val="228771887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09318-AC3D-2D14-B652-89D08025C272}"/>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1722E4EC-897C-175A-E5BC-19F04FB1D156}"/>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en-US" altLang="zh-CN" dirty="0"/>
              <a:t>Smith</a:t>
            </a:r>
            <a:r>
              <a:rPr lang="zh-CN" altLang="en-US" dirty="0"/>
              <a:t>模型下的掩蔽</a:t>
            </a:r>
            <a:r>
              <a:rPr lang="en-US" altLang="zh-CN" dirty="0"/>
              <a:t>-</a:t>
            </a:r>
            <a:r>
              <a:rPr lang="zh-CN" altLang="en-US" dirty="0"/>
              <a:t>阴影函数（</a:t>
            </a:r>
            <a:r>
              <a:rPr lang="en-US" altLang="zh-CN" dirty="0"/>
              <a:t>2014</a:t>
            </a:r>
            <a:r>
              <a:rPr lang="zh-CN" altLang="en-US" dirty="0"/>
              <a:t>）</a:t>
            </a:r>
            <a:endParaRPr lang="en-US" altLang="zh-CN" dirty="0"/>
          </a:p>
        </p:txBody>
      </p:sp>
      <p:sp>
        <p:nvSpPr>
          <p:cNvPr id="5" name="矩形 4">
            <a:extLst>
              <a:ext uri="{FF2B5EF4-FFF2-40B4-BE49-F238E27FC236}">
                <a16:creationId xmlns:a16="http://schemas.microsoft.com/office/drawing/2014/main" id="{6B198872-F2B6-ED07-9628-83266C98568F}"/>
              </a:ext>
            </a:extLst>
          </p:cNvPr>
          <p:cNvSpPr/>
          <p:nvPr/>
        </p:nvSpPr>
        <p:spPr>
          <a:xfrm>
            <a:off x="521112" y="1315233"/>
            <a:ext cx="6851503"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26ED9924-9FCF-2A0B-266B-CCB4FC2F8E22}"/>
                  </a:ext>
                </a:extLst>
              </p:cNvPr>
              <p:cNvSpPr/>
              <p:nvPr/>
            </p:nvSpPr>
            <p:spPr>
              <a:xfrm>
                <a:off x="368712" y="1144044"/>
                <a:ext cx="6851503"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en-US" altLang="zh-CN" sz="1250" dirty="0">
                    <a:solidFill>
                      <a:schemeClr val="tx1"/>
                    </a:solidFill>
                  </a:rPr>
                  <a:t>Separable Masking and Shadowing</a:t>
                </a:r>
                <a:r>
                  <a:rPr lang="zh-CN" altLang="en-US" sz="1250" dirty="0">
                    <a:solidFill>
                      <a:schemeClr val="tx1"/>
                    </a:solidFill>
                  </a:rPr>
                  <a:t>：</a:t>
                </a:r>
                <a:endParaRPr lang="en-US" altLang="zh-CN" sz="1250" dirty="0">
                  <a:solidFill>
                    <a:schemeClr val="tx1"/>
                  </a:solidFill>
                </a:endParaRPr>
              </a:p>
              <a:p>
                <a:pPr/>
                <a14:m>
                  <m:oMathPara xmlns:m="http://schemas.openxmlformats.org/officeDocument/2006/math">
                    <m:oMathParaPr>
                      <m:jc m:val="centerGroup"/>
                    </m:oMathParaPr>
                    <m:oMath xmlns:m="http://schemas.openxmlformats.org/officeDocument/2006/math">
                      <m:sSub>
                        <m:sSubPr>
                          <m:ctrlPr>
                            <a:rPr lang="en-US" altLang="zh-CN" sz="1250" i="1" smtClean="0">
                              <a:solidFill>
                                <a:schemeClr val="tx1"/>
                              </a:solidFill>
                              <a:latin typeface="Cambria Math" panose="02040503050406030204" pitchFamily="18" charset="0"/>
                            </a:rPr>
                          </m:ctrlPr>
                        </m:sSubPr>
                        <m:e>
                          <m:r>
                            <m:rPr>
                              <m:sty m:val="p"/>
                            </m:rPr>
                            <a:rPr lang="en-US" altLang="zh-CN" sz="1250">
                              <a:solidFill>
                                <a:schemeClr val="tx1"/>
                              </a:solidFill>
                              <a:latin typeface="Cambria Math" panose="02040503050406030204" pitchFamily="18" charset="0"/>
                            </a:rPr>
                            <m:t>G</m:t>
                          </m:r>
                        </m:e>
                        <m:sub>
                          <m:r>
                            <a:rPr lang="en-US" altLang="zh-CN" sz="1250">
                              <a:solidFill>
                                <a:schemeClr val="tx1"/>
                              </a:solidFill>
                              <a:latin typeface="Cambria Math" panose="02040503050406030204" pitchFamily="18" charset="0"/>
                            </a:rPr>
                            <m:t>2</m:t>
                          </m:r>
                        </m:sub>
                      </m:sSub>
                      <m:d>
                        <m:dPr>
                          <m:ctrlPr>
                            <a:rPr lang="en-US" altLang="zh-CN" sz="1250" i="1">
                              <a:solidFill>
                                <a:schemeClr val="tx1"/>
                              </a:solidFill>
                              <a:latin typeface="Cambria Math" panose="02040503050406030204" pitchFamily="18" charset="0"/>
                            </a:rPr>
                          </m:ctrlPr>
                        </m:dPr>
                        <m:e>
                          <m:r>
                            <a:rPr lang="en-US" altLang="zh-CN" sz="1250" b="1" i="1">
                              <a:solidFill>
                                <a:schemeClr val="tx1"/>
                              </a:solidFill>
                              <a:latin typeface="Cambria Math" panose="02040503050406030204" pitchFamily="18" charset="0"/>
                            </a:rPr>
                            <m:t>𝒊</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𝒐</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𝒎</m:t>
                          </m:r>
                        </m:e>
                      </m:d>
                      <m:r>
                        <a:rPr lang="en-US" altLang="zh-CN" sz="1250" b="1" i="1" smtClean="0">
                          <a:solidFill>
                            <a:schemeClr val="tx1"/>
                          </a:solidFill>
                          <a:latin typeface="Cambria Math" panose="02040503050406030204" pitchFamily="18" charset="0"/>
                        </a:rPr>
                        <m:t>=</m:t>
                      </m:r>
                      <m:sSub>
                        <m:sSubPr>
                          <m:ctrlPr>
                            <a:rPr lang="en-US" altLang="zh-CN" sz="1250" i="1">
                              <a:solidFill>
                                <a:schemeClr val="tx1"/>
                              </a:solidFill>
                              <a:latin typeface="Cambria Math" panose="02040503050406030204" pitchFamily="18" charset="0"/>
                            </a:rPr>
                          </m:ctrlPr>
                        </m:sSubPr>
                        <m:e>
                          <m:r>
                            <m:rPr>
                              <m:sty m:val="p"/>
                            </m:rPr>
                            <a:rPr lang="en-US" altLang="zh-CN" sz="1250">
                              <a:solidFill>
                                <a:schemeClr val="tx1"/>
                              </a:solidFill>
                              <a:latin typeface="Cambria Math" panose="02040503050406030204" pitchFamily="18" charset="0"/>
                            </a:rPr>
                            <m:t>G</m:t>
                          </m:r>
                        </m:e>
                        <m:sub>
                          <m:r>
                            <a:rPr lang="en-US" altLang="zh-CN" sz="1250" b="0" i="0" smtClean="0">
                              <a:solidFill>
                                <a:schemeClr val="tx1"/>
                              </a:solidFill>
                              <a:latin typeface="Cambria Math" panose="02040503050406030204" pitchFamily="18" charset="0"/>
                            </a:rPr>
                            <m:t>1</m:t>
                          </m:r>
                        </m:sub>
                      </m:sSub>
                      <m:d>
                        <m:dPr>
                          <m:ctrlPr>
                            <a:rPr lang="en-US" altLang="zh-CN" sz="1250" i="1">
                              <a:solidFill>
                                <a:schemeClr val="tx1"/>
                              </a:solidFill>
                              <a:latin typeface="Cambria Math" panose="02040503050406030204" pitchFamily="18" charset="0"/>
                            </a:rPr>
                          </m:ctrlPr>
                        </m:dPr>
                        <m:e>
                          <m:r>
                            <a:rPr lang="en-US" altLang="zh-CN" sz="1250" b="1" i="1">
                              <a:solidFill>
                                <a:schemeClr val="tx1"/>
                              </a:solidFill>
                              <a:latin typeface="Cambria Math" panose="02040503050406030204" pitchFamily="18" charset="0"/>
                            </a:rPr>
                            <m:t>𝒐</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𝒎</m:t>
                          </m:r>
                        </m:e>
                      </m:d>
                      <m:r>
                        <a:rPr lang="en-US" altLang="zh-CN" sz="1250" b="0" i="1" smtClean="0">
                          <a:solidFill>
                            <a:schemeClr val="tx1"/>
                          </a:solidFill>
                          <a:latin typeface="Cambria Math" panose="02040503050406030204" pitchFamily="18" charset="0"/>
                        </a:rPr>
                        <m:t> </m:t>
                      </m:r>
                      <m:sSub>
                        <m:sSubPr>
                          <m:ctrlPr>
                            <a:rPr lang="en-US" altLang="zh-CN" sz="1250" i="1">
                              <a:solidFill>
                                <a:schemeClr val="tx1"/>
                              </a:solidFill>
                              <a:latin typeface="Cambria Math" panose="02040503050406030204" pitchFamily="18" charset="0"/>
                            </a:rPr>
                          </m:ctrlPr>
                        </m:sSubPr>
                        <m:e>
                          <m:r>
                            <m:rPr>
                              <m:sty m:val="p"/>
                            </m:rPr>
                            <a:rPr lang="en-US" altLang="zh-CN" sz="1250">
                              <a:solidFill>
                                <a:schemeClr val="tx1"/>
                              </a:solidFill>
                              <a:latin typeface="Cambria Math" panose="02040503050406030204" pitchFamily="18" charset="0"/>
                            </a:rPr>
                            <m:t>G</m:t>
                          </m:r>
                        </m:e>
                        <m:sub>
                          <m:r>
                            <a:rPr lang="en-US" altLang="zh-CN" sz="1250" b="0" i="0" smtClean="0">
                              <a:solidFill>
                                <a:schemeClr val="tx1"/>
                              </a:solidFill>
                              <a:latin typeface="Cambria Math" panose="02040503050406030204" pitchFamily="18" charset="0"/>
                            </a:rPr>
                            <m:t>1</m:t>
                          </m:r>
                        </m:sub>
                      </m:sSub>
                      <m:d>
                        <m:dPr>
                          <m:ctrlPr>
                            <a:rPr lang="en-US" altLang="zh-CN" sz="1250" i="1">
                              <a:solidFill>
                                <a:schemeClr val="tx1"/>
                              </a:solidFill>
                              <a:latin typeface="Cambria Math" panose="02040503050406030204" pitchFamily="18" charset="0"/>
                            </a:rPr>
                          </m:ctrlPr>
                        </m:dPr>
                        <m:e>
                          <m:r>
                            <a:rPr lang="en-US" altLang="zh-CN" sz="1250" b="1" i="1">
                              <a:solidFill>
                                <a:schemeClr val="tx1"/>
                              </a:solidFill>
                              <a:latin typeface="Cambria Math" panose="02040503050406030204" pitchFamily="18" charset="0"/>
                            </a:rPr>
                            <m:t>𝒊</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𝒎</m:t>
                          </m:r>
                        </m:e>
                      </m:d>
                      <m:r>
                        <a:rPr lang="en-US" altLang="zh-CN" sz="1250" b="1" i="1" smtClean="0">
                          <a:solidFill>
                            <a:schemeClr val="tx1"/>
                          </a:solidFill>
                          <a:latin typeface="Cambria Math" panose="02040503050406030204" pitchFamily="18" charset="0"/>
                        </a:rPr>
                        <m:t>=</m:t>
                      </m:r>
                      <m:f>
                        <m:fPr>
                          <m:ctrlPr>
                            <a:rPr lang="en-US" altLang="zh-CN" sz="1250" i="1" dirty="0">
                              <a:solidFill>
                                <a:schemeClr val="tx1"/>
                              </a:solidFill>
                              <a:latin typeface="Cambria Math" panose="02040503050406030204" pitchFamily="18" charset="0"/>
                            </a:rPr>
                          </m:ctrlPr>
                        </m:fPr>
                        <m:num>
                          <m:sSup>
                            <m:sSupPr>
                              <m:ctrlPr>
                                <a:rPr lang="en-US" altLang="zh-CN" sz="1250" i="1" dirty="0">
                                  <a:solidFill>
                                    <a:schemeClr val="tx1"/>
                                  </a:solidFill>
                                  <a:latin typeface="Cambria Math" panose="02040503050406030204" pitchFamily="18" charset="0"/>
                                </a:rPr>
                              </m:ctrlPr>
                            </m:sSupPr>
                            <m:e>
                              <m:r>
                                <a:rPr lang="en-US" altLang="zh-CN" sz="1250" i="1" dirty="0">
                                  <a:solidFill>
                                    <a:schemeClr val="tx1"/>
                                  </a:solidFill>
                                  <a:latin typeface="Cambria Math" panose="02040503050406030204" pitchFamily="18" charset="0"/>
                                </a:rPr>
                                <m:t>𝑋</m:t>
                              </m:r>
                            </m:e>
                            <m:sup>
                              <m:r>
                                <a:rPr lang="en-US" altLang="zh-CN" sz="1250" i="1" dirty="0">
                                  <a:solidFill>
                                    <a:schemeClr val="tx1"/>
                                  </a:solidFill>
                                  <a:latin typeface="Cambria Math" panose="02040503050406030204" pitchFamily="18" charset="0"/>
                                </a:rPr>
                                <m:t>+</m:t>
                              </m:r>
                            </m:sup>
                          </m:sSup>
                          <m:d>
                            <m:dPr>
                              <m:ctrlPr>
                                <a:rPr lang="en-US" altLang="zh-CN" sz="1250" i="1" dirty="0">
                                  <a:solidFill>
                                    <a:schemeClr val="tx1"/>
                                  </a:solidFill>
                                  <a:latin typeface="Cambria Math" panose="02040503050406030204" pitchFamily="18" charset="0"/>
                                </a:rPr>
                              </m:ctrlPr>
                            </m:dPr>
                            <m:e>
                              <m:sSup>
                                <m:sSupPr>
                                  <m:ctrlPr>
                                    <a:rPr lang="en-US" altLang="zh-CN" sz="1250" b="1" i="1" dirty="0">
                                      <a:solidFill>
                                        <a:schemeClr val="tx1"/>
                                      </a:solidFill>
                                      <a:latin typeface="Cambria Math" panose="02040503050406030204" pitchFamily="18" charset="0"/>
                                    </a:rPr>
                                  </m:ctrlPr>
                                </m:sSupPr>
                                <m:e>
                                  <m:r>
                                    <a:rPr lang="en-US" altLang="zh-CN" sz="1250" b="1" i="1" dirty="0">
                                      <a:solidFill>
                                        <a:schemeClr val="tx1"/>
                                      </a:solidFill>
                                      <a:latin typeface="Cambria Math" panose="02040503050406030204" pitchFamily="18" charset="0"/>
                                    </a:rPr>
                                    <m:t>𝒐</m:t>
                                  </m:r>
                                </m:e>
                                <m:sup>
                                  <m:r>
                                    <a:rPr lang="en-US" altLang="zh-CN" sz="1250" b="1" i="1" dirty="0">
                                      <a:solidFill>
                                        <a:schemeClr val="tx1"/>
                                      </a:solidFill>
                                      <a:latin typeface="Cambria Math" panose="02040503050406030204" pitchFamily="18" charset="0"/>
                                    </a:rPr>
                                    <m:t>+</m:t>
                                  </m:r>
                                </m:sup>
                              </m:sSup>
                              <m:r>
                                <a:rPr lang="en-US" altLang="zh-CN" sz="1250" i="1" dirty="0">
                                  <a:solidFill>
                                    <a:schemeClr val="tx1"/>
                                  </a:solidFill>
                                  <a:latin typeface="Cambria Math" panose="02040503050406030204" pitchFamily="18" charset="0"/>
                                </a:rPr>
                                <m:t>⋅</m:t>
                              </m:r>
                              <m:r>
                                <a:rPr lang="en-US" altLang="zh-CN" sz="1250" b="1" i="1" dirty="0">
                                  <a:solidFill>
                                    <a:schemeClr val="tx1"/>
                                  </a:solidFill>
                                  <a:latin typeface="Cambria Math" panose="02040503050406030204" pitchFamily="18" charset="0"/>
                                </a:rPr>
                                <m:t>𝒎</m:t>
                              </m:r>
                            </m:e>
                          </m:d>
                        </m:num>
                        <m:den>
                          <m:r>
                            <a:rPr lang="en-US" altLang="zh-CN" sz="1250" dirty="0">
                              <a:solidFill>
                                <a:schemeClr val="tx1"/>
                              </a:solidFill>
                              <a:latin typeface="Cambria Math" panose="02040503050406030204" pitchFamily="18" charset="0"/>
                            </a:rPr>
                            <m:t>1+</m:t>
                          </m:r>
                          <m:r>
                            <m:rPr>
                              <m:sty m:val="p"/>
                            </m:rPr>
                            <a:rPr lang="en-US" altLang="zh-CN" sz="1250" dirty="0">
                              <a:solidFill>
                                <a:schemeClr val="tx1"/>
                              </a:solidFill>
                              <a:latin typeface="Cambria Math" panose="02040503050406030204" pitchFamily="18" charset="0"/>
                            </a:rPr>
                            <m:t>Λ</m:t>
                          </m:r>
                          <m:d>
                            <m:dPr>
                              <m:ctrlPr>
                                <a:rPr lang="en-US" altLang="zh-CN" sz="1250" b="1" i="1" dirty="0">
                                  <a:solidFill>
                                    <a:schemeClr val="tx1"/>
                                  </a:solidFill>
                                  <a:latin typeface="Cambria Math" panose="02040503050406030204" pitchFamily="18" charset="0"/>
                                </a:rPr>
                              </m:ctrlPr>
                            </m:dPr>
                            <m:e>
                              <m:r>
                                <a:rPr lang="en-US" altLang="zh-CN" sz="1250" b="1" dirty="0">
                                  <a:solidFill>
                                    <a:schemeClr val="tx1"/>
                                  </a:solidFill>
                                  <a:latin typeface="Cambria Math" panose="02040503050406030204" pitchFamily="18" charset="0"/>
                                </a:rPr>
                                <m:t>𝐨</m:t>
                              </m:r>
                            </m:e>
                          </m:d>
                        </m:den>
                      </m:f>
                      <m:f>
                        <m:fPr>
                          <m:ctrlPr>
                            <a:rPr lang="en-US" altLang="zh-CN" sz="1250" i="1" dirty="0">
                              <a:solidFill>
                                <a:schemeClr val="tx1"/>
                              </a:solidFill>
                              <a:latin typeface="Cambria Math" panose="02040503050406030204" pitchFamily="18" charset="0"/>
                            </a:rPr>
                          </m:ctrlPr>
                        </m:fPr>
                        <m:num>
                          <m:sSup>
                            <m:sSupPr>
                              <m:ctrlPr>
                                <a:rPr lang="en-US" altLang="zh-CN" sz="1250" i="1" dirty="0">
                                  <a:solidFill>
                                    <a:schemeClr val="tx1"/>
                                  </a:solidFill>
                                  <a:latin typeface="Cambria Math" panose="02040503050406030204" pitchFamily="18" charset="0"/>
                                </a:rPr>
                              </m:ctrlPr>
                            </m:sSupPr>
                            <m:e>
                              <m:r>
                                <a:rPr lang="en-US" altLang="zh-CN" sz="1250" i="1" dirty="0">
                                  <a:solidFill>
                                    <a:schemeClr val="tx1"/>
                                  </a:solidFill>
                                  <a:latin typeface="Cambria Math" panose="02040503050406030204" pitchFamily="18" charset="0"/>
                                </a:rPr>
                                <m:t>𝑋</m:t>
                              </m:r>
                            </m:e>
                            <m:sup>
                              <m:r>
                                <a:rPr lang="en-US" altLang="zh-CN" sz="1250" i="1" dirty="0">
                                  <a:solidFill>
                                    <a:schemeClr val="tx1"/>
                                  </a:solidFill>
                                  <a:latin typeface="Cambria Math" panose="02040503050406030204" pitchFamily="18" charset="0"/>
                                </a:rPr>
                                <m:t>+</m:t>
                              </m:r>
                            </m:sup>
                          </m:sSup>
                          <m:d>
                            <m:dPr>
                              <m:ctrlPr>
                                <a:rPr lang="en-US" altLang="zh-CN" sz="1250" i="1" dirty="0">
                                  <a:solidFill>
                                    <a:schemeClr val="tx1"/>
                                  </a:solidFill>
                                  <a:latin typeface="Cambria Math" panose="02040503050406030204" pitchFamily="18" charset="0"/>
                                </a:rPr>
                              </m:ctrlPr>
                            </m:dPr>
                            <m:e>
                              <m:sSup>
                                <m:sSupPr>
                                  <m:ctrlPr>
                                    <a:rPr lang="en-US" altLang="zh-CN" sz="1250" b="1" i="1" dirty="0">
                                      <a:solidFill>
                                        <a:schemeClr val="tx1"/>
                                      </a:solidFill>
                                      <a:latin typeface="Cambria Math" panose="02040503050406030204" pitchFamily="18" charset="0"/>
                                    </a:rPr>
                                  </m:ctrlPr>
                                </m:sSupPr>
                                <m:e>
                                  <m:r>
                                    <a:rPr lang="en-US" altLang="zh-CN" sz="1250" b="1" i="1" dirty="0" smtClean="0">
                                      <a:solidFill>
                                        <a:schemeClr val="tx1"/>
                                      </a:solidFill>
                                      <a:latin typeface="Cambria Math" panose="02040503050406030204" pitchFamily="18" charset="0"/>
                                    </a:rPr>
                                    <m:t>𝒊</m:t>
                                  </m:r>
                                </m:e>
                                <m:sup>
                                  <m:r>
                                    <a:rPr lang="en-US" altLang="zh-CN" sz="1250" b="1" i="1" dirty="0">
                                      <a:solidFill>
                                        <a:schemeClr val="tx1"/>
                                      </a:solidFill>
                                      <a:latin typeface="Cambria Math" panose="02040503050406030204" pitchFamily="18" charset="0"/>
                                    </a:rPr>
                                    <m:t>+</m:t>
                                  </m:r>
                                </m:sup>
                              </m:sSup>
                              <m:r>
                                <a:rPr lang="en-US" altLang="zh-CN" sz="1250" i="1" dirty="0">
                                  <a:solidFill>
                                    <a:schemeClr val="tx1"/>
                                  </a:solidFill>
                                  <a:latin typeface="Cambria Math" panose="02040503050406030204" pitchFamily="18" charset="0"/>
                                </a:rPr>
                                <m:t>⋅</m:t>
                              </m:r>
                              <m:r>
                                <a:rPr lang="en-US" altLang="zh-CN" sz="1250" b="1" i="1" dirty="0">
                                  <a:solidFill>
                                    <a:schemeClr val="tx1"/>
                                  </a:solidFill>
                                  <a:latin typeface="Cambria Math" panose="02040503050406030204" pitchFamily="18" charset="0"/>
                                </a:rPr>
                                <m:t>𝒎</m:t>
                              </m:r>
                            </m:e>
                          </m:d>
                        </m:num>
                        <m:den>
                          <m:r>
                            <a:rPr lang="en-US" altLang="zh-CN" sz="1250" dirty="0">
                              <a:solidFill>
                                <a:schemeClr val="tx1"/>
                              </a:solidFill>
                              <a:latin typeface="Cambria Math" panose="02040503050406030204" pitchFamily="18" charset="0"/>
                            </a:rPr>
                            <m:t>1+</m:t>
                          </m:r>
                          <m:r>
                            <m:rPr>
                              <m:sty m:val="p"/>
                            </m:rPr>
                            <a:rPr lang="en-US" altLang="zh-CN" sz="1250" dirty="0">
                              <a:solidFill>
                                <a:schemeClr val="tx1"/>
                              </a:solidFill>
                              <a:latin typeface="Cambria Math" panose="02040503050406030204" pitchFamily="18" charset="0"/>
                            </a:rPr>
                            <m:t>Λ</m:t>
                          </m:r>
                          <m:d>
                            <m:dPr>
                              <m:ctrlPr>
                                <a:rPr lang="en-US" altLang="zh-CN" sz="1250" b="1" i="1" dirty="0">
                                  <a:solidFill>
                                    <a:schemeClr val="tx1"/>
                                  </a:solidFill>
                                  <a:latin typeface="Cambria Math" panose="02040503050406030204" pitchFamily="18" charset="0"/>
                                </a:rPr>
                              </m:ctrlPr>
                            </m:dPr>
                            <m:e>
                              <m:r>
                                <a:rPr lang="en-US" altLang="zh-CN" sz="1250" b="1" i="1" dirty="0" smtClean="0">
                                  <a:solidFill>
                                    <a:schemeClr val="tx1"/>
                                  </a:solidFill>
                                  <a:latin typeface="Cambria Math" panose="02040503050406030204" pitchFamily="18" charset="0"/>
                                </a:rPr>
                                <m:t>𝒊</m:t>
                              </m:r>
                            </m:e>
                          </m:d>
                        </m:den>
                      </m:f>
                    </m:oMath>
                  </m:oMathPara>
                </a14:m>
                <a:endParaRPr lang="en-US" altLang="zh-CN" sz="1250" b="1" dirty="0">
                  <a:solidFill>
                    <a:schemeClr val="tx1"/>
                  </a:solidFill>
                </a:endParaRPr>
              </a:p>
              <a:p>
                <a:pPr>
                  <a:lnSpc>
                    <a:spcPct val="150000"/>
                  </a:lnSpc>
                </a:pPr>
                <a:r>
                  <a:rPr lang="en-US" altLang="zh-CN" sz="1250" dirty="0">
                    <a:solidFill>
                      <a:schemeClr val="tx1"/>
                    </a:solidFill>
                  </a:rPr>
                  <a:t>Height-Correlated Masking and Shadowing</a:t>
                </a:r>
                <a:r>
                  <a:rPr lang="zh-CN" altLang="en-US" sz="1250" dirty="0">
                    <a:solidFill>
                      <a:schemeClr val="tx1"/>
                    </a:solidFill>
                  </a:rPr>
                  <a:t>：</a:t>
                </a:r>
                <a:endParaRPr lang="en-US" altLang="zh-CN" sz="1250" dirty="0">
                  <a:solidFill>
                    <a:schemeClr val="tx1"/>
                  </a:solidFill>
                </a:endParaRPr>
              </a:p>
              <a:p>
                <a:pPr/>
                <a14:m>
                  <m:oMathPara xmlns:m="http://schemas.openxmlformats.org/officeDocument/2006/math">
                    <m:oMathParaPr>
                      <m:jc m:val="centerGroup"/>
                    </m:oMathParaPr>
                    <m:oMath xmlns:m="http://schemas.openxmlformats.org/officeDocument/2006/math">
                      <m:sSub>
                        <m:sSubPr>
                          <m:ctrlPr>
                            <a:rPr lang="en-US" altLang="zh-CN" sz="1250" i="1" smtClean="0">
                              <a:solidFill>
                                <a:schemeClr val="tx1"/>
                              </a:solidFill>
                              <a:latin typeface="Cambria Math" panose="02040503050406030204" pitchFamily="18" charset="0"/>
                            </a:rPr>
                          </m:ctrlPr>
                        </m:sSubPr>
                        <m:e>
                          <m:r>
                            <m:rPr>
                              <m:sty m:val="p"/>
                            </m:rPr>
                            <a:rPr lang="en-US" altLang="zh-CN" sz="1250">
                              <a:solidFill>
                                <a:schemeClr val="tx1"/>
                              </a:solidFill>
                              <a:latin typeface="Cambria Math" panose="02040503050406030204" pitchFamily="18" charset="0"/>
                            </a:rPr>
                            <m:t>G</m:t>
                          </m:r>
                        </m:e>
                        <m:sub>
                          <m:r>
                            <a:rPr lang="en-US" altLang="zh-CN" sz="1250">
                              <a:solidFill>
                                <a:schemeClr val="tx1"/>
                              </a:solidFill>
                              <a:latin typeface="Cambria Math" panose="02040503050406030204" pitchFamily="18" charset="0"/>
                            </a:rPr>
                            <m:t>2</m:t>
                          </m:r>
                        </m:sub>
                      </m:sSub>
                      <m:d>
                        <m:dPr>
                          <m:ctrlPr>
                            <a:rPr lang="en-US" altLang="zh-CN" sz="1250" i="1">
                              <a:solidFill>
                                <a:schemeClr val="tx1"/>
                              </a:solidFill>
                              <a:latin typeface="Cambria Math" panose="02040503050406030204" pitchFamily="18" charset="0"/>
                            </a:rPr>
                          </m:ctrlPr>
                        </m:dPr>
                        <m:e>
                          <m:r>
                            <a:rPr lang="en-US" altLang="zh-CN" sz="1250" b="1" i="1">
                              <a:solidFill>
                                <a:schemeClr val="tx1"/>
                              </a:solidFill>
                              <a:latin typeface="Cambria Math" panose="02040503050406030204" pitchFamily="18" charset="0"/>
                            </a:rPr>
                            <m:t>𝒊</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𝒐</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𝒎</m:t>
                          </m:r>
                        </m:e>
                      </m:d>
                      <m:r>
                        <a:rPr lang="en-US" altLang="zh-CN" sz="1250" b="1" i="1" smtClean="0">
                          <a:solidFill>
                            <a:schemeClr val="tx1"/>
                          </a:solidFill>
                          <a:latin typeface="Cambria Math" panose="02040503050406030204" pitchFamily="18" charset="0"/>
                        </a:rPr>
                        <m:t>=</m:t>
                      </m:r>
                      <m:f>
                        <m:fPr>
                          <m:ctrlPr>
                            <a:rPr lang="en-US" altLang="zh-CN" sz="1250" i="1" dirty="0">
                              <a:solidFill>
                                <a:schemeClr val="tx1"/>
                              </a:solidFill>
                              <a:latin typeface="Cambria Math" panose="02040503050406030204" pitchFamily="18" charset="0"/>
                            </a:rPr>
                          </m:ctrlPr>
                        </m:fPr>
                        <m:num>
                          <m:sSup>
                            <m:sSupPr>
                              <m:ctrlPr>
                                <a:rPr lang="en-US" altLang="zh-CN" sz="1250" i="1" dirty="0">
                                  <a:solidFill>
                                    <a:schemeClr val="tx1"/>
                                  </a:solidFill>
                                  <a:latin typeface="Cambria Math" panose="02040503050406030204" pitchFamily="18" charset="0"/>
                                </a:rPr>
                              </m:ctrlPr>
                            </m:sSupPr>
                            <m:e>
                              <m:r>
                                <a:rPr lang="en-US" altLang="zh-CN" sz="1250" i="1" dirty="0">
                                  <a:solidFill>
                                    <a:schemeClr val="tx1"/>
                                  </a:solidFill>
                                  <a:latin typeface="Cambria Math" panose="02040503050406030204" pitchFamily="18" charset="0"/>
                                </a:rPr>
                                <m:t>𝑋</m:t>
                              </m:r>
                            </m:e>
                            <m:sup>
                              <m:r>
                                <a:rPr lang="en-US" altLang="zh-CN" sz="1250" i="1" dirty="0">
                                  <a:solidFill>
                                    <a:schemeClr val="tx1"/>
                                  </a:solidFill>
                                  <a:latin typeface="Cambria Math" panose="02040503050406030204" pitchFamily="18" charset="0"/>
                                </a:rPr>
                                <m:t>+</m:t>
                              </m:r>
                            </m:sup>
                          </m:sSup>
                          <m:d>
                            <m:dPr>
                              <m:ctrlPr>
                                <a:rPr lang="en-US" altLang="zh-CN" sz="1250" i="1" dirty="0">
                                  <a:solidFill>
                                    <a:schemeClr val="tx1"/>
                                  </a:solidFill>
                                  <a:latin typeface="Cambria Math" panose="02040503050406030204" pitchFamily="18" charset="0"/>
                                </a:rPr>
                              </m:ctrlPr>
                            </m:dPr>
                            <m:e>
                              <m:sSup>
                                <m:sSupPr>
                                  <m:ctrlPr>
                                    <a:rPr lang="en-US" altLang="zh-CN" sz="1250" b="1" i="1" dirty="0">
                                      <a:solidFill>
                                        <a:schemeClr val="tx1"/>
                                      </a:solidFill>
                                      <a:latin typeface="Cambria Math" panose="02040503050406030204" pitchFamily="18" charset="0"/>
                                    </a:rPr>
                                  </m:ctrlPr>
                                </m:sSupPr>
                                <m:e>
                                  <m:r>
                                    <a:rPr lang="en-US" altLang="zh-CN" sz="1250" b="1" i="1" dirty="0">
                                      <a:solidFill>
                                        <a:schemeClr val="tx1"/>
                                      </a:solidFill>
                                      <a:latin typeface="Cambria Math" panose="02040503050406030204" pitchFamily="18" charset="0"/>
                                    </a:rPr>
                                    <m:t>𝒐</m:t>
                                  </m:r>
                                </m:e>
                                <m:sup>
                                  <m:r>
                                    <a:rPr lang="en-US" altLang="zh-CN" sz="1250" b="1" i="1" dirty="0">
                                      <a:solidFill>
                                        <a:schemeClr val="tx1"/>
                                      </a:solidFill>
                                      <a:latin typeface="Cambria Math" panose="02040503050406030204" pitchFamily="18" charset="0"/>
                                    </a:rPr>
                                    <m:t>+</m:t>
                                  </m:r>
                                </m:sup>
                              </m:sSup>
                              <m:r>
                                <a:rPr lang="en-US" altLang="zh-CN" sz="1250" i="1" dirty="0">
                                  <a:solidFill>
                                    <a:schemeClr val="tx1"/>
                                  </a:solidFill>
                                  <a:latin typeface="Cambria Math" panose="02040503050406030204" pitchFamily="18" charset="0"/>
                                </a:rPr>
                                <m:t>⋅</m:t>
                              </m:r>
                              <m:r>
                                <a:rPr lang="en-US" altLang="zh-CN" sz="1250" b="1" i="1" dirty="0">
                                  <a:solidFill>
                                    <a:schemeClr val="tx1"/>
                                  </a:solidFill>
                                  <a:latin typeface="Cambria Math" panose="02040503050406030204" pitchFamily="18" charset="0"/>
                                </a:rPr>
                                <m:t>𝒎</m:t>
                              </m:r>
                            </m:e>
                          </m:d>
                          <m:r>
                            <a:rPr lang="en-US" altLang="zh-CN" sz="1250" b="0" i="1" dirty="0" smtClean="0">
                              <a:solidFill>
                                <a:schemeClr val="tx1"/>
                              </a:solidFill>
                              <a:latin typeface="Cambria Math" panose="02040503050406030204" pitchFamily="18" charset="0"/>
                            </a:rPr>
                            <m:t> </m:t>
                          </m:r>
                          <m:sSup>
                            <m:sSupPr>
                              <m:ctrlPr>
                                <a:rPr lang="en-US" altLang="zh-CN" sz="1250" i="1" dirty="0">
                                  <a:solidFill>
                                    <a:schemeClr val="tx1"/>
                                  </a:solidFill>
                                  <a:latin typeface="Cambria Math" panose="02040503050406030204" pitchFamily="18" charset="0"/>
                                </a:rPr>
                              </m:ctrlPr>
                            </m:sSupPr>
                            <m:e>
                              <m:r>
                                <a:rPr lang="en-US" altLang="zh-CN" sz="1250" i="1" dirty="0">
                                  <a:solidFill>
                                    <a:schemeClr val="tx1"/>
                                  </a:solidFill>
                                  <a:latin typeface="Cambria Math" panose="02040503050406030204" pitchFamily="18" charset="0"/>
                                </a:rPr>
                                <m:t>𝑋</m:t>
                              </m:r>
                            </m:e>
                            <m:sup>
                              <m:r>
                                <a:rPr lang="en-US" altLang="zh-CN" sz="1250" i="1" dirty="0">
                                  <a:solidFill>
                                    <a:schemeClr val="tx1"/>
                                  </a:solidFill>
                                  <a:latin typeface="Cambria Math" panose="02040503050406030204" pitchFamily="18" charset="0"/>
                                </a:rPr>
                                <m:t>+</m:t>
                              </m:r>
                            </m:sup>
                          </m:sSup>
                          <m:d>
                            <m:dPr>
                              <m:ctrlPr>
                                <a:rPr lang="en-US" altLang="zh-CN" sz="1250" i="1" dirty="0">
                                  <a:solidFill>
                                    <a:schemeClr val="tx1"/>
                                  </a:solidFill>
                                  <a:latin typeface="Cambria Math" panose="02040503050406030204" pitchFamily="18" charset="0"/>
                                </a:rPr>
                              </m:ctrlPr>
                            </m:dPr>
                            <m:e>
                              <m:sSup>
                                <m:sSupPr>
                                  <m:ctrlPr>
                                    <a:rPr lang="en-US" altLang="zh-CN" sz="1250" b="1" i="1" dirty="0">
                                      <a:solidFill>
                                        <a:schemeClr val="tx1"/>
                                      </a:solidFill>
                                      <a:latin typeface="Cambria Math" panose="02040503050406030204" pitchFamily="18" charset="0"/>
                                    </a:rPr>
                                  </m:ctrlPr>
                                </m:sSupPr>
                                <m:e>
                                  <m:r>
                                    <a:rPr lang="en-US" altLang="zh-CN" sz="1250" b="1" i="1" dirty="0">
                                      <a:solidFill>
                                        <a:schemeClr val="tx1"/>
                                      </a:solidFill>
                                      <a:latin typeface="Cambria Math" panose="02040503050406030204" pitchFamily="18" charset="0"/>
                                    </a:rPr>
                                    <m:t>𝒊</m:t>
                                  </m:r>
                                </m:e>
                                <m:sup>
                                  <m:r>
                                    <a:rPr lang="en-US" altLang="zh-CN" sz="1250" b="1" i="1" dirty="0">
                                      <a:solidFill>
                                        <a:schemeClr val="tx1"/>
                                      </a:solidFill>
                                      <a:latin typeface="Cambria Math" panose="02040503050406030204" pitchFamily="18" charset="0"/>
                                    </a:rPr>
                                    <m:t>+</m:t>
                                  </m:r>
                                </m:sup>
                              </m:sSup>
                              <m:r>
                                <a:rPr lang="en-US" altLang="zh-CN" sz="1250" i="1" dirty="0">
                                  <a:solidFill>
                                    <a:schemeClr val="tx1"/>
                                  </a:solidFill>
                                  <a:latin typeface="Cambria Math" panose="02040503050406030204" pitchFamily="18" charset="0"/>
                                </a:rPr>
                                <m:t>⋅</m:t>
                              </m:r>
                              <m:r>
                                <a:rPr lang="en-US" altLang="zh-CN" sz="1250" b="1" i="1" dirty="0">
                                  <a:solidFill>
                                    <a:schemeClr val="tx1"/>
                                  </a:solidFill>
                                  <a:latin typeface="Cambria Math" panose="02040503050406030204" pitchFamily="18" charset="0"/>
                                </a:rPr>
                                <m:t>𝒎</m:t>
                              </m:r>
                            </m:e>
                          </m:d>
                        </m:num>
                        <m:den>
                          <m:r>
                            <a:rPr lang="en-US" altLang="zh-CN" sz="1250" dirty="0">
                              <a:solidFill>
                                <a:schemeClr val="tx1"/>
                              </a:solidFill>
                              <a:latin typeface="Cambria Math" panose="02040503050406030204" pitchFamily="18" charset="0"/>
                            </a:rPr>
                            <m:t>1+</m:t>
                          </m:r>
                          <m:r>
                            <m:rPr>
                              <m:sty m:val="p"/>
                            </m:rPr>
                            <a:rPr lang="en-US" altLang="zh-CN" sz="1250" dirty="0">
                              <a:solidFill>
                                <a:schemeClr val="tx1"/>
                              </a:solidFill>
                              <a:latin typeface="Cambria Math" panose="02040503050406030204" pitchFamily="18" charset="0"/>
                            </a:rPr>
                            <m:t>Λ</m:t>
                          </m:r>
                          <m:d>
                            <m:dPr>
                              <m:ctrlPr>
                                <a:rPr lang="en-US" altLang="zh-CN" sz="1250" b="1" i="1" dirty="0">
                                  <a:solidFill>
                                    <a:schemeClr val="tx1"/>
                                  </a:solidFill>
                                  <a:latin typeface="Cambria Math" panose="02040503050406030204" pitchFamily="18" charset="0"/>
                                </a:rPr>
                              </m:ctrlPr>
                            </m:dPr>
                            <m:e>
                              <m:r>
                                <a:rPr lang="en-US" altLang="zh-CN" sz="1250" b="1" dirty="0">
                                  <a:solidFill>
                                    <a:schemeClr val="tx1"/>
                                  </a:solidFill>
                                  <a:latin typeface="Cambria Math" panose="02040503050406030204" pitchFamily="18" charset="0"/>
                                </a:rPr>
                                <m:t>𝐨</m:t>
                              </m:r>
                            </m:e>
                          </m:d>
                          <m:r>
                            <a:rPr lang="en-US" altLang="zh-CN" sz="1250" dirty="0">
                              <a:solidFill>
                                <a:schemeClr val="tx1"/>
                              </a:solidFill>
                              <a:latin typeface="Cambria Math" panose="02040503050406030204" pitchFamily="18" charset="0"/>
                            </a:rPr>
                            <m:t>+</m:t>
                          </m:r>
                          <m:r>
                            <m:rPr>
                              <m:sty m:val="p"/>
                            </m:rPr>
                            <a:rPr lang="en-US" altLang="zh-CN" sz="1250" dirty="0">
                              <a:solidFill>
                                <a:schemeClr val="tx1"/>
                              </a:solidFill>
                              <a:latin typeface="Cambria Math" panose="02040503050406030204" pitchFamily="18" charset="0"/>
                            </a:rPr>
                            <m:t>Λ</m:t>
                          </m:r>
                          <m:d>
                            <m:dPr>
                              <m:ctrlPr>
                                <a:rPr lang="en-US" altLang="zh-CN" sz="1250" b="1" i="1" dirty="0">
                                  <a:solidFill>
                                    <a:schemeClr val="tx1"/>
                                  </a:solidFill>
                                  <a:latin typeface="Cambria Math" panose="02040503050406030204" pitchFamily="18" charset="0"/>
                                </a:rPr>
                              </m:ctrlPr>
                            </m:dPr>
                            <m:e>
                              <m:r>
                                <a:rPr lang="en-US" altLang="zh-CN" sz="1250" b="1" i="1" dirty="0">
                                  <a:solidFill>
                                    <a:schemeClr val="tx1"/>
                                  </a:solidFill>
                                  <a:latin typeface="Cambria Math" panose="02040503050406030204" pitchFamily="18" charset="0"/>
                                </a:rPr>
                                <m:t>𝒊</m:t>
                              </m:r>
                            </m:e>
                          </m:d>
                        </m:den>
                      </m:f>
                    </m:oMath>
                  </m:oMathPara>
                </a14:m>
                <a:endParaRPr lang="en-US" altLang="zh-CN" sz="1250" dirty="0">
                  <a:solidFill>
                    <a:schemeClr val="tx1"/>
                  </a:solidFill>
                </a:endParaRPr>
              </a:p>
              <a:p>
                <a:pPr>
                  <a:lnSpc>
                    <a:spcPct val="150000"/>
                  </a:lnSpc>
                </a:pPr>
                <a:r>
                  <a:rPr lang="en-US" altLang="zh-CN" sz="1250" dirty="0">
                    <a:solidFill>
                      <a:schemeClr val="tx1"/>
                    </a:solidFill>
                  </a:rPr>
                  <a:t>Direction-Correlated Masking and Shadowing</a:t>
                </a:r>
                <a:r>
                  <a:rPr lang="zh-CN" altLang="en-US" sz="1250" dirty="0">
                    <a:solidFill>
                      <a:schemeClr val="tx1"/>
                    </a:solidFill>
                  </a:rPr>
                  <a:t>：</a:t>
                </a:r>
                <a:endParaRPr lang="en-US" altLang="zh-CN" sz="125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250" i="1" smtClean="0">
                              <a:solidFill>
                                <a:schemeClr val="tx1"/>
                              </a:solidFill>
                              <a:latin typeface="Cambria Math" panose="02040503050406030204" pitchFamily="18" charset="0"/>
                            </a:rPr>
                          </m:ctrlPr>
                        </m:sSubPr>
                        <m:e>
                          <m:r>
                            <m:rPr>
                              <m:sty m:val="p"/>
                            </m:rPr>
                            <a:rPr lang="en-US" altLang="zh-CN" sz="1250">
                              <a:solidFill>
                                <a:schemeClr val="tx1"/>
                              </a:solidFill>
                              <a:latin typeface="Cambria Math" panose="02040503050406030204" pitchFamily="18" charset="0"/>
                            </a:rPr>
                            <m:t>G</m:t>
                          </m:r>
                        </m:e>
                        <m:sub>
                          <m:r>
                            <a:rPr lang="en-US" altLang="zh-CN" sz="1250">
                              <a:solidFill>
                                <a:schemeClr val="tx1"/>
                              </a:solidFill>
                              <a:latin typeface="Cambria Math" panose="02040503050406030204" pitchFamily="18" charset="0"/>
                            </a:rPr>
                            <m:t>2</m:t>
                          </m:r>
                        </m:sub>
                      </m:sSub>
                      <m:d>
                        <m:dPr>
                          <m:ctrlPr>
                            <a:rPr lang="en-US" altLang="zh-CN" sz="1250" i="1">
                              <a:solidFill>
                                <a:schemeClr val="tx1"/>
                              </a:solidFill>
                              <a:latin typeface="Cambria Math" panose="02040503050406030204" pitchFamily="18" charset="0"/>
                            </a:rPr>
                          </m:ctrlPr>
                        </m:dPr>
                        <m:e>
                          <m:r>
                            <a:rPr lang="en-US" altLang="zh-CN" sz="1250" b="1" i="1">
                              <a:solidFill>
                                <a:schemeClr val="tx1"/>
                              </a:solidFill>
                              <a:latin typeface="Cambria Math" panose="02040503050406030204" pitchFamily="18" charset="0"/>
                            </a:rPr>
                            <m:t>𝒊</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𝒐</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𝒎</m:t>
                          </m:r>
                        </m:e>
                      </m:d>
                      <m:r>
                        <a:rPr lang="en-US" altLang="zh-CN" sz="1250" b="1" i="1" smtClean="0">
                          <a:solidFill>
                            <a:schemeClr val="tx1"/>
                          </a:solidFill>
                          <a:latin typeface="Cambria Math" panose="02040503050406030204" pitchFamily="18" charset="0"/>
                        </a:rPr>
                        <m:t>=</m:t>
                      </m:r>
                      <m:r>
                        <a:rPr lang="en-US" altLang="zh-CN" sz="1250" b="0" i="1" smtClean="0">
                          <a:solidFill>
                            <a:schemeClr val="tx1"/>
                          </a:solidFill>
                          <a:latin typeface="Cambria Math" panose="02040503050406030204" pitchFamily="18" charset="0"/>
                        </a:rPr>
                        <m:t>𝜆</m:t>
                      </m:r>
                      <m:d>
                        <m:dPr>
                          <m:ctrlPr>
                            <a:rPr lang="en-US" altLang="zh-CN" sz="1250" b="0" i="1" smtClean="0">
                              <a:solidFill>
                                <a:schemeClr val="tx1"/>
                              </a:solidFill>
                              <a:latin typeface="Cambria Math" panose="02040503050406030204" pitchFamily="18" charset="0"/>
                            </a:rPr>
                          </m:ctrlPr>
                        </m:dPr>
                        <m:e>
                          <m:r>
                            <a:rPr lang="en-US" altLang="zh-CN" sz="1250" b="0" i="1" smtClean="0">
                              <a:solidFill>
                                <a:schemeClr val="tx1"/>
                              </a:solidFill>
                              <a:latin typeface="Cambria Math" panose="02040503050406030204" pitchFamily="18" charset="0"/>
                            </a:rPr>
                            <m:t>𝜙</m:t>
                          </m:r>
                        </m:e>
                      </m:d>
                      <m:r>
                        <a:rPr lang="en-US" altLang="zh-CN" sz="1250" b="0" i="1" smtClean="0">
                          <a:solidFill>
                            <a:schemeClr val="tx1"/>
                          </a:solidFill>
                          <a:latin typeface="Cambria Math" panose="02040503050406030204" pitchFamily="18" charset="0"/>
                        </a:rPr>
                        <m:t> </m:t>
                      </m:r>
                      <m:sSub>
                        <m:sSubPr>
                          <m:ctrlPr>
                            <a:rPr lang="en-US" altLang="zh-CN" sz="1250" i="1">
                              <a:solidFill>
                                <a:schemeClr val="tx1"/>
                              </a:solidFill>
                              <a:latin typeface="Cambria Math" panose="02040503050406030204" pitchFamily="18" charset="0"/>
                            </a:rPr>
                          </m:ctrlPr>
                        </m:sSubPr>
                        <m:e>
                          <m:r>
                            <m:rPr>
                              <m:sty m:val="p"/>
                            </m:rPr>
                            <a:rPr lang="en-US" altLang="zh-CN" sz="1250">
                              <a:solidFill>
                                <a:schemeClr val="tx1"/>
                              </a:solidFill>
                              <a:latin typeface="Cambria Math" panose="02040503050406030204" pitchFamily="18" charset="0"/>
                            </a:rPr>
                            <m:t>G</m:t>
                          </m:r>
                        </m:e>
                        <m:sub>
                          <m:r>
                            <a:rPr lang="en-US" altLang="zh-CN" sz="1250" b="0" i="0" smtClean="0">
                              <a:solidFill>
                                <a:schemeClr val="tx1"/>
                              </a:solidFill>
                              <a:latin typeface="Cambria Math" panose="02040503050406030204" pitchFamily="18" charset="0"/>
                            </a:rPr>
                            <m:t>1</m:t>
                          </m:r>
                        </m:sub>
                      </m:sSub>
                      <m:d>
                        <m:dPr>
                          <m:ctrlPr>
                            <a:rPr lang="en-US" altLang="zh-CN" sz="1250" i="1">
                              <a:solidFill>
                                <a:schemeClr val="tx1"/>
                              </a:solidFill>
                              <a:latin typeface="Cambria Math" panose="02040503050406030204" pitchFamily="18" charset="0"/>
                            </a:rPr>
                          </m:ctrlPr>
                        </m:dPr>
                        <m:e>
                          <m:r>
                            <a:rPr lang="en-US" altLang="zh-CN" sz="1250" b="1" i="1">
                              <a:solidFill>
                                <a:schemeClr val="tx1"/>
                              </a:solidFill>
                              <a:latin typeface="Cambria Math" panose="02040503050406030204" pitchFamily="18" charset="0"/>
                            </a:rPr>
                            <m:t>𝒐</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𝒎</m:t>
                          </m:r>
                        </m:e>
                      </m:d>
                      <m:r>
                        <a:rPr lang="en-US" altLang="zh-CN" sz="1250" b="0" i="1" smtClean="0">
                          <a:solidFill>
                            <a:schemeClr val="tx1"/>
                          </a:solidFill>
                          <a:latin typeface="Cambria Math" panose="02040503050406030204" pitchFamily="18" charset="0"/>
                        </a:rPr>
                        <m:t> </m:t>
                      </m:r>
                      <m:sSub>
                        <m:sSubPr>
                          <m:ctrlPr>
                            <a:rPr lang="en-US" altLang="zh-CN" sz="1250" i="1">
                              <a:solidFill>
                                <a:schemeClr val="tx1"/>
                              </a:solidFill>
                              <a:latin typeface="Cambria Math" panose="02040503050406030204" pitchFamily="18" charset="0"/>
                            </a:rPr>
                          </m:ctrlPr>
                        </m:sSubPr>
                        <m:e>
                          <m:r>
                            <m:rPr>
                              <m:sty m:val="p"/>
                            </m:rPr>
                            <a:rPr lang="en-US" altLang="zh-CN" sz="1250">
                              <a:solidFill>
                                <a:schemeClr val="tx1"/>
                              </a:solidFill>
                              <a:latin typeface="Cambria Math" panose="02040503050406030204" pitchFamily="18" charset="0"/>
                            </a:rPr>
                            <m:t>G</m:t>
                          </m:r>
                        </m:e>
                        <m:sub>
                          <m:r>
                            <a:rPr lang="en-US" altLang="zh-CN" sz="1250" b="0" i="0" smtClean="0">
                              <a:solidFill>
                                <a:schemeClr val="tx1"/>
                              </a:solidFill>
                              <a:latin typeface="Cambria Math" panose="02040503050406030204" pitchFamily="18" charset="0"/>
                            </a:rPr>
                            <m:t>1</m:t>
                          </m:r>
                        </m:sub>
                      </m:sSub>
                      <m:d>
                        <m:dPr>
                          <m:ctrlPr>
                            <a:rPr lang="en-US" altLang="zh-CN" sz="1250" i="1">
                              <a:solidFill>
                                <a:schemeClr val="tx1"/>
                              </a:solidFill>
                              <a:latin typeface="Cambria Math" panose="02040503050406030204" pitchFamily="18" charset="0"/>
                            </a:rPr>
                          </m:ctrlPr>
                        </m:dPr>
                        <m:e>
                          <m:r>
                            <a:rPr lang="en-US" altLang="zh-CN" sz="1250" b="1" i="1">
                              <a:solidFill>
                                <a:schemeClr val="tx1"/>
                              </a:solidFill>
                              <a:latin typeface="Cambria Math" panose="02040503050406030204" pitchFamily="18" charset="0"/>
                            </a:rPr>
                            <m:t>𝒊</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𝒎</m:t>
                          </m:r>
                        </m:e>
                      </m:d>
                      <m:r>
                        <a:rPr lang="en-US" altLang="zh-CN" sz="1250" b="1" i="1" smtClean="0">
                          <a:solidFill>
                            <a:schemeClr val="tx1"/>
                          </a:solidFill>
                          <a:latin typeface="Cambria Math" panose="02040503050406030204" pitchFamily="18" charset="0"/>
                        </a:rPr>
                        <m:t>+</m:t>
                      </m:r>
                      <m:d>
                        <m:dPr>
                          <m:ctrlPr>
                            <a:rPr lang="en-US" altLang="zh-CN" sz="1250" i="1" smtClean="0">
                              <a:solidFill>
                                <a:schemeClr val="tx1"/>
                              </a:solidFill>
                              <a:latin typeface="Cambria Math" panose="02040503050406030204" pitchFamily="18" charset="0"/>
                            </a:rPr>
                          </m:ctrlPr>
                        </m:dPr>
                        <m:e>
                          <m:r>
                            <a:rPr lang="en-US" altLang="zh-CN" sz="1250" b="0" i="1" smtClean="0">
                              <a:solidFill>
                                <a:schemeClr val="tx1"/>
                              </a:solidFill>
                              <a:latin typeface="Cambria Math" panose="02040503050406030204" pitchFamily="18" charset="0"/>
                            </a:rPr>
                            <m:t>1−</m:t>
                          </m:r>
                          <m:r>
                            <a:rPr lang="en-US" altLang="zh-CN" sz="1250" b="0" i="1">
                              <a:solidFill>
                                <a:schemeClr val="tx1"/>
                              </a:solidFill>
                              <a:latin typeface="Cambria Math" panose="02040503050406030204" pitchFamily="18" charset="0"/>
                            </a:rPr>
                            <m:t>𝜆</m:t>
                          </m:r>
                          <m:d>
                            <m:dPr>
                              <m:ctrlPr>
                                <a:rPr lang="en-US" altLang="zh-CN" sz="1250" i="1">
                                  <a:solidFill>
                                    <a:schemeClr val="tx1"/>
                                  </a:solidFill>
                                  <a:latin typeface="Cambria Math" panose="02040503050406030204" pitchFamily="18" charset="0"/>
                                </a:rPr>
                              </m:ctrlPr>
                            </m:dPr>
                            <m:e>
                              <m:r>
                                <a:rPr lang="en-US" altLang="zh-CN" sz="1250" b="0" i="1">
                                  <a:solidFill>
                                    <a:schemeClr val="tx1"/>
                                  </a:solidFill>
                                  <a:latin typeface="Cambria Math" panose="02040503050406030204" pitchFamily="18" charset="0"/>
                                </a:rPr>
                                <m:t>𝜙</m:t>
                              </m:r>
                            </m:e>
                          </m:d>
                        </m:e>
                      </m:d>
                      <m:func>
                        <m:funcPr>
                          <m:ctrlPr>
                            <a:rPr lang="en-US" altLang="zh-CN" sz="1250" b="0" i="1" smtClean="0">
                              <a:solidFill>
                                <a:schemeClr val="tx1"/>
                              </a:solidFill>
                              <a:latin typeface="Cambria Math" panose="02040503050406030204" pitchFamily="18" charset="0"/>
                            </a:rPr>
                          </m:ctrlPr>
                        </m:funcPr>
                        <m:fName>
                          <m:r>
                            <m:rPr>
                              <m:sty m:val="p"/>
                            </m:rPr>
                            <a:rPr lang="en-US" altLang="zh-CN" sz="1250" b="0" i="0" smtClean="0">
                              <a:solidFill>
                                <a:schemeClr val="tx1"/>
                              </a:solidFill>
                              <a:latin typeface="Cambria Math" panose="02040503050406030204" pitchFamily="18" charset="0"/>
                            </a:rPr>
                            <m:t>min</m:t>
                          </m:r>
                        </m:fName>
                        <m:e>
                          <m:d>
                            <m:dPr>
                              <m:ctrlPr>
                                <a:rPr lang="en-US" altLang="zh-CN" sz="1250" b="0" i="1" smtClean="0">
                                  <a:solidFill>
                                    <a:schemeClr val="tx1"/>
                                  </a:solidFill>
                                  <a:latin typeface="Cambria Math" panose="02040503050406030204" pitchFamily="18" charset="0"/>
                                </a:rPr>
                              </m:ctrlPr>
                            </m:dPr>
                            <m:e>
                              <m:sSub>
                                <m:sSubPr>
                                  <m:ctrlPr>
                                    <a:rPr lang="en-US" altLang="zh-CN" sz="1250" i="1">
                                      <a:solidFill>
                                        <a:schemeClr val="tx1"/>
                                      </a:solidFill>
                                      <a:latin typeface="Cambria Math" panose="02040503050406030204" pitchFamily="18" charset="0"/>
                                    </a:rPr>
                                  </m:ctrlPr>
                                </m:sSubPr>
                                <m:e>
                                  <m:r>
                                    <m:rPr>
                                      <m:sty m:val="p"/>
                                    </m:rPr>
                                    <a:rPr lang="en-US" altLang="zh-CN" sz="1250">
                                      <a:solidFill>
                                        <a:schemeClr val="tx1"/>
                                      </a:solidFill>
                                      <a:latin typeface="Cambria Math" panose="02040503050406030204" pitchFamily="18" charset="0"/>
                                    </a:rPr>
                                    <m:t>G</m:t>
                                  </m:r>
                                </m:e>
                                <m:sub>
                                  <m:r>
                                    <a:rPr lang="en-US" altLang="zh-CN" sz="1250">
                                      <a:solidFill>
                                        <a:schemeClr val="tx1"/>
                                      </a:solidFill>
                                      <a:latin typeface="Cambria Math" panose="02040503050406030204" pitchFamily="18" charset="0"/>
                                    </a:rPr>
                                    <m:t>1</m:t>
                                  </m:r>
                                </m:sub>
                              </m:sSub>
                              <m:d>
                                <m:dPr>
                                  <m:ctrlPr>
                                    <a:rPr lang="en-US" altLang="zh-CN" sz="1250" i="1">
                                      <a:solidFill>
                                        <a:schemeClr val="tx1"/>
                                      </a:solidFill>
                                      <a:latin typeface="Cambria Math" panose="02040503050406030204" pitchFamily="18" charset="0"/>
                                    </a:rPr>
                                  </m:ctrlPr>
                                </m:dPr>
                                <m:e>
                                  <m:r>
                                    <a:rPr lang="en-US" altLang="zh-CN" sz="1250" b="1" i="1">
                                      <a:solidFill>
                                        <a:schemeClr val="tx1"/>
                                      </a:solidFill>
                                      <a:latin typeface="Cambria Math" panose="02040503050406030204" pitchFamily="18" charset="0"/>
                                    </a:rPr>
                                    <m:t>𝒐</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𝒎</m:t>
                                  </m:r>
                                </m:e>
                              </m:d>
                              <m:r>
                                <a:rPr lang="en-US" altLang="zh-CN" sz="1250" b="0" i="1" smtClean="0">
                                  <a:solidFill>
                                    <a:schemeClr val="tx1"/>
                                  </a:solidFill>
                                  <a:latin typeface="Cambria Math" panose="02040503050406030204" pitchFamily="18" charset="0"/>
                                </a:rPr>
                                <m:t>,</m:t>
                              </m:r>
                              <m:sSub>
                                <m:sSubPr>
                                  <m:ctrlPr>
                                    <a:rPr lang="en-US" altLang="zh-CN" sz="1250" i="1">
                                      <a:solidFill>
                                        <a:schemeClr val="tx1"/>
                                      </a:solidFill>
                                      <a:latin typeface="Cambria Math" panose="02040503050406030204" pitchFamily="18" charset="0"/>
                                    </a:rPr>
                                  </m:ctrlPr>
                                </m:sSubPr>
                                <m:e>
                                  <m:r>
                                    <m:rPr>
                                      <m:sty m:val="p"/>
                                    </m:rPr>
                                    <a:rPr lang="en-US" altLang="zh-CN" sz="1250">
                                      <a:solidFill>
                                        <a:schemeClr val="tx1"/>
                                      </a:solidFill>
                                      <a:latin typeface="Cambria Math" panose="02040503050406030204" pitchFamily="18" charset="0"/>
                                    </a:rPr>
                                    <m:t>G</m:t>
                                  </m:r>
                                </m:e>
                                <m:sub>
                                  <m:r>
                                    <a:rPr lang="en-US" altLang="zh-CN" sz="1250">
                                      <a:solidFill>
                                        <a:schemeClr val="tx1"/>
                                      </a:solidFill>
                                      <a:latin typeface="Cambria Math" panose="02040503050406030204" pitchFamily="18" charset="0"/>
                                    </a:rPr>
                                    <m:t>1</m:t>
                                  </m:r>
                                </m:sub>
                              </m:sSub>
                              <m:d>
                                <m:dPr>
                                  <m:ctrlPr>
                                    <a:rPr lang="en-US" altLang="zh-CN" sz="1250" i="1">
                                      <a:solidFill>
                                        <a:schemeClr val="tx1"/>
                                      </a:solidFill>
                                      <a:latin typeface="Cambria Math" panose="02040503050406030204" pitchFamily="18" charset="0"/>
                                    </a:rPr>
                                  </m:ctrlPr>
                                </m:dPr>
                                <m:e>
                                  <m:r>
                                    <a:rPr lang="en-US" altLang="zh-CN" sz="1250" b="1" i="1">
                                      <a:solidFill>
                                        <a:schemeClr val="tx1"/>
                                      </a:solidFill>
                                      <a:latin typeface="Cambria Math" panose="02040503050406030204" pitchFamily="18" charset="0"/>
                                    </a:rPr>
                                    <m:t>𝒊</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𝒎</m:t>
                                  </m:r>
                                </m:e>
                              </m:d>
                            </m:e>
                          </m:d>
                        </m:e>
                      </m:func>
                    </m:oMath>
                  </m:oMathPara>
                </a14:m>
                <a:endParaRPr lang="en-US" altLang="zh-CN" sz="1250" b="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250" i="1">
                          <a:solidFill>
                            <a:schemeClr val="tx1"/>
                          </a:solidFill>
                          <a:latin typeface="Cambria Math" panose="02040503050406030204" pitchFamily="18" charset="0"/>
                        </a:rPr>
                        <m:t>𝐺𝑖𝑛𝑛𝑒𝑘𝑒𝑛</m:t>
                      </m:r>
                      <m:r>
                        <a:rPr lang="en-US" altLang="zh-CN" sz="1250" i="1">
                          <a:solidFill>
                            <a:schemeClr val="tx1"/>
                          </a:solidFill>
                          <a:latin typeface="Cambria Math" panose="02040503050406030204" pitchFamily="18" charset="0"/>
                        </a:rPr>
                        <m:t> </m:t>
                      </m:r>
                      <m:r>
                        <a:rPr lang="en-US" altLang="zh-CN" sz="1250" i="1">
                          <a:solidFill>
                            <a:schemeClr val="tx1"/>
                          </a:solidFill>
                          <a:latin typeface="Cambria Math" panose="02040503050406030204" pitchFamily="18" charset="0"/>
                        </a:rPr>
                        <m:t>𝑒𝑡</m:t>
                      </m:r>
                      <m:r>
                        <a:rPr lang="en-US" altLang="zh-CN" sz="1250" i="1">
                          <a:solidFill>
                            <a:schemeClr val="tx1"/>
                          </a:solidFill>
                          <a:latin typeface="Cambria Math" panose="02040503050406030204" pitchFamily="18" charset="0"/>
                        </a:rPr>
                        <m:t> </m:t>
                      </m:r>
                      <m:r>
                        <a:rPr lang="en-US" altLang="zh-CN" sz="1250" i="1">
                          <a:solidFill>
                            <a:schemeClr val="tx1"/>
                          </a:solidFill>
                          <a:latin typeface="Cambria Math" panose="02040503050406030204" pitchFamily="18" charset="0"/>
                        </a:rPr>
                        <m:t>𝑎𝑙</m:t>
                      </m:r>
                      <m:r>
                        <a:rPr lang="en-US" altLang="zh-CN" sz="1250" i="1">
                          <a:solidFill>
                            <a:schemeClr val="tx1"/>
                          </a:solidFill>
                          <a:latin typeface="Cambria Math" panose="02040503050406030204" pitchFamily="18" charset="0"/>
                        </a:rPr>
                        <m:t>.  </m:t>
                      </m:r>
                      <m:d>
                        <m:dPr>
                          <m:ctrlPr>
                            <a:rPr lang="en-US" altLang="zh-CN" sz="1250" i="1">
                              <a:solidFill>
                                <a:schemeClr val="tx1"/>
                              </a:solidFill>
                              <a:latin typeface="Cambria Math" panose="02040503050406030204" pitchFamily="18" charset="0"/>
                            </a:rPr>
                          </m:ctrlPr>
                        </m:dPr>
                        <m:e>
                          <m:r>
                            <a:rPr lang="en-US" altLang="zh-CN" sz="1250" i="1">
                              <a:solidFill>
                                <a:schemeClr val="tx1"/>
                              </a:solidFill>
                              <a:latin typeface="Cambria Math" panose="02040503050406030204" pitchFamily="18" charset="0"/>
                            </a:rPr>
                            <m:t>1998</m:t>
                          </m:r>
                        </m:e>
                      </m:d>
                      <m:r>
                        <a:rPr lang="en-US" altLang="zh-CN" sz="1250" i="1">
                          <a:solidFill>
                            <a:schemeClr val="tx1"/>
                          </a:solidFill>
                          <a:latin typeface="Cambria Math" panose="02040503050406030204" pitchFamily="18" charset="0"/>
                        </a:rPr>
                        <m:t> </m:t>
                      </m:r>
                      <m:r>
                        <a:rPr lang="en-US" altLang="zh-CN" sz="1250" i="1">
                          <a:solidFill>
                            <a:schemeClr val="tx1"/>
                          </a:solidFill>
                          <a:latin typeface="Cambria Math" panose="02040503050406030204" pitchFamily="18" charset="0"/>
                          <a:hlinkClick r:id="rId2" action="ppaction://hlinksldjump"/>
                        </a:rPr>
                        <m:t>6</m:t>
                      </m:r>
                      <m:r>
                        <a:rPr lang="en-US" altLang="zh-CN" sz="1250" i="1">
                          <a:solidFill>
                            <a:schemeClr val="tx1"/>
                          </a:solidFill>
                          <a:latin typeface="Cambria Math" panose="02040503050406030204" pitchFamily="18" charset="0"/>
                        </a:rPr>
                        <m:t> </m:t>
                      </m:r>
                      <m:r>
                        <a:rPr lang="zh-CN" altLang="en-US" sz="1250" i="1">
                          <a:solidFill>
                            <a:schemeClr val="tx1"/>
                          </a:solidFill>
                          <a:latin typeface="Cambria Math" panose="02040503050406030204" pitchFamily="18" charset="0"/>
                        </a:rPr>
                        <m:t>提出了</m:t>
                      </m:r>
                      <m:r>
                        <a:rPr lang="en-US" altLang="zh-CN" sz="1250" i="1">
                          <a:solidFill>
                            <a:schemeClr val="tx1"/>
                          </a:solidFill>
                          <a:latin typeface="Cambria Math" panose="02040503050406030204" pitchFamily="18" charset="0"/>
                        </a:rPr>
                        <m:t>𝜆</m:t>
                      </m:r>
                      <m:d>
                        <m:dPr>
                          <m:ctrlPr>
                            <a:rPr lang="en-US" altLang="zh-CN" sz="1250" b="1" i="1" dirty="0">
                              <a:solidFill>
                                <a:schemeClr val="tx1"/>
                              </a:solidFill>
                              <a:latin typeface="Cambria Math" panose="02040503050406030204" pitchFamily="18" charset="0"/>
                            </a:rPr>
                          </m:ctrlPr>
                        </m:dPr>
                        <m:e>
                          <m:r>
                            <a:rPr lang="en-US" altLang="zh-CN" sz="1250" b="0" i="1" dirty="0" smtClean="0">
                              <a:solidFill>
                                <a:schemeClr val="tx1"/>
                              </a:solidFill>
                              <a:latin typeface="Cambria Math" panose="02040503050406030204" pitchFamily="18" charset="0"/>
                            </a:rPr>
                            <m:t>𝜙</m:t>
                          </m:r>
                        </m:e>
                      </m:d>
                      <m:r>
                        <a:rPr lang="zh-CN" altLang="en-US" sz="1250" b="1" i="1" dirty="0">
                          <a:solidFill>
                            <a:schemeClr val="tx1"/>
                          </a:solidFill>
                          <a:latin typeface="Cambria Math" panose="02040503050406030204" pitchFamily="18" charset="0"/>
                        </a:rPr>
                        <m:t>的</m:t>
                      </m:r>
                      <m:r>
                        <a:rPr lang="zh-CN" altLang="en-US" sz="1250" i="1">
                          <a:solidFill>
                            <a:schemeClr val="tx1"/>
                          </a:solidFill>
                          <a:latin typeface="Cambria Math" panose="02040503050406030204" pitchFamily="18" charset="0"/>
                        </a:rPr>
                        <m:t>经验公式</m:t>
                      </m:r>
                    </m:oMath>
                  </m:oMathPara>
                </a14:m>
                <a:endParaRPr lang="en-US" altLang="zh-CN" sz="1250" dirty="0">
                  <a:solidFill>
                    <a:schemeClr val="tx1"/>
                  </a:solidFill>
                </a:endParaRPr>
              </a:p>
              <a:p>
                <a:pPr>
                  <a:lnSpc>
                    <a:spcPct val="150000"/>
                  </a:lnSpc>
                </a:pPr>
                <a:r>
                  <a:rPr lang="en-US" altLang="zh-CN" sz="1250" dirty="0">
                    <a:solidFill>
                      <a:schemeClr val="tx1"/>
                    </a:solidFill>
                  </a:rPr>
                  <a:t>Height-Direction-Correlated Masking and Shadowing</a:t>
                </a:r>
                <a:r>
                  <a:rPr lang="zh-CN" altLang="en-US" sz="1250" dirty="0">
                    <a:solidFill>
                      <a:schemeClr val="tx1"/>
                    </a:solidFill>
                  </a:rPr>
                  <a:t>：</a:t>
                </a:r>
                <a:endParaRPr lang="en-US" altLang="zh-CN" sz="125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250" i="1" smtClean="0">
                              <a:solidFill>
                                <a:schemeClr val="tx1"/>
                              </a:solidFill>
                              <a:latin typeface="Cambria Math" panose="02040503050406030204" pitchFamily="18" charset="0"/>
                            </a:rPr>
                          </m:ctrlPr>
                        </m:sSubPr>
                        <m:e>
                          <m:r>
                            <m:rPr>
                              <m:sty m:val="p"/>
                            </m:rPr>
                            <a:rPr lang="en-US" altLang="zh-CN" sz="1250">
                              <a:solidFill>
                                <a:schemeClr val="tx1"/>
                              </a:solidFill>
                              <a:latin typeface="Cambria Math" panose="02040503050406030204" pitchFamily="18" charset="0"/>
                            </a:rPr>
                            <m:t>G</m:t>
                          </m:r>
                        </m:e>
                        <m:sub>
                          <m:r>
                            <a:rPr lang="en-US" altLang="zh-CN" sz="1250">
                              <a:solidFill>
                                <a:schemeClr val="tx1"/>
                              </a:solidFill>
                              <a:latin typeface="Cambria Math" panose="02040503050406030204" pitchFamily="18" charset="0"/>
                            </a:rPr>
                            <m:t>2</m:t>
                          </m:r>
                        </m:sub>
                      </m:sSub>
                      <m:d>
                        <m:dPr>
                          <m:ctrlPr>
                            <a:rPr lang="en-US" altLang="zh-CN" sz="1250" i="1">
                              <a:solidFill>
                                <a:schemeClr val="tx1"/>
                              </a:solidFill>
                              <a:latin typeface="Cambria Math" panose="02040503050406030204" pitchFamily="18" charset="0"/>
                            </a:rPr>
                          </m:ctrlPr>
                        </m:dPr>
                        <m:e>
                          <m:r>
                            <a:rPr lang="en-US" altLang="zh-CN" sz="1250" b="1" i="1">
                              <a:solidFill>
                                <a:schemeClr val="tx1"/>
                              </a:solidFill>
                              <a:latin typeface="Cambria Math" panose="02040503050406030204" pitchFamily="18" charset="0"/>
                            </a:rPr>
                            <m:t>𝒊</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𝒐</m:t>
                          </m:r>
                          <m:r>
                            <a:rPr lang="en-US" altLang="zh-CN" sz="1250" i="1">
                              <a:solidFill>
                                <a:schemeClr val="tx1"/>
                              </a:solidFill>
                              <a:latin typeface="Cambria Math" panose="02040503050406030204" pitchFamily="18" charset="0"/>
                            </a:rPr>
                            <m:t>,</m:t>
                          </m:r>
                          <m:r>
                            <a:rPr lang="en-US" altLang="zh-CN" sz="1250" b="1" i="1">
                              <a:solidFill>
                                <a:schemeClr val="tx1"/>
                              </a:solidFill>
                              <a:latin typeface="Cambria Math" panose="02040503050406030204" pitchFamily="18" charset="0"/>
                            </a:rPr>
                            <m:t>𝒎</m:t>
                          </m:r>
                        </m:e>
                      </m:d>
                      <m:r>
                        <a:rPr lang="en-US" altLang="zh-CN" sz="1250" b="1" i="1" smtClean="0">
                          <a:solidFill>
                            <a:schemeClr val="tx1"/>
                          </a:solidFill>
                          <a:latin typeface="Cambria Math" panose="02040503050406030204" pitchFamily="18" charset="0"/>
                        </a:rPr>
                        <m:t>=</m:t>
                      </m:r>
                      <m:f>
                        <m:fPr>
                          <m:ctrlPr>
                            <a:rPr lang="en-US" altLang="zh-CN" sz="1250" i="1" dirty="0">
                              <a:solidFill>
                                <a:schemeClr val="tx1"/>
                              </a:solidFill>
                              <a:latin typeface="Cambria Math" panose="02040503050406030204" pitchFamily="18" charset="0"/>
                            </a:rPr>
                          </m:ctrlPr>
                        </m:fPr>
                        <m:num>
                          <m:sSup>
                            <m:sSupPr>
                              <m:ctrlPr>
                                <a:rPr lang="en-US" altLang="zh-CN" sz="1250" i="1" dirty="0">
                                  <a:solidFill>
                                    <a:schemeClr val="tx1"/>
                                  </a:solidFill>
                                  <a:latin typeface="Cambria Math" panose="02040503050406030204" pitchFamily="18" charset="0"/>
                                </a:rPr>
                              </m:ctrlPr>
                            </m:sSupPr>
                            <m:e>
                              <m:r>
                                <a:rPr lang="en-US" altLang="zh-CN" sz="1250" i="1" dirty="0">
                                  <a:solidFill>
                                    <a:schemeClr val="tx1"/>
                                  </a:solidFill>
                                  <a:latin typeface="Cambria Math" panose="02040503050406030204" pitchFamily="18" charset="0"/>
                                </a:rPr>
                                <m:t>𝑋</m:t>
                              </m:r>
                            </m:e>
                            <m:sup>
                              <m:r>
                                <a:rPr lang="en-US" altLang="zh-CN" sz="1250" i="1" dirty="0">
                                  <a:solidFill>
                                    <a:schemeClr val="tx1"/>
                                  </a:solidFill>
                                  <a:latin typeface="Cambria Math" panose="02040503050406030204" pitchFamily="18" charset="0"/>
                                </a:rPr>
                                <m:t>+</m:t>
                              </m:r>
                            </m:sup>
                          </m:sSup>
                          <m:d>
                            <m:dPr>
                              <m:ctrlPr>
                                <a:rPr lang="en-US" altLang="zh-CN" sz="1250" i="1" dirty="0">
                                  <a:solidFill>
                                    <a:schemeClr val="tx1"/>
                                  </a:solidFill>
                                  <a:latin typeface="Cambria Math" panose="02040503050406030204" pitchFamily="18" charset="0"/>
                                </a:rPr>
                              </m:ctrlPr>
                            </m:dPr>
                            <m:e>
                              <m:sSup>
                                <m:sSupPr>
                                  <m:ctrlPr>
                                    <a:rPr lang="en-US" altLang="zh-CN" sz="1250" b="1" i="1" dirty="0">
                                      <a:solidFill>
                                        <a:schemeClr val="tx1"/>
                                      </a:solidFill>
                                      <a:latin typeface="Cambria Math" panose="02040503050406030204" pitchFamily="18" charset="0"/>
                                    </a:rPr>
                                  </m:ctrlPr>
                                </m:sSupPr>
                                <m:e>
                                  <m:r>
                                    <a:rPr lang="en-US" altLang="zh-CN" sz="1250" b="1" i="1" dirty="0">
                                      <a:solidFill>
                                        <a:schemeClr val="tx1"/>
                                      </a:solidFill>
                                      <a:latin typeface="Cambria Math" panose="02040503050406030204" pitchFamily="18" charset="0"/>
                                    </a:rPr>
                                    <m:t>𝒐</m:t>
                                  </m:r>
                                </m:e>
                                <m:sup>
                                  <m:r>
                                    <a:rPr lang="en-US" altLang="zh-CN" sz="1250" b="1" i="1" dirty="0">
                                      <a:solidFill>
                                        <a:schemeClr val="tx1"/>
                                      </a:solidFill>
                                      <a:latin typeface="Cambria Math" panose="02040503050406030204" pitchFamily="18" charset="0"/>
                                    </a:rPr>
                                    <m:t>+</m:t>
                                  </m:r>
                                </m:sup>
                              </m:sSup>
                              <m:r>
                                <a:rPr lang="en-US" altLang="zh-CN" sz="1250" i="1" dirty="0">
                                  <a:solidFill>
                                    <a:schemeClr val="tx1"/>
                                  </a:solidFill>
                                  <a:latin typeface="Cambria Math" panose="02040503050406030204" pitchFamily="18" charset="0"/>
                                </a:rPr>
                                <m:t>⋅</m:t>
                              </m:r>
                              <m:r>
                                <a:rPr lang="en-US" altLang="zh-CN" sz="1250" b="1" i="1" dirty="0">
                                  <a:solidFill>
                                    <a:schemeClr val="tx1"/>
                                  </a:solidFill>
                                  <a:latin typeface="Cambria Math" panose="02040503050406030204" pitchFamily="18" charset="0"/>
                                </a:rPr>
                                <m:t>𝒎</m:t>
                              </m:r>
                            </m:e>
                          </m:d>
                          <m:r>
                            <a:rPr lang="en-US" altLang="zh-CN" sz="1250" b="0" i="1" dirty="0" smtClean="0">
                              <a:solidFill>
                                <a:schemeClr val="tx1"/>
                              </a:solidFill>
                              <a:latin typeface="Cambria Math" panose="02040503050406030204" pitchFamily="18" charset="0"/>
                            </a:rPr>
                            <m:t> </m:t>
                          </m:r>
                          <m:sSup>
                            <m:sSupPr>
                              <m:ctrlPr>
                                <a:rPr lang="en-US" altLang="zh-CN" sz="1250" i="1" dirty="0">
                                  <a:solidFill>
                                    <a:schemeClr val="tx1"/>
                                  </a:solidFill>
                                  <a:latin typeface="Cambria Math" panose="02040503050406030204" pitchFamily="18" charset="0"/>
                                </a:rPr>
                              </m:ctrlPr>
                            </m:sSupPr>
                            <m:e>
                              <m:r>
                                <a:rPr lang="en-US" altLang="zh-CN" sz="1250" i="1" dirty="0">
                                  <a:solidFill>
                                    <a:schemeClr val="tx1"/>
                                  </a:solidFill>
                                  <a:latin typeface="Cambria Math" panose="02040503050406030204" pitchFamily="18" charset="0"/>
                                </a:rPr>
                                <m:t>𝑋</m:t>
                              </m:r>
                            </m:e>
                            <m:sup>
                              <m:r>
                                <a:rPr lang="en-US" altLang="zh-CN" sz="1250" i="1" dirty="0">
                                  <a:solidFill>
                                    <a:schemeClr val="tx1"/>
                                  </a:solidFill>
                                  <a:latin typeface="Cambria Math" panose="02040503050406030204" pitchFamily="18" charset="0"/>
                                </a:rPr>
                                <m:t>+</m:t>
                              </m:r>
                            </m:sup>
                          </m:sSup>
                          <m:d>
                            <m:dPr>
                              <m:ctrlPr>
                                <a:rPr lang="en-US" altLang="zh-CN" sz="1250" i="1" dirty="0">
                                  <a:solidFill>
                                    <a:schemeClr val="tx1"/>
                                  </a:solidFill>
                                  <a:latin typeface="Cambria Math" panose="02040503050406030204" pitchFamily="18" charset="0"/>
                                </a:rPr>
                              </m:ctrlPr>
                            </m:dPr>
                            <m:e>
                              <m:sSup>
                                <m:sSupPr>
                                  <m:ctrlPr>
                                    <a:rPr lang="en-US" altLang="zh-CN" sz="1250" b="1" i="1" dirty="0">
                                      <a:solidFill>
                                        <a:schemeClr val="tx1"/>
                                      </a:solidFill>
                                      <a:latin typeface="Cambria Math" panose="02040503050406030204" pitchFamily="18" charset="0"/>
                                    </a:rPr>
                                  </m:ctrlPr>
                                </m:sSupPr>
                                <m:e>
                                  <m:r>
                                    <a:rPr lang="en-US" altLang="zh-CN" sz="1250" b="1" i="1" dirty="0">
                                      <a:solidFill>
                                        <a:schemeClr val="tx1"/>
                                      </a:solidFill>
                                      <a:latin typeface="Cambria Math" panose="02040503050406030204" pitchFamily="18" charset="0"/>
                                    </a:rPr>
                                    <m:t>𝒊</m:t>
                                  </m:r>
                                </m:e>
                                <m:sup>
                                  <m:r>
                                    <a:rPr lang="en-US" altLang="zh-CN" sz="1250" b="1" i="1" dirty="0">
                                      <a:solidFill>
                                        <a:schemeClr val="tx1"/>
                                      </a:solidFill>
                                      <a:latin typeface="Cambria Math" panose="02040503050406030204" pitchFamily="18" charset="0"/>
                                    </a:rPr>
                                    <m:t>+</m:t>
                                  </m:r>
                                </m:sup>
                              </m:sSup>
                              <m:r>
                                <a:rPr lang="en-US" altLang="zh-CN" sz="1250" i="1" dirty="0">
                                  <a:solidFill>
                                    <a:schemeClr val="tx1"/>
                                  </a:solidFill>
                                  <a:latin typeface="Cambria Math" panose="02040503050406030204" pitchFamily="18" charset="0"/>
                                </a:rPr>
                                <m:t>⋅</m:t>
                              </m:r>
                              <m:r>
                                <a:rPr lang="en-US" altLang="zh-CN" sz="1250" b="1" i="1" dirty="0">
                                  <a:solidFill>
                                    <a:schemeClr val="tx1"/>
                                  </a:solidFill>
                                  <a:latin typeface="Cambria Math" panose="02040503050406030204" pitchFamily="18" charset="0"/>
                                </a:rPr>
                                <m:t>𝒎</m:t>
                              </m:r>
                            </m:e>
                          </m:d>
                        </m:num>
                        <m:den>
                          <m:r>
                            <a:rPr lang="en-US" altLang="zh-CN" sz="1250" dirty="0">
                              <a:solidFill>
                                <a:schemeClr val="tx1"/>
                              </a:solidFill>
                              <a:latin typeface="Cambria Math" panose="02040503050406030204" pitchFamily="18" charset="0"/>
                            </a:rPr>
                            <m:t>1+</m:t>
                          </m:r>
                          <m:r>
                            <m:rPr>
                              <m:sty m:val="p"/>
                            </m:rPr>
                            <a:rPr lang="en-US" altLang="zh-CN" sz="1250" b="0" i="0" dirty="0" smtClean="0">
                              <a:solidFill>
                                <a:schemeClr val="tx1"/>
                              </a:solidFill>
                              <a:latin typeface="Cambria Math" panose="02040503050406030204" pitchFamily="18" charset="0"/>
                            </a:rPr>
                            <m:t>max</m:t>
                          </m:r>
                          <m:d>
                            <m:dPr>
                              <m:ctrlPr>
                                <a:rPr lang="en-US" altLang="zh-CN" sz="1250" b="0" i="1" dirty="0" smtClean="0">
                                  <a:solidFill>
                                    <a:schemeClr val="tx1"/>
                                  </a:solidFill>
                                  <a:latin typeface="Cambria Math" panose="02040503050406030204" pitchFamily="18" charset="0"/>
                                </a:rPr>
                              </m:ctrlPr>
                            </m:dPr>
                            <m:e>
                              <m:r>
                                <m:rPr>
                                  <m:sty m:val="p"/>
                                </m:rPr>
                                <a:rPr lang="en-US" altLang="zh-CN" sz="1250" dirty="0">
                                  <a:solidFill>
                                    <a:schemeClr val="tx1"/>
                                  </a:solidFill>
                                  <a:latin typeface="Cambria Math" panose="02040503050406030204" pitchFamily="18" charset="0"/>
                                </a:rPr>
                                <m:t>Λ</m:t>
                              </m:r>
                              <m:d>
                                <m:dPr>
                                  <m:ctrlPr>
                                    <a:rPr lang="en-US" altLang="zh-CN" sz="1250" b="1" i="1" dirty="0">
                                      <a:solidFill>
                                        <a:schemeClr val="tx1"/>
                                      </a:solidFill>
                                      <a:latin typeface="Cambria Math" panose="02040503050406030204" pitchFamily="18" charset="0"/>
                                    </a:rPr>
                                  </m:ctrlPr>
                                </m:dPr>
                                <m:e>
                                  <m:r>
                                    <a:rPr lang="en-US" altLang="zh-CN" sz="1250" b="1" dirty="0">
                                      <a:solidFill>
                                        <a:schemeClr val="tx1"/>
                                      </a:solidFill>
                                      <a:latin typeface="Cambria Math" panose="02040503050406030204" pitchFamily="18" charset="0"/>
                                    </a:rPr>
                                    <m:t>𝐨</m:t>
                                  </m:r>
                                </m:e>
                              </m:d>
                              <m:r>
                                <a:rPr lang="en-US" altLang="zh-CN" sz="1250" b="0" i="0" dirty="0" smtClean="0">
                                  <a:solidFill>
                                    <a:schemeClr val="tx1"/>
                                  </a:solidFill>
                                  <a:latin typeface="Cambria Math" panose="02040503050406030204" pitchFamily="18" charset="0"/>
                                </a:rPr>
                                <m:t>,</m:t>
                              </m:r>
                              <m:r>
                                <m:rPr>
                                  <m:sty m:val="p"/>
                                </m:rPr>
                                <a:rPr lang="en-US" altLang="zh-CN" sz="1250" dirty="0">
                                  <a:solidFill>
                                    <a:schemeClr val="tx1"/>
                                  </a:solidFill>
                                  <a:latin typeface="Cambria Math" panose="02040503050406030204" pitchFamily="18" charset="0"/>
                                </a:rPr>
                                <m:t>Λ</m:t>
                              </m:r>
                              <m:d>
                                <m:dPr>
                                  <m:ctrlPr>
                                    <a:rPr lang="en-US" altLang="zh-CN" sz="1250" b="1" i="1" dirty="0">
                                      <a:solidFill>
                                        <a:schemeClr val="tx1"/>
                                      </a:solidFill>
                                      <a:latin typeface="Cambria Math" panose="02040503050406030204" pitchFamily="18" charset="0"/>
                                    </a:rPr>
                                  </m:ctrlPr>
                                </m:dPr>
                                <m:e>
                                  <m:r>
                                    <a:rPr lang="en-US" altLang="zh-CN" sz="1250" b="1" i="1" dirty="0">
                                      <a:solidFill>
                                        <a:schemeClr val="tx1"/>
                                      </a:solidFill>
                                      <a:latin typeface="Cambria Math" panose="02040503050406030204" pitchFamily="18" charset="0"/>
                                    </a:rPr>
                                    <m:t>𝒊</m:t>
                                  </m:r>
                                </m:e>
                              </m:d>
                            </m:e>
                          </m:d>
                          <m:r>
                            <a:rPr lang="en-US" altLang="zh-CN" sz="1250" b="1"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𝜆</m:t>
                          </m:r>
                          <m:d>
                            <m:dPr>
                              <m:ctrlPr>
                                <a:rPr lang="en-US" altLang="zh-CN" sz="1250" b="1" i="1" dirty="0" smtClean="0">
                                  <a:solidFill>
                                    <a:schemeClr val="tx1"/>
                                  </a:solidFill>
                                  <a:latin typeface="Cambria Math" panose="02040503050406030204" pitchFamily="18" charset="0"/>
                                </a:rPr>
                              </m:ctrlPr>
                            </m:dPr>
                            <m:e>
                              <m:r>
                                <a:rPr lang="en-US" altLang="zh-CN" sz="1250" b="1" i="1" dirty="0" smtClean="0">
                                  <a:solidFill>
                                    <a:schemeClr val="tx1"/>
                                  </a:solidFill>
                                  <a:latin typeface="Cambria Math" panose="02040503050406030204" pitchFamily="18" charset="0"/>
                                </a:rPr>
                                <m:t>𝒊</m:t>
                              </m:r>
                              <m:r>
                                <a:rPr lang="en-US" altLang="zh-CN" sz="1250" b="1" i="1" dirty="0" smtClean="0">
                                  <a:solidFill>
                                    <a:schemeClr val="tx1"/>
                                  </a:solidFill>
                                  <a:latin typeface="Cambria Math" panose="02040503050406030204" pitchFamily="18" charset="0"/>
                                </a:rPr>
                                <m:t>,</m:t>
                              </m:r>
                              <m:r>
                                <a:rPr lang="en-US" altLang="zh-CN" sz="1250" b="1" i="1" dirty="0" smtClean="0">
                                  <a:solidFill>
                                    <a:schemeClr val="tx1"/>
                                  </a:solidFill>
                                  <a:latin typeface="Cambria Math" panose="02040503050406030204" pitchFamily="18" charset="0"/>
                                </a:rPr>
                                <m:t>𝒐</m:t>
                              </m:r>
                            </m:e>
                          </m:d>
                          <m:r>
                            <a:rPr lang="en-US" altLang="zh-CN" sz="1250" b="1" i="1" dirty="0" smtClean="0">
                              <a:solidFill>
                                <a:schemeClr val="tx1"/>
                              </a:solidFill>
                              <a:latin typeface="Cambria Math" panose="02040503050406030204" pitchFamily="18" charset="0"/>
                            </a:rPr>
                            <m:t> </m:t>
                          </m:r>
                          <m:r>
                            <a:rPr lang="en-US" altLang="zh-CN" sz="1250" b="0" i="1" dirty="0" smtClean="0">
                              <a:solidFill>
                                <a:schemeClr val="tx1"/>
                              </a:solidFill>
                              <a:latin typeface="Cambria Math" panose="02040503050406030204" pitchFamily="18" charset="0"/>
                            </a:rPr>
                            <m:t>𝑚𝑖𝑛</m:t>
                          </m:r>
                          <m:d>
                            <m:dPr>
                              <m:ctrlPr>
                                <a:rPr lang="en-US" altLang="zh-CN" sz="1250" b="1" i="1" dirty="0" smtClean="0">
                                  <a:solidFill>
                                    <a:schemeClr val="tx1"/>
                                  </a:solidFill>
                                  <a:latin typeface="Cambria Math" panose="02040503050406030204" pitchFamily="18" charset="0"/>
                                </a:rPr>
                              </m:ctrlPr>
                            </m:dPr>
                            <m:e>
                              <m:r>
                                <m:rPr>
                                  <m:sty m:val="p"/>
                                </m:rPr>
                                <a:rPr lang="en-US" altLang="zh-CN" sz="1250" dirty="0">
                                  <a:solidFill>
                                    <a:schemeClr val="tx1"/>
                                  </a:solidFill>
                                  <a:latin typeface="Cambria Math" panose="02040503050406030204" pitchFamily="18" charset="0"/>
                                </a:rPr>
                                <m:t>Λ</m:t>
                              </m:r>
                              <m:d>
                                <m:dPr>
                                  <m:ctrlPr>
                                    <a:rPr lang="en-US" altLang="zh-CN" sz="1250" b="1" i="1" dirty="0">
                                      <a:solidFill>
                                        <a:schemeClr val="tx1"/>
                                      </a:solidFill>
                                      <a:latin typeface="Cambria Math" panose="02040503050406030204" pitchFamily="18" charset="0"/>
                                    </a:rPr>
                                  </m:ctrlPr>
                                </m:dPr>
                                <m:e>
                                  <m:r>
                                    <a:rPr lang="en-US" altLang="zh-CN" sz="1250" b="1" dirty="0">
                                      <a:solidFill>
                                        <a:schemeClr val="tx1"/>
                                      </a:solidFill>
                                      <a:latin typeface="Cambria Math" panose="02040503050406030204" pitchFamily="18" charset="0"/>
                                    </a:rPr>
                                    <m:t>𝐨</m:t>
                                  </m:r>
                                </m:e>
                              </m:d>
                              <m:r>
                                <a:rPr lang="en-US" altLang="zh-CN" sz="1250" dirty="0">
                                  <a:solidFill>
                                    <a:schemeClr val="tx1"/>
                                  </a:solidFill>
                                  <a:latin typeface="Cambria Math" panose="02040503050406030204" pitchFamily="18" charset="0"/>
                                </a:rPr>
                                <m:t>,</m:t>
                              </m:r>
                              <m:r>
                                <m:rPr>
                                  <m:sty m:val="p"/>
                                </m:rPr>
                                <a:rPr lang="en-US" altLang="zh-CN" sz="1250" dirty="0">
                                  <a:solidFill>
                                    <a:schemeClr val="tx1"/>
                                  </a:solidFill>
                                  <a:latin typeface="Cambria Math" panose="02040503050406030204" pitchFamily="18" charset="0"/>
                                </a:rPr>
                                <m:t>Λ</m:t>
                              </m:r>
                              <m:d>
                                <m:dPr>
                                  <m:ctrlPr>
                                    <a:rPr lang="en-US" altLang="zh-CN" sz="1250" b="1" i="1" dirty="0">
                                      <a:solidFill>
                                        <a:schemeClr val="tx1"/>
                                      </a:solidFill>
                                      <a:latin typeface="Cambria Math" panose="02040503050406030204" pitchFamily="18" charset="0"/>
                                    </a:rPr>
                                  </m:ctrlPr>
                                </m:dPr>
                                <m:e>
                                  <m:r>
                                    <a:rPr lang="en-US" altLang="zh-CN" sz="1250" b="1" i="1" dirty="0">
                                      <a:solidFill>
                                        <a:schemeClr val="tx1"/>
                                      </a:solidFill>
                                      <a:latin typeface="Cambria Math" panose="02040503050406030204" pitchFamily="18" charset="0"/>
                                    </a:rPr>
                                    <m:t>𝒊</m:t>
                                  </m:r>
                                </m:e>
                              </m:d>
                            </m:e>
                          </m:d>
                        </m:den>
                      </m:f>
                    </m:oMath>
                  </m:oMathPara>
                </a14:m>
                <a:endParaRPr lang="en-US" altLang="zh-CN" sz="125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250" i="1">
                          <a:solidFill>
                            <a:schemeClr val="tx1"/>
                          </a:solidFill>
                          <a:latin typeface="Cambria Math" panose="02040503050406030204" pitchFamily="18" charset="0"/>
                        </a:rPr>
                        <m:t>𝐺𝑖𝑛𝑛𝑒𝑘𝑒𝑛</m:t>
                      </m:r>
                      <m:r>
                        <a:rPr lang="en-US" altLang="zh-CN" sz="1250" i="1">
                          <a:solidFill>
                            <a:schemeClr val="tx1"/>
                          </a:solidFill>
                          <a:latin typeface="Cambria Math" panose="02040503050406030204" pitchFamily="18" charset="0"/>
                        </a:rPr>
                        <m:t> </m:t>
                      </m:r>
                      <m:r>
                        <a:rPr lang="en-US" altLang="zh-CN" sz="1250" i="1">
                          <a:solidFill>
                            <a:schemeClr val="tx1"/>
                          </a:solidFill>
                          <a:latin typeface="Cambria Math" panose="02040503050406030204" pitchFamily="18" charset="0"/>
                        </a:rPr>
                        <m:t>𝑒𝑡</m:t>
                      </m:r>
                      <m:r>
                        <a:rPr lang="en-US" altLang="zh-CN" sz="1250" i="1">
                          <a:solidFill>
                            <a:schemeClr val="tx1"/>
                          </a:solidFill>
                          <a:latin typeface="Cambria Math" panose="02040503050406030204" pitchFamily="18" charset="0"/>
                        </a:rPr>
                        <m:t> </m:t>
                      </m:r>
                      <m:r>
                        <a:rPr lang="en-US" altLang="zh-CN" sz="1250" i="1">
                          <a:solidFill>
                            <a:schemeClr val="tx1"/>
                          </a:solidFill>
                          <a:latin typeface="Cambria Math" panose="02040503050406030204" pitchFamily="18" charset="0"/>
                        </a:rPr>
                        <m:t>𝑎𝑙</m:t>
                      </m:r>
                      <m:r>
                        <a:rPr lang="en-US" altLang="zh-CN" sz="1250" i="1">
                          <a:solidFill>
                            <a:schemeClr val="tx1"/>
                          </a:solidFill>
                          <a:latin typeface="Cambria Math" panose="02040503050406030204" pitchFamily="18" charset="0"/>
                        </a:rPr>
                        <m:t>.  </m:t>
                      </m:r>
                      <m:d>
                        <m:dPr>
                          <m:ctrlPr>
                            <a:rPr lang="en-US" altLang="zh-CN" sz="1250" b="0" i="1" smtClean="0">
                              <a:solidFill>
                                <a:schemeClr val="tx1"/>
                              </a:solidFill>
                              <a:latin typeface="Cambria Math" panose="02040503050406030204" pitchFamily="18" charset="0"/>
                            </a:rPr>
                          </m:ctrlPr>
                        </m:dPr>
                        <m:e>
                          <m:r>
                            <a:rPr lang="en-US" altLang="zh-CN" sz="1250" b="0" i="1" smtClean="0">
                              <a:solidFill>
                                <a:schemeClr val="tx1"/>
                              </a:solidFill>
                              <a:latin typeface="Cambria Math" panose="02040503050406030204" pitchFamily="18" charset="0"/>
                            </a:rPr>
                            <m:t>1998</m:t>
                          </m:r>
                        </m:e>
                      </m:d>
                      <m:r>
                        <a:rPr lang="en-US" altLang="zh-CN" sz="1250" b="0" i="1" smtClean="0">
                          <a:solidFill>
                            <a:schemeClr val="tx1"/>
                          </a:solidFill>
                          <a:latin typeface="Cambria Math" panose="02040503050406030204" pitchFamily="18" charset="0"/>
                        </a:rPr>
                        <m:t> </m:t>
                      </m:r>
                      <m:r>
                        <a:rPr lang="en-US" altLang="zh-CN" sz="1250" b="0" i="1" smtClean="0">
                          <a:solidFill>
                            <a:schemeClr val="tx1"/>
                          </a:solidFill>
                          <a:latin typeface="Cambria Math" panose="02040503050406030204" pitchFamily="18" charset="0"/>
                          <a:hlinkClick r:id="rId2" action="ppaction://hlinksldjump"/>
                        </a:rPr>
                        <m:t>6</m:t>
                      </m:r>
                      <m:r>
                        <a:rPr lang="en-US" altLang="zh-CN" sz="1250" b="0" i="1" smtClean="0">
                          <a:solidFill>
                            <a:schemeClr val="tx1"/>
                          </a:solidFill>
                          <a:latin typeface="Cambria Math" panose="02040503050406030204" pitchFamily="18" charset="0"/>
                        </a:rPr>
                        <m:t> </m:t>
                      </m:r>
                      <m:r>
                        <a:rPr lang="zh-CN" altLang="en-US" sz="1250" i="1" smtClean="0">
                          <a:solidFill>
                            <a:schemeClr val="tx1"/>
                          </a:solidFill>
                          <a:latin typeface="Cambria Math" panose="02040503050406030204" pitchFamily="18" charset="0"/>
                        </a:rPr>
                        <m:t>提出</m:t>
                      </m:r>
                      <m:r>
                        <a:rPr lang="zh-CN" altLang="en-US" sz="1250" i="1">
                          <a:solidFill>
                            <a:schemeClr val="tx1"/>
                          </a:solidFill>
                          <a:latin typeface="Cambria Math" panose="02040503050406030204" pitchFamily="18" charset="0"/>
                        </a:rPr>
                        <m:t>了</m:t>
                      </m:r>
                      <m:r>
                        <a:rPr lang="en-US" altLang="zh-CN" sz="1250" i="1">
                          <a:solidFill>
                            <a:schemeClr val="tx1"/>
                          </a:solidFill>
                          <a:latin typeface="Cambria Math" panose="02040503050406030204" pitchFamily="18" charset="0"/>
                        </a:rPr>
                        <m:t>𝜆</m:t>
                      </m:r>
                      <m:d>
                        <m:dPr>
                          <m:ctrlPr>
                            <a:rPr lang="en-US" altLang="zh-CN" sz="1250" b="1" i="1" dirty="0">
                              <a:solidFill>
                                <a:schemeClr val="tx1"/>
                              </a:solidFill>
                              <a:latin typeface="Cambria Math" panose="02040503050406030204" pitchFamily="18" charset="0"/>
                            </a:rPr>
                          </m:ctrlPr>
                        </m:dPr>
                        <m:e>
                          <m:r>
                            <a:rPr lang="en-US" altLang="zh-CN" sz="1250" b="1" i="1" dirty="0">
                              <a:solidFill>
                                <a:schemeClr val="tx1"/>
                              </a:solidFill>
                              <a:latin typeface="Cambria Math" panose="02040503050406030204" pitchFamily="18" charset="0"/>
                            </a:rPr>
                            <m:t>𝒊</m:t>
                          </m:r>
                          <m:r>
                            <a:rPr lang="en-US" altLang="zh-CN" sz="1250" b="1" i="1" dirty="0">
                              <a:solidFill>
                                <a:schemeClr val="tx1"/>
                              </a:solidFill>
                              <a:latin typeface="Cambria Math" panose="02040503050406030204" pitchFamily="18" charset="0"/>
                            </a:rPr>
                            <m:t>,</m:t>
                          </m:r>
                          <m:r>
                            <a:rPr lang="en-US" altLang="zh-CN" sz="1250" b="1" i="1" dirty="0">
                              <a:solidFill>
                                <a:schemeClr val="tx1"/>
                              </a:solidFill>
                              <a:latin typeface="Cambria Math" panose="02040503050406030204" pitchFamily="18" charset="0"/>
                            </a:rPr>
                            <m:t>𝒐</m:t>
                          </m:r>
                        </m:e>
                      </m:d>
                      <m:r>
                        <a:rPr lang="zh-CN" altLang="en-US" sz="1250" b="1" i="1" dirty="0" smtClean="0">
                          <a:solidFill>
                            <a:schemeClr val="tx1"/>
                          </a:solidFill>
                          <a:latin typeface="Cambria Math" panose="02040503050406030204" pitchFamily="18" charset="0"/>
                        </a:rPr>
                        <m:t>的</m:t>
                      </m:r>
                      <m:r>
                        <a:rPr lang="zh-CN" altLang="en-US" sz="1250" i="1">
                          <a:solidFill>
                            <a:schemeClr val="tx1"/>
                          </a:solidFill>
                          <a:latin typeface="Cambria Math" panose="02040503050406030204" pitchFamily="18" charset="0"/>
                        </a:rPr>
                        <m:t>经验公式</m:t>
                      </m:r>
                    </m:oMath>
                  </m:oMathPara>
                </a14:m>
                <a:endParaRPr lang="en-US" altLang="zh-CN" sz="125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zh-CN" sz="1250" i="1">
                          <a:solidFill>
                            <a:schemeClr val="tx1"/>
                          </a:solidFill>
                          <a:latin typeface="Cambria Math" panose="02040503050406030204" pitchFamily="18" charset="0"/>
                        </a:rPr>
                        <m:t>𝐻𝑒𝑖𝑡𝑧</m:t>
                      </m:r>
                      <m:r>
                        <a:rPr lang="en-US" altLang="zh-CN" sz="1250" i="1">
                          <a:solidFill>
                            <a:schemeClr val="tx1"/>
                          </a:solidFill>
                          <a:latin typeface="Cambria Math" panose="02040503050406030204" pitchFamily="18" charset="0"/>
                        </a:rPr>
                        <m:t> </m:t>
                      </m:r>
                      <m:r>
                        <a:rPr lang="en-US" altLang="zh-CN" sz="1250" i="1">
                          <a:solidFill>
                            <a:schemeClr val="tx1"/>
                          </a:solidFill>
                          <a:latin typeface="Cambria Math" panose="02040503050406030204" pitchFamily="18" charset="0"/>
                        </a:rPr>
                        <m:t>𝑒𝑡</m:t>
                      </m:r>
                      <m:r>
                        <a:rPr lang="en-US" altLang="zh-CN" sz="1250" i="1">
                          <a:solidFill>
                            <a:schemeClr val="tx1"/>
                          </a:solidFill>
                          <a:latin typeface="Cambria Math" panose="02040503050406030204" pitchFamily="18" charset="0"/>
                        </a:rPr>
                        <m:t> </m:t>
                      </m:r>
                      <m:r>
                        <a:rPr lang="en-US" altLang="zh-CN" sz="1250" i="1">
                          <a:solidFill>
                            <a:schemeClr val="tx1"/>
                          </a:solidFill>
                          <a:latin typeface="Cambria Math" panose="02040503050406030204" pitchFamily="18" charset="0"/>
                        </a:rPr>
                        <m:t>𝑎𝑙</m:t>
                      </m:r>
                      <m:r>
                        <a:rPr lang="en-US" altLang="zh-CN" sz="1250" i="1">
                          <a:solidFill>
                            <a:schemeClr val="tx1"/>
                          </a:solidFill>
                          <a:latin typeface="Cambria Math" panose="02040503050406030204" pitchFamily="18" charset="0"/>
                        </a:rPr>
                        <m:t>. </m:t>
                      </m:r>
                      <m:d>
                        <m:dPr>
                          <m:ctrlPr>
                            <a:rPr lang="en-US" altLang="zh-CN" sz="1250" b="0" i="1" smtClean="0">
                              <a:solidFill>
                                <a:schemeClr val="tx1"/>
                              </a:solidFill>
                              <a:latin typeface="Cambria Math" panose="02040503050406030204" pitchFamily="18" charset="0"/>
                            </a:rPr>
                          </m:ctrlPr>
                        </m:dPr>
                        <m:e>
                          <m:r>
                            <a:rPr lang="en-US" altLang="zh-CN" sz="1250" b="0" i="1" smtClean="0">
                              <a:solidFill>
                                <a:schemeClr val="tx1"/>
                              </a:solidFill>
                              <a:latin typeface="Cambria Math" panose="02040503050406030204" pitchFamily="18" charset="0"/>
                            </a:rPr>
                            <m:t>2013</m:t>
                          </m:r>
                        </m:e>
                      </m:d>
                      <m:r>
                        <a:rPr lang="en-US" altLang="zh-CN" sz="1250" b="0" i="1" smtClean="0">
                          <a:solidFill>
                            <a:schemeClr val="tx1"/>
                          </a:solidFill>
                          <a:latin typeface="Cambria Math" panose="02040503050406030204" pitchFamily="18" charset="0"/>
                        </a:rPr>
                        <m:t> </m:t>
                      </m:r>
                      <m:r>
                        <a:rPr lang="en-US" altLang="zh-CN" sz="1250" b="0" i="1" smtClean="0">
                          <a:solidFill>
                            <a:schemeClr val="tx1"/>
                          </a:solidFill>
                          <a:latin typeface="Cambria Math" panose="02040503050406030204" pitchFamily="18" charset="0"/>
                          <a:hlinkClick r:id="rId2" action="ppaction://hlinksldjump"/>
                        </a:rPr>
                        <m:t>7</m:t>
                      </m:r>
                      <m:r>
                        <a:rPr lang="en-US" altLang="zh-CN" sz="1250" b="0" i="1" smtClean="0">
                          <a:solidFill>
                            <a:schemeClr val="tx1"/>
                          </a:solidFill>
                          <a:latin typeface="Cambria Math" panose="02040503050406030204" pitchFamily="18" charset="0"/>
                        </a:rPr>
                        <m:t> </m:t>
                      </m:r>
                      <m:r>
                        <a:rPr lang="zh-CN" altLang="en-US" sz="1250" i="1">
                          <a:solidFill>
                            <a:schemeClr val="tx1"/>
                          </a:solidFill>
                          <a:latin typeface="Cambria Math" panose="02040503050406030204" pitchFamily="18" charset="0"/>
                        </a:rPr>
                        <m:t>提出了</m:t>
                      </m:r>
                      <m:r>
                        <a:rPr lang="zh-CN" altLang="en-US" sz="1250" i="1" smtClean="0">
                          <a:solidFill>
                            <a:schemeClr val="tx1"/>
                          </a:solidFill>
                          <a:latin typeface="Cambria Math" panose="02040503050406030204" pitchFamily="18" charset="0"/>
                        </a:rPr>
                        <m:t>由</m:t>
                      </m:r>
                      <m:r>
                        <a:rPr lang="en-US" altLang="zh-CN" sz="1250" b="0" i="1" smtClean="0">
                          <a:solidFill>
                            <a:schemeClr val="tx1"/>
                          </a:solidFill>
                          <a:latin typeface="Cambria Math" panose="02040503050406030204" pitchFamily="18" charset="0"/>
                        </a:rPr>
                        <m:t> </m:t>
                      </m:r>
                      <m:r>
                        <a:rPr lang="en-US" altLang="zh-CN" sz="1250" i="1">
                          <a:solidFill>
                            <a:schemeClr val="tx1"/>
                          </a:solidFill>
                          <a:latin typeface="Cambria Math" panose="02040503050406030204" pitchFamily="18" charset="0"/>
                        </a:rPr>
                        <m:t>𝐵𝑒𝑐𝑘𝑚𝑎𝑛𝑛</m:t>
                      </m:r>
                      <m:r>
                        <a:rPr lang="en-US" altLang="zh-CN" sz="1250" b="0" i="1" smtClean="0">
                          <a:solidFill>
                            <a:schemeClr val="tx1"/>
                          </a:solidFill>
                          <a:latin typeface="Cambria Math" panose="02040503050406030204" pitchFamily="18" charset="0"/>
                        </a:rPr>
                        <m:t> </m:t>
                      </m:r>
                      <m:r>
                        <a:rPr lang="en-US" altLang="zh-CN" sz="1250" b="0" i="1" smtClean="0">
                          <a:solidFill>
                            <a:schemeClr val="tx1"/>
                          </a:solidFill>
                          <a:latin typeface="Cambria Math" panose="02040503050406030204" pitchFamily="18" charset="0"/>
                        </a:rPr>
                        <m:t>𝐷𝑖𝑠𝑡𝑟𝑖𝑏𝑢𝑡𝑖𝑜𝑛</m:t>
                      </m:r>
                      <m:r>
                        <a:rPr lang="en-US" altLang="zh-CN" sz="1250" b="0" i="1" smtClean="0">
                          <a:solidFill>
                            <a:schemeClr val="tx1"/>
                          </a:solidFill>
                          <a:latin typeface="Cambria Math" panose="02040503050406030204" pitchFamily="18" charset="0"/>
                        </a:rPr>
                        <m:t> </m:t>
                      </m:r>
                      <m:r>
                        <a:rPr lang="zh-CN" altLang="en-US" sz="1250" i="1">
                          <a:solidFill>
                            <a:schemeClr val="tx1"/>
                          </a:solidFill>
                          <a:latin typeface="Cambria Math" panose="02040503050406030204" pitchFamily="18" charset="0"/>
                        </a:rPr>
                        <m:t>推导</m:t>
                      </m:r>
                      <m:r>
                        <a:rPr lang="zh-CN" altLang="en-US" sz="1250" i="1" smtClean="0">
                          <a:solidFill>
                            <a:schemeClr val="tx1"/>
                          </a:solidFill>
                          <a:latin typeface="Cambria Math" panose="02040503050406030204" pitchFamily="18" charset="0"/>
                        </a:rPr>
                        <m:t>的</m:t>
                      </m:r>
                      <m:r>
                        <a:rPr lang="en-US" altLang="zh-CN" sz="1250" i="1">
                          <a:solidFill>
                            <a:schemeClr val="tx1"/>
                          </a:solidFill>
                          <a:latin typeface="Cambria Math" panose="02040503050406030204" pitchFamily="18" charset="0"/>
                        </a:rPr>
                        <m:t>𝜆</m:t>
                      </m:r>
                      <m:d>
                        <m:dPr>
                          <m:ctrlPr>
                            <a:rPr lang="en-US" altLang="zh-CN" sz="1250" b="1" i="1" dirty="0">
                              <a:solidFill>
                                <a:schemeClr val="tx1"/>
                              </a:solidFill>
                              <a:latin typeface="Cambria Math" panose="02040503050406030204" pitchFamily="18" charset="0"/>
                            </a:rPr>
                          </m:ctrlPr>
                        </m:dPr>
                        <m:e>
                          <m:r>
                            <a:rPr lang="en-US" altLang="zh-CN" sz="1250" b="1" i="1" dirty="0">
                              <a:solidFill>
                                <a:schemeClr val="tx1"/>
                              </a:solidFill>
                              <a:latin typeface="Cambria Math" panose="02040503050406030204" pitchFamily="18" charset="0"/>
                            </a:rPr>
                            <m:t>𝒊</m:t>
                          </m:r>
                          <m:r>
                            <a:rPr lang="en-US" altLang="zh-CN" sz="1250" b="1" i="1" dirty="0">
                              <a:solidFill>
                                <a:schemeClr val="tx1"/>
                              </a:solidFill>
                              <a:latin typeface="Cambria Math" panose="02040503050406030204" pitchFamily="18" charset="0"/>
                            </a:rPr>
                            <m:t>,</m:t>
                          </m:r>
                          <m:r>
                            <a:rPr lang="en-US" altLang="zh-CN" sz="1250" b="1" i="1" dirty="0">
                              <a:solidFill>
                                <a:schemeClr val="tx1"/>
                              </a:solidFill>
                              <a:latin typeface="Cambria Math" panose="02040503050406030204" pitchFamily="18" charset="0"/>
                            </a:rPr>
                            <m:t>𝒐</m:t>
                          </m:r>
                        </m:e>
                      </m:d>
                      <m:r>
                        <a:rPr lang="zh-CN" altLang="en-US" sz="1250" b="1" i="1" dirty="0">
                          <a:solidFill>
                            <a:schemeClr val="tx1"/>
                          </a:solidFill>
                          <a:latin typeface="Cambria Math" panose="02040503050406030204" pitchFamily="18" charset="0"/>
                        </a:rPr>
                        <m:t>的</m:t>
                      </m:r>
                      <m:r>
                        <a:rPr lang="zh-CN" altLang="en-US" sz="1250" b="1" i="1" dirty="0" smtClean="0">
                          <a:solidFill>
                            <a:schemeClr val="tx1"/>
                          </a:solidFill>
                          <a:latin typeface="Cambria Math" panose="02040503050406030204" pitchFamily="18" charset="0"/>
                        </a:rPr>
                        <m:t>解析</m:t>
                      </m:r>
                      <m:r>
                        <a:rPr lang="zh-CN" altLang="en-US" sz="1250" b="1" i="1" dirty="0">
                          <a:solidFill>
                            <a:schemeClr val="tx1"/>
                          </a:solidFill>
                          <a:latin typeface="Cambria Math" panose="02040503050406030204" pitchFamily="18" charset="0"/>
                        </a:rPr>
                        <m:t>近似</m:t>
                      </m:r>
                      <m:r>
                        <a:rPr lang="zh-CN" altLang="en-US" sz="1250" b="1" i="1" dirty="0" smtClean="0">
                          <a:solidFill>
                            <a:schemeClr val="tx1"/>
                          </a:solidFill>
                          <a:latin typeface="Cambria Math" panose="02040503050406030204" pitchFamily="18" charset="0"/>
                        </a:rPr>
                        <m:t>公式</m:t>
                      </m:r>
                      <m:r>
                        <a:rPr lang="zh-CN" altLang="en-US" sz="1250" b="1" i="1" dirty="0">
                          <a:solidFill>
                            <a:schemeClr val="tx1"/>
                          </a:solidFill>
                          <a:latin typeface="Cambria Math" panose="02040503050406030204" pitchFamily="18" charset="0"/>
                        </a:rPr>
                        <m:t>。</m:t>
                      </m:r>
                    </m:oMath>
                  </m:oMathPara>
                </a14:m>
                <a:endParaRPr lang="en-US" altLang="zh-CN" sz="1250" dirty="0">
                  <a:solidFill>
                    <a:schemeClr val="tx1"/>
                  </a:solidFill>
                </a:endParaRPr>
              </a:p>
              <a:p>
                <a:pPr algn="ctr"/>
                <a:r>
                  <a:rPr lang="en-US" altLang="zh-CN" sz="1250" dirty="0">
                    <a:solidFill>
                      <a:schemeClr val="tx1"/>
                    </a:solidFill>
                  </a:rPr>
                  <a:t>——————————————————————————————————————</a:t>
                </a:r>
              </a:p>
              <a:p>
                <a:pPr>
                  <a:lnSpc>
                    <a:spcPct val="150000"/>
                  </a:lnSpc>
                </a:pPr>
                <a:r>
                  <a:rPr lang="zh-CN" altLang="en-US" sz="1250" dirty="0">
                    <a:solidFill>
                      <a:schemeClr val="tx1"/>
                    </a:solidFill>
                  </a:rPr>
                  <a:t>        我们将采用</a:t>
                </a:r>
                <a:r>
                  <a:rPr lang="en-US" altLang="zh-CN" sz="1250" dirty="0">
                    <a:solidFill>
                      <a:schemeClr val="tx1"/>
                    </a:solidFill>
                  </a:rPr>
                  <a:t>Height-Correlated Masking and Shadowing</a:t>
                </a:r>
                <a:r>
                  <a:rPr lang="zh-CN" altLang="en-US" sz="1250" dirty="0">
                    <a:solidFill>
                      <a:schemeClr val="tx1"/>
                    </a:solidFill>
                  </a:rPr>
                  <a:t>，因为对于我们所使用的</a:t>
                </a:r>
                <a:r>
                  <a:rPr lang="en-US" altLang="zh-CN" sz="1250" dirty="0">
                    <a:solidFill>
                      <a:schemeClr val="tx1"/>
                    </a:solidFill>
                  </a:rPr>
                  <a:t>GGX Distribution</a:t>
                </a:r>
                <a:r>
                  <a:rPr lang="zh-CN" altLang="en-US" sz="1250" dirty="0">
                    <a:solidFill>
                      <a:schemeClr val="tx1"/>
                    </a:solidFill>
                  </a:rPr>
                  <a:t>来说，它有解析解（不包括近似或经验公式），并且相比于</a:t>
                </a:r>
                <a:r>
                  <a:rPr lang="en-US" altLang="zh-CN" sz="1250" dirty="0">
                    <a:solidFill>
                      <a:schemeClr val="tx1"/>
                    </a:solidFill>
                  </a:rPr>
                  <a:t>Separable Masking and Shadowing</a:t>
                </a:r>
                <a:r>
                  <a:rPr lang="zh-CN" altLang="en-US" sz="1250" dirty="0">
                    <a:solidFill>
                      <a:schemeClr val="tx1"/>
                    </a:solidFill>
                  </a:rPr>
                  <a:t>，在相同计算复杂度的同时，有更高的精度。</a:t>
                </a:r>
                <a:endParaRPr lang="en-US" altLang="zh-CN" sz="1250" dirty="0">
                  <a:solidFill>
                    <a:schemeClr val="tx1"/>
                  </a:solidFill>
                </a:endParaRPr>
              </a:p>
              <a:p>
                <a:pPr algn="ctr">
                  <a:lnSpc>
                    <a:spcPct val="150000"/>
                  </a:lnSpc>
                </a:pPr>
                <a:r>
                  <a:rPr lang="zh-CN" altLang="en-US" sz="1250" dirty="0">
                    <a:solidFill>
                      <a:schemeClr val="tx1"/>
                    </a:solidFill>
                  </a:rPr>
                  <a:t>更多有关掩蔽</a:t>
                </a:r>
                <a:r>
                  <a:rPr lang="en-US" altLang="zh-CN" sz="1250" dirty="0">
                    <a:solidFill>
                      <a:schemeClr val="tx1"/>
                    </a:solidFill>
                  </a:rPr>
                  <a:t>-</a:t>
                </a:r>
                <a:r>
                  <a:rPr lang="zh-CN" altLang="en-US" sz="1250" dirty="0">
                    <a:solidFill>
                      <a:schemeClr val="tx1"/>
                    </a:solidFill>
                  </a:rPr>
                  <a:t>阴影函数的讨论，可以看</a:t>
                </a:r>
                <a:r>
                  <a:rPr lang="en-US" altLang="zh-CN" sz="1250" b="0" i="0" dirty="0">
                    <a:solidFill>
                      <a:srgbClr val="212529"/>
                    </a:solidFill>
                    <a:effectLst/>
                    <a:latin typeface="Domine"/>
                  </a:rPr>
                  <a:t>Heitz </a:t>
                </a:r>
                <a:r>
                  <a:rPr lang="en-US" altLang="zh-CN" sz="1250" dirty="0">
                    <a:solidFill>
                      <a:srgbClr val="212529"/>
                    </a:solidFill>
                    <a:latin typeface="Domine"/>
                  </a:rPr>
                  <a:t>(2014) </a:t>
                </a:r>
                <a:r>
                  <a:rPr lang="en-US" altLang="zh-CN" sz="1250" dirty="0">
                    <a:solidFill>
                      <a:srgbClr val="212529"/>
                    </a:solidFill>
                    <a:latin typeface="Domine"/>
                    <a:hlinkClick r:id="rId3" action="ppaction://hlinksldjump"/>
                  </a:rPr>
                  <a:t>5</a:t>
                </a:r>
                <a:r>
                  <a:rPr lang="en-US" altLang="zh-CN" sz="1250" dirty="0">
                    <a:solidFill>
                      <a:srgbClr val="212529"/>
                    </a:solidFill>
                    <a:latin typeface="Domine"/>
                  </a:rPr>
                  <a:t> </a:t>
                </a:r>
                <a:r>
                  <a:rPr lang="zh-CN" altLang="en-US" sz="1250" dirty="0">
                    <a:solidFill>
                      <a:srgbClr val="212529"/>
                    </a:solidFill>
                    <a:latin typeface="Domine"/>
                  </a:rPr>
                  <a:t>中的 </a:t>
                </a:r>
                <a:r>
                  <a:rPr lang="en-US" altLang="zh-CN" sz="1250" dirty="0">
                    <a:solidFill>
                      <a:srgbClr val="212529"/>
                    </a:solidFill>
                    <a:latin typeface="Domine"/>
                  </a:rPr>
                  <a:t>Section 6.</a:t>
                </a:r>
                <a:endParaRPr lang="en-US" altLang="zh-CN" sz="1250" dirty="0">
                  <a:solidFill>
                    <a:schemeClr val="tx1"/>
                  </a:solidFill>
                </a:endParaRPr>
              </a:p>
            </p:txBody>
          </p:sp>
        </mc:Choice>
        <mc:Fallback xmlns="">
          <p:sp>
            <p:nvSpPr>
              <p:cNvPr id="6" name="矩形 5">
                <a:extLst>
                  <a:ext uri="{FF2B5EF4-FFF2-40B4-BE49-F238E27FC236}">
                    <a16:creationId xmlns:a16="http://schemas.microsoft.com/office/drawing/2014/main" id="{26ED9924-9FCF-2A0B-266B-CCB4FC2F8E22}"/>
                  </a:ext>
                </a:extLst>
              </p:cNvPr>
              <p:cNvSpPr>
                <a:spLocks noRot="1" noChangeAspect="1" noMove="1" noResize="1" noEditPoints="1" noAdjustHandles="1" noChangeArrowheads="1" noChangeShapeType="1" noTextEdit="1"/>
              </p:cNvSpPr>
              <p:nvPr/>
            </p:nvSpPr>
            <p:spPr>
              <a:xfrm>
                <a:off x="368712" y="1144044"/>
                <a:ext cx="6851503" cy="5402806"/>
              </a:xfrm>
              <a:prstGeom prst="rect">
                <a:avLst/>
              </a:prstGeom>
              <a:blipFill>
                <a:blip r:embed="rId4"/>
                <a:stretch>
                  <a:fillRect/>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260C4027-D1B7-1860-CC1F-596354F73507}"/>
              </a:ext>
            </a:extLst>
          </p:cNvPr>
          <p:cNvSpPr/>
          <p:nvPr/>
        </p:nvSpPr>
        <p:spPr>
          <a:xfrm>
            <a:off x="7759478" y="1317398"/>
            <a:ext cx="4320195" cy="253384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矩形 2">
            <a:extLst>
              <a:ext uri="{FF2B5EF4-FFF2-40B4-BE49-F238E27FC236}">
                <a16:creationId xmlns:a16="http://schemas.microsoft.com/office/drawing/2014/main" id="{7E2940DC-804D-E7DF-B5DA-E3A025E49364}"/>
              </a:ext>
            </a:extLst>
          </p:cNvPr>
          <p:cNvSpPr/>
          <p:nvPr/>
        </p:nvSpPr>
        <p:spPr>
          <a:xfrm>
            <a:off x="7626128" y="1145948"/>
            <a:ext cx="4320195" cy="253384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3" name="组合 32">
            <a:extLst>
              <a:ext uri="{FF2B5EF4-FFF2-40B4-BE49-F238E27FC236}">
                <a16:creationId xmlns:a16="http://schemas.microsoft.com/office/drawing/2014/main" id="{73755420-EBDD-1BD1-EFD0-E4305D31EC83}"/>
              </a:ext>
            </a:extLst>
          </p:cNvPr>
          <p:cNvGrpSpPr/>
          <p:nvPr/>
        </p:nvGrpSpPr>
        <p:grpSpPr>
          <a:xfrm>
            <a:off x="8486408" y="1379003"/>
            <a:ext cx="2866334" cy="1427713"/>
            <a:chOff x="8591875" y="1709203"/>
            <a:chExt cx="2866334" cy="1427713"/>
          </a:xfrm>
        </p:grpSpPr>
        <p:sp>
          <p:nvSpPr>
            <p:cNvPr id="20" name="任意多边形: 形状 19">
              <a:extLst>
                <a:ext uri="{FF2B5EF4-FFF2-40B4-BE49-F238E27FC236}">
                  <a16:creationId xmlns:a16="http://schemas.microsoft.com/office/drawing/2014/main" id="{8994212B-7709-D038-E179-FFC45F6F1531}"/>
                </a:ext>
              </a:extLst>
            </p:cNvPr>
            <p:cNvSpPr/>
            <p:nvPr/>
          </p:nvSpPr>
          <p:spPr>
            <a:xfrm>
              <a:off x="9402763" y="2620963"/>
              <a:ext cx="1185862" cy="512762"/>
            </a:xfrm>
            <a:custGeom>
              <a:avLst/>
              <a:gdLst>
                <a:gd name="connsiteX0" fmla="*/ 1185862 w 1185862"/>
                <a:gd name="connsiteY0" fmla="*/ 0 h 512762"/>
                <a:gd name="connsiteX1" fmla="*/ 0 w 1185862"/>
                <a:gd name="connsiteY1" fmla="*/ 319087 h 512762"/>
                <a:gd name="connsiteX2" fmla="*/ 0 w 1185862"/>
                <a:gd name="connsiteY2" fmla="*/ 319087 h 512762"/>
                <a:gd name="connsiteX3" fmla="*/ 30162 w 1185862"/>
                <a:gd name="connsiteY3" fmla="*/ 382587 h 512762"/>
                <a:gd name="connsiteX4" fmla="*/ 73025 w 1185862"/>
                <a:gd name="connsiteY4" fmla="*/ 436562 h 512762"/>
                <a:gd name="connsiteX5" fmla="*/ 147637 w 1185862"/>
                <a:gd name="connsiteY5" fmla="*/ 488950 h 512762"/>
                <a:gd name="connsiteX6" fmla="*/ 258762 w 1185862"/>
                <a:gd name="connsiteY6" fmla="*/ 512762 h 512762"/>
                <a:gd name="connsiteX7" fmla="*/ 382587 w 1185862"/>
                <a:gd name="connsiteY7" fmla="*/ 498475 h 512762"/>
                <a:gd name="connsiteX8" fmla="*/ 511175 w 1185862"/>
                <a:gd name="connsiteY8" fmla="*/ 460375 h 512762"/>
                <a:gd name="connsiteX9" fmla="*/ 622300 w 1185862"/>
                <a:gd name="connsiteY9" fmla="*/ 379412 h 512762"/>
                <a:gd name="connsiteX10" fmla="*/ 739775 w 1185862"/>
                <a:gd name="connsiteY10" fmla="*/ 261937 h 512762"/>
                <a:gd name="connsiteX11" fmla="*/ 815975 w 1185862"/>
                <a:gd name="connsiteY11" fmla="*/ 204787 h 512762"/>
                <a:gd name="connsiteX12" fmla="*/ 1185862 w 1185862"/>
                <a:gd name="connsiteY12" fmla="*/ 0 h 512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85862" h="512762">
                  <a:moveTo>
                    <a:pt x="1185862" y="0"/>
                  </a:moveTo>
                  <a:lnTo>
                    <a:pt x="0" y="319087"/>
                  </a:lnTo>
                  <a:lnTo>
                    <a:pt x="0" y="319087"/>
                  </a:lnTo>
                  <a:lnTo>
                    <a:pt x="30162" y="382587"/>
                  </a:lnTo>
                  <a:lnTo>
                    <a:pt x="73025" y="436562"/>
                  </a:lnTo>
                  <a:lnTo>
                    <a:pt x="147637" y="488950"/>
                  </a:lnTo>
                  <a:lnTo>
                    <a:pt x="258762" y="512762"/>
                  </a:lnTo>
                  <a:lnTo>
                    <a:pt x="382587" y="498475"/>
                  </a:lnTo>
                  <a:lnTo>
                    <a:pt x="511175" y="460375"/>
                  </a:lnTo>
                  <a:lnTo>
                    <a:pt x="622300" y="379412"/>
                  </a:lnTo>
                  <a:lnTo>
                    <a:pt x="739775" y="261937"/>
                  </a:lnTo>
                  <a:lnTo>
                    <a:pt x="815975" y="204787"/>
                  </a:lnTo>
                  <a:lnTo>
                    <a:pt x="1185862" y="0"/>
                  </a:lnTo>
                  <a:close/>
                </a:path>
              </a:pathLst>
            </a:custGeom>
            <a:solidFill>
              <a:schemeClr val="bg2">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a:extLst>
                <a:ext uri="{FF2B5EF4-FFF2-40B4-BE49-F238E27FC236}">
                  <a16:creationId xmlns:a16="http://schemas.microsoft.com/office/drawing/2014/main" id="{088393FB-6BC0-4ED3-70D2-5BD15C28AECA}"/>
                </a:ext>
              </a:extLst>
            </p:cNvPr>
            <p:cNvCxnSpPr>
              <a:cxnSpLocks/>
            </p:cNvCxnSpPr>
            <p:nvPr/>
          </p:nvCxnSpPr>
          <p:spPr>
            <a:xfrm flipV="1">
              <a:off x="9396522" y="2427879"/>
              <a:ext cx="1922745" cy="513567"/>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F61C8917-30F7-9DC4-F47C-113B1163F83A}"/>
                </a:ext>
              </a:extLst>
            </p:cNvPr>
            <p:cNvCxnSpPr>
              <a:cxnSpLocks/>
            </p:cNvCxnSpPr>
            <p:nvPr/>
          </p:nvCxnSpPr>
          <p:spPr>
            <a:xfrm flipV="1">
              <a:off x="9375734" y="2376205"/>
              <a:ext cx="1922745" cy="513567"/>
            </a:xfrm>
            <a:prstGeom prst="straightConnector1">
              <a:avLst/>
            </a:prstGeom>
            <a:ln w="190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E0E14851-D354-7A4C-649D-CDE707876CD7}"/>
                </a:ext>
              </a:extLst>
            </p:cNvPr>
            <p:cNvCxnSpPr>
              <a:cxnSpLocks/>
            </p:cNvCxnSpPr>
            <p:nvPr/>
          </p:nvCxnSpPr>
          <p:spPr>
            <a:xfrm flipV="1">
              <a:off x="9320021" y="2505856"/>
              <a:ext cx="378106" cy="100992"/>
            </a:xfrm>
            <a:prstGeom prst="straightConnector1">
              <a:avLst/>
            </a:prstGeom>
            <a:ln w="19050">
              <a:solidFill>
                <a:schemeClr val="accent5">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C76BC08E-9E2F-5720-3881-03393C5C9C53}"/>
                    </a:ext>
                  </a:extLst>
                </p:cNvPr>
                <p:cNvSpPr txBox="1"/>
                <p:nvPr/>
              </p:nvSpPr>
              <p:spPr>
                <a:xfrm>
                  <a:off x="9711963" y="2323765"/>
                  <a:ext cx="283731"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5">
                                <a:lumMod val="60000"/>
                                <a:lumOff val="40000"/>
                              </a:schemeClr>
                            </a:solidFill>
                            <a:latin typeface="Cambria Math" panose="02040503050406030204" pitchFamily="18" charset="0"/>
                          </a:rPr>
                          <m:t>𝒎</m:t>
                        </m:r>
                      </m:oMath>
                    </m:oMathPara>
                  </a14:m>
                  <a:endParaRPr lang="zh-CN" altLang="en-US" b="1" dirty="0">
                    <a:solidFill>
                      <a:schemeClr val="accent5">
                        <a:lumMod val="60000"/>
                        <a:lumOff val="40000"/>
                      </a:schemeClr>
                    </a:solidFill>
                  </a:endParaRPr>
                </a:p>
              </p:txBody>
            </p:sp>
          </mc:Choice>
          <mc:Fallback xmlns="">
            <p:sp>
              <p:nvSpPr>
                <p:cNvPr id="23" name="文本框 22">
                  <a:extLst>
                    <a:ext uri="{FF2B5EF4-FFF2-40B4-BE49-F238E27FC236}">
                      <a16:creationId xmlns:a16="http://schemas.microsoft.com/office/drawing/2014/main" id="{C76BC08E-9E2F-5720-3881-03393C5C9C53}"/>
                    </a:ext>
                  </a:extLst>
                </p:cNvPr>
                <p:cNvSpPr txBox="1">
                  <a:spLocks noRot="1" noChangeAspect="1" noMove="1" noResize="1" noEditPoints="1" noAdjustHandles="1" noChangeArrowheads="1" noChangeShapeType="1" noTextEdit="1"/>
                </p:cNvSpPr>
                <p:nvPr/>
              </p:nvSpPr>
              <p:spPr>
                <a:xfrm>
                  <a:off x="9711963" y="2323765"/>
                  <a:ext cx="283731" cy="276999"/>
                </a:xfrm>
                <a:prstGeom prst="rect">
                  <a:avLst/>
                </a:prstGeom>
                <a:blipFill>
                  <a:blip r:embed="rId6"/>
                  <a:stretch>
                    <a:fillRect l="-8696" r="-10870" b="-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0CB98EEA-318F-C39C-716F-98B53F4B33C6}"/>
                    </a:ext>
                  </a:extLst>
                </p:cNvPr>
                <p:cNvSpPr txBox="1"/>
                <p:nvPr/>
              </p:nvSpPr>
              <p:spPr>
                <a:xfrm>
                  <a:off x="11256231" y="2103336"/>
                  <a:ext cx="2019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75000"/>
                              </a:schemeClr>
                            </a:solidFill>
                            <a:latin typeface="Cambria Math" panose="02040503050406030204" pitchFamily="18" charset="0"/>
                          </a:rPr>
                          <m:t>𝒐</m:t>
                        </m:r>
                      </m:oMath>
                    </m:oMathPara>
                  </a14:m>
                  <a:endParaRPr lang="zh-CN" altLang="en-US" b="1" dirty="0">
                    <a:solidFill>
                      <a:schemeClr val="accent2">
                        <a:lumMod val="75000"/>
                      </a:schemeClr>
                    </a:solidFill>
                  </a:endParaRPr>
                </a:p>
              </p:txBody>
            </p:sp>
          </mc:Choice>
          <mc:Fallback xmlns="">
            <p:sp>
              <p:nvSpPr>
                <p:cNvPr id="25" name="文本框 24">
                  <a:extLst>
                    <a:ext uri="{FF2B5EF4-FFF2-40B4-BE49-F238E27FC236}">
                      <a16:creationId xmlns:a16="http://schemas.microsoft.com/office/drawing/2014/main" id="{0CB98EEA-318F-C39C-716F-98B53F4B33C6}"/>
                    </a:ext>
                  </a:extLst>
                </p:cNvPr>
                <p:cNvSpPr txBox="1">
                  <a:spLocks noRot="1" noChangeAspect="1" noMove="1" noResize="1" noEditPoints="1" noAdjustHandles="1" noChangeArrowheads="1" noChangeShapeType="1" noTextEdit="1"/>
                </p:cNvSpPr>
                <p:nvPr/>
              </p:nvSpPr>
              <p:spPr>
                <a:xfrm>
                  <a:off x="11256231" y="2103336"/>
                  <a:ext cx="201978" cy="276999"/>
                </a:xfrm>
                <a:prstGeom prst="rect">
                  <a:avLst/>
                </a:prstGeom>
                <a:blipFill>
                  <a:blip r:embed="rId7"/>
                  <a:stretch>
                    <a:fillRect l="-12121" r="-15152" b="-22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文本框 25">
                  <a:extLst>
                    <a:ext uri="{FF2B5EF4-FFF2-40B4-BE49-F238E27FC236}">
                      <a16:creationId xmlns:a16="http://schemas.microsoft.com/office/drawing/2014/main" id="{E7AFC324-EF5F-ECF8-CF3A-E9C48A693ECD}"/>
                    </a:ext>
                  </a:extLst>
                </p:cNvPr>
                <p:cNvSpPr txBox="1"/>
                <p:nvPr/>
              </p:nvSpPr>
              <p:spPr>
                <a:xfrm>
                  <a:off x="11269136" y="2399614"/>
                  <a:ext cx="15388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1" i="1" smtClean="0">
                            <a:solidFill>
                              <a:srgbClr val="F76409"/>
                            </a:solidFill>
                            <a:latin typeface="Cambria Math" panose="02040503050406030204" pitchFamily="18" charset="0"/>
                          </a:rPr>
                          <m:t>𝒊</m:t>
                        </m:r>
                      </m:oMath>
                    </m:oMathPara>
                  </a14:m>
                  <a:endParaRPr lang="zh-CN" altLang="en-US" b="1" dirty="0">
                    <a:solidFill>
                      <a:srgbClr val="F76409"/>
                    </a:solidFill>
                  </a:endParaRPr>
                </a:p>
              </p:txBody>
            </p:sp>
          </mc:Choice>
          <mc:Fallback xmlns="">
            <p:sp>
              <p:nvSpPr>
                <p:cNvPr id="26" name="文本框 25">
                  <a:extLst>
                    <a:ext uri="{FF2B5EF4-FFF2-40B4-BE49-F238E27FC236}">
                      <a16:creationId xmlns:a16="http://schemas.microsoft.com/office/drawing/2014/main" id="{E7AFC324-EF5F-ECF8-CF3A-E9C48A693ECD}"/>
                    </a:ext>
                  </a:extLst>
                </p:cNvPr>
                <p:cNvSpPr txBox="1">
                  <a:spLocks noRot="1" noChangeAspect="1" noMove="1" noResize="1" noEditPoints="1" noAdjustHandles="1" noChangeArrowheads="1" noChangeShapeType="1" noTextEdit="1"/>
                </p:cNvSpPr>
                <p:nvPr/>
              </p:nvSpPr>
              <p:spPr>
                <a:xfrm>
                  <a:off x="11269136" y="2399614"/>
                  <a:ext cx="153888" cy="276999"/>
                </a:xfrm>
                <a:prstGeom prst="rect">
                  <a:avLst/>
                </a:prstGeom>
                <a:blipFill>
                  <a:blip r:embed="rId8"/>
                  <a:stretch>
                    <a:fillRect l="-26923" r="-30769" b="-8696"/>
                  </a:stretch>
                </a:blipFill>
              </p:spPr>
              <p:txBody>
                <a:bodyPr/>
                <a:lstStyle/>
                <a:p>
                  <a:r>
                    <a:rPr lang="zh-CN" altLang="en-US">
                      <a:noFill/>
                    </a:rPr>
                    <a:t> </a:t>
                  </a:r>
                </a:p>
              </p:txBody>
            </p:sp>
          </mc:Fallback>
        </mc:AlternateContent>
        <p:cxnSp>
          <p:nvCxnSpPr>
            <p:cNvPr id="27" name="直接箭头连接符 26">
              <a:extLst>
                <a:ext uri="{FF2B5EF4-FFF2-40B4-BE49-F238E27FC236}">
                  <a16:creationId xmlns:a16="http://schemas.microsoft.com/office/drawing/2014/main" id="{37AD979B-CACF-6CB3-430C-CE7015157F03}"/>
                </a:ext>
              </a:extLst>
            </p:cNvPr>
            <p:cNvCxnSpPr>
              <a:cxnSpLocks/>
            </p:cNvCxnSpPr>
            <p:nvPr/>
          </p:nvCxnSpPr>
          <p:spPr>
            <a:xfrm flipV="1">
              <a:off x="9354274" y="2261198"/>
              <a:ext cx="1922745" cy="513567"/>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E2723E8D-0D58-27B5-437C-BD14260E416F}"/>
                </a:ext>
              </a:extLst>
            </p:cNvPr>
            <p:cNvCxnSpPr>
              <a:cxnSpLocks/>
            </p:cNvCxnSpPr>
            <p:nvPr/>
          </p:nvCxnSpPr>
          <p:spPr>
            <a:xfrm flipV="1">
              <a:off x="9342993" y="2202747"/>
              <a:ext cx="1922745" cy="513567"/>
            </a:xfrm>
            <a:prstGeom prst="straightConnector1">
              <a:avLst/>
            </a:prstGeom>
            <a:ln w="190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A9193D6D-448B-9806-49E9-E78D6D314286}"/>
                </a:ext>
              </a:extLst>
            </p:cNvPr>
            <p:cNvCxnSpPr>
              <a:cxnSpLocks/>
            </p:cNvCxnSpPr>
            <p:nvPr/>
          </p:nvCxnSpPr>
          <p:spPr>
            <a:xfrm flipV="1">
              <a:off x="9303336" y="1965986"/>
              <a:ext cx="1922745" cy="513567"/>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A9E5BF4C-038E-7866-E8E0-130DE906C5BB}"/>
                </a:ext>
              </a:extLst>
            </p:cNvPr>
            <p:cNvCxnSpPr>
              <a:cxnSpLocks/>
            </p:cNvCxnSpPr>
            <p:nvPr/>
          </p:nvCxnSpPr>
          <p:spPr>
            <a:xfrm flipV="1">
              <a:off x="9286151" y="1912443"/>
              <a:ext cx="1922745" cy="513567"/>
            </a:xfrm>
            <a:prstGeom prst="straightConnector1">
              <a:avLst/>
            </a:prstGeom>
            <a:ln w="190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A8AD0715-5990-6398-6407-1CB3283654DA}"/>
                </a:ext>
              </a:extLst>
            </p:cNvPr>
            <p:cNvCxnSpPr>
              <a:cxnSpLocks/>
            </p:cNvCxnSpPr>
            <p:nvPr/>
          </p:nvCxnSpPr>
          <p:spPr>
            <a:xfrm flipV="1">
              <a:off x="9265863" y="1764888"/>
              <a:ext cx="1922745" cy="513567"/>
            </a:xfrm>
            <a:prstGeom prst="straightConnector1">
              <a:avLst/>
            </a:prstGeom>
            <a:ln w="19050">
              <a:solidFill>
                <a:srgbClr val="F76409"/>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87724536-6B71-FE42-8ED5-6BFDFD3C7FB7}"/>
                </a:ext>
              </a:extLst>
            </p:cNvPr>
            <p:cNvCxnSpPr>
              <a:cxnSpLocks/>
            </p:cNvCxnSpPr>
            <p:nvPr/>
          </p:nvCxnSpPr>
          <p:spPr>
            <a:xfrm flipV="1">
              <a:off x="9252398" y="1709203"/>
              <a:ext cx="1922745" cy="513567"/>
            </a:xfrm>
            <a:prstGeom prst="straightConnector1">
              <a:avLst/>
            </a:prstGeom>
            <a:ln w="190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7" name="任意多边形: 形状 6">
              <a:extLst>
                <a:ext uri="{FF2B5EF4-FFF2-40B4-BE49-F238E27FC236}">
                  <a16:creationId xmlns:a16="http://schemas.microsoft.com/office/drawing/2014/main" id="{27F095A5-6CCD-78E8-A22D-698DAEB98BBD}"/>
                </a:ext>
              </a:extLst>
            </p:cNvPr>
            <p:cNvSpPr/>
            <p:nvPr/>
          </p:nvSpPr>
          <p:spPr>
            <a:xfrm>
              <a:off x="8591875" y="2076781"/>
              <a:ext cx="2511832" cy="1060135"/>
            </a:xfrm>
            <a:custGeom>
              <a:avLst/>
              <a:gdLst>
                <a:gd name="connsiteX0" fmla="*/ 0 w 2589580"/>
                <a:gd name="connsiteY0" fmla="*/ 869340 h 928476"/>
                <a:gd name="connsiteX1" fmla="*/ 307238 w 2589580"/>
                <a:gd name="connsiteY1" fmla="*/ 349961 h 928476"/>
                <a:gd name="connsiteX2" fmla="*/ 621792 w 2589580"/>
                <a:gd name="connsiteY2" fmla="*/ 13462 h 928476"/>
                <a:gd name="connsiteX3" fmla="*/ 863193 w 2589580"/>
                <a:gd name="connsiteY3" fmla="*/ 810818 h 928476"/>
                <a:gd name="connsiteX4" fmla="*/ 1287475 w 2589580"/>
                <a:gd name="connsiteY4" fmla="*/ 905916 h 928476"/>
                <a:gd name="connsiteX5" fmla="*/ 1733702 w 2589580"/>
                <a:gd name="connsiteY5" fmla="*/ 627938 h 928476"/>
                <a:gd name="connsiteX6" fmla="*/ 2187244 w 2589580"/>
                <a:gd name="connsiteY6" fmla="*/ 474319 h 928476"/>
                <a:gd name="connsiteX7" fmla="*/ 2589580 w 2589580"/>
                <a:gd name="connsiteY7" fmla="*/ 796188 h 928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589580" h="928476">
                  <a:moveTo>
                    <a:pt x="0" y="869340"/>
                  </a:moveTo>
                  <a:cubicBezTo>
                    <a:pt x="101803" y="680973"/>
                    <a:pt x="203606" y="492607"/>
                    <a:pt x="307238" y="349961"/>
                  </a:cubicBezTo>
                  <a:cubicBezTo>
                    <a:pt x="410870" y="207315"/>
                    <a:pt x="529133" y="-63347"/>
                    <a:pt x="621792" y="13462"/>
                  </a:cubicBezTo>
                  <a:cubicBezTo>
                    <a:pt x="714451" y="90271"/>
                    <a:pt x="752246" y="662076"/>
                    <a:pt x="863193" y="810818"/>
                  </a:cubicBezTo>
                  <a:cubicBezTo>
                    <a:pt x="974140" y="959560"/>
                    <a:pt x="1142390" y="936396"/>
                    <a:pt x="1287475" y="905916"/>
                  </a:cubicBezTo>
                  <a:cubicBezTo>
                    <a:pt x="1432560" y="875436"/>
                    <a:pt x="1583741" y="699871"/>
                    <a:pt x="1733702" y="627938"/>
                  </a:cubicBezTo>
                  <a:cubicBezTo>
                    <a:pt x="1883663" y="556005"/>
                    <a:pt x="2044598" y="446277"/>
                    <a:pt x="2187244" y="474319"/>
                  </a:cubicBezTo>
                  <a:cubicBezTo>
                    <a:pt x="2329890" y="502361"/>
                    <a:pt x="2459735" y="649274"/>
                    <a:pt x="2589580" y="796188"/>
                  </a:cubicBezTo>
                </a:path>
              </a:pathLst>
            </a:cu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矩形 33">
            <a:extLst>
              <a:ext uri="{FF2B5EF4-FFF2-40B4-BE49-F238E27FC236}">
                <a16:creationId xmlns:a16="http://schemas.microsoft.com/office/drawing/2014/main" id="{CBF8A9B8-9E1C-8F87-4B81-D58D226D206D}"/>
              </a:ext>
            </a:extLst>
          </p:cNvPr>
          <p:cNvSpPr/>
          <p:nvPr/>
        </p:nvSpPr>
        <p:spPr>
          <a:xfrm>
            <a:off x="7759478" y="4277781"/>
            <a:ext cx="4320195" cy="2440258"/>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5" name="矩形 34">
            <a:extLst>
              <a:ext uri="{FF2B5EF4-FFF2-40B4-BE49-F238E27FC236}">
                <a16:creationId xmlns:a16="http://schemas.microsoft.com/office/drawing/2014/main" id="{821B6F71-AC4E-A2C6-BFB2-92FA3EFAEC17}"/>
              </a:ext>
            </a:extLst>
          </p:cNvPr>
          <p:cNvSpPr/>
          <p:nvPr/>
        </p:nvSpPr>
        <p:spPr>
          <a:xfrm>
            <a:off x="7626128" y="4106331"/>
            <a:ext cx="4320195" cy="2440258"/>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2" name="图片 51">
            <a:extLst>
              <a:ext uri="{FF2B5EF4-FFF2-40B4-BE49-F238E27FC236}">
                <a16:creationId xmlns:a16="http://schemas.microsoft.com/office/drawing/2014/main" id="{CA19F25A-F1F2-800D-0D49-480BB3C62F59}"/>
              </a:ext>
            </a:extLst>
          </p:cNvPr>
          <p:cNvPicPr>
            <a:picLocks noChangeAspect="1"/>
          </p:cNvPicPr>
          <p:nvPr/>
        </p:nvPicPr>
        <p:blipFill>
          <a:blip r:embed="rId9"/>
          <a:stretch>
            <a:fillRect/>
          </a:stretch>
        </p:blipFill>
        <p:spPr>
          <a:xfrm>
            <a:off x="7834327" y="4498624"/>
            <a:ext cx="3815993" cy="1168460"/>
          </a:xfrm>
          <a:prstGeom prst="rect">
            <a:avLst/>
          </a:prstGeom>
        </p:spPr>
      </p:pic>
      <p:sp>
        <p:nvSpPr>
          <p:cNvPr id="54" name="文本框 53">
            <a:extLst>
              <a:ext uri="{FF2B5EF4-FFF2-40B4-BE49-F238E27FC236}">
                <a16:creationId xmlns:a16="http://schemas.microsoft.com/office/drawing/2014/main" id="{819966F8-9402-C4C0-D7CF-0951F42719A6}"/>
              </a:ext>
            </a:extLst>
          </p:cNvPr>
          <p:cNvSpPr txBox="1"/>
          <p:nvPr/>
        </p:nvSpPr>
        <p:spPr>
          <a:xfrm>
            <a:off x="8986125" y="3010252"/>
            <a:ext cx="1600200" cy="369332"/>
          </a:xfrm>
          <a:prstGeom prst="rect">
            <a:avLst/>
          </a:prstGeom>
          <a:noFill/>
        </p:spPr>
        <p:txBody>
          <a:bodyPr wrap="square">
            <a:spAutoFit/>
          </a:bodyPr>
          <a:lstStyle/>
          <a:p>
            <a:pPr algn="ctr"/>
            <a:r>
              <a:rPr lang="zh-CN" altLang="en-US" dirty="0"/>
              <a:t>方向相关性</a:t>
            </a:r>
          </a:p>
        </p:txBody>
      </p:sp>
      <p:sp>
        <p:nvSpPr>
          <p:cNvPr id="55" name="文本框 54">
            <a:extLst>
              <a:ext uri="{FF2B5EF4-FFF2-40B4-BE49-F238E27FC236}">
                <a16:creationId xmlns:a16="http://schemas.microsoft.com/office/drawing/2014/main" id="{1EDFBD4C-A009-5924-B865-0CC4802ACFED}"/>
              </a:ext>
            </a:extLst>
          </p:cNvPr>
          <p:cNvSpPr txBox="1"/>
          <p:nvPr/>
        </p:nvSpPr>
        <p:spPr>
          <a:xfrm>
            <a:off x="8942223" y="5922170"/>
            <a:ext cx="1600200" cy="369332"/>
          </a:xfrm>
          <a:prstGeom prst="rect">
            <a:avLst/>
          </a:prstGeom>
          <a:noFill/>
        </p:spPr>
        <p:txBody>
          <a:bodyPr wrap="square">
            <a:spAutoFit/>
          </a:bodyPr>
          <a:lstStyle/>
          <a:p>
            <a:pPr algn="ctr"/>
            <a:r>
              <a:rPr lang="zh-CN" altLang="en-US" dirty="0"/>
              <a:t>高度相关性</a:t>
            </a:r>
          </a:p>
        </p:txBody>
      </p:sp>
    </p:spTree>
    <p:extLst>
      <p:ext uri="{BB962C8B-B14F-4D97-AF65-F5344CB8AC3E}">
        <p14:creationId xmlns:p14="http://schemas.microsoft.com/office/powerpoint/2010/main" val="31963143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55B40-D061-0B57-5D12-EC37D38BC3C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207ADAA4-302D-3AD2-0DB5-733C8FAF36A7}"/>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1" dirty="0" smtClean="0">
                            <a:solidFill>
                              <a:schemeClr val="tx1"/>
                            </a:solidFill>
                            <a:latin typeface="Cambria Math" panose="02040503050406030204" pitchFamily="18" charset="0"/>
                          </a:rPr>
                          <m:t>G</m:t>
                        </m:r>
                      </m:e>
                      <m:sub>
                        <m:r>
                          <a:rPr lang="en-US" altLang="zh-CN" b="0" i="1" dirty="0" smtClean="0">
                            <a:solidFill>
                              <a:schemeClr val="tx1"/>
                            </a:solidFill>
                            <a:latin typeface="Cambria Math" panose="02040503050406030204" pitchFamily="18" charset="0"/>
                          </a:rPr>
                          <m:t>2</m:t>
                        </m:r>
                      </m:sub>
                    </m:sSub>
                    <m:r>
                      <a:rPr lang="en-US" altLang="zh-CN" b="0"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𝒊</m:t>
                    </m:r>
                    <m:r>
                      <a:rPr lang="en-US" altLang="zh-CN" b="1"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𝒐</m:t>
                    </m:r>
                    <m:r>
                      <a:rPr lang="en-US" altLang="zh-CN" b="1"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𝒎</m:t>
                    </m:r>
                    <m:r>
                      <a:rPr lang="en-US" altLang="zh-CN" b="0" i="1" dirty="0" smtClean="0">
                        <a:solidFill>
                          <a:schemeClr val="tx1"/>
                        </a:solidFill>
                        <a:latin typeface="Cambria Math" panose="02040503050406030204" pitchFamily="18" charset="0"/>
                      </a:rPr>
                      <m:t>)</m:t>
                    </m:r>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207ADAA4-302D-3AD2-0DB5-733C8FAF36A7}"/>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017" b="-8475"/>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A558260C-28F1-1F38-589D-A6653637360B}"/>
              </a:ext>
            </a:extLst>
          </p:cNvPr>
          <p:cNvSpPr/>
          <p:nvPr/>
        </p:nvSpPr>
        <p:spPr>
          <a:xfrm>
            <a:off x="521112" y="1315233"/>
            <a:ext cx="6851503"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6D794ADB-807B-30E1-E06F-11188D8FB831}"/>
                  </a:ext>
                </a:extLst>
              </p:cNvPr>
              <p:cNvSpPr/>
              <p:nvPr/>
            </p:nvSpPr>
            <p:spPr>
              <a:xfrm>
                <a:off x="368712" y="1144044"/>
                <a:ext cx="6851503"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en-US" altLang="zh-CN" sz="1250" dirty="0">
                  <a:solidFill>
                    <a:schemeClr val="tx1"/>
                  </a:solidFill>
                </a:endParaRPr>
              </a:p>
              <a:p>
                <a:pPr algn="ctr">
                  <a:lnSpc>
                    <a:spcPct val="150000"/>
                  </a:lnSpc>
                </a:pPr>
                <a:r>
                  <a:rPr lang="zh-CN" altLang="en-US" sz="1250" dirty="0">
                    <a:solidFill>
                      <a:schemeClr val="tx1"/>
                    </a:solidFill>
                  </a:rPr>
                  <a:t>因为微面是各向同性的，所以我们可以在不丢失通用性的情况下，仅讨论微表面截面的情况。</a:t>
                </a:r>
                <a:endParaRPr lang="en-US" altLang="zh-CN" sz="1250" dirty="0">
                  <a:solidFill>
                    <a:schemeClr val="tx1"/>
                  </a:solidFill>
                </a:endParaRPr>
              </a:p>
              <a:p>
                <a:pPr algn="ctr">
                  <a:lnSpc>
                    <a:spcPct val="150000"/>
                  </a:lnSpc>
                </a:pPr>
                <a:endParaRPr lang="en-US" altLang="zh-CN" sz="1250" dirty="0">
                  <a:solidFill>
                    <a:schemeClr val="tx1"/>
                  </a:solidFill>
                </a:endParaRPr>
              </a:p>
              <a:p>
                <a:pPr>
                  <a:lnSpc>
                    <a:spcPct val="150000"/>
                  </a:lnSpc>
                </a:pPr>
                <a:r>
                  <a:rPr lang="zh-CN" altLang="en-US" sz="1250" dirty="0">
                    <a:solidFill>
                      <a:schemeClr val="tx1"/>
                    </a:solidFill>
                  </a:rPr>
                  <a:t>        对于微表面上一点</a:t>
                </a:r>
                <a14:m>
                  <m:oMath xmlns:m="http://schemas.openxmlformats.org/officeDocument/2006/math">
                    <m:r>
                      <a:rPr lang="en-US" altLang="zh-CN" sz="1250" i="1" dirty="0" smtClean="0">
                        <a:solidFill>
                          <a:schemeClr val="tx1"/>
                        </a:solidFill>
                        <a:latin typeface="Cambria Math" panose="02040503050406030204" pitchFamily="18" charset="0"/>
                      </a:rPr>
                      <m:t>𝐹</m:t>
                    </m:r>
                  </m:oMath>
                </a14:m>
                <a:r>
                  <a:rPr lang="zh-CN" altLang="en-US" sz="1250" dirty="0">
                    <a:solidFill>
                      <a:schemeClr val="tx1"/>
                    </a:solidFill>
                  </a:rPr>
                  <a:t>，它的高度为</a:t>
                </a:r>
                <a14:m>
                  <m:oMath xmlns:m="http://schemas.openxmlformats.org/officeDocument/2006/math">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𝜉</m:t>
                        </m:r>
                      </m:e>
                      <m:sub>
                        <m:r>
                          <a:rPr lang="en-US" altLang="zh-CN" sz="1250" b="0" i="1" dirty="0" smtClean="0">
                            <a:solidFill>
                              <a:schemeClr val="tx1"/>
                            </a:solidFill>
                            <a:latin typeface="Cambria Math" panose="02040503050406030204" pitchFamily="18" charset="0"/>
                          </a:rPr>
                          <m:t>0</m:t>
                        </m:r>
                      </m:sub>
                    </m:sSub>
                  </m:oMath>
                </a14:m>
                <a:r>
                  <a:rPr lang="zh-CN" altLang="en-US" sz="1250" dirty="0">
                    <a:solidFill>
                      <a:schemeClr val="tx1"/>
                    </a:solidFill>
                  </a:rPr>
                  <a:t>，以</a:t>
                </a:r>
                <a14:m>
                  <m:oMath xmlns:m="http://schemas.openxmlformats.org/officeDocument/2006/math">
                    <m:r>
                      <a:rPr lang="en-US" altLang="zh-CN" sz="1250" i="1" dirty="0">
                        <a:solidFill>
                          <a:schemeClr val="tx1"/>
                        </a:solidFill>
                        <a:latin typeface="Cambria Math" panose="02040503050406030204" pitchFamily="18" charset="0"/>
                      </a:rPr>
                      <m:t>𝐹</m:t>
                    </m:r>
                  </m:oMath>
                </a14:m>
                <a:r>
                  <a:rPr lang="zh-CN" altLang="en-US" sz="1250" dirty="0">
                    <a:solidFill>
                      <a:schemeClr val="tx1"/>
                    </a:solidFill>
                  </a:rPr>
                  <a:t>为</a:t>
                </a:r>
                <a:r>
                  <a:rPr lang="en-US" altLang="zh-CN" sz="1250" dirty="0">
                    <a:solidFill>
                      <a:schemeClr val="tx1"/>
                    </a:solidFill>
                  </a:rPr>
                  <a:t>x</a:t>
                </a:r>
                <a:r>
                  <a:rPr lang="zh-CN" altLang="en-US" sz="1250" dirty="0">
                    <a:solidFill>
                      <a:schemeClr val="tx1"/>
                    </a:solidFill>
                  </a:rPr>
                  <a:t>轴原点，与</a:t>
                </a:r>
                <a14:m>
                  <m:oMath xmlns:m="http://schemas.openxmlformats.org/officeDocument/2006/math">
                    <m:r>
                      <a:rPr lang="en-US" altLang="zh-CN" sz="1250" i="1" dirty="0">
                        <a:solidFill>
                          <a:schemeClr val="tx1"/>
                        </a:solidFill>
                        <a:latin typeface="Cambria Math" panose="02040503050406030204" pitchFamily="18" charset="0"/>
                      </a:rPr>
                      <m:t>𝐹</m:t>
                    </m:r>
                  </m:oMath>
                </a14:m>
                <a:r>
                  <a:rPr lang="zh-CN" altLang="en-US" sz="1250" dirty="0">
                    <a:solidFill>
                      <a:schemeClr val="tx1"/>
                    </a:solidFill>
                  </a:rPr>
                  <a:t>横向距离为</a:t>
                </a:r>
                <a14:m>
                  <m:oMath xmlns:m="http://schemas.openxmlformats.org/officeDocument/2006/math">
                    <m:r>
                      <a:rPr lang="en-US" altLang="zh-CN" sz="1250" b="0" i="1" dirty="0" smtClean="0">
                        <a:solidFill>
                          <a:schemeClr val="tx1"/>
                        </a:solidFill>
                        <a:latin typeface="Cambria Math" panose="02040503050406030204" pitchFamily="18" charset="0"/>
                      </a:rPr>
                      <m:t>𝜏</m:t>
                    </m:r>
                  </m:oMath>
                </a14:m>
                <a:r>
                  <a:rPr lang="zh-CN" altLang="en-US" sz="1250" dirty="0">
                    <a:solidFill>
                      <a:schemeClr val="tx1"/>
                    </a:solidFill>
                  </a:rPr>
                  <a:t>的微面 </a:t>
                </a:r>
                <a:r>
                  <a:rPr lang="zh-CN" altLang="en-US" sz="1250" u="sng" dirty="0">
                    <a:solidFill>
                      <a:schemeClr val="tx1"/>
                    </a:solidFill>
                  </a:rPr>
                  <a:t>在</a:t>
                </a:r>
                <a:r>
                  <a:rPr lang="en-US" altLang="zh-CN" sz="1250" u="sng" dirty="0">
                    <a:solidFill>
                      <a:schemeClr val="tx1"/>
                    </a:solidFill>
                  </a:rPr>
                  <a:t>x</a:t>
                </a:r>
                <a:r>
                  <a:rPr lang="zh-CN" altLang="en-US" sz="1250" u="sng" dirty="0">
                    <a:solidFill>
                      <a:schemeClr val="tx1"/>
                    </a:solidFill>
                  </a:rPr>
                  <a:t>方向的斜率</a:t>
                </a:r>
                <a:r>
                  <a:rPr lang="en-US" altLang="zh-CN" sz="1250" dirty="0">
                    <a:solidFill>
                      <a:schemeClr val="tx1"/>
                    </a:solidFill>
                  </a:rPr>
                  <a:t>(</a:t>
                </a:r>
                <a:r>
                  <a:rPr lang="zh-CN" altLang="en-US" sz="1250" dirty="0">
                    <a:solidFill>
                      <a:schemeClr val="tx1"/>
                    </a:solidFill>
                  </a:rPr>
                  <a:t>以下统称为斜率</a:t>
                </a:r>
                <a:r>
                  <a:rPr lang="en-US" altLang="zh-CN" sz="1250" dirty="0">
                    <a:solidFill>
                      <a:schemeClr val="tx1"/>
                    </a:solidFill>
                  </a:rPr>
                  <a:t>)</a:t>
                </a:r>
                <a:r>
                  <a:rPr lang="zh-CN" altLang="en-US" sz="1250" dirty="0">
                    <a:solidFill>
                      <a:schemeClr val="tx1"/>
                    </a:solidFill>
                  </a:rPr>
                  <a:t> 为</a:t>
                </a:r>
                <a14:m>
                  <m:oMath xmlns:m="http://schemas.openxmlformats.org/officeDocument/2006/math">
                    <m:r>
                      <m:rPr>
                        <m:sty m:val="p"/>
                      </m:rPr>
                      <a:rPr lang="en-US" altLang="zh-CN" sz="1250" b="0" i="1" dirty="0" smtClean="0">
                        <a:solidFill>
                          <a:schemeClr val="tx1"/>
                        </a:solidFill>
                        <a:latin typeface="Cambria Math" panose="02040503050406030204" pitchFamily="18" charset="0"/>
                      </a:rPr>
                      <m:t>q</m:t>
                    </m:r>
                    <m:d>
                      <m:dPr>
                        <m:ctrlPr>
                          <a:rPr lang="en-US" altLang="zh-CN" sz="1250" b="0" i="1" dirty="0" smtClean="0">
                            <a:solidFill>
                              <a:schemeClr val="tx1"/>
                            </a:solidFill>
                            <a:latin typeface="Cambria Math" panose="02040503050406030204" pitchFamily="18" charset="0"/>
                          </a:rPr>
                        </m:ctrlPr>
                      </m:dPr>
                      <m:e>
                        <m:r>
                          <a:rPr lang="en-US" altLang="zh-CN" sz="1250" b="0" i="1" dirty="0" smtClean="0">
                            <a:solidFill>
                              <a:schemeClr val="tx1"/>
                            </a:solidFill>
                            <a:latin typeface="Cambria Math" panose="02040503050406030204" pitchFamily="18" charset="0"/>
                          </a:rPr>
                          <m:t>𝜏</m:t>
                        </m:r>
                      </m:e>
                    </m:d>
                  </m:oMath>
                </a14:m>
                <a:r>
                  <a:rPr lang="zh-CN" altLang="en-US" sz="1250" dirty="0">
                    <a:solidFill>
                      <a:schemeClr val="tx1"/>
                    </a:solidFill>
                  </a:rPr>
                  <a:t>，</a:t>
                </a:r>
                <a:r>
                  <a:rPr lang="en-US" altLang="zh-CN" sz="1250" dirty="0">
                    <a:solidFill>
                      <a:schemeClr val="tx1"/>
                    </a:solidFill>
                  </a:rPr>
                  <a:t> </a:t>
                </a:r>
                <a14:m>
                  <m:oMath xmlns:m="http://schemas.openxmlformats.org/officeDocument/2006/math">
                    <m:r>
                      <a:rPr lang="en-US" altLang="zh-CN" sz="1250" i="1" dirty="0">
                        <a:solidFill>
                          <a:schemeClr val="tx1"/>
                        </a:solidFill>
                        <a:latin typeface="Cambria Math" panose="02040503050406030204" pitchFamily="18" charset="0"/>
                      </a:rPr>
                      <m:t>𝐹</m:t>
                    </m:r>
                  </m:oMath>
                </a14:m>
                <a:r>
                  <a:rPr lang="zh-CN" altLang="en-US" sz="1250" dirty="0">
                    <a:solidFill>
                      <a:schemeClr val="tx1"/>
                    </a:solidFill>
                  </a:rPr>
                  <a:t>处的斜率为</a:t>
                </a:r>
                <a14:m>
                  <m:oMath xmlns:m="http://schemas.openxmlformats.org/officeDocument/2006/math">
                    <m:sSub>
                      <m:sSubPr>
                        <m:ctrlPr>
                          <a:rPr lang="en-US" altLang="zh-CN" sz="1250" b="0" i="1" dirty="0" smtClean="0">
                            <a:solidFill>
                              <a:schemeClr val="tx1"/>
                            </a:solidFill>
                            <a:latin typeface="Cambria Math" panose="02040503050406030204" pitchFamily="18" charset="0"/>
                          </a:rPr>
                        </m:ctrlPr>
                      </m:sSubPr>
                      <m:e>
                        <m:r>
                          <m:rPr>
                            <m:sty m:val="p"/>
                          </m:rPr>
                          <a:rPr lang="en-US" altLang="zh-CN" sz="1250" b="0" i="0" dirty="0" smtClean="0">
                            <a:solidFill>
                              <a:schemeClr val="tx1"/>
                            </a:solidFill>
                            <a:latin typeface="Cambria Math" panose="02040503050406030204" pitchFamily="18" charset="0"/>
                          </a:rPr>
                          <m:t>q</m:t>
                        </m:r>
                      </m:e>
                      <m:sub>
                        <m:r>
                          <a:rPr lang="en-US" altLang="zh-CN" sz="1250" b="0" i="1" dirty="0" smtClean="0">
                            <a:solidFill>
                              <a:schemeClr val="tx1"/>
                            </a:solidFill>
                            <a:latin typeface="Cambria Math" panose="02040503050406030204" pitchFamily="18" charset="0"/>
                          </a:rPr>
                          <m:t>0</m:t>
                        </m:r>
                      </m:sub>
                    </m:sSub>
                  </m:oMath>
                </a14:m>
                <a:r>
                  <a:rPr lang="zh-CN" altLang="en-US" sz="1250" dirty="0">
                    <a:solidFill>
                      <a:schemeClr val="tx1"/>
                    </a:solidFill>
                  </a:rPr>
                  <a:t>。现在从</a:t>
                </a:r>
                <a14:m>
                  <m:oMath xmlns:m="http://schemas.openxmlformats.org/officeDocument/2006/math">
                    <m:r>
                      <a:rPr lang="en-US" altLang="zh-CN" sz="1250" i="1" dirty="0">
                        <a:solidFill>
                          <a:schemeClr val="tx1"/>
                        </a:solidFill>
                        <a:latin typeface="Cambria Math" panose="02040503050406030204" pitchFamily="18" charset="0"/>
                      </a:rPr>
                      <m:t>𝐹</m:t>
                    </m:r>
                  </m:oMath>
                </a14:m>
                <a:r>
                  <a:rPr lang="zh-CN" altLang="en-US" sz="1250" dirty="0">
                    <a:solidFill>
                      <a:schemeClr val="tx1"/>
                    </a:solidFill>
                  </a:rPr>
                  <a:t>处在截面内发射一条光线</a:t>
                </a:r>
                <a14:m>
                  <m:oMath xmlns:m="http://schemas.openxmlformats.org/officeDocument/2006/math">
                    <m:r>
                      <a:rPr lang="en-US" altLang="zh-CN" sz="1200" b="1" i="1" dirty="0" smtClean="0">
                        <a:solidFill>
                          <a:schemeClr val="tx1"/>
                        </a:solidFill>
                        <a:latin typeface="Cambria Math" panose="02040503050406030204" pitchFamily="18" charset="0"/>
                      </a:rPr>
                      <m:t>𝒗</m:t>
                    </m:r>
                  </m:oMath>
                </a14:m>
                <a:r>
                  <a:rPr lang="zh-CN" altLang="en-US" sz="1250" dirty="0">
                    <a:solidFill>
                      <a:schemeClr val="tx1"/>
                    </a:solidFill>
                  </a:rPr>
                  <a:t>，这条光线的斜率为</a:t>
                </a:r>
                <a14:m>
                  <m:oMath xmlns:m="http://schemas.openxmlformats.org/officeDocument/2006/math">
                    <m:r>
                      <a:rPr lang="en-US" altLang="zh-CN" sz="1250" b="0" i="1" dirty="0" smtClean="0">
                        <a:solidFill>
                          <a:schemeClr val="tx1"/>
                        </a:solidFill>
                        <a:latin typeface="Cambria Math" panose="02040503050406030204" pitchFamily="18" charset="0"/>
                      </a:rPr>
                      <m:t>𝜇</m:t>
                    </m:r>
                    <m:r>
                      <a:rPr lang="en-US" altLang="zh-CN" sz="1250" i="1" dirty="0">
                        <a:solidFill>
                          <a:schemeClr val="tx1"/>
                        </a:solidFill>
                        <a:latin typeface="Cambria Math" panose="02040503050406030204" pitchFamily="18" charset="0"/>
                      </a:rPr>
                      <m:t>=</m:t>
                    </m:r>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cot</m:t>
                        </m:r>
                      </m:fName>
                      <m:e>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𝜃</m:t>
                            </m:r>
                          </m:e>
                          <m:sub>
                            <m:r>
                              <a:rPr lang="en-US" altLang="zh-CN" sz="1250" i="1" dirty="0">
                                <a:solidFill>
                                  <a:schemeClr val="tx1"/>
                                </a:solidFill>
                                <a:latin typeface="Cambria Math" panose="02040503050406030204" pitchFamily="18" charset="0"/>
                              </a:rPr>
                              <m:t>𝑣</m:t>
                            </m:r>
                          </m:sub>
                        </m:sSub>
                      </m:e>
                    </m:func>
                  </m:oMath>
                </a14:m>
                <a:r>
                  <a:rPr lang="zh-CN" altLang="en-US" sz="1250" dirty="0">
                    <a:solidFill>
                      <a:schemeClr val="tx1"/>
                    </a:solidFill>
                  </a:rPr>
                  <a:t>，当光线前进</a:t>
                </a:r>
                <a14:m>
                  <m:oMath xmlns:m="http://schemas.openxmlformats.org/officeDocument/2006/math">
                    <m:r>
                      <a:rPr lang="en-US" altLang="zh-CN" sz="1250" b="0" i="1" dirty="0" smtClean="0">
                        <a:solidFill>
                          <a:schemeClr val="tx1"/>
                        </a:solidFill>
                        <a:latin typeface="Cambria Math" panose="02040503050406030204" pitchFamily="18" charset="0"/>
                      </a:rPr>
                      <m:t>𝜏</m:t>
                    </m:r>
                  </m:oMath>
                </a14:m>
                <a:r>
                  <a:rPr lang="zh-CN" altLang="en-US" sz="1250" dirty="0">
                    <a:solidFill>
                      <a:schemeClr val="tx1"/>
                    </a:solidFill>
                  </a:rPr>
                  <a:t>时，光线终点的高度为</a:t>
                </a:r>
                <a14:m>
                  <m:oMath xmlns:m="http://schemas.openxmlformats.org/officeDocument/2006/math">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𝜉</m:t>
                        </m:r>
                      </m:e>
                      <m:sub>
                        <m:r>
                          <a:rPr lang="en-US" altLang="zh-CN" sz="1250" b="0" i="1" dirty="0" smtClean="0">
                            <a:solidFill>
                              <a:schemeClr val="tx1"/>
                            </a:solidFill>
                            <a:latin typeface="Cambria Math" panose="02040503050406030204" pitchFamily="18" charset="0"/>
                          </a:rPr>
                          <m:t>0</m:t>
                        </m:r>
                      </m:sub>
                    </m:sSub>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𝜇𝜏</m:t>
                    </m:r>
                  </m:oMath>
                </a14:m>
                <a:r>
                  <a:rPr lang="zh-CN" altLang="en-US" sz="1250" dirty="0">
                    <a:solidFill>
                      <a:schemeClr val="tx1"/>
                    </a:solidFill>
                  </a:rPr>
                  <a:t>，在</a:t>
                </a:r>
                <a14:m>
                  <m:oMath xmlns:m="http://schemas.openxmlformats.org/officeDocument/2006/math">
                    <m:r>
                      <a:rPr lang="en-US" altLang="zh-CN" sz="1200" i="1" dirty="0">
                        <a:solidFill>
                          <a:schemeClr val="tx1"/>
                        </a:solidFill>
                        <a:latin typeface="Cambria Math" panose="02040503050406030204" pitchFamily="18" charset="0"/>
                      </a:rPr>
                      <m:t>𝜏</m:t>
                    </m:r>
                  </m:oMath>
                </a14:m>
                <a:r>
                  <a:rPr lang="zh-CN" altLang="en-US" sz="1250" dirty="0">
                    <a:solidFill>
                      <a:schemeClr val="tx1"/>
                    </a:solidFill>
                  </a:rPr>
                  <a:t>处微面的高度为</a:t>
                </a:r>
                <a14:m>
                  <m:oMath xmlns:m="http://schemas.openxmlformats.org/officeDocument/2006/math">
                    <m:r>
                      <a:rPr lang="en-US" altLang="zh-CN" sz="1200" b="0" i="1" dirty="0" smtClean="0">
                        <a:solidFill>
                          <a:schemeClr val="tx1"/>
                        </a:solidFill>
                        <a:latin typeface="Cambria Math" panose="02040503050406030204" pitchFamily="18" charset="0"/>
                      </a:rPr>
                      <m:t>𝜉</m:t>
                    </m:r>
                    <m:d>
                      <m:dPr>
                        <m:ctrlPr>
                          <a:rPr lang="en-US" altLang="zh-CN" sz="1200" b="0" i="1" dirty="0" smtClean="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𝜏</m:t>
                        </m:r>
                      </m:e>
                    </m:d>
                  </m:oMath>
                </a14:m>
                <a:r>
                  <a:rPr lang="zh-CN" altLang="en-US" sz="1250" dirty="0">
                    <a:solidFill>
                      <a:schemeClr val="tx1"/>
                    </a:solidFill>
                  </a:rPr>
                  <a:t>。</a:t>
                </a:r>
                <a:r>
                  <a:rPr lang="en-US" altLang="zh-CN" sz="1250" dirty="0">
                    <a:solidFill>
                      <a:schemeClr val="tx1"/>
                    </a:solidFill>
                  </a:rPr>
                  <a:t> </a:t>
                </a:r>
                <a:endParaRPr lang="en-US" altLang="zh-CN" sz="1250" i="1" dirty="0">
                  <a:solidFill>
                    <a:schemeClr val="tx1"/>
                  </a:solidFill>
                  <a:latin typeface="Cambria Math" panose="02040503050406030204" pitchFamily="18" charset="0"/>
                </a:endParaRPr>
              </a:p>
              <a:p>
                <a:pPr>
                  <a:lnSpc>
                    <a:spcPct val="150000"/>
                  </a:lnSpc>
                </a:pPr>
                <a:endParaRPr lang="en-US" altLang="zh-CN" sz="1250" dirty="0">
                  <a:solidFill>
                    <a:schemeClr val="tx1"/>
                  </a:solidFill>
                </a:endParaRPr>
              </a:p>
              <a:p>
                <a:pPr>
                  <a:lnSpc>
                    <a:spcPct val="150000"/>
                  </a:lnSpc>
                </a:pPr>
                <a14:m>
                  <m:oMath xmlns:m="http://schemas.openxmlformats.org/officeDocument/2006/math">
                    <m:r>
                      <a:rPr lang="en-US" altLang="zh-CN" sz="1250" i="1" dirty="0">
                        <a:solidFill>
                          <a:schemeClr val="tx1"/>
                        </a:solidFill>
                        <a:latin typeface="Cambria Math" panose="02040503050406030204" pitchFamily="18" charset="0"/>
                      </a:rPr>
                      <m:t>𝑆</m:t>
                    </m:r>
                    <m:r>
                      <a:rPr lang="en-US" altLang="zh-CN" sz="1250" i="1" dirty="0">
                        <a:solidFill>
                          <a:schemeClr val="tx1"/>
                        </a:solidFill>
                        <a:latin typeface="Cambria Math" panose="02040503050406030204" pitchFamily="18" charset="0"/>
                      </a:rPr>
                      <m:t>(</m:t>
                    </m:r>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𝜇</m:t>
                    </m:r>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𝜏</m:t>
                    </m:r>
                    <m:r>
                      <a:rPr lang="en-US" altLang="zh-CN" sz="1250" i="1" dirty="0">
                        <a:solidFill>
                          <a:schemeClr val="tx1"/>
                        </a:solidFill>
                        <a:latin typeface="Cambria Math" panose="02040503050406030204" pitchFamily="18" charset="0"/>
                      </a:rPr>
                      <m:t>)</m:t>
                    </m:r>
                  </m:oMath>
                </a14:m>
                <a:r>
                  <a:rPr lang="zh-CN" altLang="en-US" sz="1250" dirty="0">
                    <a:solidFill>
                      <a:schemeClr val="tx1"/>
                    </a:solidFill>
                  </a:rPr>
                  <a:t>为：高度为</a:t>
                </a:r>
                <a14:m>
                  <m:oMath xmlns:m="http://schemas.openxmlformats.org/officeDocument/2006/math">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oMath>
                </a14:m>
                <a:r>
                  <a:rPr lang="zh-CN" altLang="en-US" sz="1250" dirty="0">
                    <a:solidFill>
                      <a:schemeClr val="tx1"/>
                    </a:solidFill>
                  </a:rPr>
                  <a:t>的微面，向</a:t>
                </a:r>
                <a14:m>
                  <m:oMath xmlns:m="http://schemas.openxmlformats.org/officeDocument/2006/math">
                    <m:r>
                      <a:rPr lang="en-US" altLang="zh-CN" sz="1250" i="1" dirty="0">
                        <a:solidFill>
                          <a:schemeClr val="tx1"/>
                        </a:solidFill>
                        <a:latin typeface="Cambria Math" panose="02040503050406030204" pitchFamily="18" charset="0"/>
                      </a:rPr>
                      <m:t>𝜇</m:t>
                    </m:r>
                  </m:oMath>
                </a14:m>
                <a:r>
                  <a:rPr lang="zh-CN" altLang="en-US" sz="1250" dirty="0">
                    <a:solidFill>
                      <a:schemeClr val="tx1"/>
                    </a:solidFill>
                  </a:rPr>
                  <a:t>方向发射光线并前进</a:t>
                </a:r>
                <a14:m>
                  <m:oMath xmlns:m="http://schemas.openxmlformats.org/officeDocument/2006/math">
                    <m:r>
                      <a:rPr lang="en-US" altLang="zh-CN" sz="1250" i="1" dirty="0">
                        <a:solidFill>
                          <a:schemeClr val="tx1"/>
                        </a:solidFill>
                        <a:latin typeface="Cambria Math" panose="02040503050406030204" pitchFamily="18" charset="0"/>
                      </a:rPr>
                      <m:t>𝜏</m:t>
                    </m:r>
                  </m:oMath>
                </a14:m>
                <a:r>
                  <a:rPr lang="zh-CN" altLang="en-US" sz="1250" dirty="0">
                    <a:solidFill>
                      <a:schemeClr val="tx1"/>
                    </a:solidFill>
                  </a:rPr>
                  <a:t>后，光线与微表面没有相交的概率。</a:t>
                </a:r>
                <a:endParaRPr lang="en-US" altLang="zh-CN" sz="1250" dirty="0">
                  <a:solidFill>
                    <a:schemeClr val="tx1"/>
                  </a:solidFill>
                </a:endParaRPr>
              </a:p>
              <a:p>
                <a:pPr>
                  <a:lnSpc>
                    <a:spcPct val="150000"/>
                  </a:lnSpc>
                </a:pPr>
                <a14:m>
                  <m:oMath xmlns:m="http://schemas.openxmlformats.org/officeDocument/2006/math">
                    <m:r>
                      <a:rPr lang="en-US" altLang="zh-CN" sz="1250" i="1" dirty="0">
                        <a:solidFill>
                          <a:schemeClr val="tx1"/>
                        </a:solidFill>
                        <a:latin typeface="Cambria Math" panose="02040503050406030204" pitchFamily="18" charset="0"/>
                      </a:rPr>
                      <m:t>𝑆</m:t>
                    </m:r>
                    <m:r>
                      <a:rPr lang="en-US" altLang="zh-CN" sz="1250" i="1" dirty="0">
                        <a:solidFill>
                          <a:schemeClr val="tx1"/>
                        </a:solidFill>
                        <a:latin typeface="Cambria Math" panose="02040503050406030204" pitchFamily="18" charset="0"/>
                      </a:rPr>
                      <m:t>(</m:t>
                    </m:r>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𝜇</m:t>
                    </m:r>
                    <m:r>
                      <a:rPr lang="en-US" altLang="zh-CN" sz="1250" i="1" dirty="0">
                        <a:solidFill>
                          <a:schemeClr val="tx1"/>
                        </a:solidFill>
                        <a:latin typeface="Cambria Math" panose="02040503050406030204" pitchFamily="18" charset="0"/>
                      </a:rPr>
                      <m:t>)</m:t>
                    </m:r>
                  </m:oMath>
                </a14:m>
                <a:r>
                  <a:rPr lang="zh-CN" altLang="en-US" sz="1250" dirty="0">
                    <a:solidFill>
                      <a:schemeClr val="tx1"/>
                    </a:solidFill>
                  </a:rPr>
                  <a:t>为：高度为</a:t>
                </a:r>
                <a14:m>
                  <m:oMath xmlns:m="http://schemas.openxmlformats.org/officeDocument/2006/math">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oMath>
                </a14:m>
                <a:r>
                  <a:rPr lang="zh-CN" altLang="en-US" sz="1250" dirty="0">
                    <a:solidFill>
                      <a:schemeClr val="tx1"/>
                    </a:solidFill>
                  </a:rPr>
                  <a:t>的微面，向</a:t>
                </a:r>
                <a14:m>
                  <m:oMath xmlns:m="http://schemas.openxmlformats.org/officeDocument/2006/math">
                    <m:r>
                      <a:rPr lang="en-US" altLang="zh-CN" sz="1250" i="1" dirty="0">
                        <a:solidFill>
                          <a:schemeClr val="tx1"/>
                        </a:solidFill>
                        <a:latin typeface="Cambria Math" panose="02040503050406030204" pitchFamily="18" charset="0"/>
                      </a:rPr>
                      <m:t>𝜇</m:t>
                    </m:r>
                  </m:oMath>
                </a14:m>
                <a:r>
                  <a:rPr lang="zh-CN" altLang="en-US" sz="1250" dirty="0">
                    <a:solidFill>
                      <a:schemeClr val="tx1"/>
                    </a:solidFill>
                  </a:rPr>
                  <a:t>方向发射光线后，光线与微表面没有相交的概率。</a:t>
                </a:r>
                <a:endParaRPr lang="en-US" altLang="zh-CN" sz="125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250" i="1" dirty="0" smtClean="0">
                          <a:solidFill>
                            <a:schemeClr val="tx1"/>
                          </a:solidFill>
                          <a:latin typeface="Cambria Math" panose="02040503050406030204" pitchFamily="18" charset="0"/>
                        </a:rPr>
                        <m:t>𝑆</m:t>
                      </m:r>
                      <m:d>
                        <m:dPr>
                          <m:ctrlPr>
                            <a:rPr lang="en-US" altLang="zh-CN" sz="1250" i="1" dirty="0" smtClean="0">
                              <a:solidFill>
                                <a:schemeClr val="tx1"/>
                              </a:solidFill>
                              <a:latin typeface="Cambria Math" panose="02040503050406030204" pitchFamily="18" charset="0"/>
                            </a:rPr>
                          </m:ctrlPr>
                        </m:dPr>
                        <m:e>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𝜇</m:t>
                          </m:r>
                        </m:e>
                      </m:d>
                      <m:r>
                        <a:rPr lang="en-US" altLang="zh-CN" sz="1250" b="0" i="1" dirty="0" smtClean="0">
                          <a:solidFill>
                            <a:schemeClr val="tx1"/>
                          </a:solidFill>
                          <a:latin typeface="Cambria Math" panose="02040503050406030204" pitchFamily="18" charset="0"/>
                        </a:rPr>
                        <m:t>=</m:t>
                      </m:r>
                      <m:func>
                        <m:funcPr>
                          <m:ctrlPr>
                            <a:rPr lang="en-US" altLang="zh-CN" sz="1250" b="0" i="1" dirty="0" smtClean="0">
                              <a:solidFill>
                                <a:schemeClr val="tx1"/>
                              </a:solidFill>
                              <a:latin typeface="Cambria Math" panose="02040503050406030204" pitchFamily="18" charset="0"/>
                            </a:rPr>
                          </m:ctrlPr>
                        </m:funcPr>
                        <m:fName>
                          <m:limLow>
                            <m:limLowPr>
                              <m:ctrlPr>
                                <a:rPr lang="en-US" altLang="zh-CN" sz="1250" b="0" i="1" dirty="0" smtClean="0">
                                  <a:solidFill>
                                    <a:schemeClr val="tx1"/>
                                  </a:solidFill>
                                  <a:latin typeface="Cambria Math" panose="02040503050406030204" pitchFamily="18" charset="0"/>
                                </a:rPr>
                              </m:ctrlPr>
                            </m:limLowPr>
                            <m:e>
                              <m:r>
                                <m:rPr>
                                  <m:sty m:val="p"/>
                                </m:rPr>
                                <a:rPr lang="en-US" altLang="zh-CN" sz="1250" b="0" i="0" dirty="0" smtClean="0">
                                  <a:solidFill>
                                    <a:schemeClr val="tx1"/>
                                  </a:solidFill>
                                  <a:latin typeface="Cambria Math" panose="02040503050406030204" pitchFamily="18" charset="0"/>
                                </a:rPr>
                                <m:t>lim</m:t>
                              </m:r>
                            </m:e>
                            <m:lim>
                              <m:r>
                                <a:rPr lang="en-US" altLang="zh-CN" sz="1250" b="0" i="1" dirty="0" smtClean="0">
                                  <a:solidFill>
                                    <a:schemeClr val="tx1"/>
                                  </a:solidFill>
                                  <a:latin typeface="Cambria Math" panose="02040503050406030204" pitchFamily="18" charset="0"/>
                                </a:rPr>
                                <m:t>𝜏</m:t>
                              </m:r>
                              <m:r>
                                <a:rPr lang="en-US" altLang="zh-CN" sz="1250" b="0" i="1" dirty="0" smtClean="0">
                                  <a:solidFill>
                                    <a:schemeClr val="tx1"/>
                                  </a:solidFill>
                                  <a:latin typeface="Cambria Math" panose="02040503050406030204" pitchFamily="18" charset="0"/>
                                </a:rPr>
                                <m:t>→+∞</m:t>
                              </m:r>
                            </m:lim>
                          </m:limLow>
                        </m:fName>
                        <m:e>
                          <m:r>
                            <a:rPr lang="en-US" altLang="zh-CN" sz="1250" b="0" i="1" dirty="0" smtClean="0">
                              <a:solidFill>
                                <a:schemeClr val="tx1"/>
                              </a:solidFill>
                              <a:latin typeface="Cambria Math" panose="02040503050406030204" pitchFamily="18" charset="0"/>
                            </a:rPr>
                            <m:t>𝑆</m:t>
                          </m:r>
                          <m:d>
                            <m:dPr>
                              <m:ctrlPr>
                                <a:rPr lang="en-US" altLang="zh-CN" sz="1250" b="0" i="1" dirty="0" smtClean="0">
                                  <a:solidFill>
                                    <a:schemeClr val="tx1"/>
                                  </a:solidFill>
                                  <a:latin typeface="Cambria Math" panose="02040503050406030204" pitchFamily="18" charset="0"/>
                                </a:rPr>
                              </m:ctrlPr>
                            </m:dPr>
                            <m:e>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𝜉</m:t>
                                  </m:r>
                                </m:e>
                                <m:sub>
                                  <m:r>
                                    <a:rPr lang="en-US" altLang="zh-CN" sz="1250" b="0" i="1" dirty="0" smtClean="0">
                                      <a:solidFill>
                                        <a:schemeClr val="tx1"/>
                                      </a:solidFill>
                                      <a:latin typeface="Cambria Math" panose="02040503050406030204" pitchFamily="18" charset="0"/>
                                    </a:rPr>
                                    <m:t>0</m:t>
                                  </m:r>
                                </m:sub>
                              </m:sSub>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𝜇</m:t>
                              </m:r>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𝜏</m:t>
                              </m:r>
                            </m:e>
                          </m:d>
                        </m:e>
                      </m:func>
                      <m:r>
                        <a:rPr lang="en-US" altLang="zh-CN" sz="1250" b="0" i="1" dirty="0" smtClean="0">
                          <a:solidFill>
                            <a:schemeClr val="tx1"/>
                          </a:solidFill>
                          <a:latin typeface="Cambria Math" panose="02040503050406030204" pitchFamily="18" charset="0"/>
                        </a:rPr>
                        <m:t>,  </m:t>
                      </m:r>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𝐺</m:t>
                          </m:r>
                        </m:e>
                        <m:sub>
                          <m:r>
                            <a:rPr lang="en-US" altLang="zh-CN" sz="1250" b="0" i="1" dirty="0" smtClean="0">
                              <a:solidFill>
                                <a:schemeClr val="tx1"/>
                              </a:solidFill>
                              <a:latin typeface="Cambria Math" panose="02040503050406030204" pitchFamily="18" charset="0"/>
                            </a:rPr>
                            <m:t>1</m:t>
                          </m:r>
                        </m:sub>
                      </m:sSub>
                      <m:d>
                        <m:dPr>
                          <m:ctrlPr>
                            <a:rPr lang="en-US" altLang="zh-CN" sz="1250" b="0" i="1" dirty="0" smtClean="0">
                              <a:solidFill>
                                <a:schemeClr val="tx1"/>
                              </a:solidFill>
                              <a:latin typeface="Cambria Math" panose="02040503050406030204" pitchFamily="18" charset="0"/>
                            </a:rPr>
                          </m:ctrlPr>
                        </m:dPr>
                        <m:e>
                          <m:r>
                            <a:rPr lang="en-US" altLang="zh-CN" sz="1250" b="1" i="1" dirty="0" smtClean="0">
                              <a:solidFill>
                                <a:schemeClr val="tx1"/>
                              </a:solidFill>
                              <a:latin typeface="Cambria Math" panose="02040503050406030204" pitchFamily="18" charset="0"/>
                            </a:rPr>
                            <m:t>𝒐</m:t>
                          </m:r>
                          <m:r>
                            <a:rPr lang="en-US" altLang="zh-CN" sz="1250" b="1" i="1" dirty="0" smtClean="0">
                              <a:solidFill>
                                <a:schemeClr val="tx1"/>
                              </a:solidFill>
                              <a:latin typeface="Cambria Math" panose="02040503050406030204" pitchFamily="18" charset="0"/>
                            </a:rPr>
                            <m:t>,</m:t>
                          </m:r>
                          <m:r>
                            <a:rPr lang="en-US" altLang="zh-CN" sz="1250" b="1" i="1" dirty="0" smtClean="0">
                              <a:solidFill>
                                <a:schemeClr val="tx1"/>
                              </a:solidFill>
                              <a:latin typeface="Cambria Math" panose="02040503050406030204" pitchFamily="18" charset="0"/>
                            </a:rPr>
                            <m:t>𝒎</m:t>
                          </m:r>
                          <m:r>
                            <a:rPr lang="en-US" altLang="zh-CN" sz="1250" b="0" i="1" dirty="0" smtClean="0">
                              <a:solidFill>
                                <a:schemeClr val="tx1"/>
                              </a:solidFill>
                              <a:latin typeface="Cambria Math" panose="02040503050406030204" pitchFamily="18" charset="0"/>
                            </a:rPr>
                            <m:t>,</m:t>
                          </m:r>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𝜉</m:t>
                              </m:r>
                            </m:e>
                            <m:sub>
                              <m:r>
                                <a:rPr lang="en-US" altLang="zh-CN" sz="1250" b="0" i="1" dirty="0" smtClean="0">
                                  <a:solidFill>
                                    <a:schemeClr val="tx1"/>
                                  </a:solidFill>
                                  <a:latin typeface="Cambria Math" panose="02040503050406030204" pitchFamily="18" charset="0"/>
                                </a:rPr>
                                <m:t>0</m:t>
                              </m:r>
                            </m:sub>
                          </m:sSub>
                        </m:e>
                      </m:d>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𝑆</m:t>
                      </m:r>
                      <m:d>
                        <m:dPr>
                          <m:ctrlPr>
                            <a:rPr lang="en-US" altLang="zh-CN" sz="1250" b="0" i="1" dirty="0" smtClean="0">
                              <a:solidFill>
                                <a:schemeClr val="tx1"/>
                              </a:solidFill>
                              <a:latin typeface="Cambria Math" panose="02040503050406030204" pitchFamily="18" charset="0"/>
                            </a:rPr>
                          </m:ctrlPr>
                        </m:dPr>
                        <m:e>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r>
                            <a:rPr lang="en-US" altLang="zh-CN" sz="1250" b="0" i="0" dirty="0" smtClean="0">
                              <a:solidFill>
                                <a:schemeClr val="tx1"/>
                              </a:solidFill>
                              <a:latin typeface="Cambria Math" panose="02040503050406030204" pitchFamily="18" charset="0"/>
                            </a:rPr>
                            <m:t>,</m:t>
                          </m:r>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cot</m:t>
                              </m:r>
                            </m:fName>
                            <m:e>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𝜃</m:t>
                                  </m:r>
                                </m:e>
                                <m:sub>
                                  <m:r>
                                    <a:rPr lang="en-US" altLang="zh-CN" sz="1250" b="0" i="1" dirty="0" smtClean="0">
                                      <a:solidFill>
                                        <a:schemeClr val="tx1"/>
                                      </a:solidFill>
                                      <a:latin typeface="Cambria Math" panose="02040503050406030204" pitchFamily="18" charset="0"/>
                                    </a:rPr>
                                    <m:t>0</m:t>
                                  </m:r>
                                </m:sub>
                              </m:sSub>
                            </m:e>
                          </m:func>
                        </m:e>
                      </m:d>
                      <m:r>
                        <a:rPr lang="en-US" altLang="zh-CN" sz="1250" b="0" i="0" dirty="0" smtClean="0">
                          <a:solidFill>
                            <a:schemeClr val="tx1"/>
                          </a:solidFill>
                          <a:latin typeface="Cambria Math" panose="02040503050406030204" pitchFamily="18" charset="0"/>
                        </a:rPr>
                        <m:t>=</m:t>
                      </m:r>
                      <m:func>
                        <m:funcPr>
                          <m:ctrlPr>
                            <a:rPr lang="en-US" altLang="zh-CN" sz="1250" i="1" dirty="0">
                              <a:solidFill>
                                <a:schemeClr val="tx1"/>
                              </a:solidFill>
                              <a:latin typeface="Cambria Math" panose="02040503050406030204" pitchFamily="18" charset="0"/>
                            </a:rPr>
                          </m:ctrlPr>
                        </m:funcPr>
                        <m:fName>
                          <m:limLow>
                            <m:limLowPr>
                              <m:ctrlPr>
                                <a:rPr lang="en-US" altLang="zh-CN" sz="1250" i="1" dirty="0">
                                  <a:solidFill>
                                    <a:schemeClr val="tx1"/>
                                  </a:solidFill>
                                  <a:latin typeface="Cambria Math" panose="02040503050406030204" pitchFamily="18" charset="0"/>
                                </a:rPr>
                              </m:ctrlPr>
                            </m:limLowPr>
                            <m:e>
                              <m:r>
                                <m:rPr>
                                  <m:sty m:val="p"/>
                                </m:rPr>
                                <a:rPr lang="en-US" altLang="zh-CN" sz="1250" dirty="0">
                                  <a:solidFill>
                                    <a:schemeClr val="tx1"/>
                                  </a:solidFill>
                                  <a:latin typeface="Cambria Math" panose="02040503050406030204" pitchFamily="18" charset="0"/>
                                </a:rPr>
                                <m:t>lim</m:t>
                              </m:r>
                            </m:e>
                            <m:lim>
                              <m:r>
                                <a:rPr lang="en-US" altLang="zh-CN" sz="1250" i="1" dirty="0">
                                  <a:solidFill>
                                    <a:schemeClr val="tx1"/>
                                  </a:solidFill>
                                  <a:latin typeface="Cambria Math" panose="02040503050406030204" pitchFamily="18" charset="0"/>
                                </a:rPr>
                                <m:t>𝜏</m:t>
                              </m:r>
                              <m:r>
                                <a:rPr lang="en-US" altLang="zh-CN" sz="1250" i="1" dirty="0">
                                  <a:solidFill>
                                    <a:schemeClr val="tx1"/>
                                  </a:solidFill>
                                  <a:latin typeface="Cambria Math" panose="02040503050406030204" pitchFamily="18" charset="0"/>
                                </a:rPr>
                                <m:t>→+∞</m:t>
                              </m:r>
                            </m:lim>
                          </m:limLow>
                        </m:fName>
                        <m:e>
                          <m:r>
                            <a:rPr lang="en-US" altLang="zh-CN" sz="1250" i="1" dirty="0">
                              <a:solidFill>
                                <a:schemeClr val="tx1"/>
                              </a:solidFill>
                              <a:latin typeface="Cambria Math" panose="02040503050406030204" pitchFamily="18" charset="0"/>
                            </a:rPr>
                            <m:t>𝑆</m:t>
                          </m:r>
                          <m:d>
                            <m:dPr>
                              <m:ctrlPr>
                                <a:rPr lang="en-US" altLang="zh-CN" sz="1250" i="1" dirty="0">
                                  <a:solidFill>
                                    <a:schemeClr val="tx1"/>
                                  </a:solidFill>
                                  <a:latin typeface="Cambria Math" panose="02040503050406030204" pitchFamily="18" charset="0"/>
                                </a:rPr>
                              </m:ctrlPr>
                            </m:dPr>
                            <m:e>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r>
                                <a:rPr lang="en-US" altLang="zh-CN" sz="1250" i="1" dirty="0">
                                  <a:solidFill>
                                    <a:schemeClr val="tx1"/>
                                  </a:solidFill>
                                  <a:latin typeface="Cambria Math" panose="02040503050406030204" pitchFamily="18" charset="0"/>
                                </a:rPr>
                                <m:t>,</m:t>
                              </m:r>
                              <m:func>
                                <m:funcPr>
                                  <m:ctrlPr>
                                    <a:rPr lang="en-US" altLang="zh-CN" sz="1250" i="1" dirty="0">
                                      <a:solidFill>
                                        <a:schemeClr val="tx1"/>
                                      </a:solidFill>
                                      <a:latin typeface="Cambria Math" panose="02040503050406030204" pitchFamily="18" charset="0"/>
                                    </a:rPr>
                                  </m:ctrlPr>
                                </m:funcPr>
                                <m:fName>
                                  <m:r>
                                    <m:rPr>
                                      <m:sty m:val="p"/>
                                    </m:rPr>
                                    <a:rPr lang="en-US" altLang="zh-CN" sz="1250" dirty="0">
                                      <a:solidFill>
                                        <a:schemeClr val="tx1"/>
                                      </a:solidFill>
                                      <a:latin typeface="Cambria Math" panose="02040503050406030204" pitchFamily="18" charset="0"/>
                                    </a:rPr>
                                    <m:t>cot</m:t>
                                  </m:r>
                                </m:fName>
                                <m:e>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𝜃</m:t>
                                      </m:r>
                                    </m:e>
                                    <m:sub>
                                      <m:r>
                                        <a:rPr lang="en-US" altLang="zh-CN" sz="1250" i="1" dirty="0">
                                          <a:solidFill>
                                            <a:schemeClr val="tx1"/>
                                          </a:solidFill>
                                          <a:latin typeface="Cambria Math" panose="02040503050406030204" pitchFamily="18" charset="0"/>
                                        </a:rPr>
                                        <m:t>0</m:t>
                                      </m:r>
                                    </m:sub>
                                  </m:sSub>
                                </m:e>
                              </m:func>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𝜏</m:t>
                              </m:r>
                            </m:e>
                          </m:d>
                        </m:e>
                      </m:func>
                    </m:oMath>
                  </m:oMathPara>
                </a14:m>
                <a:endParaRPr lang="en-US" altLang="zh-CN" sz="1250" b="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250" b="0" i="1" dirty="0" smtClean="0">
                          <a:solidFill>
                            <a:schemeClr val="tx1"/>
                          </a:solidFill>
                          <a:latin typeface="Cambria Math" panose="02040503050406030204" pitchFamily="18" charset="0"/>
                        </a:rPr>
                        <m:t>𝑆</m:t>
                      </m:r>
                      <m:d>
                        <m:dPr>
                          <m:ctrlPr>
                            <a:rPr lang="en-US" altLang="zh-CN" sz="1250" b="0" i="1" dirty="0" smtClean="0">
                              <a:solidFill>
                                <a:schemeClr val="tx1"/>
                              </a:solidFill>
                              <a:latin typeface="Cambria Math" panose="02040503050406030204" pitchFamily="18" charset="0"/>
                            </a:rPr>
                          </m:ctrlPr>
                        </m:dPr>
                        <m:e>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𝜉</m:t>
                              </m:r>
                            </m:e>
                            <m:sub>
                              <m:r>
                                <a:rPr lang="en-US" altLang="zh-CN" sz="1250" b="0" i="1" dirty="0" smtClean="0">
                                  <a:solidFill>
                                    <a:schemeClr val="tx1"/>
                                  </a:solidFill>
                                  <a:latin typeface="Cambria Math" panose="02040503050406030204" pitchFamily="18" charset="0"/>
                                </a:rPr>
                                <m:t>0</m:t>
                              </m:r>
                            </m:sub>
                          </m:sSub>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𝜇</m:t>
                          </m:r>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𝜏</m:t>
                          </m:r>
                          <m:r>
                            <a:rPr lang="en-US" altLang="zh-CN" sz="1250" b="0" i="1" dirty="0" smtClean="0">
                              <a:solidFill>
                                <a:schemeClr val="tx1"/>
                              </a:solidFill>
                              <a:latin typeface="Cambria Math" panose="02040503050406030204" pitchFamily="18" charset="0"/>
                            </a:rPr>
                            <m:t>+</m:t>
                          </m:r>
                          <m:r>
                            <m:rPr>
                              <m:sty m:val="p"/>
                            </m:rPr>
                            <a:rPr lang="en-US" altLang="zh-CN" sz="1250" b="0" i="0" dirty="0" smtClean="0">
                              <a:solidFill>
                                <a:schemeClr val="tx1"/>
                              </a:solidFill>
                              <a:latin typeface="Cambria Math" panose="02040503050406030204" pitchFamily="18" charset="0"/>
                            </a:rPr>
                            <m:t>Δ</m:t>
                          </m:r>
                          <m:r>
                            <a:rPr lang="en-US" altLang="zh-CN" sz="1250" b="0" i="1" dirty="0" smtClean="0">
                              <a:solidFill>
                                <a:schemeClr val="tx1"/>
                              </a:solidFill>
                              <a:latin typeface="Cambria Math" panose="02040503050406030204" pitchFamily="18" charset="0"/>
                            </a:rPr>
                            <m:t>𝜏</m:t>
                          </m:r>
                        </m:e>
                      </m:d>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𝑆</m:t>
                      </m:r>
                      <m:d>
                        <m:dPr>
                          <m:ctrlPr>
                            <a:rPr lang="en-US" altLang="zh-CN" sz="1250" i="1" dirty="0">
                              <a:solidFill>
                                <a:schemeClr val="tx1"/>
                              </a:solidFill>
                              <a:latin typeface="Cambria Math" panose="02040503050406030204" pitchFamily="18" charset="0"/>
                            </a:rPr>
                          </m:ctrlPr>
                        </m:dPr>
                        <m:e>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𝜇</m:t>
                          </m:r>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𝜏</m:t>
                          </m:r>
                        </m:e>
                      </m:d>
                      <m:r>
                        <a:rPr lang="en-US" altLang="zh-CN" sz="1250" b="0" i="1" dirty="0" smtClean="0">
                          <a:solidFill>
                            <a:schemeClr val="tx1"/>
                          </a:solidFill>
                          <a:latin typeface="Cambria Math" panose="02040503050406030204" pitchFamily="18" charset="0"/>
                        </a:rPr>
                        <m:t> </m:t>
                      </m:r>
                      <m:r>
                        <a:rPr lang="en-US" altLang="zh-CN" sz="1250" b="0" i="1" dirty="0" smtClean="0">
                          <a:solidFill>
                            <a:schemeClr val="tx1"/>
                          </a:solidFill>
                          <a:latin typeface="Cambria Math" panose="02040503050406030204" pitchFamily="18" charset="0"/>
                        </a:rPr>
                        <m:t>𝑄</m:t>
                      </m:r>
                      <m:d>
                        <m:dPr>
                          <m:ctrlPr>
                            <a:rPr lang="en-US" altLang="zh-CN" sz="1250" b="0" i="1" dirty="0" smtClean="0">
                              <a:solidFill>
                                <a:schemeClr val="tx1"/>
                              </a:solidFill>
                              <a:latin typeface="Cambria Math" panose="02040503050406030204" pitchFamily="18" charset="0"/>
                            </a:rPr>
                          </m:ctrlPr>
                        </m:dPr>
                        <m:e>
                          <m:r>
                            <m:rPr>
                              <m:sty m:val="p"/>
                            </m:rPr>
                            <a:rPr lang="en-US" altLang="zh-CN" sz="1250" b="0" i="0" dirty="0" smtClean="0">
                              <a:solidFill>
                                <a:schemeClr val="tx1"/>
                              </a:solidFill>
                              <a:latin typeface="Cambria Math" panose="02040503050406030204" pitchFamily="18" charset="0"/>
                            </a:rPr>
                            <m:t>Δ</m:t>
                          </m:r>
                          <m:r>
                            <a:rPr lang="en-US" altLang="zh-CN" sz="1250" b="0" i="1" dirty="0" smtClean="0">
                              <a:solidFill>
                                <a:schemeClr val="tx1"/>
                              </a:solidFill>
                              <a:latin typeface="Cambria Math" panose="02040503050406030204" pitchFamily="18" charset="0"/>
                            </a:rPr>
                            <m:t>𝜏</m:t>
                          </m:r>
                        </m:e>
                        <m:e>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𝜉</m:t>
                              </m:r>
                            </m:e>
                            <m:sub>
                              <m:r>
                                <a:rPr lang="en-US" altLang="zh-CN" sz="1250" b="0" i="1" dirty="0" smtClean="0">
                                  <a:solidFill>
                                    <a:schemeClr val="tx1"/>
                                  </a:solidFill>
                                  <a:latin typeface="Cambria Math" panose="02040503050406030204" pitchFamily="18" charset="0"/>
                                </a:rPr>
                                <m:t>0</m:t>
                              </m:r>
                            </m:sub>
                          </m:sSub>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𝜇</m:t>
                          </m:r>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𝜏</m:t>
                          </m:r>
                        </m:e>
                      </m:d>
                    </m:oMath>
                  </m:oMathPara>
                </a14:m>
                <a:endParaRPr lang="en-US" altLang="zh-CN" sz="1250" b="0" dirty="0">
                  <a:solidFill>
                    <a:schemeClr val="tx1"/>
                  </a:solidFill>
                </a:endParaRPr>
              </a:p>
              <a:p>
                <a:pPr>
                  <a:lnSpc>
                    <a:spcPct val="150000"/>
                  </a:lnSpc>
                </a:pPr>
                <a14:m>
                  <m:oMath xmlns:m="http://schemas.openxmlformats.org/officeDocument/2006/math">
                    <m:r>
                      <a:rPr lang="en-US" altLang="zh-CN" sz="1250" b="0" i="1" dirty="0" smtClean="0">
                        <a:solidFill>
                          <a:schemeClr val="tx1"/>
                        </a:solidFill>
                        <a:latin typeface="Cambria Math" panose="02040503050406030204" pitchFamily="18" charset="0"/>
                      </a:rPr>
                      <m:t>𝑄</m:t>
                    </m:r>
                    <m:d>
                      <m:dPr>
                        <m:ctrlPr>
                          <a:rPr lang="en-US" altLang="zh-CN" sz="1250" b="0" i="1" dirty="0" smtClean="0">
                            <a:solidFill>
                              <a:schemeClr val="tx1"/>
                            </a:solidFill>
                            <a:latin typeface="Cambria Math" panose="02040503050406030204" pitchFamily="18" charset="0"/>
                          </a:rPr>
                        </m:ctrlPr>
                      </m:dPr>
                      <m:e>
                        <m:r>
                          <m:rPr>
                            <m:sty m:val="p"/>
                          </m:rPr>
                          <a:rPr lang="en-US" altLang="zh-CN" sz="1250" b="0" i="0" dirty="0" smtClean="0">
                            <a:solidFill>
                              <a:schemeClr val="tx1"/>
                            </a:solidFill>
                            <a:latin typeface="Cambria Math" panose="02040503050406030204" pitchFamily="18" charset="0"/>
                          </a:rPr>
                          <m:t>Δ</m:t>
                        </m:r>
                        <m:r>
                          <a:rPr lang="en-US" altLang="zh-CN" sz="1250" b="0" i="1" dirty="0" smtClean="0">
                            <a:solidFill>
                              <a:schemeClr val="tx1"/>
                            </a:solidFill>
                            <a:latin typeface="Cambria Math" panose="02040503050406030204" pitchFamily="18" charset="0"/>
                          </a:rPr>
                          <m:t>𝜏</m:t>
                        </m:r>
                      </m:e>
                      <m:e>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𝜉</m:t>
                            </m:r>
                          </m:e>
                          <m:sub>
                            <m:r>
                              <a:rPr lang="en-US" altLang="zh-CN" sz="1250" b="0" i="1" dirty="0" smtClean="0">
                                <a:solidFill>
                                  <a:schemeClr val="tx1"/>
                                </a:solidFill>
                                <a:latin typeface="Cambria Math" panose="02040503050406030204" pitchFamily="18" charset="0"/>
                              </a:rPr>
                              <m:t>0</m:t>
                            </m:r>
                          </m:sub>
                        </m:sSub>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𝜇</m:t>
                        </m:r>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𝜏</m:t>
                        </m:r>
                      </m:e>
                    </m:d>
                  </m:oMath>
                </a14:m>
                <a:r>
                  <a:rPr lang="zh-CN" altLang="en-US" sz="1250" dirty="0">
                    <a:solidFill>
                      <a:schemeClr val="tx1"/>
                    </a:solidFill>
                  </a:rPr>
                  <a:t>为：当</a:t>
                </a:r>
                <a14:m>
                  <m:oMath xmlns:m="http://schemas.openxmlformats.org/officeDocument/2006/math">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𝜇</m:t>
                    </m:r>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𝜏</m:t>
                    </m:r>
                  </m:oMath>
                </a14:m>
                <a:r>
                  <a:rPr lang="zh-CN" altLang="en-US" sz="1250" dirty="0">
                    <a:solidFill>
                      <a:schemeClr val="tx1"/>
                    </a:solidFill>
                  </a:rPr>
                  <a:t>时，光线从</a:t>
                </a:r>
                <a14:m>
                  <m:oMath xmlns:m="http://schemas.openxmlformats.org/officeDocument/2006/math">
                    <m:r>
                      <a:rPr lang="en-US" altLang="zh-CN" sz="1250" i="1" dirty="0">
                        <a:solidFill>
                          <a:schemeClr val="tx1"/>
                        </a:solidFill>
                        <a:latin typeface="Cambria Math" panose="02040503050406030204" pitchFamily="18" charset="0"/>
                      </a:rPr>
                      <m:t>𝜏</m:t>
                    </m:r>
                  </m:oMath>
                </a14:m>
                <a:r>
                  <a:rPr lang="zh-CN" altLang="en-US" sz="1250" dirty="0">
                    <a:solidFill>
                      <a:schemeClr val="tx1"/>
                    </a:solidFill>
                  </a:rPr>
                  <a:t>前进</a:t>
                </a:r>
                <a14:m>
                  <m:oMath xmlns:m="http://schemas.openxmlformats.org/officeDocument/2006/math">
                    <m:r>
                      <m:rPr>
                        <m:sty m:val="p"/>
                      </m:rPr>
                      <a:rPr lang="en-US" altLang="zh-CN" sz="1250" dirty="0">
                        <a:solidFill>
                          <a:schemeClr val="tx1"/>
                        </a:solidFill>
                        <a:latin typeface="Cambria Math" panose="02040503050406030204" pitchFamily="18" charset="0"/>
                      </a:rPr>
                      <m:t>Δ</m:t>
                    </m:r>
                    <m:r>
                      <a:rPr lang="en-US" altLang="zh-CN" sz="1250" i="1" dirty="0">
                        <a:solidFill>
                          <a:schemeClr val="tx1"/>
                        </a:solidFill>
                        <a:latin typeface="Cambria Math" panose="02040503050406030204" pitchFamily="18" charset="0"/>
                      </a:rPr>
                      <m:t>𝜏</m:t>
                    </m:r>
                  </m:oMath>
                </a14:m>
                <a:r>
                  <a:rPr lang="zh-CN" altLang="en-US" sz="1250" dirty="0">
                    <a:solidFill>
                      <a:schemeClr val="tx1"/>
                    </a:solidFill>
                  </a:rPr>
                  <a:t>后，没有与微表面相交的条件概率。</a:t>
                </a:r>
                <a:endParaRPr lang="en-US" altLang="zh-CN" sz="125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250" b="0" i="1" dirty="0" smtClean="0">
                          <a:solidFill>
                            <a:schemeClr val="tx1"/>
                          </a:solidFill>
                          <a:latin typeface="Cambria Math" panose="02040503050406030204" pitchFamily="18" charset="0"/>
                        </a:rPr>
                        <m:t>𝑄</m:t>
                      </m:r>
                      <m:d>
                        <m:dPr>
                          <m:ctrlPr>
                            <a:rPr lang="en-US" altLang="zh-CN" sz="1250" b="0" i="1" dirty="0" smtClean="0">
                              <a:solidFill>
                                <a:schemeClr val="tx1"/>
                              </a:solidFill>
                              <a:latin typeface="Cambria Math" panose="02040503050406030204" pitchFamily="18" charset="0"/>
                            </a:rPr>
                          </m:ctrlPr>
                        </m:dPr>
                        <m:e>
                          <m:r>
                            <m:rPr>
                              <m:sty m:val="p"/>
                            </m:rPr>
                            <a:rPr lang="en-US" altLang="zh-CN" sz="1250" b="0" i="0" dirty="0" smtClean="0">
                              <a:solidFill>
                                <a:schemeClr val="tx1"/>
                              </a:solidFill>
                              <a:latin typeface="Cambria Math" panose="02040503050406030204" pitchFamily="18" charset="0"/>
                            </a:rPr>
                            <m:t>Δ</m:t>
                          </m:r>
                          <m:r>
                            <a:rPr lang="en-US" altLang="zh-CN" sz="1250" b="0" i="1" dirty="0" smtClean="0">
                              <a:solidFill>
                                <a:schemeClr val="tx1"/>
                              </a:solidFill>
                              <a:latin typeface="Cambria Math" panose="02040503050406030204" pitchFamily="18" charset="0"/>
                            </a:rPr>
                            <m:t>𝜏</m:t>
                          </m:r>
                        </m:e>
                        <m:e>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𝜉</m:t>
                              </m:r>
                            </m:e>
                            <m:sub>
                              <m:r>
                                <a:rPr lang="en-US" altLang="zh-CN" sz="1250" b="0" i="1" dirty="0" smtClean="0">
                                  <a:solidFill>
                                    <a:schemeClr val="tx1"/>
                                  </a:solidFill>
                                  <a:latin typeface="Cambria Math" panose="02040503050406030204" pitchFamily="18" charset="0"/>
                                </a:rPr>
                                <m:t>0</m:t>
                              </m:r>
                            </m:sub>
                          </m:sSub>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𝜇</m:t>
                          </m:r>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𝜏</m:t>
                          </m:r>
                        </m:e>
                      </m:d>
                      <m:r>
                        <a:rPr lang="en-US" altLang="zh-CN" sz="1250" b="0" i="1" dirty="0" smtClean="0">
                          <a:solidFill>
                            <a:schemeClr val="tx1"/>
                          </a:solidFill>
                          <a:latin typeface="Cambria Math" panose="02040503050406030204" pitchFamily="18" charset="0"/>
                        </a:rPr>
                        <m:t>=1−</m:t>
                      </m:r>
                      <m:r>
                        <a:rPr lang="en-US" altLang="zh-CN" sz="1250" b="0" i="1" dirty="0" smtClean="0">
                          <a:solidFill>
                            <a:schemeClr val="tx1"/>
                          </a:solidFill>
                          <a:latin typeface="Cambria Math" panose="02040503050406030204" pitchFamily="18" charset="0"/>
                        </a:rPr>
                        <m:t>𝑔</m:t>
                      </m:r>
                      <m:d>
                        <m:dPr>
                          <m:ctrlPr>
                            <a:rPr lang="en-US" altLang="zh-CN" sz="1250" b="0" i="1" dirty="0" smtClean="0">
                              <a:solidFill>
                                <a:schemeClr val="tx1"/>
                              </a:solidFill>
                              <a:latin typeface="Cambria Math" panose="02040503050406030204" pitchFamily="18" charset="0"/>
                            </a:rPr>
                          </m:ctrlPr>
                        </m:dPr>
                        <m:e>
                          <m:r>
                            <a:rPr lang="en-US" altLang="zh-CN" sz="1250" b="0" i="1" dirty="0" smtClean="0">
                              <a:solidFill>
                                <a:schemeClr val="tx1"/>
                              </a:solidFill>
                              <a:latin typeface="Cambria Math" panose="02040503050406030204" pitchFamily="18" charset="0"/>
                            </a:rPr>
                            <m:t>𝜏</m:t>
                          </m:r>
                        </m:e>
                      </m:d>
                      <m:r>
                        <m:rPr>
                          <m:sty m:val="p"/>
                        </m:rPr>
                        <a:rPr lang="en-US" altLang="zh-CN" sz="1250" b="0" i="0" dirty="0" smtClean="0">
                          <a:solidFill>
                            <a:schemeClr val="tx1"/>
                          </a:solidFill>
                          <a:latin typeface="Cambria Math" panose="02040503050406030204" pitchFamily="18" charset="0"/>
                        </a:rPr>
                        <m:t>Δ</m:t>
                      </m:r>
                      <m:r>
                        <a:rPr lang="en-US" altLang="zh-CN" sz="1250" b="0" i="1" dirty="0" smtClean="0">
                          <a:solidFill>
                            <a:schemeClr val="tx1"/>
                          </a:solidFill>
                          <a:latin typeface="Cambria Math" panose="02040503050406030204" pitchFamily="18" charset="0"/>
                        </a:rPr>
                        <m:t>𝜏</m:t>
                      </m:r>
                    </m:oMath>
                  </m:oMathPara>
                </a14:m>
                <a:endParaRPr lang="en-US" altLang="zh-CN" sz="1250" dirty="0">
                  <a:solidFill>
                    <a:schemeClr val="tx1"/>
                  </a:solidFill>
                </a:endParaRPr>
              </a:p>
              <a:p>
                <a:pPr>
                  <a:lnSpc>
                    <a:spcPct val="150000"/>
                  </a:lnSpc>
                </a:pPr>
                <a14:m>
                  <m:oMath xmlns:m="http://schemas.openxmlformats.org/officeDocument/2006/math">
                    <m:r>
                      <a:rPr lang="en-US" altLang="zh-CN" sz="1250" i="1" dirty="0">
                        <a:solidFill>
                          <a:schemeClr val="tx1"/>
                        </a:solidFill>
                        <a:latin typeface="Cambria Math" panose="02040503050406030204" pitchFamily="18" charset="0"/>
                      </a:rPr>
                      <m:t>𝑔</m:t>
                    </m:r>
                    <m:d>
                      <m:dPr>
                        <m:ctrlPr>
                          <a:rPr lang="en-US" altLang="zh-CN" sz="1250" i="1" dirty="0">
                            <a:solidFill>
                              <a:schemeClr val="tx1"/>
                            </a:solidFill>
                            <a:latin typeface="Cambria Math" panose="02040503050406030204" pitchFamily="18" charset="0"/>
                          </a:rPr>
                        </m:ctrlPr>
                      </m:dPr>
                      <m:e>
                        <m:r>
                          <a:rPr lang="en-US" altLang="zh-CN" sz="1250" i="1" dirty="0">
                            <a:solidFill>
                              <a:schemeClr val="tx1"/>
                            </a:solidFill>
                            <a:latin typeface="Cambria Math" panose="02040503050406030204" pitchFamily="18" charset="0"/>
                          </a:rPr>
                          <m:t>𝜏</m:t>
                        </m:r>
                      </m:e>
                    </m:d>
                    <m:r>
                      <m:rPr>
                        <m:sty m:val="p"/>
                      </m:rPr>
                      <a:rPr lang="en-US" altLang="zh-CN" sz="1250" dirty="0">
                        <a:solidFill>
                          <a:schemeClr val="tx1"/>
                        </a:solidFill>
                        <a:latin typeface="Cambria Math" panose="02040503050406030204" pitchFamily="18" charset="0"/>
                      </a:rPr>
                      <m:t>Δ</m:t>
                    </m:r>
                    <m:r>
                      <a:rPr lang="en-US" altLang="zh-CN" sz="1250" i="1" dirty="0">
                        <a:solidFill>
                          <a:schemeClr val="tx1"/>
                        </a:solidFill>
                        <a:latin typeface="Cambria Math" panose="02040503050406030204" pitchFamily="18" charset="0"/>
                      </a:rPr>
                      <m:t>𝜏</m:t>
                    </m:r>
                  </m:oMath>
                </a14:m>
                <a:r>
                  <a:rPr lang="zh-CN" altLang="en-US" sz="1250" dirty="0">
                    <a:solidFill>
                      <a:schemeClr val="tx1"/>
                    </a:solidFill>
                  </a:rPr>
                  <a:t>为：当</a:t>
                </a:r>
                <a14:m>
                  <m:oMath xmlns:m="http://schemas.openxmlformats.org/officeDocument/2006/math">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𝜇</m:t>
                    </m:r>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𝜏</m:t>
                    </m:r>
                  </m:oMath>
                </a14:m>
                <a:r>
                  <a:rPr lang="zh-CN" altLang="en-US" sz="1250" dirty="0">
                    <a:solidFill>
                      <a:schemeClr val="tx1"/>
                    </a:solidFill>
                  </a:rPr>
                  <a:t>时，光线从</a:t>
                </a:r>
                <a14:m>
                  <m:oMath xmlns:m="http://schemas.openxmlformats.org/officeDocument/2006/math">
                    <m:r>
                      <a:rPr lang="en-US" altLang="zh-CN" sz="1250" i="1" dirty="0">
                        <a:solidFill>
                          <a:schemeClr val="tx1"/>
                        </a:solidFill>
                        <a:latin typeface="Cambria Math" panose="02040503050406030204" pitchFamily="18" charset="0"/>
                      </a:rPr>
                      <m:t>𝜏</m:t>
                    </m:r>
                  </m:oMath>
                </a14:m>
                <a:r>
                  <a:rPr lang="zh-CN" altLang="en-US" sz="1250" dirty="0">
                    <a:solidFill>
                      <a:schemeClr val="tx1"/>
                    </a:solidFill>
                  </a:rPr>
                  <a:t>前进</a:t>
                </a:r>
                <a14:m>
                  <m:oMath xmlns:m="http://schemas.openxmlformats.org/officeDocument/2006/math">
                    <m:r>
                      <m:rPr>
                        <m:sty m:val="p"/>
                      </m:rPr>
                      <a:rPr lang="en-US" altLang="zh-CN" sz="1250" dirty="0">
                        <a:solidFill>
                          <a:schemeClr val="tx1"/>
                        </a:solidFill>
                        <a:latin typeface="Cambria Math" panose="02040503050406030204" pitchFamily="18" charset="0"/>
                      </a:rPr>
                      <m:t>Δ</m:t>
                    </m:r>
                    <m:r>
                      <a:rPr lang="en-US" altLang="zh-CN" sz="1250" i="1" dirty="0">
                        <a:solidFill>
                          <a:schemeClr val="tx1"/>
                        </a:solidFill>
                        <a:latin typeface="Cambria Math" panose="02040503050406030204" pitchFamily="18" charset="0"/>
                      </a:rPr>
                      <m:t>𝜏</m:t>
                    </m:r>
                  </m:oMath>
                </a14:m>
                <a:r>
                  <a:rPr lang="zh-CN" altLang="en-US" sz="1250" dirty="0">
                    <a:solidFill>
                      <a:schemeClr val="tx1"/>
                    </a:solidFill>
                  </a:rPr>
                  <a:t>后，与微表面相交的条件概率。</a:t>
                </a:r>
                <a:endParaRPr lang="en-US" altLang="zh-CN" sz="125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250" b="0" i="1" dirty="0" smtClean="0">
                          <a:solidFill>
                            <a:schemeClr val="tx1"/>
                          </a:solidFill>
                          <a:latin typeface="Cambria Math" panose="02040503050406030204" pitchFamily="18" charset="0"/>
                        </a:rPr>
                        <m:t>𝑆</m:t>
                      </m:r>
                      <m:d>
                        <m:dPr>
                          <m:ctrlPr>
                            <a:rPr lang="en-US" altLang="zh-CN" sz="1250" b="0" i="1" dirty="0" smtClean="0">
                              <a:solidFill>
                                <a:schemeClr val="tx1"/>
                              </a:solidFill>
                              <a:latin typeface="Cambria Math" panose="02040503050406030204" pitchFamily="18" charset="0"/>
                            </a:rPr>
                          </m:ctrlPr>
                        </m:dPr>
                        <m:e>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𝜉</m:t>
                              </m:r>
                            </m:e>
                            <m:sub>
                              <m:r>
                                <a:rPr lang="en-US" altLang="zh-CN" sz="1250" b="0" i="1" dirty="0" smtClean="0">
                                  <a:solidFill>
                                    <a:schemeClr val="tx1"/>
                                  </a:solidFill>
                                  <a:latin typeface="Cambria Math" panose="02040503050406030204" pitchFamily="18" charset="0"/>
                                </a:rPr>
                                <m:t>0</m:t>
                              </m:r>
                            </m:sub>
                          </m:sSub>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𝜇</m:t>
                          </m:r>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𝜏</m:t>
                          </m:r>
                          <m:r>
                            <a:rPr lang="en-US" altLang="zh-CN" sz="1250" b="0" i="1" dirty="0" smtClean="0">
                              <a:solidFill>
                                <a:schemeClr val="tx1"/>
                              </a:solidFill>
                              <a:latin typeface="Cambria Math" panose="02040503050406030204" pitchFamily="18" charset="0"/>
                            </a:rPr>
                            <m:t>+</m:t>
                          </m:r>
                          <m:r>
                            <m:rPr>
                              <m:sty m:val="p"/>
                            </m:rPr>
                            <a:rPr lang="en-US" altLang="zh-CN" sz="1250" b="0" i="0" dirty="0" smtClean="0">
                              <a:solidFill>
                                <a:schemeClr val="tx1"/>
                              </a:solidFill>
                              <a:latin typeface="Cambria Math" panose="02040503050406030204" pitchFamily="18" charset="0"/>
                            </a:rPr>
                            <m:t>Δ</m:t>
                          </m:r>
                          <m:r>
                            <a:rPr lang="en-US" altLang="zh-CN" sz="1250" b="0" i="1" dirty="0" smtClean="0">
                              <a:solidFill>
                                <a:schemeClr val="tx1"/>
                              </a:solidFill>
                              <a:latin typeface="Cambria Math" panose="02040503050406030204" pitchFamily="18" charset="0"/>
                            </a:rPr>
                            <m:t>𝜏</m:t>
                          </m:r>
                        </m:e>
                      </m:d>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𝑆</m:t>
                      </m:r>
                      <m:d>
                        <m:dPr>
                          <m:ctrlPr>
                            <a:rPr lang="en-US" altLang="zh-CN" sz="1250" i="1" dirty="0">
                              <a:solidFill>
                                <a:schemeClr val="tx1"/>
                              </a:solidFill>
                              <a:latin typeface="Cambria Math" panose="02040503050406030204" pitchFamily="18" charset="0"/>
                            </a:rPr>
                          </m:ctrlPr>
                        </m:dPr>
                        <m:e>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𝜇</m:t>
                          </m:r>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𝜏</m:t>
                          </m:r>
                        </m:e>
                      </m:d>
                      <m:r>
                        <a:rPr lang="en-US" altLang="zh-CN" sz="1250" b="0" i="1" dirty="0" smtClean="0">
                          <a:solidFill>
                            <a:schemeClr val="tx1"/>
                          </a:solidFill>
                          <a:latin typeface="Cambria Math" panose="02040503050406030204" pitchFamily="18" charset="0"/>
                        </a:rPr>
                        <m:t> </m:t>
                      </m:r>
                      <m:d>
                        <m:dPr>
                          <m:ctrlPr>
                            <a:rPr lang="en-US" altLang="zh-CN" sz="1250" i="1" dirty="0">
                              <a:solidFill>
                                <a:schemeClr val="tx1"/>
                              </a:solidFill>
                              <a:latin typeface="Cambria Math" panose="02040503050406030204" pitchFamily="18" charset="0"/>
                            </a:rPr>
                          </m:ctrlPr>
                        </m:dPr>
                        <m:e>
                          <m:r>
                            <a:rPr lang="en-US" altLang="zh-CN" sz="1250" i="1" dirty="0">
                              <a:solidFill>
                                <a:schemeClr val="tx1"/>
                              </a:solidFill>
                              <a:latin typeface="Cambria Math" panose="02040503050406030204" pitchFamily="18" charset="0"/>
                            </a:rPr>
                            <m:t>1−</m:t>
                          </m:r>
                          <m:r>
                            <a:rPr lang="en-US" altLang="zh-CN" sz="1250" i="1" dirty="0">
                              <a:solidFill>
                                <a:schemeClr val="tx1"/>
                              </a:solidFill>
                              <a:latin typeface="Cambria Math" panose="02040503050406030204" pitchFamily="18" charset="0"/>
                            </a:rPr>
                            <m:t>𝑔</m:t>
                          </m:r>
                          <m:d>
                            <m:dPr>
                              <m:ctrlPr>
                                <a:rPr lang="en-US" altLang="zh-CN" sz="1250" i="1" dirty="0">
                                  <a:solidFill>
                                    <a:schemeClr val="tx1"/>
                                  </a:solidFill>
                                  <a:latin typeface="Cambria Math" panose="02040503050406030204" pitchFamily="18" charset="0"/>
                                </a:rPr>
                              </m:ctrlPr>
                            </m:dPr>
                            <m:e>
                              <m:r>
                                <a:rPr lang="en-US" altLang="zh-CN" sz="1250" i="1" dirty="0">
                                  <a:solidFill>
                                    <a:schemeClr val="tx1"/>
                                  </a:solidFill>
                                  <a:latin typeface="Cambria Math" panose="02040503050406030204" pitchFamily="18" charset="0"/>
                                </a:rPr>
                                <m:t>𝜏</m:t>
                              </m:r>
                            </m:e>
                          </m:d>
                          <m:r>
                            <m:rPr>
                              <m:sty m:val="p"/>
                            </m:rPr>
                            <a:rPr lang="en-US" altLang="zh-CN" sz="1250" dirty="0">
                              <a:solidFill>
                                <a:schemeClr val="tx1"/>
                              </a:solidFill>
                              <a:latin typeface="Cambria Math" panose="02040503050406030204" pitchFamily="18" charset="0"/>
                            </a:rPr>
                            <m:t>Δ</m:t>
                          </m:r>
                          <m:r>
                            <a:rPr lang="en-US" altLang="zh-CN" sz="1250" i="1" dirty="0">
                              <a:solidFill>
                                <a:schemeClr val="tx1"/>
                              </a:solidFill>
                              <a:latin typeface="Cambria Math" panose="02040503050406030204" pitchFamily="18" charset="0"/>
                            </a:rPr>
                            <m:t>𝜏</m:t>
                          </m:r>
                        </m:e>
                      </m:d>
                    </m:oMath>
                  </m:oMathPara>
                </a14:m>
                <a:endParaRPr lang="en-US" altLang="zh-CN" sz="1250" b="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250" b="0" i="1" dirty="0" smtClean="0">
                          <a:solidFill>
                            <a:schemeClr val="tx1"/>
                          </a:solidFill>
                          <a:latin typeface="Cambria Math" panose="02040503050406030204" pitchFamily="18" charset="0"/>
                        </a:rPr>
                        <m:t>𝑆</m:t>
                      </m:r>
                      <m:d>
                        <m:dPr>
                          <m:ctrlPr>
                            <a:rPr lang="en-US" altLang="zh-CN" sz="1250" b="0" i="1" dirty="0" smtClean="0">
                              <a:solidFill>
                                <a:schemeClr val="tx1"/>
                              </a:solidFill>
                              <a:latin typeface="Cambria Math" panose="02040503050406030204" pitchFamily="18" charset="0"/>
                            </a:rPr>
                          </m:ctrlPr>
                        </m:dPr>
                        <m:e>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𝜉</m:t>
                              </m:r>
                            </m:e>
                            <m:sub>
                              <m:r>
                                <a:rPr lang="en-US" altLang="zh-CN" sz="1250" b="0" i="1" dirty="0" smtClean="0">
                                  <a:solidFill>
                                    <a:schemeClr val="tx1"/>
                                  </a:solidFill>
                                  <a:latin typeface="Cambria Math" panose="02040503050406030204" pitchFamily="18" charset="0"/>
                                </a:rPr>
                                <m:t>0</m:t>
                              </m:r>
                            </m:sub>
                          </m:sSub>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𝜇</m:t>
                          </m:r>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𝜏</m:t>
                          </m:r>
                          <m:r>
                            <a:rPr lang="en-US" altLang="zh-CN" sz="1250" b="0" i="1" dirty="0" smtClean="0">
                              <a:solidFill>
                                <a:schemeClr val="tx1"/>
                              </a:solidFill>
                              <a:latin typeface="Cambria Math" panose="02040503050406030204" pitchFamily="18" charset="0"/>
                            </a:rPr>
                            <m:t>+</m:t>
                          </m:r>
                          <m:r>
                            <m:rPr>
                              <m:sty m:val="p"/>
                            </m:rPr>
                            <a:rPr lang="en-US" altLang="zh-CN" sz="1250" b="0" i="0" dirty="0" smtClean="0">
                              <a:solidFill>
                                <a:schemeClr val="tx1"/>
                              </a:solidFill>
                              <a:latin typeface="Cambria Math" panose="02040503050406030204" pitchFamily="18" charset="0"/>
                            </a:rPr>
                            <m:t>Δ</m:t>
                          </m:r>
                          <m:r>
                            <a:rPr lang="en-US" altLang="zh-CN" sz="1250" b="0" i="1" dirty="0" smtClean="0">
                              <a:solidFill>
                                <a:schemeClr val="tx1"/>
                              </a:solidFill>
                              <a:latin typeface="Cambria Math" panose="02040503050406030204" pitchFamily="18" charset="0"/>
                            </a:rPr>
                            <m:t>𝜏</m:t>
                          </m:r>
                        </m:e>
                      </m:d>
                      <m:r>
                        <a:rPr lang="en-US" altLang="zh-CN" sz="1250" b="0" i="1" dirty="0" smtClean="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𝑆</m:t>
                      </m:r>
                      <m:d>
                        <m:dPr>
                          <m:ctrlPr>
                            <a:rPr lang="en-US" altLang="zh-CN" sz="1250" i="1" dirty="0">
                              <a:solidFill>
                                <a:schemeClr val="tx1"/>
                              </a:solidFill>
                              <a:latin typeface="Cambria Math" panose="02040503050406030204" pitchFamily="18" charset="0"/>
                            </a:rPr>
                          </m:ctrlPr>
                        </m:dPr>
                        <m:e>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𝜇</m:t>
                          </m:r>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𝜏</m:t>
                          </m:r>
                        </m:e>
                      </m:d>
                      <m:r>
                        <a:rPr lang="en-US" altLang="zh-CN" sz="1250" i="1" dirty="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𝑆</m:t>
                      </m:r>
                      <m:d>
                        <m:dPr>
                          <m:ctrlPr>
                            <a:rPr lang="en-US" altLang="zh-CN" sz="1250" i="1" dirty="0">
                              <a:solidFill>
                                <a:schemeClr val="tx1"/>
                              </a:solidFill>
                              <a:latin typeface="Cambria Math" panose="02040503050406030204" pitchFamily="18" charset="0"/>
                            </a:rPr>
                          </m:ctrlPr>
                        </m:dPr>
                        <m:e>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𝜇</m:t>
                          </m:r>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𝜏</m:t>
                          </m:r>
                        </m:e>
                      </m:d>
                      <m:r>
                        <a:rPr lang="en-US" altLang="zh-CN" sz="1250" i="1" dirty="0">
                          <a:solidFill>
                            <a:schemeClr val="tx1"/>
                          </a:solidFill>
                          <a:latin typeface="Cambria Math" panose="02040503050406030204" pitchFamily="18" charset="0"/>
                        </a:rPr>
                        <m:t>𝑔</m:t>
                      </m:r>
                      <m:d>
                        <m:dPr>
                          <m:ctrlPr>
                            <a:rPr lang="en-US" altLang="zh-CN" sz="1250" i="1" dirty="0">
                              <a:solidFill>
                                <a:schemeClr val="tx1"/>
                              </a:solidFill>
                              <a:latin typeface="Cambria Math" panose="02040503050406030204" pitchFamily="18" charset="0"/>
                            </a:rPr>
                          </m:ctrlPr>
                        </m:dPr>
                        <m:e>
                          <m:r>
                            <a:rPr lang="en-US" altLang="zh-CN" sz="1250" i="1" dirty="0">
                              <a:solidFill>
                                <a:schemeClr val="tx1"/>
                              </a:solidFill>
                              <a:latin typeface="Cambria Math" panose="02040503050406030204" pitchFamily="18" charset="0"/>
                            </a:rPr>
                            <m:t>𝜏</m:t>
                          </m:r>
                        </m:e>
                      </m:d>
                      <m:r>
                        <m:rPr>
                          <m:sty m:val="p"/>
                        </m:rPr>
                        <a:rPr lang="en-US" altLang="zh-CN" sz="1250" dirty="0">
                          <a:solidFill>
                            <a:schemeClr val="tx1"/>
                          </a:solidFill>
                          <a:latin typeface="Cambria Math" panose="02040503050406030204" pitchFamily="18" charset="0"/>
                        </a:rPr>
                        <m:t>Δ</m:t>
                      </m:r>
                      <m:r>
                        <a:rPr lang="en-US" altLang="zh-CN" sz="1250" i="1" dirty="0">
                          <a:solidFill>
                            <a:schemeClr val="tx1"/>
                          </a:solidFill>
                          <a:latin typeface="Cambria Math" panose="02040503050406030204" pitchFamily="18" charset="0"/>
                        </a:rPr>
                        <m:t>𝜏</m:t>
                      </m:r>
                    </m:oMath>
                  </m:oMathPara>
                </a14:m>
                <a:endParaRPr lang="en-US" altLang="zh-CN" sz="125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f>
                        <m:fPr>
                          <m:ctrlPr>
                            <a:rPr lang="en-US" altLang="zh-CN" sz="1250" b="0" i="1" dirty="0" smtClean="0">
                              <a:solidFill>
                                <a:schemeClr val="tx1"/>
                              </a:solidFill>
                              <a:latin typeface="Cambria Math" panose="02040503050406030204" pitchFamily="18" charset="0"/>
                            </a:rPr>
                          </m:ctrlPr>
                        </m:fPr>
                        <m:num>
                          <m:r>
                            <a:rPr lang="en-US" altLang="zh-CN" sz="1250" b="0" i="1" dirty="0" smtClean="0">
                              <a:solidFill>
                                <a:schemeClr val="tx1"/>
                              </a:solidFill>
                              <a:latin typeface="Cambria Math" panose="02040503050406030204" pitchFamily="18" charset="0"/>
                            </a:rPr>
                            <m:t>𝑆</m:t>
                          </m:r>
                          <m:d>
                            <m:dPr>
                              <m:ctrlPr>
                                <a:rPr lang="en-US" altLang="zh-CN" sz="1250" b="0" i="1" dirty="0" smtClean="0">
                                  <a:solidFill>
                                    <a:schemeClr val="tx1"/>
                                  </a:solidFill>
                                  <a:latin typeface="Cambria Math" panose="02040503050406030204" pitchFamily="18" charset="0"/>
                                </a:rPr>
                              </m:ctrlPr>
                            </m:dPr>
                            <m:e>
                              <m:sSub>
                                <m:sSubPr>
                                  <m:ctrlPr>
                                    <a:rPr lang="en-US" altLang="zh-CN" sz="1250" b="0" i="1" dirty="0" smtClean="0">
                                      <a:solidFill>
                                        <a:schemeClr val="tx1"/>
                                      </a:solidFill>
                                      <a:latin typeface="Cambria Math" panose="02040503050406030204" pitchFamily="18" charset="0"/>
                                    </a:rPr>
                                  </m:ctrlPr>
                                </m:sSubPr>
                                <m:e>
                                  <m:r>
                                    <a:rPr lang="en-US" altLang="zh-CN" sz="1250" b="0" i="1" dirty="0" smtClean="0">
                                      <a:solidFill>
                                        <a:schemeClr val="tx1"/>
                                      </a:solidFill>
                                      <a:latin typeface="Cambria Math" panose="02040503050406030204" pitchFamily="18" charset="0"/>
                                    </a:rPr>
                                    <m:t>𝜉</m:t>
                                  </m:r>
                                </m:e>
                                <m:sub>
                                  <m:r>
                                    <a:rPr lang="en-US" altLang="zh-CN" sz="1250" b="0" i="1" dirty="0" smtClean="0">
                                      <a:solidFill>
                                        <a:schemeClr val="tx1"/>
                                      </a:solidFill>
                                      <a:latin typeface="Cambria Math" panose="02040503050406030204" pitchFamily="18" charset="0"/>
                                    </a:rPr>
                                    <m:t>0</m:t>
                                  </m:r>
                                </m:sub>
                              </m:sSub>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𝜇</m:t>
                              </m:r>
                              <m:r>
                                <a:rPr lang="en-US" altLang="zh-CN" sz="1250" b="0" i="1" dirty="0" smtClean="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𝜏</m:t>
                              </m:r>
                              <m:r>
                                <a:rPr lang="en-US" altLang="zh-CN" sz="1250" b="0" i="1" dirty="0" smtClean="0">
                                  <a:solidFill>
                                    <a:schemeClr val="tx1"/>
                                  </a:solidFill>
                                  <a:latin typeface="Cambria Math" panose="02040503050406030204" pitchFamily="18" charset="0"/>
                                </a:rPr>
                                <m:t>+</m:t>
                              </m:r>
                              <m:r>
                                <m:rPr>
                                  <m:sty m:val="p"/>
                                </m:rPr>
                                <a:rPr lang="en-US" altLang="zh-CN" sz="1250" b="0" i="0" dirty="0" smtClean="0">
                                  <a:solidFill>
                                    <a:schemeClr val="tx1"/>
                                  </a:solidFill>
                                  <a:latin typeface="Cambria Math" panose="02040503050406030204" pitchFamily="18" charset="0"/>
                                </a:rPr>
                                <m:t>Δ</m:t>
                              </m:r>
                              <m:r>
                                <a:rPr lang="en-US" altLang="zh-CN" sz="1250" b="0" i="1" dirty="0" smtClean="0">
                                  <a:solidFill>
                                    <a:schemeClr val="tx1"/>
                                  </a:solidFill>
                                  <a:latin typeface="Cambria Math" panose="02040503050406030204" pitchFamily="18" charset="0"/>
                                </a:rPr>
                                <m:t>𝜏</m:t>
                              </m:r>
                            </m:e>
                          </m:d>
                          <m:r>
                            <a:rPr lang="en-US" altLang="zh-CN" sz="1250" b="0" i="1" dirty="0" smtClean="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𝑆</m:t>
                          </m:r>
                          <m:d>
                            <m:dPr>
                              <m:ctrlPr>
                                <a:rPr lang="en-US" altLang="zh-CN" sz="1250" i="1" dirty="0">
                                  <a:solidFill>
                                    <a:schemeClr val="tx1"/>
                                  </a:solidFill>
                                  <a:latin typeface="Cambria Math" panose="02040503050406030204" pitchFamily="18" charset="0"/>
                                </a:rPr>
                              </m:ctrlPr>
                            </m:dPr>
                            <m:e>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𝜇</m:t>
                              </m:r>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𝜏</m:t>
                              </m:r>
                            </m:e>
                          </m:d>
                        </m:num>
                        <m:den>
                          <m:r>
                            <m:rPr>
                              <m:sty m:val="p"/>
                            </m:rPr>
                            <a:rPr lang="en-US" altLang="zh-CN" sz="1250" dirty="0">
                              <a:solidFill>
                                <a:schemeClr val="tx1"/>
                              </a:solidFill>
                              <a:latin typeface="Cambria Math" panose="02040503050406030204" pitchFamily="18" charset="0"/>
                            </a:rPr>
                            <m:t>Δ</m:t>
                          </m:r>
                          <m:r>
                            <a:rPr lang="en-US" altLang="zh-CN" sz="1250" i="1" dirty="0">
                              <a:solidFill>
                                <a:schemeClr val="tx1"/>
                              </a:solidFill>
                              <a:latin typeface="Cambria Math" panose="02040503050406030204" pitchFamily="18" charset="0"/>
                            </a:rPr>
                            <m:t>𝜏</m:t>
                          </m:r>
                        </m:den>
                      </m:f>
                      <m:r>
                        <a:rPr lang="en-US" altLang="zh-CN" sz="1250" i="1" dirty="0">
                          <a:solidFill>
                            <a:schemeClr val="tx1"/>
                          </a:solidFill>
                          <a:latin typeface="Cambria Math" panose="02040503050406030204" pitchFamily="18" charset="0"/>
                        </a:rPr>
                        <m:t>=</m:t>
                      </m:r>
                      <m:r>
                        <a:rPr lang="en-US" altLang="zh-CN" sz="1250" b="0" i="1" dirty="0" smtClean="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𝑆</m:t>
                      </m:r>
                      <m:d>
                        <m:dPr>
                          <m:ctrlPr>
                            <a:rPr lang="en-US" altLang="zh-CN" sz="1250" i="1" dirty="0">
                              <a:solidFill>
                                <a:schemeClr val="tx1"/>
                              </a:solidFill>
                              <a:latin typeface="Cambria Math" panose="02040503050406030204" pitchFamily="18" charset="0"/>
                            </a:rPr>
                          </m:ctrlPr>
                        </m:dPr>
                        <m:e>
                          <m:sSub>
                            <m:sSubPr>
                              <m:ctrlPr>
                                <a:rPr lang="en-US" altLang="zh-CN" sz="1250" i="1" dirty="0">
                                  <a:solidFill>
                                    <a:schemeClr val="tx1"/>
                                  </a:solidFill>
                                  <a:latin typeface="Cambria Math" panose="02040503050406030204" pitchFamily="18" charset="0"/>
                                </a:rPr>
                              </m:ctrlPr>
                            </m:sSubPr>
                            <m:e>
                              <m:r>
                                <a:rPr lang="en-US" altLang="zh-CN" sz="1250" i="1" dirty="0">
                                  <a:solidFill>
                                    <a:schemeClr val="tx1"/>
                                  </a:solidFill>
                                  <a:latin typeface="Cambria Math" panose="02040503050406030204" pitchFamily="18" charset="0"/>
                                </a:rPr>
                                <m:t>𝜉</m:t>
                              </m:r>
                            </m:e>
                            <m:sub>
                              <m:r>
                                <a:rPr lang="en-US" altLang="zh-CN" sz="1250" i="1" dirty="0">
                                  <a:solidFill>
                                    <a:schemeClr val="tx1"/>
                                  </a:solidFill>
                                  <a:latin typeface="Cambria Math" panose="02040503050406030204" pitchFamily="18" charset="0"/>
                                </a:rPr>
                                <m:t>0</m:t>
                              </m:r>
                            </m:sub>
                          </m:sSub>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𝜇</m:t>
                          </m:r>
                          <m:r>
                            <a:rPr lang="en-US" altLang="zh-CN" sz="1250" i="1" dirty="0">
                              <a:solidFill>
                                <a:schemeClr val="tx1"/>
                              </a:solidFill>
                              <a:latin typeface="Cambria Math" panose="02040503050406030204" pitchFamily="18" charset="0"/>
                            </a:rPr>
                            <m:t>,</m:t>
                          </m:r>
                          <m:r>
                            <a:rPr lang="en-US" altLang="zh-CN" sz="1250" i="1" dirty="0">
                              <a:solidFill>
                                <a:schemeClr val="tx1"/>
                              </a:solidFill>
                              <a:latin typeface="Cambria Math" panose="02040503050406030204" pitchFamily="18" charset="0"/>
                            </a:rPr>
                            <m:t>𝜏</m:t>
                          </m:r>
                        </m:e>
                      </m:d>
                      <m:r>
                        <a:rPr lang="en-US" altLang="zh-CN" sz="1250" i="1" dirty="0">
                          <a:solidFill>
                            <a:schemeClr val="tx1"/>
                          </a:solidFill>
                          <a:latin typeface="Cambria Math" panose="02040503050406030204" pitchFamily="18" charset="0"/>
                        </a:rPr>
                        <m:t>𝑔</m:t>
                      </m:r>
                      <m:d>
                        <m:dPr>
                          <m:ctrlPr>
                            <a:rPr lang="en-US" altLang="zh-CN" sz="1250" i="1" dirty="0">
                              <a:solidFill>
                                <a:schemeClr val="tx1"/>
                              </a:solidFill>
                              <a:latin typeface="Cambria Math" panose="02040503050406030204" pitchFamily="18" charset="0"/>
                            </a:rPr>
                          </m:ctrlPr>
                        </m:dPr>
                        <m:e>
                          <m:r>
                            <a:rPr lang="en-US" altLang="zh-CN" sz="1250" i="1" dirty="0">
                              <a:solidFill>
                                <a:schemeClr val="tx1"/>
                              </a:solidFill>
                              <a:latin typeface="Cambria Math" panose="02040503050406030204" pitchFamily="18" charset="0"/>
                            </a:rPr>
                            <m:t>𝜏</m:t>
                          </m:r>
                        </m:e>
                      </m:d>
                    </m:oMath>
                  </m:oMathPara>
                </a14:m>
                <a:endParaRPr lang="en-US" altLang="zh-CN" sz="1250" dirty="0">
                  <a:solidFill>
                    <a:schemeClr val="tx1"/>
                  </a:solidFill>
                </a:endParaRPr>
              </a:p>
            </p:txBody>
          </p:sp>
        </mc:Choice>
        <mc:Fallback xmlns="">
          <p:sp>
            <p:nvSpPr>
              <p:cNvPr id="6" name="矩形 5">
                <a:extLst>
                  <a:ext uri="{FF2B5EF4-FFF2-40B4-BE49-F238E27FC236}">
                    <a16:creationId xmlns:a16="http://schemas.microsoft.com/office/drawing/2014/main" id="{6D794ADB-807B-30E1-E06F-11188D8FB831}"/>
                  </a:ext>
                </a:extLst>
              </p:cNvPr>
              <p:cNvSpPr>
                <a:spLocks noRot="1" noChangeAspect="1" noMove="1" noResize="1" noEditPoints="1" noAdjustHandles="1" noChangeArrowheads="1" noChangeShapeType="1" noTextEdit="1"/>
              </p:cNvSpPr>
              <p:nvPr/>
            </p:nvSpPr>
            <p:spPr>
              <a:xfrm>
                <a:off x="368712" y="1144044"/>
                <a:ext cx="6851503" cy="5402806"/>
              </a:xfrm>
              <a:prstGeom prst="rect">
                <a:avLst/>
              </a:prstGeom>
              <a:blipFill>
                <a:blip r:embed="rId3"/>
                <a:stretch>
                  <a:fillRect/>
                </a:stretch>
              </a:blipFill>
            </p:spPr>
            <p:txBody>
              <a:bodyPr/>
              <a:lstStyle/>
              <a:p>
                <a:r>
                  <a:rPr lang="zh-CN" altLang="en-US">
                    <a:noFill/>
                  </a:rPr>
                  <a:t> </a:t>
                </a:r>
              </a:p>
            </p:txBody>
          </p:sp>
        </mc:Fallback>
      </mc:AlternateContent>
      <p:sp>
        <p:nvSpPr>
          <p:cNvPr id="54" name="文本框 53">
            <a:extLst>
              <a:ext uri="{FF2B5EF4-FFF2-40B4-BE49-F238E27FC236}">
                <a16:creationId xmlns:a16="http://schemas.microsoft.com/office/drawing/2014/main" id="{E31625E2-F41C-76AE-DA9B-4A3EEDB92F1A}"/>
              </a:ext>
            </a:extLst>
          </p:cNvPr>
          <p:cNvSpPr txBox="1"/>
          <p:nvPr/>
        </p:nvSpPr>
        <p:spPr>
          <a:xfrm>
            <a:off x="8480385" y="3708859"/>
            <a:ext cx="2624203" cy="307777"/>
          </a:xfrm>
          <a:prstGeom prst="rect">
            <a:avLst/>
          </a:prstGeom>
          <a:noFill/>
        </p:spPr>
        <p:txBody>
          <a:bodyPr wrap="square">
            <a:spAutoFit/>
          </a:bodyPr>
          <a:lstStyle/>
          <a:p>
            <a:pPr algn="ctr"/>
            <a:r>
              <a:rPr lang="en-US" altLang="zh-CN" sz="1400" dirty="0">
                <a:solidFill>
                  <a:schemeClr val="tx1"/>
                </a:solidFill>
              </a:rPr>
              <a:t>Walter (2007</a:t>
            </a:r>
            <a:r>
              <a:rPr lang="en-US" altLang="zh-CN" sz="1400" dirty="0">
                <a:solidFill>
                  <a:schemeClr val="tx1"/>
                </a:solidFill>
                <a:latin typeface="+mn-ea"/>
              </a:rPr>
              <a:t>)</a:t>
            </a:r>
            <a:r>
              <a:rPr lang="en-US" altLang="zh-CN" sz="1400" dirty="0">
                <a:solidFill>
                  <a:srgbClr val="212529"/>
                </a:solidFill>
                <a:latin typeface="+mn-ea"/>
              </a:rPr>
              <a:t> </a:t>
            </a:r>
            <a:r>
              <a:rPr lang="en-US" altLang="zh-CN" sz="1400" dirty="0">
                <a:solidFill>
                  <a:srgbClr val="212529"/>
                </a:solidFill>
                <a:latin typeface="+mn-ea"/>
                <a:hlinkClick r:id="rId4" action="ppaction://hlinksldjump"/>
              </a:rPr>
              <a:t>2</a:t>
            </a:r>
            <a:r>
              <a:rPr lang="zh-CN" altLang="en-US" sz="1400" dirty="0">
                <a:solidFill>
                  <a:srgbClr val="212529"/>
                </a:solidFill>
                <a:latin typeface="+mn-ea"/>
              </a:rPr>
              <a:t>，</a:t>
            </a:r>
            <a:r>
              <a:rPr lang="en-US" altLang="zh-CN" sz="1400" dirty="0">
                <a:solidFill>
                  <a:srgbClr val="212529"/>
                </a:solidFill>
                <a:latin typeface="+mn-ea"/>
              </a:rPr>
              <a:t>Figure 16.</a:t>
            </a:r>
            <a:endParaRPr lang="zh-CN" altLang="en-US" sz="1400" dirty="0"/>
          </a:p>
        </p:txBody>
      </p:sp>
      <p:pic>
        <p:nvPicPr>
          <p:cNvPr id="8" name="图片 7">
            <a:extLst>
              <a:ext uri="{FF2B5EF4-FFF2-40B4-BE49-F238E27FC236}">
                <a16:creationId xmlns:a16="http://schemas.microsoft.com/office/drawing/2014/main" id="{4A92739C-D9DE-62C4-1E1B-CF16FB09CA98}"/>
              </a:ext>
            </a:extLst>
          </p:cNvPr>
          <p:cNvPicPr>
            <a:picLocks noChangeAspect="1"/>
          </p:cNvPicPr>
          <p:nvPr/>
        </p:nvPicPr>
        <p:blipFill>
          <a:blip r:embed="rId5"/>
          <a:stretch>
            <a:fillRect/>
          </a:stretch>
        </p:blipFill>
        <p:spPr>
          <a:xfrm>
            <a:off x="7452392" y="1684869"/>
            <a:ext cx="4680191" cy="1917799"/>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DD38436-8A63-6C1F-54F3-30E08441D3BB}"/>
                  </a:ext>
                </a:extLst>
              </p:cNvPr>
              <p:cNvSpPr txBox="1"/>
              <p:nvPr/>
            </p:nvSpPr>
            <p:spPr>
              <a:xfrm>
                <a:off x="8787445" y="2448188"/>
                <a:ext cx="219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𝐹</m:t>
                      </m:r>
                    </m:oMath>
                  </m:oMathPara>
                </a14:m>
                <a:endParaRPr lang="zh-CN" altLang="en-US" dirty="0">
                  <a:solidFill>
                    <a:schemeClr val="bg1"/>
                  </a:solidFill>
                </a:endParaRPr>
              </a:p>
            </p:txBody>
          </p:sp>
        </mc:Choice>
        <mc:Fallback xmlns="">
          <p:sp>
            <p:nvSpPr>
              <p:cNvPr id="9" name="文本框 8">
                <a:extLst>
                  <a:ext uri="{FF2B5EF4-FFF2-40B4-BE49-F238E27FC236}">
                    <a16:creationId xmlns:a16="http://schemas.microsoft.com/office/drawing/2014/main" id="{9DD38436-8A63-6C1F-54F3-30E08441D3BB}"/>
                  </a:ext>
                </a:extLst>
              </p:cNvPr>
              <p:cNvSpPr txBox="1">
                <a:spLocks noRot="1" noChangeAspect="1" noMove="1" noResize="1" noEditPoints="1" noAdjustHandles="1" noChangeArrowheads="1" noChangeShapeType="1" noTextEdit="1"/>
              </p:cNvSpPr>
              <p:nvPr/>
            </p:nvSpPr>
            <p:spPr>
              <a:xfrm>
                <a:off x="8787445" y="2448188"/>
                <a:ext cx="219034" cy="276999"/>
              </a:xfrm>
              <a:prstGeom prst="rect">
                <a:avLst/>
              </a:prstGeom>
              <a:blipFill>
                <a:blip r:embed="rId6"/>
                <a:stretch>
                  <a:fillRect l="-22857" r="-20000" b="-888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34001D5-A373-B462-85D8-887E708F1E4A}"/>
                  </a:ext>
                </a:extLst>
              </p:cNvPr>
              <p:cNvSpPr txBox="1"/>
              <p:nvPr/>
            </p:nvSpPr>
            <p:spPr>
              <a:xfrm>
                <a:off x="7624440" y="4101907"/>
                <a:ext cx="3988313" cy="307777"/>
              </a:xfrm>
              <a:prstGeom prst="rect">
                <a:avLst/>
              </a:prstGeom>
              <a:noFill/>
            </p:spPr>
            <p:txBody>
              <a:bodyPr wrap="square">
                <a:spAutoFit/>
              </a:bodyPr>
              <a:lstStyle/>
              <a:p>
                <a:pPr algn="ctr"/>
                <a:r>
                  <a:rPr lang="zh-CN" altLang="en-US" sz="1400" dirty="0">
                    <a:solidFill>
                      <a:schemeClr val="tx1"/>
                    </a:solidFill>
                  </a:rPr>
                  <a:t>仅讨论</a:t>
                </a:r>
                <a14:m>
                  <m:oMath xmlns:m="http://schemas.openxmlformats.org/officeDocument/2006/math">
                    <m:r>
                      <a:rPr lang="en-US" altLang="zh-CN" sz="1400" b="1" i="1" dirty="0" smtClean="0">
                        <a:solidFill>
                          <a:schemeClr val="tx1"/>
                        </a:solidFill>
                        <a:latin typeface="Cambria Math" panose="02040503050406030204" pitchFamily="18" charset="0"/>
                      </a:rPr>
                      <m:t>𝒗</m:t>
                    </m:r>
                  </m:oMath>
                </a14:m>
                <a:r>
                  <a:rPr lang="zh-CN" altLang="en-US" sz="1400" dirty="0"/>
                  <a:t>朝向微表面上方的情况，即</a:t>
                </a:r>
                <a14:m>
                  <m:oMath xmlns:m="http://schemas.openxmlformats.org/officeDocument/2006/math">
                    <m:r>
                      <a:rPr lang="en-US" altLang="zh-CN" sz="1400" b="0" i="1" dirty="0" smtClean="0">
                        <a:latin typeface="Cambria Math" panose="02040503050406030204" pitchFamily="18" charset="0"/>
                      </a:rPr>
                      <m:t>𝜇</m:t>
                    </m:r>
                    <m:r>
                      <a:rPr lang="en-US" altLang="zh-CN" sz="1400" b="0" i="1" dirty="0" smtClean="0">
                        <a:latin typeface="Cambria Math" panose="02040503050406030204" pitchFamily="18" charset="0"/>
                      </a:rPr>
                      <m:t>&gt;0</m:t>
                    </m:r>
                  </m:oMath>
                </a14:m>
                <a:endParaRPr lang="zh-CN" altLang="en-US" sz="1400" dirty="0"/>
              </a:p>
            </p:txBody>
          </p:sp>
        </mc:Choice>
        <mc:Fallback xmlns="">
          <p:sp>
            <p:nvSpPr>
              <p:cNvPr id="2" name="文本框 1">
                <a:extLst>
                  <a:ext uri="{FF2B5EF4-FFF2-40B4-BE49-F238E27FC236}">
                    <a16:creationId xmlns:a16="http://schemas.microsoft.com/office/drawing/2014/main" id="{A34001D5-A373-B462-85D8-887E708F1E4A}"/>
                  </a:ext>
                </a:extLst>
              </p:cNvPr>
              <p:cNvSpPr txBox="1">
                <a:spLocks noRot="1" noChangeAspect="1" noMove="1" noResize="1" noEditPoints="1" noAdjustHandles="1" noChangeArrowheads="1" noChangeShapeType="1" noTextEdit="1"/>
              </p:cNvSpPr>
              <p:nvPr/>
            </p:nvSpPr>
            <p:spPr>
              <a:xfrm>
                <a:off x="7624440" y="4101907"/>
                <a:ext cx="3988313" cy="307777"/>
              </a:xfrm>
              <a:prstGeom prst="rect">
                <a:avLst/>
              </a:prstGeom>
              <a:blipFill>
                <a:blip r:embed="rId7"/>
                <a:stretch>
                  <a:fillRect t="-4000" b="-20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3056591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62B82-5A9D-1E35-B901-35B89F5A52F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1A454458-35DE-6093-B3AC-25B7D00DFE81}"/>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1" dirty="0" smtClean="0">
                            <a:solidFill>
                              <a:schemeClr val="tx1"/>
                            </a:solidFill>
                            <a:latin typeface="Cambria Math" panose="02040503050406030204" pitchFamily="18" charset="0"/>
                          </a:rPr>
                          <m:t>G</m:t>
                        </m:r>
                      </m:e>
                      <m:sub>
                        <m:r>
                          <a:rPr lang="en-US" altLang="zh-CN" b="0" i="1" dirty="0" smtClean="0">
                            <a:solidFill>
                              <a:schemeClr val="tx1"/>
                            </a:solidFill>
                            <a:latin typeface="Cambria Math" panose="02040503050406030204" pitchFamily="18" charset="0"/>
                          </a:rPr>
                          <m:t>2</m:t>
                        </m:r>
                      </m:sub>
                    </m:sSub>
                    <m:r>
                      <a:rPr lang="en-US" altLang="zh-CN" b="0"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𝒊</m:t>
                    </m:r>
                    <m:r>
                      <a:rPr lang="en-US" altLang="zh-CN" b="1"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𝒐</m:t>
                    </m:r>
                    <m:r>
                      <a:rPr lang="en-US" altLang="zh-CN" b="1"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𝒎</m:t>
                    </m:r>
                    <m:r>
                      <a:rPr lang="en-US" altLang="zh-CN" b="0" i="1" dirty="0" smtClean="0">
                        <a:solidFill>
                          <a:schemeClr val="tx1"/>
                        </a:solidFill>
                        <a:latin typeface="Cambria Math" panose="02040503050406030204" pitchFamily="18" charset="0"/>
                      </a:rPr>
                      <m:t>)</m:t>
                    </m:r>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A58F7EA6-4A72-6CCB-7D7A-6C55786B5A9A}"/>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017" b="-8475"/>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768FA4DE-2BB2-7DE2-0A37-A37B955F9F30}"/>
              </a:ext>
            </a:extLst>
          </p:cNvPr>
          <p:cNvSpPr/>
          <p:nvPr/>
        </p:nvSpPr>
        <p:spPr>
          <a:xfrm>
            <a:off x="521112" y="1315233"/>
            <a:ext cx="6851503"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D1DF066D-6FE2-047C-206A-C27C08A34CE4}"/>
                  </a:ext>
                </a:extLst>
              </p:cNvPr>
              <p:cNvSpPr/>
              <p:nvPr/>
            </p:nvSpPr>
            <p:spPr>
              <a:xfrm>
                <a:off x="368712" y="1144044"/>
                <a:ext cx="6851503"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14:m>
                  <m:oMathPara xmlns:m="http://schemas.openxmlformats.org/officeDocument/2006/math">
                    <m:oMathParaPr>
                      <m:jc m:val="centerGroup"/>
                    </m:oMathParaPr>
                    <m:oMath xmlns:m="http://schemas.openxmlformats.org/officeDocument/2006/math">
                      <m:func>
                        <m:funcPr>
                          <m:ctrlPr>
                            <a:rPr lang="en-US" altLang="zh-CN" sz="1200" b="0" i="1" dirty="0" smtClean="0">
                              <a:solidFill>
                                <a:schemeClr val="tx1"/>
                              </a:solidFill>
                              <a:latin typeface="Cambria Math" panose="02040503050406030204" pitchFamily="18" charset="0"/>
                            </a:rPr>
                          </m:ctrlPr>
                        </m:funcPr>
                        <m:fName>
                          <m:limLow>
                            <m:limLowPr>
                              <m:ctrlPr>
                                <a:rPr lang="en-US" altLang="zh-CN" sz="1200" b="0" i="1" dirty="0" smtClean="0">
                                  <a:solidFill>
                                    <a:schemeClr val="tx1"/>
                                  </a:solidFill>
                                  <a:latin typeface="Cambria Math" panose="02040503050406030204" pitchFamily="18" charset="0"/>
                                </a:rPr>
                              </m:ctrlPr>
                            </m:limLowPr>
                            <m:e>
                              <m:r>
                                <m:rPr>
                                  <m:sty m:val="p"/>
                                </m:rPr>
                                <a:rPr lang="en-US" altLang="zh-CN" sz="1200" b="0" i="0" dirty="0" smtClean="0">
                                  <a:solidFill>
                                    <a:schemeClr val="tx1"/>
                                  </a:solidFill>
                                  <a:latin typeface="Cambria Math" panose="02040503050406030204" pitchFamily="18" charset="0"/>
                                </a:rPr>
                                <m:t>lim</m:t>
                              </m:r>
                            </m:e>
                            <m:lim>
                              <m:r>
                                <m:rPr>
                                  <m:sty m:val="p"/>
                                </m:rPr>
                                <a:rPr lang="en-US" altLang="zh-CN" sz="1200" b="0" i="0" dirty="0" smtClean="0">
                                  <a:solidFill>
                                    <a:schemeClr val="tx1"/>
                                  </a:solidFill>
                                  <a:latin typeface="Cambria Math" panose="02040503050406030204" pitchFamily="18" charset="0"/>
                                </a:rPr>
                                <m:t>Δ</m:t>
                              </m:r>
                              <m:r>
                                <a:rPr lang="en-US" altLang="zh-CN" sz="1200" b="0" i="1" dirty="0" smtClean="0">
                                  <a:solidFill>
                                    <a:schemeClr val="tx1"/>
                                  </a:solidFill>
                                  <a:latin typeface="Cambria Math" panose="02040503050406030204" pitchFamily="18" charset="0"/>
                                </a:rPr>
                                <m:t>𝜏</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0</m:t>
                              </m:r>
                            </m:lim>
                          </m:limLow>
                        </m:fName>
                        <m:e>
                          <m:f>
                            <m:fPr>
                              <m:ctrlPr>
                                <a:rPr lang="en-US" altLang="zh-CN" sz="1200" i="1" dirty="0">
                                  <a:solidFill>
                                    <a:schemeClr val="tx1"/>
                                  </a:solidFill>
                                  <a:latin typeface="Cambria Math" panose="02040503050406030204" pitchFamily="18" charset="0"/>
                                </a:rPr>
                              </m:ctrlPr>
                            </m:fPr>
                            <m:num>
                              <m:r>
                                <a:rPr lang="en-US" altLang="zh-CN" sz="1200" i="1" dirty="0">
                                  <a:solidFill>
                                    <a:schemeClr val="tx1"/>
                                  </a:solidFill>
                                  <a:latin typeface="Cambria Math" panose="02040503050406030204" pitchFamily="18" charset="0"/>
                                </a:rPr>
                                <m:t>𝑆</m:t>
                              </m:r>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r>
                                    <a:rPr lang="en-US" altLang="zh-CN" sz="1200" i="1" dirty="0">
                                      <a:solidFill>
                                        <a:schemeClr val="tx1"/>
                                      </a:solidFill>
                                      <a:latin typeface="Cambria Math" panose="02040503050406030204" pitchFamily="18" charset="0"/>
                                    </a:rPr>
                                    <m:t>+</m:t>
                                  </m:r>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e>
                              </m:d>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𝑆</m:t>
                              </m:r>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num>
                            <m:den>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den>
                          </m:f>
                        </m:e>
                      </m:func>
                      <m:r>
                        <a:rPr lang="en-US" altLang="zh-CN" sz="1200" b="0" i="1" dirty="0" smtClean="0">
                          <a:solidFill>
                            <a:schemeClr val="tx1"/>
                          </a:solidFill>
                          <a:latin typeface="Cambria Math" panose="02040503050406030204" pitchFamily="18" charset="0"/>
                        </a:rPr>
                        <m:t>=</m:t>
                      </m:r>
                      <m:f>
                        <m:fPr>
                          <m:ctrlPr>
                            <a:rPr lang="en-US" altLang="zh-CN" sz="1200" b="0" i="1" dirty="0" smtClean="0">
                              <a:solidFill>
                                <a:schemeClr val="tx1"/>
                              </a:solidFill>
                              <a:latin typeface="Cambria Math" panose="02040503050406030204" pitchFamily="18" charset="0"/>
                            </a:rPr>
                          </m:ctrlPr>
                        </m:fPr>
                        <m:num>
                          <m:r>
                            <a:rPr lang="en-US" altLang="zh-CN" sz="1200" b="0" i="1" dirty="0" smtClean="0">
                              <a:solidFill>
                                <a:schemeClr val="tx1"/>
                              </a:solidFill>
                              <a:latin typeface="Cambria Math" panose="02040503050406030204" pitchFamily="18" charset="0"/>
                            </a:rPr>
                            <m:t>𝑑</m:t>
                          </m:r>
                          <m:r>
                            <a:rPr lang="en-US" altLang="zh-CN" sz="1200" i="1" dirty="0">
                              <a:solidFill>
                                <a:schemeClr val="tx1"/>
                              </a:solidFill>
                              <a:latin typeface="Cambria Math" panose="02040503050406030204" pitchFamily="18" charset="0"/>
                            </a:rPr>
                            <m:t>𝑆</m:t>
                          </m:r>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num>
                        <m:den>
                          <m:r>
                            <a:rPr lang="en-US" altLang="zh-CN" sz="1200" b="0" i="1" dirty="0" smtClean="0">
                              <a:solidFill>
                                <a:schemeClr val="tx1"/>
                              </a:solidFill>
                              <a:latin typeface="Cambria Math" panose="02040503050406030204" pitchFamily="18" charset="0"/>
                            </a:rPr>
                            <m:t>𝑑</m:t>
                          </m:r>
                          <m:r>
                            <a:rPr lang="en-US" altLang="zh-CN" sz="1200" b="0" i="1" dirty="0" smtClean="0">
                              <a:solidFill>
                                <a:schemeClr val="tx1"/>
                              </a:solidFill>
                              <a:latin typeface="Cambria Math" panose="02040503050406030204" pitchFamily="18" charset="0"/>
                            </a:rPr>
                            <m:t>𝜏</m:t>
                          </m:r>
                        </m:den>
                      </m:f>
                      <m:r>
                        <a:rPr lang="en-US" altLang="zh-CN" sz="1200" i="1" dirty="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𝑆</m:t>
                      </m:r>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i="1" dirty="0">
                          <a:solidFill>
                            <a:schemeClr val="tx1"/>
                          </a:solidFill>
                          <a:latin typeface="Cambria Math" panose="02040503050406030204" pitchFamily="18" charset="0"/>
                        </a:rPr>
                        <m:t>𝑔</m:t>
                      </m:r>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𝜏</m:t>
                          </m:r>
                        </m:e>
                      </m:d>
                    </m:oMath>
                  </m:oMathPara>
                </a14:m>
                <a:endParaRPr lang="en-US" altLang="zh-CN" sz="1200" dirty="0">
                  <a:solidFill>
                    <a:schemeClr val="tx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1200" i="1" dirty="0" smtClean="0">
                          <a:solidFill>
                            <a:schemeClr val="tx1"/>
                          </a:solidFill>
                          <a:latin typeface="Cambria Math" panose="02040503050406030204" pitchFamily="18" charset="0"/>
                        </a:rPr>
                        <m:t>𝑆</m:t>
                      </m:r>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𝑆</m:t>
                      </m:r>
                      <m:d>
                        <m:dPr>
                          <m:ctrlPr>
                            <a:rPr lang="en-US" altLang="zh-CN" sz="1200" b="0" i="1" dirty="0" smtClean="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0</m:t>
                          </m:r>
                        </m:e>
                      </m:d>
                      <m:r>
                        <a:rPr lang="en-US" altLang="zh-CN" sz="1200" b="0" i="1" dirty="0" smtClean="0">
                          <a:solidFill>
                            <a:schemeClr val="tx1"/>
                          </a:solidFill>
                          <a:latin typeface="Cambria Math" panose="02040503050406030204" pitchFamily="18" charset="0"/>
                        </a:rPr>
                        <m:t> </m:t>
                      </m:r>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𝑒</m:t>
                          </m:r>
                        </m:e>
                        <m:sup>
                          <m:r>
                            <a:rPr lang="en-US" altLang="zh-CN" sz="1200" b="0" i="1" dirty="0" smtClean="0">
                              <a:solidFill>
                                <a:schemeClr val="tx1"/>
                              </a:solidFill>
                              <a:latin typeface="Cambria Math" panose="02040503050406030204" pitchFamily="18" charset="0"/>
                            </a:rPr>
                            <m:t>−</m:t>
                          </m:r>
                          <m:nary>
                            <m:naryPr>
                              <m:ctrlPr>
                                <a:rPr lang="en-US" altLang="zh-CN" sz="1200" b="0" i="1" dirty="0" smtClean="0">
                                  <a:solidFill>
                                    <a:schemeClr val="tx1"/>
                                  </a:solidFill>
                                  <a:latin typeface="Cambria Math" panose="02040503050406030204" pitchFamily="18" charset="0"/>
                                </a:rPr>
                              </m:ctrlPr>
                            </m:naryPr>
                            <m:sub>
                              <m:r>
                                <a:rPr lang="en-US" altLang="zh-CN" sz="1200" b="0" i="1" dirty="0" smtClean="0">
                                  <a:solidFill>
                                    <a:schemeClr val="tx1"/>
                                  </a:solidFill>
                                  <a:latin typeface="Cambria Math" panose="02040503050406030204" pitchFamily="18" charset="0"/>
                                </a:rPr>
                                <m:t>0</m:t>
                              </m:r>
                            </m:sub>
                            <m:sup>
                              <m:r>
                                <a:rPr lang="en-US" altLang="zh-CN" sz="1200" b="0" i="1" dirty="0" smtClean="0">
                                  <a:solidFill>
                                    <a:schemeClr val="tx1"/>
                                  </a:solidFill>
                                  <a:latin typeface="Cambria Math" panose="02040503050406030204" pitchFamily="18" charset="0"/>
                                </a:rPr>
                                <m:t>𝜏</m:t>
                              </m:r>
                            </m:sup>
                            <m:e>
                              <m:r>
                                <a:rPr lang="en-US" altLang="zh-CN" sz="1200" i="1" dirty="0">
                                  <a:solidFill>
                                    <a:schemeClr val="tx1"/>
                                  </a:solidFill>
                                  <a:latin typeface="Cambria Math" panose="02040503050406030204" pitchFamily="18" charset="0"/>
                                </a:rPr>
                                <m:t>𝑔</m:t>
                              </m:r>
                              <m:d>
                                <m:dPr>
                                  <m:ctrlPr>
                                    <a:rPr lang="en-US" altLang="zh-CN" sz="1200" i="1" dirty="0">
                                      <a:solidFill>
                                        <a:schemeClr val="tx1"/>
                                      </a:solidFill>
                                      <a:latin typeface="Cambria Math" panose="02040503050406030204" pitchFamily="18" charset="0"/>
                                    </a:rPr>
                                  </m:ctrlPr>
                                </m:dPr>
                                <m:e>
                                  <m:sSup>
                                    <m:sSupPr>
                                      <m:ctrlPr>
                                        <a:rPr lang="en-US" altLang="zh-CN" sz="1200" b="0" i="1" dirty="0" smtClean="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𝜏</m:t>
                                      </m:r>
                                    </m:e>
                                    <m:sup>
                                      <m:r>
                                        <a:rPr lang="en-US" altLang="zh-CN" sz="1200" b="0" i="1" dirty="0" smtClean="0">
                                          <a:solidFill>
                                            <a:schemeClr val="tx1"/>
                                          </a:solidFill>
                                          <a:latin typeface="Cambria Math" panose="02040503050406030204" pitchFamily="18" charset="0"/>
                                        </a:rPr>
                                        <m:t>′</m:t>
                                      </m:r>
                                    </m:sup>
                                  </m:sSup>
                                </m:e>
                              </m:d>
                              <m:r>
                                <a:rPr lang="en-US" altLang="zh-CN" sz="1200" b="0" i="1" dirty="0" smtClean="0">
                                  <a:solidFill>
                                    <a:schemeClr val="tx1"/>
                                  </a:solidFill>
                                  <a:latin typeface="Cambria Math" panose="02040503050406030204" pitchFamily="18" charset="0"/>
                                </a:rPr>
                                <m:t> </m:t>
                              </m:r>
                              <m:r>
                                <a:rPr lang="en-US" altLang="zh-CN" sz="1200" b="0" i="1" dirty="0" smtClean="0">
                                  <a:solidFill>
                                    <a:schemeClr val="tx1"/>
                                  </a:solidFill>
                                  <a:latin typeface="Cambria Math" panose="02040503050406030204" pitchFamily="18" charset="0"/>
                                </a:rPr>
                                <m:t>𝑑</m:t>
                              </m:r>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𝜏</m:t>
                                  </m:r>
                                </m:e>
                                <m:sup>
                                  <m:r>
                                    <a:rPr lang="en-US" altLang="zh-CN" sz="1200" b="0" i="1" dirty="0" smtClean="0">
                                      <a:solidFill>
                                        <a:schemeClr val="tx1"/>
                                      </a:solidFill>
                                      <a:latin typeface="Cambria Math" panose="02040503050406030204" pitchFamily="18" charset="0"/>
                                    </a:rPr>
                                    <m:t>′</m:t>
                                  </m:r>
                                </m:sup>
                              </m:sSup>
                            </m:e>
                          </m:nary>
                        </m:sup>
                      </m:sSup>
                      <m:r>
                        <a:rPr lang="en-US" altLang="zh-CN" sz="1200" b="0" i="1" dirty="0" smtClean="0">
                          <a:solidFill>
                            <a:schemeClr val="tx1"/>
                          </a:solidFill>
                          <a:latin typeface="Cambria Math" panose="02040503050406030204" pitchFamily="18" charset="0"/>
                        </a:rPr>
                        <m:t>=</m:t>
                      </m:r>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𝑋</m:t>
                          </m:r>
                        </m:e>
                        <m:sup>
                          <m:r>
                            <a:rPr lang="en-US" altLang="zh-CN" sz="1200" b="0" i="1" dirty="0" smtClean="0">
                              <a:solidFill>
                                <a:schemeClr val="tx1"/>
                              </a:solidFill>
                              <a:latin typeface="Cambria Math" panose="02040503050406030204" pitchFamily="18" charset="0"/>
                            </a:rPr>
                            <m:t>+</m:t>
                          </m:r>
                        </m:sup>
                      </m:sSup>
                      <m:d>
                        <m:dPr>
                          <m:ctrlPr>
                            <a:rPr lang="en-US" altLang="zh-CN" sz="1200" b="0" i="1" dirty="0" smtClean="0">
                              <a:solidFill>
                                <a:schemeClr val="tx1"/>
                              </a:solidFill>
                              <a:latin typeface="Cambria Math" panose="02040503050406030204" pitchFamily="18" charset="0"/>
                            </a:rPr>
                          </m:ctrlPr>
                        </m:dPr>
                        <m:e>
                          <m:r>
                            <a:rPr lang="en-US" altLang="zh-CN" sz="1200" b="0" i="1" dirty="0" smtClean="0">
                              <a:solidFill>
                                <a:schemeClr val="tx1"/>
                              </a:solidFill>
                              <a:latin typeface="Cambria Math" panose="02040503050406030204" pitchFamily="18" charset="0"/>
                            </a:rPr>
                            <m:t>𝜇</m:t>
                          </m:r>
                          <m:r>
                            <a:rPr lang="en-US" altLang="zh-CN" sz="1200" b="0" i="1" dirty="0" smtClean="0">
                              <a:solidFill>
                                <a:schemeClr val="tx1"/>
                              </a:solidFill>
                              <a:latin typeface="Cambria Math" panose="02040503050406030204" pitchFamily="18" charset="0"/>
                            </a:rPr>
                            <m:t>−</m:t>
                          </m:r>
                          <m:sSub>
                            <m:sSubPr>
                              <m:ctrlPr>
                                <a:rPr lang="en-US" altLang="zh-CN" sz="1200" i="1" dirty="0">
                                  <a:solidFill>
                                    <a:schemeClr val="tx1"/>
                                  </a:solidFill>
                                  <a:latin typeface="Cambria Math" panose="02040503050406030204" pitchFamily="18" charset="0"/>
                                </a:rPr>
                              </m:ctrlPr>
                            </m:sSubPr>
                            <m:e>
                              <m:r>
                                <m:rPr>
                                  <m:sty m:val="p"/>
                                </m:rPr>
                                <a:rPr lang="en-US" altLang="zh-CN" sz="1200" dirty="0">
                                  <a:solidFill>
                                    <a:schemeClr val="tx1"/>
                                  </a:solidFill>
                                  <a:latin typeface="Cambria Math" panose="02040503050406030204" pitchFamily="18" charset="0"/>
                                </a:rPr>
                                <m:t>q</m:t>
                              </m:r>
                            </m:e>
                            <m:sub>
                              <m:r>
                                <a:rPr lang="en-US" altLang="zh-CN" sz="1200" i="1" dirty="0">
                                  <a:solidFill>
                                    <a:schemeClr val="tx1"/>
                                  </a:solidFill>
                                  <a:latin typeface="Cambria Math" panose="02040503050406030204" pitchFamily="18" charset="0"/>
                                </a:rPr>
                                <m:t>0</m:t>
                              </m:r>
                            </m:sub>
                          </m:sSub>
                        </m:e>
                      </m:d>
                      <m:r>
                        <a:rPr lang="en-US" altLang="zh-CN" sz="1200" b="0" i="1" dirty="0" smtClean="0">
                          <a:solidFill>
                            <a:schemeClr val="tx1"/>
                          </a:solidFill>
                          <a:latin typeface="Cambria Math" panose="02040503050406030204" pitchFamily="18" charset="0"/>
                        </a:rPr>
                        <m:t> </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𝑒</m:t>
                          </m:r>
                        </m:e>
                        <m:sup>
                          <m:r>
                            <a:rPr lang="en-US" altLang="zh-CN" sz="1200" i="1" dirty="0">
                              <a:solidFill>
                                <a:schemeClr val="tx1"/>
                              </a:solidFill>
                              <a:latin typeface="Cambria Math" panose="02040503050406030204" pitchFamily="18" charset="0"/>
                            </a:rPr>
                            <m:t>−</m:t>
                          </m:r>
                          <m:nary>
                            <m:naryPr>
                              <m:ctrlPr>
                                <a:rPr lang="en-US" altLang="zh-CN" sz="1200" i="1" dirty="0">
                                  <a:solidFill>
                                    <a:schemeClr val="tx1"/>
                                  </a:solidFill>
                                  <a:latin typeface="Cambria Math" panose="02040503050406030204" pitchFamily="18" charset="0"/>
                                </a:rPr>
                              </m:ctrlPr>
                            </m:naryPr>
                            <m:sub>
                              <m:r>
                                <a:rPr lang="en-US" altLang="zh-CN" sz="1200" i="1" dirty="0">
                                  <a:solidFill>
                                    <a:schemeClr val="tx1"/>
                                  </a:solidFill>
                                  <a:latin typeface="Cambria Math" panose="02040503050406030204" pitchFamily="18" charset="0"/>
                                </a:rPr>
                                <m:t>0</m:t>
                              </m:r>
                            </m:sub>
                            <m:sup>
                              <m:r>
                                <a:rPr lang="en-US" altLang="zh-CN" sz="1200" i="1" dirty="0">
                                  <a:solidFill>
                                    <a:schemeClr val="tx1"/>
                                  </a:solidFill>
                                  <a:latin typeface="Cambria Math" panose="02040503050406030204" pitchFamily="18" charset="0"/>
                                </a:rPr>
                                <m:t>𝜏</m:t>
                              </m:r>
                            </m:sup>
                            <m:e>
                              <m:r>
                                <a:rPr lang="en-US" altLang="zh-CN" sz="1200" i="1" dirty="0">
                                  <a:solidFill>
                                    <a:schemeClr val="tx1"/>
                                  </a:solidFill>
                                  <a:latin typeface="Cambria Math" panose="02040503050406030204" pitchFamily="18" charset="0"/>
                                </a:rPr>
                                <m:t>𝑔</m:t>
                              </m:r>
                              <m:d>
                                <m:dPr>
                                  <m:ctrlPr>
                                    <a:rPr lang="en-US" altLang="zh-CN" sz="1200" i="1" dirty="0">
                                      <a:solidFill>
                                        <a:schemeClr val="tx1"/>
                                      </a:solidFill>
                                      <a:latin typeface="Cambria Math" panose="02040503050406030204" pitchFamily="18" charset="0"/>
                                    </a:rPr>
                                  </m:ctrlPr>
                                </m:dPr>
                                <m:e>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𝜏</m:t>
                                      </m:r>
                                    </m:e>
                                    <m:sup>
                                      <m:r>
                                        <a:rPr lang="en-US" altLang="zh-CN" sz="1200" i="1" dirty="0">
                                          <a:solidFill>
                                            <a:schemeClr val="tx1"/>
                                          </a:solidFill>
                                          <a:latin typeface="Cambria Math" panose="02040503050406030204" pitchFamily="18" charset="0"/>
                                        </a:rPr>
                                        <m:t>′</m:t>
                                      </m:r>
                                    </m:sup>
                                  </m:sSup>
                                </m:e>
                              </m:d>
                              <m:r>
                                <a:rPr lang="en-US" altLang="zh-CN" sz="1200" i="1" dirty="0">
                                  <a:solidFill>
                                    <a:schemeClr val="tx1"/>
                                  </a:solidFill>
                                  <a:latin typeface="Cambria Math" panose="02040503050406030204" pitchFamily="18" charset="0"/>
                                </a:rPr>
                                <m:t> </m:t>
                              </m:r>
                              <m:r>
                                <a:rPr lang="en-US" altLang="zh-CN" sz="1200" i="1" dirty="0">
                                  <a:solidFill>
                                    <a:schemeClr val="tx1"/>
                                  </a:solidFill>
                                  <a:latin typeface="Cambria Math" panose="02040503050406030204" pitchFamily="18" charset="0"/>
                                </a:rPr>
                                <m:t>𝑑</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𝜏</m:t>
                                  </m:r>
                                </m:e>
                                <m:sup>
                                  <m:r>
                                    <a:rPr lang="en-US" altLang="zh-CN" sz="1200" i="1" dirty="0">
                                      <a:solidFill>
                                        <a:schemeClr val="tx1"/>
                                      </a:solidFill>
                                      <a:latin typeface="Cambria Math" panose="02040503050406030204" pitchFamily="18" charset="0"/>
                                    </a:rPr>
                                    <m:t>′</m:t>
                                  </m:r>
                                </m:sup>
                              </m:sSup>
                            </m:e>
                          </m:nary>
                        </m:sup>
                      </m:sSup>
                    </m:oMath>
                  </m:oMathPara>
                </a14:m>
                <a:endParaRPr lang="en-US" altLang="zh-CN" sz="1200" dirty="0">
                  <a:solidFill>
                    <a:schemeClr val="tx1"/>
                  </a:solidFill>
                </a:endParaRPr>
              </a:p>
              <a:p>
                <a:pPr>
                  <a:lnSpc>
                    <a:spcPct val="150000"/>
                  </a:lnSpc>
                </a:pPr>
                <a14:m>
                  <m:oMath xmlns:m="http://schemas.openxmlformats.org/officeDocument/2006/math">
                    <m:r>
                      <a:rPr lang="en-US" altLang="zh-CN" sz="1200" i="1" dirty="0" smtClean="0">
                        <a:solidFill>
                          <a:schemeClr val="tx1"/>
                        </a:solidFill>
                        <a:latin typeface="Cambria Math" panose="02040503050406030204" pitchFamily="18" charset="0"/>
                      </a:rPr>
                      <m:t>𝑔</m:t>
                    </m:r>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𝜏</m:t>
                        </m:r>
                      </m:e>
                    </m:d>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oMath>
                </a14:m>
                <a:r>
                  <a:rPr lang="zh-CN" altLang="en-US" sz="1200" dirty="0">
                    <a:solidFill>
                      <a:schemeClr val="tx1"/>
                    </a:solidFill>
                  </a:rPr>
                  <a:t>为：当</a:t>
                </a:r>
                <a14:m>
                  <m:oMath xmlns:m="http://schemas.openxmlformats.org/officeDocument/2006/math">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oMath>
                </a14:m>
                <a:r>
                  <a:rPr lang="zh-CN" altLang="en-US" sz="1200" dirty="0">
                    <a:solidFill>
                      <a:schemeClr val="tx1"/>
                    </a:solidFill>
                  </a:rPr>
                  <a:t>时，光线从</a:t>
                </a:r>
                <a14:m>
                  <m:oMath xmlns:m="http://schemas.openxmlformats.org/officeDocument/2006/math">
                    <m:r>
                      <a:rPr lang="en-US" altLang="zh-CN" sz="1200" i="1" dirty="0">
                        <a:solidFill>
                          <a:schemeClr val="tx1"/>
                        </a:solidFill>
                        <a:latin typeface="Cambria Math" panose="02040503050406030204" pitchFamily="18" charset="0"/>
                      </a:rPr>
                      <m:t>𝜏</m:t>
                    </m:r>
                  </m:oMath>
                </a14:m>
                <a:r>
                  <a:rPr lang="zh-CN" altLang="en-US" sz="1200" dirty="0">
                    <a:solidFill>
                      <a:schemeClr val="tx1"/>
                    </a:solidFill>
                  </a:rPr>
                  <a:t>前进</a:t>
                </a:r>
                <a14:m>
                  <m:oMath xmlns:m="http://schemas.openxmlformats.org/officeDocument/2006/math">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d>
                      <m:dPr>
                        <m:ctrlPr>
                          <a:rPr lang="en-US" altLang="zh-CN" sz="1200" b="0" i="1" dirty="0" smtClean="0">
                            <a:solidFill>
                              <a:schemeClr val="tx1"/>
                            </a:solidFill>
                            <a:latin typeface="Cambria Math" panose="02040503050406030204" pitchFamily="18" charset="0"/>
                          </a:rPr>
                        </m:ctrlPr>
                      </m:dPr>
                      <m:e>
                        <m:r>
                          <m:rPr>
                            <m:sty m:val="p"/>
                          </m:rPr>
                          <a:rPr lang="en-US" altLang="zh-CN" sz="1200" b="0" i="0" dirty="0" smtClean="0">
                            <a:solidFill>
                              <a:schemeClr val="tx1"/>
                            </a:solidFill>
                            <a:latin typeface="Cambria Math" panose="02040503050406030204" pitchFamily="18" charset="0"/>
                          </a:rPr>
                          <m:t>Δ</m:t>
                        </m:r>
                        <m:r>
                          <a:rPr lang="en-US" altLang="zh-CN" sz="1200" b="0" i="1" dirty="0" smtClean="0">
                            <a:solidFill>
                              <a:schemeClr val="tx1"/>
                            </a:solidFill>
                            <a:latin typeface="Cambria Math" panose="02040503050406030204" pitchFamily="18" charset="0"/>
                          </a:rPr>
                          <m:t>𝜏</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0</m:t>
                        </m:r>
                      </m:e>
                    </m:d>
                  </m:oMath>
                </a14:m>
                <a:r>
                  <a:rPr lang="zh-CN" altLang="en-US" sz="1200" dirty="0">
                    <a:solidFill>
                      <a:schemeClr val="tx1"/>
                    </a:solidFill>
                  </a:rPr>
                  <a:t>后，与微表面相交的条件概率：</a:t>
                </a:r>
                <a:endParaRPr lang="en-US" altLang="zh-CN" sz="1200" dirty="0">
                  <a:solidFill>
                    <a:schemeClr val="tx1"/>
                  </a:solidFill>
                </a:endParaRPr>
              </a:p>
              <a:p>
                <a:pPr marL="628650" lvl="1" indent="-171450">
                  <a:lnSpc>
                    <a:spcPct val="150000"/>
                  </a:lnSpc>
                  <a:buFont typeface="Arial" panose="020B0604020202020204" pitchFamily="34" charset="0"/>
                  <a:buChar char="•"/>
                </a:pPr>
                <a:r>
                  <a:rPr lang="zh-CN" altLang="en-US" sz="1100" dirty="0">
                    <a:solidFill>
                      <a:schemeClr val="tx1"/>
                    </a:solidFill>
                  </a:rPr>
                  <a:t>事件</a:t>
                </a:r>
                <a:r>
                  <a:rPr lang="en-US" altLang="zh-CN" sz="1100" dirty="0">
                    <a:solidFill>
                      <a:schemeClr val="tx1"/>
                    </a:solidFill>
                  </a:rPr>
                  <a:t>A</a:t>
                </a:r>
                <a:r>
                  <a:rPr lang="zh-CN" altLang="en-US" sz="1100" dirty="0">
                    <a:solidFill>
                      <a:schemeClr val="tx1"/>
                    </a:solidFill>
                  </a:rPr>
                  <a:t>：光线在</a:t>
                </a:r>
                <a14:m>
                  <m:oMath xmlns:m="http://schemas.openxmlformats.org/officeDocument/2006/math">
                    <m:r>
                      <a:rPr lang="en-US" altLang="zh-CN" sz="1100" i="1" dirty="0" smtClean="0">
                        <a:solidFill>
                          <a:schemeClr val="tx1"/>
                        </a:solidFill>
                        <a:latin typeface="Cambria Math" panose="02040503050406030204" pitchFamily="18" charset="0"/>
                      </a:rPr>
                      <m:t>𝜏</m:t>
                    </m:r>
                  </m:oMath>
                </a14:m>
                <a:r>
                  <a:rPr lang="zh-CN" altLang="en-US" sz="1100" dirty="0">
                    <a:solidFill>
                      <a:schemeClr val="tx1"/>
                    </a:solidFill>
                  </a:rPr>
                  <a:t>处未与微表面相交：</a:t>
                </a:r>
                <a14:m>
                  <m:oMath xmlns:m="http://schemas.openxmlformats.org/officeDocument/2006/math">
                    <m:sSub>
                      <m:sSubPr>
                        <m:ctrlPr>
                          <a:rPr lang="en-US" altLang="zh-CN" sz="1100" b="0" i="1" dirty="0" smtClean="0">
                            <a:solidFill>
                              <a:schemeClr val="tx1"/>
                            </a:solidFill>
                            <a:latin typeface="Cambria Math" panose="02040503050406030204" pitchFamily="18" charset="0"/>
                          </a:rPr>
                        </m:ctrlPr>
                      </m:sSubPr>
                      <m:e>
                        <m:r>
                          <a:rPr lang="en-US" altLang="zh-CN" sz="1100" b="0" i="1" dirty="0" smtClean="0">
                            <a:solidFill>
                              <a:schemeClr val="tx1"/>
                            </a:solidFill>
                            <a:latin typeface="Cambria Math" panose="02040503050406030204" pitchFamily="18" charset="0"/>
                          </a:rPr>
                          <m:t>𝜉</m:t>
                        </m:r>
                      </m:e>
                      <m:sub>
                        <m:r>
                          <a:rPr lang="en-US" altLang="zh-CN" sz="1100" b="0" i="1" dirty="0" smtClean="0">
                            <a:solidFill>
                              <a:schemeClr val="tx1"/>
                            </a:solidFill>
                            <a:latin typeface="Cambria Math" panose="02040503050406030204" pitchFamily="18" charset="0"/>
                          </a:rPr>
                          <m:t>0</m:t>
                        </m:r>
                      </m:sub>
                    </m:sSub>
                    <m:r>
                      <a:rPr lang="en-US" altLang="zh-CN" sz="1100" b="0" i="1" dirty="0" smtClean="0">
                        <a:solidFill>
                          <a:schemeClr val="tx1"/>
                        </a:solidFill>
                        <a:latin typeface="Cambria Math" panose="02040503050406030204" pitchFamily="18" charset="0"/>
                      </a:rPr>
                      <m:t>+</m:t>
                    </m:r>
                    <m:r>
                      <a:rPr lang="en-US" altLang="zh-CN" sz="1100" b="0" i="1" dirty="0" smtClean="0">
                        <a:solidFill>
                          <a:schemeClr val="tx1"/>
                        </a:solidFill>
                        <a:latin typeface="Cambria Math" panose="02040503050406030204" pitchFamily="18" charset="0"/>
                      </a:rPr>
                      <m:t>𝜇𝜏</m:t>
                    </m:r>
                    <m:r>
                      <a:rPr lang="en-US" altLang="zh-CN" sz="1100" b="0" i="1" dirty="0" smtClean="0">
                        <a:solidFill>
                          <a:schemeClr val="tx1"/>
                        </a:solidFill>
                        <a:latin typeface="Cambria Math" panose="02040503050406030204" pitchFamily="18" charset="0"/>
                      </a:rPr>
                      <m:t>&gt;</m:t>
                    </m:r>
                    <m:r>
                      <a:rPr lang="en-US" altLang="zh-CN" sz="1100" b="0" i="1" dirty="0" smtClean="0">
                        <a:solidFill>
                          <a:schemeClr val="tx1"/>
                        </a:solidFill>
                        <a:latin typeface="Cambria Math" panose="02040503050406030204" pitchFamily="18" charset="0"/>
                      </a:rPr>
                      <m:t>𝜉</m:t>
                    </m:r>
                    <m:d>
                      <m:dPr>
                        <m:ctrlPr>
                          <a:rPr lang="en-US" altLang="zh-CN" sz="1100" b="0" i="1" dirty="0" smtClean="0">
                            <a:solidFill>
                              <a:schemeClr val="tx1"/>
                            </a:solidFill>
                            <a:latin typeface="Cambria Math" panose="02040503050406030204" pitchFamily="18" charset="0"/>
                          </a:rPr>
                        </m:ctrlPr>
                      </m:dPr>
                      <m:e>
                        <m:r>
                          <a:rPr lang="en-US" altLang="zh-CN" sz="1100" b="0" i="1" dirty="0" smtClean="0">
                            <a:solidFill>
                              <a:schemeClr val="tx1"/>
                            </a:solidFill>
                            <a:latin typeface="Cambria Math" panose="02040503050406030204" pitchFamily="18" charset="0"/>
                          </a:rPr>
                          <m:t>𝜏</m:t>
                        </m:r>
                      </m:e>
                    </m:d>
                  </m:oMath>
                </a14:m>
                <a:endParaRPr lang="en-US" altLang="zh-CN" sz="1100" dirty="0">
                  <a:solidFill>
                    <a:schemeClr val="tx1"/>
                  </a:solidFill>
                </a:endParaRPr>
              </a:p>
              <a:p>
                <a:pPr marL="628650" lvl="1" indent="-171450">
                  <a:lnSpc>
                    <a:spcPct val="150000"/>
                  </a:lnSpc>
                  <a:buFont typeface="Arial" panose="020B0604020202020204" pitchFamily="34" charset="0"/>
                  <a:buChar char="•"/>
                </a:pPr>
                <a:r>
                  <a:rPr lang="zh-CN" altLang="en-US" sz="1100" dirty="0">
                    <a:solidFill>
                      <a:schemeClr val="tx1"/>
                    </a:solidFill>
                  </a:rPr>
                  <a:t>事件</a:t>
                </a:r>
                <a:r>
                  <a:rPr lang="en-US" altLang="zh-CN" sz="1100" dirty="0">
                    <a:solidFill>
                      <a:schemeClr val="tx1"/>
                    </a:solidFill>
                  </a:rPr>
                  <a:t>B</a:t>
                </a:r>
                <a:r>
                  <a:rPr lang="zh-CN" altLang="en-US" sz="1100" dirty="0">
                    <a:solidFill>
                      <a:schemeClr val="tx1"/>
                    </a:solidFill>
                  </a:rPr>
                  <a:t>：光线在 </a:t>
                </a:r>
                <a14:m>
                  <m:oMath xmlns:m="http://schemas.openxmlformats.org/officeDocument/2006/math">
                    <m:r>
                      <a:rPr lang="en-US" altLang="zh-CN" sz="1100" i="1" dirty="0">
                        <a:solidFill>
                          <a:schemeClr val="tx1"/>
                        </a:solidFill>
                        <a:latin typeface="Cambria Math" panose="02040503050406030204" pitchFamily="18" charset="0"/>
                      </a:rPr>
                      <m:t>𝜏</m:t>
                    </m:r>
                    <m:r>
                      <a:rPr lang="en-US" altLang="zh-CN" sz="1100" dirty="0">
                        <a:solidFill>
                          <a:schemeClr val="tx1"/>
                        </a:solidFill>
                        <a:latin typeface="Cambria Math" panose="02040503050406030204" pitchFamily="18" charset="0"/>
                      </a:rPr>
                      <m:t>+</m:t>
                    </m:r>
                    <m:r>
                      <m:rPr>
                        <m:sty m:val="p"/>
                      </m:rPr>
                      <a:rPr lang="en-US" altLang="zh-CN" sz="1100" dirty="0">
                        <a:solidFill>
                          <a:schemeClr val="tx1"/>
                        </a:solidFill>
                        <a:latin typeface="Cambria Math" panose="02040503050406030204" pitchFamily="18" charset="0"/>
                      </a:rPr>
                      <m:t>Δ</m:t>
                    </m:r>
                    <m:r>
                      <a:rPr lang="en-US" altLang="zh-CN" sz="1100" i="1" dirty="0">
                        <a:solidFill>
                          <a:schemeClr val="tx1"/>
                        </a:solidFill>
                        <a:latin typeface="Cambria Math" panose="02040503050406030204" pitchFamily="18" charset="0"/>
                      </a:rPr>
                      <m:t>𝜏</m:t>
                    </m:r>
                  </m:oMath>
                </a14:m>
                <a:r>
                  <a:rPr lang="zh-CN" altLang="en-US" sz="1100" dirty="0">
                    <a:solidFill>
                      <a:schemeClr val="tx1"/>
                    </a:solidFill>
                  </a:rPr>
                  <a:t> 处已与微表面相交：</a:t>
                </a:r>
                <a14:m>
                  <m:oMath xmlns:m="http://schemas.openxmlformats.org/officeDocument/2006/math">
                    <m:sSub>
                      <m:sSubPr>
                        <m:ctrlPr>
                          <a:rPr lang="en-US" altLang="zh-CN" sz="1100" i="1" dirty="0">
                            <a:solidFill>
                              <a:schemeClr val="tx1"/>
                            </a:solidFill>
                            <a:latin typeface="Cambria Math" panose="02040503050406030204" pitchFamily="18" charset="0"/>
                          </a:rPr>
                        </m:ctrlPr>
                      </m:sSubPr>
                      <m:e>
                        <m:r>
                          <a:rPr lang="en-US" altLang="zh-CN" sz="1100" i="1" dirty="0">
                            <a:solidFill>
                              <a:schemeClr val="tx1"/>
                            </a:solidFill>
                            <a:latin typeface="Cambria Math" panose="02040503050406030204" pitchFamily="18" charset="0"/>
                          </a:rPr>
                          <m:t>𝜉</m:t>
                        </m:r>
                      </m:e>
                      <m:sub>
                        <m:r>
                          <a:rPr lang="en-US" altLang="zh-CN" sz="1100" i="1" dirty="0">
                            <a:solidFill>
                              <a:schemeClr val="tx1"/>
                            </a:solidFill>
                            <a:latin typeface="Cambria Math" panose="02040503050406030204" pitchFamily="18" charset="0"/>
                          </a:rPr>
                          <m:t>0</m:t>
                        </m:r>
                      </m:sub>
                    </m:sSub>
                    <m:r>
                      <a:rPr lang="en-US" altLang="zh-CN" sz="1100" i="1" dirty="0">
                        <a:solidFill>
                          <a:schemeClr val="tx1"/>
                        </a:solidFill>
                        <a:latin typeface="Cambria Math" panose="02040503050406030204" pitchFamily="18" charset="0"/>
                      </a:rPr>
                      <m:t>+</m:t>
                    </m:r>
                    <m:r>
                      <a:rPr lang="en-US" altLang="zh-CN" sz="1100" i="1" dirty="0">
                        <a:solidFill>
                          <a:schemeClr val="tx1"/>
                        </a:solidFill>
                        <a:latin typeface="Cambria Math" panose="02040503050406030204" pitchFamily="18" charset="0"/>
                      </a:rPr>
                      <m:t>𝜇</m:t>
                    </m:r>
                    <m:d>
                      <m:dPr>
                        <m:ctrlPr>
                          <a:rPr lang="en-US" altLang="zh-CN" sz="1100" b="0" i="1" dirty="0" smtClean="0">
                            <a:solidFill>
                              <a:schemeClr val="tx1"/>
                            </a:solidFill>
                            <a:latin typeface="Cambria Math" panose="02040503050406030204" pitchFamily="18" charset="0"/>
                          </a:rPr>
                        </m:ctrlPr>
                      </m:dPr>
                      <m:e>
                        <m:r>
                          <a:rPr lang="en-US" altLang="zh-CN" sz="1100" i="1" dirty="0">
                            <a:solidFill>
                              <a:schemeClr val="tx1"/>
                            </a:solidFill>
                            <a:latin typeface="Cambria Math" panose="02040503050406030204" pitchFamily="18" charset="0"/>
                          </a:rPr>
                          <m:t>𝜏</m:t>
                        </m:r>
                        <m:r>
                          <a:rPr lang="en-US" altLang="zh-CN" sz="1100" b="0" i="1" dirty="0" smtClean="0">
                            <a:solidFill>
                              <a:schemeClr val="tx1"/>
                            </a:solidFill>
                            <a:latin typeface="Cambria Math" panose="02040503050406030204" pitchFamily="18" charset="0"/>
                          </a:rPr>
                          <m:t>+</m:t>
                        </m:r>
                        <m:r>
                          <m:rPr>
                            <m:sty m:val="p"/>
                          </m:rPr>
                          <a:rPr lang="en-US" altLang="zh-CN" sz="1100" b="0" i="0" dirty="0" smtClean="0">
                            <a:solidFill>
                              <a:schemeClr val="tx1"/>
                            </a:solidFill>
                            <a:latin typeface="Cambria Math" panose="02040503050406030204" pitchFamily="18" charset="0"/>
                          </a:rPr>
                          <m:t>Δ</m:t>
                        </m:r>
                        <m:r>
                          <a:rPr lang="en-US" altLang="zh-CN" sz="1100" b="0" i="1" dirty="0" smtClean="0">
                            <a:solidFill>
                              <a:schemeClr val="tx1"/>
                            </a:solidFill>
                            <a:latin typeface="Cambria Math" panose="02040503050406030204" pitchFamily="18" charset="0"/>
                          </a:rPr>
                          <m:t>𝜏</m:t>
                        </m:r>
                      </m:e>
                    </m:d>
                    <m:r>
                      <a:rPr lang="en-US" altLang="zh-CN" sz="1100" b="0" i="1" dirty="0" smtClean="0">
                        <a:solidFill>
                          <a:schemeClr val="tx1"/>
                        </a:solidFill>
                        <a:latin typeface="Cambria Math" panose="02040503050406030204" pitchFamily="18" charset="0"/>
                      </a:rPr>
                      <m:t>&lt;</m:t>
                    </m:r>
                    <m:r>
                      <a:rPr lang="en-US" altLang="zh-CN" sz="1100" b="0" i="1" dirty="0" smtClean="0">
                        <a:solidFill>
                          <a:schemeClr val="tx1"/>
                        </a:solidFill>
                        <a:latin typeface="Cambria Math" panose="02040503050406030204" pitchFamily="18" charset="0"/>
                      </a:rPr>
                      <m:t>𝜉</m:t>
                    </m:r>
                    <m:d>
                      <m:dPr>
                        <m:ctrlPr>
                          <a:rPr lang="en-US" altLang="zh-CN" sz="1100" b="0" i="1" dirty="0" smtClean="0">
                            <a:solidFill>
                              <a:schemeClr val="tx1"/>
                            </a:solidFill>
                            <a:latin typeface="Cambria Math" panose="02040503050406030204" pitchFamily="18" charset="0"/>
                          </a:rPr>
                        </m:ctrlPr>
                      </m:dPr>
                      <m:e>
                        <m:r>
                          <a:rPr lang="en-US" altLang="zh-CN" sz="1100" b="0" i="1" dirty="0" smtClean="0">
                            <a:solidFill>
                              <a:schemeClr val="tx1"/>
                            </a:solidFill>
                            <a:latin typeface="Cambria Math" panose="02040503050406030204" pitchFamily="18" charset="0"/>
                          </a:rPr>
                          <m:t>𝜏</m:t>
                        </m:r>
                      </m:e>
                    </m:d>
                    <m:r>
                      <a:rPr lang="en-US" altLang="zh-CN" sz="1100" b="0" i="1" dirty="0" smtClean="0">
                        <a:solidFill>
                          <a:schemeClr val="tx1"/>
                        </a:solidFill>
                        <a:latin typeface="Cambria Math" panose="02040503050406030204" pitchFamily="18" charset="0"/>
                      </a:rPr>
                      <m:t>+</m:t>
                    </m:r>
                    <m:r>
                      <a:rPr lang="en-US" altLang="zh-CN" sz="1100" b="0" i="1" dirty="0" smtClean="0">
                        <a:solidFill>
                          <a:schemeClr val="tx1"/>
                        </a:solidFill>
                        <a:latin typeface="Cambria Math" panose="02040503050406030204" pitchFamily="18" charset="0"/>
                      </a:rPr>
                      <m:t>𝑞</m:t>
                    </m:r>
                    <m:d>
                      <m:dPr>
                        <m:ctrlPr>
                          <a:rPr lang="en-US" altLang="zh-CN" sz="1100" b="0" i="1" dirty="0" smtClean="0">
                            <a:solidFill>
                              <a:schemeClr val="tx1"/>
                            </a:solidFill>
                            <a:latin typeface="Cambria Math" panose="02040503050406030204" pitchFamily="18" charset="0"/>
                          </a:rPr>
                        </m:ctrlPr>
                      </m:dPr>
                      <m:e>
                        <m:r>
                          <a:rPr lang="en-US" altLang="zh-CN" sz="1100" b="0" i="1" dirty="0" smtClean="0">
                            <a:solidFill>
                              <a:schemeClr val="tx1"/>
                            </a:solidFill>
                            <a:latin typeface="Cambria Math" panose="02040503050406030204" pitchFamily="18" charset="0"/>
                          </a:rPr>
                          <m:t>𝜏</m:t>
                        </m:r>
                      </m:e>
                    </m:d>
                    <m:r>
                      <m:rPr>
                        <m:sty m:val="p"/>
                      </m:rPr>
                      <a:rPr lang="en-US" altLang="zh-CN" sz="1100" b="0" i="0" dirty="0" smtClean="0">
                        <a:solidFill>
                          <a:schemeClr val="tx1"/>
                        </a:solidFill>
                        <a:latin typeface="Cambria Math" panose="02040503050406030204" pitchFamily="18" charset="0"/>
                      </a:rPr>
                      <m:t>Δ</m:t>
                    </m:r>
                    <m:r>
                      <a:rPr lang="en-US" altLang="zh-CN" sz="1100" b="0" i="1" dirty="0" smtClean="0">
                        <a:solidFill>
                          <a:schemeClr val="tx1"/>
                        </a:solidFill>
                        <a:latin typeface="Cambria Math" panose="02040503050406030204" pitchFamily="18" charset="0"/>
                      </a:rPr>
                      <m:t>𝜏</m:t>
                    </m:r>
                    <m:r>
                      <a:rPr lang="en-US" altLang="zh-CN" sz="1100" b="0" i="1" dirty="0" smtClean="0">
                        <a:solidFill>
                          <a:schemeClr val="tx1"/>
                        </a:solidFill>
                        <a:latin typeface="Cambria Math" panose="02040503050406030204" pitchFamily="18" charset="0"/>
                      </a:rPr>
                      <m:t>  </m:t>
                    </m:r>
                    <m:r>
                      <a:rPr lang="en-US" altLang="zh-CN" sz="1100" b="0" i="1" dirty="0" smtClean="0">
                        <a:solidFill>
                          <a:schemeClr val="tx1"/>
                        </a:solidFill>
                        <a:latin typeface="Cambria Math" panose="02040503050406030204" pitchFamily="18" charset="0"/>
                      </a:rPr>
                      <m:t>𝑎𝑛𝑑</m:t>
                    </m:r>
                    <m:r>
                      <a:rPr lang="en-US" altLang="zh-CN" sz="1100" b="0" i="1" dirty="0" smtClean="0">
                        <a:solidFill>
                          <a:schemeClr val="tx1"/>
                        </a:solidFill>
                        <a:latin typeface="Cambria Math" panose="02040503050406030204" pitchFamily="18" charset="0"/>
                      </a:rPr>
                      <m:t>  </m:t>
                    </m:r>
                    <m:r>
                      <a:rPr lang="en-US" altLang="zh-CN" sz="1100" b="0" i="1" dirty="0" smtClean="0">
                        <a:solidFill>
                          <a:schemeClr val="tx1"/>
                        </a:solidFill>
                        <a:latin typeface="Cambria Math" panose="02040503050406030204" pitchFamily="18" charset="0"/>
                      </a:rPr>
                      <m:t>𝑞</m:t>
                    </m:r>
                    <m:r>
                      <a:rPr lang="en-US" altLang="zh-CN" sz="1100" b="0" i="1" dirty="0" smtClean="0">
                        <a:solidFill>
                          <a:schemeClr val="tx1"/>
                        </a:solidFill>
                        <a:latin typeface="Cambria Math" panose="02040503050406030204" pitchFamily="18" charset="0"/>
                      </a:rPr>
                      <m:t>(</m:t>
                    </m:r>
                    <m:r>
                      <a:rPr lang="en-US" altLang="zh-CN" sz="1100" b="0" i="1" dirty="0" smtClean="0">
                        <a:solidFill>
                          <a:schemeClr val="tx1"/>
                        </a:solidFill>
                        <a:latin typeface="Cambria Math" panose="02040503050406030204" pitchFamily="18" charset="0"/>
                      </a:rPr>
                      <m:t>𝜏</m:t>
                    </m:r>
                    <m:r>
                      <a:rPr lang="en-US" altLang="zh-CN" sz="1100" b="0" i="1" dirty="0" smtClean="0">
                        <a:solidFill>
                          <a:schemeClr val="tx1"/>
                        </a:solidFill>
                        <a:latin typeface="Cambria Math" panose="02040503050406030204" pitchFamily="18" charset="0"/>
                      </a:rPr>
                      <m:t>)&gt;</m:t>
                    </m:r>
                    <m:r>
                      <a:rPr lang="en-US" altLang="zh-CN" sz="1100" b="0" i="1" dirty="0" smtClean="0">
                        <a:solidFill>
                          <a:schemeClr val="tx1"/>
                        </a:solidFill>
                        <a:latin typeface="Cambria Math" panose="02040503050406030204" pitchFamily="18" charset="0"/>
                      </a:rPr>
                      <m:t>𝜇</m:t>
                    </m:r>
                  </m:oMath>
                </a14:m>
                <a:endParaRPr lang="en-US" altLang="zh-CN" sz="1100" dirty="0">
                  <a:solidFill>
                    <a:schemeClr val="tx1"/>
                  </a:solidFill>
                </a:endParaRPr>
              </a:p>
              <a:p>
                <a:pPr/>
                <a14:m>
                  <m:oMathPara xmlns:m="http://schemas.openxmlformats.org/officeDocument/2006/math">
                    <m:oMathParaPr>
                      <m:jc m:val="centerGroup"/>
                    </m:oMathParaPr>
                    <m:oMath xmlns:m="http://schemas.openxmlformats.org/officeDocument/2006/math">
                      <m:r>
                        <a:rPr lang="en-US" altLang="zh-CN" sz="1200" i="1" dirty="0" smtClean="0">
                          <a:solidFill>
                            <a:schemeClr val="tx1"/>
                          </a:solidFill>
                          <a:latin typeface="Cambria Math" panose="02040503050406030204" pitchFamily="18" charset="0"/>
                        </a:rPr>
                        <m:t>𝑔</m:t>
                      </m:r>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𝜏</m:t>
                          </m:r>
                        </m:e>
                      </m:d>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𝑃</m:t>
                      </m:r>
                      <m:d>
                        <m:dPr>
                          <m:ctrlPr>
                            <a:rPr lang="en-US" altLang="zh-CN" sz="1200" b="0" i="1" dirty="0" smtClean="0">
                              <a:solidFill>
                                <a:schemeClr val="tx1"/>
                              </a:solidFill>
                              <a:latin typeface="Cambria Math" panose="02040503050406030204" pitchFamily="18" charset="0"/>
                            </a:rPr>
                          </m:ctrlPr>
                        </m:dPr>
                        <m:e>
                          <m:r>
                            <a:rPr lang="en-US" altLang="zh-CN" sz="1200" b="0" i="1" dirty="0" smtClean="0">
                              <a:solidFill>
                                <a:schemeClr val="tx1"/>
                              </a:solidFill>
                              <a:latin typeface="Cambria Math" panose="02040503050406030204" pitchFamily="18" charset="0"/>
                            </a:rPr>
                            <m:t>𝐵</m:t>
                          </m:r>
                        </m:e>
                        <m:e>
                          <m:r>
                            <a:rPr lang="en-US" altLang="zh-CN" sz="1200" b="0" i="1" dirty="0" smtClean="0">
                              <a:solidFill>
                                <a:schemeClr val="tx1"/>
                              </a:solidFill>
                              <a:latin typeface="Cambria Math" panose="02040503050406030204" pitchFamily="18" charset="0"/>
                            </a:rPr>
                            <m:t>𝐴</m:t>
                          </m:r>
                        </m:e>
                      </m:d>
                      <m:r>
                        <a:rPr lang="en-US" altLang="zh-CN" sz="1200" b="0" i="1" dirty="0" smtClean="0">
                          <a:solidFill>
                            <a:schemeClr val="tx1"/>
                          </a:solidFill>
                          <a:latin typeface="Cambria Math" panose="02040503050406030204" pitchFamily="18" charset="0"/>
                        </a:rPr>
                        <m:t>=</m:t>
                      </m:r>
                      <m:f>
                        <m:fPr>
                          <m:ctrlPr>
                            <a:rPr lang="en-US" altLang="zh-CN" sz="1200" b="0" i="1" dirty="0" smtClean="0">
                              <a:solidFill>
                                <a:schemeClr val="tx1"/>
                              </a:solidFill>
                              <a:latin typeface="Cambria Math" panose="02040503050406030204" pitchFamily="18" charset="0"/>
                            </a:rPr>
                          </m:ctrlPr>
                        </m:fPr>
                        <m:num>
                          <m:r>
                            <a:rPr lang="en-US" altLang="zh-CN" sz="1200" b="0" i="1" dirty="0" smtClean="0">
                              <a:solidFill>
                                <a:schemeClr val="tx1"/>
                              </a:solidFill>
                              <a:latin typeface="Cambria Math" panose="02040503050406030204" pitchFamily="18" charset="0"/>
                            </a:rPr>
                            <m:t>𝑃</m:t>
                          </m:r>
                          <m:d>
                            <m:dPr>
                              <m:ctrlPr>
                                <a:rPr lang="en-US" altLang="zh-CN" sz="1200" b="0" i="1" dirty="0" smtClean="0">
                                  <a:solidFill>
                                    <a:schemeClr val="tx1"/>
                                  </a:solidFill>
                                  <a:latin typeface="Cambria Math" panose="02040503050406030204" pitchFamily="18" charset="0"/>
                                </a:rPr>
                              </m:ctrlPr>
                            </m:dPr>
                            <m:e>
                              <m:r>
                                <a:rPr lang="en-US" altLang="zh-CN" sz="1200" b="0" i="1" dirty="0" smtClean="0">
                                  <a:solidFill>
                                    <a:schemeClr val="tx1"/>
                                  </a:solidFill>
                                  <a:latin typeface="Cambria Math" panose="02040503050406030204" pitchFamily="18" charset="0"/>
                                </a:rPr>
                                <m:t>𝐴</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𝐵</m:t>
                              </m:r>
                            </m:e>
                          </m:d>
                        </m:num>
                        <m:den>
                          <m:r>
                            <a:rPr lang="en-US" altLang="zh-CN" sz="1200" b="0" i="1" dirty="0" smtClean="0">
                              <a:solidFill>
                                <a:schemeClr val="tx1"/>
                              </a:solidFill>
                              <a:latin typeface="Cambria Math" panose="02040503050406030204" pitchFamily="18" charset="0"/>
                            </a:rPr>
                            <m:t>𝑃</m:t>
                          </m:r>
                          <m:d>
                            <m:dPr>
                              <m:ctrlPr>
                                <a:rPr lang="en-US" altLang="zh-CN" sz="1200" b="0" i="1" dirty="0" smtClean="0">
                                  <a:solidFill>
                                    <a:schemeClr val="tx1"/>
                                  </a:solidFill>
                                  <a:latin typeface="Cambria Math" panose="02040503050406030204" pitchFamily="18" charset="0"/>
                                </a:rPr>
                              </m:ctrlPr>
                            </m:dPr>
                            <m:e>
                              <m:r>
                                <m:rPr>
                                  <m:sty m:val="p"/>
                                </m:rPr>
                                <a:rPr lang="en-US" altLang="zh-CN" sz="1200" i="1" dirty="0">
                                  <a:solidFill>
                                    <a:schemeClr val="tx1"/>
                                  </a:solidFill>
                                  <a:latin typeface="Cambria Math" panose="02040503050406030204" pitchFamily="18" charset="0"/>
                                </a:rPr>
                                <m:t>A</m:t>
                              </m:r>
                            </m:e>
                          </m:d>
                        </m:den>
                      </m:f>
                    </m:oMath>
                  </m:oMathPara>
                </a14:m>
                <a:endParaRPr lang="en-US" altLang="zh-CN" sz="1200"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r>
                        <a:rPr lang="zh-CN" altLang="en-US" sz="1200" b="0" i="1" dirty="0">
                          <a:solidFill>
                            <a:schemeClr val="tx1"/>
                          </a:solidFill>
                          <a:latin typeface="Cambria Math" panose="02040503050406030204" pitchFamily="18" charset="0"/>
                        </a:rPr>
                        <m:t>令</m:t>
                      </m:r>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𝑃</m:t>
                          </m:r>
                        </m:e>
                        <m:sub>
                          <m:r>
                            <a:rPr lang="en-US" altLang="zh-CN" sz="1200" b="0" i="1" dirty="0" smtClean="0">
                              <a:solidFill>
                                <a:schemeClr val="tx1"/>
                              </a:solidFill>
                              <a:latin typeface="Cambria Math" panose="02040503050406030204" pitchFamily="18" charset="0"/>
                            </a:rPr>
                            <m:t>3</m:t>
                          </m:r>
                        </m:sub>
                      </m:sSub>
                      <m:d>
                        <m:dPr>
                          <m:ctrlPr>
                            <a:rPr lang="en-US" altLang="zh-CN" sz="1200" b="0" i="1" dirty="0" smtClean="0">
                              <a:solidFill>
                                <a:schemeClr val="tx1"/>
                              </a:solidFill>
                              <a:latin typeface="Cambria Math" panose="02040503050406030204" pitchFamily="18" charset="0"/>
                            </a:rPr>
                          </m:ctrlPr>
                        </m:dPr>
                        <m:e>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𝜉</m:t>
                              </m:r>
                            </m:e>
                            <m:sup>
                              <m:r>
                                <a:rPr lang="en-US" altLang="zh-CN" sz="1200" b="0" i="1" dirty="0" smtClean="0">
                                  <a:solidFill>
                                    <a:schemeClr val="tx1"/>
                                  </a:solidFill>
                                  <a:latin typeface="Cambria Math" panose="02040503050406030204" pitchFamily="18" charset="0"/>
                                </a:rPr>
                                <m:t>′</m:t>
                              </m:r>
                            </m:sup>
                          </m:sSup>
                          <m:r>
                            <a:rPr lang="en-US" altLang="zh-CN" sz="1200" b="0" i="1" dirty="0" smtClean="0">
                              <a:solidFill>
                                <a:schemeClr val="tx1"/>
                              </a:solidFill>
                              <a:latin typeface="Cambria Math" panose="02040503050406030204" pitchFamily="18" charset="0"/>
                            </a:rPr>
                            <m:t>,</m:t>
                          </m:r>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𝑞</m:t>
                              </m:r>
                            </m:e>
                            <m:sup>
                              <m:r>
                                <a:rPr lang="en-US" altLang="zh-CN" sz="1200" b="0" i="1" dirty="0" smtClean="0">
                                  <a:solidFill>
                                    <a:schemeClr val="tx1"/>
                                  </a:solidFill>
                                  <a:latin typeface="Cambria Math" panose="02040503050406030204" pitchFamily="18" charset="0"/>
                                </a:rPr>
                                <m:t>′</m:t>
                              </m:r>
                            </m:sup>
                          </m:sSup>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𝐹</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𝜏</m:t>
                          </m:r>
                        </m:e>
                      </m:d>
                      <m:r>
                        <a:rPr lang="zh-CN" altLang="en-US" sz="1200" i="1" dirty="0">
                          <a:solidFill>
                            <a:schemeClr val="tx1"/>
                          </a:solidFill>
                          <a:latin typeface="Cambria Math" panose="02040503050406030204" pitchFamily="18" charset="0"/>
                        </a:rPr>
                        <m:t>为</m:t>
                      </m:r>
                      <m:r>
                        <a:rPr lang="zh-CN" altLang="en-US" sz="1200" i="1" dirty="0">
                          <a:solidFill>
                            <a:schemeClr val="tx1"/>
                          </a:solidFill>
                          <a:latin typeface="Cambria Math" panose="02040503050406030204" pitchFamily="18" charset="0"/>
                        </a:rPr>
                        <m:t>：</m:t>
                      </m:r>
                      <m:r>
                        <a:rPr lang="zh-CN" altLang="en-US" sz="1200" i="1" dirty="0">
                          <a:solidFill>
                            <a:schemeClr val="tx1"/>
                          </a:solidFill>
                          <a:latin typeface="Cambria Math" panose="02040503050406030204" pitchFamily="18" charset="0"/>
                        </a:rPr>
                        <m:t>给定</m:t>
                      </m:r>
                      <m:r>
                        <a:rPr lang="en-US" altLang="zh-CN" sz="1200" b="0" i="1" dirty="0" smtClean="0">
                          <a:solidFill>
                            <a:schemeClr val="tx1"/>
                          </a:solidFill>
                          <a:latin typeface="Cambria Math" panose="02040503050406030204" pitchFamily="18" charset="0"/>
                        </a:rPr>
                        <m:t>𝐹</m:t>
                      </m:r>
                      <m:r>
                        <a:rPr lang="zh-CN" altLang="en-US" sz="1200" i="1" dirty="0">
                          <a:solidFill>
                            <a:schemeClr val="tx1"/>
                          </a:solidFill>
                          <a:latin typeface="Cambria Math" panose="02040503050406030204" pitchFamily="18" charset="0"/>
                        </a:rPr>
                        <m:t>，</m:t>
                      </m:r>
                      <m:r>
                        <a:rPr lang="zh-CN" altLang="en-US" sz="1200" i="1" dirty="0">
                          <a:solidFill>
                            <a:schemeClr val="tx1"/>
                          </a:solidFill>
                          <a:latin typeface="Cambria Math" panose="02040503050406030204" pitchFamily="18" charset="0"/>
                        </a:rPr>
                        <m:t>在</m:t>
                      </m:r>
                      <m:r>
                        <a:rPr lang="en-US" altLang="zh-CN" sz="1200" b="0" i="1" dirty="0" smtClean="0">
                          <a:solidFill>
                            <a:schemeClr val="tx1"/>
                          </a:solidFill>
                          <a:latin typeface="Cambria Math" panose="02040503050406030204" pitchFamily="18" charset="0"/>
                        </a:rPr>
                        <m:t>𝜏</m:t>
                      </m:r>
                      <m:r>
                        <a:rPr lang="zh-CN" altLang="en-US" sz="1200" i="1" dirty="0">
                          <a:solidFill>
                            <a:schemeClr val="tx1"/>
                          </a:solidFill>
                          <a:latin typeface="Cambria Math" panose="02040503050406030204" pitchFamily="18" charset="0"/>
                        </a:rPr>
                        <m:t>处</m:t>
                      </m:r>
                      <m:r>
                        <a:rPr lang="zh-CN" altLang="en-US" sz="1200" i="1" dirty="0" smtClean="0">
                          <a:solidFill>
                            <a:schemeClr val="tx1"/>
                          </a:solidFill>
                          <a:latin typeface="Cambria Math" panose="02040503050406030204" pitchFamily="18" charset="0"/>
                        </a:rPr>
                        <m:t>微面</m:t>
                      </m:r>
                      <m:r>
                        <a:rPr lang="zh-CN" altLang="en-US" sz="1200" i="1" dirty="0">
                          <a:solidFill>
                            <a:schemeClr val="tx1"/>
                          </a:solidFill>
                          <a:latin typeface="Cambria Math" panose="02040503050406030204" pitchFamily="18" charset="0"/>
                        </a:rPr>
                        <m:t>高</m:t>
                      </m:r>
                      <m:r>
                        <a:rPr lang="zh-CN" altLang="en-US" sz="1200" i="1" dirty="0" smtClean="0">
                          <a:solidFill>
                            <a:schemeClr val="tx1"/>
                          </a:solidFill>
                          <a:latin typeface="Cambria Math" panose="02040503050406030204" pitchFamily="18" charset="0"/>
                        </a:rPr>
                        <m:t>为</m:t>
                      </m:r>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𝜉</m:t>
                          </m:r>
                        </m:e>
                        <m:sup>
                          <m:r>
                            <a:rPr lang="en-US" altLang="zh-CN" sz="1200" b="0" i="1" dirty="0" smtClean="0">
                              <a:solidFill>
                                <a:schemeClr val="tx1"/>
                              </a:solidFill>
                              <a:latin typeface="Cambria Math" panose="02040503050406030204" pitchFamily="18" charset="0"/>
                            </a:rPr>
                            <m:t>′</m:t>
                          </m:r>
                        </m:sup>
                      </m:sSup>
                      <m:r>
                        <a:rPr lang="zh-CN" altLang="en-US" sz="1200" i="1" dirty="0">
                          <a:solidFill>
                            <a:schemeClr val="tx1"/>
                          </a:solidFill>
                          <a:latin typeface="Cambria Math" panose="02040503050406030204" pitchFamily="18" charset="0"/>
                        </a:rPr>
                        <m:t>且</m:t>
                      </m:r>
                      <m:r>
                        <a:rPr lang="zh-CN" altLang="en-US" sz="1200" i="1" dirty="0" smtClean="0">
                          <a:solidFill>
                            <a:schemeClr val="tx1"/>
                          </a:solidFill>
                          <a:latin typeface="Cambria Math" panose="02040503050406030204" pitchFamily="18" charset="0"/>
                        </a:rPr>
                        <m:t>斜率</m:t>
                      </m:r>
                      <m:r>
                        <a:rPr lang="zh-CN" altLang="en-US" sz="1200" i="1" dirty="0">
                          <a:solidFill>
                            <a:schemeClr val="tx1"/>
                          </a:solidFill>
                          <a:latin typeface="Cambria Math" panose="02040503050406030204" pitchFamily="18" charset="0"/>
                        </a:rPr>
                        <m:t>为</m:t>
                      </m:r>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𝑞</m:t>
                          </m:r>
                        </m:e>
                        <m:sup>
                          <m:r>
                            <a:rPr lang="en-US" altLang="zh-CN" sz="1200" b="0" i="1" dirty="0" smtClean="0">
                              <a:solidFill>
                                <a:schemeClr val="tx1"/>
                              </a:solidFill>
                              <a:latin typeface="Cambria Math" panose="02040503050406030204" pitchFamily="18" charset="0"/>
                            </a:rPr>
                            <m:t>′</m:t>
                          </m:r>
                        </m:sup>
                      </m:sSup>
                      <m:r>
                        <a:rPr lang="zh-CN" altLang="en-US" sz="1200" i="1" dirty="0">
                          <a:solidFill>
                            <a:schemeClr val="tx1"/>
                          </a:solidFill>
                          <a:latin typeface="Cambria Math" panose="02040503050406030204" pitchFamily="18" charset="0"/>
                        </a:rPr>
                        <m:t>的</m:t>
                      </m:r>
                      <m:r>
                        <a:rPr lang="zh-CN" altLang="en-US" sz="1200" i="1" dirty="0" smtClean="0">
                          <a:solidFill>
                            <a:schemeClr val="tx1"/>
                          </a:solidFill>
                          <a:latin typeface="Cambria Math" panose="02040503050406030204" pitchFamily="18" charset="0"/>
                        </a:rPr>
                        <m:t>联合概率</m:t>
                      </m:r>
                      <m:r>
                        <a:rPr lang="zh-CN" altLang="en-US" sz="1200" i="1" dirty="0">
                          <a:solidFill>
                            <a:schemeClr val="tx1"/>
                          </a:solidFill>
                          <a:latin typeface="Cambria Math" panose="02040503050406030204" pitchFamily="18" charset="0"/>
                        </a:rPr>
                        <m:t>密度</m:t>
                      </m:r>
                      <m:r>
                        <a:rPr lang="zh-CN" altLang="en-US" sz="1200" i="1" dirty="0" smtClean="0">
                          <a:solidFill>
                            <a:schemeClr val="tx1"/>
                          </a:solidFill>
                          <a:latin typeface="Cambria Math" panose="02040503050406030204" pitchFamily="18" charset="0"/>
                        </a:rPr>
                        <m:t>。</m:t>
                      </m:r>
                    </m:oMath>
                  </m:oMathPara>
                </a14:m>
                <a:endParaRPr lang="en-US" altLang="zh-CN" sz="1200"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1200" b="0" i="1" dirty="0" smtClean="0">
                          <a:solidFill>
                            <a:schemeClr val="tx1"/>
                          </a:solidFill>
                          <a:latin typeface="Cambria Math" panose="02040503050406030204" pitchFamily="18" charset="0"/>
                        </a:rPr>
                        <m:t>𝑃</m:t>
                      </m:r>
                      <m:d>
                        <m:dPr>
                          <m:ctrlPr>
                            <a:rPr lang="en-US" altLang="zh-CN" sz="1200" b="0" i="1" dirty="0" smtClean="0">
                              <a:solidFill>
                                <a:schemeClr val="tx1"/>
                              </a:solidFill>
                              <a:latin typeface="Cambria Math" panose="02040503050406030204" pitchFamily="18" charset="0"/>
                            </a:rPr>
                          </m:ctrlPr>
                        </m:dPr>
                        <m:e>
                          <m:r>
                            <m:rPr>
                              <m:sty m:val="p"/>
                            </m:rPr>
                            <a:rPr lang="en-US" altLang="zh-CN" sz="1200" i="1" dirty="0">
                              <a:solidFill>
                                <a:schemeClr val="tx1"/>
                              </a:solidFill>
                              <a:latin typeface="Cambria Math" panose="02040503050406030204" pitchFamily="18" charset="0"/>
                            </a:rPr>
                            <m:t>A</m:t>
                          </m:r>
                        </m:e>
                      </m:d>
                      <m:r>
                        <a:rPr lang="en-US" altLang="zh-CN" sz="1200" b="0" i="1" dirty="0" smtClean="0">
                          <a:solidFill>
                            <a:schemeClr val="tx1"/>
                          </a:solidFill>
                          <a:latin typeface="Cambria Math" panose="02040503050406030204" pitchFamily="18" charset="0"/>
                        </a:rPr>
                        <m:t>=</m:t>
                      </m:r>
                      <m:nary>
                        <m:naryPr>
                          <m:ctrlPr>
                            <a:rPr lang="en-US" altLang="zh-CN" sz="1200" b="0" i="1" dirty="0" smtClean="0">
                              <a:solidFill>
                                <a:schemeClr val="tx1"/>
                              </a:solidFill>
                              <a:latin typeface="Cambria Math" panose="02040503050406030204" pitchFamily="18" charset="0"/>
                            </a:rPr>
                          </m:ctrlPr>
                        </m:naryPr>
                        <m:sub>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m:t>
                          </m:r>
                        </m:sub>
                        <m:sup>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m:t>
                          </m:r>
                        </m:sup>
                        <m:e>
                          <m:nary>
                            <m:naryPr>
                              <m:ctrlPr>
                                <a:rPr lang="en-US" altLang="zh-CN" sz="1200" i="1" dirty="0">
                                  <a:solidFill>
                                    <a:schemeClr val="tx1"/>
                                  </a:solidFill>
                                  <a:latin typeface="Cambria Math" panose="02040503050406030204" pitchFamily="18" charset="0"/>
                                </a:rPr>
                              </m:ctrlPr>
                            </m:naryPr>
                            <m:sub>
                              <m:r>
                                <a:rPr lang="en-US" altLang="zh-CN" sz="1200" i="1" dirty="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 </m:t>
                              </m:r>
                            </m:sub>
                            <m:sup>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sup>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𝑃</m:t>
                                  </m:r>
                                </m:e>
                                <m:sub>
                                  <m:r>
                                    <a:rPr lang="en-US" altLang="zh-CN" sz="1200" i="1" dirty="0">
                                      <a:solidFill>
                                        <a:schemeClr val="tx1"/>
                                      </a:solidFill>
                                      <a:latin typeface="Cambria Math" panose="02040503050406030204" pitchFamily="18" charset="0"/>
                                    </a:rPr>
                                    <m:t>3</m:t>
                                  </m:r>
                                </m:sub>
                              </m:sSub>
                              <m:d>
                                <m:dPr>
                                  <m:ctrlPr>
                                    <a:rPr lang="en-US" altLang="zh-CN" sz="1200" i="1" dirty="0">
                                      <a:solidFill>
                                        <a:schemeClr val="tx1"/>
                                      </a:solidFill>
                                      <a:latin typeface="Cambria Math" panose="02040503050406030204" pitchFamily="18" charset="0"/>
                                    </a:rPr>
                                  </m:ctrlPr>
                                </m:dPr>
                                <m:e>
                                  <m:sSup>
                                    <m:sSupPr>
                                      <m:ctrlPr>
                                        <a:rPr lang="en-US" altLang="zh-CN" sz="1200" b="0" i="1" dirty="0" smtClean="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𝜉</m:t>
                                      </m:r>
                                    </m:e>
                                    <m:sup>
                                      <m:r>
                                        <a:rPr lang="en-US" altLang="zh-CN" sz="1200" b="0" i="1" dirty="0" smtClean="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sSup>
                                    <m:sSupPr>
                                      <m:ctrlPr>
                                        <a:rPr lang="en-US" altLang="zh-CN" sz="1200" b="0" i="1" dirty="0" smtClean="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b="0" i="1" dirty="0" smtClean="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𝐹</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i="1" dirty="0">
                                  <a:solidFill>
                                    <a:schemeClr val="tx1"/>
                                  </a:solidFill>
                                  <a:latin typeface="Cambria Math" panose="02040503050406030204" pitchFamily="18" charset="0"/>
                                </a:rPr>
                                <m:t>𝑑</m:t>
                              </m:r>
                              <m:sSup>
                                <m:sSupPr>
                                  <m:ctrlPr>
                                    <a:rPr lang="en-US" altLang="zh-CN" sz="1200" b="0" i="1" dirty="0" smtClean="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𝜉</m:t>
                                  </m:r>
                                </m:e>
                                <m:sup>
                                  <m:r>
                                    <a:rPr lang="en-US" altLang="zh-CN" sz="1200" b="0" i="1" dirty="0" smtClean="0">
                                      <a:solidFill>
                                        <a:schemeClr val="tx1"/>
                                      </a:solidFill>
                                      <a:latin typeface="Cambria Math" panose="02040503050406030204" pitchFamily="18" charset="0"/>
                                    </a:rPr>
                                    <m:t>′</m:t>
                                  </m:r>
                                </m:sup>
                              </m:sSup>
                            </m:e>
                          </m:nary>
                          <m:r>
                            <a:rPr lang="en-US" altLang="zh-CN" sz="1200" b="0" i="1" dirty="0" smtClean="0">
                              <a:solidFill>
                                <a:schemeClr val="tx1"/>
                              </a:solidFill>
                              <a:latin typeface="Cambria Math" panose="02040503050406030204" pitchFamily="18" charset="0"/>
                            </a:rPr>
                            <m:t>𝑑</m:t>
                          </m:r>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𝑞</m:t>
                              </m:r>
                            </m:e>
                            <m:sup>
                              <m:r>
                                <a:rPr lang="en-US" altLang="zh-CN" sz="1200" b="0" i="1" dirty="0" smtClean="0">
                                  <a:solidFill>
                                    <a:schemeClr val="tx1"/>
                                  </a:solidFill>
                                  <a:latin typeface="Cambria Math" panose="02040503050406030204" pitchFamily="18" charset="0"/>
                                </a:rPr>
                                <m:t>′</m:t>
                              </m:r>
                            </m:sup>
                          </m:sSup>
                        </m:e>
                      </m:nary>
                    </m:oMath>
                  </m:oMathPara>
                </a14:m>
                <a:endParaRPr lang="en-US" altLang="zh-CN" sz="1200" b="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1200" i="1" dirty="0" smtClean="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d>
                        <m:dPr>
                          <m:ctrlPr>
                            <a:rPr lang="en-US" altLang="zh-CN" sz="1200" b="0" i="1" dirty="0" smtClean="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𝜏</m:t>
                          </m:r>
                          <m:r>
                            <a:rPr lang="en-US" altLang="zh-CN" sz="1200" b="0" i="1" dirty="0" smtClean="0">
                              <a:solidFill>
                                <a:schemeClr val="tx1"/>
                              </a:solidFill>
                              <a:latin typeface="Cambria Math" panose="02040503050406030204" pitchFamily="18" charset="0"/>
                            </a:rPr>
                            <m:t>+</m:t>
                          </m:r>
                          <m:r>
                            <m:rPr>
                              <m:sty m:val="p"/>
                            </m:rPr>
                            <a:rPr lang="en-US" altLang="zh-CN" sz="1200" b="0" i="0" dirty="0" smtClean="0">
                              <a:solidFill>
                                <a:schemeClr val="tx1"/>
                              </a:solidFill>
                              <a:latin typeface="Cambria Math" panose="02040503050406030204" pitchFamily="18" charset="0"/>
                            </a:rPr>
                            <m:t>Δ</m:t>
                          </m:r>
                          <m:r>
                            <a:rPr lang="en-US" altLang="zh-CN" sz="1200" b="0" i="1" dirty="0" smtClean="0">
                              <a:solidFill>
                                <a:schemeClr val="tx1"/>
                              </a:solidFill>
                              <a:latin typeface="Cambria Math" panose="02040503050406030204" pitchFamily="18" charset="0"/>
                            </a:rPr>
                            <m:t>𝜏</m:t>
                          </m:r>
                        </m:e>
                      </m:d>
                      <m:r>
                        <a:rPr lang="en-US" altLang="zh-CN" sz="1200" b="0" i="1" dirty="0" smtClean="0">
                          <a:solidFill>
                            <a:schemeClr val="tx1"/>
                          </a:solidFill>
                          <a:latin typeface="Cambria Math" panose="02040503050406030204" pitchFamily="18" charset="0"/>
                        </a:rPr>
                        <m:t>&lt;</m:t>
                      </m:r>
                      <m:r>
                        <a:rPr lang="en-US" altLang="zh-CN" sz="1200" b="0" i="1" dirty="0" smtClean="0">
                          <a:solidFill>
                            <a:schemeClr val="tx1"/>
                          </a:solidFill>
                          <a:latin typeface="Cambria Math" panose="02040503050406030204" pitchFamily="18" charset="0"/>
                        </a:rPr>
                        <m:t>𝜉</m:t>
                      </m:r>
                      <m:d>
                        <m:dPr>
                          <m:ctrlPr>
                            <a:rPr lang="en-US" altLang="zh-CN" sz="1200" b="0" i="1" dirty="0" smtClean="0">
                              <a:solidFill>
                                <a:schemeClr val="tx1"/>
                              </a:solidFill>
                              <a:latin typeface="Cambria Math" panose="02040503050406030204" pitchFamily="18" charset="0"/>
                            </a:rPr>
                          </m:ctrlPr>
                        </m:dPr>
                        <m:e>
                          <m:r>
                            <a:rPr lang="en-US" altLang="zh-CN" sz="1200" b="0" i="1" dirty="0" smtClean="0">
                              <a:solidFill>
                                <a:schemeClr val="tx1"/>
                              </a:solidFill>
                              <a:latin typeface="Cambria Math" panose="02040503050406030204" pitchFamily="18" charset="0"/>
                            </a:rPr>
                            <m:t>𝜏</m:t>
                          </m:r>
                        </m:e>
                      </m:d>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𝑞</m:t>
                      </m:r>
                      <m:d>
                        <m:dPr>
                          <m:ctrlPr>
                            <a:rPr lang="en-US" altLang="zh-CN" sz="1200" b="0" i="1" dirty="0" smtClean="0">
                              <a:solidFill>
                                <a:schemeClr val="tx1"/>
                              </a:solidFill>
                              <a:latin typeface="Cambria Math" panose="02040503050406030204" pitchFamily="18" charset="0"/>
                            </a:rPr>
                          </m:ctrlPr>
                        </m:dPr>
                        <m:e>
                          <m:r>
                            <a:rPr lang="en-US" altLang="zh-CN" sz="1200" b="0" i="1" dirty="0" smtClean="0">
                              <a:solidFill>
                                <a:schemeClr val="tx1"/>
                              </a:solidFill>
                              <a:latin typeface="Cambria Math" panose="02040503050406030204" pitchFamily="18" charset="0"/>
                            </a:rPr>
                            <m:t>𝜏</m:t>
                          </m:r>
                        </m:e>
                      </m:d>
                      <m:r>
                        <m:rPr>
                          <m:sty m:val="p"/>
                        </m:rPr>
                        <a:rPr lang="en-US" altLang="zh-CN" sz="1200" b="0" i="0" dirty="0" smtClean="0">
                          <a:solidFill>
                            <a:schemeClr val="tx1"/>
                          </a:solidFill>
                          <a:latin typeface="Cambria Math" panose="02040503050406030204" pitchFamily="18" charset="0"/>
                        </a:rPr>
                        <m:t>Δ</m:t>
                      </m:r>
                      <m:r>
                        <a:rPr lang="en-US" altLang="zh-CN" sz="1200" b="0" i="1" dirty="0" smtClean="0">
                          <a:solidFill>
                            <a:schemeClr val="tx1"/>
                          </a:solidFill>
                          <a:latin typeface="Cambria Math" panose="02040503050406030204" pitchFamily="18" charset="0"/>
                        </a:rPr>
                        <m:t>𝜏</m:t>
                      </m:r>
                      <m:r>
                        <a:rPr lang="en-US" altLang="zh-CN" sz="1200" b="0" i="1" dirty="0" smtClean="0">
                          <a:solidFill>
                            <a:schemeClr val="tx1"/>
                          </a:solidFill>
                          <a:latin typeface="Cambria Math" panose="02040503050406030204" pitchFamily="18" charset="0"/>
                        </a:rPr>
                        <m:t> ⇒</m:t>
                      </m:r>
                      <m:d>
                        <m:dPr>
                          <m:ctrlPr>
                            <a:rPr lang="en-US" altLang="zh-CN" sz="1200" b="0" i="1" dirty="0" smtClean="0">
                              <a:solidFill>
                                <a:schemeClr val="tx1"/>
                              </a:solidFill>
                              <a:latin typeface="Cambria Math" panose="02040503050406030204" pitchFamily="18" charset="0"/>
                            </a:rPr>
                          </m:ctrlPr>
                        </m:dPr>
                        <m:e>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𝜉</m:t>
                              </m:r>
                            </m:e>
                            <m:sub>
                              <m:r>
                                <a:rPr lang="en-US" altLang="zh-CN" sz="1200" b="0" i="1" dirty="0" smtClean="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e>
                      </m:d>
                      <m:r>
                        <a:rPr lang="en-US" altLang="zh-CN" sz="1200" b="0" i="1" dirty="0" smtClean="0">
                          <a:solidFill>
                            <a:schemeClr val="tx1"/>
                          </a:solidFill>
                          <a:latin typeface="Cambria Math" panose="02040503050406030204" pitchFamily="18" charset="0"/>
                        </a:rPr>
                        <m:t>−</m:t>
                      </m:r>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𝑞</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e>
                      </m:d>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r>
                        <a:rPr lang="en-US" altLang="zh-CN" sz="1200" i="1" dirty="0">
                          <a:solidFill>
                            <a:schemeClr val="tx1"/>
                          </a:solidFill>
                          <a:latin typeface="Cambria Math" panose="02040503050406030204" pitchFamily="18" charset="0"/>
                        </a:rPr>
                        <m:t>&lt;</m:t>
                      </m:r>
                      <m:r>
                        <a:rPr lang="en-US" altLang="zh-CN" sz="1200" i="1" dirty="0">
                          <a:solidFill>
                            <a:schemeClr val="tx1"/>
                          </a:solidFill>
                          <a:latin typeface="Cambria Math" panose="02040503050406030204" pitchFamily="18" charset="0"/>
                        </a:rPr>
                        <m:t>𝜉</m:t>
                      </m:r>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𝜏</m:t>
                          </m:r>
                        </m:e>
                      </m:d>
                    </m:oMath>
                  </m:oMathPara>
                </a14:m>
                <a:endParaRPr lang="en-US" altLang="zh-CN" sz="1200" b="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1200" b="0" i="1" dirty="0" smtClean="0">
                          <a:solidFill>
                            <a:schemeClr val="tx1"/>
                          </a:solidFill>
                          <a:latin typeface="Cambria Math" panose="02040503050406030204" pitchFamily="18" charset="0"/>
                        </a:rPr>
                        <m:t>𝑃</m:t>
                      </m:r>
                      <m:d>
                        <m:dPr>
                          <m:ctrlPr>
                            <a:rPr lang="en-US" altLang="zh-CN" sz="1200" b="0" i="1" dirty="0" smtClean="0">
                              <a:solidFill>
                                <a:schemeClr val="tx1"/>
                              </a:solidFill>
                              <a:latin typeface="Cambria Math" panose="02040503050406030204" pitchFamily="18" charset="0"/>
                            </a:rPr>
                          </m:ctrlPr>
                        </m:dPr>
                        <m:e>
                          <m:r>
                            <a:rPr lang="en-US" altLang="zh-CN" sz="1200" b="0" i="1" dirty="0" smtClean="0">
                              <a:solidFill>
                                <a:schemeClr val="tx1"/>
                              </a:solidFill>
                              <a:latin typeface="Cambria Math" panose="02040503050406030204" pitchFamily="18" charset="0"/>
                            </a:rPr>
                            <m:t>𝐴</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𝐵</m:t>
                          </m:r>
                        </m:e>
                      </m:d>
                      <m:r>
                        <a:rPr lang="en-US" altLang="zh-CN" sz="1200" b="0" i="1" dirty="0" smtClean="0">
                          <a:solidFill>
                            <a:schemeClr val="tx1"/>
                          </a:solidFill>
                          <a:latin typeface="Cambria Math" panose="02040503050406030204" pitchFamily="18" charset="0"/>
                        </a:rPr>
                        <m:t>=</m:t>
                      </m:r>
                      <m:nary>
                        <m:naryPr>
                          <m:ctrlPr>
                            <a:rPr lang="en-US" altLang="zh-CN" sz="1200" i="1" dirty="0">
                              <a:solidFill>
                                <a:schemeClr val="tx1"/>
                              </a:solidFill>
                              <a:latin typeface="Cambria Math" panose="02040503050406030204" pitchFamily="18" charset="0"/>
                            </a:rPr>
                          </m:ctrlPr>
                        </m:naryPr>
                        <m:sub>
                          <m:r>
                            <a:rPr lang="en-US" altLang="zh-CN" sz="1200" b="0" i="1" dirty="0" smtClean="0">
                              <a:solidFill>
                                <a:schemeClr val="tx1"/>
                              </a:solidFill>
                              <a:latin typeface="Cambria Math" panose="02040503050406030204" pitchFamily="18" charset="0"/>
                            </a:rPr>
                            <m:t>𝜇</m:t>
                          </m:r>
                        </m:sub>
                        <m:sup>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m:t>
                          </m:r>
                        </m:sup>
                        <m:e>
                          <m:nary>
                            <m:naryPr>
                              <m:ctrlPr>
                                <a:rPr lang="en-US" altLang="zh-CN" sz="1200" i="1" dirty="0">
                                  <a:solidFill>
                                    <a:schemeClr val="tx1"/>
                                  </a:solidFill>
                                  <a:latin typeface="Cambria Math" panose="02040503050406030204" pitchFamily="18" charset="0"/>
                                </a:rPr>
                              </m:ctrlPr>
                            </m:naryPr>
                            <m:sub>
                              <m:d>
                                <m:dPr>
                                  <m:ctrlPr>
                                    <a:rPr lang="en-US" altLang="zh-CN" sz="1200" b="0" i="1" dirty="0" smtClean="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e>
                              </m:d>
                              <m:r>
                                <a:rPr lang="en-US" altLang="zh-CN" sz="1200" b="0" i="1" dirty="0" smtClean="0">
                                  <a:solidFill>
                                    <a:schemeClr val="tx1"/>
                                  </a:solidFill>
                                  <a:latin typeface="Cambria Math" panose="02040503050406030204" pitchFamily="18" charset="0"/>
                                </a:rPr>
                                <m:t>−</m:t>
                              </m:r>
                              <m:d>
                                <m:dPr>
                                  <m:ctrlPr>
                                    <a:rPr lang="en-US" altLang="zh-CN" sz="1200" b="0" i="1" dirty="0" smtClean="0">
                                      <a:solidFill>
                                        <a:schemeClr val="tx1"/>
                                      </a:solidFill>
                                      <a:latin typeface="Cambria Math" panose="02040503050406030204" pitchFamily="18" charset="0"/>
                                    </a:rPr>
                                  </m:ctrlPr>
                                </m:dPr>
                                <m:e>
                                  <m:r>
                                    <a:rPr lang="en-US" altLang="zh-CN" sz="1200" b="0" i="1" dirty="0" smtClean="0">
                                      <a:solidFill>
                                        <a:schemeClr val="tx1"/>
                                      </a:solidFill>
                                      <a:latin typeface="Cambria Math" panose="02040503050406030204" pitchFamily="18" charset="0"/>
                                    </a:rPr>
                                    <m:t>𝑞</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𝜇</m:t>
                                  </m:r>
                                </m:e>
                              </m:d>
                              <m:r>
                                <m:rPr>
                                  <m:sty m:val="p"/>
                                </m:rPr>
                                <a:rPr lang="en-US" altLang="zh-CN" sz="1200" b="0" i="0" dirty="0" smtClean="0">
                                  <a:solidFill>
                                    <a:schemeClr val="tx1"/>
                                  </a:solidFill>
                                  <a:latin typeface="Cambria Math" panose="02040503050406030204" pitchFamily="18" charset="0"/>
                                </a:rPr>
                                <m:t>Δ</m:t>
                              </m:r>
                              <m:r>
                                <a:rPr lang="en-US" altLang="zh-CN" sz="1200" b="0" i="1" dirty="0" smtClean="0">
                                  <a:solidFill>
                                    <a:schemeClr val="tx1"/>
                                  </a:solidFill>
                                  <a:latin typeface="Cambria Math" panose="02040503050406030204" pitchFamily="18" charset="0"/>
                                </a:rPr>
                                <m:t>𝜏</m:t>
                              </m:r>
                            </m:sub>
                            <m:sup>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sup>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𝑃</m:t>
                                  </m:r>
                                </m:e>
                                <m:sub>
                                  <m:r>
                                    <a:rPr lang="en-US" altLang="zh-CN" sz="1200" i="1" dirty="0">
                                      <a:solidFill>
                                        <a:schemeClr val="tx1"/>
                                      </a:solidFill>
                                      <a:latin typeface="Cambria Math" panose="02040503050406030204" pitchFamily="18" charset="0"/>
                                    </a:rPr>
                                    <m:t>3</m:t>
                                  </m:r>
                                </m:sub>
                              </m:sSub>
                              <m:d>
                                <m:dPr>
                                  <m:ctrlPr>
                                    <a:rPr lang="en-US" altLang="zh-CN" sz="1200" i="1" dirty="0">
                                      <a:solidFill>
                                        <a:schemeClr val="tx1"/>
                                      </a:solidFill>
                                      <a:latin typeface="Cambria Math" panose="02040503050406030204" pitchFamily="18" charset="0"/>
                                    </a:rPr>
                                  </m:ctrlPr>
                                </m:dPr>
                                <m:e>
                                  <m:sSup>
                                    <m:sSupPr>
                                      <m:ctrlPr>
                                        <a:rPr lang="en-US" altLang="zh-CN" sz="1200" b="0" i="1" dirty="0" smtClean="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𝜉</m:t>
                                      </m:r>
                                    </m:e>
                                    <m:sup>
                                      <m:r>
                                        <a:rPr lang="en-US" altLang="zh-CN" sz="1200" b="0" i="1" dirty="0" smtClean="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sSup>
                                    <m:sSupPr>
                                      <m:ctrlPr>
                                        <a:rPr lang="en-US" altLang="zh-CN" sz="1200" b="0" i="1" dirty="0" smtClean="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b="0" i="1" dirty="0" smtClean="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𝐹</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i="1" dirty="0">
                                  <a:solidFill>
                                    <a:schemeClr val="tx1"/>
                                  </a:solidFill>
                                  <a:latin typeface="Cambria Math" panose="02040503050406030204" pitchFamily="18" charset="0"/>
                                </a:rPr>
                                <m:t>𝑑</m:t>
                              </m:r>
                              <m:sSup>
                                <m:sSupPr>
                                  <m:ctrlPr>
                                    <a:rPr lang="en-US" altLang="zh-CN" sz="1200" b="0" i="1" dirty="0" smtClean="0">
                                      <a:solidFill>
                                        <a:schemeClr val="tx1"/>
                                      </a:solidFill>
                                      <a:latin typeface="Cambria Math" panose="02040503050406030204" pitchFamily="18" charset="0"/>
                                    </a:rPr>
                                  </m:ctrlPr>
                                </m:sSupPr>
                                <m:e>
                                  <m:r>
                                    <a:rPr lang="en-US" altLang="zh-CN" sz="1200" i="1" dirty="0" smtClean="0">
                                      <a:solidFill>
                                        <a:schemeClr val="tx1"/>
                                      </a:solidFill>
                                      <a:latin typeface="Cambria Math" panose="02040503050406030204" pitchFamily="18" charset="0"/>
                                    </a:rPr>
                                    <m:t>𝜉</m:t>
                                  </m:r>
                                </m:e>
                                <m:sup>
                                  <m:r>
                                    <a:rPr lang="en-US" altLang="zh-CN" sz="1200" b="0" i="1" dirty="0" smtClean="0">
                                      <a:solidFill>
                                        <a:schemeClr val="tx1"/>
                                      </a:solidFill>
                                      <a:latin typeface="Cambria Math" panose="02040503050406030204" pitchFamily="18" charset="0"/>
                                    </a:rPr>
                                    <m:t>′</m:t>
                                  </m:r>
                                </m:sup>
                              </m:sSup>
                            </m:e>
                          </m:nary>
                          <m:r>
                            <a:rPr lang="en-US" altLang="zh-CN" sz="1200" i="1" dirty="0">
                              <a:solidFill>
                                <a:schemeClr val="tx1"/>
                              </a:solidFill>
                              <a:latin typeface="Cambria Math" panose="02040503050406030204" pitchFamily="18" charset="0"/>
                            </a:rPr>
                            <m:t>𝑑</m:t>
                          </m:r>
                          <m:sSup>
                            <m:sSupPr>
                              <m:ctrlPr>
                                <a:rPr lang="en-US" altLang="zh-CN" sz="1200" b="0" i="1" dirty="0" smtClean="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b="0" i="1" dirty="0" smtClean="0">
                                  <a:solidFill>
                                    <a:schemeClr val="tx1"/>
                                  </a:solidFill>
                                  <a:latin typeface="Cambria Math" panose="02040503050406030204" pitchFamily="18" charset="0"/>
                                </a:rPr>
                                <m:t>′</m:t>
                              </m:r>
                            </m:sup>
                          </m:sSup>
                        </m:e>
                      </m:nary>
                    </m:oMath>
                  </m:oMathPara>
                </a14:m>
                <a:endParaRPr lang="en-US" altLang="zh-CN" sz="12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func>
                        <m:funcPr>
                          <m:ctrlPr>
                            <a:rPr lang="en-US" altLang="zh-CN" sz="1200" i="1" dirty="0" smtClean="0">
                              <a:solidFill>
                                <a:schemeClr val="tx1"/>
                              </a:solidFill>
                              <a:latin typeface="Cambria Math" panose="02040503050406030204" pitchFamily="18" charset="0"/>
                            </a:rPr>
                          </m:ctrlPr>
                        </m:funcPr>
                        <m:fName>
                          <m:limLow>
                            <m:limLowPr>
                              <m:ctrlPr>
                                <a:rPr lang="en-US" altLang="zh-CN" sz="1200" i="1" dirty="0" smtClean="0">
                                  <a:solidFill>
                                    <a:schemeClr val="tx1"/>
                                  </a:solidFill>
                                  <a:latin typeface="Cambria Math" panose="02040503050406030204" pitchFamily="18" charset="0"/>
                                </a:rPr>
                              </m:ctrlPr>
                            </m:limLowPr>
                            <m:e>
                              <m:r>
                                <m:rPr>
                                  <m:sty m:val="p"/>
                                </m:rPr>
                                <a:rPr lang="en-US" altLang="zh-CN" sz="1200" i="0" dirty="0" smtClean="0">
                                  <a:solidFill>
                                    <a:schemeClr val="tx1"/>
                                  </a:solidFill>
                                  <a:latin typeface="Cambria Math" panose="02040503050406030204" pitchFamily="18" charset="0"/>
                                </a:rPr>
                                <m:t>lim</m:t>
                              </m:r>
                            </m:e>
                            <m:lim>
                              <m:r>
                                <m:rPr>
                                  <m:sty m:val="p"/>
                                </m:rPr>
                                <a:rPr lang="en-US" altLang="zh-CN" sz="1200" b="0" i="0" dirty="0" smtClean="0">
                                  <a:solidFill>
                                    <a:schemeClr val="tx1"/>
                                  </a:solidFill>
                                  <a:latin typeface="Cambria Math" panose="02040503050406030204" pitchFamily="18" charset="0"/>
                                </a:rPr>
                                <m:t>Δ</m:t>
                              </m:r>
                              <m:r>
                                <a:rPr lang="en-US" altLang="zh-CN" sz="1200" b="0" i="1" dirty="0" smtClean="0">
                                  <a:solidFill>
                                    <a:schemeClr val="tx1"/>
                                  </a:solidFill>
                                  <a:latin typeface="Cambria Math" panose="02040503050406030204" pitchFamily="18" charset="0"/>
                                </a:rPr>
                                <m:t>𝜏</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0</m:t>
                              </m:r>
                            </m:lim>
                          </m:limLow>
                        </m:fName>
                        <m:e>
                          <m:r>
                            <a:rPr lang="en-US" altLang="zh-CN" sz="1200" b="0" i="1" dirty="0" smtClean="0">
                              <a:solidFill>
                                <a:schemeClr val="tx1"/>
                              </a:solidFill>
                              <a:latin typeface="Cambria Math" panose="02040503050406030204" pitchFamily="18" charset="0"/>
                            </a:rPr>
                            <m:t>𝑃</m:t>
                          </m:r>
                          <m:d>
                            <m:dPr>
                              <m:ctrlPr>
                                <a:rPr lang="en-US" altLang="zh-CN" sz="1200" b="0" i="1" dirty="0" smtClean="0">
                                  <a:solidFill>
                                    <a:schemeClr val="tx1"/>
                                  </a:solidFill>
                                  <a:latin typeface="Cambria Math" panose="02040503050406030204" pitchFamily="18" charset="0"/>
                                </a:rPr>
                              </m:ctrlPr>
                            </m:dPr>
                            <m:e>
                              <m:r>
                                <a:rPr lang="en-US" altLang="zh-CN" sz="1200" b="0" i="1" dirty="0" smtClean="0">
                                  <a:solidFill>
                                    <a:schemeClr val="tx1"/>
                                  </a:solidFill>
                                  <a:latin typeface="Cambria Math" panose="02040503050406030204" pitchFamily="18" charset="0"/>
                                </a:rPr>
                                <m:t>𝐴</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𝐵</m:t>
                              </m:r>
                            </m:e>
                          </m:d>
                        </m:e>
                      </m:func>
                      <m:r>
                        <a:rPr lang="en-US" altLang="zh-CN" sz="1200" b="0" i="1" dirty="0" smtClean="0">
                          <a:solidFill>
                            <a:schemeClr val="tx1"/>
                          </a:solidFill>
                          <a:latin typeface="Cambria Math" panose="02040503050406030204" pitchFamily="18" charset="0"/>
                        </a:rPr>
                        <m:t>=</m:t>
                      </m:r>
                      <m:func>
                        <m:funcPr>
                          <m:ctrlPr>
                            <a:rPr lang="en-US" altLang="zh-CN" sz="1200" i="1" dirty="0">
                              <a:solidFill>
                                <a:schemeClr val="tx1"/>
                              </a:solidFill>
                              <a:latin typeface="Cambria Math" panose="02040503050406030204" pitchFamily="18" charset="0"/>
                            </a:rPr>
                          </m:ctrlPr>
                        </m:funcPr>
                        <m:fName>
                          <m:limLow>
                            <m:limLowPr>
                              <m:ctrlPr>
                                <a:rPr lang="en-US" altLang="zh-CN" sz="1200" i="1" dirty="0">
                                  <a:solidFill>
                                    <a:schemeClr val="tx1"/>
                                  </a:solidFill>
                                  <a:latin typeface="Cambria Math" panose="02040503050406030204" pitchFamily="18" charset="0"/>
                                </a:rPr>
                              </m:ctrlPr>
                            </m:limLowPr>
                            <m:e>
                              <m:r>
                                <m:rPr>
                                  <m:sty m:val="p"/>
                                </m:rPr>
                                <a:rPr lang="en-US" altLang="zh-CN" sz="1200" dirty="0">
                                  <a:solidFill>
                                    <a:schemeClr val="tx1"/>
                                  </a:solidFill>
                                  <a:latin typeface="Cambria Math" panose="02040503050406030204" pitchFamily="18" charset="0"/>
                                </a:rPr>
                                <m:t>lim</m:t>
                              </m:r>
                            </m:e>
                            <m:lim>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0</m:t>
                              </m:r>
                            </m:lim>
                          </m:limLow>
                        </m:fName>
                        <m:e>
                          <m:nary>
                            <m:naryPr>
                              <m:ctrlPr>
                                <a:rPr lang="en-US" altLang="zh-CN" sz="1200" i="1" dirty="0">
                                  <a:solidFill>
                                    <a:schemeClr val="tx1"/>
                                  </a:solidFill>
                                  <a:latin typeface="Cambria Math" panose="02040503050406030204" pitchFamily="18" charset="0"/>
                                </a:rPr>
                              </m:ctrlPr>
                            </m:naryPr>
                            <m:sub>
                              <m:r>
                                <a:rPr lang="en-US" altLang="zh-CN" sz="1200" i="1" dirty="0">
                                  <a:solidFill>
                                    <a:schemeClr val="tx1"/>
                                  </a:solidFill>
                                  <a:latin typeface="Cambria Math" panose="02040503050406030204" pitchFamily="18" charset="0"/>
                                </a:rPr>
                                <m:t>𝜇</m:t>
                              </m:r>
                            </m:sub>
                            <m: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m:t>
                              </m:r>
                            </m:sup>
                            <m:e>
                              <m:nary>
                                <m:naryPr>
                                  <m:ctrlPr>
                                    <a:rPr lang="en-US" altLang="zh-CN" sz="1200" i="1" dirty="0">
                                      <a:solidFill>
                                        <a:schemeClr val="tx1"/>
                                      </a:solidFill>
                                      <a:latin typeface="Cambria Math" panose="02040503050406030204" pitchFamily="18" charset="0"/>
                                    </a:rPr>
                                  </m:ctrlPr>
                                </m:naryPr>
                                <m:sub>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e>
                                  </m:d>
                                  <m:r>
                                    <a:rPr lang="en-US" altLang="zh-CN" sz="1200" i="1" dirty="0">
                                      <a:solidFill>
                                        <a:schemeClr val="tx1"/>
                                      </a:solidFill>
                                      <a:latin typeface="Cambria Math" panose="02040503050406030204" pitchFamily="18" charset="0"/>
                                    </a:rPr>
                                    <m:t>−</m:t>
                                  </m:r>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𝑞</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e>
                                  </m:d>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sub>
                                <m:sup>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sup>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𝑃</m:t>
                                      </m:r>
                                    </m:e>
                                    <m:sub>
                                      <m:r>
                                        <a:rPr lang="en-US" altLang="zh-CN" sz="1200" i="1" dirty="0">
                                          <a:solidFill>
                                            <a:schemeClr val="tx1"/>
                                          </a:solidFill>
                                          <a:latin typeface="Cambria Math" panose="02040503050406030204" pitchFamily="18" charset="0"/>
                                        </a:rPr>
                                        <m:t>3</m:t>
                                      </m:r>
                                    </m:sub>
                                  </m:sSub>
                                  <m:d>
                                    <m:dPr>
                                      <m:ctrlPr>
                                        <a:rPr lang="en-US" altLang="zh-CN" sz="1200" i="1" dirty="0">
                                          <a:solidFill>
                                            <a:schemeClr val="tx1"/>
                                          </a:solidFill>
                                          <a:latin typeface="Cambria Math" panose="02040503050406030204" pitchFamily="18" charset="0"/>
                                        </a:rPr>
                                      </m:ctrlPr>
                                    </m:dPr>
                                    <m:e>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𝜉</m:t>
                                          </m:r>
                                        </m:e>
                                        <m:sup>
                                          <m:r>
                                            <a:rPr lang="en-US" altLang="zh-CN" sz="1200" i="1" dirty="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𝐹</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i="1" dirty="0">
                                      <a:solidFill>
                                        <a:schemeClr val="tx1"/>
                                      </a:solidFill>
                                      <a:latin typeface="Cambria Math" panose="02040503050406030204" pitchFamily="18" charset="0"/>
                                    </a:rPr>
                                    <m:t>𝑑</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𝜉</m:t>
                                      </m:r>
                                    </m:e>
                                    <m:sup>
                                      <m:r>
                                        <a:rPr lang="en-US" altLang="zh-CN" sz="1200" i="1" dirty="0">
                                          <a:solidFill>
                                            <a:schemeClr val="tx1"/>
                                          </a:solidFill>
                                          <a:latin typeface="Cambria Math" panose="02040503050406030204" pitchFamily="18" charset="0"/>
                                        </a:rPr>
                                        <m:t>′</m:t>
                                      </m:r>
                                    </m:sup>
                                  </m:sSup>
                                </m:e>
                              </m:nary>
                              <m:r>
                                <a:rPr lang="en-US" altLang="zh-CN" sz="1200" i="1" dirty="0">
                                  <a:solidFill>
                                    <a:schemeClr val="tx1"/>
                                  </a:solidFill>
                                  <a:latin typeface="Cambria Math" panose="02040503050406030204" pitchFamily="18" charset="0"/>
                                </a:rPr>
                                <m:t>𝑑</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e>
                          </m:nary>
                        </m:e>
                      </m:func>
                      <m:r>
                        <a:rPr lang="en-US" altLang="zh-CN" sz="1200" b="0" i="1" dirty="0" smtClean="0">
                          <a:solidFill>
                            <a:schemeClr val="tx1"/>
                          </a:solidFill>
                          <a:latin typeface="Cambria Math" panose="02040503050406030204" pitchFamily="18" charset="0"/>
                        </a:rPr>
                        <m:t>=</m:t>
                      </m:r>
                      <m:func>
                        <m:funcPr>
                          <m:ctrlPr>
                            <a:rPr lang="en-US" altLang="zh-CN" sz="1200" i="1" dirty="0">
                              <a:solidFill>
                                <a:schemeClr val="tx1"/>
                              </a:solidFill>
                              <a:latin typeface="Cambria Math" panose="02040503050406030204" pitchFamily="18" charset="0"/>
                            </a:rPr>
                          </m:ctrlPr>
                        </m:funcPr>
                        <m:fName>
                          <m:limLow>
                            <m:limLowPr>
                              <m:ctrlPr>
                                <a:rPr lang="en-US" altLang="zh-CN" sz="1200" i="1" dirty="0">
                                  <a:solidFill>
                                    <a:schemeClr val="tx1"/>
                                  </a:solidFill>
                                  <a:latin typeface="Cambria Math" panose="02040503050406030204" pitchFamily="18" charset="0"/>
                                </a:rPr>
                              </m:ctrlPr>
                            </m:limLowPr>
                            <m:e>
                              <m:r>
                                <m:rPr>
                                  <m:sty m:val="p"/>
                                </m:rPr>
                                <a:rPr lang="en-US" altLang="zh-CN" sz="1200" dirty="0">
                                  <a:solidFill>
                                    <a:schemeClr val="tx1"/>
                                  </a:solidFill>
                                  <a:latin typeface="Cambria Math" panose="02040503050406030204" pitchFamily="18" charset="0"/>
                                </a:rPr>
                                <m:t>lim</m:t>
                              </m:r>
                            </m:e>
                            <m:lim>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0</m:t>
                              </m:r>
                            </m:lim>
                          </m:limLow>
                        </m:fName>
                        <m:e>
                          <m:nary>
                            <m:naryPr>
                              <m:ctrlPr>
                                <a:rPr lang="en-US" altLang="zh-CN" sz="1200" i="1" dirty="0">
                                  <a:solidFill>
                                    <a:schemeClr val="tx1"/>
                                  </a:solidFill>
                                  <a:latin typeface="Cambria Math" panose="02040503050406030204" pitchFamily="18" charset="0"/>
                                </a:rPr>
                              </m:ctrlPr>
                            </m:naryPr>
                            <m:sub>
                              <m:r>
                                <a:rPr lang="en-US" altLang="zh-CN" sz="1200" i="1" dirty="0">
                                  <a:solidFill>
                                    <a:schemeClr val="tx1"/>
                                  </a:solidFill>
                                  <a:latin typeface="Cambria Math" panose="02040503050406030204" pitchFamily="18" charset="0"/>
                                </a:rPr>
                                <m:t>𝜇</m:t>
                              </m:r>
                            </m:sub>
                            <m: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m:t>
                              </m:r>
                            </m:sup>
                            <m:e>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𝑞</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e>
                              </m:d>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r>
                                <a:rPr lang="en-US" altLang="zh-CN" sz="1200" i="1" dirty="0">
                                  <a:solidFill>
                                    <a:schemeClr val="tx1"/>
                                  </a:solidFill>
                                  <a:latin typeface="Cambria Math" panose="02040503050406030204" pitchFamily="18" charset="0"/>
                                </a:rPr>
                                <m:t> </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𝑃</m:t>
                                  </m:r>
                                </m:e>
                                <m:sub>
                                  <m:r>
                                    <a:rPr lang="en-US" altLang="zh-CN" sz="1200" i="1" dirty="0">
                                      <a:solidFill>
                                        <a:schemeClr val="tx1"/>
                                      </a:solidFill>
                                      <a:latin typeface="Cambria Math" panose="02040503050406030204" pitchFamily="18" charset="0"/>
                                    </a:rPr>
                                    <m:t>3</m:t>
                                  </m:r>
                                </m:sub>
                              </m:sSub>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r>
                                    <a:rPr lang="en-US" altLang="zh-CN" sz="1200" i="1" dirty="0">
                                      <a:solidFill>
                                        <a:schemeClr val="tx1"/>
                                      </a:solidFill>
                                      <a:latin typeface="Cambria Math" panose="02040503050406030204" pitchFamily="18" charset="0"/>
                                    </a:rPr>
                                    <m:t>,</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𝐹</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i="1" dirty="0">
                                  <a:solidFill>
                                    <a:schemeClr val="tx1"/>
                                  </a:solidFill>
                                  <a:latin typeface="Cambria Math" panose="02040503050406030204" pitchFamily="18" charset="0"/>
                                </a:rPr>
                                <m:t>𝑑</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e>
                          </m:nary>
                        </m:e>
                      </m:func>
                      <m:r>
                        <a:rPr lang="en-US" altLang="zh-CN" sz="1200" b="0" i="1" dirty="0" smtClean="0">
                          <a:solidFill>
                            <a:schemeClr val="tx1"/>
                          </a:solidFill>
                          <a:latin typeface="Cambria Math" panose="02040503050406030204" pitchFamily="18" charset="0"/>
                        </a:rPr>
                        <m:t>=</m:t>
                      </m:r>
                      <m:func>
                        <m:funcPr>
                          <m:ctrlPr>
                            <a:rPr lang="en-US" altLang="zh-CN" sz="1200" i="1" dirty="0">
                              <a:solidFill>
                                <a:schemeClr val="tx1"/>
                              </a:solidFill>
                              <a:latin typeface="Cambria Math" panose="02040503050406030204" pitchFamily="18" charset="0"/>
                            </a:rPr>
                          </m:ctrlPr>
                        </m:funcPr>
                        <m:fName>
                          <m:limLow>
                            <m:limLowPr>
                              <m:ctrlPr>
                                <a:rPr lang="en-US" altLang="zh-CN" sz="1200" i="1" dirty="0">
                                  <a:solidFill>
                                    <a:schemeClr val="tx1"/>
                                  </a:solidFill>
                                  <a:latin typeface="Cambria Math" panose="02040503050406030204" pitchFamily="18" charset="0"/>
                                </a:rPr>
                              </m:ctrlPr>
                            </m:limLowPr>
                            <m:e>
                              <m:r>
                                <m:rPr>
                                  <m:sty m:val="p"/>
                                </m:rPr>
                                <a:rPr lang="en-US" altLang="zh-CN" sz="1200" dirty="0">
                                  <a:solidFill>
                                    <a:schemeClr val="tx1"/>
                                  </a:solidFill>
                                  <a:latin typeface="Cambria Math" panose="02040503050406030204" pitchFamily="18" charset="0"/>
                                </a:rPr>
                                <m:t>lim</m:t>
                              </m:r>
                            </m:e>
                            <m:lim>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0</m:t>
                              </m:r>
                            </m:lim>
                          </m:limLow>
                        </m:fName>
                        <m:e>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e>
                      </m:func>
                      <m:nary>
                        <m:naryPr>
                          <m:ctrlPr>
                            <a:rPr lang="en-US" altLang="zh-CN" sz="1200" i="1" dirty="0">
                              <a:solidFill>
                                <a:schemeClr val="tx1"/>
                              </a:solidFill>
                              <a:latin typeface="Cambria Math" panose="02040503050406030204" pitchFamily="18" charset="0"/>
                            </a:rPr>
                          </m:ctrlPr>
                        </m:naryPr>
                        <m:sub>
                          <m:r>
                            <a:rPr lang="en-US" altLang="zh-CN" sz="1200" i="1" dirty="0">
                              <a:solidFill>
                                <a:schemeClr val="tx1"/>
                              </a:solidFill>
                              <a:latin typeface="Cambria Math" panose="02040503050406030204" pitchFamily="18" charset="0"/>
                            </a:rPr>
                            <m:t>𝜇</m:t>
                          </m:r>
                        </m:sub>
                        <m: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m:t>
                          </m:r>
                        </m:sup>
                        <m:e>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𝑞</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e>
                          </m:d>
                          <m:r>
                            <a:rPr lang="en-US" altLang="zh-CN" sz="1200" b="0" i="1" dirty="0" smtClean="0">
                              <a:solidFill>
                                <a:schemeClr val="tx1"/>
                              </a:solidFill>
                              <a:latin typeface="Cambria Math" panose="02040503050406030204" pitchFamily="18" charset="0"/>
                            </a:rPr>
                            <m:t> </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𝑃</m:t>
                              </m:r>
                            </m:e>
                            <m:sub>
                              <m:r>
                                <a:rPr lang="en-US" altLang="zh-CN" sz="1200" i="1" dirty="0">
                                  <a:solidFill>
                                    <a:schemeClr val="tx1"/>
                                  </a:solidFill>
                                  <a:latin typeface="Cambria Math" panose="02040503050406030204" pitchFamily="18" charset="0"/>
                                </a:rPr>
                                <m:t>3</m:t>
                              </m:r>
                            </m:sub>
                          </m:sSub>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r>
                                <a:rPr lang="en-US" altLang="zh-CN" sz="1200" i="1" dirty="0">
                                  <a:solidFill>
                                    <a:schemeClr val="tx1"/>
                                  </a:solidFill>
                                  <a:latin typeface="Cambria Math" panose="02040503050406030204" pitchFamily="18" charset="0"/>
                                </a:rPr>
                                <m:t>,</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𝐹</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i="1" dirty="0">
                              <a:solidFill>
                                <a:schemeClr val="tx1"/>
                              </a:solidFill>
                              <a:latin typeface="Cambria Math" panose="02040503050406030204" pitchFamily="18" charset="0"/>
                            </a:rPr>
                            <m:t>𝑑</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e>
                      </m:nary>
                    </m:oMath>
                  </m:oMathPara>
                </a14:m>
                <a:endParaRPr lang="en-US" altLang="zh-CN" sz="1200" dirty="0">
                  <a:solidFill>
                    <a:schemeClr val="tx1"/>
                  </a:solidFill>
                </a:endParaRPr>
              </a:p>
            </p:txBody>
          </p:sp>
        </mc:Choice>
        <mc:Fallback xmlns="">
          <p:sp>
            <p:nvSpPr>
              <p:cNvPr id="6" name="矩形 5">
                <a:extLst>
                  <a:ext uri="{FF2B5EF4-FFF2-40B4-BE49-F238E27FC236}">
                    <a16:creationId xmlns:a16="http://schemas.microsoft.com/office/drawing/2014/main" id="{D1DF066D-6FE2-047C-206A-C27C08A34CE4}"/>
                  </a:ext>
                </a:extLst>
              </p:cNvPr>
              <p:cNvSpPr>
                <a:spLocks noRot="1" noChangeAspect="1" noMove="1" noResize="1" noEditPoints="1" noAdjustHandles="1" noChangeArrowheads="1" noChangeShapeType="1" noTextEdit="1"/>
              </p:cNvSpPr>
              <p:nvPr/>
            </p:nvSpPr>
            <p:spPr>
              <a:xfrm>
                <a:off x="368712" y="1144044"/>
                <a:ext cx="6851503" cy="5402806"/>
              </a:xfrm>
              <a:prstGeom prst="rect">
                <a:avLst/>
              </a:prstGeom>
              <a:blipFill>
                <a:blip r:embed="rId3"/>
                <a:stretch>
                  <a:fillRect/>
                </a:stretch>
              </a:blipFill>
            </p:spPr>
            <p:txBody>
              <a:bodyPr/>
              <a:lstStyle/>
              <a:p>
                <a:r>
                  <a:rPr lang="zh-CN" altLang="en-US">
                    <a:noFill/>
                  </a:rPr>
                  <a:t> </a:t>
                </a:r>
              </a:p>
            </p:txBody>
          </p:sp>
        </mc:Fallback>
      </mc:AlternateContent>
      <p:sp>
        <p:nvSpPr>
          <p:cNvPr id="54" name="文本框 53">
            <a:extLst>
              <a:ext uri="{FF2B5EF4-FFF2-40B4-BE49-F238E27FC236}">
                <a16:creationId xmlns:a16="http://schemas.microsoft.com/office/drawing/2014/main" id="{6DE93BDF-F846-571C-C4A8-CBC2E2F2CA70}"/>
              </a:ext>
            </a:extLst>
          </p:cNvPr>
          <p:cNvSpPr txBox="1"/>
          <p:nvPr/>
        </p:nvSpPr>
        <p:spPr>
          <a:xfrm>
            <a:off x="8480385" y="3708859"/>
            <a:ext cx="2624203" cy="307777"/>
          </a:xfrm>
          <a:prstGeom prst="rect">
            <a:avLst/>
          </a:prstGeom>
          <a:noFill/>
        </p:spPr>
        <p:txBody>
          <a:bodyPr wrap="square">
            <a:spAutoFit/>
          </a:bodyPr>
          <a:lstStyle/>
          <a:p>
            <a:pPr algn="ctr"/>
            <a:r>
              <a:rPr lang="en-US" altLang="zh-CN" sz="1400" dirty="0">
                <a:solidFill>
                  <a:schemeClr val="tx1"/>
                </a:solidFill>
              </a:rPr>
              <a:t>Walter (2007</a:t>
            </a:r>
            <a:r>
              <a:rPr lang="en-US" altLang="zh-CN" sz="1400" dirty="0">
                <a:solidFill>
                  <a:schemeClr val="tx1"/>
                </a:solidFill>
                <a:latin typeface="+mn-ea"/>
              </a:rPr>
              <a:t>)</a:t>
            </a:r>
            <a:r>
              <a:rPr lang="en-US" altLang="zh-CN" sz="1400" dirty="0">
                <a:solidFill>
                  <a:srgbClr val="212529"/>
                </a:solidFill>
                <a:latin typeface="+mn-ea"/>
              </a:rPr>
              <a:t> </a:t>
            </a:r>
            <a:r>
              <a:rPr lang="en-US" altLang="zh-CN" sz="1400" dirty="0">
                <a:solidFill>
                  <a:srgbClr val="212529"/>
                </a:solidFill>
                <a:latin typeface="+mn-ea"/>
                <a:hlinkClick r:id="rId4" action="ppaction://hlinksldjump"/>
              </a:rPr>
              <a:t>2</a:t>
            </a:r>
            <a:r>
              <a:rPr lang="zh-CN" altLang="en-US" sz="1400" dirty="0">
                <a:solidFill>
                  <a:srgbClr val="212529"/>
                </a:solidFill>
                <a:latin typeface="+mn-ea"/>
              </a:rPr>
              <a:t>，</a:t>
            </a:r>
            <a:r>
              <a:rPr lang="en-US" altLang="zh-CN" sz="1400" dirty="0">
                <a:solidFill>
                  <a:srgbClr val="212529"/>
                </a:solidFill>
                <a:latin typeface="+mn-ea"/>
              </a:rPr>
              <a:t>Figure 16.</a:t>
            </a:r>
            <a:endParaRPr lang="zh-CN" altLang="en-US" sz="1400" dirty="0"/>
          </a:p>
        </p:txBody>
      </p:sp>
      <p:pic>
        <p:nvPicPr>
          <p:cNvPr id="8" name="图片 7">
            <a:extLst>
              <a:ext uri="{FF2B5EF4-FFF2-40B4-BE49-F238E27FC236}">
                <a16:creationId xmlns:a16="http://schemas.microsoft.com/office/drawing/2014/main" id="{3110D5D5-0CFD-0E5F-CF50-53FC6E408B1C}"/>
              </a:ext>
            </a:extLst>
          </p:cNvPr>
          <p:cNvPicPr>
            <a:picLocks noChangeAspect="1"/>
          </p:cNvPicPr>
          <p:nvPr/>
        </p:nvPicPr>
        <p:blipFill>
          <a:blip r:embed="rId5"/>
          <a:stretch>
            <a:fillRect/>
          </a:stretch>
        </p:blipFill>
        <p:spPr>
          <a:xfrm>
            <a:off x="7452392" y="1684869"/>
            <a:ext cx="4680191" cy="1917799"/>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A4C0ED1-CC03-10C7-A4B8-9E0C8D87E367}"/>
                  </a:ext>
                </a:extLst>
              </p:cNvPr>
              <p:cNvSpPr txBox="1"/>
              <p:nvPr/>
            </p:nvSpPr>
            <p:spPr>
              <a:xfrm>
                <a:off x="8787445" y="2448188"/>
                <a:ext cx="219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𝐹</m:t>
                      </m:r>
                    </m:oMath>
                  </m:oMathPara>
                </a14:m>
                <a:endParaRPr lang="zh-CN" altLang="en-US" dirty="0">
                  <a:solidFill>
                    <a:schemeClr val="bg1"/>
                  </a:solidFill>
                </a:endParaRPr>
              </a:p>
            </p:txBody>
          </p:sp>
        </mc:Choice>
        <mc:Fallback xmlns="">
          <p:sp>
            <p:nvSpPr>
              <p:cNvPr id="9" name="文本框 8">
                <a:extLst>
                  <a:ext uri="{FF2B5EF4-FFF2-40B4-BE49-F238E27FC236}">
                    <a16:creationId xmlns:a16="http://schemas.microsoft.com/office/drawing/2014/main" id="{4EEAACA8-3079-9ACF-659E-937CC33EF44D}"/>
                  </a:ext>
                </a:extLst>
              </p:cNvPr>
              <p:cNvSpPr txBox="1">
                <a:spLocks noRot="1" noChangeAspect="1" noMove="1" noResize="1" noEditPoints="1" noAdjustHandles="1" noChangeArrowheads="1" noChangeShapeType="1" noTextEdit="1"/>
              </p:cNvSpPr>
              <p:nvPr/>
            </p:nvSpPr>
            <p:spPr>
              <a:xfrm>
                <a:off x="8787445" y="2448188"/>
                <a:ext cx="219034" cy="276999"/>
              </a:xfrm>
              <a:prstGeom prst="rect">
                <a:avLst/>
              </a:prstGeom>
              <a:blipFill>
                <a:blip r:embed="rId6"/>
                <a:stretch>
                  <a:fillRect l="-22857" r="-20000" b="-8889"/>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D135A25E-8129-CB14-FE85-BEC05070A7F3}"/>
              </a:ext>
            </a:extLst>
          </p:cNvPr>
          <p:cNvPicPr>
            <a:picLocks noChangeAspect="1"/>
          </p:cNvPicPr>
          <p:nvPr/>
        </p:nvPicPr>
        <p:blipFill>
          <a:blip r:embed="rId5"/>
          <a:stretch>
            <a:fillRect/>
          </a:stretch>
        </p:blipFill>
        <p:spPr>
          <a:xfrm>
            <a:off x="7452392" y="4365987"/>
            <a:ext cx="4680191" cy="1917799"/>
          </a:xfrm>
          <a:prstGeom prst="rect">
            <a:avLst/>
          </a:prstGeom>
        </p:spPr>
      </p:pic>
      <p:cxnSp>
        <p:nvCxnSpPr>
          <p:cNvPr id="7" name="直接箭头连接符 6">
            <a:extLst>
              <a:ext uri="{FF2B5EF4-FFF2-40B4-BE49-F238E27FC236}">
                <a16:creationId xmlns:a16="http://schemas.microsoft.com/office/drawing/2014/main" id="{FE319EF1-EBA6-A7B0-F249-7D95716F2B73}"/>
              </a:ext>
            </a:extLst>
          </p:cNvPr>
          <p:cNvCxnSpPr>
            <a:cxnSpLocks/>
          </p:cNvCxnSpPr>
          <p:nvPr/>
        </p:nvCxnSpPr>
        <p:spPr>
          <a:xfrm>
            <a:off x="9006479" y="5173131"/>
            <a:ext cx="928711" cy="1544908"/>
          </a:xfrm>
          <a:prstGeom prst="straightConnector1">
            <a:avLst/>
          </a:prstGeom>
          <a:ln w="28575">
            <a:solidFill>
              <a:srgbClr val="F76409"/>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A8EFC5EF-665F-04D9-2223-8234643243F0}"/>
              </a:ext>
            </a:extLst>
          </p:cNvPr>
          <p:cNvCxnSpPr>
            <a:cxnSpLocks/>
          </p:cNvCxnSpPr>
          <p:nvPr/>
        </p:nvCxnSpPr>
        <p:spPr>
          <a:xfrm>
            <a:off x="8260656" y="4684734"/>
            <a:ext cx="1531830" cy="889289"/>
          </a:xfrm>
          <a:prstGeom prst="line">
            <a:avLst/>
          </a:prstGeom>
          <a:ln w="19050">
            <a:solidFill>
              <a:schemeClr val="bg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44E8AB8B-53C6-C792-942D-72D1CE74B5F4}"/>
                  </a:ext>
                </a:extLst>
              </p:cNvPr>
              <p:cNvSpPr txBox="1"/>
              <p:nvPr/>
            </p:nvSpPr>
            <p:spPr>
              <a:xfrm>
                <a:off x="7767702" y="4684734"/>
                <a:ext cx="29681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𝑞</m:t>
                          </m:r>
                        </m:e>
                        <m:sub>
                          <m:r>
                            <a:rPr lang="en-US" altLang="zh-CN" b="0" i="1" smtClean="0">
                              <a:solidFill>
                                <a:schemeClr val="bg1"/>
                              </a:solidFill>
                              <a:latin typeface="Cambria Math" panose="02040503050406030204" pitchFamily="18" charset="0"/>
                            </a:rPr>
                            <m:t>0</m:t>
                          </m:r>
                        </m:sub>
                      </m:sSub>
                    </m:oMath>
                  </m:oMathPara>
                </a14:m>
                <a:endParaRPr lang="zh-CN" altLang="en-US" dirty="0">
                  <a:solidFill>
                    <a:schemeClr val="bg1"/>
                  </a:solidFill>
                </a:endParaRPr>
              </a:p>
            </p:txBody>
          </p:sp>
        </mc:Choice>
        <mc:Fallback xmlns="">
          <p:sp>
            <p:nvSpPr>
              <p:cNvPr id="17" name="文本框 16">
                <a:extLst>
                  <a:ext uri="{FF2B5EF4-FFF2-40B4-BE49-F238E27FC236}">
                    <a16:creationId xmlns:a16="http://schemas.microsoft.com/office/drawing/2014/main" id="{48751197-696C-10DD-1941-AFE4DBA8A73A}"/>
                  </a:ext>
                </a:extLst>
              </p:cNvPr>
              <p:cNvSpPr txBox="1">
                <a:spLocks noRot="1" noChangeAspect="1" noMove="1" noResize="1" noEditPoints="1" noAdjustHandles="1" noChangeArrowheads="1" noChangeShapeType="1" noTextEdit="1"/>
              </p:cNvSpPr>
              <p:nvPr/>
            </p:nvSpPr>
            <p:spPr>
              <a:xfrm>
                <a:off x="7767702" y="4684734"/>
                <a:ext cx="296812" cy="276999"/>
              </a:xfrm>
              <a:prstGeom prst="rect">
                <a:avLst/>
              </a:prstGeom>
              <a:blipFill>
                <a:blip r:embed="rId7"/>
                <a:stretch>
                  <a:fillRect l="-16327" r="-4082" b="-260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DDC6BD6D-7198-9C94-B1E5-8973E54466C9}"/>
                  </a:ext>
                </a:extLst>
              </p:cNvPr>
              <p:cNvSpPr txBox="1"/>
              <p:nvPr/>
            </p:nvSpPr>
            <p:spPr>
              <a:xfrm>
                <a:off x="8219661" y="6372539"/>
                <a:ext cx="1354602" cy="276999"/>
              </a:xfrm>
              <a:prstGeom prst="rect">
                <a:avLst/>
              </a:prstGeom>
              <a:noFill/>
            </p:spPr>
            <p:txBody>
              <a:bodyPr wrap="none" lIns="0" tIns="0" rIns="0" bIns="0" rtlCol="0">
                <a:spAutoFit/>
              </a:bodyPr>
              <a:lstStyle/>
              <a:p>
                <a:r>
                  <a:rPr lang="zh-CN" altLang="en-US" dirty="0">
                    <a:solidFill>
                      <a:srgbClr val="F76409"/>
                    </a:solidFill>
                  </a:rPr>
                  <a:t>虚线：</a:t>
                </a:r>
                <a14:m>
                  <m:oMath xmlns:m="http://schemas.openxmlformats.org/officeDocument/2006/math">
                    <m:r>
                      <a:rPr lang="en-US" altLang="zh-CN" b="0" i="1" smtClean="0">
                        <a:solidFill>
                          <a:srgbClr val="F76409"/>
                        </a:solidFill>
                        <a:latin typeface="Cambria Math" panose="02040503050406030204" pitchFamily="18" charset="0"/>
                      </a:rPr>
                      <m:t>𝜇</m:t>
                    </m:r>
                    <m:r>
                      <a:rPr lang="en-US" altLang="zh-CN" b="0" i="1" smtClean="0">
                        <a:solidFill>
                          <a:srgbClr val="F76409"/>
                        </a:solidFill>
                        <a:latin typeface="Cambria Math" panose="02040503050406030204" pitchFamily="18" charset="0"/>
                      </a:rPr>
                      <m:t>&lt;</m:t>
                    </m:r>
                    <m:sSub>
                      <m:sSubPr>
                        <m:ctrlPr>
                          <a:rPr lang="en-US" altLang="zh-CN" b="0" i="1" smtClean="0">
                            <a:solidFill>
                              <a:srgbClr val="F76409"/>
                            </a:solidFill>
                            <a:latin typeface="Cambria Math" panose="02040503050406030204" pitchFamily="18" charset="0"/>
                          </a:rPr>
                        </m:ctrlPr>
                      </m:sSubPr>
                      <m:e>
                        <m:r>
                          <a:rPr lang="en-US" altLang="zh-CN" b="0" i="1" smtClean="0">
                            <a:solidFill>
                              <a:srgbClr val="F76409"/>
                            </a:solidFill>
                            <a:latin typeface="Cambria Math" panose="02040503050406030204" pitchFamily="18" charset="0"/>
                          </a:rPr>
                          <m:t>𝑞</m:t>
                        </m:r>
                      </m:e>
                      <m:sub>
                        <m:r>
                          <a:rPr lang="en-US" altLang="zh-CN" b="0" i="1" smtClean="0">
                            <a:solidFill>
                              <a:srgbClr val="F76409"/>
                            </a:solidFill>
                            <a:latin typeface="Cambria Math" panose="02040503050406030204" pitchFamily="18" charset="0"/>
                          </a:rPr>
                          <m:t>0</m:t>
                        </m:r>
                      </m:sub>
                    </m:sSub>
                  </m:oMath>
                </a14:m>
                <a:endParaRPr lang="zh-CN" altLang="en-US" dirty="0">
                  <a:solidFill>
                    <a:srgbClr val="F76409"/>
                  </a:solidFill>
                </a:endParaRPr>
              </a:p>
            </p:txBody>
          </p:sp>
        </mc:Choice>
        <mc:Fallback xmlns="">
          <p:sp>
            <p:nvSpPr>
              <p:cNvPr id="18" name="文本框 17">
                <a:extLst>
                  <a:ext uri="{FF2B5EF4-FFF2-40B4-BE49-F238E27FC236}">
                    <a16:creationId xmlns:a16="http://schemas.microsoft.com/office/drawing/2014/main" id="{DDC6BD6D-7198-9C94-B1E5-8973E54466C9}"/>
                  </a:ext>
                </a:extLst>
              </p:cNvPr>
              <p:cNvSpPr txBox="1">
                <a:spLocks noRot="1" noChangeAspect="1" noMove="1" noResize="1" noEditPoints="1" noAdjustHandles="1" noChangeArrowheads="1" noChangeShapeType="1" noTextEdit="1"/>
              </p:cNvSpPr>
              <p:nvPr/>
            </p:nvSpPr>
            <p:spPr>
              <a:xfrm>
                <a:off x="8219661" y="6372539"/>
                <a:ext cx="1354602" cy="276999"/>
              </a:xfrm>
              <a:prstGeom prst="rect">
                <a:avLst/>
              </a:prstGeom>
              <a:blipFill>
                <a:blip r:embed="rId8"/>
                <a:stretch>
                  <a:fillRect l="-10314" t="-28261" r="-2691"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文本框 20">
                <a:extLst>
                  <a:ext uri="{FF2B5EF4-FFF2-40B4-BE49-F238E27FC236}">
                    <a16:creationId xmlns:a16="http://schemas.microsoft.com/office/drawing/2014/main" id="{043E6D0E-81EA-792E-C0DE-C49D9E45D994}"/>
                  </a:ext>
                </a:extLst>
              </p:cNvPr>
              <p:cNvSpPr txBox="1"/>
              <p:nvPr/>
            </p:nvSpPr>
            <p:spPr>
              <a:xfrm>
                <a:off x="9394376" y="4457481"/>
                <a:ext cx="731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rgbClr val="F76409"/>
                          </a:solidFill>
                          <a:latin typeface="Cambria Math" panose="02040503050406030204" pitchFamily="18" charset="0"/>
                        </a:rPr>
                        <m:t>𝜇</m:t>
                      </m:r>
                      <m:r>
                        <a:rPr lang="en-US" altLang="zh-CN" b="0" i="1" smtClean="0">
                          <a:solidFill>
                            <a:srgbClr val="F76409"/>
                          </a:solidFill>
                          <a:latin typeface="Cambria Math" panose="02040503050406030204" pitchFamily="18" charset="0"/>
                        </a:rPr>
                        <m:t>&gt;</m:t>
                      </m:r>
                      <m:sSub>
                        <m:sSubPr>
                          <m:ctrlPr>
                            <a:rPr lang="en-US" altLang="zh-CN" b="0" i="1" smtClean="0">
                              <a:solidFill>
                                <a:srgbClr val="F76409"/>
                              </a:solidFill>
                              <a:latin typeface="Cambria Math" panose="02040503050406030204" pitchFamily="18" charset="0"/>
                            </a:rPr>
                          </m:ctrlPr>
                        </m:sSubPr>
                        <m:e>
                          <m:r>
                            <a:rPr lang="en-US" altLang="zh-CN" b="0" i="1" smtClean="0">
                              <a:solidFill>
                                <a:srgbClr val="F76409"/>
                              </a:solidFill>
                              <a:latin typeface="Cambria Math" panose="02040503050406030204" pitchFamily="18" charset="0"/>
                            </a:rPr>
                            <m:t>𝑞</m:t>
                          </m:r>
                        </m:e>
                        <m:sub>
                          <m:r>
                            <a:rPr lang="en-US" altLang="zh-CN" b="0" i="1" smtClean="0">
                              <a:solidFill>
                                <a:srgbClr val="F76409"/>
                              </a:solidFill>
                              <a:latin typeface="Cambria Math" panose="02040503050406030204" pitchFamily="18" charset="0"/>
                            </a:rPr>
                            <m:t>0</m:t>
                          </m:r>
                        </m:sub>
                      </m:sSub>
                    </m:oMath>
                  </m:oMathPara>
                </a14:m>
                <a:endParaRPr lang="zh-CN" altLang="en-US" dirty="0">
                  <a:solidFill>
                    <a:srgbClr val="F76409"/>
                  </a:solidFill>
                </a:endParaRPr>
              </a:p>
            </p:txBody>
          </p:sp>
        </mc:Choice>
        <mc:Fallback xmlns="">
          <p:sp>
            <p:nvSpPr>
              <p:cNvPr id="21" name="文本框 20">
                <a:extLst>
                  <a:ext uri="{FF2B5EF4-FFF2-40B4-BE49-F238E27FC236}">
                    <a16:creationId xmlns:a16="http://schemas.microsoft.com/office/drawing/2014/main" id="{F0BF23C1-5189-65CD-FDEC-22518E8F6FBC}"/>
                  </a:ext>
                </a:extLst>
              </p:cNvPr>
              <p:cNvSpPr txBox="1">
                <a:spLocks noRot="1" noChangeAspect="1" noMove="1" noResize="1" noEditPoints="1" noAdjustHandles="1" noChangeArrowheads="1" noChangeShapeType="1" noTextEdit="1"/>
              </p:cNvSpPr>
              <p:nvPr/>
            </p:nvSpPr>
            <p:spPr>
              <a:xfrm>
                <a:off x="9394376" y="4457481"/>
                <a:ext cx="731034" cy="276999"/>
              </a:xfrm>
              <a:prstGeom prst="rect">
                <a:avLst/>
              </a:prstGeom>
              <a:blipFill>
                <a:blip r:embed="rId9"/>
                <a:stretch>
                  <a:fillRect l="-5833" r="-1667" b="-2608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7924232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4B137-C0E1-215A-FF8E-85E1EFADE48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8D778C4E-2809-ED14-53E1-BF6DD6B519C9}"/>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1" dirty="0" smtClean="0">
                            <a:solidFill>
                              <a:schemeClr val="tx1"/>
                            </a:solidFill>
                            <a:latin typeface="Cambria Math" panose="02040503050406030204" pitchFamily="18" charset="0"/>
                          </a:rPr>
                          <m:t>G</m:t>
                        </m:r>
                      </m:e>
                      <m:sub>
                        <m:r>
                          <a:rPr lang="en-US" altLang="zh-CN" b="0" i="1" dirty="0" smtClean="0">
                            <a:solidFill>
                              <a:schemeClr val="tx1"/>
                            </a:solidFill>
                            <a:latin typeface="Cambria Math" panose="02040503050406030204" pitchFamily="18" charset="0"/>
                          </a:rPr>
                          <m:t>2</m:t>
                        </m:r>
                      </m:sub>
                    </m:sSub>
                    <m:r>
                      <a:rPr lang="en-US" altLang="zh-CN" b="0"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𝒊</m:t>
                    </m:r>
                    <m:r>
                      <a:rPr lang="en-US" altLang="zh-CN" b="1"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𝒐</m:t>
                    </m:r>
                    <m:r>
                      <a:rPr lang="en-US" altLang="zh-CN" b="1"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𝒎</m:t>
                    </m:r>
                    <m:r>
                      <a:rPr lang="en-US" altLang="zh-CN" b="0" i="1" dirty="0" smtClean="0">
                        <a:solidFill>
                          <a:schemeClr val="tx1"/>
                        </a:solidFill>
                        <a:latin typeface="Cambria Math" panose="02040503050406030204" pitchFamily="18" charset="0"/>
                      </a:rPr>
                      <m:t>)</m:t>
                    </m:r>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A58F7EA6-4A72-6CCB-7D7A-6C55786B5A9A}"/>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017" b="-8475"/>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3C8DAF09-0EBF-747C-5904-63922603BD67}"/>
              </a:ext>
            </a:extLst>
          </p:cNvPr>
          <p:cNvSpPr/>
          <p:nvPr/>
        </p:nvSpPr>
        <p:spPr>
          <a:xfrm>
            <a:off x="521112" y="1315233"/>
            <a:ext cx="6851503"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2F45335E-F456-4EC4-324A-8D4AD63DB2CD}"/>
                  </a:ext>
                </a:extLst>
              </p:cNvPr>
              <p:cNvSpPr/>
              <p:nvPr/>
            </p:nvSpPr>
            <p:spPr>
              <a:xfrm>
                <a:off x="368712" y="1144044"/>
                <a:ext cx="6851503"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14:m>
                  <m:oMathPara xmlns:m="http://schemas.openxmlformats.org/officeDocument/2006/math">
                    <m:oMathParaPr>
                      <m:jc m:val="centerGroup"/>
                    </m:oMathParaPr>
                    <m:oMath xmlns:m="http://schemas.openxmlformats.org/officeDocument/2006/math">
                      <m:r>
                        <a:rPr lang="en-US" altLang="zh-CN" sz="1200" b="0" i="1" dirty="0" smtClean="0">
                          <a:solidFill>
                            <a:schemeClr val="tx1"/>
                          </a:solidFill>
                          <a:latin typeface="Cambria Math" panose="02040503050406030204" pitchFamily="18" charset="0"/>
                        </a:rPr>
                        <m:t>𝑃</m:t>
                      </m:r>
                      <m:d>
                        <m:dPr>
                          <m:ctrlPr>
                            <a:rPr lang="en-US" altLang="zh-CN" sz="1200" b="0" i="1" dirty="0" smtClean="0">
                              <a:solidFill>
                                <a:schemeClr val="tx1"/>
                              </a:solidFill>
                              <a:latin typeface="Cambria Math" panose="02040503050406030204" pitchFamily="18" charset="0"/>
                            </a:rPr>
                          </m:ctrlPr>
                        </m:dPr>
                        <m:e>
                          <m:r>
                            <m:rPr>
                              <m:sty m:val="p"/>
                            </m:rPr>
                            <a:rPr lang="en-US" altLang="zh-CN" sz="1200" i="1" dirty="0">
                              <a:solidFill>
                                <a:schemeClr val="tx1"/>
                              </a:solidFill>
                              <a:latin typeface="Cambria Math" panose="02040503050406030204" pitchFamily="18" charset="0"/>
                            </a:rPr>
                            <m:t>A</m:t>
                          </m:r>
                        </m:e>
                      </m:d>
                      <m:r>
                        <a:rPr lang="en-US" altLang="zh-CN" sz="1200" b="0" i="1" dirty="0" smtClean="0">
                          <a:solidFill>
                            <a:schemeClr val="tx1"/>
                          </a:solidFill>
                          <a:latin typeface="Cambria Math" panose="02040503050406030204" pitchFamily="18" charset="0"/>
                        </a:rPr>
                        <m:t>=</m:t>
                      </m:r>
                      <m:nary>
                        <m:naryPr>
                          <m:ctrlPr>
                            <a:rPr lang="en-US" altLang="zh-CN" sz="1200" b="0" i="1" dirty="0" smtClean="0">
                              <a:solidFill>
                                <a:schemeClr val="tx1"/>
                              </a:solidFill>
                              <a:latin typeface="Cambria Math" panose="02040503050406030204" pitchFamily="18" charset="0"/>
                            </a:rPr>
                          </m:ctrlPr>
                        </m:naryPr>
                        <m:sub>
                          <m:r>
                            <a:rPr lang="en-US" altLang="zh-CN" sz="1200" b="0" i="1" dirty="0" smtClean="0">
                              <a:solidFill>
                                <a:schemeClr val="tx1"/>
                              </a:solidFill>
                              <a:latin typeface="Cambria Math" panose="02040503050406030204" pitchFamily="18" charset="0"/>
                            </a:rPr>
                            <m:t>−∞</m:t>
                          </m:r>
                        </m:sub>
                        <m:sup>
                          <m:r>
                            <a:rPr lang="en-US" altLang="zh-CN" sz="1200" b="0" i="1" dirty="0" smtClean="0">
                              <a:solidFill>
                                <a:schemeClr val="tx1"/>
                              </a:solidFill>
                              <a:latin typeface="Cambria Math" panose="02040503050406030204" pitchFamily="18" charset="0"/>
                            </a:rPr>
                            <m:t>+∞</m:t>
                          </m:r>
                        </m:sup>
                        <m:e>
                          <m:nary>
                            <m:naryPr>
                              <m:ctrlPr>
                                <a:rPr lang="en-US" altLang="zh-CN" sz="1200" i="1" dirty="0">
                                  <a:solidFill>
                                    <a:schemeClr val="tx1"/>
                                  </a:solidFill>
                                  <a:latin typeface="Cambria Math" panose="02040503050406030204" pitchFamily="18" charset="0"/>
                                </a:rPr>
                              </m:ctrlPr>
                            </m:naryPr>
                            <m:sub>
                              <m:r>
                                <a:rPr lang="en-US" altLang="zh-CN" sz="1200" i="1" dirty="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 </m:t>
                              </m:r>
                            </m:sub>
                            <m:sup>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sup>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𝑃</m:t>
                                  </m:r>
                                </m:e>
                                <m:sub>
                                  <m:r>
                                    <a:rPr lang="en-US" altLang="zh-CN" sz="1200" i="1" dirty="0">
                                      <a:solidFill>
                                        <a:schemeClr val="tx1"/>
                                      </a:solidFill>
                                      <a:latin typeface="Cambria Math" panose="02040503050406030204" pitchFamily="18" charset="0"/>
                                    </a:rPr>
                                    <m:t>3</m:t>
                                  </m:r>
                                </m:sub>
                              </m:sSub>
                              <m:d>
                                <m:dPr>
                                  <m:ctrlPr>
                                    <a:rPr lang="en-US" altLang="zh-CN" sz="1200" i="1" dirty="0">
                                      <a:solidFill>
                                        <a:schemeClr val="tx1"/>
                                      </a:solidFill>
                                      <a:latin typeface="Cambria Math" panose="02040503050406030204" pitchFamily="18" charset="0"/>
                                    </a:rPr>
                                  </m:ctrlPr>
                                </m:dPr>
                                <m:e>
                                  <m:sSup>
                                    <m:sSupPr>
                                      <m:ctrlPr>
                                        <a:rPr lang="en-US" altLang="zh-CN" sz="1200" b="0" i="1" dirty="0" smtClean="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𝜉</m:t>
                                      </m:r>
                                    </m:e>
                                    <m:sup>
                                      <m:r>
                                        <a:rPr lang="en-US" altLang="zh-CN" sz="1200" b="0" i="1" dirty="0" smtClean="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sSup>
                                    <m:sSupPr>
                                      <m:ctrlPr>
                                        <a:rPr lang="en-US" altLang="zh-CN" sz="1200" b="0" i="1" dirty="0" smtClean="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b="0" i="1" dirty="0" smtClean="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𝐹</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i="1" dirty="0">
                                  <a:solidFill>
                                    <a:schemeClr val="tx1"/>
                                  </a:solidFill>
                                  <a:latin typeface="Cambria Math" panose="02040503050406030204" pitchFamily="18" charset="0"/>
                                </a:rPr>
                                <m:t>𝑑</m:t>
                              </m:r>
                              <m:sSup>
                                <m:sSupPr>
                                  <m:ctrlPr>
                                    <a:rPr lang="en-US" altLang="zh-CN" sz="1200" b="0" i="1" dirty="0" smtClean="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𝜉</m:t>
                                  </m:r>
                                </m:e>
                                <m:sup>
                                  <m:r>
                                    <a:rPr lang="en-US" altLang="zh-CN" sz="1200" b="0" i="1" dirty="0" smtClean="0">
                                      <a:solidFill>
                                        <a:schemeClr val="tx1"/>
                                      </a:solidFill>
                                      <a:latin typeface="Cambria Math" panose="02040503050406030204" pitchFamily="18" charset="0"/>
                                    </a:rPr>
                                    <m:t>′</m:t>
                                  </m:r>
                                </m:sup>
                              </m:sSup>
                            </m:e>
                          </m:nary>
                          <m:r>
                            <a:rPr lang="en-US" altLang="zh-CN" sz="1200" b="0" i="1" dirty="0" smtClean="0">
                              <a:solidFill>
                                <a:schemeClr val="tx1"/>
                              </a:solidFill>
                              <a:latin typeface="Cambria Math" panose="02040503050406030204" pitchFamily="18" charset="0"/>
                            </a:rPr>
                            <m:t>𝑑</m:t>
                          </m:r>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𝑞</m:t>
                              </m:r>
                            </m:e>
                            <m:sup>
                              <m:r>
                                <a:rPr lang="en-US" altLang="zh-CN" sz="1200" b="0" i="1" dirty="0" smtClean="0">
                                  <a:solidFill>
                                    <a:schemeClr val="tx1"/>
                                  </a:solidFill>
                                  <a:latin typeface="Cambria Math" panose="02040503050406030204" pitchFamily="18" charset="0"/>
                                </a:rPr>
                                <m:t>′</m:t>
                              </m:r>
                            </m:sup>
                          </m:sSup>
                        </m:e>
                      </m:nary>
                    </m:oMath>
                  </m:oMathPara>
                </a14:m>
                <a:endParaRPr lang="en-US" altLang="zh-CN" sz="12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func>
                        <m:funcPr>
                          <m:ctrlPr>
                            <a:rPr lang="en-US" altLang="zh-CN" sz="1200" i="1" dirty="0" smtClean="0">
                              <a:solidFill>
                                <a:schemeClr val="tx1"/>
                              </a:solidFill>
                              <a:latin typeface="Cambria Math" panose="02040503050406030204" pitchFamily="18" charset="0"/>
                            </a:rPr>
                          </m:ctrlPr>
                        </m:funcPr>
                        <m:fName>
                          <m:limLow>
                            <m:limLowPr>
                              <m:ctrlPr>
                                <a:rPr lang="en-US" altLang="zh-CN" sz="1200" i="1" dirty="0" smtClean="0">
                                  <a:solidFill>
                                    <a:schemeClr val="tx1"/>
                                  </a:solidFill>
                                  <a:latin typeface="Cambria Math" panose="02040503050406030204" pitchFamily="18" charset="0"/>
                                </a:rPr>
                              </m:ctrlPr>
                            </m:limLowPr>
                            <m:e>
                              <m:r>
                                <m:rPr>
                                  <m:sty m:val="p"/>
                                </m:rPr>
                                <a:rPr lang="en-US" altLang="zh-CN" sz="1200" i="0" dirty="0" smtClean="0">
                                  <a:solidFill>
                                    <a:schemeClr val="tx1"/>
                                  </a:solidFill>
                                  <a:latin typeface="Cambria Math" panose="02040503050406030204" pitchFamily="18" charset="0"/>
                                </a:rPr>
                                <m:t>lim</m:t>
                              </m:r>
                            </m:e>
                            <m:lim>
                              <m:r>
                                <m:rPr>
                                  <m:sty m:val="p"/>
                                </m:rPr>
                                <a:rPr lang="en-US" altLang="zh-CN" sz="1200" b="0" i="0" dirty="0" smtClean="0">
                                  <a:solidFill>
                                    <a:schemeClr val="tx1"/>
                                  </a:solidFill>
                                  <a:latin typeface="Cambria Math" panose="02040503050406030204" pitchFamily="18" charset="0"/>
                                </a:rPr>
                                <m:t>Δ</m:t>
                              </m:r>
                              <m:r>
                                <a:rPr lang="en-US" altLang="zh-CN" sz="1200" b="0" i="1" dirty="0" smtClean="0">
                                  <a:solidFill>
                                    <a:schemeClr val="tx1"/>
                                  </a:solidFill>
                                  <a:latin typeface="Cambria Math" panose="02040503050406030204" pitchFamily="18" charset="0"/>
                                </a:rPr>
                                <m:t>𝜏</m:t>
                              </m:r>
                              <m:r>
                                <a:rPr lang="en-US" altLang="zh-CN" sz="1200" b="0" i="1" dirty="0" smtClean="0">
                                  <a:solidFill>
                                    <a:schemeClr val="tx1"/>
                                  </a:solidFill>
                                  <a:latin typeface="Cambria Math" panose="02040503050406030204" pitchFamily="18" charset="0"/>
                                </a:rPr>
                                <m:t>→0</m:t>
                              </m:r>
                            </m:lim>
                          </m:limLow>
                        </m:fName>
                        <m:e>
                          <m:r>
                            <a:rPr lang="en-US" altLang="zh-CN" sz="1200" b="0" i="1" dirty="0" smtClean="0">
                              <a:solidFill>
                                <a:schemeClr val="tx1"/>
                              </a:solidFill>
                              <a:latin typeface="Cambria Math" panose="02040503050406030204" pitchFamily="18" charset="0"/>
                            </a:rPr>
                            <m:t>𝑃</m:t>
                          </m:r>
                          <m:d>
                            <m:dPr>
                              <m:ctrlPr>
                                <a:rPr lang="en-US" altLang="zh-CN" sz="1200" b="0" i="1" dirty="0" smtClean="0">
                                  <a:solidFill>
                                    <a:schemeClr val="tx1"/>
                                  </a:solidFill>
                                  <a:latin typeface="Cambria Math" panose="02040503050406030204" pitchFamily="18" charset="0"/>
                                </a:rPr>
                              </m:ctrlPr>
                            </m:dPr>
                            <m:e>
                              <m:r>
                                <a:rPr lang="en-US" altLang="zh-CN" sz="1200" b="0" i="1" dirty="0" smtClean="0">
                                  <a:solidFill>
                                    <a:schemeClr val="tx1"/>
                                  </a:solidFill>
                                  <a:latin typeface="Cambria Math" panose="02040503050406030204" pitchFamily="18" charset="0"/>
                                </a:rPr>
                                <m:t>𝐴</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𝐵</m:t>
                              </m:r>
                            </m:e>
                          </m:d>
                        </m:e>
                      </m:func>
                      <m:r>
                        <a:rPr lang="en-US" altLang="zh-CN" sz="1200" b="0" i="1" dirty="0" smtClean="0">
                          <a:solidFill>
                            <a:schemeClr val="tx1"/>
                          </a:solidFill>
                          <a:latin typeface="Cambria Math" panose="02040503050406030204" pitchFamily="18" charset="0"/>
                        </a:rPr>
                        <m:t>=</m:t>
                      </m:r>
                      <m:func>
                        <m:funcPr>
                          <m:ctrlPr>
                            <a:rPr lang="en-US" altLang="zh-CN" sz="1200" i="1" dirty="0">
                              <a:solidFill>
                                <a:schemeClr val="tx1"/>
                              </a:solidFill>
                              <a:latin typeface="Cambria Math" panose="02040503050406030204" pitchFamily="18" charset="0"/>
                            </a:rPr>
                          </m:ctrlPr>
                        </m:funcPr>
                        <m:fName>
                          <m:limLow>
                            <m:limLowPr>
                              <m:ctrlPr>
                                <a:rPr lang="en-US" altLang="zh-CN" sz="1200" i="1" dirty="0">
                                  <a:solidFill>
                                    <a:schemeClr val="tx1"/>
                                  </a:solidFill>
                                  <a:latin typeface="Cambria Math" panose="02040503050406030204" pitchFamily="18" charset="0"/>
                                </a:rPr>
                              </m:ctrlPr>
                            </m:limLowPr>
                            <m:e>
                              <m:r>
                                <m:rPr>
                                  <m:sty m:val="p"/>
                                </m:rPr>
                                <a:rPr lang="en-US" altLang="zh-CN" sz="1200" dirty="0">
                                  <a:solidFill>
                                    <a:schemeClr val="tx1"/>
                                  </a:solidFill>
                                  <a:latin typeface="Cambria Math" panose="02040503050406030204" pitchFamily="18" charset="0"/>
                                </a:rPr>
                                <m:t>lim</m:t>
                              </m:r>
                            </m:e>
                            <m:lim>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r>
                                <a:rPr lang="en-US" altLang="zh-CN" sz="1200" i="1" dirty="0">
                                  <a:solidFill>
                                    <a:schemeClr val="tx1"/>
                                  </a:solidFill>
                                  <a:latin typeface="Cambria Math" panose="02040503050406030204" pitchFamily="18" charset="0"/>
                                </a:rPr>
                                <m:t>→0</m:t>
                              </m:r>
                            </m:lim>
                          </m:limLow>
                        </m:fName>
                        <m:e>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e>
                      </m:func>
                      <m:nary>
                        <m:naryPr>
                          <m:ctrlPr>
                            <a:rPr lang="en-US" altLang="zh-CN" sz="1200" i="1" dirty="0">
                              <a:solidFill>
                                <a:schemeClr val="tx1"/>
                              </a:solidFill>
                              <a:latin typeface="Cambria Math" panose="02040503050406030204" pitchFamily="18" charset="0"/>
                            </a:rPr>
                          </m:ctrlPr>
                        </m:naryPr>
                        <m:sub>
                          <m:r>
                            <a:rPr lang="en-US" altLang="zh-CN" sz="1200" i="1" dirty="0">
                              <a:solidFill>
                                <a:schemeClr val="tx1"/>
                              </a:solidFill>
                              <a:latin typeface="Cambria Math" panose="02040503050406030204" pitchFamily="18" charset="0"/>
                            </a:rPr>
                            <m:t>𝜇</m:t>
                          </m:r>
                        </m:sub>
                        <m:sup>
                          <m:r>
                            <a:rPr lang="en-US" altLang="zh-CN" sz="1200" i="1" dirty="0">
                              <a:solidFill>
                                <a:schemeClr val="tx1"/>
                              </a:solidFill>
                              <a:latin typeface="Cambria Math" panose="02040503050406030204" pitchFamily="18" charset="0"/>
                            </a:rPr>
                            <m:t>+∞</m:t>
                          </m:r>
                        </m:sup>
                        <m:e>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𝑞</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e>
                          </m:d>
                          <m:r>
                            <a:rPr lang="en-US" altLang="zh-CN" sz="1200" b="0" i="1" dirty="0" smtClean="0">
                              <a:solidFill>
                                <a:schemeClr val="tx1"/>
                              </a:solidFill>
                              <a:latin typeface="Cambria Math" panose="02040503050406030204" pitchFamily="18" charset="0"/>
                            </a:rPr>
                            <m:t> </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𝑃</m:t>
                              </m:r>
                            </m:e>
                            <m:sub>
                              <m:r>
                                <a:rPr lang="en-US" altLang="zh-CN" sz="1200" i="1" dirty="0">
                                  <a:solidFill>
                                    <a:schemeClr val="tx1"/>
                                  </a:solidFill>
                                  <a:latin typeface="Cambria Math" panose="02040503050406030204" pitchFamily="18" charset="0"/>
                                </a:rPr>
                                <m:t>3</m:t>
                              </m:r>
                            </m:sub>
                          </m:sSub>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r>
                                <a:rPr lang="en-US" altLang="zh-CN" sz="1200" i="1" dirty="0">
                                  <a:solidFill>
                                    <a:schemeClr val="tx1"/>
                                  </a:solidFill>
                                  <a:latin typeface="Cambria Math" panose="02040503050406030204" pitchFamily="18" charset="0"/>
                                </a:rPr>
                                <m:t>,</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𝐹</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i="1" dirty="0">
                              <a:solidFill>
                                <a:schemeClr val="tx1"/>
                              </a:solidFill>
                              <a:latin typeface="Cambria Math" panose="02040503050406030204" pitchFamily="18" charset="0"/>
                            </a:rPr>
                            <m:t>𝑑</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e>
                      </m:nary>
                    </m:oMath>
                  </m:oMathPara>
                </a14:m>
                <a:endParaRPr lang="en-US" altLang="zh-CN" sz="1200"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func>
                        <m:funcPr>
                          <m:ctrlPr>
                            <a:rPr lang="en-US" altLang="zh-CN" sz="1200" i="1" dirty="0">
                              <a:solidFill>
                                <a:schemeClr val="tx1"/>
                              </a:solidFill>
                              <a:latin typeface="Cambria Math" panose="02040503050406030204" pitchFamily="18" charset="0"/>
                            </a:rPr>
                          </m:ctrlPr>
                        </m:funcPr>
                        <m:fName>
                          <m:limLow>
                            <m:limLowPr>
                              <m:ctrlPr>
                                <a:rPr lang="en-US" altLang="zh-CN" sz="1200" i="1" dirty="0">
                                  <a:solidFill>
                                    <a:schemeClr val="tx1"/>
                                  </a:solidFill>
                                  <a:latin typeface="Cambria Math" panose="02040503050406030204" pitchFamily="18" charset="0"/>
                                </a:rPr>
                              </m:ctrlPr>
                            </m:limLowPr>
                            <m:e>
                              <m:r>
                                <m:rPr>
                                  <m:sty m:val="p"/>
                                </m:rPr>
                                <a:rPr lang="en-US" altLang="zh-CN" sz="1200" dirty="0">
                                  <a:solidFill>
                                    <a:schemeClr val="tx1"/>
                                  </a:solidFill>
                                  <a:latin typeface="Cambria Math" panose="02040503050406030204" pitchFamily="18" charset="0"/>
                                </a:rPr>
                                <m:t>lim</m:t>
                              </m:r>
                            </m:e>
                            <m:lim>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r>
                                <a:rPr lang="en-US" altLang="zh-CN" sz="1200" i="1" dirty="0">
                                  <a:solidFill>
                                    <a:schemeClr val="tx1"/>
                                  </a:solidFill>
                                  <a:latin typeface="Cambria Math" panose="02040503050406030204" pitchFamily="18" charset="0"/>
                                </a:rPr>
                                <m:t>→0</m:t>
                              </m:r>
                            </m:lim>
                          </m:limLow>
                        </m:fName>
                        <m:e>
                          <m:r>
                            <a:rPr lang="en-US" altLang="zh-CN" sz="1200" i="1" dirty="0">
                              <a:solidFill>
                                <a:schemeClr val="tx1"/>
                              </a:solidFill>
                              <a:latin typeface="Cambria Math" panose="02040503050406030204" pitchFamily="18" charset="0"/>
                            </a:rPr>
                            <m:t>𝑔</m:t>
                          </m:r>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𝜏</m:t>
                              </m:r>
                            </m:e>
                          </m:d>
                          <m:r>
                            <m:rPr>
                              <m:sty m:val="p"/>
                            </m:rPr>
                            <a:rPr lang="en-US" altLang="zh-CN" sz="1200" dirty="0">
                              <a:solidFill>
                                <a:schemeClr val="tx1"/>
                              </a:solidFill>
                              <a:latin typeface="Cambria Math" panose="02040503050406030204" pitchFamily="18" charset="0"/>
                            </a:rPr>
                            <m:t>Δ</m:t>
                          </m:r>
                          <m:r>
                            <a:rPr lang="en-US" altLang="zh-CN" sz="1200" i="1" dirty="0">
                              <a:solidFill>
                                <a:schemeClr val="tx1"/>
                              </a:solidFill>
                              <a:latin typeface="Cambria Math" panose="02040503050406030204" pitchFamily="18" charset="0"/>
                            </a:rPr>
                            <m:t>𝜏</m:t>
                          </m:r>
                        </m:e>
                      </m:func>
                      <m:r>
                        <a:rPr lang="en-US" altLang="zh-CN" sz="1200" b="0" i="1" dirty="0" smtClean="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𝑔</m:t>
                      </m:r>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𝜏</m:t>
                          </m:r>
                        </m:e>
                      </m:d>
                      <m:r>
                        <m:rPr>
                          <m:sty m:val="p"/>
                        </m:rPr>
                        <a:rPr lang="en-US" altLang="zh-CN" sz="1200" i="1" dirty="0">
                          <a:solidFill>
                            <a:schemeClr val="tx1"/>
                          </a:solidFill>
                          <a:latin typeface="Cambria Math" panose="02040503050406030204" pitchFamily="18" charset="0"/>
                        </a:rPr>
                        <m:t>d</m:t>
                      </m:r>
                      <m:r>
                        <a:rPr lang="en-US" altLang="zh-CN" sz="1200" i="1" dirty="0">
                          <a:solidFill>
                            <a:schemeClr val="tx1"/>
                          </a:solidFill>
                          <a:latin typeface="Cambria Math" panose="02040503050406030204" pitchFamily="18" charset="0"/>
                        </a:rPr>
                        <m:t>𝜏</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𝑃</m:t>
                      </m:r>
                      <m:d>
                        <m:dPr>
                          <m:ctrlPr>
                            <a:rPr lang="en-US" altLang="zh-CN" sz="1200" b="0" i="1" dirty="0" smtClean="0">
                              <a:solidFill>
                                <a:schemeClr val="tx1"/>
                              </a:solidFill>
                              <a:latin typeface="Cambria Math" panose="02040503050406030204" pitchFamily="18" charset="0"/>
                            </a:rPr>
                          </m:ctrlPr>
                        </m:dPr>
                        <m:e>
                          <m:r>
                            <a:rPr lang="en-US" altLang="zh-CN" sz="1200" b="0" i="1" dirty="0" smtClean="0">
                              <a:solidFill>
                                <a:schemeClr val="tx1"/>
                              </a:solidFill>
                              <a:latin typeface="Cambria Math" panose="02040503050406030204" pitchFamily="18" charset="0"/>
                            </a:rPr>
                            <m:t>𝐵</m:t>
                          </m:r>
                        </m:e>
                        <m:e>
                          <m:r>
                            <a:rPr lang="en-US" altLang="zh-CN" sz="1200" b="0" i="1" dirty="0" smtClean="0">
                              <a:solidFill>
                                <a:schemeClr val="tx1"/>
                              </a:solidFill>
                              <a:latin typeface="Cambria Math" panose="02040503050406030204" pitchFamily="18" charset="0"/>
                            </a:rPr>
                            <m:t>𝐴</m:t>
                          </m:r>
                        </m:e>
                      </m:d>
                      <m:r>
                        <a:rPr lang="en-US" altLang="zh-CN" sz="1200" b="0" i="1" dirty="0" smtClean="0">
                          <a:solidFill>
                            <a:schemeClr val="tx1"/>
                          </a:solidFill>
                          <a:latin typeface="Cambria Math" panose="02040503050406030204" pitchFamily="18" charset="0"/>
                        </a:rPr>
                        <m:t>=</m:t>
                      </m:r>
                      <m:f>
                        <m:fPr>
                          <m:ctrlPr>
                            <a:rPr lang="en-US" altLang="zh-CN" sz="1200" b="0" i="1" dirty="0" smtClean="0">
                              <a:solidFill>
                                <a:schemeClr val="tx1"/>
                              </a:solidFill>
                              <a:latin typeface="Cambria Math" panose="02040503050406030204" pitchFamily="18" charset="0"/>
                            </a:rPr>
                          </m:ctrlPr>
                        </m:fPr>
                        <m:num>
                          <m:r>
                            <a:rPr lang="en-US" altLang="zh-CN" sz="1200" b="0" i="1" dirty="0" smtClean="0">
                              <a:solidFill>
                                <a:schemeClr val="tx1"/>
                              </a:solidFill>
                              <a:latin typeface="Cambria Math" panose="02040503050406030204" pitchFamily="18" charset="0"/>
                            </a:rPr>
                            <m:t>𝑃</m:t>
                          </m:r>
                          <m:d>
                            <m:dPr>
                              <m:ctrlPr>
                                <a:rPr lang="en-US" altLang="zh-CN" sz="1200" b="0" i="1" dirty="0" smtClean="0">
                                  <a:solidFill>
                                    <a:schemeClr val="tx1"/>
                                  </a:solidFill>
                                  <a:latin typeface="Cambria Math" panose="02040503050406030204" pitchFamily="18" charset="0"/>
                                </a:rPr>
                              </m:ctrlPr>
                            </m:dPr>
                            <m:e>
                              <m:r>
                                <a:rPr lang="en-US" altLang="zh-CN" sz="1200" b="0" i="1" dirty="0" smtClean="0">
                                  <a:solidFill>
                                    <a:schemeClr val="tx1"/>
                                  </a:solidFill>
                                  <a:latin typeface="Cambria Math" panose="02040503050406030204" pitchFamily="18" charset="0"/>
                                </a:rPr>
                                <m:t>𝐴</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𝐵</m:t>
                              </m:r>
                            </m:e>
                          </m:d>
                        </m:num>
                        <m:den>
                          <m:r>
                            <a:rPr lang="en-US" altLang="zh-CN" sz="1200" b="0" i="1" dirty="0" smtClean="0">
                              <a:solidFill>
                                <a:schemeClr val="tx1"/>
                              </a:solidFill>
                              <a:latin typeface="Cambria Math" panose="02040503050406030204" pitchFamily="18" charset="0"/>
                            </a:rPr>
                            <m:t>𝑃</m:t>
                          </m:r>
                          <m:d>
                            <m:dPr>
                              <m:ctrlPr>
                                <a:rPr lang="en-US" altLang="zh-CN" sz="1200" b="0" i="1" dirty="0" smtClean="0">
                                  <a:solidFill>
                                    <a:schemeClr val="tx1"/>
                                  </a:solidFill>
                                  <a:latin typeface="Cambria Math" panose="02040503050406030204" pitchFamily="18" charset="0"/>
                                </a:rPr>
                              </m:ctrlPr>
                            </m:dPr>
                            <m:e>
                              <m:r>
                                <m:rPr>
                                  <m:sty m:val="p"/>
                                </m:rPr>
                                <a:rPr lang="en-US" altLang="zh-CN" sz="1200" i="1" dirty="0">
                                  <a:solidFill>
                                    <a:schemeClr val="tx1"/>
                                  </a:solidFill>
                                  <a:latin typeface="Cambria Math" panose="02040503050406030204" pitchFamily="18" charset="0"/>
                                </a:rPr>
                                <m:t>A</m:t>
                              </m:r>
                            </m:e>
                          </m:d>
                        </m:den>
                      </m:f>
                      <m:r>
                        <a:rPr lang="en-US" altLang="zh-CN" sz="1200" b="0" i="1" dirty="0" smtClean="0">
                          <a:solidFill>
                            <a:schemeClr val="tx1"/>
                          </a:solidFill>
                          <a:latin typeface="Cambria Math" panose="02040503050406030204" pitchFamily="18" charset="0"/>
                        </a:rPr>
                        <m:t>=</m:t>
                      </m:r>
                      <m:f>
                        <m:fPr>
                          <m:ctrlPr>
                            <a:rPr lang="en-US" altLang="zh-CN" sz="1200" b="0" i="1" dirty="0" smtClean="0">
                              <a:solidFill>
                                <a:schemeClr val="tx1"/>
                              </a:solidFill>
                              <a:latin typeface="Cambria Math" panose="02040503050406030204" pitchFamily="18" charset="0"/>
                            </a:rPr>
                          </m:ctrlPr>
                        </m:fPr>
                        <m:num>
                          <m:nary>
                            <m:naryPr>
                              <m:ctrlPr>
                                <a:rPr lang="en-US" altLang="zh-CN" sz="1200" i="1" dirty="0">
                                  <a:solidFill>
                                    <a:schemeClr val="tx1"/>
                                  </a:solidFill>
                                  <a:latin typeface="Cambria Math" panose="02040503050406030204" pitchFamily="18" charset="0"/>
                                </a:rPr>
                              </m:ctrlPr>
                            </m:naryPr>
                            <m:sub>
                              <m:r>
                                <a:rPr lang="en-US" altLang="zh-CN" sz="1200" i="1" dirty="0">
                                  <a:solidFill>
                                    <a:schemeClr val="tx1"/>
                                  </a:solidFill>
                                  <a:latin typeface="Cambria Math" panose="02040503050406030204" pitchFamily="18" charset="0"/>
                                </a:rPr>
                                <m:t>𝜇</m:t>
                              </m:r>
                            </m:sub>
                            <m:sup>
                              <m:r>
                                <a:rPr lang="en-US" altLang="zh-CN" sz="1200" i="1" dirty="0">
                                  <a:solidFill>
                                    <a:schemeClr val="tx1"/>
                                  </a:solidFill>
                                  <a:latin typeface="Cambria Math" panose="02040503050406030204" pitchFamily="18" charset="0"/>
                                </a:rPr>
                                <m:t>+∞</m:t>
                              </m:r>
                            </m:sup>
                            <m:e>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𝑞</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e>
                              </m:d>
                              <m:r>
                                <a:rPr lang="en-US" altLang="zh-CN" sz="1200" b="0" i="1" dirty="0" smtClean="0">
                                  <a:solidFill>
                                    <a:schemeClr val="tx1"/>
                                  </a:solidFill>
                                  <a:latin typeface="Cambria Math" panose="02040503050406030204" pitchFamily="18" charset="0"/>
                                </a:rPr>
                                <m:t> </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𝑃</m:t>
                                  </m:r>
                                </m:e>
                                <m:sub>
                                  <m:r>
                                    <a:rPr lang="en-US" altLang="zh-CN" sz="1200" i="1" dirty="0">
                                      <a:solidFill>
                                        <a:schemeClr val="tx1"/>
                                      </a:solidFill>
                                      <a:latin typeface="Cambria Math" panose="02040503050406030204" pitchFamily="18" charset="0"/>
                                    </a:rPr>
                                    <m:t>3</m:t>
                                  </m:r>
                                </m:sub>
                              </m:sSub>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r>
                                    <a:rPr lang="en-US" altLang="zh-CN" sz="1200" i="1" dirty="0">
                                      <a:solidFill>
                                        <a:schemeClr val="tx1"/>
                                      </a:solidFill>
                                      <a:latin typeface="Cambria Math" panose="02040503050406030204" pitchFamily="18" charset="0"/>
                                    </a:rPr>
                                    <m:t>,</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𝐹</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i="1" dirty="0">
                                  <a:solidFill>
                                    <a:schemeClr val="tx1"/>
                                  </a:solidFill>
                                  <a:latin typeface="Cambria Math" panose="02040503050406030204" pitchFamily="18" charset="0"/>
                                </a:rPr>
                                <m:t>𝑑</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e>
                          </m:nary>
                        </m:num>
                        <m:den>
                          <m:nary>
                            <m:naryPr>
                              <m:ctrlPr>
                                <a:rPr lang="en-US" altLang="zh-CN" sz="1200" i="1" dirty="0">
                                  <a:solidFill>
                                    <a:schemeClr val="tx1"/>
                                  </a:solidFill>
                                  <a:latin typeface="Cambria Math" panose="02040503050406030204" pitchFamily="18" charset="0"/>
                                </a:rPr>
                              </m:ctrlPr>
                            </m:naryPr>
                            <m:sub>
                              <m:r>
                                <a:rPr lang="en-US" altLang="zh-CN" sz="1200" i="1" dirty="0">
                                  <a:solidFill>
                                    <a:schemeClr val="tx1"/>
                                  </a:solidFill>
                                  <a:latin typeface="Cambria Math" panose="02040503050406030204" pitchFamily="18" charset="0"/>
                                </a:rPr>
                                <m:t>−∞</m:t>
                              </m:r>
                            </m:sub>
                            <m:sup>
                              <m:r>
                                <a:rPr lang="en-US" altLang="zh-CN" sz="1200" i="1" dirty="0">
                                  <a:solidFill>
                                    <a:schemeClr val="tx1"/>
                                  </a:solidFill>
                                  <a:latin typeface="Cambria Math" panose="02040503050406030204" pitchFamily="18" charset="0"/>
                                </a:rPr>
                                <m:t>+∞</m:t>
                              </m:r>
                            </m:sup>
                            <m:e>
                              <m:nary>
                                <m:naryPr>
                                  <m:ctrlPr>
                                    <a:rPr lang="en-US" altLang="zh-CN" sz="1200" i="1" dirty="0">
                                      <a:solidFill>
                                        <a:schemeClr val="tx1"/>
                                      </a:solidFill>
                                      <a:latin typeface="Cambria Math" panose="02040503050406030204" pitchFamily="18" charset="0"/>
                                    </a:rPr>
                                  </m:ctrlPr>
                                </m:naryPr>
                                <m:sub>
                                  <m:r>
                                    <a:rPr lang="en-US" altLang="zh-CN" sz="1200" i="1" dirty="0">
                                      <a:solidFill>
                                        <a:schemeClr val="tx1"/>
                                      </a:solidFill>
                                      <a:latin typeface="Cambria Math" panose="02040503050406030204" pitchFamily="18" charset="0"/>
                                    </a:rPr>
                                    <m:t>−∞ </m:t>
                                  </m:r>
                                </m:sub>
                                <m:sup>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sup>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𝑃</m:t>
                                      </m:r>
                                    </m:e>
                                    <m:sub>
                                      <m:r>
                                        <a:rPr lang="en-US" altLang="zh-CN" sz="1200" i="1" dirty="0">
                                          <a:solidFill>
                                            <a:schemeClr val="tx1"/>
                                          </a:solidFill>
                                          <a:latin typeface="Cambria Math" panose="02040503050406030204" pitchFamily="18" charset="0"/>
                                        </a:rPr>
                                        <m:t>3</m:t>
                                      </m:r>
                                    </m:sub>
                                  </m:sSub>
                                  <m:d>
                                    <m:dPr>
                                      <m:ctrlPr>
                                        <a:rPr lang="en-US" altLang="zh-CN" sz="1200" i="1" dirty="0">
                                          <a:solidFill>
                                            <a:schemeClr val="tx1"/>
                                          </a:solidFill>
                                          <a:latin typeface="Cambria Math" panose="02040503050406030204" pitchFamily="18" charset="0"/>
                                        </a:rPr>
                                      </m:ctrlPr>
                                    </m:dPr>
                                    <m:e>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𝜉</m:t>
                                          </m:r>
                                        </m:e>
                                        <m:sup>
                                          <m:r>
                                            <a:rPr lang="en-US" altLang="zh-CN" sz="1200" i="1" dirty="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𝐹</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i="1" dirty="0">
                                      <a:solidFill>
                                        <a:schemeClr val="tx1"/>
                                      </a:solidFill>
                                      <a:latin typeface="Cambria Math" panose="02040503050406030204" pitchFamily="18" charset="0"/>
                                    </a:rPr>
                                    <m:t>𝑑</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𝜉</m:t>
                                      </m:r>
                                    </m:e>
                                    <m:sup>
                                      <m:r>
                                        <a:rPr lang="en-US" altLang="zh-CN" sz="1200" i="1" dirty="0">
                                          <a:solidFill>
                                            <a:schemeClr val="tx1"/>
                                          </a:solidFill>
                                          <a:latin typeface="Cambria Math" panose="02040503050406030204" pitchFamily="18" charset="0"/>
                                        </a:rPr>
                                        <m:t>′</m:t>
                                      </m:r>
                                    </m:sup>
                                  </m:sSup>
                                </m:e>
                              </m:nary>
                              <m:r>
                                <a:rPr lang="en-US" altLang="zh-CN" sz="1200" i="1" dirty="0">
                                  <a:solidFill>
                                    <a:schemeClr val="tx1"/>
                                  </a:solidFill>
                                  <a:latin typeface="Cambria Math" panose="02040503050406030204" pitchFamily="18" charset="0"/>
                                </a:rPr>
                                <m:t>𝑑</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e>
                          </m:nary>
                        </m:den>
                      </m:f>
                      <m:r>
                        <a:rPr lang="en-US" altLang="zh-CN" sz="1200" i="1" dirty="0">
                          <a:solidFill>
                            <a:schemeClr val="tx1"/>
                          </a:solidFill>
                          <a:latin typeface="Cambria Math" panose="02040503050406030204" pitchFamily="18" charset="0"/>
                        </a:rPr>
                        <m:t>𝑑</m:t>
                      </m:r>
                      <m:r>
                        <a:rPr lang="en-US" altLang="zh-CN" sz="1200" i="1" dirty="0">
                          <a:solidFill>
                            <a:schemeClr val="tx1"/>
                          </a:solidFill>
                          <a:latin typeface="Cambria Math" panose="02040503050406030204" pitchFamily="18" charset="0"/>
                        </a:rPr>
                        <m:t>𝜏</m:t>
                      </m:r>
                    </m:oMath>
                  </m:oMathPara>
                </a14:m>
                <a:endParaRPr lang="en-US" altLang="zh-CN" sz="1200"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𝑃</m:t>
                          </m:r>
                        </m:e>
                        <m:sub>
                          <m:r>
                            <a:rPr lang="en-US" altLang="zh-CN" sz="1200" b="0" i="1" dirty="0" smtClean="0">
                              <a:solidFill>
                                <a:schemeClr val="tx1"/>
                              </a:solidFill>
                              <a:latin typeface="Cambria Math" panose="02040503050406030204" pitchFamily="18" charset="0"/>
                            </a:rPr>
                            <m:t>3</m:t>
                          </m:r>
                        </m:sub>
                      </m:sSub>
                      <m:d>
                        <m:dPr>
                          <m:ctrlPr>
                            <a:rPr lang="en-US" altLang="zh-CN" sz="1200" b="0" i="1" dirty="0" smtClean="0">
                              <a:solidFill>
                                <a:schemeClr val="tx1"/>
                              </a:solidFill>
                              <a:latin typeface="Cambria Math" panose="02040503050406030204" pitchFamily="18" charset="0"/>
                            </a:rPr>
                          </m:ctrlPr>
                        </m:dPr>
                        <m:e>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𝜉</m:t>
                              </m:r>
                            </m:e>
                            <m:sup>
                              <m:r>
                                <a:rPr lang="en-US" altLang="zh-CN" sz="1200" b="0" i="1" dirty="0" smtClean="0">
                                  <a:solidFill>
                                    <a:schemeClr val="tx1"/>
                                  </a:solidFill>
                                  <a:latin typeface="Cambria Math" panose="02040503050406030204" pitchFamily="18" charset="0"/>
                                </a:rPr>
                                <m:t>′</m:t>
                              </m:r>
                            </m:sup>
                          </m:sSup>
                          <m:r>
                            <a:rPr lang="en-US" altLang="zh-CN" sz="1200" b="0" i="1" dirty="0" smtClean="0">
                              <a:solidFill>
                                <a:schemeClr val="tx1"/>
                              </a:solidFill>
                              <a:latin typeface="Cambria Math" panose="02040503050406030204" pitchFamily="18" charset="0"/>
                            </a:rPr>
                            <m:t>,</m:t>
                          </m:r>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𝑞</m:t>
                              </m:r>
                            </m:e>
                            <m:sup>
                              <m:r>
                                <a:rPr lang="en-US" altLang="zh-CN" sz="1200" b="0" i="1" dirty="0" smtClean="0">
                                  <a:solidFill>
                                    <a:schemeClr val="tx1"/>
                                  </a:solidFill>
                                  <a:latin typeface="Cambria Math" panose="02040503050406030204" pitchFamily="18" charset="0"/>
                                </a:rPr>
                                <m:t>′</m:t>
                              </m:r>
                            </m:sup>
                          </m:sSup>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𝐹</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𝜏</m:t>
                          </m:r>
                        </m:e>
                      </m:d>
                      <m:r>
                        <a:rPr lang="zh-CN" altLang="en-US" sz="1200" i="1" dirty="0">
                          <a:solidFill>
                            <a:schemeClr val="tx1"/>
                          </a:solidFill>
                          <a:latin typeface="Cambria Math" panose="02040503050406030204" pitchFamily="18" charset="0"/>
                        </a:rPr>
                        <m:t>为：给定</m:t>
                      </m:r>
                      <m:r>
                        <a:rPr lang="en-US" altLang="zh-CN" sz="1200" b="0" i="1" dirty="0" smtClean="0">
                          <a:solidFill>
                            <a:schemeClr val="tx1"/>
                          </a:solidFill>
                          <a:latin typeface="Cambria Math" panose="02040503050406030204" pitchFamily="18" charset="0"/>
                        </a:rPr>
                        <m:t>𝐹</m:t>
                      </m:r>
                      <m:r>
                        <a:rPr lang="zh-CN" altLang="en-US" sz="1200" i="1" dirty="0">
                          <a:solidFill>
                            <a:schemeClr val="tx1"/>
                          </a:solidFill>
                          <a:latin typeface="Cambria Math" panose="02040503050406030204" pitchFamily="18" charset="0"/>
                        </a:rPr>
                        <m:t>，在</m:t>
                      </m:r>
                      <m:r>
                        <a:rPr lang="en-US" altLang="zh-CN" sz="1200" b="0" i="1" dirty="0" smtClean="0">
                          <a:solidFill>
                            <a:schemeClr val="tx1"/>
                          </a:solidFill>
                          <a:latin typeface="Cambria Math" panose="02040503050406030204" pitchFamily="18" charset="0"/>
                        </a:rPr>
                        <m:t>𝜏</m:t>
                      </m:r>
                      <m:r>
                        <a:rPr lang="zh-CN" altLang="en-US" sz="1200" i="1" dirty="0">
                          <a:solidFill>
                            <a:schemeClr val="tx1"/>
                          </a:solidFill>
                          <a:latin typeface="Cambria Math" panose="02040503050406030204" pitchFamily="18" charset="0"/>
                        </a:rPr>
                        <m:t>处</m:t>
                      </m:r>
                      <m:r>
                        <a:rPr lang="zh-CN" altLang="en-US" sz="1200" i="1" dirty="0" smtClean="0">
                          <a:solidFill>
                            <a:schemeClr val="tx1"/>
                          </a:solidFill>
                          <a:latin typeface="Cambria Math" panose="02040503050406030204" pitchFamily="18" charset="0"/>
                        </a:rPr>
                        <m:t>微面</m:t>
                      </m:r>
                      <m:r>
                        <a:rPr lang="zh-CN" altLang="en-US" sz="1200" i="1" dirty="0">
                          <a:solidFill>
                            <a:schemeClr val="tx1"/>
                          </a:solidFill>
                          <a:latin typeface="Cambria Math" panose="02040503050406030204" pitchFamily="18" charset="0"/>
                        </a:rPr>
                        <m:t>高</m:t>
                      </m:r>
                      <m:r>
                        <a:rPr lang="zh-CN" altLang="en-US" sz="1200" i="1" dirty="0" smtClean="0">
                          <a:solidFill>
                            <a:schemeClr val="tx1"/>
                          </a:solidFill>
                          <a:latin typeface="Cambria Math" panose="02040503050406030204" pitchFamily="18" charset="0"/>
                        </a:rPr>
                        <m:t>为</m:t>
                      </m:r>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𝜉</m:t>
                          </m:r>
                        </m:e>
                        <m:sup>
                          <m:r>
                            <a:rPr lang="en-US" altLang="zh-CN" sz="1200" b="0" i="1" dirty="0" smtClean="0">
                              <a:solidFill>
                                <a:schemeClr val="tx1"/>
                              </a:solidFill>
                              <a:latin typeface="Cambria Math" panose="02040503050406030204" pitchFamily="18" charset="0"/>
                            </a:rPr>
                            <m:t>′</m:t>
                          </m:r>
                        </m:sup>
                      </m:sSup>
                      <m:r>
                        <a:rPr lang="zh-CN" altLang="en-US" sz="1200" i="1" dirty="0">
                          <a:solidFill>
                            <a:schemeClr val="tx1"/>
                          </a:solidFill>
                          <a:latin typeface="Cambria Math" panose="02040503050406030204" pitchFamily="18" charset="0"/>
                        </a:rPr>
                        <m:t>且</m:t>
                      </m:r>
                      <m:r>
                        <a:rPr lang="zh-CN" altLang="en-US" sz="1200" i="1" dirty="0" smtClean="0">
                          <a:solidFill>
                            <a:schemeClr val="tx1"/>
                          </a:solidFill>
                          <a:latin typeface="Cambria Math" panose="02040503050406030204" pitchFamily="18" charset="0"/>
                        </a:rPr>
                        <m:t>斜率</m:t>
                      </m:r>
                      <m:r>
                        <a:rPr lang="zh-CN" altLang="en-US" sz="1200" i="1" dirty="0">
                          <a:solidFill>
                            <a:schemeClr val="tx1"/>
                          </a:solidFill>
                          <a:latin typeface="Cambria Math" panose="02040503050406030204" pitchFamily="18" charset="0"/>
                        </a:rPr>
                        <m:t>为</m:t>
                      </m:r>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𝑞</m:t>
                          </m:r>
                        </m:e>
                        <m:sup>
                          <m:r>
                            <a:rPr lang="en-US" altLang="zh-CN" sz="1200" b="0" i="1" dirty="0" smtClean="0">
                              <a:solidFill>
                                <a:schemeClr val="tx1"/>
                              </a:solidFill>
                              <a:latin typeface="Cambria Math" panose="02040503050406030204" pitchFamily="18" charset="0"/>
                            </a:rPr>
                            <m:t>′</m:t>
                          </m:r>
                        </m:sup>
                      </m:sSup>
                      <m:r>
                        <a:rPr lang="zh-CN" altLang="en-US" sz="1200" i="1" dirty="0">
                          <a:solidFill>
                            <a:schemeClr val="tx1"/>
                          </a:solidFill>
                          <a:latin typeface="Cambria Math" panose="02040503050406030204" pitchFamily="18" charset="0"/>
                        </a:rPr>
                        <m:t>的</m:t>
                      </m:r>
                      <m:r>
                        <a:rPr lang="zh-CN" altLang="en-US" sz="1200" i="1" dirty="0" smtClean="0">
                          <a:solidFill>
                            <a:schemeClr val="tx1"/>
                          </a:solidFill>
                          <a:latin typeface="Cambria Math" panose="02040503050406030204" pitchFamily="18" charset="0"/>
                        </a:rPr>
                        <m:t>联合概率</m:t>
                      </m:r>
                      <m:r>
                        <a:rPr lang="zh-CN" altLang="en-US" sz="1200" i="1" dirty="0">
                          <a:solidFill>
                            <a:schemeClr val="tx1"/>
                          </a:solidFill>
                          <a:latin typeface="Cambria Math" panose="02040503050406030204" pitchFamily="18" charset="0"/>
                        </a:rPr>
                        <m:t>密度</m:t>
                      </m:r>
                      <m:r>
                        <a:rPr lang="zh-CN" altLang="en-US" sz="1200" i="1" dirty="0" smtClean="0">
                          <a:solidFill>
                            <a:schemeClr val="tx1"/>
                          </a:solidFill>
                          <a:latin typeface="Cambria Math" panose="02040503050406030204" pitchFamily="18" charset="0"/>
                        </a:rPr>
                        <m:t>。</m:t>
                      </m:r>
                    </m:oMath>
                  </m:oMathPara>
                </a14:m>
                <a:endParaRPr lang="en-US" altLang="zh-CN" sz="1200" dirty="0">
                  <a:solidFill>
                    <a:schemeClr val="tx1"/>
                  </a:solidFill>
                </a:endParaRPr>
              </a:p>
              <a:p>
                <a:pPr algn="ctr">
                  <a:lnSpc>
                    <a:spcPct val="150000"/>
                  </a:lnSpc>
                </a:pPr>
                <a:r>
                  <a:rPr lang="zh-CN" altLang="en-US" sz="1200" dirty="0">
                    <a:solidFill>
                      <a:schemeClr val="tx1"/>
                    </a:solidFill>
                  </a:rPr>
                  <a:t>在</a:t>
                </a:r>
                <a:r>
                  <a:rPr lang="en-US" altLang="zh-CN" sz="1200" dirty="0">
                    <a:solidFill>
                      <a:schemeClr val="tx1"/>
                    </a:solidFill>
                  </a:rPr>
                  <a:t>Smith</a:t>
                </a:r>
                <a:r>
                  <a:rPr lang="zh-CN" altLang="en-US" sz="1200" dirty="0">
                    <a:solidFill>
                      <a:schemeClr val="tx1"/>
                    </a:solidFill>
                  </a:rPr>
                  <a:t>模型下，微面的高度</a:t>
                </a:r>
                <a:r>
                  <a:rPr lang="en-US" altLang="zh-CN" sz="1200" dirty="0">
                    <a:solidFill>
                      <a:schemeClr val="tx1"/>
                    </a:solidFill>
                  </a:rPr>
                  <a:t>(</a:t>
                </a:r>
                <a14:m>
                  <m:oMath xmlns:m="http://schemas.openxmlformats.org/officeDocument/2006/math">
                    <m:r>
                      <a:rPr lang="en-US" altLang="zh-CN" sz="1200" b="0" i="1" dirty="0" smtClean="0">
                        <a:solidFill>
                          <a:schemeClr val="tx1"/>
                        </a:solidFill>
                        <a:latin typeface="Cambria Math" panose="02040503050406030204" pitchFamily="18" charset="0"/>
                      </a:rPr>
                      <m:t>𝜉</m:t>
                    </m:r>
                  </m:oMath>
                </a14:m>
                <a:r>
                  <a:rPr lang="en-US" altLang="zh-CN" sz="1200" dirty="0">
                    <a:solidFill>
                      <a:schemeClr val="tx1"/>
                    </a:solidFill>
                  </a:rPr>
                  <a:t>)</a:t>
                </a:r>
                <a:r>
                  <a:rPr lang="zh-CN" altLang="en-US" sz="1200" dirty="0">
                    <a:solidFill>
                      <a:schemeClr val="tx1"/>
                    </a:solidFill>
                  </a:rPr>
                  <a:t>与法线朝向</a:t>
                </a:r>
                <a:r>
                  <a:rPr lang="en-US" altLang="zh-CN" sz="1200" dirty="0">
                    <a:solidFill>
                      <a:schemeClr val="tx1"/>
                    </a:solidFill>
                  </a:rPr>
                  <a:t>(</a:t>
                </a:r>
                <a:r>
                  <a:rPr lang="zh-CN" altLang="en-US" sz="1200" dirty="0">
                    <a:solidFill>
                      <a:schemeClr val="tx1"/>
                    </a:solidFill>
                  </a:rPr>
                  <a:t>微面斜率</a:t>
                </a:r>
                <a14:m>
                  <m:oMath xmlns:m="http://schemas.openxmlformats.org/officeDocument/2006/math">
                    <m:r>
                      <a:rPr lang="en-US" altLang="zh-CN" sz="1200" b="0" i="1" dirty="0" smtClean="0">
                        <a:solidFill>
                          <a:schemeClr val="tx1"/>
                        </a:solidFill>
                        <a:latin typeface="Cambria Math" panose="02040503050406030204" pitchFamily="18" charset="0"/>
                      </a:rPr>
                      <m:t>𝑞</m:t>
                    </m:r>
                    <m:r>
                      <a:rPr lang="en-US" altLang="zh-CN" sz="1200" b="0" i="1" dirty="0" smtClean="0">
                        <a:solidFill>
                          <a:schemeClr val="tx1"/>
                        </a:solidFill>
                        <a:latin typeface="Cambria Math" panose="02040503050406030204" pitchFamily="18" charset="0"/>
                      </a:rPr>
                      <m:t> </m:t>
                    </m:r>
                    <m:r>
                      <a:rPr lang="en-US" altLang="zh-CN" sz="1200" b="0" i="1" dirty="0" smtClean="0">
                        <a:solidFill>
                          <a:schemeClr val="tx1"/>
                        </a:solidFill>
                        <a:latin typeface="Cambria Math" panose="02040503050406030204" pitchFamily="18" charset="0"/>
                      </a:rPr>
                      <m:t>𝑜𝑟</m:t>
                    </m:r>
                    <m:r>
                      <a:rPr lang="en-US" altLang="zh-CN" sz="1200" b="0" i="1" dirty="0" smtClean="0">
                        <a:solidFill>
                          <a:schemeClr val="tx1"/>
                        </a:solidFill>
                        <a:latin typeface="Cambria Math" panose="02040503050406030204" pitchFamily="18" charset="0"/>
                      </a:rPr>
                      <m:t> </m:t>
                    </m:r>
                    <m:sSub>
                      <m:sSubPr>
                        <m:ctrlPr>
                          <a:rPr lang="en-US" altLang="zh-CN" sz="1200" b="0" i="1" dirty="0" smtClean="0">
                            <a:solidFill>
                              <a:schemeClr val="tx1"/>
                            </a:solidFill>
                            <a:latin typeface="Cambria Math" panose="02040503050406030204" pitchFamily="18" charset="0"/>
                          </a:rPr>
                        </m:ctrlPr>
                      </m:sSubPr>
                      <m:e>
                        <m:acc>
                          <m:accPr>
                            <m:chr m:val="̃"/>
                            <m:ctrlPr>
                              <a:rPr lang="en-US" altLang="zh-CN" sz="1200" b="0" i="1" dirty="0" smtClean="0">
                                <a:solidFill>
                                  <a:schemeClr val="tx1"/>
                                </a:solidFill>
                                <a:latin typeface="Cambria Math" panose="02040503050406030204" pitchFamily="18" charset="0"/>
                              </a:rPr>
                            </m:ctrlPr>
                          </m:accPr>
                          <m:e>
                            <m:r>
                              <m:rPr>
                                <m:sty m:val="p"/>
                              </m:rPr>
                              <a:rPr lang="en-US" altLang="zh-CN" sz="1200" b="0" i="1" dirty="0" smtClean="0">
                                <a:solidFill>
                                  <a:schemeClr val="tx1"/>
                                </a:solidFill>
                                <a:latin typeface="Cambria Math" panose="02040503050406030204" pitchFamily="18" charset="0"/>
                              </a:rPr>
                              <m:t>m</m:t>
                            </m:r>
                          </m:e>
                        </m:acc>
                      </m:e>
                      <m:sub>
                        <m:r>
                          <a:rPr lang="en-US" altLang="zh-CN" sz="1200" b="0" i="1" dirty="0" smtClean="0">
                            <a:solidFill>
                              <a:schemeClr val="tx1"/>
                            </a:solidFill>
                            <a:latin typeface="Cambria Math" panose="02040503050406030204" pitchFamily="18" charset="0"/>
                          </a:rPr>
                          <m:t>𝑥</m:t>
                        </m:r>
                      </m:sub>
                    </m:sSub>
                  </m:oMath>
                </a14:m>
                <a:r>
                  <a:rPr lang="en-US" altLang="zh-CN" sz="1200" dirty="0">
                    <a:solidFill>
                      <a:schemeClr val="tx1"/>
                    </a:solidFill>
                  </a:rPr>
                  <a:t>)</a:t>
                </a:r>
                <a:r>
                  <a:rPr lang="zh-CN" altLang="en-US" sz="1200" dirty="0">
                    <a:solidFill>
                      <a:schemeClr val="tx1"/>
                    </a:solidFill>
                  </a:rPr>
                  <a:t>是两个独立的随机变量。</a:t>
                </a:r>
                <a:endParaRPr lang="en-US" altLang="zh-CN" sz="1200" dirty="0">
                  <a:solidFill>
                    <a:schemeClr val="tx1"/>
                  </a:solidFill>
                </a:endParaRPr>
              </a:p>
              <a:p>
                <a:pPr algn="ctr">
                  <a:lnSpc>
                    <a:spcPct val="150000"/>
                  </a:lnSpc>
                </a:pPr>
                <a:r>
                  <a:rPr lang="zh-CN" altLang="en-US" sz="1200" dirty="0">
                    <a:solidFill>
                      <a:schemeClr val="tx1"/>
                    </a:solidFill>
                  </a:rPr>
                  <a:t>所以</a:t>
                </a:r>
                <a14:m>
                  <m:oMath xmlns:m="http://schemas.openxmlformats.org/officeDocument/2006/math">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𝑃</m:t>
                        </m:r>
                      </m:e>
                      <m:sub>
                        <m:r>
                          <a:rPr lang="en-US" altLang="zh-CN" sz="1200" i="1" dirty="0">
                            <a:solidFill>
                              <a:schemeClr val="tx1"/>
                            </a:solidFill>
                            <a:latin typeface="Cambria Math" panose="02040503050406030204" pitchFamily="18" charset="0"/>
                          </a:rPr>
                          <m:t>3</m:t>
                        </m:r>
                      </m:sub>
                    </m:sSub>
                    <m:d>
                      <m:dPr>
                        <m:ctrlPr>
                          <a:rPr lang="en-US" altLang="zh-CN" sz="1200" i="1" dirty="0">
                            <a:solidFill>
                              <a:schemeClr val="tx1"/>
                            </a:solidFill>
                            <a:latin typeface="Cambria Math" panose="02040503050406030204" pitchFamily="18" charset="0"/>
                          </a:rPr>
                        </m:ctrlPr>
                      </m:dPr>
                      <m:e>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𝜉</m:t>
                            </m:r>
                          </m:e>
                          <m:sup>
                            <m:r>
                              <a:rPr lang="en-US" altLang="zh-CN" sz="1200" i="1" dirty="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𝐹</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oMath>
                </a14:m>
                <a:r>
                  <a:rPr lang="zh-CN" altLang="en-US" sz="1200" dirty="0">
                    <a:solidFill>
                      <a:schemeClr val="tx1"/>
                    </a:solidFill>
                  </a:rPr>
                  <a:t>联合概率密度可以写成</a:t>
                </a:r>
                <a14:m>
                  <m:oMath xmlns:m="http://schemas.openxmlformats.org/officeDocument/2006/math">
                    <m:r>
                      <a:rPr lang="en-US" altLang="zh-CN" sz="1200" i="1" dirty="0">
                        <a:solidFill>
                          <a:schemeClr val="tx1"/>
                        </a:solidFill>
                        <a:latin typeface="Cambria Math" panose="02040503050406030204" pitchFamily="18" charset="0"/>
                      </a:rPr>
                      <m:t>𝜉</m:t>
                    </m:r>
                  </m:oMath>
                </a14:m>
                <a:r>
                  <a:rPr lang="zh-CN" altLang="en-US" sz="1200" dirty="0">
                    <a:solidFill>
                      <a:schemeClr val="tx1"/>
                    </a:solidFill>
                  </a:rPr>
                  <a:t>与</a:t>
                </a:r>
                <a14:m>
                  <m:oMath xmlns:m="http://schemas.openxmlformats.org/officeDocument/2006/math">
                    <m:r>
                      <a:rPr lang="en-US" altLang="zh-CN" sz="1200" i="1" dirty="0">
                        <a:solidFill>
                          <a:schemeClr val="tx1"/>
                        </a:solidFill>
                        <a:latin typeface="Cambria Math" panose="02040503050406030204" pitchFamily="18" charset="0"/>
                      </a:rPr>
                      <m:t>𝑞</m:t>
                    </m:r>
                  </m:oMath>
                </a14:m>
                <a:r>
                  <a:rPr lang="zh-CN" altLang="en-US" sz="1200" dirty="0">
                    <a:solidFill>
                      <a:schemeClr val="tx1"/>
                    </a:solidFill>
                  </a:rPr>
                  <a:t>各自的概率密度的乘积：</a:t>
                </a:r>
                <a:endParaRPr lang="en-US" altLang="zh-CN" sz="1200"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1200" i="1" dirty="0" smtClean="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𝑃</m:t>
                          </m:r>
                        </m:e>
                        <m:sub>
                          <m:r>
                            <a:rPr lang="en-US" altLang="zh-CN" sz="1200" i="1" dirty="0">
                              <a:solidFill>
                                <a:schemeClr val="tx1"/>
                              </a:solidFill>
                              <a:latin typeface="Cambria Math" panose="02040503050406030204" pitchFamily="18" charset="0"/>
                            </a:rPr>
                            <m:t>3</m:t>
                          </m:r>
                        </m:sub>
                      </m:sSub>
                      <m:d>
                        <m:dPr>
                          <m:ctrlPr>
                            <a:rPr lang="en-US" altLang="zh-CN" sz="1200" i="1" dirty="0">
                              <a:solidFill>
                                <a:schemeClr val="tx1"/>
                              </a:solidFill>
                              <a:latin typeface="Cambria Math" panose="02040503050406030204" pitchFamily="18" charset="0"/>
                            </a:rPr>
                          </m:ctrlPr>
                        </m:dPr>
                        <m:e>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𝜉</m:t>
                              </m:r>
                            </m:e>
                            <m:sup>
                              <m:r>
                                <a:rPr lang="en-US" altLang="zh-CN" sz="1200" i="1" dirty="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𝑞</m:t>
                              </m:r>
                            </m:e>
                            <m:sup>
                              <m:r>
                                <a:rPr lang="en-US" altLang="zh-CN" sz="1200" i="1" dirty="0">
                                  <a:solidFill>
                                    <a:schemeClr val="tx1"/>
                                  </a:solidFill>
                                  <a:latin typeface="Cambria Math" panose="02040503050406030204" pitchFamily="18" charset="0"/>
                                </a:rPr>
                                <m:t>′</m:t>
                              </m:r>
                            </m:sup>
                          </m:sSup>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𝐹</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b="0" i="1" dirty="0" smtClean="0">
                          <a:solidFill>
                            <a:schemeClr val="tx1"/>
                          </a:solidFill>
                          <a:latin typeface="Cambria Math" panose="02040503050406030204" pitchFamily="18" charset="0"/>
                        </a:rPr>
                        <m:t>=</m:t>
                      </m:r>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𝑃</m:t>
                          </m:r>
                        </m:e>
                        <m:sub>
                          <m:r>
                            <a:rPr lang="en-US" altLang="zh-CN" sz="1200" b="0" i="1" dirty="0" smtClean="0">
                              <a:solidFill>
                                <a:schemeClr val="tx1"/>
                              </a:solidFill>
                              <a:latin typeface="Cambria Math" panose="02040503050406030204" pitchFamily="18" charset="0"/>
                            </a:rPr>
                            <m:t>1</m:t>
                          </m:r>
                        </m:sub>
                      </m:sSub>
                      <m:d>
                        <m:dPr>
                          <m:ctrlPr>
                            <a:rPr lang="en-US" altLang="zh-CN" sz="1200" b="0" i="1" dirty="0" smtClean="0">
                              <a:solidFill>
                                <a:schemeClr val="tx1"/>
                              </a:solidFill>
                              <a:latin typeface="Cambria Math" panose="02040503050406030204" pitchFamily="18" charset="0"/>
                            </a:rPr>
                          </m:ctrlPr>
                        </m:dPr>
                        <m:e>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𝜉</m:t>
                              </m:r>
                            </m:e>
                            <m:sup>
                              <m:r>
                                <a:rPr lang="en-US" altLang="zh-CN" sz="1200" b="0" i="1" dirty="0" smtClean="0">
                                  <a:solidFill>
                                    <a:schemeClr val="tx1"/>
                                  </a:solidFill>
                                  <a:latin typeface="Cambria Math" panose="02040503050406030204" pitchFamily="18" charset="0"/>
                                </a:rPr>
                                <m:t>′</m:t>
                              </m:r>
                            </m:sup>
                          </m:sSup>
                        </m:e>
                        <m:e>
                          <m:r>
                            <a:rPr lang="en-US" altLang="zh-CN" sz="1200" b="0" i="1" dirty="0" smtClean="0">
                              <a:solidFill>
                                <a:schemeClr val="tx1"/>
                              </a:solidFill>
                              <a:latin typeface="Cambria Math" panose="02040503050406030204" pitchFamily="18" charset="0"/>
                            </a:rPr>
                            <m:t>𝐹</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𝜏</m:t>
                          </m:r>
                        </m:e>
                      </m:d>
                      <m:r>
                        <a:rPr lang="en-US" altLang="zh-CN" sz="1200" b="0" i="1" dirty="0" smtClean="0">
                          <a:solidFill>
                            <a:schemeClr val="tx1"/>
                          </a:solidFill>
                          <a:latin typeface="Cambria Math" panose="02040503050406030204" pitchFamily="18" charset="0"/>
                        </a:rPr>
                        <m:t> </m:t>
                      </m:r>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𝑃</m:t>
                          </m:r>
                        </m:e>
                        <m:sub>
                          <m:r>
                            <a:rPr lang="en-US" altLang="zh-CN" sz="1200" b="0" i="1" dirty="0" smtClean="0">
                              <a:solidFill>
                                <a:schemeClr val="tx1"/>
                              </a:solidFill>
                              <a:latin typeface="Cambria Math" panose="02040503050406030204" pitchFamily="18" charset="0"/>
                            </a:rPr>
                            <m:t>2</m:t>
                          </m:r>
                        </m:sub>
                      </m:sSub>
                      <m:r>
                        <a:rPr lang="en-US" altLang="zh-CN" sz="1200" b="0" i="1" dirty="0" smtClean="0">
                          <a:solidFill>
                            <a:schemeClr val="tx1"/>
                          </a:solidFill>
                          <a:latin typeface="Cambria Math" panose="02040503050406030204" pitchFamily="18" charset="0"/>
                        </a:rPr>
                        <m:t> </m:t>
                      </m:r>
                      <m:d>
                        <m:dPr>
                          <m:ctrlPr>
                            <a:rPr lang="en-US" altLang="zh-CN" sz="1200" b="0" i="1" dirty="0" smtClean="0">
                              <a:solidFill>
                                <a:schemeClr val="tx1"/>
                              </a:solidFill>
                              <a:latin typeface="Cambria Math" panose="02040503050406030204" pitchFamily="18" charset="0"/>
                            </a:rPr>
                          </m:ctrlPr>
                        </m:dPr>
                        <m:e>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𝑞</m:t>
                              </m:r>
                            </m:e>
                            <m:sup>
                              <m:r>
                                <a:rPr lang="en-US" altLang="zh-CN" sz="1200" b="0" i="1" dirty="0" smtClean="0">
                                  <a:solidFill>
                                    <a:schemeClr val="tx1"/>
                                  </a:solidFill>
                                  <a:latin typeface="Cambria Math" panose="02040503050406030204" pitchFamily="18" charset="0"/>
                                </a:rPr>
                                <m:t>′</m:t>
                              </m:r>
                            </m:sup>
                          </m:sSup>
                        </m:e>
                        <m:e>
                          <m:r>
                            <a:rPr lang="en-US" altLang="zh-CN" sz="1200" b="0" i="1" dirty="0" smtClean="0">
                              <a:solidFill>
                                <a:schemeClr val="tx1"/>
                              </a:solidFill>
                              <a:latin typeface="Cambria Math" panose="02040503050406030204" pitchFamily="18" charset="0"/>
                            </a:rPr>
                            <m:t>𝐹</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𝜏</m:t>
                          </m:r>
                        </m:e>
                      </m:d>
                    </m:oMath>
                  </m:oMathPara>
                </a14:m>
                <a:endParaRPr lang="en-US" altLang="zh-CN" sz="1200" b="0" dirty="0">
                  <a:solidFill>
                    <a:schemeClr val="tx1"/>
                  </a:solidFill>
                </a:endParaRPr>
              </a:p>
              <a:p>
                <a:pPr algn="ctr">
                  <a:lnSpc>
                    <a:spcPct val="150000"/>
                  </a:lnSpc>
                </a:pPr>
                <a:r>
                  <a:rPr lang="zh-CN" altLang="en-US" sz="1200" dirty="0">
                    <a:solidFill>
                      <a:schemeClr val="tx1"/>
                    </a:solidFill>
                  </a:rPr>
                  <a:t>其中</a:t>
                </a:r>
                <a14:m>
                  <m:oMath xmlns:m="http://schemas.openxmlformats.org/officeDocument/2006/math">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𝑃</m:t>
                        </m:r>
                      </m:e>
                      <m:sub>
                        <m:r>
                          <a:rPr lang="en-US" altLang="zh-CN" sz="1200" b="0" i="1" dirty="0" smtClean="0">
                            <a:solidFill>
                              <a:schemeClr val="tx1"/>
                            </a:solidFill>
                            <a:latin typeface="Cambria Math" panose="02040503050406030204" pitchFamily="18" charset="0"/>
                          </a:rPr>
                          <m:t>2</m:t>
                        </m:r>
                      </m:sub>
                    </m:sSub>
                    <m:r>
                      <a:rPr lang="en-US" altLang="zh-CN" sz="1200" b="0" i="1" dirty="0" smtClean="0">
                        <a:solidFill>
                          <a:schemeClr val="tx1"/>
                        </a:solidFill>
                        <a:latin typeface="Cambria Math" panose="02040503050406030204" pitchFamily="18" charset="0"/>
                      </a:rPr>
                      <m:t> </m:t>
                    </m:r>
                    <m:d>
                      <m:dPr>
                        <m:ctrlPr>
                          <a:rPr lang="en-US" altLang="zh-CN" sz="1200" b="0" i="1" dirty="0" smtClean="0">
                            <a:solidFill>
                              <a:schemeClr val="tx1"/>
                            </a:solidFill>
                            <a:latin typeface="Cambria Math" panose="02040503050406030204" pitchFamily="18" charset="0"/>
                          </a:rPr>
                        </m:ctrlPr>
                      </m:dPr>
                      <m:e>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𝑞</m:t>
                            </m:r>
                          </m:e>
                          <m:sup>
                            <m:r>
                              <a:rPr lang="en-US" altLang="zh-CN" sz="1200" b="0" i="1" dirty="0" smtClean="0">
                                <a:solidFill>
                                  <a:schemeClr val="tx1"/>
                                </a:solidFill>
                                <a:latin typeface="Cambria Math" panose="02040503050406030204" pitchFamily="18" charset="0"/>
                              </a:rPr>
                              <m:t>′</m:t>
                            </m:r>
                          </m:sup>
                        </m:sSup>
                      </m:e>
                      <m:e>
                        <m:r>
                          <a:rPr lang="en-US" altLang="zh-CN" sz="1200" b="0" i="1" dirty="0" smtClean="0">
                            <a:solidFill>
                              <a:schemeClr val="tx1"/>
                            </a:solidFill>
                            <a:latin typeface="Cambria Math" panose="02040503050406030204" pitchFamily="18" charset="0"/>
                          </a:rPr>
                          <m:t>𝐹</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𝜏</m:t>
                        </m:r>
                      </m:e>
                    </m:d>
                  </m:oMath>
                </a14:m>
                <a:r>
                  <a:rPr lang="zh-CN" altLang="en-US" sz="1200" dirty="0">
                    <a:solidFill>
                      <a:schemeClr val="tx1"/>
                    </a:solidFill>
                  </a:rPr>
                  <a:t>为微面在</a:t>
                </a:r>
                <a:r>
                  <a:rPr lang="en-US" altLang="zh-CN" sz="1200" dirty="0">
                    <a:solidFill>
                      <a:schemeClr val="tx1"/>
                    </a:solidFill>
                  </a:rPr>
                  <a:t>x</a:t>
                </a:r>
                <a:r>
                  <a:rPr lang="zh-CN" altLang="en-US" sz="1200" dirty="0">
                    <a:solidFill>
                      <a:schemeClr val="tx1"/>
                    </a:solidFill>
                  </a:rPr>
                  <a:t>方向的斜率概率密度函数，即：</a:t>
                </a:r>
                <a:endParaRPr lang="en-US" altLang="zh-CN" sz="1200"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1200" b="0" i="1" dirty="0" smtClean="0">
                          <a:solidFill>
                            <a:schemeClr val="tx1"/>
                          </a:solidFill>
                          <a:latin typeface="Cambria Math" panose="02040503050406030204" pitchFamily="18" charset="0"/>
                        </a:rPr>
                        <m:t> </m:t>
                      </m:r>
                      <m:sSub>
                        <m:sSubPr>
                          <m:ctrlPr>
                            <a:rPr lang="en-US" altLang="zh-CN" sz="1200" b="0" i="1" dirty="0" smtClean="0">
                              <a:solidFill>
                                <a:schemeClr val="tx1"/>
                              </a:solidFill>
                              <a:latin typeface="Cambria Math" panose="02040503050406030204" pitchFamily="18" charset="0"/>
                            </a:rPr>
                          </m:ctrlPr>
                        </m:sSubPr>
                        <m:e>
                          <m:r>
                            <a:rPr lang="en-US" altLang="zh-CN" sz="1200" b="0" i="1" dirty="0" smtClean="0">
                              <a:solidFill>
                                <a:schemeClr val="tx1"/>
                              </a:solidFill>
                              <a:latin typeface="Cambria Math" panose="02040503050406030204" pitchFamily="18" charset="0"/>
                            </a:rPr>
                            <m:t>𝑃</m:t>
                          </m:r>
                        </m:e>
                        <m:sub>
                          <m:r>
                            <a:rPr lang="en-US" altLang="zh-CN" sz="1200" b="0" i="1" dirty="0" smtClean="0">
                              <a:solidFill>
                                <a:schemeClr val="tx1"/>
                              </a:solidFill>
                              <a:latin typeface="Cambria Math" panose="02040503050406030204" pitchFamily="18" charset="0"/>
                            </a:rPr>
                            <m:t>2</m:t>
                          </m:r>
                        </m:sub>
                      </m:sSub>
                      <m:r>
                        <a:rPr lang="en-US" altLang="zh-CN" sz="1200" b="0" i="1" dirty="0" smtClean="0">
                          <a:solidFill>
                            <a:schemeClr val="tx1"/>
                          </a:solidFill>
                          <a:latin typeface="Cambria Math" panose="02040503050406030204" pitchFamily="18" charset="0"/>
                        </a:rPr>
                        <m:t> </m:t>
                      </m:r>
                      <m:d>
                        <m:dPr>
                          <m:ctrlPr>
                            <a:rPr lang="en-US" altLang="zh-CN" sz="1200" b="0" i="1" dirty="0" smtClean="0">
                              <a:solidFill>
                                <a:schemeClr val="tx1"/>
                              </a:solidFill>
                              <a:latin typeface="Cambria Math" panose="02040503050406030204" pitchFamily="18" charset="0"/>
                            </a:rPr>
                          </m:ctrlPr>
                        </m:dPr>
                        <m:e>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𝑞</m:t>
                              </m:r>
                            </m:e>
                            <m:sup>
                              <m:r>
                                <a:rPr lang="en-US" altLang="zh-CN" sz="1200" b="0" i="1" dirty="0" smtClean="0">
                                  <a:solidFill>
                                    <a:schemeClr val="tx1"/>
                                  </a:solidFill>
                                  <a:latin typeface="Cambria Math" panose="02040503050406030204" pitchFamily="18" charset="0"/>
                                </a:rPr>
                                <m:t>′</m:t>
                              </m:r>
                            </m:sup>
                          </m:sSup>
                        </m:e>
                        <m:e>
                          <m:r>
                            <a:rPr lang="en-US" altLang="zh-CN" sz="1200" b="0" i="1" dirty="0" smtClean="0">
                              <a:solidFill>
                                <a:schemeClr val="tx1"/>
                              </a:solidFill>
                              <a:latin typeface="Cambria Math" panose="02040503050406030204" pitchFamily="18" charset="0"/>
                            </a:rPr>
                            <m:t>𝐹</m:t>
                          </m:r>
                          <m:r>
                            <a:rPr lang="en-US" altLang="zh-CN" sz="1200" b="0" i="1" dirty="0" smtClean="0">
                              <a:solidFill>
                                <a:schemeClr val="tx1"/>
                              </a:solidFill>
                              <a:latin typeface="Cambria Math" panose="02040503050406030204" pitchFamily="18" charset="0"/>
                            </a:rPr>
                            <m:t>,</m:t>
                          </m:r>
                          <m:r>
                            <a:rPr lang="en-US" altLang="zh-CN" sz="1200" b="0" i="1" dirty="0" smtClean="0">
                              <a:solidFill>
                                <a:schemeClr val="tx1"/>
                              </a:solidFill>
                              <a:latin typeface="Cambria Math" panose="02040503050406030204" pitchFamily="18" charset="0"/>
                            </a:rPr>
                            <m:t>𝜏</m:t>
                          </m:r>
                        </m:e>
                      </m:d>
                      <m:r>
                        <a:rPr lang="en-US" altLang="zh-CN" sz="1200" b="0" i="1" dirty="0" smtClean="0">
                          <a:solidFill>
                            <a:schemeClr val="tx1"/>
                          </a:solidFill>
                          <a:latin typeface="Cambria Math" panose="02040503050406030204" pitchFamily="18" charset="0"/>
                        </a:rPr>
                        <m:t>=</m:t>
                      </m:r>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𝑃</m:t>
                          </m:r>
                        </m:e>
                        <m:sup>
                          <m:r>
                            <a:rPr lang="en-US" altLang="zh-CN" sz="1200" b="0" i="1" dirty="0" smtClean="0">
                              <a:solidFill>
                                <a:schemeClr val="tx1"/>
                              </a:solidFill>
                              <a:latin typeface="Cambria Math" panose="02040503050406030204" pitchFamily="18" charset="0"/>
                            </a:rPr>
                            <m:t>2−</m:t>
                          </m:r>
                        </m:sup>
                      </m:sSup>
                      <m:d>
                        <m:dPr>
                          <m:ctrlPr>
                            <a:rPr lang="en-US" altLang="zh-CN" sz="1200" b="0" i="1" dirty="0" smtClean="0">
                              <a:solidFill>
                                <a:schemeClr val="tx1"/>
                              </a:solidFill>
                              <a:latin typeface="Cambria Math" panose="02040503050406030204" pitchFamily="18" charset="0"/>
                            </a:rPr>
                          </m:ctrlPr>
                        </m:dPr>
                        <m:e>
                          <m:sSub>
                            <m:sSubPr>
                              <m:ctrlPr>
                                <a:rPr lang="en-US" altLang="zh-CN" sz="1200" b="0" i="1" dirty="0" smtClean="0">
                                  <a:solidFill>
                                    <a:schemeClr val="tx1"/>
                                  </a:solidFill>
                                  <a:latin typeface="Cambria Math" panose="02040503050406030204" pitchFamily="18" charset="0"/>
                                </a:rPr>
                              </m:ctrlPr>
                            </m:sSubPr>
                            <m:e>
                              <m:acc>
                                <m:accPr>
                                  <m:chr m:val="̃"/>
                                  <m:ctrlPr>
                                    <a:rPr lang="en-US" altLang="zh-CN" sz="1200" b="0" i="1" dirty="0" smtClean="0">
                                      <a:solidFill>
                                        <a:schemeClr val="tx1"/>
                                      </a:solidFill>
                                      <a:latin typeface="Cambria Math" panose="02040503050406030204" pitchFamily="18" charset="0"/>
                                    </a:rPr>
                                  </m:ctrlPr>
                                </m:accPr>
                                <m:e>
                                  <m:r>
                                    <a:rPr lang="en-US" altLang="zh-CN" sz="1200" b="0" i="1" dirty="0" smtClean="0">
                                      <a:solidFill>
                                        <a:schemeClr val="tx1"/>
                                      </a:solidFill>
                                      <a:latin typeface="Cambria Math" panose="02040503050406030204" pitchFamily="18" charset="0"/>
                                    </a:rPr>
                                    <m:t>𝑚</m:t>
                                  </m:r>
                                </m:e>
                              </m:acc>
                            </m:e>
                            <m:sub>
                              <m:r>
                                <a:rPr lang="en-US" altLang="zh-CN" sz="1200" b="0" i="1" dirty="0" smtClean="0">
                                  <a:solidFill>
                                    <a:schemeClr val="tx1"/>
                                  </a:solidFill>
                                  <a:latin typeface="Cambria Math" panose="02040503050406030204" pitchFamily="18" charset="0"/>
                                </a:rPr>
                                <m:t>𝑥</m:t>
                              </m:r>
                            </m:sub>
                          </m:sSub>
                        </m:e>
                      </m:d>
                      <m:r>
                        <a:rPr lang="en-US" altLang="zh-CN" sz="1200" b="0" i="1" dirty="0" smtClean="0">
                          <a:solidFill>
                            <a:schemeClr val="tx1"/>
                          </a:solidFill>
                          <a:latin typeface="Cambria Math" panose="02040503050406030204" pitchFamily="18" charset="0"/>
                        </a:rPr>
                        <m:t>=</m:t>
                      </m:r>
                      <m:nary>
                        <m:naryPr>
                          <m:ctrlPr>
                            <a:rPr lang="en-US" altLang="zh-CN" sz="1200" b="0" i="1" dirty="0" smtClean="0">
                              <a:solidFill>
                                <a:schemeClr val="tx1"/>
                              </a:solidFill>
                              <a:latin typeface="Cambria Math" panose="02040503050406030204" pitchFamily="18" charset="0"/>
                            </a:rPr>
                          </m:ctrlPr>
                        </m:naryPr>
                        <m:sub>
                          <m:r>
                            <a:rPr lang="en-US" altLang="zh-CN" sz="1200" b="0" i="1" dirty="0" smtClean="0">
                              <a:solidFill>
                                <a:schemeClr val="tx1"/>
                              </a:solidFill>
                              <a:latin typeface="Cambria Math" panose="02040503050406030204" pitchFamily="18" charset="0"/>
                            </a:rPr>
                            <m:t>−∞</m:t>
                          </m:r>
                        </m:sub>
                        <m:sup>
                          <m:r>
                            <a:rPr lang="en-US" altLang="zh-CN" sz="1200" b="0" i="1" dirty="0" smtClean="0">
                              <a:solidFill>
                                <a:schemeClr val="tx1"/>
                              </a:solidFill>
                              <a:latin typeface="Cambria Math" panose="02040503050406030204" pitchFamily="18" charset="0"/>
                            </a:rPr>
                            <m:t>+∞</m:t>
                          </m:r>
                        </m:sup>
                        <m:e>
                          <m:sSup>
                            <m:sSupPr>
                              <m:ctrlPr>
                                <a:rPr lang="en-US" altLang="zh-CN" sz="1200" b="0" i="1" dirty="0" smtClean="0">
                                  <a:solidFill>
                                    <a:schemeClr val="tx1"/>
                                  </a:solidFill>
                                  <a:latin typeface="Cambria Math" panose="02040503050406030204" pitchFamily="18" charset="0"/>
                                </a:rPr>
                              </m:ctrlPr>
                            </m:sSupPr>
                            <m:e>
                              <m:r>
                                <a:rPr lang="en-US" altLang="zh-CN" sz="1200" b="0" i="1" dirty="0" smtClean="0">
                                  <a:solidFill>
                                    <a:schemeClr val="tx1"/>
                                  </a:solidFill>
                                  <a:latin typeface="Cambria Math" panose="02040503050406030204" pitchFamily="18" charset="0"/>
                                </a:rPr>
                                <m:t>𝑃</m:t>
                              </m:r>
                            </m:e>
                            <m:sup>
                              <m:r>
                                <a:rPr lang="en-US" altLang="zh-CN" sz="1200" b="0" i="1" dirty="0" smtClean="0">
                                  <a:solidFill>
                                    <a:schemeClr val="tx1"/>
                                  </a:solidFill>
                                  <a:latin typeface="Cambria Math" panose="02040503050406030204" pitchFamily="18" charset="0"/>
                                </a:rPr>
                                <m:t>22</m:t>
                              </m:r>
                            </m:sup>
                          </m:sSup>
                          <m:d>
                            <m:dPr>
                              <m:ctrlPr>
                                <a:rPr lang="en-US" altLang="zh-CN" sz="1200" b="0" i="1" dirty="0" smtClean="0">
                                  <a:solidFill>
                                    <a:schemeClr val="tx1"/>
                                  </a:solidFill>
                                  <a:latin typeface="Cambria Math" panose="02040503050406030204" pitchFamily="18" charset="0"/>
                                </a:rPr>
                              </m:ctrlPr>
                            </m:dPr>
                            <m:e>
                              <m:sSub>
                                <m:sSubPr>
                                  <m:ctrlPr>
                                    <a:rPr lang="en-US" altLang="zh-CN" sz="1200" b="0" i="1" dirty="0" smtClean="0">
                                      <a:solidFill>
                                        <a:schemeClr val="tx1"/>
                                      </a:solidFill>
                                      <a:latin typeface="Cambria Math" panose="02040503050406030204" pitchFamily="18" charset="0"/>
                                    </a:rPr>
                                  </m:ctrlPr>
                                </m:sSubPr>
                                <m:e>
                                  <m:acc>
                                    <m:accPr>
                                      <m:chr m:val="̃"/>
                                      <m:ctrlPr>
                                        <a:rPr lang="en-US" altLang="zh-CN" sz="1200" b="0" i="1" dirty="0" smtClean="0">
                                          <a:solidFill>
                                            <a:schemeClr val="tx1"/>
                                          </a:solidFill>
                                          <a:latin typeface="Cambria Math" panose="02040503050406030204" pitchFamily="18" charset="0"/>
                                        </a:rPr>
                                      </m:ctrlPr>
                                    </m:accPr>
                                    <m:e>
                                      <m:r>
                                        <a:rPr lang="en-US" altLang="zh-CN" sz="1200" b="0" i="1" dirty="0" smtClean="0">
                                          <a:solidFill>
                                            <a:schemeClr val="tx1"/>
                                          </a:solidFill>
                                          <a:latin typeface="Cambria Math" panose="02040503050406030204" pitchFamily="18" charset="0"/>
                                        </a:rPr>
                                        <m:t>𝑚</m:t>
                                      </m:r>
                                    </m:e>
                                  </m:acc>
                                </m:e>
                                <m:sub>
                                  <m:r>
                                    <a:rPr lang="en-US" altLang="zh-CN" sz="1200" b="0" i="1" dirty="0" smtClean="0">
                                      <a:solidFill>
                                        <a:schemeClr val="tx1"/>
                                      </a:solidFill>
                                      <a:latin typeface="Cambria Math" panose="02040503050406030204" pitchFamily="18" charset="0"/>
                                    </a:rPr>
                                    <m:t>𝑥</m:t>
                                  </m:r>
                                </m:sub>
                              </m:sSub>
                              <m:r>
                                <a:rPr lang="en-US" altLang="zh-CN" sz="1200" b="0" i="1" dirty="0" smtClean="0">
                                  <a:solidFill>
                                    <a:schemeClr val="tx1"/>
                                  </a:solidFill>
                                  <a:latin typeface="Cambria Math" panose="02040503050406030204" pitchFamily="18" charset="0"/>
                                </a:rPr>
                                <m:t>,</m:t>
                              </m:r>
                              <m:sSub>
                                <m:sSubPr>
                                  <m:ctrlPr>
                                    <a:rPr lang="en-US" altLang="zh-CN" sz="1200" b="0" i="1" dirty="0" smtClean="0">
                                      <a:solidFill>
                                        <a:schemeClr val="tx1"/>
                                      </a:solidFill>
                                      <a:latin typeface="Cambria Math" panose="02040503050406030204" pitchFamily="18" charset="0"/>
                                    </a:rPr>
                                  </m:ctrlPr>
                                </m:sSubPr>
                                <m:e>
                                  <m:acc>
                                    <m:accPr>
                                      <m:chr m:val="̃"/>
                                      <m:ctrlPr>
                                        <a:rPr lang="en-US" altLang="zh-CN" sz="1200" b="0" i="1" dirty="0" smtClean="0">
                                          <a:solidFill>
                                            <a:schemeClr val="tx1"/>
                                          </a:solidFill>
                                          <a:latin typeface="Cambria Math" panose="02040503050406030204" pitchFamily="18" charset="0"/>
                                        </a:rPr>
                                      </m:ctrlPr>
                                    </m:accPr>
                                    <m:e>
                                      <m:r>
                                        <a:rPr lang="en-US" altLang="zh-CN" sz="1200" b="0" i="1" dirty="0" smtClean="0">
                                          <a:solidFill>
                                            <a:schemeClr val="tx1"/>
                                          </a:solidFill>
                                          <a:latin typeface="Cambria Math" panose="02040503050406030204" pitchFamily="18" charset="0"/>
                                        </a:rPr>
                                        <m:t>𝑚</m:t>
                                      </m:r>
                                    </m:e>
                                  </m:acc>
                                </m:e>
                                <m:sub>
                                  <m:r>
                                    <a:rPr lang="en-US" altLang="zh-CN" sz="1200" b="0" i="1" dirty="0" smtClean="0">
                                      <a:solidFill>
                                        <a:schemeClr val="tx1"/>
                                      </a:solidFill>
                                      <a:latin typeface="Cambria Math" panose="02040503050406030204" pitchFamily="18" charset="0"/>
                                    </a:rPr>
                                    <m:t>𝑧</m:t>
                                  </m:r>
                                </m:sub>
                              </m:sSub>
                            </m:e>
                          </m:d>
                          <m:r>
                            <a:rPr lang="en-US" altLang="zh-CN" sz="1200" b="0" i="1" dirty="0" smtClean="0">
                              <a:solidFill>
                                <a:schemeClr val="tx1"/>
                              </a:solidFill>
                              <a:latin typeface="Cambria Math" panose="02040503050406030204" pitchFamily="18" charset="0"/>
                            </a:rPr>
                            <m:t> </m:t>
                          </m:r>
                          <m:r>
                            <a:rPr lang="en-US" altLang="zh-CN" sz="1200" b="0" i="1" dirty="0" smtClean="0">
                              <a:solidFill>
                                <a:schemeClr val="tx1"/>
                              </a:solidFill>
                              <a:latin typeface="Cambria Math" panose="02040503050406030204" pitchFamily="18" charset="0"/>
                            </a:rPr>
                            <m:t>𝑑</m:t>
                          </m:r>
                          <m:sSub>
                            <m:sSubPr>
                              <m:ctrlPr>
                                <a:rPr lang="en-US" altLang="zh-CN" sz="1200" b="0" i="1" dirty="0" smtClean="0">
                                  <a:solidFill>
                                    <a:schemeClr val="tx1"/>
                                  </a:solidFill>
                                  <a:latin typeface="Cambria Math" panose="02040503050406030204" pitchFamily="18" charset="0"/>
                                </a:rPr>
                              </m:ctrlPr>
                            </m:sSubPr>
                            <m:e>
                              <m:acc>
                                <m:accPr>
                                  <m:chr m:val="̃"/>
                                  <m:ctrlPr>
                                    <a:rPr lang="en-US" altLang="zh-CN" sz="1200" b="0" i="1" dirty="0" smtClean="0">
                                      <a:solidFill>
                                        <a:schemeClr val="tx1"/>
                                      </a:solidFill>
                                      <a:latin typeface="Cambria Math" panose="02040503050406030204" pitchFamily="18" charset="0"/>
                                    </a:rPr>
                                  </m:ctrlPr>
                                </m:accPr>
                                <m:e>
                                  <m:r>
                                    <a:rPr lang="en-US" altLang="zh-CN" sz="1200" b="0" i="1" dirty="0" smtClean="0">
                                      <a:solidFill>
                                        <a:schemeClr val="tx1"/>
                                      </a:solidFill>
                                      <a:latin typeface="Cambria Math" panose="02040503050406030204" pitchFamily="18" charset="0"/>
                                    </a:rPr>
                                    <m:t>𝑚</m:t>
                                  </m:r>
                                </m:e>
                              </m:acc>
                            </m:e>
                            <m:sub>
                              <m:r>
                                <a:rPr lang="en-US" altLang="zh-CN" sz="1200" b="0" i="1" dirty="0" smtClean="0">
                                  <a:solidFill>
                                    <a:schemeClr val="tx1"/>
                                  </a:solidFill>
                                  <a:latin typeface="Cambria Math" panose="02040503050406030204" pitchFamily="18" charset="0"/>
                                </a:rPr>
                                <m:t>𝑧</m:t>
                              </m:r>
                            </m:sub>
                          </m:sSub>
                        </m:e>
                      </m:nary>
                    </m:oMath>
                  </m:oMathPara>
                </a14:m>
                <a:endParaRPr lang="en-US" altLang="zh-CN" sz="1200"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r>
                        <a:rPr lang="zh-CN" altLang="en-US" sz="1200" i="1" dirty="0">
                          <a:solidFill>
                            <a:schemeClr val="tx1"/>
                          </a:solidFill>
                          <a:latin typeface="Cambria Math" panose="02040503050406030204" pitchFamily="18" charset="0"/>
                        </a:rPr>
                        <m:t>带入后</m:t>
                      </m:r>
                      <m:r>
                        <a:rPr lang="zh-CN" altLang="en-US" sz="1200" i="1" dirty="0" smtClean="0">
                          <a:solidFill>
                            <a:schemeClr val="tx1"/>
                          </a:solidFill>
                          <a:latin typeface="Cambria Math" panose="02040503050406030204" pitchFamily="18" charset="0"/>
                        </a:rPr>
                        <m:t>得到</m:t>
                      </m:r>
                      <m:r>
                        <a:rPr lang="zh-CN" altLang="en-US" sz="1200" i="1" dirty="0">
                          <a:solidFill>
                            <a:schemeClr val="tx1"/>
                          </a:solidFill>
                          <a:latin typeface="Cambria Math" panose="02040503050406030204" pitchFamily="18" charset="0"/>
                        </a:rPr>
                        <m:t>：</m:t>
                      </m:r>
                      <m:r>
                        <a:rPr lang="en-US" altLang="zh-CN" sz="1200" i="1" dirty="0" smtClean="0">
                          <a:solidFill>
                            <a:schemeClr val="tx1"/>
                          </a:solidFill>
                          <a:latin typeface="Cambria Math" panose="02040503050406030204" pitchFamily="18" charset="0"/>
                        </a:rPr>
                        <m:t>𝑔</m:t>
                      </m:r>
                      <m:d>
                        <m:dPr>
                          <m:ctrlPr>
                            <a:rPr lang="en-US" altLang="zh-CN" sz="1200" i="1" dirty="0">
                              <a:solidFill>
                                <a:schemeClr val="tx1"/>
                              </a:solidFill>
                              <a:latin typeface="Cambria Math" panose="02040503050406030204" pitchFamily="18" charset="0"/>
                            </a:rPr>
                          </m:ctrlPr>
                        </m:dPr>
                        <m:e>
                          <m:r>
                            <a:rPr lang="en-US" altLang="zh-CN" sz="1200" i="1" dirty="0">
                              <a:solidFill>
                                <a:schemeClr val="tx1"/>
                              </a:solidFill>
                              <a:latin typeface="Cambria Math" panose="02040503050406030204" pitchFamily="18" charset="0"/>
                            </a:rPr>
                            <m:t>𝜏</m:t>
                          </m:r>
                        </m:e>
                      </m:d>
                      <m:r>
                        <a:rPr lang="en-US" altLang="zh-CN" sz="1200" dirty="0">
                          <a:solidFill>
                            <a:schemeClr val="tx1"/>
                          </a:solidFill>
                          <a:latin typeface="Cambria Math" panose="02040503050406030204" pitchFamily="18" charset="0"/>
                        </a:rPr>
                        <m:t>=</m:t>
                      </m:r>
                      <m:f>
                        <m:fPr>
                          <m:ctrlPr>
                            <a:rPr lang="en-US" altLang="zh-CN" sz="1200" i="1" dirty="0">
                              <a:solidFill>
                                <a:schemeClr val="tx1"/>
                              </a:solidFill>
                              <a:latin typeface="Cambria Math" panose="02040503050406030204" pitchFamily="18" charset="0"/>
                            </a:rPr>
                          </m:ctrlPr>
                        </m:fPr>
                        <m:num>
                          <m:nary>
                            <m:naryPr>
                              <m:ctrlPr>
                                <a:rPr lang="en-US" altLang="zh-CN" sz="1200" i="1" dirty="0">
                                  <a:solidFill>
                                    <a:schemeClr val="tx1"/>
                                  </a:solidFill>
                                  <a:latin typeface="Cambria Math" panose="02040503050406030204" pitchFamily="18" charset="0"/>
                                </a:rPr>
                              </m:ctrlPr>
                            </m:naryPr>
                            <m:sub>
                              <m:r>
                                <a:rPr lang="en-US" altLang="zh-CN" sz="1200" i="1" dirty="0">
                                  <a:solidFill>
                                    <a:schemeClr val="tx1"/>
                                  </a:solidFill>
                                  <a:latin typeface="Cambria Math" panose="02040503050406030204" pitchFamily="18" charset="0"/>
                                </a:rPr>
                                <m:t>𝜇</m:t>
                              </m:r>
                            </m:sub>
                            <m:sup>
                              <m:r>
                                <a:rPr lang="en-US" altLang="zh-CN" sz="1200" i="1" dirty="0">
                                  <a:solidFill>
                                    <a:schemeClr val="tx1"/>
                                  </a:solidFill>
                                  <a:latin typeface="Cambria Math" panose="02040503050406030204" pitchFamily="18" charset="0"/>
                                </a:rPr>
                                <m:t>+∞</m:t>
                              </m:r>
                            </m:sup>
                            <m:e>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acc>
                                        <m:accPr>
                                          <m:chr m:val="̃"/>
                                          <m:ctrlPr>
                                            <a:rPr lang="en-US" altLang="zh-CN" sz="1200" i="1" dirty="0">
                                              <a:solidFill>
                                                <a:schemeClr val="tx1"/>
                                              </a:solidFill>
                                              <a:latin typeface="Cambria Math" panose="02040503050406030204" pitchFamily="18" charset="0"/>
                                            </a:rPr>
                                          </m:ctrlPr>
                                        </m:accPr>
                                        <m:e>
                                          <m:r>
                                            <a:rPr lang="en-US" altLang="zh-CN" sz="1200" i="1" dirty="0">
                                              <a:solidFill>
                                                <a:schemeClr val="tx1"/>
                                              </a:solidFill>
                                              <a:latin typeface="Cambria Math" panose="02040503050406030204" pitchFamily="18" charset="0"/>
                                            </a:rPr>
                                            <m:t>𝑚</m:t>
                                          </m:r>
                                        </m:e>
                                      </m:acc>
                                    </m:e>
                                    <m:sub>
                                      <m:r>
                                        <a:rPr lang="en-US" altLang="zh-CN" sz="1200" i="1" dirty="0">
                                          <a:solidFill>
                                            <a:schemeClr val="tx1"/>
                                          </a:solidFill>
                                          <a:latin typeface="Cambria Math" panose="02040503050406030204" pitchFamily="18" charset="0"/>
                                        </a:rPr>
                                        <m:t>𝑥</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m:t>
                                  </m:r>
                                </m:e>
                              </m:d>
                              <m:r>
                                <a:rPr lang="en-US" altLang="zh-CN" sz="1200" i="1" dirty="0">
                                  <a:solidFill>
                                    <a:schemeClr val="tx1"/>
                                  </a:solidFill>
                                  <a:latin typeface="Cambria Math" panose="02040503050406030204" pitchFamily="18" charset="0"/>
                                </a:rPr>
                                <m:t> </m:t>
                              </m:r>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𝑃</m:t>
                                  </m:r>
                                </m:e>
                                <m:sub>
                                  <m:r>
                                    <a:rPr lang="en-US" altLang="zh-CN" sz="1200" i="1" dirty="0">
                                      <a:solidFill>
                                        <a:schemeClr val="tx1"/>
                                      </a:solidFill>
                                      <a:latin typeface="Cambria Math" panose="02040503050406030204" pitchFamily="18" charset="0"/>
                                    </a:rPr>
                                    <m:t>1</m:t>
                                  </m:r>
                                </m:sub>
                              </m:sSub>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e>
                                <m:e>
                                  <m:r>
                                    <a:rPr lang="en-US" altLang="zh-CN" sz="1200" i="1" dirty="0">
                                      <a:solidFill>
                                        <a:schemeClr val="tx1"/>
                                      </a:solidFill>
                                      <a:latin typeface="Cambria Math" panose="02040503050406030204" pitchFamily="18" charset="0"/>
                                    </a:rPr>
                                    <m:t>𝐹</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i="1" dirty="0">
                                  <a:solidFill>
                                    <a:schemeClr val="tx1"/>
                                  </a:solidFill>
                                  <a:latin typeface="Cambria Math" panose="02040503050406030204" pitchFamily="18" charset="0"/>
                                </a:rPr>
                                <m:t> </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𝑃</m:t>
                                  </m:r>
                                </m:e>
                                <m:sup>
                                  <m:r>
                                    <a:rPr lang="en-US" altLang="zh-CN" sz="1200" i="1" dirty="0">
                                      <a:solidFill>
                                        <a:schemeClr val="tx1"/>
                                      </a:solidFill>
                                      <a:latin typeface="Cambria Math" panose="02040503050406030204" pitchFamily="18" charset="0"/>
                                    </a:rPr>
                                    <m:t>2−</m:t>
                                  </m:r>
                                </m:sup>
                              </m:sSup>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acc>
                                        <m:accPr>
                                          <m:chr m:val="̃"/>
                                          <m:ctrlPr>
                                            <a:rPr lang="en-US" altLang="zh-CN" sz="1200" i="1" dirty="0">
                                              <a:solidFill>
                                                <a:schemeClr val="tx1"/>
                                              </a:solidFill>
                                              <a:latin typeface="Cambria Math" panose="02040503050406030204" pitchFamily="18" charset="0"/>
                                            </a:rPr>
                                          </m:ctrlPr>
                                        </m:accPr>
                                        <m:e>
                                          <m:r>
                                            <a:rPr lang="en-US" altLang="zh-CN" sz="1200" i="1" dirty="0">
                                              <a:solidFill>
                                                <a:schemeClr val="tx1"/>
                                              </a:solidFill>
                                              <a:latin typeface="Cambria Math" panose="02040503050406030204" pitchFamily="18" charset="0"/>
                                            </a:rPr>
                                            <m:t>𝑚</m:t>
                                          </m:r>
                                        </m:e>
                                      </m:acc>
                                    </m:e>
                                    <m:sub>
                                      <m:r>
                                        <a:rPr lang="en-US" altLang="zh-CN" sz="1200" i="1" dirty="0">
                                          <a:solidFill>
                                            <a:schemeClr val="tx1"/>
                                          </a:solidFill>
                                          <a:latin typeface="Cambria Math" panose="02040503050406030204" pitchFamily="18" charset="0"/>
                                        </a:rPr>
                                        <m:t>𝑥</m:t>
                                      </m:r>
                                    </m:sub>
                                  </m:sSub>
                                </m:e>
                              </m:d>
                              <m:r>
                                <a:rPr lang="en-US" altLang="zh-CN" sz="1200" i="1" dirty="0">
                                  <a:solidFill>
                                    <a:schemeClr val="tx1"/>
                                  </a:solidFill>
                                  <a:latin typeface="Cambria Math" panose="02040503050406030204" pitchFamily="18" charset="0"/>
                                </a:rPr>
                                <m:t> </m:t>
                              </m:r>
                              <m:r>
                                <a:rPr lang="en-US" altLang="zh-CN" sz="1200" i="1" dirty="0">
                                  <a:solidFill>
                                    <a:schemeClr val="tx1"/>
                                  </a:solidFill>
                                  <a:latin typeface="Cambria Math" panose="02040503050406030204" pitchFamily="18" charset="0"/>
                                </a:rPr>
                                <m:t>𝑑</m:t>
                              </m:r>
                              <m:sSub>
                                <m:sSubPr>
                                  <m:ctrlPr>
                                    <a:rPr lang="en-US" altLang="zh-CN" sz="1200" i="1" dirty="0">
                                      <a:solidFill>
                                        <a:schemeClr val="tx1"/>
                                      </a:solidFill>
                                      <a:latin typeface="Cambria Math" panose="02040503050406030204" pitchFamily="18" charset="0"/>
                                    </a:rPr>
                                  </m:ctrlPr>
                                </m:sSubPr>
                                <m:e>
                                  <m:acc>
                                    <m:accPr>
                                      <m:chr m:val="̃"/>
                                      <m:ctrlPr>
                                        <a:rPr lang="en-US" altLang="zh-CN" sz="1200" i="1" dirty="0">
                                          <a:solidFill>
                                            <a:schemeClr val="tx1"/>
                                          </a:solidFill>
                                          <a:latin typeface="Cambria Math" panose="02040503050406030204" pitchFamily="18" charset="0"/>
                                        </a:rPr>
                                      </m:ctrlPr>
                                    </m:accPr>
                                    <m:e>
                                      <m:r>
                                        <a:rPr lang="en-US" altLang="zh-CN" sz="1200" i="1" dirty="0">
                                          <a:solidFill>
                                            <a:schemeClr val="tx1"/>
                                          </a:solidFill>
                                          <a:latin typeface="Cambria Math" panose="02040503050406030204" pitchFamily="18" charset="0"/>
                                        </a:rPr>
                                        <m:t>𝑚</m:t>
                                      </m:r>
                                    </m:e>
                                  </m:acc>
                                </m:e>
                                <m:sub>
                                  <m:r>
                                    <a:rPr lang="en-US" altLang="zh-CN" sz="1200" i="1" dirty="0">
                                      <a:solidFill>
                                        <a:schemeClr val="tx1"/>
                                      </a:solidFill>
                                      <a:latin typeface="Cambria Math" panose="02040503050406030204" pitchFamily="18" charset="0"/>
                                    </a:rPr>
                                    <m:t>𝑥</m:t>
                                  </m:r>
                                </m:sub>
                              </m:sSub>
                            </m:e>
                          </m:nary>
                        </m:num>
                        <m:den>
                          <m:nary>
                            <m:naryPr>
                              <m:ctrlPr>
                                <a:rPr lang="en-US" altLang="zh-CN" sz="1200" i="1" dirty="0">
                                  <a:solidFill>
                                    <a:schemeClr val="tx1"/>
                                  </a:solidFill>
                                  <a:latin typeface="Cambria Math" panose="02040503050406030204" pitchFamily="18" charset="0"/>
                                </a:rPr>
                              </m:ctrlPr>
                            </m:naryPr>
                            <m:sub>
                              <m:r>
                                <a:rPr lang="en-US" altLang="zh-CN" sz="1200" i="1" dirty="0">
                                  <a:solidFill>
                                    <a:schemeClr val="tx1"/>
                                  </a:solidFill>
                                  <a:latin typeface="Cambria Math" panose="02040503050406030204" pitchFamily="18" charset="0"/>
                                </a:rPr>
                                <m:t>−∞</m:t>
                              </m:r>
                            </m:sub>
                            <m:sup>
                              <m:r>
                                <a:rPr lang="en-US" altLang="zh-CN" sz="1200" i="1" dirty="0">
                                  <a:solidFill>
                                    <a:schemeClr val="tx1"/>
                                  </a:solidFill>
                                  <a:latin typeface="Cambria Math" panose="02040503050406030204" pitchFamily="18" charset="0"/>
                                </a:rPr>
                                <m:t>+∞</m:t>
                              </m:r>
                            </m:sup>
                            <m:e>
                              <m:nary>
                                <m:naryPr>
                                  <m:ctrlPr>
                                    <a:rPr lang="en-US" altLang="zh-CN" sz="1200" i="1" dirty="0">
                                      <a:solidFill>
                                        <a:schemeClr val="tx1"/>
                                      </a:solidFill>
                                      <a:latin typeface="Cambria Math" panose="02040503050406030204" pitchFamily="18" charset="0"/>
                                    </a:rPr>
                                  </m:ctrlPr>
                                </m:naryPr>
                                <m:sub>
                                  <m:r>
                                    <a:rPr lang="en-US" altLang="zh-CN" sz="1200" i="1" dirty="0">
                                      <a:solidFill>
                                        <a:schemeClr val="tx1"/>
                                      </a:solidFill>
                                      <a:latin typeface="Cambria Math" panose="02040503050406030204" pitchFamily="18" charset="0"/>
                                    </a:rPr>
                                    <m:t>−∞ </m:t>
                                  </m:r>
                                </m:sub>
                                <m:sup>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𝜉</m:t>
                                      </m:r>
                                    </m:e>
                                    <m:sub>
                                      <m:r>
                                        <a:rPr lang="en-US" altLang="zh-CN" sz="1200" i="1" dirty="0">
                                          <a:solidFill>
                                            <a:schemeClr val="tx1"/>
                                          </a:solidFill>
                                          <a:latin typeface="Cambria Math" panose="02040503050406030204" pitchFamily="18" charset="0"/>
                                        </a:rPr>
                                        <m:t>0</m:t>
                                      </m:r>
                                    </m:sub>
                                  </m:sSub>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𝜇𝜏</m:t>
                                  </m:r>
                                </m:sup>
                                <m:e>
                                  <m:sSub>
                                    <m:sSubPr>
                                      <m:ctrlPr>
                                        <a:rPr lang="en-US" altLang="zh-CN" sz="1200" i="1" dirty="0">
                                          <a:solidFill>
                                            <a:schemeClr val="tx1"/>
                                          </a:solidFill>
                                          <a:latin typeface="Cambria Math" panose="02040503050406030204" pitchFamily="18" charset="0"/>
                                        </a:rPr>
                                      </m:ctrlPr>
                                    </m:sSubPr>
                                    <m:e>
                                      <m:r>
                                        <a:rPr lang="en-US" altLang="zh-CN" sz="1200" i="1" dirty="0">
                                          <a:solidFill>
                                            <a:schemeClr val="tx1"/>
                                          </a:solidFill>
                                          <a:latin typeface="Cambria Math" panose="02040503050406030204" pitchFamily="18" charset="0"/>
                                        </a:rPr>
                                        <m:t>𝑃</m:t>
                                      </m:r>
                                    </m:e>
                                    <m:sub>
                                      <m:r>
                                        <a:rPr lang="en-US" altLang="zh-CN" sz="1200" i="1" dirty="0">
                                          <a:solidFill>
                                            <a:schemeClr val="tx1"/>
                                          </a:solidFill>
                                          <a:latin typeface="Cambria Math" panose="02040503050406030204" pitchFamily="18" charset="0"/>
                                        </a:rPr>
                                        <m:t>1</m:t>
                                      </m:r>
                                    </m:sub>
                                  </m:sSub>
                                  <m:d>
                                    <m:dPr>
                                      <m:ctrlPr>
                                        <a:rPr lang="en-US" altLang="zh-CN" sz="1200" i="1" dirty="0">
                                          <a:solidFill>
                                            <a:schemeClr val="tx1"/>
                                          </a:solidFill>
                                          <a:latin typeface="Cambria Math" panose="02040503050406030204" pitchFamily="18" charset="0"/>
                                        </a:rPr>
                                      </m:ctrlPr>
                                    </m:dPr>
                                    <m:e>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𝜉</m:t>
                                          </m:r>
                                        </m:e>
                                        <m:sup>
                                          <m:r>
                                            <a:rPr lang="en-US" altLang="zh-CN" sz="1200" i="1" dirty="0">
                                              <a:solidFill>
                                                <a:schemeClr val="tx1"/>
                                              </a:solidFill>
                                              <a:latin typeface="Cambria Math" panose="02040503050406030204" pitchFamily="18" charset="0"/>
                                            </a:rPr>
                                            <m:t>′</m:t>
                                          </m:r>
                                        </m:sup>
                                      </m:sSup>
                                    </m:e>
                                    <m:e>
                                      <m:r>
                                        <a:rPr lang="en-US" altLang="zh-CN" sz="1200" i="1" dirty="0">
                                          <a:solidFill>
                                            <a:schemeClr val="tx1"/>
                                          </a:solidFill>
                                          <a:latin typeface="Cambria Math" panose="02040503050406030204" pitchFamily="18" charset="0"/>
                                        </a:rPr>
                                        <m:t>𝐹</m:t>
                                      </m:r>
                                      <m:r>
                                        <a:rPr lang="en-US" altLang="zh-CN" sz="1200" i="1" dirty="0">
                                          <a:solidFill>
                                            <a:schemeClr val="tx1"/>
                                          </a:solidFill>
                                          <a:latin typeface="Cambria Math" panose="02040503050406030204" pitchFamily="18" charset="0"/>
                                        </a:rPr>
                                        <m:t>,</m:t>
                                      </m:r>
                                      <m:r>
                                        <a:rPr lang="en-US" altLang="zh-CN" sz="1200" i="1" dirty="0">
                                          <a:solidFill>
                                            <a:schemeClr val="tx1"/>
                                          </a:solidFill>
                                          <a:latin typeface="Cambria Math" panose="02040503050406030204" pitchFamily="18" charset="0"/>
                                        </a:rPr>
                                        <m:t>𝜏</m:t>
                                      </m:r>
                                    </m:e>
                                  </m:d>
                                  <m:r>
                                    <a:rPr lang="en-US" altLang="zh-CN" sz="1200" i="1" dirty="0">
                                      <a:solidFill>
                                        <a:schemeClr val="tx1"/>
                                      </a:solidFill>
                                      <a:latin typeface="Cambria Math" panose="02040503050406030204" pitchFamily="18" charset="0"/>
                                    </a:rPr>
                                    <m:t> </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𝑃</m:t>
                                      </m:r>
                                    </m:e>
                                    <m:sup>
                                      <m:r>
                                        <a:rPr lang="en-US" altLang="zh-CN" sz="1200" i="1" dirty="0">
                                          <a:solidFill>
                                            <a:schemeClr val="tx1"/>
                                          </a:solidFill>
                                          <a:latin typeface="Cambria Math" panose="02040503050406030204" pitchFamily="18" charset="0"/>
                                        </a:rPr>
                                        <m:t>2−</m:t>
                                      </m:r>
                                    </m:sup>
                                  </m:sSup>
                                  <m:d>
                                    <m:dPr>
                                      <m:ctrlPr>
                                        <a:rPr lang="en-US" altLang="zh-CN" sz="1200" i="1" dirty="0">
                                          <a:solidFill>
                                            <a:schemeClr val="tx1"/>
                                          </a:solidFill>
                                          <a:latin typeface="Cambria Math" panose="02040503050406030204" pitchFamily="18" charset="0"/>
                                        </a:rPr>
                                      </m:ctrlPr>
                                    </m:dPr>
                                    <m:e>
                                      <m:sSub>
                                        <m:sSubPr>
                                          <m:ctrlPr>
                                            <a:rPr lang="en-US" altLang="zh-CN" sz="1200" i="1" dirty="0">
                                              <a:solidFill>
                                                <a:schemeClr val="tx1"/>
                                              </a:solidFill>
                                              <a:latin typeface="Cambria Math" panose="02040503050406030204" pitchFamily="18" charset="0"/>
                                            </a:rPr>
                                          </m:ctrlPr>
                                        </m:sSubPr>
                                        <m:e>
                                          <m:acc>
                                            <m:accPr>
                                              <m:chr m:val="̃"/>
                                              <m:ctrlPr>
                                                <a:rPr lang="en-US" altLang="zh-CN" sz="1200" i="1" dirty="0">
                                                  <a:solidFill>
                                                    <a:schemeClr val="tx1"/>
                                                  </a:solidFill>
                                                  <a:latin typeface="Cambria Math" panose="02040503050406030204" pitchFamily="18" charset="0"/>
                                                </a:rPr>
                                              </m:ctrlPr>
                                            </m:accPr>
                                            <m:e>
                                              <m:r>
                                                <a:rPr lang="en-US" altLang="zh-CN" sz="1200" i="1" dirty="0">
                                                  <a:solidFill>
                                                    <a:schemeClr val="tx1"/>
                                                  </a:solidFill>
                                                  <a:latin typeface="Cambria Math" panose="02040503050406030204" pitchFamily="18" charset="0"/>
                                                </a:rPr>
                                                <m:t>𝑚</m:t>
                                              </m:r>
                                            </m:e>
                                          </m:acc>
                                        </m:e>
                                        <m:sub>
                                          <m:r>
                                            <a:rPr lang="en-US" altLang="zh-CN" sz="1200" i="1" dirty="0">
                                              <a:solidFill>
                                                <a:schemeClr val="tx1"/>
                                              </a:solidFill>
                                              <a:latin typeface="Cambria Math" panose="02040503050406030204" pitchFamily="18" charset="0"/>
                                            </a:rPr>
                                            <m:t>𝑥</m:t>
                                          </m:r>
                                        </m:sub>
                                      </m:sSub>
                                    </m:e>
                                  </m:d>
                                  <m:r>
                                    <a:rPr lang="en-US" altLang="zh-CN" sz="1200" i="1" dirty="0">
                                      <a:solidFill>
                                        <a:schemeClr val="tx1"/>
                                      </a:solidFill>
                                      <a:latin typeface="Cambria Math" panose="02040503050406030204" pitchFamily="18" charset="0"/>
                                    </a:rPr>
                                    <m:t> </m:t>
                                  </m:r>
                                  <m:r>
                                    <a:rPr lang="en-US" altLang="zh-CN" sz="1200" i="1" dirty="0">
                                      <a:solidFill>
                                        <a:schemeClr val="tx1"/>
                                      </a:solidFill>
                                      <a:latin typeface="Cambria Math" panose="02040503050406030204" pitchFamily="18" charset="0"/>
                                    </a:rPr>
                                    <m:t>𝑑</m:t>
                                  </m:r>
                                  <m:sSup>
                                    <m:sSupPr>
                                      <m:ctrlPr>
                                        <a:rPr lang="en-US" altLang="zh-CN" sz="1200" i="1" dirty="0">
                                          <a:solidFill>
                                            <a:schemeClr val="tx1"/>
                                          </a:solidFill>
                                          <a:latin typeface="Cambria Math" panose="02040503050406030204" pitchFamily="18" charset="0"/>
                                        </a:rPr>
                                      </m:ctrlPr>
                                    </m:sSupPr>
                                    <m:e>
                                      <m:r>
                                        <a:rPr lang="en-US" altLang="zh-CN" sz="1200" i="1" dirty="0">
                                          <a:solidFill>
                                            <a:schemeClr val="tx1"/>
                                          </a:solidFill>
                                          <a:latin typeface="Cambria Math" panose="02040503050406030204" pitchFamily="18" charset="0"/>
                                        </a:rPr>
                                        <m:t>𝜉</m:t>
                                      </m:r>
                                    </m:e>
                                    <m:sup>
                                      <m:r>
                                        <a:rPr lang="en-US" altLang="zh-CN" sz="1200" i="1" dirty="0">
                                          <a:solidFill>
                                            <a:schemeClr val="tx1"/>
                                          </a:solidFill>
                                          <a:latin typeface="Cambria Math" panose="02040503050406030204" pitchFamily="18" charset="0"/>
                                        </a:rPr>
                                        <m:t>′</m:t>
                                      </m:r>
                                    </m:sup>
                                  </m:sSup>
                                </m:e>
                              </m:nary>
                              <m:r>
                                <a:rPr lang="en-US" altLang="zh-CN" sz="1200" i="1" dirty="0">
                                  <a:solidFill>
                                    <a:schemeClr val="tx1"/>
                                  </a:solidFill>
                                  <a:latin typeface="Cambria Math" panose="02040503050406030204" pitchFamily="18" charset="0"/>
                                </a:rPr>
                                <m:t>𝑑</m:t>
                              </m:r>
                              <m:sSub>
                                <m:sSubPr>
                                  <m:ctrlPr>
                                    <a:rPr lang="en-US" altLang="zh-CN" sz="1200" i="1" dirty="0">
                                      <a:solidFill>
                                        <a:schemeClr val="tx1"/>
                                      </a:solidFill>
                                      <a:latin typeface="Cambria Math" panose="02040503050406030204" pitchFamily="18" charset="0"/>
                                    </a:rPr>
                                  </m:ctrlPr>
                                </m:sSubPr>
                                <m:e>
                                  <m:acc>
                                    <m:accPr>
                                      <m:chr m:val="̃"/>
                                      <m:ctrlPr>
                                        <a:rPr lang="en-US" altLang="zh-CN" sz="1200" i="1" dirty="0">
                                          <a:solidFill>
                                            <a:schemeClr val="tx1"/>
                                          </a:solidFill>
                                          <a:latin typeface="Cambria Math" panose="02040503050406030204" pitchFamily="18" charset="0"/>
                                        </a:rPr>
                                      </m:ctrlPr>
                                    </m:accPr>
                                    <m:e>
                                      <m:r>
                                        <a:rPr lang="en-US" altLang="zh-CN" sz="1200" i="1" dirty="0">
                                          <a:solidFill>
                                            <a:schemeClr val="tx1"/>
                                          </a:solidFill>
                                          <a:latin typeface="Cambria Math" panose="02040503050406030204" pitchFamily="18" charset="0"/>
                                        </a:rPr>
                                        <m:t>𝑚</m:t>
                                      </m:r>
                                    </m:e>
                                  </m:acc>
                                </m:e>
                                <m:sub>
                                  <m:r>
                                    <a:rPr lang="en-US" altLang="zh-CN" sz="1200" i="1" dirty="0">
                                      <a:solidFill>
                                        <a:schemeClr val="tx1"/>
                                      </a:solidFill>
                                      <a:latin typeface="Cambria Math" panose="02040503050406030204" pitchFamily="18" charset="0"/>
                                    </a:rPr>
                                    <m:t>𝑥</m:t>
                                  </m:r>
                                </m:sub>
                              </m:sSub>
                            </m:e>
                          </m:nary>
                        </m:den>
                      </m:f>
                    </m:oMath>
                  </m:oMathPara>
                </a14:m>
                <a:endParaRPr lang="en-US" altLang="zh-CN" sz="1200" dirty="0">
                  <a:solidFill>
                    <a:schemeClr val="tx1"/>
                  </a:solidFill>
                </a:endParaRPr>
              </a:p>
            </p:txBody>
          </p:sp>
        </mc:Choice>
        <mc:Fallback xmlns="">
          <p:sp>
            <p:nvSpPr>
              <p:cNvPr id="6" name="矩形 5">
                <a:extLst>
                  <a:ext uri="{FF2B5EF4-FFF2-40B4-BE49-F238E27FC236}">
                    <a16:creationId xmlns:a16="http://schemas.microsoft.com/office/drawing/2014/main" id="{2F45335E-F456-4EC4-324A-8D4AD63DB2CD}"/>
                  </a:ext>
                </a:extLst>
              </p:cNvPr>
              <p:cNvSpPr>
                <a:spLocks noRot="1" noChangeAspect="1" noMove="1" noResize="1" noEditPoints="1" noAdjustHandles="1" noChangeArrowheads="1" noChangeShapeType="1" noTextEdit="1"/>
              </p:cNvSpPr>
              <p:nvPr/>
            </p:nvSpPr>
            <p:spPr>
              <a:xfrm>
                <a:off x="368712" y="1144044"/>
                <a:ext cx="6851503" cy="5402806"/>
              </a:xfrm>
              <a:prstGeom prst="rect">
                <a:avLst/>
              </a:prstGeom>
              <a:blipFill>
                <a:blip r:embed="rId3"/>
                <a:stretch>
                  <a:fillRect t="-7320"/>
                </a:stretch>
              </a:blipFill>
            </p:spPr>
            <p:txBody>
              <a:bodyPr/>
              <a:lstStyle/>
              <a:p>
                <a:r>
                  <a:rPr lang="zh-CN" altLang="en-US">
                    <a:noFill/>
                  </a:rPr>
                  <a:t> </a:t>
                </a:r>
              </a:p>
            </p:txBody>
          </p:sp>
        </mc:Fallback>
      </mc:AlternateContent>
      <p:sp>
        <p:nvSpPr>
          <p:cNvPr id="54" name="文本框 53">
            <a:extLst>
              <a:ext uri="{FF2B5EF4-FFF2-40B4-BE49-F238E27FC236}">
                <a16:creationId xmlns:a16="http://schemas.microsoft.com/office/drawing/2014/main" id="{14BD41B0-E548-7D48-82D8-A1B4EE6AD8B2}"/>
              </a:ext>
            </a:extLst>
          </p:cNvPr>
          <p:cNvSpPr txBox="1"/>
          <p:nvPr/>
        </p:nvSpPr>
        <p:spPr>
          <a:xfrm>
            <a:off x="8484132" y="3168519"/>
            <a:ext cx="2624203" cy="307777"/>
          </a:xfrm>
          <a:prstGeom prst="rect">
            <a:avLst/>
          </a:prstGeom>
          <a:noFill/>
        </p:spPr>
        <p:txBody>
          <a:bodyPr wrap="square">
            <a:spAutoFit/>
          </a:bodyPr>
          <a:lstStyle/>
          <a:p>
            <a:pPr algn="ctr"/>
            <a:r>
              <a:rPr lang="en-US" altLang="zh-CN" sz="1400" dirty="0">
                <a:solidFill>
                  <a:schemeClr val="tx1"/>
                </a:solidFill>
              </a:rPr>
              <a:t>Walter (2007</a:t>
            </a:r>
            <a:r>
              <a:rPr lang="en-US" altLang="zh-CN" sz="1400" dirty="0">
                <a:solidFill>
                  <a:schemeClr val="tx1"/>
                </a:solidFill>
                <a:latin typeface="+mn-ea"/>
              </a:rPr>
              <a:t>)</a:t>
            </a:r>
            <a:r>
              <a:rPr lang="en-US" altLang="zh-CN" sz="1400" dirty="0">
                <a:solidFill>
                  <a:srgbClr val="212529"/>
                </a:solidFill>
                <a:latin typeface="+mn-ea"/>
              </a:rPr>
              <a:t> </a:t>
            </a:r>
            <a:r>
              <a:rPr lang="en-US" altLang="zh-CN" sz="1400" dirty="0">
                <a:solidFill>
                  <a:srgbClr val="212529"/>
                </a:solidFill>
                <a:latin typeface="+mn-ea"/>
                <a:hlinkClick r:id="rId4" action="ppaction://hlinksldjump"/>
              </a:rPr>
              <a:t>2</a:t>
            </a:r>
            <a:r>
              <a:rPr lang="zh-CN" altLang="en-US" sz="1400" dirty="0">
                <a:solidFill>
                  <a:srgbClr val="212529"/>
                </a:solidFill>
                <a:latin typeface="+mn-ea"/>
              </a:rPr>
              <a:t>，</a:t>
            </a:r>
            <a:r>
              <a:rPr lang="en-US" altLang="zh-CN" sz="1400" dirty="0">
                <a:solidFill>
                  <a:srgbClr val="212529"/>
                </a:solidFill>
                <a:latin typeface="+mn-ea"/>
              </a:rPr>
              <a:t>Figure 16.</a:t>
            </a:r>
            <a:endParaRPr lang="zh-CN" altLang="en-US" sz="1400" dirty="0"/>
          </a:p>
        </p:txBody>
      </p:sp>
      <p:pic>
        <p:nvPicPr>
          <p:cNvPr id="8" name="图片 7">
            <a:extLst>
              <a:ext uri="{FF2B5EF4-FFF2-40B4-BE49-F238E27FC236}">
                <a16:creationId xmlns:a16="http://schemas.microsoft.com/office/drawing/2014/main" id="{D7A2956F-36C1-57A4-0DB6-0BCC29486933}"/>
              </a:ext>
            </a:extLst>
          </p:cNvPr>
          <p:cNvPicPr>
            <a:picLocks noChangeAspect="1"/>
          </p:cNvPicPr>
          <p:nvPr/>
        </p:nvPicPr>
        <p:blipFill>
          <a:blip r:embed="rId5"/>
          <a:stretch>
            <a:fillRect/>
          </a:stretch>
        </p:blipFill>
        <p:spPr>
          <a:xfrm>
            <a:off x="7456139" y="1144529"/>
            <a:ext cx="4680191" cy="1917799"/>
          </a:xfrm>
          <a:prstGeom prst="rect">
            <a:avLst/>
          </a:prstGeom>
        </p:spPr>
      </p:pic>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D3EB2C9A-E940-B66D-1AF4-E84195AFC9CE}"/>
                  </a:ext>
                </a:extLst>
              </p:cNvPr>
              <p:cNvSpPr txBox="1"/>
              <p:nvPr/>
            </p:nvSpPr>
            <p:spPr>
              <a:xfrm>
                <a:off x="8787445" y="2448188"/>
                <a:ext cx="219034"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b="0" i="1" smtClean="0">
                          <a:solidFill>
                            <a:schemeClr val="bg1"/>
                          </a:solidFill>
                          <a:latin typeface="Cambria Math" panose="02040503050406030204" pitchFamily="18" charset="0"/>
                        </a:rPr>
                        <m:t>𝐹</m:t>
                      </m:r>
                    </m:oMath>
                  </m:oMathPara>
                </a14:m>
                <a:endParaRPr lang="zh-CN" altLang="en-US" dirty="0">
                  <a:solidFill>
                    <a:schemeClr val="bg1"/>
                  </a:solidFill>
                </a:endParaRPr>
              </a:p>
            </p:txBody>
          </p:sp>
        </mc:Choice>
        <mc:Fallback xmlns="">
          <p:sp>
            <p:nvSpPr>
              <p:cNvPr id="9" name="文本框 8">
                <a:extLst>
                  <a:ext uri="{FF2B5EF4-FFF2-40B4-BE49-F238E27FC236}">
                    <a16:creationId xmlns:a16="http://schemas.microsoft.com/office/drawing/2014/main" id="{4EEAACA8-3079-9ACF-659E-937CC33EF44D}"/>
                  </a:ext>
                </a:extLst>
              </p:cNvPr>
              <p:cNvSpPr txBox="1">
                <a:spLocks noRot="1" noChangeAspect="1" noMove="1" noResize="1" noEditPoints="1" noAdjustHandles="1" noChangeArrowheads="1" noChangeShapeType="1" noTextEdit="1"/>
              </p:cNvSpPr>
              <p:nvPr/>
            </p:nvSpPr>
            <p:spPr>
              <a:xfrm>
                <a:off x="8787445" y="2448188"/>
                <a:ext cx="219034" cy="276999"/>
              </a:xfrm>
              <a:prstGeom prst="rect">
                <a:avLst/>
              </a:prstGeom>
              <a:blipFill>
                <a:blip r:embed="rId6"/>
                <a:stretch>
                  <a:fillRect l="-22857" r="-20000" b="-8889"/>
                </a:stretch>
              </a:blipFill>
            </p:spPr>
            <p:txBody>
              <a:bodyPr/>
              <a:lstStyle/>
              <a:p>
                <a:r>
                  <a:rPr lang="zh-CN" altLang="en-US">
                    <a:noFill/>
                  </a:rPr>
                  <a:t> </a:t>
                </a:r>
              </a:p>
            </p:txBody>
          </p:sp>
        </mc:Fallback>
      </mc:AlternateContent>
      <p:grpSp>
        <p:nvGrpSpPr>
          <p:cNvPr id="11" name="组合 10">
            <a:extLst>
              <a:ext uri="{FF2B5EF4-FFF2-40B4-BE49-F238E27FC236}">
                <a16:creationId xmlns:a16="http://schemas.microsoft.com/office/drawing/2014/main" id="{953B6F75-2243-6E0D-7F17-BBA944473F76}"/>
              </a:ext>
            </a:extLst>
          </p:cNvPr>
          <p:cNvGrpSpPr/>
          <p:nvPr/>
        </p:nvGrpSpPr>
        <p:grpSpPr>
          <a:xfrm>
            <a:off x="7452392" y="3973603"/>
            <a:ext cx="4683938" cy="2744436"/>
            <a:chOff x="7584510" y="4016636"/>
            <a:chExt cx="4446739" cy="2609632"/>
          </a:xfrm>
        </p:grpSpPr>
        <p:sp>
          <p:nvSpPr>
            <p:cNvPr id="10" name="矩形 9">
              <a:extLst>
                <a:ext uri="{FF2B5EF4-FFF2-40B4-BE49-F238E27FC236}">
                  <a16:creationId xmlns:a16="http://schemas.microsoft.com/office/drawing/2014/main" id="{6691CA8E-8B00-C114-DCF1-7683811DDCB5}"/>
                </a:ext>
              </a:extLst>
            </p:cNvPr>
            <p:cNvSpPr/>
            <p:nvPr/>
          </p:nvSpPr>
          <p:spPr>
            <a:xfrm>
              <a:off x="7584510" y="4016636"/>
              <a:ext cx="4446739" cy="2609632"/>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 name="图片 3">
              <a:extLst>
                <a:ext uri="{FF2B5EF4-FFF2-40B4-BE49-F238E27FC236}">
                  <a16:creationId xmlns:a16="http://schemas.microsoft.com/office/drawing/2014/main" id="{C16002BA-060D-54A8-84D0-C1AFDC979B6F}"/>
                </a:ext>
              </a:extLst>
            </p:cNvPr>
            <p:cNvPicPr>
              <a:picLocks noChangeAspect="1"/>
            </p:cNvPicPr>
            <p:nvPr/>
          </p:nvPicPr>
          <p:blipFill>
            <a:blip r:embed="rId7"/>
            <a:stretch>
              <a:fillRect/>
            </a:stretch>
          </p:blipFill>
          <p:spPr>
            <a:xfrm>
              <a:off x="7653905" y="4117745"/>
              <a:ext cx="4277162" cy="2407414"/>
            </a:xfrm>
            <a:prstGeom prst="rect">
              <a:avLst/>
            </a:prstGeom>
          </p:spPr>
        </p:pic>
      </p:grpSp>
    </p:spTree>
    <p:extLst>
      <p:ext uri="{BB962C8B-B14F-4D97-AF65-F5344CB8AC3E}">
        <p14:creationId xmlns:p14="http://schemas.microsoft.com/office/powerpoint/2010/main" val="21241525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61A9-DC8D-AF84-D0F1-933F6F6E55A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4546F440-ADEB-0D34-E299-53F41C62C25D}"/>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1" dirty="0" smtClean="0">
                            <a:solidFill>
                              <a:schemeClr val="tx1"/>
                            </a:solidFill>
                            <a:latin typeface="Cambria Math" panose="02040503050406030204" pitchFamily="18" charset="0"/>
                          </a:rPr>
                          <m:t>G</m:t>
                        </m:r>
                      </m:e>
                      <m:sub>
                        <m:r>
                          <a:rPr lang="en-US" altLang="zh-CN" b="0" i="1" dirty="0" smtClean="0">
                            <a:solidFill>
                              <a:schemeClr val="tx1"/>
                            </a:solidFill>
                            <a:latin typeface="Cambria Math" panose="02040503050406030204" pitchFamily="18" charset="0"/>
                          </a:rPr>
                          <m:t>2</m:t>
                        </m:r>
                      </m:sub>
                    </m:sSub>
                    <m:r>
                      <a:rPr lang="en-US" altLang="zh-CN" b="0"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𝒊</m:t>
                    </m:r>
                    <m:r>
                      <a:rPr lang="en-US" altLang="zh-CN" b="1"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𝒐</m:t>
                    </m:r>
                    <m:r>
                      <a:rPr lang="en-US" altLang="zh-CN" b="1"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𝒎</m:t>
                    </m:r>
                    <m:r>
                      <a:rPr lang="en-US" altLang="zh-CN" b="0" i="1" dirty="0" smtClean="0">
                        <a:solidFill>
                          <a:schemeClr val="tx1"/>
                        </a:solidFill>
                        <a:latin typeface="Cambria Math" panose="02040503050406030204" pitchFamily="18" charset="0"/>
                      </a:rPr>
                      <m:t>)</m:t>
                    </m:r>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A58F7EA6-4A72-6CCB-7D7A-6C55786B5A9A}"/>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017" b="-8475"/>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E68B15F8-4B48-0855-ABCF-787ED83CAB18}"/>
              </a:ext>
            </a:extLst>
          </p:cNvPr>
          <p:cNvSpPr/>
          <p:nvPr/>
        </p:nvSpPr>
        <p:spPr>
          <a:xfrm>
            <a:off x="521112" y="1315233"/>
            <a:ext cx="11299283"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764BE97-470A-C00F-E133-6106B17F9450}"/>
                  </a:ext>
                </a:extLst>
              </p:cNvPr>
              <p:cNvSpPr/>
              <p:nvPr/>
            </p:nvSpPr>
            <p:spPr>
              <a:xfrm>
                <a:off x="368712" y="1144044"/>
                <a:ext cx="11299283"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14:m>
                  <m:oMathPara xmlns:m="http://schemas.openxmlformats.org/officeDocument/2006/math">
                    <m:oMathParaPr>
                      <m:jc m:val="centerGroup"/>
                    </m:oMathParaPr>
                    <m:oMath xmlns:m="http://schemas.openxmlformats.org/officeDocument/2006/math">
                      <m:r>
                        <a:rPr lang="en-US" altLang="zh-CN" sz="1400" i="1" dirty="0" smtClean="0">
                          <a:solidFill>
                            <a:schemeClr val="tx1"/>
                          </a:solidFill>
                          <a:latin typeface="Cambria Math" panose="02040503050406030204" pitchFamily="18" charset="0"/>
                        </a:rPr>
                        <m:t>𝑔</m:t>
                      </m:r>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𝜏</m:t>
                          </m:r>
                        </m:e>
                      </m:d>
                      <m:r>
                        <a:rPr lang="en-US" altLang="zh-CN" sz="1400" b="0" i="0"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𝜇</m:t>
                              </m:r>
                            </m:sub>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p>
                            <m:e>
                              <m:d>
                                <m:dPr>
                                  <m:ctrlPr>
                                    <a:rPr lang="en-US" altLang="zh-CN" sz="1400" i="1" dirty="0">
                                      <a:solidFill>
                                        <a:schemeClr val="tx1"/>
                                      </a:solidFill>
                                      <a:latin typeface="Cambria Math" panose="02040503050406030204" pitchFamily="18" charset="0"/>
                                    </a:rPr>
                                  </m:ctrlPr>
                                </m:dPr>
                                <m:e>
                                  <m:sSub>
                                    <m:sSubPr>
                                      <m:ctrlPr>
                                        <a:rPr lang="en-US" altLang="zh-CN" sz="1400" b="0" i="1" dirty="0" smtClean="0">
                                          <a:solidFill>
                                            <a:schemeClr val="tx1"/>
                                          </a:solidFill>
                                          <a:latin typeface="Cambria Math" panose="02040503050406030204" pitchFamily="18" charset="0"/>
                                        </a:rPr>
                                      </m:ctrlPr>
                                    </m:sSubPr>
                                    <m:e>
                                      <m:acc>
                                        <m:accPr>
                                          <m:chr m:val="̃"/>
                                          <m:ctrlPr>
                                            <a:rPr lang="en-US" altLang="zh-CN" sz="1400" b="0" i="1" dirty="0" smtClean="0">
                                              <a:solidFill>
                                                <a:schemeClr val="tx1"/>
                                              </a:solidFill>
                                              <a:latin typeface="Cambria Math" panose="02040503050406030204" pitchFamily="18" charset="0"/>
                                            </a:rPr>
                                          </m:ctrlPr>
                                        </m:accPr>
                                        <m:e>
                                          <m:r>
                                            <a:rPr lang="en-US" altLang="zh-CN" sz="1400" b="0" i="1" dirty="0" smtClean="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m:t>
                                  </m:r>
                                </m:e>
                              </m:d>
                              <m:r>
                                <a:rPr lang="en-US" altLang="zh-CN" sz="1400" b="0" i="1" dirty="0" smtClean="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nary>
                        </m:num>
                        <m:den>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p>
                            <m:e>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 </m:t>
                                  </m:r>
                                </m:sub>
                                <m:sup>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nary>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nary>
                        </m:den>
                      </m:f>
                    </m:oMath>
                  </m:oMathPara>
                </a14:m>
                <a:endParaRPr lang="en-US" altLang="zh-CN" sz="1400"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分子</m:t>
                      </m:r>
                      <m:r>
                        <a:rPr lang="zh-CN" altLang="en-US" sz="1400" i="1" dirty="0" smtClean="0">
                          <a:solidFill>
                            <a:schemeClr val="tx1"/>
                          </a:solidFill>
                          <a:latin typeface="Cambria Math" panose="02040503050406030204" pitchFamily="18" charset="0"/>
                        </a:rPr>
                        <m:t>：</m:t>
                      </m:r>
                      <m:nary>
                        <m:naryPr>
                          <m:ctrlPr>
                            <a:rPr lang="en-US" altLang="zh-CN" sz="1400" i="1" dirty="0" smtClean="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𝜇</m:t>
                          </m:r>
                        </m:sub>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p>
                        <m:e>
                          <m:d>
                            <m:dPr>
                              <m:ctrlPr>
                                <a:rPr lang="en-US" altLang="zh-CN" sz="1400" i="1" dirty="0">
                                  <a:solidFill>
                                    <a:schemeClr val="tx1"/>
                                  </a:solidFill>
                                  <a:latin typeface="Cambria Math" panose="02040503050406030204" pitchFamily="18" charset="0"/>
                                </a:rPr>
                              </m:ctrlPr>
                            </m:dPr>
                            <m:e>
                              <m:sSub>
                                <m:sSubPr>
                                  <m:ctrlPr>
                                    <a:rPr lang="en-US" altLang="zh-CN" sz="1400" b="0" i="1" dirty="0" smtClean="0">
                                      <a:solidFill>
                                        <a:schemeClr val="tx1"/>
                                      </a:solidFill>
                                      <a:latin typeface="Cambria Math" panose="02040503050406030204" pitchFamily="18" charset="0"/>
                                    </a:rPr>
                                  </m:ctrlPr>
                                </m:sSubPr>
                                <m:e>
                                  <m:acc>
                                    <m:accPr>
                                      <m:chr m:val="̃"/>
                                      <m:ctrlPr>
                                        <a:rPr lang="en-US" altLang="zh-CN" sz="1400" b="0" i="1" dirty="0" smtClean="0">
                                          <a:solidFill>
                                            <a:schemeClr val="tx1"/>
                                          </a:solidFill>
                                          <a:latin typeface="Cambria Math" panose="02040503050406030204" pitchFamily="18" charset="0"/>
                                        </a:rPr>
                                      </m:ctrlPr>
                                    </m:accPr>
                                    <m:e>
                                      <m:r>
                                        <a:rPr lang="en-US" altLang="zh-CN" sz="1400" b="0" i="1" dirty="0" smtClean="0">
                                          <a:solidFill>
                                            <a:schemeClr val="tx1"/>
                                          </a:solidFill>
                                          <a:latin typeface="Cambria Math" panose="02040503050406030204" pitchFamily="18" charset="0"/>
                                        </a:rPr>
                                        <m:t>𝑚</m:t>
                                      </m:r>
                                    </m:e>
                                  </m:acc>
                                </m:e>
                                <m:sub>
                                  <m:r>
                                    <a:rPr lang="en-US" altLang="zh-CN" sz="1400" b="0" i="1" dirty="0" smtClean="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m:t>
                              </m:r>
                            </m:e>
                          </m:d>
                          <m:r>
                            <a:rPr lang="en-US" altLang="zh-CN" sz="1400" b="0" i="1" dirty="0" smtClean="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nary>
                      <m:r>
                        <a:rPr lang="en-US" altLang="zh-CN" sz="1400" b="0" i="1" dirty="0" smtClean="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𝜇</m:t>
                          </m:r>
                        </m:sub>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p>
                        <m:e>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m:t>
                              </m:r>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nary>
                    </m:oMath>
                  </m:oMathPara>
                </a14:m>
                <a:endParaRPr lang="en-US" altLang="zh-CN" sz="1400"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r>
                        <m:rPr>
                          <m:sty m:val="p"/>
                        </m:rPr>
                        <a:rPr lang="en-US" altLang="zh-CN" sz="1400" b="0" i="0" dirty="0" smtClean="0">
                          <a:solidFill>
                            <a:schemeClr val="tx1"/>
                          </a:solidFill>
                          <a:latin typeface="Cambria Math" panose="02040503050406030204" pitchFamily="18" charset="0"/>
                        </a:rPr>
                        <m:t>Λ</m:t>
                      </m:r>
                      <m:d>
                        <m:dPr>
                          <m:ctrlPr>
                            <a:rPr lang="en-US" altLang="zh-CN" sz="1400" b="1" i="1" dirty="0" smtClean="0">
                              <a:solidFill>
                                <a:schemeClr val="tx1"/>
                              </a:solidFill>
                              <a:latin typeface="Cambria Math" panose="02040503050406030204" pitchFamily="18" charset="0"/>
                            </a:rPr>
                          </m:ctrlPr>
                        </m:dPr>
                        <m:e>
                          <m:r>
                            <a:rPr lang="en-US" altLang="zh-CN" sz="1400" b="1" i="0" dirty="0" smtClean="0">
                              <a:solidFill>
                                <a:schemeClr val="tx1"/>
                              </a:solidFill>
                              <a:latin typeface="Cambria Math" panose="02040503050406030204" pitchFamily="18" charset="0"/>
                            </a:rPr>
                            <m:t>𝐨</m:t>
                          </m:r>
                        </m:e>
                      </m:d>
                      <m:r>
                        <a:rPr lang="en-US" altLang="zh-CN" sz="1400" b="1" i="0" dirty="0" smtClean="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den>
                      </m:f>
                      <m:nary>
                        <m:naryPr>
                          <m:ctrlPr>
                            <a:rPr lang="en-US" altLang="zh-CN" sz="1400" b="1" i="1" dirty="0">
                              <a:solidFill>
                                <a:schemeClr val="tx1"/>
                              </a:solidFill>
                              <a:latin typeface="Cambria Math" panose="02040503050406030204" pitchFamily="18" charset="0"/>
                            </a:rPr>
                          </m:ctrlPr>
                        </m:naryPr>
                        <m:sub>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sub>
                        <m:sup>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m:t>
                          </m:r>
                        </m:sup>
                        <m:e>
                          <m:d>
                            <m:dPr>
                              <m:ctrlPr>
                                <a:rPr lang="en-US" altLang="zh-CN" sz="1400" b="1"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1" i="1" dirty="0" smtClean="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up>
                          <m:r>
                            <a:rPr lang="en-US" altLang="zh-CN" sz="1400" i="1" dirty="0">
                              <a:solidFill>
                                <a:schemeClr val="tx1"/>
                              </a:solidFill>
                              <a:latin typeface="Cambria Math" panose="02040503050406030204" pitchFamily="18" charset="0"/>
                            </a:rPr>
                            <m:t>+</m:t>
                          </m:r>
                        </m:sup>
                      </m:sSubSup>
                      <m:r>
                        <a:rPr lang="zh-CN" altLang="en-US" sz="1400" i="1" dirty="0">
                          <a:solidFill>
                            <a:schemeClr val="tx1"/>
                          </a:solidFill>
                          <a:latin typeface="Cambria Math" panose="02040503050406030204" pitchFamily="18" charset="0"/>
                        </a:rPr>
                        <m:t>为</m:t>
                      </m:r>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zh-CN" altLang="en-US" sz="1400" b="1" i="1" dirty="0">
                          <a:solidFill>
                            <a:schemeClr val="tx1"/>
                          </a:solidFill>
                          <a:latin typeface="Cambria Math" panose="02040503050406030204" pitchFamily="18" charset="0"/>
                        </a:rPr>
                        <m:t>与</m:t>
                      </m:r>
                      <m:r>
                        <a:rPr lang="en-US" altLang="zh-CN" sz="1400" b="1" i="1" dirty="0">
                          <a:solidFill>
                            <a:schemeClr val="tx1"/>
                          </a:solidFill>
                          <a:latin typeface="Cambria Math" panose="02040503050406030204" pitchFamily="18" charset="0"/>
                        </a:rPr>
                        <m:t>𝒈</m:t>
                      </m:r>
                      <m:r>
                        <a:rPr lang="zh-CN" altLang="en-US" sz="1400" b="1" i="1" dirty="0">
                          <a:solidFill>
                            <a:schemeClr val="tx1"/>
                          </a:solidFill>
                          <a:latin typeface="Cambria Math" panose="02040503050406030204" pitchFamily="18" charset="0"/>
                        </a:rPr>
                        <m:t>的夹角</m:t>
                      </m:r>
                    </m:oMath>
                  </m:oMathPara>
                </a14:m>
                <a:endParaRPr lang="en-US" altLang="zh-CN" sz="1400" b="1"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1400" i="1" dirty="0" smtClean="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𝜇</m:t>
                          </m:r>
                        </m:sub>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p>
                        <m:e>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m:t>
                              </m:r>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nary>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𝜇</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r>
                        <a:rPr lang="en-US" altLang="zh-CN" sz="1400" b="0" i="0" dirty="0" smtClean="0">
                          <a:solidFill>
                            <a:schemeClr val="tx1"/>
                          </a:solidFill>
                          <a:latin typeface="Cambria Math" panose="02040503050406030204" pitchFamily="18" charset="0"/>
                        </a:rPr>
                        <m:t> </m:t>
                      </m:r>
                      <m:r>
                        <m:rPr>
                          <m:sty m:val="p"/>
                        </m:rPr>
                        <a:rPr lang="en-US" altLang="zh-CN" sz="1400" b="0" i="0" dirty="0" smtClean="0">
                          <a:solidFill>
                            <a:schemeClr val="tx1"/>
                          </a:solidFill>
                          <a:latin typeface="Cambria Math" panose="02040503050406030204" pitchFamily="18" charset="0"/>
                        </a:rPr>
                        <m:t>Λ</m:t>
                      </m:r>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𝒗</m:t>
                          </m:r>
                        </m:e>
                      </m:d>
                      <m:r>
                        <a:rPr lang="en-US" altLang="zh-CN" sz="1400" b="1"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𝜇</m:t>
                      </m:r>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cot</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𝑣</m:t>
                              </m:r>
                            </m:sub>
                          </m:sSub>
                        </m:e>
                      </m:func>
                      <m:r>
                        <a:rPr lang="zh-CN" altLang="en-US"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𝑣</m:t>
                          </m:r>
                        </m:sub>
                      </m:sSub>
                      <m:r>
                        <a:rPr lang="zh-CN" altLang="en-US" sz="1400" i="1" dirty="0">
                          <a:solidFill>
                            <a:schemeClr val="tx1"/>
                          </a:solidFill>
                          <a:latin typeface="Cambria Math" panose="02040503050406030204" pitchFamily="18" charset="0"/>
                        </a:rPr>
                        <m:t>为</m:t>
                      </m:r>
                      <m:r>
                        <a:rPr lang="en-US" altLang="zh-CN" sz="1400" b="1" i="1" dirty="0" smtClean="0">
                          <a:solidFill>
                            <a:schemeClr val="tx1"/>
                          </a:solidFill>
                          <a:latin typeface="Cambria Math" panose="02040503050406030204" pitchFamily="18" charset="0"/>
                        </a:rPr>
                        <m:t>𝒗</m:t>
                      </m:r>
                      <m:r>
                        <a:rPr lang="zh-CN" altLang="en-US" sz="1400" b="1" i="1" dirty="0">
                          <a:solidFill>
                            <a:schemeClr val="tx1"/>
                          </a:solidFill>
                          <a:latin typeface="Cambria Math" panose="02040503050406030204" pitchFamily="18" charset="0"/>
                        </a:rPr>
                        <m:t>与</m:t>
                      </m:r>
                      <m:r>
                        <a:rPr lang="en-US" altLang="zh-CN" sz="1400" b="1" i="1" dirty="0">
                          <a:solidFill>
                            <a:schemeClr val="tx1"/>
                          </a:solidFill>
                          <a:latin typeface="Cambria Math" panose="02040503050406030204" pitchFamily="18" charset="0"/>
                        </a:rPr>
                        <m:t>𝒈</m:t>
                      </m:r>
                      <m:r>
                        <a:rPr lang="zh-CN" altLang="en-US" sz="1400" b="1" i="1" dirty="0">
                          <a:solidFill>
                            <a:schemeClr val="tx1"/>
                          </a:solidFill>
                          <a:latin typeface="Cambria Math" panose="02040503050406030204" pitchFamily="18" charset="0"/>
                        </a:rPr>
                        <m:t>的夹角</m:t>
                      </m:r>
                      <m:r>
                        <a:rPr lang="en-US" altLang="zh-CN" sz="1400" b="1" i="1" dirty="0" smtClean="0">
                          <a:solidFill>
                            <a:schemeClr val="tx1"/>
                          </a:solidFill>
                          <a:latin typeface="Cambria Math" panose="02040503050406030204" pitchFamily="18" charset="0"/>
                        </a:rPr>
                        <m:t>(</m:t>
                      </m:r>
                      <m:r>
                        <a:rPr lang="zh-CN" altLang="en-US" sz="1400" b="1" i="1" dirty="0">
                          <a:solidFill>
                            <a:schemeClr val="tx1"/>
                          </a:solidFill>
                          <a:latin typeface="Cambria Math" panose="02040503050406030204" pitchFamily="18" charset="0"/>
                        </a:rPr>
                        <m:t>仅</m:t>
                      </m:r>
                      <m:r>
                        <a:rPr lang="zh-CN" altLang="en-US" sz="1400" b="1" i="1" dirty="0" smtClean="0">
                          <a:solidFill>
                            <a:schemeClr val="tx1"/>
                          </a:solidFill>
                          <a:latin typeface="Cambria Math" panose="02040503050406030204" pitchFamily="18" charset="0"/>
                        </a:rPr>
                        <m:t>讨论</m:t>
                      </m:r>
                      <m:r>
                        <a:rPr lang="en-US" altLang="zh-CN" sz="1400" b="0" i="1" dirty="0" smtClean="0">
                          <a:solidFill>
                            <a:schemeClr val="tx1"/>
                          </a:solidFill>
                          <a:latin typeface="Cambria Math" panose="02040503050406030204" pitchFamily="18" charset="0"/>
                        </a:rPr>
                        <m:t>𝜇</m:t>
                      </m:r>
                      <m:r>
                        <a:rPr lang="en-US" altLang="zh-CN" sz="1400" b="0" i="1" dirty="0" smtClean="0">
                          <a:solidFill>
                            <a:schemeClr val="tx1"/>
                          </a:solidFill>
                          <a:latin typeface="Cambria Math" panose="02040503050406030204" pitchFamily="18" charset="0"/>
                        </a:rPr>
                        <m:t>&gt;</m:t>
                      </m:r>
                      <m:r>
                        <a:rPr lang="en-US" altLang="zh-CN" sz="1400" b="0" i="1" dirty="0" smtClean="0">
                          <a:solidFill>
                            <a:schemeClr val="tx1"/>
                          </a:solidFill>
                          <a:latin typeface="Cambria Math" panose="02040503050406030204" pitchFamily="18" charset="0"/>
                        </a:rPr>
                        <m:t>0</m:t>
                      </m:r>
                      <m:r>
                        <a:rPr lang="zh-CN" altLang="en-US" sz="1400" i="1" dirty="0">
                          <a:solidFill>
                            <a:schemeClr val="tx1"/>
                          </a:solidFill>
                          <a:latin typeface="Cambria Math" panose="02040503050406030204" pitchFamily="18" charset="0"/>
                        </a:rPr>
                        <m:t>的</m:t>
                      </m:r>
                      <m:r>
                        <a:rPr lang="zh-CN" altLang="en-US" sz="1400" i="1" dirty="0" smtClean="0">
                          <a:solidFill>
                            <a:schemeClr val="tx1"/>
                          </a:solidFill>
                          <a:latin typeface="Cambria Math" panose="02040503050406030204" pitchFamily="18" charset="0"/>
                        </a:rPr>
                        <m:t>情况</m:t>
                      </m:r>
                      <m:r>
                        <a:rPr lang="en-US" altLang="zh-CN" sz="1400" b="1" i="1" dirty="0" smtClean="0">
                          <a:solidFill>
                            <a:schemeClr val="tx1"/>
                          </a:solidFill>
                          <a:latin typeface="Cambria Math" panose="02040503050406030204" pitchFamily="18" charset="0"/>
                        </a:rPr>
                        <m:t>)</m:t>
                      </m:r>
                    </m:oMath>
                  </m:oMathPara>
                </a14:m>
                <a:endParaRPr lang="en-US" altLang="zh-CN" sz="1400" dirty="0">
                  <a:solidFill>
                    <a:schemeClr val="tx1"/>
                  </a:solidFill>
                </a:endParaRPr>
              </a:p>
              <a:p>
                <a:pPr algn="ctr">
                  <a:lnSpc>
                    <a:spcPct val="15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分母</m:t>
                      </m:r>
                      <m:r>
                        <a:rPr lang="zh-CN" altLang="en-US" sz="1400" i="1" dirty="0" smtClean="0">
                          <a:solidFill>
                            <a:schemeClr val="tx1"/>
                          </a:solidFill>
                          <a:latin typeface="Cambria Math" panose="02040503050406030204" pitchFamily="18" charset="0"/>
                        </a:rPr>
                        <m:t>：</m:t>
                      </m:r>
                      <m:nary>
                        <m:naryPr>
                          <m:ctrlPr>
                            <a:rPr lang="en-US" altLang="zh-CN" sz="1400" i="1" dirty="0" smtClean="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p>
                        <m:e>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 </m:t>
                              </m:r>
                            </m:sub>
                            <m:sup>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nary>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nary>
                      <m:r>
                        <a:rPr lang="en-US" altLang="zh-CN" sz="1400" b="0" i="1" dirty="0" smtClean="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b>
                        <m:sup>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d>
                            <m:dPr>
                              <m:ctrlPr>
                                <a:rPr lang="en-US" altLang="zh-CN" sz="1400" b="0" i="1" dirty="0" smtClean="0">
                                  <a:solidFill>
                                    <a:schemeClr val="tx1"/>
                                  </a:solidFill>
                                  <a:latin typeface="Cambria Math" panose="02040503050406030204" pitchFamily="18" charset="0"/>
                                </a:rPr>
                              </m:ctrlPr>
                            </m:dPr>
                            <m:e>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 </m:t>
                                  </m:r>
                                </m:sub>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p>
                                <m:e>
                                  <m:sSup>
                                    <m:sSupPr>
                                      <m:ctrlPr>
                                        <a:rPr lang="en-US" altLang="zh-CN" sz="1400" i="1" dirty="0" smtClean="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𝑃</m:t>
                                      </m:r>
                                    </m:e>
                                    <m:sup>
                                      <m:r>
                                        <a:rPr lang="en-US" altLang="zh-CN" sz="1400" i="1" dirty="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i="1" dirty="0">
                                              <a:solidFill>
                                                <a:schemeClr val="tx1"/>
                                              </a:solidFill>
                                              <a:latin typeface="Cambria Math" panose="02040503050406030204" pitchFamily="18" charset="0"/>
                                            </a:rPr>
                                            <m:t>𝑚</m:t>
                                          </m:r>
                                        </m:e>
                                      </m:acc>
                                    </m:e>
                                    <m:sub>
                                      <m:r>
                                        <a:rPr lang="en-US" altLang="zh-CN" sz="1400" i="1" dirty="0">
                                          <a:solidFill>
                                            <a:schemeClr val="tx1"/>
                                          </a:solidFill>
                                          <a:latin typeface="Cambria Math" panose="02040503050406030204" pitchFamily="18" charset="0"/>
                                        </a:rPr>
                                        <m:t>𝑥</m:t>
                                      </m:r>
                                    </m:sub>
                                  </m:sSub>
                                </m:e>
                              </m:nary>
                            </m:e>
                          </m:d>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nary>
                      <m:r>
                        <a:rPr lang="en-US" altLang="zh-CN" sz="1400" b="0" i="1" dirty="0" smtClean="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b>
                        <m:sup>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nary>
                    </m:oMath>
                  </m:oMathPara>
                </a14:m>
                <a:endParaRPr lang="en-US" altLang="zh-CN" sz="14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令</m:t>
                      </m:r>
                      <m:r>
                        <a:rPr lang="en-US" altLang="zh-CN" sz="1400" b="0" i="1" dirty="0" smtClean="0">
                          <a:solidFill>
                            <a:schemeClr val="tx1"/>
                          </a:solidFill>
                          <a:latin typeface="Cambria Math" panose="02040503050406030204" pitchFamily="18" charset="0"/>
                        </a:rPr>
                        <m:t>𝑓</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h</m:t>
                          </m:r>
                        </m:e>
                      </m:d>
                      <m:r>
                        <a:rPr lang="en-US" altLang="zh-CN" sz="1400" b="0" i="1" dirty="0" smtClean="0">
                          <a:solidFill>
                            <a:schemeClr val="tx1"/>
                          </a:solidFill>
                          <a:latin typeface="Cambria Math" panose="02040503050406030204" pitchFamily="18" charset="0"/>
                        </a:rPr>
                        <m:t>=</m:t>
                      </m:r>
                      <m:nary>
                        <m:naryPr>
                          <m:ctrlPr>
                            <a:rPr lang="en-US" altLang="zh-CN" sz="1400" i="1" dirty="0" smtClean="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b>
                        <m:sup>
                          <m:r>
                            <a:rPr lang="en-US" altLang="zh-CN" sz="1400" b="0" i="1" dirty="0" smtClean="0">
                              <a:solidFill>
                                <a:schemeClr val="tx1"/>
                              </a:solidFill>
                              <a:latin typeface="Cambria Math" panose="02040503050406030204" pitchFamily="18" charset="0"/>
                            </a:rPr>
                            <m:t>h</m:t>
                          </m:r>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nary>
                      <m:r>
                        <a:rPr lang="en-US" altLang="zh-CN" sz="1400" b="0" i="1" dirty="0" smtClean="0">
                          <a:solidFill>
                            <a:schemeClr val="tx1"/>
                          </a:solidFill>
                          <a:latin typeface="Cambria Math" panose="02040503050406030204" pitchFamily="18" charset="0"/>
                        </a:rPr>
                        <m:t>,  </m:t>
                      </m:r>
                      <m:r>
                        <a:rPr lang="en-US" altLang="zh-CN" sz="1400" i="1" dirty="0" smtClean="0">
                          <a:solidFill>
                            <a:schemeClr val="tx1"/>
                          </a:solidFill>
                          <a:latin typeface="Cambria Math" panose="02040503050406030204" pitchFamily="18" charset="0"/>
                        </a:rPr>
                        <m:t>𝑔</m:t>
                      </m:r>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𝜏</m:t>
                          </m:r>
                        </m:e>
                      </m:d>
                      <m:r>
                        <a:rPr lang="en-US" altLang="zh-CN" sz="1400" b="0" i="1" dirty="0" smtClean="0">
                          <a:solidFill>
                            <a:schemeClr val="tx1"/>
                          </a:solidFill>
                          <a:latin typeface="Cambria Math" panose="02040503050406030204" pitchFamily="18" charset="0"/>
                        </a:rPr>
                        <m:t>=</m:t>
                      </m:r>
                      <m:f>
                        <m:fPr>
                          <m:ctrlPr>
                            <a:rPr lang="en-US" altLang="zh-CN" sz="1400" b="0" i="1" dirty="0" smtClean="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𝜇</m:t>
                          </m:r>
                          <m:r>
                            <a:rPr lang="en-US" altLang="zh-CN" sz="1400" b="0" i="1" dirty="0" smtClean="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r>
                            <a:rPr lang="en-US" altLang="zh-CN" sz="1400" dirty="0">
                              <a:solidFill>
                                <a:schemeClr val="tx1"/>
                              </a:solidFill>
                              <a:latin typeface="Cambria Math" panose="02040503050406030204" pitchFamily="18" charset="0"/>
                            </a:rPr>
                            <m:t> </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𝒗</m:t>
                              </m:r>
                            </m:e>
                          </m:d>
                        </m:num>
                        <m:den>
                          <m:r>
                            <a:rPr lang="en-US" altLang="zh-CN" sz="1400" b="0" i="1" dirty="0" smtClean="0">
                              <a:solidFill>
                                <a:schemeClr val="tx1"/>
                              </a:solidFill>
                              <a:latin typeface="Cambria Math" panose="02040503050406030204" pitchFamily="18" charset="0"/>
                            </a:rPr>
                            <m:t>𝑓</m:t>
                          </m:r>
                          <m:d>
                            <m:dPr>
                              <m:ctrlPr>
                                <a:rPr lang="en-US" altLang="zh-CN" sz="1400" b="0" i="1" dirty="0" smtClean="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e>
                          </m:d>
                        </m:den>
                      </m:f>
                    </m:oMath>
                  </m:oMathPara>
                </a14:m>
                <a:endParaRPr lang="en-US" altLang="zh-CN" sz="1400" b="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注意到</m:t>
                      </m:r>
                      <m:r>
                        <a:rPr lang="en-US" altLang="zh-CN" sz="1400" b="0" i="1" dirty="0" smtClean="0">
                          <a:solidFill>
                            <a:schemeClr val="tx1"/>
                          </a:solidFill>
                          <a:latin typeface="Cambria Math" panose="02040503050406030204" pitchFamily="18" charset="0"/>
                        </a:rPr>
                        <m:t>𝑓</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h</m:t>
                          </m:r>
                        </m:e>
                      </m:d>
                      <m:r>
                        <a:rPr lang="zh-CN" altLang="en-US" sz="1400" i="1" dirty="0">
                          <a:solidFill>
                            <a:schemeClr val="tx1"/>
                          </a:solidFill>
                          <a:latin typeface="Cambria Math" panose="02040503050406030204" pitchFamily="18" charset="0"/>
                        </a:rPr>
                        <m:t>为</m:t>
                      </m:r>
                      <m:r>
                        <a:rPr lang="zh-CN" altLang="en-US" sz="1400" i="1" dirty="0" smtClean="0">
                          <a:solidFill>
                            <a:schemeClr val="tx1"/>
                          </a:solidFill>
                          <a:latin typeface="Cambria Math" panose="02040503050406030204" pitchFamily="18" charset="0"/>
                        </a:rPr>
                        <m:t>变上限积分</m:t>
                      </m:r>
                      <m:r>
                        <a:rPr lang="zh-CN" altLang="en-US" sz="1400" i="1" dirty="0">
                          <a:solidFill>
                            <a:schemeClr val="tx1"/>
                          </a:solidFill>
                          <a:latin typeface="Cambria Math" panose="02040503050406030204" pitchFamily="18" charset="0"/>
                        </a:rPr>
                        <m:t>函数</m:t>
                      </m:r>
                      <m:r>
                        <a:rPr lang="zh-CN" altLang="en-US" sz="1400" i="1" dirty="0" smtClean="0">
                          <a:solidFill>
                            <a:schemeClr val="tx1"/>
                          </a:solidFill>
                          <a:latin typeface="Cambria Math" panose="02040503050406030204" pitchFamily="18" charset="0"/>
                        </a:rPr>
                        <m:t>，</m:t>
                      </m:r>
                      <m:r>
                        <a:rPr lang="zh-CN" altLang="en-US" sz="1400" i="1" dirty="0">
                          <a:solidFill>
                            <a:schemeClr val="tx1"/>
                          </a:solidFill>
                          <a:latin typeface="Cambria Math" panose="02040503050406030204" pitchFamily="18" charset="0"/>
                        </a:rPr>
                        <m:t>所以</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𝑓</m:t>
                          </m:r>
                        </m:e>
                        <m:sup>
                          <m:r>
                            <a:rPr lang="en-US" altLang="zh-CN" sz="1400" b="0" i="1" dirty="0" smtClean="0">
                              <a:solidFill>
                                <a:schemeClr val="tx1"/>
                              </a:solidFill>
                              <a:latin typeface="Cambria Math" panose="02040503050406030204" pitchFamily="18" charset="0"/>
                            </a:rPr>
                            <m:t>′</m:t>
                          </m:r>
                        </m:sup>
                      </m:sSup>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h</m:t>
                          </m:r>
                        </m:e>
                      </m:d>
                      <m:r>
                        <a:rPr lang="en-US" altLang="zh-CN" sz="1400" b="0" i="1" dirty="0" smtClean="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h</m:t>
                          </m:r>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𝑔</m:t>
                      </m:r>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𝜏</m:t>
                          </m:r>
                        </m:e>
                      </m:d>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𝜇</m:t>
                          </m:r>
                          <m:r>
                            <a:rPr lang="en-US" altLang="zh-CN" sz="1400" i="1" dirty="0">
                              <a:solidFill>
                                <a:schemeClr val="tx1"/>
                              </a:solidFill>
                              <a:latin typeface="Cambria Math" panose="02040503050406030204" pitchFamily="18" charset="0"/>
                            </a:rPr>
                            <m:t> </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𝑓</m:t>
                              </m:r>
                            </m:e>
                            <m:sup>
                              <m:r>
                                <a:rPr lang="en-US" altLang="zh-CN" sz="1400" b="0" i="1" dirty="0" smtClean="0">
                                  <a:solidFill>
                                    <a:schemeClr val="tx1"/>
                                  </a:solidFill>
                                  <a:latin typeface="Cambria Math" panose="02040503050406030204" pitchFamily="18" charset="0"/>
                                </a:rPr>
                                <m:t>′</m:t>
                              </m:r>
                            </m:sup>
                          </m:sSup>
                          <m:d>
                            <m:dPr>
                              <m:ctrlPr>
                                <a:rPr lang="en-US" altLang="zh-CN" sz="1400" b="0" i="1" dirty="0" smtClean="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e>
                          </m:d>
                          <m:r>
                            <a:rPr lang="en-US" altLang="zh-CN" sz="1400" b="0" i="0" dirty="0" smtClean="0">
                              <a:solidFill>
                                <a:schemeClr val="tx1"/>
                              </a:solidFill>
                              <a:latin typeface="Cambria Math" panose="02040503050406030204" pitchFamily="18" charset="0"/>
                            </a:rPr>
                            <m:t> </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𝒗</m:t>
                              </m:r>
                            </m:e>
                          </m:d>
                        </m:num>
                        <m:den>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e>
                          </m:d>
                        </m:den>
                      </m:f>
                    </m:oMath>
                  </m:oMathPara>
                </a14:m>
                <a:endParaRPr lang="en-US" altLang="zh-CN" sz="1400" b="0" dirty="0">
                  <a:solidFill>
                    <a:schemeClr val="tx1"/>
                  </a:solidFill>
                </a:endParaRPr>
              </a:p>
            </p:txBody>
          </p:sp>
        </mc:Choice>
        <mc:Fallback xmlns="">
          <p:sp>
            <p:nvSpPr>
              <p:cNvPr id="6" name="矩形 5">
                <a:extLst>
                  <a:ext uri="{FF2B5EF4-FFF2-40B4-BE49-F238E27FC236}">
                    <a16:creationId xmlns:a16="http://schemas.microsoft.com/office/drawing/2014/main" id="{A764BE97-470A-C00F-E133-6106B17F9450}"/>
                  </a:ext>
                </a:extLst>
              </p:cNvPr>
              <p:cNvSpPr>
                <a:spLocks noRot="1" noChangeAspect="1" noMove="1" noResize="1" noEditPoints="1" noAdjustHandles="1" noChangeArrowheads="1" noChangeShapeType="1" noTextEdit="1"/>
              </p:cNvSpPr>
              <p:nvPr/>
            </p:nvSpPr>
            <p:spPr>
              <a:xfrm>
                <a:off x="368712" y="1144044"/>
                <a:ext cx="11299283" cy="540280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309225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45207-BBD1-7F8D-8BF0-EDE8ECDD82C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BCB58861-E18D-94BF-7DA2-F6102DE189A8}"/>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1" dirty="0" smtClean="0">
                            <a:solidFill>
                              <a:schemeClr val="tx1"/>
                            </a:solidFill>
                            <a:latin typeface="Cambria Math" panose="02040503050406030204" pitchFamily="18" charset="0"/>
                          </a:rPr>
                          <m:t>G</m:t>
                        </m:r>
                      </m:e>
                      <m:sub>
                        <m:r>
                          <a:rPr lang="en-US" altLang="zh-CN" b="0" i="1" dirty="0" smtClean="0">
                            <a:solidFill>
                              <a:schemeClr val="tx1"/>
                            </a:solidFill>
                            <a:latin typeface="Cambria Math" panose="02040503050406030204" pitchFamily="18" charset="0"/>
                          </a:rPr>
                          <m:t>2</m:t>
                        </m:r>
                      </m:sub>
                    </m:sSub>
                    <m:r>
                      <a:rPr lang="en-US" altLang="zh-CN" b="0"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𝒊</m:t>
                    </m:r>
                    <m:r>
                      <a:rPr lang="en-US" altLang="zh-CN" b="1"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𝒐</m:t>
                    </m:r>
                    <m:r>
                      <a:rPr lang="en-US" altLang="zh-CN" b="1"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𝒎</m:t>
                    </m:r>
                    <m:r>
                      <a:rPr lang="en-US" altLang="zh-CN" b="0" i="1" dirty="0" smtClean="0">
                        <a:solidFill>
                          <a:schemeClr val="tx1"/>
                        </a:solidFill>
                        <a:latin typeface="Cambria Math" panose="02040503050406030204" pitchFamily="18" charset="0"/>
                      </a:rPr>
                      <m:t>)</m:t>
                    </m:r>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A58F7EA6-4A72-6CCB-7D7A-6C55786B5A9A}"/>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017" b="-8475"/>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9960F7E8-9F4D-C961-E5A4-951069956C04}"/>
              </a:ext>
            </a:extLst>
          </p:cNvPr>
          <p:cNvSpPr/>
          <p:nvPr/>
        </p:nvSpPr>
        <p:spPr>
          <a:xfrm>
            <a:off x="521112" y="1315233"/>
            <a:ext cx="11299283"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48C2221C-67FD-2019-6896-F075468D9FDF}"/>
                  </a:ext>
                </a:extLst>
              </p:cNvPr>
              <p:cNvSpPr/>
              <p:nvPr/>
            </p:nvSpPr>
            <p:spPr>
              <a:xfrm>
                <a:off x="368712" y="1144044"/>
                <a:ext cx="11299283"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40000"/>
                  </a:lnSpc>
                </a:pPr>
                <a14:m>
                  <m:oMathPara xmlns:m="http://schemas.openxmlformats.org/officeDocument/2006/math">
                    <m:oMathParaPr>
                      <m:jc m:val="centerGroup"/>
                    </m:oMathParaPr>
                    <m:oMath xmlns:m="http://schemas.openxmlformats.org/officeDocument/2006/math">
                      <m:r>
                        <a:rPr lang="en-US" altLang="zh-CN" sz="1400" i="1" dirty="0" smtClean="0">
                          <a:solidFill>
                            <a:schemeClr val="tx1"/>
                          </a:solidFill>
                          <a:latin typeface="Cambria Math" panose="02040503050406030204" pitchFamily="18" charset="0"/>
                        </a:rPr>
                        <m:t>𝑔</m:t>
                      </m:r>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𝜏</m:t>
                          </m:r>
                        </m:e>
                      </m:d>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𝜇</m:t>
                          </m:r>
                          <m:r>
                            <a:rPr lang="en-US" altLang="zh-CN" sz="1400" i="1" dirty="0">
                              <a:solidFill>
                                <a:schemeClr val="tx1"/>
                              </a:solidFill>
                              <a:latin typeface="Cambria Math" panose="02040503050406030204" pitchFamily="18" charset="0"/>
                            </a:rPr>
                            <m:t> </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𝑓</m:t>
                              </m:r>
                            </m:e>
                            <m:sup>
                              <m:r>
                                <a:rPr lang="en-US" altLang="zh-CN" sz="1400" b="0" i="1" dirty="0" smtClean="0">
                                  <a:solidFill>
                                    <a:schemeClr val="tx1"/>
                                  </a:solidFill>
                                  <a:latin typeface="Cambria Math" panose="02040503050406030204" pitchFamily="18" charset="0"/>
                                </a:rPr>
                                <m:t>′</m:t>
                              </m:r>
                            </m:sup>
                          </m:sSup>
                          <m:d>
                            <m:dPr>
                              <m:ctrlPr>
                                <a:rPr lang="en-US" altLang="zh-CN" sz="1400" b="0" i="1" dirty="0" smtClean="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e>
                          </m:d>
                          <m:r>
                            <a:rPr lang="en-US" altLang="zh-CN" sz="1400" b="0" i="0" dirty="0" smtClean="0">
                              <a:solidFill>
                                <a:schemeClr val="tx1"/>
                              </a:solidFill>
                              <a:latin typeface="Cambria Math" panose="02040503050406030204" pitchFamily="18" charset="0"/>
                            </a:rPr>
                            <m:t> </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𝒗</m:t>
                              </m:r>
                            </m:e>
                          </m:d>
                        </m:num>
                        <m:den>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e>
                          </m:d>
                        </m:den>
                      </m:f>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𝜇</m:t>
                      </m:r>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cot</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𝑣</m:t>
                              </m:r>
                            </m:sub>
                          </m:sSub>
                        </m:e>
                      </m:func>
                    </m:oMath>
                  </m:oMathPara>
                </a14:m>
                <a:endParaRPr lang="en-US" altLang="zh-CN" sz="1400" dirty="0">
                  <a:solidFill>
                    <a:schemeClr val="tx1"/>
                  </a:solidFill>
                </a:endParaRPr>
              </a:p>
              <a:p>
                <a:pPr algn="ctr">
                  <a:lnSpc>
                    <a:spcPct val="140000"/>
                  </a:lnSpc>
                </a:pPr>
                <a14:m>
                  <m:oMathPara xmlns:m="http://schemas.openxmlformats.org/officeDocument/2006/math">
                    <m:oMathParaPr>
                      <m:jc m:val="centerGroup"/>
                    </m:oMathParaPr>
                    <m:oMath xmlns:m="http://schemas.openxmlformats.org/officeDocument/2006/math">
                      <m:sSub>
                        <m:sSubPr>
                          <m:ctrlPr>
                            <a:rPr lang="en-US" altLang="zh-CN" sz="1400" i="1" dirty="0" smtClean="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e>
                      </m:d>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limLow>
                            <m:limLowPr>
                              <m:ctrlPr>
                                <a:rPr lang="en-US" altLang="zh-CN" sz="1400" i="1" dirty="0">
                                  <a:solidFill>
                                    <a:schemeClr val="tx1"/>
                                  </a:solidFill>
                                  <a:latin typeface="Cambria Math" panose="02040503050406030204" pitchFamily="18" charset="0"/>
                                </a:rPr>
                              </m:ctrlPr>
                            </m:limLowPr>
                            <m:e>
                              <m:r>
                                <m:rPr>
                                  <m:sty m:val="p"/>
                                </m:rPr>
                                <a:rPr lang="en-US" altLang="zh-CN" sz="1400" dirty="0">
                                  <a:solidFill>
                                    <a:schemeClr val="tx1"/>
                                  </a:solidFill>
                                  <a:latin typeface="Cambria Math" panose="02040503050406030204" pitchFamily="18" charset="0"/>
                                </a:rPr>
                                <m:t>lim</m:t>
                              </m:r>
                            </m:e>
                            <m:lim>
                              <m:r>
                                <a:rPr lang="en-US" altLang="zh-CN" sz="1400" i="1" dirty="0">
                                  <a:solidFill>
                                    <a:schemeClr val="tx1"/>
                                  </a:solidFill>
                                  <a:latin typeface="Cambria Math" panose="02040503050406030204" pitchFamily="18" charset="0"/>
                                </a:rPr>
                                <m:t>𝜏</m:t>
                              </m:r>
                              <m:r>
                                <a:rPr lang="en-US" altLang="zh-CN" sz="1400" i="1" dirty="0">
                                  <a:solidFill>
                                    <a:schemeClr val="tx1"/>
                                  </a:solidFill>
                                  <a:latin typeface="Cambria Math" panose="02040503050406030204" pitchFamily="18" charset="0"/>
                                </a:rPr>
                                <m:t>→+∞</m:t>
                              </m:r>
                            </m:lim>
                          </m:limLow>
                        </m:fName>
                        <m:e>
                          <m:r>
                            <a:rPr lang="en-US" altLang="zh-CN" sz="1400" i="1" dirty="0">
                              <a:solidFill>
                                <a:schemeClr val="tx1"/>
                              </a:solidFill>
                              <a:latin typeface="Cambria Math" panose="02040503050406030204" pitchFamily="18" charset="0"/>
                            </a:rPr>
                            <m:t>𝑆</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𝜇</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e>
                      </m:func>
                      <m:r>
                        <a:rPr lang="en-US" altLang="zh-CN" sz="1400" b="0" i="1" dirty="0" smtClean="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𝑋</m:t>
                          </m:r>
                        </m:e>
                        <m:sup>
                          <m:r>
                            <a:rPr lang="en-US" altLang="zh-CN" sz="1400" b="0" i="1" dirty="0" smtClean="0">
                              <a:solidFill>
                                <a:schemeClr val="tx1"/>
                              </a:solidFill>
                              <a:latin typeface="Cambria Math" panose="02040503050406030204" pitchFamily="18" charset="0"/>
                            </a:rPr>
                            <m:t>+</m:t>
                          </m:r>
                        </m:sup>
                      </m:sSup>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𝜇</m:t>
                          </m:r>
                          <m:r>
                            <a:rPr lang="en-US" altLang="zh-CN" sz="1400" b="0" i="1" dirty="0" smtClean="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m:rPr>
                                  <m:sty m:val="p"/>
                                </m:rPr>
                                <a:rPr lang="en-US" altLang="zh-CN" sz="1400" dirty="0">
                                  <a:solidFill>
                                    <a:schemeClr val="tx1"/>
                                  </a:solidFill>
                                  <a:latin typeface="Cambria Math" panose="02040503050406030204" pitchFamily="18" charset="0"/>
                                </a:rPr>
                                <m:t>q</m:t>
                              </m:r>
                            </m:e>
                            <m:sub>
                              <m:r>
                                <a:rPr lang="en-US" altLang="zh-CN" sz="1400" i="1" dirty="0">
                                  <a:solidFill>
                                    <a:schemeClr val="tx1"/>
                                  </a:solidFill>
                                  <a:latin typeface="Cambria Math" panose="02040503050406030204" pitchFamily="18" charset="0"/>
                                </a:rPr>
                                <m:t>0</m:t>
                              </m:r>
                            </m:sub>
                          </m:sSub>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𝑒</m:t>
                          </m:r>
                        </m:e>
                        <m:sup>
                          <m:r>
                            <a:rPr lang="en-US" altLang="zh-CN" sz="1400" i="1" dirty="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0</m:t>
                              </m:r>
                            </m:sub>
                            <m:sup>
                              <m:r>
                                <a:rPr lang="en-US" altLang="zh-CN" sz="1400" b="0" i="1" dirty="0" smtClean="0">
                                  <a:solidFill>
                                    <a:schemeClr val="tx1"/>
                                  </a:solidFill>
                                  <a:latin typeface="Cambria Math" panose="02040503050406030204" pitchFamily="18" charset="0"/>
                                </a:rPr>
                                <m:t>+∞</m:t>
                              </m:r>
                            </m:sup>
                            <m:e>
                              <m:r>
                                <a:rPr lang="en-US" altLang="zh-CN" sz="1400" i="1" dirty="0">
                                  <a:solidFill>
                                    <a:schemeClr val="tx1"/>
                                  </a:solidFill>
                                  <a:latin typeface="Cambria Math" panose="02040503050406030204" pitchFamily="18" charset="0"/>
                                </a:rPr>
                                <m:t>𝑔</m:t>
                              </m:r>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e>
                          </m:nary>
                        </m:sup>
                      </m:sSup>
                      <m:r>
                        <a:rPr lang="en-US" altLang="zh-CN" sz="1400" b="0" i="1" dirty="0" smtClean="0">
                          <a:solidFill>
                            <a:schemeClr val="tx1"/>
                          </a:solidFill>
                          <a:latin typeface="Cambria Math" panose="02040503050406030204" pitchFamily="18" charset="0"/>
                        </a:rPr>
                        <m:t>,  </m:t>
                      </m:r>
                      <m:r>
                        <a:rPr lang="en-US" altLang="zh-CN" sz="1400" b="1" i="1" dirty="0" smtClean="0">
                          <a:solidFill>
                            <a:schemeClr val="tx1"/>
                          </a:solidFill>
                          <a:latin typeface="Cambria Math" panose="02040503050406030204" pitchFamily="18" charset="0"/>
                        </a:rPr>
                        <m:t>𝒗</m:t>
                      </m:r>
                      <m:r>
                        <a:rPr lang="en-US" altLang="zh-CN" sz="1400" b="1"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𝒐</m:t>
                      </m:r>
                      <m:r>
                        <a:rPr lang="en-US" altLang="zh-CN" sz="1400" b="1"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𝜇</m:t>
                      </m:r>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Sub>
                        </m:e>
                      </m:func>
                      <m:r>
                        <a:rPr lang="en-US" altLang="zh-CN" sz="1400" b="0" i="1" dirty="0" smtClean="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m:rPr>
                              <m:sty m:val="p"/>
                            </m:rPr>
                            <a:rPr lang="en-US" altLang="zh-CN" sz="1400" dirty="0">
                              <a:solidFill>
                                <a:schemeClr val="tx1"/>
                              </a:solidFill>
                              <a:latin typeface="Cambria Math" panose="02040503050406030204" pitchFamily="18" charset="0"/>
                            </a:rPr>
                            <m:t>q</m:t>
                          </m:r>
                        </m:e>
                        <m:sub>
                          <m:r>
                            <a:rPr lang="en-US" altLang="zh-CN" sz="1400" i="1" dirty="0">
                              <a:solidFill>
                                <a:schemeClr val="tx1"/>
                              </a:solidFill>
                              <a:latin typeface="Cambria Math" panose="02040503050406030204" pitchFamily="18" charset="0"/>
                            </a:rPr>
                            <m:t>0</m:t>
                          </m:r>
                        </m:sub>
                      </m:sSub>
                      <m:r>
                        <a:rPr lang="en-US" altLang="zh-CN" sz="1400" b="0" i="1" dirty="0" smtClean="0">
                          <a:solidFill>
                            <a:schemeClr val="tx1"/>
                          </a:solidFill>
                          <a:latin typeface="Cambria Math" panose="02040503050406030204" pitchFamily="18" charset="0"/>
                        </a:rPr>
                        <m:t>=</m:t>
                      </m:r>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cot</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oMath>
                  </m:oMathPara>
                </a14:m>
                <a:endParaRPr lang="en-US" altLang="zh-CN" sz="1400" dirty="0">
                  <a:solidFill>
                    <a:schemeClr val="tx1"/>
                  </a:solidFill>
                </a:endParaRPr>
              </a:p>
              <a:p>
                <a:pPr algn="ctr">
                  <a:lnSpc>
                    <a:spcPct val="140000"/>
                  </a:lnSpc>
                </a:pPr>
                <a14:m>
                  <m:oMathPara xmlns:m="http://schemas.openxmlformats.org/officeDocument/2006/math">
                    <m:oMathParaPr>
                      <m:jc m:val="centerGroup"/>
                    </m:oMathParaPr>
                    <m:oMath xmlns:m="http://schemas.openxmlformats.org/officeDocument/2006/math">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0</m:t>
                          </m:r>
                        </m:sub>
                        <m:sup>
                          <m:r>
                            <a:rPr lang="en-US" altLang="zh-CN" sz="1400" i="1" dirty="0">
                              <a:solidFill>
                                <a:schemeClr val="tx1"/>
                              </a:solidFill>
                              <a:latin typeface="Cambria Math" panose="02040503050406030204" pitchFamily="18" charset="0"/>
                            </a:rPr>
                            <m:t>+∞</m:t>
                          </m:r>
                        </m:sup>
                        <m:e>
                          <m:r>
                            <a:rPr lang="en-US" altLang="zh-CN" sz="1400" i="1" dirty="0">
                              <a:solidFill>
                                <a:schemeClr val="tx1"/>
                              </a:solidFill>
                              <a:latin typeface="Cambria Math" panose="02040503050406030204" pitchFamily="18" charset="0"/>
                            </a:rPr>
                            <m:t>𝑔</m:t>
                          </m:r>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e>
                      </m:nary>
                      <m:r>
                        <a:rPr lang="en-US" altLang="zh-CN" sz="1400" b="0" i="1" dirty="0" smtClean="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0</m:t>
                          </m:r>
                        </m:sub>
                        <m:sup>
                          <m:r>
                            <a:rPr lang="en-US" altLang="zh-CN" sz="1400" i="1" dirty="0">
                              <a:solidFill>
                                <a:schemeClr val="tx1"/>
                              </a:solidFill>
                              <a:latin typeface="Cambria Math" panose="02040503050406030204" pitchFamily="18" charset="0"/>
                            </a:rPr>
                            <m:t>+∞</m:t>
                          </m:r>
                        </m:sup>
                        <m:e>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𝜇</m:t>
                              </m:r>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e>
                              </m:d>
                              <m:r>
                                <a:rPr lang="en-US" altLang="zh-CN" sz="1400" dirty="0">
                                  <a:solidFill>
                                    <a:schemeClr val="tx1"/>
                                  </a:solidFill>
                                  <a:latin typeface="Cambria Math" panose="02040503050406030204" pitchFamily="18" charset="0"/>
                                </a:rPr>
                                <m:t> </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e>
                              </m:d>
                            </m:num>
                            <m:den>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e>
                              </m:d>
                            </m:den>
                          </m:f>
                          <m:r>
                            <a:rPr lang="en-US" altLang="zh-CN" sz="1400" b="0" i="1" dirty="0" smtClean="0">
                              <a:solidFill>
                                <a:schemeClr val="tx1"/>
                              </a:solidFill>
                              <a:latin typeface="Cambria Math" panose="02040503050406030204" pitchFamily="18" charset="0"/>
                            </a:rPr>
                            <m:t>𝑑</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𝜏</m:t>
                              </m:r>
                            </m:e>
                            <m:sup>
                              <m:r>
                                <a:rPr lang="en-US" altLang="zh-CN" sz="1400" b="0" i="1" dirty="0" smtClean="0">
                                  <a:solidFill>
                                    <a:schemeClr val="tx1"/>
                                  </a:solidFill>
                                  <a:latin typeface="Cambria Math" panose="02040503050406030204" pitchFamily="18" charset="0"/>
                                </a:rPr>
                                <m:t>′</m:t>
                              </m:r>
                            </m:sup>
                          </m:sSup>
                        </m:e>
                      </m:nary>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𝜇</m:t>
                      </m:r>
                      <m:r>
                        <a:rPr lang="en-US" altLang="zh-CN" sz="1400" b="0" i="0" dirty="0" smtClean="0">
                          <a:solidFill>
                            <a:schemeClr val="tx1"/>
                          </a:solidFill>
                          <a:latin typeface="Cambria Math" panose="02040503050406030204" pitchFamily="18" charset="0"/>
                        </a:rPr>
                        <m:t> </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b="0" i="1" dirty="0" smtClean="0">
                          <a:solidFill>
                            <a:schemeClr val="tx1"/>
                          </a:solidFill>
                          <a:latin typeface="Cambria Math" panose="02040503050406030204" pitchFamily="18" charset="0"/>
                        </a:rPr>
                        <m:t> </m:t>
                      </m:r>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r>
                            <a:rPr lang="en-US" altLang="zh-CN" sz="1400" b="0" i="1" dirty="0" smtClean="0">
                              <a:solidFill>
                                <a:schemeClr val="tx1"/>
                              </a:solidFill>
                              <a:latin typeface="Cambria Math" panose="02040503050406030204" pitchFamily="18" charset="0"/>
                            </a:rPr>
                            <m:t>𝜇</m:t>
                          </m:r>
                        </m:den>
                      </m:f>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0</m:t>
                          </m:r>
                        </m:sub>
                        <m:sup>
                          <m:r>
                            <a:rPr lang="en-US" altLang="zh-CN" sz="1400" i="1" dirty="0">
                              <a:solidFill>
                                <a:schemeClr val="tx1"/>
                              </a:solidFill>
                              <a:latin typeface="Cambria Math" panose="02040503050406030204" pitchFamily="18" charset="0"/>
                            </a:rPr>
                            <m:t>+∞</m:t>
                          </m:r>
                        </m:sup>
                        <m:e>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e>
                              </m:d>
                            </m:num>
                            <m:den>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e>
                              </m:d>
                            </m:den>
                          </m:f>
                          <m:r>
                            <a:rPr lang="en-US" altLang="zh-CN" sz="1400" i="1" dirty="0">
                              <a:solidFill>
                                <a:schemeClr val="tx1"/>
                              </a:solidFill>
                              <a:latin typeface="Cambria Math" panose="02040503050406030204" pitchFamily="18" charset="0"/>
                            </a:rPr>
                            <m:t>𝑑</m:t>
                          </m:r>
                          <m:r>
                            <a:rPr lang="en-US" altLang="zh-CN" sz="1400" b="0" i="1" dirty="0" smtClean="0">
                              <a:solidFill>
                                <a:schemeClr val="tx1"/>
                              </a:solidFill>
                              <a:latin typeface="Cambria Math" panose="02040503050406030204" pitchFamily="18" charset="0"/>
                            </a:rPr>
                            <m:t>(</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𝜉</m:t>
                              </m:r>
                            </m:e>
                            <m:sub>
                              <m:r>
                                <a:rPr lang="en-US" altLang="zh-CN" sz="1400" b="0" i="1" dirty="0" smtClean="0">
                                  <a:solidFill>
                                    <a:schemeClr val="tx1"/>
                                  </a:solidFill>
                                  <a:latin typeface="Cambria Math" panose="02040503050406030204" pitchFamily="18" charset="0"/>
                                </a:rPr>
                                <m:t>0</m:t>
                              </m:r>
                            </m:sub>
                          </m:sSub>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𝜇</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r>
                            <a:rPr lang="en-US" altLang="zh-CN" sz="1400" b="0" i="1" dirty="0" smtClean="0">
                              <a:solidFill>
                                <a:schemeClr val="tx1"/>
                              </a:solidFill>
                              <a:latin typeface="Cambria Math" panose="02040503050406030204" pitchFamily="18" charset="0"/>
                            </a:rPr>
                            <m:t>)</m:t>
                          </m:r>
                        </m:e>
                      </m:nary>
                      <m:r>
                        <a:rPr lang="en-US" altLang="zh-CN" sz="1400" b="0" i="1" dirty="0" smtClean="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ln</m:t>
                          </m:r>
                        </m:fName>
                        <m:e>
                          <m:d>
                            <m:dPr>
                              <m:ctrlPr>
                                <a:rPr lang="en-US" altLang="zh-CN" sz="1400" b="0" i="1" dirty="0" smtClean="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𝜏</m:t>
                                      </m:r>
                                    </m:e>
                                    <m:sup>
                                      <m:r>
                                        <a:rPr lang="en-US" altLang="zh-CN" sz="1400" b="0" i="1" dirty="0" smtClean="0">
                                          <a:solidFill>
                                            <a:schemeClr val="tx1"/>
                                          </a:solidFill>
                                          <a:latin typeface="Cambria Math" panose="02040503050406030204" pitchFamily="18" charset="0"/>
                                        </a:rPr>
                                        <m:t>′</m:t>
                                      </m:r>
                                    </m:sup>
                                  </m:sSup>
                                </m:e>
                              </m:d>
                            </m:e>
                          </m:d>
                        </m:e>
                      </m:func>
                      <m:sSubSup>
                        <m:sSubSupPr>
                          <m:ctrlPr>
                            <a:rPr lang="en-US" altLang="zh-CN" sz="1400" b="0" i="1" dirty="0" smtClean="0">
                              <a:solidFill>
                                <a:schemeClr val="tx1"/>
                              </a:solidFill>
                              <a:latin typeface="Cambria Math" panose="02040503050406030204" pitchFamily="18" charset="0"/>
                            </a:rPr>
                          </m:ctrlPr>
                        </m:sSubSupPr>
                        <m:e>
                          <m:d>
                            <m:dPr>
                              <m:begChr m:val=""/>
                              <m:endChr m:val="|"/>
                              <m:ctrlPr>
                                <a:rPr lang="en-US" altLang="zh-CN" sz="1400" b="0" i="1" dirty="0" smtClean="0">
                                  <a:solidFill>
                                    <a:schemeClr val="tx1"/>
                                  </a:solidFill>
                                  <a:latin typeface="Cambria Math" panose="02040503050406030204" pitchFamily="18" charset="0"/>
                                </a:rPr>
                              </m:ctrlPr>
                            </m:dPr>
                            <m:e>
                              <m:r>
                                <a:rPr lang="zh-CN" altLang="en-US">
                                  <a:latin typeface="Cambria Math" panose="02040503050406030204" pitchFamily="18" charset="0"/>
                                </a:rPr>
                                <m:t>​</m:t>
                              </m:r>
                            </m:e>
                          </m:d>
                        </m:e>
                        <m:sub>
                          <m:r>
                            <a:rPr lang="en-US" altLang="zh-CN" sz="1400" b="0" i="1" dirty="0" smtClean="0">
                              <a:solidFill>
                                <a:schemeClr val="tx1"/>
                              </a:solidFill>
                              <a:latin typeface="Cambria Math" panose="02040503050406030204" pitchFamily="18" charset="0"/>
                            </a:rPr>
                            <m:t>0</m:t>
                          </m:r>
                        </m:sub>
                        <m:sup>
                          <m:r>
                            <a:rPr lang="en-US" altLang="zh-CN" sz="1400" i="1" dirty="0">
                              <a:solidFill>
                                <a:schemeClr val="tx1"/>
                              </a:solidFill>
                              <a:latin typeface="Cambria Math" panose="02040503050406030204" pitchFamily="18" charset="0"/>
                            </a:rPr>
                            <m:t>+∞</m:t>
                          </m:r>
                        </m:sup>
                      </m:sSubSup>
                    </m:oMath>
                  </m:oMathPara>
                </a14:m>
                <a:endParaRPr lang="en-US" altLang="zh-CN" sz="1400" b="0" dirty="0">
                  <a:solidFill>
                    <a:schemeClr val="tx1"/>
                  </a:solidFill>
                </a:endParaRPr>
              </a:p>
              <a:p>
                <a:pPr algn="ctr">
                  <a:lnSpc>
                    <a:spcPct val="140000"/>
                  </a:lnSpc>
                </a:pPr>
                <a14:m>
                  <m:oMathPara xmlns:m="http://schemas.openxmlformats.org/officeDocument/2006/math">
                    <m:oMathParaPr>
                      <m:jc m:val="centerGroup"/>
                    </m:oMathParaPr>
                    <m:oMath xmlns:m="http://schemas.openxmlformats.org/officeDocument/2006/math">
                      <m:r>
                        <a:rPr lang="en-US" altLang="zh-CN" sz="1400" b="0" i="1" dirty="0" smtClean="0">
                          <a:solidFill>
                            <a:schemeClr val="tx1"/>
                          </a:solidFill>
                          <a:latin typeface="Cambria Math" panose="02040503050406030204" pitchFamily="18" charset="0"/>
                        </a:rPr>
                        <m:t>𝑓</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h</m:t>
                          </m:r>
                        </m:e>
                      </m:d>
                      <m:r>
                        <a:rPr lang="en-US" altLang="zh-CN" sz="1400" b="0" i="1" dirty="0" smtClean="0">
                          <a:solidFill>
                            <a:schemeClr val="tx1"/>
                          </a:solidFill>
                          <a:latin typeface="Cambria Math" panose="02040503050406030204" pitchFamily="18" charset="0"/>
                        </a:rPr>
                        <m:t>=</m:t>
                      </m:r>
                      <m:nary>
                        <m:naryPr>
                          <m:ctrlPr>
                            <a:rPr lang="en-US" altLang="zh-CN" sz="1400" i="1" dirty="0" smtClean="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b="0" i="1" dirty="0" smtClean="0">
                              <a:solidFill>
                                <a:schemeClr val="tx1"/>
                              </a:solidFill>
                              <a:latin typeface="Cambria Math" panose="02040503050406030204" pitchFamily="18" charset="0"/>
                            </a:rPr>
                            <m:t>h</m:t>
                          </m:r>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nary>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limLow>
                            <m:limLowPr>
                              <m:ctrlPr>
                                <a:rPr lang="en-US" altLang="zh-CN" sz="1400" i="1" dirty="0">
                                  <a:solidFill>
                                    <a:schemeClr val="tx1"/>
                                  </a:solidFill>
                                  <a:latin typeface="Cambria Math" panose="02040503050406030204" pitchFamily="18" charset="0"/>
                                </a:rPr>
                              </m:ctrlPr>
                            </m:limLowPr>
                            <m:e>
                              <m:r>
                                <m:rPr>
                                  <m:sty m:val="p"/>
                                </m:rPr>
                                <a:rPr lang="en-US" altLang="zh-CN" sz="1400" dirty="0">
                                  <a:solidFill>
                                    <a:schemeClr val="tx1"/>
                                  </a:solidFill>
                                  <a:latin typeface="Cambria Math" panose="02040503050406030204" pitchFamily="18" charset="0"/>
                                </a:rPr>
                                <m:t>lim</m:t>
                              </m:r>
                            </m:e>
                            <m:lim>
                              <m:r>
                                <a:rPr lang="en-US" altLang="zh-CN" sz="1400" i="1" dirty="0">
                                  <a:solidFill>
                                    <a:schemeClr val="tx1"/>
                                  </a:solidFill>
                                  <a:latin typeface="Cambria Math" panose="02040503050406030204" pitchFamily="18" charset="0"/>
                                </a:rPr>
                                <m:t>𝜏</m:t>
                              </m:r>
                              <m:r>
                                <a:rPr lang="en-US" altLang="zh-CN" sz="1400" i="1" dirty="0">
                                  <a:solidFill>
                                    <a:schemeClr val="tx1"/>
                                  </a:solidFill>
                                  <a:latin typeface="Cambria Math" panose="02040503050406030204" pitchFamily="18" charset="0"/>
                                </a:rPr>
                                <m:t>→+∞</m:t>
                              </m:r>
                            </m:lim>
                          </m:limLow>
                        </m:fName>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𝜇𝜏</m:t>
                              </m:r>
                            </m:e>
                          </m:d>
                        </m:e>
                      </m:func>
                      <m:r>
                        <a:rPr lang="en-US" altLang="zh-CN" sz="1400" b="0" i="1" dirty="0"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limLow>
                            <m:limLowPr>
                              <m:ctrlPr>
                                <a:rPr lang="en-US" altLang="zh-CN" sz="1400" i="1" dirty="0">
                                  <a:solidFill>
                                    <a:schemeClr val="tx1"/>
                                  </a:solidFill>
                                  <a:latin typeface="Cambria Math" panose="02040503050406030204" pitchFamily="18" charset="0"/>
                                </a:rPr>
                              </m:ctrlPr>
                            </m:limLowPr>
                            <m:e>
                              <m:r>
                                <m:rPr>
                                  <m:sty m:val="p"/>
                                </m:rPr>
                                <a:rPr lang="en-US" altLang="zh-CN" sz="1400" dirty="0">
                                  <a:solidFill>
                                    <a:schemeClr val="tx1"/>
                                  </a:solidFill>
                                  <a:latin typeface="Cambria Math" panose="02040503050406030204" pitchFamily="18" charset="0"/>
                                </a:rPr>
                                <m:t>lim</m:t>
                              </m:r>
                            </m:e>
                            <m:lim>
                              <m:r>
                                <a:rPr lang="en-US" altLang="zh-CN" sz="1400" b="0" i="1" dirty="0" smtClean="0">
                                  <a:solidFill>
                                    <a:schemeClr val="tx1"/>
                                  </a:solidFill>
                                  <a:latin typeface="Cambria Math" panose="02040503050406030204" pitchFamily="18" charset="0"/>
                                </a:rPr>
                                <m:t>h</m:t>
                              </m:r>
                              <m:r>
                                <a:rPr lang="en-US" altLang="zh-CN" sz="1400" i="1" dirty="0">
                                  <a:solidFill>
                                    <a:schemeClr val="tx1"/>
                                  </a:solidFill>
                                  <a:latin typeface="Cambria Math" panose="02040503050406030204" pitchFamily="18" charset="0"/>
                                </a:rPr>
                                <m:t>→+∞</m:t>
                              </m:r>
                            </m:lim>
                          </m:limLow>
                        </m:fName>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h</m:t>
                              </m:r>
                            </m:e>
                          </m:d>
                        </m:e>
                      </m:func>
                      <m:r>
                        <a:rPr lang="en-US" altLang="zh-CN" sz="1400" b="0" i="1" dirty="0" smtClean="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b="0" i="1" dirty="0" smtClean="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nary>
                      <m:r>
                        <a:rPr lang="en-US" altLang="zh-CN" sz="1400" b="0" i="1" dirty="0" smtClean="0">
                          <a:solidFill>
                            <a:schemeClr val="tx1"/>
                          </a:solidFill>
                          <a:latin typeface="Cambria Math" panose="02040503050406030204" pitchFamily="18" charset="0"/>
                        </a:rPr>
                        <m:t>=1</m:t>
                      </m:r>
                    </m:oMath>
                  </m:oMathPara>
                </a14:m>
                <a:endParaRPr lang="en-US" altLang="zh-CN" sz="1400" dirty="0">
                  <a:solidFill>
                    <a:schemeClr val="tx1"/>
                  </a:solidFill>
                </a:endParaRPr>
              </a:p>
              <a:p>
                <a:pPr algn="ctr">
                  <a:lnSpc>
                    <a:spcPct val="140000"/>
                  </a:lnSpc>
                </a:pPr>
                <a14:m>
                  <m:oMathPara xmlns:m="http://schemas.openxmlformats.org/officeDocument/2006/math">
                    <m:oMathParaPr>
                      <m:jc m:val="centerGroup"/>
                    </m:oMathParaPr>
                    <m:oMath xmlns:m="http://schemas.openxmlformats.org/officeDocument/2006/math">
                      <m:nary>
                        <m:naryPr>
                          <m:ctrlPr>
                            <a:rPr lang="en-US" altLang="zh-CN" sz="1400" i="1" dirty="0" smtClean="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0</m:t>
                          </m:r>
                        </m:sub>
                        <m:sup>
                          <m:r>
                            <a:rPr lang="en-US" altLang="zh-CN" sz="1400" i="1" dirty="0">
                              <a:solidFill>
                                <a:schemeClr val="tx1"/>
                              </a:solidFill>
                              <a:latin typeface="Cambria Math" panose="02040503050406030204" pitchFamily="18" charset="0"/>
                            </a:rPr>
                            <m:t>+∞</m:t>
                          </m:r>
                        </m:sup>
                        <m:e>
                          <m:r>
                            <a:rPr lang="en-US" altLang="zh-CN" sz="1400" i="1" dirty="0">
                              <a:solidFill>
                                <a:schemeClr val="tx1"/>
                              </a:solidFill>
                              <a:latin typeface="Cambria Math" panose="02040503050406030204" pitchFamily="18" charset="0"/>
                            </a:rPr>
                            <m:t>𝑔</m:t>
                          </m:r>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e>
                      </m:nary>
                      <m:r>
                        <a:rPr lang="en-US" altLang="zh-CN" sz="1400"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ln</m:t>
                          </m:r>
                        </m:fName>
                        <m:e>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𝜇</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e>
                              </m:d>
                            </m:e>
                          </m:d>
                        </m:e>
                      </m:func>
                      <m:sSubSup>
                        <m:sSubSupPr>
                          <m:ctrlPr>
                            <a:rPr lang="en-US" altLang="zh-CN" sz="1400" i="1" dirty="0">
                              <a:solidFill>
                                <a:schemeClr val="tx1"/>
                              </a:solidFill>
                              <a:latin typeface="Cambria Math" panose="02040503050406030204" pitchFamily="18" charset="0"/>
                            </a:rPr>
                          </m:ctrlPr>
                        </m:sSubSupPr>
                        <m:e>
                          <m:d>
                            <m:dPr>
                              <m:begChr m:val=""/>
                              <m:endChr m:val="|"/>
                              <m:ctrlPr>
                                <a:rPr lang="en-US" altLang="zh-CN" sz="1400" i="1" dirty="0">
                                  <a:solidFill>
                                    <a:schemeClr val="tx1"/>
                                  </a:solidFill>
                                  <a:latin typeface="Cambria Math" panose="02040503050406030204" pitchFamily="18" charset="0"/>
                                </a:rPr>
                              </m:ctrlPr>
                            </m:dPr>
                            <m:e>
                              <m:r>
                                <a:rPr lang="zh-CN" altLang="en-US" sz="1400">
                                  <a:latin typeface="Cambria Math" panose="02040503050406030204" pitchFamily="18" charset="0"/>
                                </a:rPr>
                                <m:t>​</m:t>
                              </m:r>
                            </m:e>
                          </m:d>
                        </m:e>
                        <m:sub>
                          <m:r>
                            <a:rPr lang="en-US" altLang="zh-CN" sz="1400" i="1" dirty="0">
                              <a:solidFill>
                                <a:schemeClr val="tx1"/>
                              </a:solidFill>
                              <a:latin typeface="Cambria Math" panose="02040503050406030204" pitchFamily="18" charset="0"/>
                            </a:rPr>
                            <m:t>0</m:t>
                          </m:r>
                        </m:sub>
                        <m:sup>
                          <m:r>
                            <a:rPr lang="en-US" altLang="zh-CN" sz="1400" i="1" dirty="0">
                              <a:solidFill>
                                <a:schemeClr val="tx1"/>
                              </a:solidFill>
                              <a:latin typeface="Cambria Math" panose="02040503050406030204" pitchFamily="18" charset="0"/>
                            </a:rPr>
                            <m:t>+∞</m:t>
                          </m:r>
                        </m:sup>
                      </m:sSubSup>
                      <m:r>
                        <a:rPr lang="en-US" altLang="zh-CN" sz="1400" b="0" i="1" dirty="0" smtClean="0">
                          <a:solidFill>
                            <a:schemeClr val="tx1"/>
                          </a:solidFill>
                          <a:latin typeface="Cambria Math" panose="02040503050406030204" pitchFamily="18" charset="0"/>
                        </a:rPr>
                        <m:t>=</m:t>
                      </m:r>
                      <m:r>
                        <a:rPr lang="en-US" altLang="zh-CN" sz="1400" b="0" i="0" dirty="0" smtClean="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ln</m:t>
                          </m:r>
                        </m:fName>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e>
                          </m:d>
                        </m:e>
                      </m:func>
                    </m:oMath>
                  </m:oMathPara>
                </a14:m>
                <a:endParaRPr lang="en-US" altLang="zh-CN" sz="1400" dirty="0">
                  <a:solidFill>
                    <a:schemeClr val="tx1"/>
                  </a:solidFill>
                </a:endParaRPr>
              </a:p>
              <a:p>
                <a:pPr algn="ctr">
                  <a:lnSpc>
                    <a:spcPct val="140000"/>
                  </a:lnSpc>
                </a:pPr>
                <a14:m>
                  <m:oMathPara xmlns:m="http://schemas.openxmlformats.org/officeDocument/2006/math">
                    <m:oMathParaPr>
                      <m:jc m:val="centerGroup"/>
                    </m:oMathParaPr>
                    <m:oMath xmlns:m="http://schemas.openxmlformats.org/officeDocument/2006/math">
                      <m:sSub>
                        <m:sSubPr>
                          <m:ctrlPr>
                            <a:rPr lang="en-US" altLang="zh-CN" sz="1400" i="1" dirty="0" smtClean="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e>
                      </m:d>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𝜇</m:t>
                          </m:r>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m:rPr>
                                  <m:sty m:val="p"/>
                                </m:rPr>
                                <a:rPr lang="en-US" altLang="zh-CN" sz="1400" dirty="0">
                                  <a:solidFill>
                                    <a:schemeClr val="tx1"/>
                                  </a:solidFill>
                                  <a:latin typeface="Cambria Math" panose="02040503050406030204" pitchFamily="18" charset="0"/>
                                </a:rPr>
                                <m:t>q</m:t>
                              </m:r>
                            </m:e>
                            <m:sub>
                              <m:r>
                                <a:rPr lang="en-US" altLang="zh-CN" sz="1400" i="1" dirty="0">
                                  <a:solidFill>
                                    <a:schemeClr val="tx1"/>
                                  </a:solidFill>
                                  <a:latin typeface="Cambria Math" panose="02040503050406030204" pitchFamily="18" charset="0"/>
                                </a:rPr>
                                <m:t>0</m:t>
                              </m:r>
                            </m:sub>
                          </m:sSub>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𝑒</m:t>
                          </m:r>
                        </m:e>
                        <m:sup>
                          <m:r>
                            <a:rPr lang="en-US" altLang="zh-CN" sz="1400" i="1" dirty="0">
                              <a:solidFill>
                                <a:schemeClr val="tx1"/>
                              </a:solidFill>
                              <a:latin typeface="Cambria Math" panose="02040503050406030204" pitchFamily="18" charset="0"/>
                            </a:rPr>
                            <m:t>−</m:t>
                          </m:r>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0</m:t>
                              </m:r>
                            </m:sub>
                            <m:sup>
                              <m:r>
                                <a:rPr lang="en-US" altLang="zh-CN" sz="1400" i="1" dirty="0">
                                  <a:solidFill>
                                    <a:schemeClr val="tx1"/>
                                  </a:solidFill>
                                  <a:latin typeface="Cambria Math" panose="02040503050406030204" pitchFamily="18" charset="0"/>
                                </a:rPr>
                                <m:t>𝜏</m:t>
                              </m:r>
                            </m:sup>
                            <m:e>
                              <m:r>
                                <a:rPr lang="en-US" altLang="zh-CN" sz="1400" i="1" dirty="0">
                                  <a:solidFill>
                                    <a:schemeClr val="tx1"/>
                                  </a:solidFill>
                                  <a:latin typeface="Cambria Math" panose="02040503050406030204" pitchFamily="18" charset="0"/>
                                </a:rPr>
                                <m:t>𝑔</m:t>
                              </m:r>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e>
                              </m:d>
                              <m:r>
                                <a:rPr lang="en-US" altLang="zh-CN" sz="1400" i="1" dirty="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𝜏</m:t>
                                  </m:r>
                                </m:e>
                                <m:sup>
                                  <m:r>
                                    <a:rPr lang="en-US" altLang="zh-CN" sz="1400" i="1" dirty="0">
                                      <a:solidFill>
                                        <a:schemeClr val="tx1"/>
                                      </a:solidFill>
                                      <a:latin typeface="Cambria Math" panose="02040503050406030204" pitchFamily="18" charset="0"/>
                                    </a:rPr>
                                    <m:t>′</m:t>
                                  </m:r>
                                </m:sup>
                              </m:sSup>
                            </m:e>
                          </m:nary>
                        </m:sup>
                      </m:sSup>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𝜇</m:t>
                          </m:r>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m:rPr>
                                  <m:sty m:val="p"/>
                                </m:rPr>
                                <a:rPr lang="en-US" altLang="zh-CN" sz="1400" dirty="0">
                                  <a:solidFill>
                                    <a:schemeClr val="tx1"/>
                                  </a:solidFill>
                                  <a:latin typeface="Cambria Math" panose="02040503050406030204" pitchFamily="18" charset="0"/>
                                </a:rPr>
                                <m:t>q</m:t>
                              </m:r>
                            </m:e>
                            <m:sub>
                              <m:r>
                                <a:rPr lang="en-US" altLang="zh-CN" sz="1400" i="1" dirty="0">
                                  <a:solidFill>
                                    <a:schemeClr val="tx1"/>
                                  </a:solidFill>
                                  <a:latin typeface="Cambria Math" panose="02040503050406030204" pitchFamily="18" charset="0"/>
                                </a:rPr>
                                <m:t>0</m:t>
                              </m:r>
                            </m:sub>
                          </m:sSub>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𝑒</m:t>
                          </m:r>
                        </m:e>
                        <m:sup>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ln</m:t>
                              </m:r>
                            </m:fName>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e>
                              </m:d>
                            </m:e>
                          </m:func>
                        </m:sup>
                      </m:sSup>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i="1" dirty="0" smtClean="0">
                              <a:solidFill>
                                <a:schemeClr val="tx1"/>
                              </a:solidFill>
                              <a:latin typeface="Cambria Math" panose="02040503050406030204" pitchFamily="18" charset="0"/>
                            </a:rPr>
                            <m:t>𝜇</m:t>
                          </m:r>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m:rPr>
                                  <m:sty m:val="p"/>
                                </m:rPr>
                                <a:rPr lang="en-US" altLang="zh-CN" sz="1400" dirty="0">
                                  <a:solidFill>
                                    <a:schemeClr val="tx1"/>
                                  </a:solidFill>
                                  <a:latin typeface="Cambria Math" panose="02040503050406030204" pitchFamily="18" charset="0"/>
                                </a:rPr>
                                <m:t>q</m:t>
                              </m:r>
                            </m:e>
                            <m:sub>
                              <m:r>
                                <a:rPr lang="en-US" altLang="zh-CN" sz="1400" i="1" dirty="0">
                                  <a:solidFill>
                                    <a:schemeClr val="tx1"/>
                                  </a:solidFill>
                                  <a:latin typeface="Cambria Math" panose="02040503050406030204" pitchFamily="18" charset="0"/>
                                </a:rPr>
                                <m:t>0</m:t>
                              </m:r>
                            </m:sub>
                          </m:sSub>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e>
                          </m:d>
                        </m:e>
                        <m:sup>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sup>
                      </m:sSup>
                    </m:oMath>
                  </m:oMathPara>
                </a14:m>
                <a:endParaRPr lang="en-US" altLang="zh-CN" sz="1400" dirty="0">
                  <a:solidFill>
                    <a:schemeClr val="tx1"/>
                  </a:solidFill>
                </a:endParaRPr>
              </a:p>
              <a:p>
                <a:pPr algn="ctr">
                  <a:lnSpc>
                    <a:spcPct val="14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高度</m:t>
                      </m:r>
                      <m:r>
                        <m:rPr>
                          <m:nor/>
                        </m:rPr>
                        <a:rPr lang="zh-CN" altLang="en-US" sz="1400" dirty="0">
                          <a:solidFill>
                            <a:schemeClr val="tx1"/>
                          </a:solidFill>
                        </a:rPr>
                        <m:t>平均</m:t>
                      </m:r>
                      <m:r>
                        <a:rPr lang="zh-CN" altLang="en-US" sz="1400" i="1" dirty="0" smtClean="0">
                          <a:solidFill>
                            <a:schemeClr val="tx1"/>
                          </a:solidFill>
                          <a:latin typeface="Cambria Math" panose="02040503050406030204" pitchFamily="18" charset="0"/>
                        </a:rPr>
                        <m:t>掩蔽函数</m:t>
                      </m:r>
                      <m:r>
                        <a:rPr lang="zh-CN" altLang="en-US" sz="1400" i="1" dirty="0">
                          <a:solidFill>
                            <a:schemeClr val="tx1"/>
                          </a:solidFill>
                          <a:latin typeface="Cambria Math" panose="02040503050406030204" pitchFamily="18" charset="0"/>
                        </a:rPr>
                        <m:t>：</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1</m:t>
                          </m:r>
                        </m:sub>
                      </m:sSub>
                      <m:d>
                        <m:dPr>
                          <m:ctrlPr>
                            <a:rPr lang="en-US" altLang="zh-CN" sz="1400" b="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b="1"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m:t>
                      </m:r>
                      <m:nary>
                        <m:naryPr>
                          <m:ctrlPr>
                            <a:rPr lang="en-US" altLang="zh-CN" sz="1400" b="0" i="1" dirty="0" smtClean="0">
                              <a:solidFill>
                                <a:schemeClr val="tx1"/>
                              </a:solidFill>
                              <a:latin typeface="Cambria Math" panose="02040503050406030204" pitchFamily="18" charset="0"/>
                            </a:rPr>
                          </m:ctrlPr>
                        </m:naryPr>
                        <m:sub>
                          <m:r>
                            <a:rPr lang="en-US" altLang="zh-CN" sz="1400" b="0" i="1" dirty="0" smtClean="0">
                              <a:solidFill>
                                <a:schemeClr val="tx1"/>
                              </a:solidFill>
                              <a:latin typeface="Cambria Math" panose="02040503050406030204" pitchFamily="18" charset="0"/>
                            </a:rPr>
                            <m:t>−∞</m:t>
                          </m:r>
                        </m:sub>
                        <m:sup>
                          <m:r>
                            <a:rPr lang="en-US" altLang="zh-CN" sz="1400" b="0" i="1" dirty="0" smtClean="0">
                              <a:solidFill>
                                <a:schemeClr val="tx1"/>
                              </a:solidFill>
                              <a:latin typeface="Cambria Math" panose="02040503050406030204" pitchFamily="18" charset="0"/>
                            </a:rPr>
                            <m:t>+∞</m:t>
                          </m:r>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𝜉</m:t>
                                  </m:r>
                                </m:e>
                                <m:sup>
                                  <m:r>
                                    <a:rPr lang="en-US" altLang="zh-CN" sz="1400" b="0" i="1" dirty="0" smtClean="0">
                                      <a:solidFill>
                                        <a:schemeClr val="tx1"/>
                                      </a:solidFill>
                                      <a:latin typeface="Cambria Math" panose="02040503050406030204" pitchFamily="18" charset="0"/>
                                    </a:rPr>
                                    <m:t>′</m:t>
                                  </m:r>
                                </m:sup>
                              </m:sSup>
                            </m:e>
                          </m:d>
                          <m:r>
                            <a:rPr lang="en-US" altLang="zh-CN" sz="1400" b="0" i="1" dirty="0" smtClean="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r>
                            <a:rPr lang="en-US" altLang="zh-CN" sz="1400" b="0" i="1" dirty="0" smtClean="0">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nary>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cot</m:t>
                              </m:r>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𝑜</m:t>
                                  </m:r>
                                </m:sub>
                              </m:sSub>
                            </m:e>
                          </m:func>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e>
                      </m:d>
                      <m:nary>
                        <m:naryPr>
                          <m:ctrlPr>
                            <a:rPr lang="en-US" altLang="zh-CN" sz="1400" i="1" dirty="0">
                              <a:solidFill>
                                <a:schemeClr val="tx1"/>
                              </a:solidFill>
                              <a:latin typeface="Cambria Math" panose="02040503050406030204" pitchFamily="18" charset="0"/>
                            </a:rPr>
                          </m:ctrlPr>
                        </m:naryPr>
                        <m:sub>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sup>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d>
                            </m:e>
                            <m:sup>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sup>
                          </m:sSup>
                          <m:sSup>
                            <m:sSupPr>
                              <m:ctrlPr>
                                <a:rPr lang="en-US" altLang="zh-CN" sz="1400" b="0" i="1" dirty="0" smtClean="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e>
                            <m:sup>
                              <m:r>
                                <a:rPr lang="en-US" altLang="zh-CN" sz="1400" b="0" i="1" dirty="0" smtClean="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d>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nary>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r>
                            <a:rPr lang="en-US" altLang="zh-CN" sz="1400" dirty="0">
                              <a:solidFill>
                                <a:schemeClr val="tx1"/>
                              </a:solidFill>
                              <a:latin typeface="Cambria Math" panose="02040503050406030204" pitchFamily="18" charset="0"/>
                            </a:rPr>
                            <m:t>1</m:t>
                          </m:r>
                        </m:num>
                        <m:den>
                          <m:r>
                            <a:rPr lang="en-US" altLang="zh-CN" sz="1400" dirty="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den>
                      </m:f>
                      <m:d>
                        <m:dPr>
                          <m:ctrlPr>
                            <a:rPr lang="en-US" altLang="zh-CN" sz="1400" b="1" i="1" dirty="0" smtClean="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d>
                            </m:e>
                            <m:sup>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b="1"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1</m:t>
                              </m:r>
                            </m:sup>
                          </m:sSup>
                        </m:e>
                      </m:d>
                      <m:sSubSup>
                        <m:sSubSupPr>
                          <m:ctrlPr>
                            <a:rPr lang="en-US" altLang="zh-CN" sz="1400" b="1" i="1" dirty="0" smtClean="0">
                              <a:solidFill>
                                <a:schemeClr val="tx1"/>
                              </a:solidFill>
                              <a:latin typeface="Cambria Math" panose="02040503050406030204" pitchFamily="18" charset="0"/>
                            </a:rPr>
                          </m:ctrlPr>
                        </m:sSubSupPr>
                        <m:e>
                          <m:d>
                            <m:dPr>
                              <m:begChr m:val=""/>
                              <m:endChr m:val="|"/>
                              <m:ctrlPr>
                                <a:rPr lang="en-US" altLang="zh-CN" sz="1400" b="1" i="1" dirty="0" smtClean="0">
                                  <a:solidFill>
                                    <a:schemeClr val="tx1"/>
                                  </a:solidFill>
                                  <a:latin typeface="Cambria Math" panose="02040503050406030204" pitchFamily="18" charset="0"/>
                                </a:rPr>
                              </m:ctrlPr>
                            </m:dPr>
                            <m:e>
                              <m:r>
                                <a:rPr lang="zh-CN" altLang="en-US">
                                  <a:latin typeface="Cambria Math" panose="02040503050406030204" pitchFamily="18" charset="0"/>
                                </a:rPr>
                                <m:t>​</m:t>
                              </m:r>
                            </m:e>
                          </m:d>
                        </m:e>
                        <m:sub>
                          <m:r>
                            <a:rPr lang="en-US" altLang="zh-CN" sz="1400" b="1" i="1" dirty="0" smtClean="0">
                              <a:solidFill>
                                <a:schemeClr val="tx1"/>
                              </a:solidFill>
                              <a:latin typeface="Cambria Math" panose="02040503050406030204" pitchFamily="18" charset="0"/>
                            </a:rPr>
                            <m:t>−∞</m:t>
                          </m:r>
                        </m:sub>
                        <m:sup>
                          <m:r>
                            <a:rPr lang="en-US" altLang="zh-CN" sz="1400" b="1" i="1" dirty="0" smtClean="0">
                              <a:solidFill>
                                <a:schemeClr val="tx1"/>
                              </a:solidFill>
                              <a:latin typeface="Cambria Math" panose="02040503050406030204" pitchFamily="18" charset="0"/>
                            </a:rPr>
                            <m:t>+∞</m:t>
                          </m:r>
                        </m:sup>
                      </m:sSubSup>
                      <m:r>
                        <a:rPr lang="en-US" altLang="zh-CN" sz="1400" b="1"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f>
                        <m:fPr>
                          <m:ctrlPr>
                            <a:rPr lang="en-US" altLang="zh-CN" sz="1400" i="1" dirty="0">
                              <a:solidFill>
                                <a:schemeClr val="tx1"/>
                              </a:solidFill>
                              <a:latin typeface="Cambria Math" panose="02040503050406030204" pitchFamily="18" charset="0"/>
                            </a:rPr>
                          </m:ctrlPr>
                        </m:fPr>
                        <m:num>
                          <m:r>
                            <a:rPr lang="en-US" altLang="zh-CN" sz="1400" dirty="0">
                              <a:solidFill>
                                <a:schemeClr val="tx1"/>
                              </a:solidFill>
                              <a:latin typeface="Cambria Math" panose="02040503050406030204" pitchFamily="18" charset="0"/>
                            </a:rPr>
                            <m:t>1</m:t>
                          </m:r>
                        </m:num>
                        <m:den>
                          <m:r>
                            <a:rPr lang="en-US" altLang="zh-CN" sz="1400" dirty="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den>
                      </m:f>
                      <m:d>
                        <m:dPr>
                          <m:ctrlPr>
                            <a:rPr lang="en-US" altLang="zh-CN" sz="1400" b="1"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1</m:t>
                              </m:r>
                            </m:e>
                            <m:sup>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b="1"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sup>
                          </m:sSup>
                          <m:r>
                            <a:rPr lang="en-US" altLang="zh-CN" sz="1400" b="1"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0</m:t>
                              </m:r>
                            </m:e>
                            <m:sup>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b="1"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sup>
                          </m:sSup>
                        </m:e>
                      </m:d>
                      <m:r>
                        <a:rPr lang="en-US" altLang="zh-CN" sz="1400" b="1"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num>
                        <m:den>
                          <m:r>
                            <a:rPr lang="en-US" altLang="zh-CN" sz="1400" dirty="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den>
                      </m:f>
                    </m:oMath>
                  </m:oMathPara>
                </a14:m>
                <a:endParaRPr lang="en-US" altLang="zh-CN" sz="1400" b="1" i="1" dirty="0">
                  <a:solidFill>
                    <a:schemeClr val="tx1"/>
                  </a:solidFill>
                  <a:latin typeface="Cambria Math" panose="02040503050406030204" pitchFamily="18" charset="0"/>
                </a:endParaRPr>
              </a:p>
              <a:p>
                <a:pPr algn="ctr">
                  <a:lnSpc>
                    <a:spcPct val="140000"/>
                  </a:lnSpc>
                </a:pPr>
                <a14:m>
                  <m:oMathPara xmlns:m="http://schemas.openxmlformats.org/officeDocument/2006/math">
                    <m:oMathParaPr>
                      <m:jc m:val="centerGroup"/>
                    </m:oMathParaPr>
                    <m:oMath xmlns:m="http://schemas.openxmlformats.org/officeDocument/2006/math">
                      <m:r>
                        <a:rPr lang="zh-CN" altLang="en-US" sz="1400" b="1" i="1" dirty="0">
                          <a:solidFill>
                            <a:schemeClr val="tx1"/>
                          </a:solidFill>
                          <a:latin typeface="Cambria Math" panose="02040503050406030204" pitchFamily="18" charset="0"/>
                        </a:rPr>
                        <m:t>因为</m:t>
                      </m:r>
                      <m:r>
                        <m:rPr>
                          <m:nor/>
                        </m:rPr>
                        <a:rPr lang="zh-CN" altLang="en-US" sz="1400" dirty="0">
                          <a:solidFill>
                            <a:schemeClr val="tx1"/>
                          </a:solidFill>
                        </a:rPr>
                        <m:t>仅讨论</m:t>
                      </m:r>
                      <m:r>
                        <a:rPr lang="en-US" altLang="zh-CN" sz="1400" b="1" i="1" dirty="0" smtClean="0">
                          <a:solidFill>
                            <a:schemeClr val="tx1"/>
                          </a:solidFill>
                          <a:latin typeface="Cambria Math" panose="02040503050406030204" pitchFamily="18" charset="0"/>
                        </a:rPr>
                        <m:t>𝒐</m:t>
                      </m:r>
                      <m:r>
                        <m:rPr>
                          <m:nor/>
                        </m:rPr>
                        <a:rPr lang="zh-CN" altLang="en-US" sz="1400" dirty="0" smtClean="0">
                          <a:solidFill>
                            <a:schemeClr val="tx1"/>
                          </a:solidFill>
                        </a:rPr>
                        <m:t>朝向微表面上方的情况</m:t>
                      </m:r>
                      <m:r>
                        <a:rPr lang="zh-CN" altLang="en-US" sz="1400" i="1" dirty="0">
                          <a:solidFill>
                            <a:schemeClr val="tx1"/>
                          </a:solidFill>
                          <a:latin typeface="Cambria Math" panose="02040503050406030204" pitchFamily="18" charset="0"/>
                        </a:rPr>
                        <m:t>，</m:t>
                      </m:r>
                      <m:r>
                        <a:rPr lang="zh-CN" altLang="en-US" sz="1400" i="1" dirty="0" smtClean="0">
                          <a:solidFill>
                            <a:schemeClr val="tx1"/>
                          </a:solidFill>
                          <a:latin typeface="Cambria Math" panose="02040503050406030204" pitchFamily="18" charset="0"/>
                        </a:rPr>
                        <m:t>所以</m:t>
                      </m:r>
                      <m:r>
                        <a:rPr lang="zh-CN" altLang="en-US" sz="1400" b="1" i="1" dirty="0">
                          <a:solidFill>
                            <a:schemeClr val="tx1"/>
                          </a:solidFill>
                          <a:latin typeface="Cambria Math" panose="02040503050406030204" pitchFamily="18" charset="0"/>
                        </a:rPr>
                        <m:t>要求</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Sub>
                        </m:e>
                      </m:func>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r>
                        <a:rPr lang="en-US" altLang="zh-CN" sz="1400" b="0" i="1" dirty="0" smtClean="0">
                          <a:solidFill>
                            <a:schemeClr val="tx1"/>
                          </a:solidFill>
                          <a:latin typeface="Cambria Math" panose="02040503050406030204" pitchFamily="18" charset="0"/>
                        </a:rPr>
                        <m:t>&gt;0,  </m:t>
                      </m:r>
                      <m:r>
                        <a:rPr lang="zh-CN" altLang="en-US" sz="1400" i="1" dirty="0">
                          <a:solidFill>
                            <a:schemeClr val="tx1"/>
                          </a:solidFill>
                          <a:latin typeface="Cambria Math" panose="02040503050406030204" pitchFamily="18" charset="0"/>
                        </a:rPr>
                        <m:t>即</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Sub>
                            </m:e>
                          </m:func>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e>
                      </m:d>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oMath>
                  </m:oMathPara>
                </a14:m>
                <a:endParaRPr lang="en-US" altLang="zh-CN" sz="1400" b="0" i="1"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48C2221C-67FD-2019-6896-F075468D9FDF}"/>
                  </a:ext>
                </a:extLst>
              </p:cNvPr>
              <p:cNvSpPr>
                <a:spLocks noRot="1" noChangeAspect="1" noMove="1" noResize="1" noEditPoints="1" noAdjustHandles="1" noChangeArrowheads="1" noChangeShapeType="1" noTextEdit="1"/>
              </p:cNvSpPr>
              <p:nvPr/>
            </p:nvSpPr>
            <p:spPr>
              <a:xfrm>
                <a:off x="368712" y="1144044"/>
                <a:ext cx="11299283" cy="540280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718008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D731A-D34F-66B9-31ED-D64B5BD5128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14E8B102-A03C-B6D8-6658-52C23C244C56}"/>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14:m>
                  <m:oMath xmlns:m="http://schemas.openxmlformats.org/officeDocument/2006/math">
                    <m:sSub>
                      <m:sSubPr>
                        <m:ctrlPr>
                          <a:rPr lang="en-US" altLang="zh-CN" i="1" dirty="0" smtClean="0">
                            <a:solidFill>
                              <a:schemeClr val="tx1"/>
                            </a:solidFill>
                            <a:latin typeface="Cambria Math" panose="02040503050406030204" pitchFamily="18" charset="0"/>
                          </a:rPr>
                        </m:ctrlPr>
                      </m:sSubPr>
                      <m:e>
                        <m:r>
                          <m:rPr>
                            <m:sty m:val="p"/>
                          </m:rPr>
                          <a:rPr lang="en-US" altLang="zh-CN" i="1" dirty="0" smtClean="0">
                            <a:solidFill>
                              <a:schemeClr val="tx1"/>
                            </a:solidFill>
                            <a:latin typeface="Cambria Math" panose="02040503050406030204" pitchFamily="18" charset="0"/>
                          </a:rPr>
                          <m:t>G</m:t>
                        </m:r>
                      </m:e>
                      <m:sub>
                        <m:r>
                          <a:rPr lang="en-US" altLang="zh-CN" b="0" i="1" dirty="0" smtClean="0">
                            <a:solidFill>
                              <a:schemeClr val="tx1"/>
                            </a:solidFill>
                            <a:latin typeface="Cambria Math" panose="02040503050406030204" pitchFamily="18" charset="0"/>
                          </a:rPr>
                          <m:t>2</m:t>
                        </m:r>
                      </m:sub>
                    </m:sSub>
                    <m:r>
                      <a:rPr lang="en-US" altLang="zh-CN" b="0"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𝒊</m:t>
                    </m:r>
                    <m:r>
                      <a:rPr lang="en-US" altLang="zh-CN" b="1"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𝒐</m:t>
                    </m:r>
                    <m:r>
                      <a:rPr lang="en-US" altLang="zh-CN" b="1" i="1" dirty="0" smtClean="0">
                        <a:solidFill>
                          <a:schemeClr val="tx1"/>
                        </a:solidFill>
                        <a:latin typeface="Cambria Math" panose="02040503050406030204" pitchFamily="18" charset="0"/>
                      </a:rPr>
                      <m:t>,</m:t>
                    </m:r>
                    <m:r>
                      <a:rPr lang="en-US" altLang="zh-CN" b="1" i="1" dirty="0" smtClean="0">
                        <a:solidFill>
                          <a:schemeClr val="tx1"/>
                        </a:solidFill>
                        <a:latin typeface="Cambria Math" panose="02040503050406030204" pitchFamily="18" charset="0"/>
                      </a:rPr>
                      <m:t>𝒎</m:t>
                    </m:r>
                    <m:r>
                      <a:rPr lang="en-US" altLang="zh-CN" b="0" i="1" dirty="0" smtClean="0">
                        <a:solidFill>
                          <a:schemeClr val="tx1"/>
                        </a:solidFill>
                        <a:latin typeface="Cambria Math" panose="02040503050406030204" pitchFamily="18" charset="0"/>
                      </a:rPr>
                      <m:t>)</m:t>
                    </m:r>
                  </m:oMath>
                </a14:m>
                <a:r>
                  <a:rPr lang="zh-CN" altLang="en-US" dirty="0"/>
                  <a:t> 公式推导</a:t>
                </a:r>
                <a:endParaRPr lang="en-US" altLang="zh-CN" dirty="0"/>
              </a:p>
            </p:txBody>
          </p:sp>
        </mc:Choice>
        <mc:Fallback xmlns="">
          <p:sp>
            <p:nvSpPr>
              <p:cNvPr id="13" name="标题 2">
                <a:extLst>
                  <a:ext uri="{FF2B5EF4-FFF2-40B4-BE49-F238E27FC236}">
                    <a16:creationId xmlns:a16="http://schemas.microsoft.com/office/drawing/2014/main" id="{A58F7EA6-4A72-6CCB-7D7A-6C55786B5A9A}"/>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t="-11017" b="-8475"/>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08F14E9C-1F2E-AE8B-5E87-0F364BB8A18D}"/>
              </a:ext>
            </a:extLst>
          </p:cNvPr>
          <p:cNvSpPr/>
          <p:nvPr/>
        </p:nvSpPr>
        <p:spPr>
          <a:xfrm>
            <a:off x="521112" y="1315233"/>
            <a:ext cx="11299283"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B73A30DE-30D6-37DE-5579-3BE614A4C62D}"/>
                  </a:ext>
                </a:extLst>
              </p:cNvPr>
              <p:cNvSpPr/>
              <p:nvPr/>
            </p:nvSpPr>
            <p:spPr>
              <a:xfrm>
                <a:off x="368712" y="1144044"/>
                <a:ext cx="11299283"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1400" i="1" dirty="0" smtClean="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r>
                        <a:rPr lang="zh-CN" altLang="en-US" sz="1400" i="1" dirty="0" smtClean="0">
                          <a:solidFill>
                            <a:schemeClr val="tx1"/>
                          </a:solidFill>
                          <a:latin typeface="Cambria Math" panose="02040503050406030204" pitchFamily="18" charset="0"/>
                        </a:rPr>
                        <m:t>处</m:t>
                      </m:r>
                      <m:r>
                        <a:rPr lang="zh-CN" altLang="en-US" sz="1400" i="1" dirty="0">
                          <a:solidFill>
                            <a:schemeClr val="tx1"/>
                          </a:solidFill>
                          <a:latin typeface="Cambria Math" panose="02040503050406030204" pitchFamily="18" charset="0"/>
                        </a:rPr>
                        <m:t>微面</m:t>
                      </m:r>
                      <m:r>
                        <a:rPr lang="zh-CN" altLang="en-US" sz="1400" i="1" dirty="0" smtClean="0">
                          <a:solidFill>
                            <a:schemeClr val="tx1"/>
                          </a:solidFill>
                          <a:latin typeface="Cambria Math" panose="02040503050406030204" pitchFamily="18" charset="0"/>
                        </a:rPr>
                        <m:t>的</m:t>
                      </m:r>
                      <m:r>
                        <a:rPr lang="zh-CN" altLang="en-US" sz="1400" i="1" dirty="0">
                          <a:solidFill>
                            <a:schemeClr val="tx1"/>
                          </a:solidFill>
                          <a:latin typeface="Cambria Math" panose="02040503050406030204" pitchFamily="18" charset="0"/>
                        </a:rPr>
                        <m:t>方向无关性</m:t>
                      </m:r>
                      <m:r>
                        <a:rPr lang="zh-CN" altLang="en-US" sz="1400" i="1" dirty="0" smtClean="0">
                          <a:solidFill>
                            <a:schemeClr val="tx1"/>
                          </a:solidFill>
                          <a:latin typeface="Cambria Math" panose="02040503050406030204" pitchFamily="18" charset="0"/>
                        </a:rPr>
                        <m:t>掩蔽</m:t>
                      </m:r>
                      <m:r>
                        <a:rPr lang="en-US" altLang="zh-CN" sz="1400" b="0" i="1" dirty="0" smtClean="0">
                          <a:solidFill>
                            <a:schemeClr val="tx1"/>
                          </a:solidFill>
                          <a:latin typeface="Cambria Math" panose="02040503050406030204" pitchFamily="18" charset="0"/>
                        </a:rPr>
                        <m:t>−</m:t>
                      </m:r>
                      <m:r>
                        <a:rPr lang="zh-CN" altLang="en-US" sz="1400" i="1" dirty="0">
                          <a:solidFill>
                            <a:schemeClr val="tx1"/>
                          </a:solidFill>
                          <a:latin typeface="Cambria Math" panose="02040503050406030204" pitchFamily="18" charset="0"/>
                        </a:rPr>
                        <m:t>阴影</m:t>
                      </m:r>
                      <m:r>
                        <a:rPr lang="zh-CN" altLang="en-US" sz="1400" i="1" dirty="0" smtClean="0">
                          <a:solidFill>
                            <a:schemeClr val="tx1"/>
                          </a:solidFill>
                          <a:latin typeface="Cambria Math" panose="02040503050406030204" pitchFamily="18" charset="0"/>
                        </a:rPr>
                        <m:t>函数</m:t>
                      </m:r>
                      <m:r>
                        <a:rPr lang="zh-CN" altLang="en-US" sz="1400" i="1" dirty="0">
                          <a:solidFill>
                            <a:schemeClr val="tx1"/>
                          </a:solidFill>
                          <a:latin typeface="Cambria Math" panose="02040503050406030204" pitchFamily="18" charset="0"/>
                        </a:rPr>
                        <m:t>：</m:t>
                      </m:r>
                      <m:sSub>
                        <m:sSubPr>
                          <m:ctrlPr>
                            <a:rPr lang="en-US" altLang="zh-CN" sz="1400" i="1" dirty="0" smtClean="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b="0" i="1" dirty="0" smtClean="0">
                              <a:solidFill>
                                <a:schemeClr val="tx1"/>
                              </a:solidFill>
                              <a:latin typeface="Cambria Math" panose="02040503050406030204" pitchFamily="18" charset="0"/>
                            </a:rPr>
                            <m:t>2</m:t>
                          </m:r>
                        </m:sub>
                      </m:sSub>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b="1" i="1" dirty="0" smtClean="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𝜉</m:t>
                              </m:r>
                            </m:e>
                            <m:sub>
                              <m:r>
                                <a:rPr lang="en-US" altLang="zh-CN" sz="1400" b="0" i="1" dirty="0" smtClean="0">
                                  <a:solidFill>
                                    <a:schemeClr val="tx1"/>
                                  </a:solidFill>
                                  <a:latin typeface="Cambria Math" panose="02040503050406030204" pitchFamily="18" charset="0"/>
                                </a:rPr>
                                <m:t>0</m:t>
                              </m:r>
                            </m:sub>
                          </m:sSub>
                        </m:e>
                      </m:d>
                    </m:oMath>
                    <m:oMath xmlns:m="http://schemas.openxmlformats.org/officeDocument/2006/math">
                      <m:r>
                        <a:rPr lang="en-US" altLang="zh-CN" sz="1400" b="0" i="1" dirty="0" smtClean="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𝜉</m:t>
                              </m:r>
                            </m:e>
                            <m:sub>
                              <m:r>
                                <a:rPr lang="en-US" altLang="zh-CN" sz="1400" b="0" i="1" dirty="0" smtClean="0">
                                  <a:solidFill>
                                    <a:schemeClr val="tx1"/>
                                  </a:solidFill>
                                  <a:latin typeface="Cambria Math" panose="02040503050406030204" pitchFamily="18" charset="0"/>
                                </a:rPr>
                                <m:t>0</m:t>
                              </m:r>
                            </m:sub>
                          </m:sSub>
                        </m:e>
                      </m:d>
                      <m:r>
                        <a:rPr lang="en-US" altLang="zh-CN" sz="1400" b="0" i="1" dirty="0" smtClean="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𝜉</m:t>
                              </m:r>
                            </m:e>
                            <m:sub>
                              <m:r>
                                <a:rPr lang="en-US" altLang="zh-CN" sz="1400" b="0" i="1" dirty="0" smtClean="0">
                                  <a:solidFill>
                                    <a:schemeClr val="tx1"/>
                                  </a:solidFill>
                                  <a:latin typeface="Cambria Math" panose="02040503050406030204" pitchFamily="18" charset="0"/>
                                </a:rPr>
                                <m:t>0</m:t>
                              </m:r>
                            </m:sub>
                          </m:sSub>
                        </m:e>
                      </m:d>
                    </m:oMath>
                    <m:oMath xmlns:m="http://schemas.openxmlformats.org/officeDocument/2006/math">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Sub>
                            </m:e>
                          </m:func>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e>
                          </m:d>
                        </m:e>
                        <m:sup>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sup>
                      </m:sSup>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𝑖</m:t>
                                  </m:r>
                                </m:sub>
                              </m:sSub>
                            </m:e>
                          </m:func>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𝑚</m:t>
                                  </m:r>
                                </m:sub>
                              </m:sSub>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e>
                          </m:d>
                        </m:e>
                        <m:sup>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e>
                          </m:d>
                        </m:sup>
                      </m:sSup>
                    </m:oMath>
                    <m:oMath xmlns:m="http://schemas.openxmlformats.org/officeDocument/2006/math">
                      <m:r>
                        <a:rPr lang="en-US" altLang="zh-CN" sz="1400" b="1"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1"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𝜉</m:t>
                                  </m:r>
                                </m:e>
                                <m:sub>
                                  <m:r>
                                    <a:rPr lang="en-US" altLang="zh-CN" sz="1400" i="1" dirty="0">
                                      <a:solidFill>
                                        <a:schemeClr val="tx1"/>
                                      </a:solidFill>
                                      <a:latin typeface="Cambria Math" panose="02040503050406030204" pitchFamily="18" charset="0"/>
                                    </a:rPr>
                                    <m:t>0</m:t>
                                  </m:r>
                                </m:sub>
                              </m:sSub>
                            </m:e>
                          </m:d>
                        </m:e>
                        <m:sup>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b="1" i="1" dirty="0" smtClean="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e>
                          </m:d>
                        </m:sup>
                      </m:sSup>
                    </m:oMath>
                  </m:oMathPara>
                </a14:m>
                <a:endParaRPr lang="en-US" altLang="zh-CN" sz="1400" b="1" dirty="0">
                  <a:solidFill>
                    <a:schemeClr val="tx1"/>
                  </a:solidFill>
                </a:endParaRPr>
              </a:p>
              <a:p>
                <a:pPr algn="ctr">
                  <a:lnSpc>
                    <a:spcPct val="120000"/>
                  </a:lnSpc>
                </a:pPr>
                <a14:m>
                  <m:oMathPara xmlns:m="http://schemas.openxmlformats.org/officeDocument/2006/math">
                    <m:oMathParaPr>
                      <m:jc m:val="centerGroup"/>
                    </m:oMathParaPr>
                    <m:oMath xmlns:m="http://schemas.openxmlformats.org/officeDocument/2006/math">
                      <m:r>
                        <a:rPr lang="zh-CN" altLang="en-US" sz="1400" i="1" dirty="0">
                          <a:solidFill>
                            <a:schemeClr val="tx1"/>
                          </a:solidFill>
                          <a:latin typeface="Cambria Math" panose="02040503050406030204" pitchFamily="18" charset="0"/>
                        </a:rPr>
                        <m:t>高度</m:t>
                      </m:r>
                      <m:r>
                        <m:rPr>
                          <m:nor/>
                        </m:rPr>
                        <a:rPr lang="zh-CN" altLang="en-US" sz="1400" dirty="0">
                          <a:solidFill>
                            <a:schemeClr val="tx1"/>
                          </a:solidFill>
                        </a:rPr>
                        <m:t>平均</m:t>
                      </m:r>
                      <m:r>
                        <a:rPr lang="zh-CN" altLang="en-US" sz="1400" i="1" dirty="0">
                          <a:solidFill>
                            <a:schemeClr val="tx1"/>
                          </a:solidFill>
                          <a:latin typeface="Cambria Math" panose="02040503050406030204" pitchFamily="18" charset="0"/>
                        </a:rPr>
                        <m:t>掩蔽</m:t>
                      </m:r>
                      <m:r>
                        <a:rPr lang="en-US" altLang="zh-CN" sz="1400" b="0" i="1" dirty="0" smtClean="0">
                          <a:solidFill>
                            <a:schemeClr val="tx1"/>
                          </a:solidFill>
                          <a:latin typeface="Cambria Math" panose="02040503050406030204" pitchFamily="18" charset="0"/>
                        </a:rPr>
                        <m:t>−</m:t>
                      </m:r>
                      <m:r>
                        <a:rPr lang="zh-CN" altLang="en-US" sz="1400" i="1" dirty="0" smtClean="0">
                          <a:solidFill>
                            <a:schemeClr val="tx1"/>
                          </a:solidFill>
                          <a:latin typeface="Cambria Math" panose="02040503050406030204" pitchFamily="18" charset="0"/>
                        </a:rPr>
                        <m:t>阴影</m:t>
                      </m:r>
                      <m:r>
                        <a:rPr lang="zh-CN" altLang="en-US" sz="1400" i="1" dirty="0">
                          <a:solidFill>
                            <a:schemeClr val="tx1"/>
                          </a:solidFill>
                          <a:latin typeface="Cambria Math" panose="02040503050406030204" pitchFamily="18" charset="0"/>
                        </a:rPr>
                        <m:t>函数</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2</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m:t>
                      </m:r>
                      <m:nary>
                        <m:naryPr>
                          <m:ctrlPr>
                            <a:rPr lang="en-US" altLang="zh-CN" sz="1400" b="0" i="1" dirty="0" smtClean="0">
                              <a:solidFill>
                                <a:schemeClr val="tx1"/>
                              </a:solidFill>
                              <a:latin typeface="Cambria Math" panose="02040503050406030204" pitchFamily="18" charset="0"/>
                            </a:rPr>
                          </m:ctrlPr>
                        </m:naryPr>
                        <m:sub>
                          <m:r>
                            <m:rPr>
                              <m:brk m:alnAt="23"/>
                            </m:rP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m:t>
                          </m:r>
                        </m:sub>
                        <m:sup>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m:t>
                          </m:r>
                        </m:sup>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2</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r>
                                <a:rPr lang="en-US" altLang="zh-CN" sz="1400" i="1" dirty="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𝜉</m:t>
                                  </m:r>
                                </m:e>
                                <m:sup>
                                  <m:r>
                                    <a:rPr lang="en-US" altLang="zh-CN" sz="1400" b="0" i="1" dirty="0" smtClean="0">
                                      <a:solidFill>
                                        <a:schemeClr val="tx1"/>
                                      </a:solidFill>
                                      <a:latin typeface="Cambria Math" panose="02040503050406030204" pitchFamily="18" charset="0"/>
                                    </a:rPr>
                                    <m:t>′</m:t>
                                  </m:r>
                                </m:sup>
                              </m:sSup>
                            </m:e>
                          </m:d>
                          <m:r>
                            <a:rPr lang="en-US" altLang="zh-CN" sz="1400" b="0" i="1" dirty="0" smtClean="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𝑃</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e>
                              <m:r>
                                <a:rPr lang="en-US" altLang="zh-CN" sz="1400" i="1" dirty="0">
                                  <a:solidFill>
                                    <a:schemeClr val="tx1"/>
                                  </a:solidFill>
                                  <a:latin typeface="Cambria Math" panose="02040503050406030204" pitchFamily="18" charset="0"/>
                                </a:rPr>
                                <m:t>𝐹</m:t>
                              </m:r>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𝜏</m:t>
                              </m:r>
                            </m:e>
                          </m:d>
                          <m:r>
                            <a:rPr lang="en-US" altLang="zh-CN" sz="1400" b="0" i="1" dirty="0" smtClean="0">
                              <a:solidFill>
                                <a:schemeClr val="tx1"/>
                              </a:solidFill>
                              <a:latin typeface="Cambria Math" panose="02040503050406030204" pitchFamily="18" charset="0"/>
                            </a:rPr>
                            <m:t> </m:t>
                          </m:r>
                          <m:r>
                            <a:rPr lang="en-US" altLang="zh-CN" sz="1400" b="0" i="1" dirty="0" smtClean="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nary>
                    </m:oMath>
                    <m:oMath xmlns:m="http://schemas.openxmlformats.org/officeDocument/2006/math">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nary>
                        <m:naryPr>
                          <m:ctrlPr>
                            <a:rPr lang="en-US" altLang="zh-CN" sz="1400" i="1" dirty="0">
                              <a:solidFill>
                                <a:schemeClr val="tx1"/>
                              </a:solidFill>
                              <a:latin typeface="Cambria Math" panose="02040503050406030204" pitchFamily="18" charset="0"/>
                            </a:rPr>
                          </m:ctrlPr>
                        </m:naryPr>
                        <m:sub>
                          <m:r>
                            <m:rPr>
                              <m:brk m:alnAt="23"/>
                            </m:rP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b>
                        <m:sup>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m:t>
                          </m:r>
                        </m:sup>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d>
                            </m:e>
                            <m:sup>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b="1"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e>
                              </m:d>
                            </m:sup>
                          </m:sSup>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d>
                          <m:r>
                            <a:rPr lang="en-US" altLang="zh-CN" sz="1400" i="1" dirty="0">
                              <a:solidFill>
                                <a:schemeClr val="tx1"/>
                              </a:solidFill>
                              <a:latin typeface="Cambria Math" panose="02040503050406030204" pitchFamily="18" charset="0"/>
                            </a:rPr>
                            <m:t>𝑑</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nary>
                    </m:oMath>
                    <m:oMath xmlns:m="http://schemas.openxmlformats.org/officeDocument/2006/math">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f>
                        <m:fPr>
                          <m:ctrlPr>
                            <a:rPr lang="en-US" altLang="zh-CN" sz="1400" b="0" i="1" dirty="0" smtClean="0">
                              <a:solidFill>
                                <a:schemeClr val="tx1"/>
                              </a:solidFill>
                              <a:latin typeface="Cambria Math" panose="02040503050406030204" pitchFamily="18" charset="0"/>
                            </a:rPr>
                          </m:ctrlPr>
                        </m:fPr>
                        <m:num>
                          <m:r>
                            <a:rPr lang="en-US" altLang="zh-CN" sz="1400" b="0" i="1" dirty="0" smtClean="0">
                              <a:solidFill>
                                <a:schemeClr val="tx1"/>
                              </a:solidFill>
                              <a:latin typeface="Cambria Math" panose="02040503050406030204" pitchFamily="18" charset="0"/>
                            </a:rPr>
                            <m:t>1</m:t>
                          </m:r>
                        </m:num>
                        <m:den>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b="1"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e>
                          </m:d>
                          <m:r>
                            <a:rPr lang="en-US" altLang="zh-CN" sz="1400" b="1"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den>
                      </m:f>
                      <m:r>
                        <a:rPr lang="en-US" altLang="zh-CN" sz="1400" b="0" i="1" dirty="0" smtClean="0">
                          <a:solidFill>
                            <a:schemeClr val="tx1"/>
                          </a:solidFill>
                          <a:latin typeface="Cambria Math" panose="02040503050406030204" pitchFamily="18" charset="0"/>
                        </a:rPr>
                        <m:t> </m:t>
                      </m:r>
                      <m:d>
                        <m:dPr>
                          <m:ctrlPr>
                            <a:rPr lang="en-US" altLang="zh-CN" sz="1400" b="0" i="1" dirty="0" smtClean="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𝜉</m:t>
                                      </m:r>
                                    </m:e>
                                    <m:sup>
                                      <m:r>
                                        <a:rPr lang="en-US" altLang="zh-CN" sz="1400" i="1" dirty="0">
                                          <a:solidFill>
                                            <a:schemeClr val="tx1"/>
                                          </a:solidFill>
                                          <a:latin typeface="Cambria Math" panose="02040503050406030204" pitchFamily="18" charset="0"/>
                                        </a:rPr>
                                        <m:t>′</m:t>
                                      </m:r>
                                    </m:sup>
                                  </m:sSup>
                                </m:e>
                              </m:d>
                            </m:e>
                            <m:sup>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b="1"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e>
                              </m:d>
                              <m:r>
                                <a:rPr lang="en-US" altLang="zh-CN" sz="1400" b="1"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1</m:t>
                              </m:r>
                            </m:sup>
                          </m:sSup>
                        </m:e>
                      </m:d>
                      <m:sSubSup>
                        <m:sSubSupPr>
                          <m:ctrlPr>
                            <a:rPr lang="en-US" altLang="zh-CN" sz="1400" b="1" i="1" dirty="0" smtClean="0">
                              <a:solidFill>
                                <a:schemeClr val="tx1"/>
                              </a:solidFill>
                              <a:latin typeface="Cambria Math" panose="02040503050406030204" pitchFamily="18" charset="0"/>
                            </a:rPr>
                          </m:ctrlPr>
                        </m:sSubSupPr>
                        <m:e>
                          <m:d>
                            <m:dPr>
                              <m:begChr m:val=""/>
                              <m:endChr m:val="|"/>
                              <m:ctrlPr>
                                <a:rPr lang="en-US" altLang="zh-CN" sz="1400" b="1" i="1" dirty="0" smtClean="0">
                                  <a:solidFill>
                                    <a:schemeClr val="tx1"/>
                                  </a:solidFill>
                                  <a:latin typeface="Cambria Math" panose="02040503050406030204" pitchFamily="18" charset="0"/>
                                </a:rPr>
                              </m:ctrlPr>
                            </m:dPr>
                            <m:e>
                              <m:r>
                                <a:rPr lang="zh-CN" altLang="en-US">
                                  <a:latin typeface="Cambria Math" panose="02040503050406030204" pitchFamily="18" charset="0"/>
                                </a:rPr>
                                <m:t>​</m:t>
                              </m:r>
                            </m:e>
                          </m:d>
                        </m:e>
                        <m:sub>
                          <m:r>
                            <a:rPr lang="en-US" altLang="zh-CN" sz="1400" b="1"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m:t>
                          </m:r>
                        </m:sub>
                        <m:sup>
                          <m:r>
                            <a:rPr lang="en-US" altLang="zh-CN" sz="1400" b="1" i="1" dirty="0" smtClean="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m:t>
                          </m:r>
                        </m:sup>
                      </m:sSubSup>
                    </m:oMath>
                    <m:oMath xmlns:m="http://schemas.openxmlformats.org/officeDocument/2006/math">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b="1"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e>
                          </m:d>
                          <m:r>
                            <a:rPr lang="en-US" altLang="zh-CN" sz="1400" b="1"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den>
                      </m:f>
                      <m:r>
                        <a:rPr lang="en-US" altLang="zh-CN" sz="1400" i="1" dirty="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1</m:t>
                              </m:r>
                            </m:e>
                            <m:sup>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b="1"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e>
                              </m:d>
                              <m:r>
                                <a:rPr lang="en-US" altLang="zh-CN" sz="1400" b="1"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sup>
                          </m:sSup>
                          <m:r>
                            <a:rPr lang="en-US" altLang="zh-CN" sz="1400" b="0"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0</m:t>
                              </m:r>
                            </m:e>
                            <m:sup>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b="1"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e>
                              </m:d>
                              <m:r>
                                <a:rPr lang="en-US" altLang="zh-CN" sz="1400" b="1"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sup>
                          </m:sSup>
                        </m:e>
                      </m:d>
                    </m:oMath>
                    <m:oMath xmlns:m="http://schemas.openxmlformats.org/officeDocument/2006/math">
                      <m:r>
                        <a:rPr lang="en-US" altLang="zh-CN" sz="1400" b="1"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b="0" i="1" dirty="0" smtClean="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num>
                        <m:den>
                          <m:r>
                            <a:rPr lang="en-US" altLang="zh-CN" sz="1400" i="1" dirty="0">
                              <a:solidFill>
                                <a:schemeClr val="tx1"/>
                              </a:solidFill>
                              <a:latin typeface="Cambria Math" panose="02040503050406030204" pitchFamily="18" charset="0"/>
                            </a:rPr>
                            <m:t>1</m:t>
                          </m:r>
                          <m:r>
                            <a:rPr lang="en-US" altLang="zh-CN" sz="1400"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e>
                          </m:d>
                        </m:den>
                      </m:f>
                      <m:r>
                        <a:rPr lang="en-US" altLang="zh-CN" sz="1400" b="1"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smtClean="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smtClean="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smtClean="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𝒊</m:t>
                                  </m:r>
                                </m:e>
                                <m:sup>
                                  <m:r>
                                    <a:rPr lang="en-US" altLang="zh-CN" sz="1400" b="1" i="1" dirty="0" smtClean="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num>
                        <m:den>
                          <m:r>
                            <a:rPr lang="en-US" altLang="zh-CN" sz="1400" i="1" dirty="0">
                              <a:solidFill>
                                <a:schemeClr val="tx1"/>
                              </a:solidFill>
                              <a:latin typeface="Cambria Math" panose="02040503050406030204" pitchFamily="18" charset="0"/>
                            </a:rPr>
                            <m:t>1</m:t>
                          </m:r>
                          <m:r>
                            <a:rPr lang="en-US" altLang="zh-CN" sz="1400"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e>
                          </m:d>
                        </m:den>
                      </m:f>
                    </m:oMath>
                  </m:oMathPara>
                </a14:m>
                <a:endParaRPr lang="en-US" altLang="zh-CN" sz="1400" dirty="0">
                  <a:solidFill>
                    <a:schemeClr val="tx1"/>
                  </a:solidFill>
                </a:endParaRPr>
              </a:p>
              <a:p>
                <a:pPr algn="ctr">
                  <a:lnSpc>
                    <a:spcPct val="120000"/>
                  </a:lnSpc>
                </a:pPr>
                <a14:m>
                  <m:oMathPara xmlns:m="http://schemas.openxmlformats.org/officeDocument/2006/math">
                    <m:oMathParaPr>
                      <m:jc m:val="centerGroup"/>
                    </m:oMathParaPr>
                    <m:oMath xmlns:m="http://schemas.openxmlformats.org/officeDocument/2006/math">
                      <m:r>
                        <m:rPr>
                          <m:sty m:val="p"/>
                        </m:rPr>
                        <a:rPr lang="en-US" altLang="zh-CN" sz="1400" b="0" i="0" dirty="0" smtClean="0">
                          <a:solidFill>
                            <a:schemeClr val="tx1"/>
                          </a:solidFill>
                          <a:latin typeface="Cambria Math" panose="02040503050406030204" pitchFamily="18" charset="0"/>
                        </a:rPr>
                        <m:t>Λ</m:t>
                      </m:r>
                      <m:d>
                        <m:dPr>
                          <m:ctrlPr>
                            <a:rPr lang="en-US" altLang="zh-CN" sz="1400" b="1"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𝒗</m:t>
                          </m:r>
                        </m:e>
                      </m:d>
                      <m:r>
                        <a:rPr lang="en-US" altLang="zh-CN" sz="1400" b="1" i="0" dirty="0" smtClean="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𝑣</m:t>
                                  </m:r>
                                </m:sub>
                                <m:sup>
                                  <m:r>
                                    <a:rPr lang="en-US" altLang="zh-CN" sz="1400" i="1" dirty="0">
                                      <a:solidFill>
                                        <a:schemeClr val="tx1"/>
                                      </a:solidFill>
                                      <a:latin typeface="Cambria Math" panose="02040503050406030204" pitchFamily="18" charset="0"/>
                                    </a:rPr>
                                    <m:t>+</m:t>
                                  </m:r>
                                </m:sup>
                              </m:sSubSup>
                            </m:e>
                          </m:func>
                        </m:den>
                      </m:f>
                      <m:nary>
                        <m:naryPr>
                          <m:ctrlPr>
                            <a:rPr lang="en-US" altLang="zh-CN" sz="1400" b="1" i="1" dirty="0">
                              <a:solidFill>
                                <a:schemeClr val="tx1"/>
                              </a:solidFill>
                              <a:latin typeface="Cambria Math" panose="02040503050406030204" pitchFamily="18" charset="0"/>
                            </a:rPr>
                          </m:ctrlPr>
                        </m:naryPr>
                        <m:sub>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𝑣</m:t>
                                  </m:r>
                                </m:sub>
                                <m:sup>
                                  <m:r>
                                    <a:rPr lang="en-US" altLang="zh-CN" sz="1400" i="1" dirty="0">
                                      <a:solidFill>
                                        <a:schemeClr val="tx1"/>
                                      </a:solidFill>
                                      <a:latin typeface="Cambria Math" panose="02040503050406030204" pitchFamily="18" charset="0"/>
                                    </a:rPr>
                                    <m:t>+</m:t>
                                  </m:r>
                                </m:sup>
                              </m:sSubSup>
                            </m:e>
                          </m:func>
                        </m:sub>
                        <m:sup>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m:t>
                          </m:r>
                        </m:sup>
                        <m:e>
                          <m:d>
                            <m:dPr>
                              <m:ctrlPr>
                                <a:rPr lang="en-US" altLang="zh-CN" sz="1400" b="1"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r>
                                <a:rPr lang="en-US" altLang="zh-CN" sz="1400" b="1"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cot</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𝑣</m:t>
                                      </m:r>
                                    </m:sub>
                                    <m:sup>
                                      <m:r>
                                        <a:rPr lang="en-US" altLang="zh-CN" sz="1400" i="1" dirty="0">
                                          <a:solidFill>
                                            <a:schemeClr val="tx1"/>
                                          </a:solidFill>
                                          <a:latin typeface="Cambria Math" panose="02040503050406030204" pitchFamily="18" charset="0"/>
                                        </a:rPr>
                                        <m:t>+</m:t>
                                      </m:r>
                                    </m:sup>
                                  </m:sSubSup>
                                </m:e>
                              </m:func>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m:rPr>
                                  <m:sty m:val="p"/>
                                </m:rPr>
                                <a:rPr lang="en-US" altLang="zh-CN" sz="1400" i="1" dirty="0">
                                  <a:solidFill>
                                    <a:schemeClr val="tx1"/>
                                  </a:solidFill>
                                  <a:latin typeface="Cambria Math" panose="02040503050406030204" pitchFamily="18" charset="0"/>
                                </a:rPr>
                                <m:t>P</m:t>
                              </m:r>
                            </m:e>
                            <m:sup>
                              <m:r>
                                <a:rPr lang="en-US" altLang="zh-CN" sz="1400" i="1" dirty="0">
                                  <a:solidFill>
                                    <a:schemeClr val="tx1"/>
                                  </a:solidFill>
                                  <a:latin typeface="Cambria Math" panose="02040503050406030204" pitchFamily="18" charset="0"/>
                                </a:rPr>
                                <m:t>2</m:t>
                              </m:r>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d>
                          <m:r>
                            <a:rPr lang="en-US" altLang="zh-CN" sz="1400" b="0" i="1" dirty="0">
                              <a:solidFill>
                                <a:schemeClr val="tx1"/>
                              </a:solidFill>
                              <a:latin typeface="Cambria Math" panose="02040503050406030204" pitchFamily="18" charset="0"/>
                            </a:rPr>
                            <m:t> </m:t>
                          </m:r>
                          <m:r>
                            <a:rPr lang="en-US" altLang="zh-CN" sz="1400" b="0" i="1" dirty="0">
                              <a:solidFill>
                                <a:schemeClr val="tx1"/>
                              </a:solidFill>
                              <a:latin typeface="Cambria Math" panose="02040503050406030204" pitchFamily="18" charset="0"/>
                            </a:rPr>
                            <m:t>𝑑</m:t>
                          </m:r>
                          <m:sSub>
                            <m:sSubPr>
                              <m:ctrlPr>
                                <a:rPr lang="en-US" altLang="zh-CN" sz="1400" i="1" dirty="0">
                                  <a:solidFill>
                                    <a:schemeClr val="tx1"/>
                                  </a:solidFill>
                                  <a:latin typeface="Cambria Math" panose="02040503050406030204" pitchFamily="18" charset="0"/>
                                </a:rPr>
                              </m:ctrlPr>
                            </m:sSubPr>
                            <m:e>
                              <m:acc>
                                <m:accPr>
                                  <m:chr m:val="̃"/>
                                  <m:ctrlPr>
                                    <a:rPr lang="en-US" altLang="zh-CN" sz="1400" i="1" dirty="0">
                                      <a:solidFill>
                                        <a:schemeClr val="tx1"/>
                                      </a:solidFill>
                                      <a:latin typeface="Cambria Math" panose="02040503050406030204" pitchFamily="18" charset="0"/>
                                    </a:rPr>
                                  </m:ctrlPr>
                                </m:accPr>
                                <m:e>
                                  <m:r>
                                    <a:rPr lang="en-US" altLang="zh-CN" sz="1400" b="0" i="1" dirty="0">
                                      <a:solidFill>
                                        <a:schemeClr val="tx1"/>
                                      </a:solidFill>
                                      <a:latin typeface="Cambria Math" panose="02040503050406030204" pitchFamily="18" charset="0"/>
                                    </a:rPr>
                                    <m:t>𝑚</m:t>
                                  </m:r>
                                </m:e>
                              </m:acc>
                            </m:e>
                            <m:sub>
                              <m:r>
                                <a:rPr lang="en-US" altLang="zh-CN" sz="1400" b="0" i="1" dirty="0">
                                  <a:solidFill>
                                    <a:schemeClr val="tx1"/>
                                  </a:solidFill>
                                  <a:latin typeface="Cambria Math" panose="02040503050406030204" pitchFamily="18" charset="0"/>
                                </a:rPr>
                                <m:t>𝑥</m:t>
                              </m:r>
                            </m:sub>
                          </m:sSub>
                        </m:e>
                      </m:nary>
                      <m:r>
                        <a:rPr lang="en-US" altLang="zh-CN" sz="1400" b="1" i="1" dirty="0" smtClean="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𝑣</m:t>
                          </m:r>
                        </m:sub>
                        <m:sup>
                          <m:r>
                            <a:rPr lang="en-US" altLang="zh-CN" sz="1400" i="1" dirty="0">
                              <a:solidFill>
                                <a:schemeClr val="tx1"/>
                              </a:solidFill>
                              <a:latin typeface="Cambria Math" panose="02040503050406030204" pitchFamily="18" charset="0"/>
                            </a:rPr>
                            <m:t>+</m:t>
                          </m:r>
                        </m:sup>
                      </m:sSubSup>
                      <m:r>
                        <a:rPr lang="zh-CN" altLang="en-US" sz="1400" i="1" dirty="0">
                          <a:solidFill>
                            <a:schemeClr val="tx1"/>
                          </a:solidFill>
                          <a:latin typeface="Cambria Math" panose="02040503050406030204" pitchFamily="18" charset="0"/>
                        </a:rPr>
                        <m:t>为</m:t>
                      </m:r>
                      <m:sSup>
                        <m:sSupPr>
                          <m:ctrlPr>
                            <a:rPr lang="en-US" altLang="zh-CN" sz="1400" b="1" i="1" dirty="0" smtClean="0">
                              <a:solidFill>
                                <a:schemeClr val="tx1"/>
                              </a:solidFill>
                              <a:latin typeface="Cambria Math" panose="02040503050406030204" pitchFamily="18" charset="0"/>
                            </a:rPr>
                          </m:ctrlPr>
                        </m:sSupPr>
                        <m:e>
                          <m:r>
                            <a:rPr lang="en-US" altLang="zh-CN" sz="1400" b="1" i="1" dirty="0" smtClean="0">
                              <a:solidFill>
                                <a:schemeClr val="tx1"/>
                              </a:solidFill>
                              <a:latin typeface="Cambria Math" panose="02040503050406030204" pitchFamily="18" charset="0"/>
                            </a:rPr>
                            <m:t>𝒗</m:t>
                          </m:r>
                        </m:e>
                        <m:sup>
                          <m:r>
                            <a:rPr lang="en-US" altLang="zh-CN" sz="1400" b="1" i="1" dirty="0" smtClean="0">
                              <a:solidFill>
                                <a:schemeClr val="tx1"/>
                              </a:solidFill>
                              <a:latin typeface="Cambria Math" panose="02040503050406030204" pitchFamily="18" charset="0"/>
                            </a:rPr>
                            <m:t>+</m:t>
                          </m:r>
                        </m:sup>
                      </m:sSup>
                      <m:r>
                        <a:rPr lang="zh-CN" altLang="en-US" sz="1400" b="1" i="1" dirty="0">
                          <a:solidFill>
                            <a:schemeClr val="tx1"/>
                          </a:solidFill>
                          <a:latin typeface="Cambria Math" panose="02040503050406030204" pitchFamily="18" charset="0"/>
                        </a:rPr>
                        <m:t>与</m:t>
                      </m:r>
                      <m:r>
                        <a:rPr lang="en-US" altLang="zh-CN" sz="1400" b="1" i="1" dirty="0">
                          <a:solidFill>
                            <a:schemeClr val="tx1"/>
                          </a:solidFill>
                          <a:latin typeface="Cambria Math" panose="02040503050406030204" pitchFamily="18" charset="0"/>
                        </a:rPr>
                        <m:t>𝒈</m:t>
                      </m:r>
                      <m:r>
                        <a:rPr lang="zh-CN" altLang="en-US" sz="1400" b="1" i="1" dirty="0">
                          <a:solidFill>
                            <a:schemeClr val="tx1"/>
                          </a:solidFill>
                          <a:latin typeface="Cambria Math" panose="02040503050406030204" pitchFamily="18" charset="0"/>
                        </a:rPr>
                        <m:t>的夹角</m:t>
                      </m:r>
                    </m:oMath>
                  </m:oMathPara>
                </a14:m>
                <a:endParaRPr lang="en-US" altLang="zh-CN" sz="1400" b="1" dirty="0">
                  <a:solidFill>
                    <a:schemeClr val="tx1"/>
                  </a:solidFill>
                </a:endParaRPr>
              </a:p>
              <a:p>
                <a:pPr algn="ctr">
                  <a:lnSpc>
                    <a:spcPct val="120000"/>
                  </a:lnSpc>
                </a:pPr>
                <a14:m>
                  <m:oMathPara xmlns:m="http://schemas.openxmlformats.org/officeDocument/2006/math">
                    <m:oMathParaPr>
                      <m:jc m:val="centerGroup"/>
                    </m:oMathParaPr>
                    <m:oMath xmlns:m="http://schemas.openxmlformats.org/officeDocument/2006/math">
                      <m:r>
                        <m:rPr>
                          <m:sty m:val="p"/>
                        </m:rPr>
                        <a:rPr lang="en-US" altLang="zh-CN" sz="1400" b="0" i="0" dirty="0" smtClean="0">
                          <a:solidFill>
                            <a:schemeClr val="tx1"/>
                          </a:solidFill>
                          <a:latin typeface="Cambria Math" panose="02040503050406030204" pitchFamily="18" charset="0"/>
                        </a:rPr>
                        <m:t>Λ</m:t>
                      </m:r>
                      <m:d>
                        <m:dPr>
                          <m:ctrlPr>
                            <a:rPr lang="en-US" altLang="zh-CN" sz="1400" b="1"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𝒗</m:t>
                          </m:r>
                        </m:e>
                      </m:d>
                      <m:r>
                        <a:rPr lang="zh-CN" altLang="en-US" sz="1400" b="1" i="1" dirty="0">
                          <a:solidFill>
                            <a:schemeClr val="tx1"/>
                          </a:solidFill>
                          <a:latin typeface="Cambria Math" panose="02040503050406030204" pitchFamily="18" charset="0"/>
                        </a:rPr>
                        <m:t>函数对于</m:t>
                      </m:r>
                      <m:r>
                        <m:rPr>
                          <m:sty m:val="p"/>
                        </m:rPr>
                        <a:rPr lang="en-US" altLang="zh-CN" sz="1400" b="0" i="0" dirty="0" smtClean="0">
                          <a:solidFill>
                            <a:schemeClr val="tx1"/>
                          </a:solidFill>
                          <a:latin typeface="Cambria Math" panose="02040503050406030204" pitchFamily="18" charset="0"/>
                        </a:rPr>
                        <m:t>GGX</m:t>
                      </m:r>
                      <m:r>
                        <a:rPr lang="en-US" altLang="zh-CN" sz="1400" b="0" i="0" dirty="0" smtClean="0">
                          <a:solidFill>
                            <a:schemeClr val="tx1"/>
                          </a:solidFill>
                          <a:latin typeface="Cambria Math" panose="02040503050406030204" pitchFamily="18" charset="0"/>
                        </a:rPr>
                        <m:t> </m:t>
                      </m:r>
                      <m:r>
                        <m:rPr>
                          <m:sty m:val="p"/>
                        </m:rPr>
                        <a:rPr lang="en-US" altLang="zh-CN" sz="1400" b="0" i="0" dirty="0" smtClean="0">
                          <a:solidFill>
                            <a:schemeClr val="tx1"/>
                          </a:solidFill>
                          <a:latin typeface="Cambria Math" panose="02040503050406030204" pitchFamily="18" charset="0"/>
                        </a:rPr>
                        <m:t>Distribution</m:t>
                      </m:r>
                      <m:r>
                        <a:rPr lang="zh-CN" altLang="en-US" sz="1400" i="1" dirty="0">
                          <a:solidFill>
                            <a:schemeClr val="tx1"/>
                          </a:solidFill>
                          <a:latin typeface="Cambria Math" panose="02040503050406030204" pitchFamily="18" charset="0"/>
                        </a:rPr>
                        <m:t>的</m:t>
                      </m:r>
                      <m:r>
                        <a:rPr lang="zh-CN" altLang="en-US" sz="1400" i="1" dirty="0" smtClean="0">
                          <a:solidFill>
                            <a:schemeClr val="tx1"/>
                          </a:solidFill>
                          <a:latin typeface="Cambria Math" panose="02040503050406030204" pitchFamily="18" charset="0"/>
                        </a:rPr>
                        <m:t>解析解</m:t>
                      </m:r>
                      <m:r>
                        <a:rPr lang="zh-CN" altLang="en-US" sz="1400" i="1" dirty="0">
                          <a:solidFill>
                            <a:schemeClr val="tx1"/>
                          </a:solidFill>
                          <a:latin typeface="Cambria Math" panose="02040503050406030204" pitchFamily="18" charset="0"/>
                        </a:rPr>
                        <m:t>为</m:t>
                      </m:r>
                      <m:r>
                        <a:rPr lang="zh-CN" altLang="en-US" sz="1400" i="1" dirty="0">
                          <a:solidFill>
                            <a:schemeClr val="tx1"/>
                          </a:solidFill>
                          <a:latin typeface="Cambria Math" panose="02040503050406030204" pitchFamily="18" charset="0"/>
                        </a:rPr>
                        <m:t>：</m:t>
                      </m:r>
                      <m:r>
                        <m:rPr>
                          <m:sty m:val="p"/>
                        </m:rPr>
                        <a:rPr lang="en-US" altLang="zh-CN" sz="1400" b="0" i="0" dirty="0" smtClean="0">
                          <a:solidFill>
                            <a:schemeClr val="tx1"/>
                          </a:solidFill>
                          <a:latin typeface="Cambria Math" panose="02040503050406030204" pitchFamily="18" charset="0"/>
                        </a:rPr>
                        <m:t>Λ</m:t>
                      </m:r>
                      <m:d>
                        <m:dPr>
                          <m:ctrlPr>
                            <a:rPr lang="en-US" altLang="zh-CN" sz="1400" b="1" i="1" dirty="0" smtClean="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𝒗</m:t>
                          </m:r>
                        </m:e>
                      </m:d>
                      <m:r>
                        <a:rPr lang="en-US" altLang="zh-CN" sz="1400" b="1" i="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ad>
                            <m:radPr>
                              <m:degHide m:val="on"/>
                              <m:ctrlPr>
                                <a:rPr lang="en-US" altLang="zh-CN" sz="1400" i="1" dirty="0">
                                  <a:solidFill>
                                    <a:schemeClr val="tx1"/>
                                  </a:solidFill>
                                  <a:latin typeface="Cambria Math" panose="02040503050406030204" pitchFamily="18" charset="0"/>
                                </a:rPr>
                              </m:ctrlPr>
                            </m:radPr>
                            <m:deg/>
                            <m:e>
                              <m:r>
                                <a:rPr lang="en-US" altLang="zh-CN" sz="1400" i="1" dirty="0">
                                  <a:solidFill>
                                    <a:schemeClr val="tx1"/>
                                  </a:solidFill>
                                  <a:latin typeface="Cambria Math" panose="02040503050406030204" pitchFamily="18" charset="0"/>
                                </a:rPr>
                                <m:t>1</m:t>
                              </m:r>
                              <m:r>
                                <a:rPr lang="en-US" altLang="zh-CN" sz="1400" i="1" dirty="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𝑣</m:t>
                                      </m:r>
                                    </m:sub>
                                    <m:sup>
                                      <m:r>
                                        <a:rPr lang="en-US" altLang="zh-CN" sz="1400" b="0" i="1" dirty="0" smtClean="0">
                                          <a:solidFill>
                                            <a:schemeClr val="tx1"/>
                                          </a:solidFill>
                                          <a:latin typeface="Cambria Math" panose="02040503050406030204" pitchFamily="18" charset="0"/>
                                        </a:rPr>
                                        <m:t>+</m:t>
                                      </m:r>
                                    </m:sup>
                                  </m:sSubSup>
                                </m:e>
                              </m:func>
                            </m:e>
                          </m:rad>
                          <m:r>
                            <a:rPr lang="en-US" altLang="zh-CN" sz="1400"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den>
                      </m:f>
                      <m:r>
                        <a:rPr lang="en-US" altLang="zh-CN" sz="1400" b="1" i="1" dirty="0">
                          <a:solidFill>
                            <a:schemeClr val="tx1"/>
                          </a:solidFill>
                          <a:latin typeface="Cambria Math" panose="02040503050406030204" pitchFamily="18" charset="0"/>
                        </a:rPr>
                        <m:t>,</m:t>
                      </m:r>
                      <m:r>
                        <a:rPr lang="en-US" altLang="zh-CN" sz="1400" i="1" dirty="0">
                          <a:solidFill>
                            <a:schemeClr val="tx1"/>
                          </a:solidFill>
                          <a:latin typeface="Cambria Math" panose="02040503050406030204" pitchFamily="18" charset="0"/>
                        </a:rPr>
                        <m:t>  </m:t>
                      </m:r>
                      <m:sSubSup>
                        <m:sSubSupPr>
                          <m:ctrlPr>
                            <a:rPr lang="en-US" altLang="zh-CN" sz="1400" b="0" i="1" dirty="0" smtClean="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𝑣</m:t>
                          </m:r>
                        </m:sub>
                        <m:sup>
                          <m:r>
                            <a:rPr lang="en-US" altLang="zh-CN" sz="1400" b="0" i="1" dirty="0" smtClean="0">
                              <a:solidFill>
                                <a:schemeClr val="tx1"/>
                              </a:solidFill>
                              <a:latin typeface="Cambria Math" panose="02040503050406030204" pitchFamily="18" charset="0"/>
                            </a:rPr>
                            <m:t>+</m:t>
                          </m:r>
                        </m:sup>
                      </m:sSubSup>
                      <m:r>
                        <a:rPr lang="zh-CN" altLang="en-US" sz="1400" i="1" dirty="0">
                          <a:solidFill>
                            <a:schemeClr val="tx1"/>
                          </a:solidFill>
                          <a:latin typeface="Cambria Math" panose="02040503050406030204" pitchFamily="18" charset="0"/>
                        </a:rPr>
                        <m:t>为</m:t>
                      </m:r>
                      <m:sSup>
                        <m:sSupPr>
                          <m:ctrlPr>
                            <a:rPr lang="en-US" altLang="zh-CN" sz="1400" b="1" i="1" dirty="0">
                              <a:solidFill>
                                <a:schemeClr val="tx1"/>
                              </a:solidFill>
                              <a:latin typeface="Cambria Math" panose="02040503050406030204" pitchFamily="18" charset="0"/>
                            </a:rPr>
                          </m:ctrlPr>
                        </m:sSupPr>
                        <m:e>
                          <m:r>
                            <a:rPr lang="en-US" altLang="zh-CN" sz="1400" b="1" i="1" dirty="0" smtClean="0">
                              <a:solidFill>
                                <a:schemeClr val="tx1"/>
                              </a:solidFill>
                              <a:latin typeface="Cambria Math" panose="02040503050406030204" pitchFamily="18" charset="0"/>
                            </a:rPr>
                            <m:t>𝒗</m:t>
                          </m:r>
                        </m:e>
                        <m:sup>
                          <m:r>
                            <a:rPr lang="en-US" altLang="zh-CN" sz="1400" b="1" i="1" dirty="0">
                              <a:solidFill>
                                <a:schemeClr val="tx1"/>
                              </a:solidFill>
                              <a:latin typeface="Cambria Math" panose="02040503050406030204" pitchFamily="18" charset="0"/>
                            </a:rPr>
                            <m:t>+</m:t>
                          </m:r>
                        </m:sup>
                      </m:sSup>
                      <m:r>
                        <a:rPr lang="zh-CN" altLang="en-US" sz="1400" b="1" i="1" dirty="0">
                          <a:solidFill>
                            <a:schemeClr val="tx1"/>
                          </a:solidFill>
                          <a:latin typeface="Cambria Math" panose="02040503050406030204" pitchFamily="18" charset="0"/>
                        </a:rPr>
                        <m:t>与</m:t>
                      </m:r>
                      <m:r>
                        <a:rPr lang="en-US" altLang="zh-CN" sz="1400" b="1" i="1" dirty="0">
                          <a:solidFill>
                            <a:schemeClr val="tx1"/>
                          </a:solidFill>
                          <a:latin typeface="Cambria Math" panose="02040503050406030204" pitchFamily="18" charset="0"/>
                        </a:rPr>
                        <m:t>𝒈</m:t>
                      </m:r>
                      <m:r>
                        <a:rPr lang="zh-CN" altLang="en-US" sz="1400" b="1" i="1" dirty="0">
                          <a:solidFill>
                            <a:schemeClr val="tx1"/>
                          </a:solidFill>
                          <a:latin typeface="Cambria Math" panose="02040503050406030204" pitchFamily="18" charset="0"/>
                        </a:rPr>
                        <m:t>的夹角</m:t>
                      </m:r>
                    </m:oMath>
                  </m:oMathPara>
                </a14:m>
                <a:endParaRPr lang="en-US" altLang="zh-CN" sz="1400" b="1" i="1" dirty="0">
                  <a:solidFill>
                    <a:schemeClr val="tx1"/>
                  </a:solidFill>
                  <a:latin typeface="Cambria Math" panose="02040503050406030204" pitchFamily="18" charset="0"/>
                </a:endParaRPr>
              </a:p>
            </p:txBody>
          </p:sp>
        </mc:Choice>
        <mc:Fallback xmlns="">
          <p:sp>
            <p:nvSpPr>
              <p:cNvPr id="6" name="矩形 5">
                <a:extLst>
                  <a:ext uri="{FF2B5EF4-FFF2-40B4-BE49-F238E27FC236}">
                    <a16:creationId xmlns:a16="http://schemas.microsoft.com/office/drawing/2014/main" id="{B73A30DE-30D6-37DE-5579-3BE614A4C62D}"/>
                  </a:ext>
                </a:extLst>
              </p:cNvPr>
              <p:cNvSpPr>
                <a:spLocks noRot="1" noChangeAspect="1" noMove="1" noResize="1" noEditPoints="1" noAdjustHandles="1" noChangeArrowheads="1" noChangeShapeType="1" noTextEdit="1"/>
              </p:cNvSpPr>
              <p:nvPr/>
            </p:nvSpPr>
            <p:spPr>
              <a:xfrm>
                <a:off x="368712" y="1144044"/>
                <a:ext cx="11299283" cy="5402806"/>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919063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611BD-B706-998F-2970-6DF6AAB85456}"/>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6F998C67-E5D5-392A-AA06-58E9888C09E9}"/>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整理一下</a:t>
            </a:r>
            <a:endParaRPr lang="en-US" altLang="zh-CN" dirty="0"/>
          </a:p>
        </p:txBody>
      </p:sp>
      <p:sp>
        <p:nvSpPr>
          <p:cNvPr id="5" name="矩形 4">
            <a:extLst>
              <a:ext uri="{FF2B5EF4-FFF2-40B4-BE49-F238E27FC236}">
                <a16:creationId xmlns:a16="http://schemas.microsoft.com/office/drawing/2014/main" id="{E3F34D0C-5112-E092-0F95-572276AE2031}"/>
              </a:ext>
            </a:extLst>
          </p:cNvPr>
          <p:cNvSpPr/>
          <p:nvPr/>
        </p:nvSpPr>
        <p:spPr>
          <a:xfrm>
            <a:off x="631109" y="1315233"/>
            <a:ext cx="11137094"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7C04D326-A5B0-CB5A-77A6-845D77898679}"/>
                  </a:ext>
                </a:extLst>
              </p:cNvPr>
              <p:cNvSpPr/>
              <p:nvPr/>
            </p:nvSpPr>
            <p:spPr>
              <a:xfrm>
                <a:off x="478709" y="1144044"/>
                <a:ext cx="11137094"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1400" i="1" dirty="0" smtClean="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e>
                        <m:sup>
                          <m:r>
                            <a:rPr lang="en-US" altLang="zh-CN" sz="1400" i="1" dirty="0">
                              <a:solidFill>
                                <a:schemeClr val="tx1"/>
                              </a:solidFill>
                              <a:latin typeface="Cambria Math" panose="02040503050406030204" pitchFamily="18" charset="0"/>
                            </a:rPr>
                            <m:t>𝑟</m:t>
                          </m:r>
                        </m:sup>
                      </m:s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𝐹</m:t>
                              </m:r>
                            </m:e>
                            <m:sub>
                              <m:r>
                                <a:rPr lang="en-US" altLang="zh-CN" sz="1400" i="1">
                                  <a:solidFill>
                                    <a:schemeClr val="tx1"/>
                                  </a:solidFill>
                                  <a:latin typeface="Cambria Math" panose="02040503050406030204" pitchFamily="18" charset="0"/>
                                </a:rPr>
                                <m:t>𝑟</m:t>
                              </m:r>
                            </m:sub>
                          </m:sSub>
                          <m:d>
                            <m:dPr>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𝒐</m:t>
                              </m:r>
                            </m:e>
                          </m:d>
                          <m:r>
                            <a:rPr lang="en-US" altLang="zh-CN" sz="1400" i="1">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𝒓</m:t>
                                  </m:r>
                                </m:sub>
                              </m:sSub>
                            </m:e>
                          </m:d>
                          <m:r>
                            <a:rPr lang="en-US" altLang="zh-CN" sz="1400" i="1">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2</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𝒓</m:t>
                                  </m:r>
                                </m:sub>
                              </m:sSub>
                            </m:e>
                          </m:d>
                        </m:num>
                        <m:den>
                          <m:r>
                            <a:rPr lang="en-US" altLang="zh-CN" sz="1400" i="1" dirty="0">
                              <a:solidFill>
                                <a:schemeClr val="tx1"/>
                              </a:solidFill>
                              <a:latin typeface="Cambria Math" panose="02040503050406030204" pitchFamily="18" charset="0"/>
                            </a:rPr>
                            <m:t>4</m:t>
                          </m:r>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en>
                      </m:f>
                      <m:r>
                        <a:rPr lang="en-US" altLang="zh-CN" sz="1400" i="1" dirty="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𝒓</m:t>
                              </m:r>
                            </m:sub>
                          </m:sSub>
                          <m:r>
                            <a:rPr lang="en-US" altLang="zh-CN" sz="1400" i="1" dirty="0">
                              <a:solidFill>
                                <a:schemeClr val="tx1"/>
                              </a:solidFill>
                              <a:latin typeface="Cambria Math" panose="02040503050406030204" pitchFamily="18" charset="0"/>
                            </a:rPr>
                            <m:t>&gt;0</m:t>
                          </m:r>
                        </m:e>
                      </m:d>
                    </m:oMath>
                  </m:oMathPara>
                </a14:m>
                <a:endParaRPr lang="en-US" altLang="zh-CN" sz="14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1400" i="1" dirty="0" smtClean="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e>
                        <m:sup>
                          <m:r>
                            <a:rPr lang="en-US" altLang="zh-CN" sz="1400" i="1" dirty="0">
                              <a:solidFill>
                                <a:schemeClr val="tx1"/>
                              </a:solidFill>
                              <a:latin typeface="Cambria Math" panose="02040503050406030204" pitchFamily="18" charset="0"/>
                            </a:rPr>
                            <m:t>𝑡</m:t>
                          </m:r>
                        </m:sup>
                      </m:sSup>
                      <m:d>
                        <m:dPr>
                          <m:ctrlPr>
                            <a:rPr lang="en-US" altLang="zh-CN" sz="1400" i="1" dirty="0">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𝒐</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num>
                        <m:den>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en>
                      </m:f>
                      <m:r>
                        <a:rPr lang="en-US" altLang="zh-CN" sz="1400" i="1" dirty="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sSubSup>
                            <m:sSubSupPr>
                              <m:ctrlPr>
                                <a:rPr lang="en-US" altLang="zh-CN" sz="1400" i="1">
                                  <a:solidFill>
                                    <a:schemeClr val="tx1"/>
                                  </a:solidFill>
                                  <a:latin typeface="Cambria Math" panose="02040503050406030204" pitchFamily="18" charset="0"/>
                                </a:rPr>
                              </m:ctrlPr>
                            </m:sSubSup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up>
                              <m:r>
                                <a:rPr lang="en-US" altLang="zh-CN" sz="1400" i="1">
                                  <a:solidFill>
                                    <a:schemeClr val="tx1"/>
                                  </a:solidFill>
                                  <a:latin typeface="Cambria Math" panose="02040503050406030204" pitchFamily="18" charset="0"/>
                                </a:rPr>
                                <m:t>2</m:t>
                              </m:r>
                            </m:sup>
                          </m:sSubSup>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𝐹</m:t>
                              </m:r>
                            </m:e>
                            <m:sub>
                              <m:r>
                                <a:rPr lang="en-US" altLang="zh-CN" sz="1400" i="1">
                                  <a:solidFill>
                                    <a:schemeClr val="tx1"/>
                                  </a:solidFill>
                                  <a:latin typeface="Cambria Math" panose="02040503050406030204" pitchFamily="18" charset="0"/>
                                </a:rPr>
                                <m:t>𝑡</m:t>
                              </m:r>
                            </m:sub>
                          </m:sSub>
                          <m:d>
                            <m:dPr>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𝒐</m:t>
                              </m:r>
                            </m:e>
                          </m:d>
                          <m:r>
                            <a:rPr lang="en-US" altLang="zh-CN" sz="1400" i="1">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r>
                            <a:rPr lang="en-US" altLang="zh-CN" sz="1400" i="1" dirty="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2</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num>
                        <m:den>
                          <m:sSup>
                            <m:sSupPr>
                              <m:ctrlPr>
                                <a:rPr lang="en-US" altLang="zh-CN" sz="1400" i="1">
                                  <a:solidFill>
                                    <a:schemeClr val="tx1"/>
                                  </a:solidFill>
                                  <a:latin typeface="Cambria Math" panose="02040503050406030204" pitchFamily="18" charset="0"/>
                                </a:rPr>
                              </m:ctrlPr>
                            </m:sSupPr>
                            <m:e>
                              <m:d>
                                <m:dPr>
                                  <m:ctrlPr>
                                    <a:rPr lang="en-US" altLang="zh-CN" sz="1400" i="1">
                                      <a:solidFill>
                                        <a:schemeClr val="tx1"/>
                                      </a:solidFill>
                                      <a:latin typeface="Cambria Math" panose="02040503050406030204" pitchFamily="18" charset="0"/>
                                    </a:rPr>
                                  </m:ctrlPr>
                                </m:dPr>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𝑜</m:t>
                                      </m:r>
                                    </m:sub>
                                  </m:sSub>
                                  <m:d>
                                    <m:dPr>
                                      <m:begChr m:val="|"/>
                                      <m:endChr m:val="|"/>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𝒐</m:t>
                                      </m:r>
                                      <m:r>
                                        <a:rPr lang="en-US" altLang="zh-CN" sz="1400" i="1">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Sub>
                                  <m:d>
                                    <m:dPr>
                                      <m:begChr m:val="|"/>
                                      <m:endChr m:val="|"/>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e>
                              </m:d>
                            </m:e>
                            <m:sup>
                              <m:r>
                                <a:rPr lang="en-US" altLang="zh-CN" sz="1400" i="1">
                                  <a:solidFill>
                                    <a:schemeClr val="tx1"/>
                                  </a:solidFill>
                                  <a:latin typeface="Cambria Math" panose="02040503050406030204" pitchFamily="18" charset="0"/>
                                </a:rPr>
                                <m:t>2</m:t>
                              </m:r>
                            </m:sup>
                          </m:sSup>
                        </m:den>
                      </m:f>
                      <m:r>
                        <a:rPr lang="en-US" altLang="zh-CN" sz="1400" i="1" dirty="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r>
                            <a:rPr lang="en-US" altLang="zh-CN" sz="1400" i="1" dirty="0">
                              <a:solidFill>
                                <a:schemeClr val="tx1"/>
                              </a:solidFill>
                              <a:latin typeface="Cambria Math" panose="02040503050406030204" pitchFamily="18" charset="0"/>
                            </a:rPr>
                            <m:t>&gt;0</m:t>
                          </m:r>
                        </m:e>
                      </m:d>
                    </m:oMath>
                  </m:oMathPara>
                </a14:m>
                <a:endParaRPr lang="en-US" altLang="zh-CN" sz="1400" i="1" dirty="0">
                  <a:solidFill>
                    <a:schemeClr val="tx1"/>
                  </a:solidFill>
                  <a:latin typeface="Cambria Math" panose="02040503050406030204" pitchFamily="18" charset="0"/>
                </a:endParaRPr>
              </a:p>
              <a:p>
                <a:pPr algn="ctr">
                  <a:lnSpc>
                    <a:spcPct val="150000"/>
                  </a:lnSpc>
                </a:pPr>
                <a:r>
                  <a:rPr lang="en-US" altLang="zh-CN" sz="1400" i="1" dirty="0">
                    <a:solidFill>
                      <a:schemeClr val="tx1"/>
                    </a:solidFill>
                    <a:latin typeface="Cambria Math" panose="02040503050406030204" pitchFamily="18" charset="0"/>
                  </a:rPr>
                  <a:t>—————————————————————————————————————————————————————————————</a:t>
                </a:r>
              </a:p>
              <a:p>
                <a:pPr algn="ctr">
                  <a:lnSpc>
                    <a:spcPct val="150000"/>
                  </a:lnSpc>
                </a:pPr>
                <a:r>
                  <a:rPr lang="zh-CN" altLang="en-US" sz="1400" dirty="0">
                    <a:solidFill>
                      <a:schemeClr val="tx1"/>
                    </a:solidFill>
                    <a:latin typeface="Cambria Math" panose="02040503050406030204" pitchFamily="18" charset="0"/>
                  </a:rPr>
                  <a:t>其中：</a:t>
                </a:r>
                <a:endParaRPr lang="en-US" altLang="zh-CN" sz="1400"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𝜋</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4</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
                                <m:dPr>
                                  <m:ctrlPr>
                                    <a:rPr lang="en-US" altLang="zh-CN" sz="1400" i="1" dirty="0">
                                      <a:solidFill>
                                        <a:schemeClr val="tx1"/>
                                      </a:solidFill>
                                      <a:latin typeface="Cambria Math" panose="02040503050406030204" pitchFamily="18" charset="0"/>
                                    </a:rPr>
                                  </m:ctrlPr>
                                </m:dPr>
                                <m:e>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r>
                                    <a:rPr lang="en-US" altLang="zh-CN" sz="1400" i="1" dirty="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e>
                              </m:d>
                            </m:e>
                            <m:sup>
                              <m:r>
                                <a:rPr lang="en-US" altLang="zh-CN" sz="1400" i="1" dirty="0">
                                  <a:solidFill>
                                    <a:schemeClr val="tx1"/>
                                  </a:solidFill>
                                  <a:latin typeface="Cambria Math" panose="02040503050406030204" pitchFamily="18" charset="0"/>
                                </a:rPr>
                                <m:t>2</m:t>
                              </m:r>
                            </m:sup>
                          </m:sSup>
                        </m:den>
                      </m:f>
                    </m:oMath>
                  </m:oMathPara>
                </a14:m>
                <a:endParaRPr lang="en-US" altLang="zh-CN" sz="14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𝒗</m:t>
                          </m:r>
                        </m:e>
                      </m:d>
                      <m:r>
                        <a:rPr lang="en-US" altLang="zh-CN" sz="1400" b="1" i="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ad>
                            <m:radPr>
                              <m:degHide m:val="on"/>
                              <m:ctrlPr>
                                <a:rPr lang="en-US" altLang="zh-CN" sz="1400" i="1" dirty="0">
                                  <a:solidFill>
                                    <a:schemeClr val="tx1"/>
                                  </a:solidFill>
                                  <a:latin typeface="Cambria Math" panose="02040503050406030204" pitchFamily="18" charset="0"/>
                                </a:rPr>
                              </m:ctrlPr>
                            </m:radPr>
                            <m:deg/>
                            <m:e>
                              <m:r>
                                <a:rPr lang="en-US" altLang="zh-CN" sz="1400" i="1" dirty="0">
                                  <a:solidFill>
                                    <a:schemeClr val="tx1"/>
                                  </a:solidFill>
                                  <a:latin typeface="Cambria Math" panose="02040503050406030204" pitchFamily="18" charset="0"/>
                                </a:rPr>
                                <m:t>1+</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𝑣</m:t>
                                      </m:r>
                                    </m:sub>
                                    <m:sup>
                                      <m:r>
                                        <a:rPr lang="en-US" altLang="zh-CN" sz="1400" i="1" dirty="0">
                                          <a:solidFill>
                                            <a:schemeClr val="tx1"/>
                                          </a:solidFill>
                                          <a:latin typeface="Cambria Math" panose="02040503050406030204" pitchFamily="18" charset="0"/>
                                        </a:rPr>
                                        <m:t>+</m:t>
                                      </m:r>
                                    </m:sup>
                                  </m:sSubSup>
                                </m:e>
                              </m:func>
                            </m:e>
                          </m:rad>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den>
                      </m:f>
                      <m:r>
                        <a:rPr lang="en-US" altLang="zh-CN" sz="1400" b="1" i="1" dirty="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𝑣</m:t>
                          </m:r>
                        </m:sub>
                        <m:sup>
                          <m:r>
                            <a:rPr lang="en-US" altLang="zh-CN" sz="1400" i="1" dirty="0">
                              <a:solidFill>
                                <a:schemeClr val="tx1"/>
                              </a:solidFill>
                              <a:latin typeface="Cambria Math" panose="02040503050406030204" pitchFamily="18" charset="0"/>
                            </a:rPr>
                            <m:t>+</m:t>
                          </m:r>
                        </m:sup>
                      </m:sSubSup>
                      <m:r>
                        <a:rPr lang="zh-CN" altLang="en-US" sz="1400" i="1" dirty="0">
                          <a:solidFill>
                            <a:schemeClr val="tx1"/>
                          </a:solidFill>
                          <a:latin typeface="Cambria Math" panose="02040503050406030204" pitchFamily="18" charset="0"/>
                        </a:rPr>
                        <m:t>为</m:t>
                      </m:r>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𝒗</m:t>
                          </m:r>
                        </m:e>
                        <m:sup>
                          <m:r>
                            <a:rPr lang="en-US" altLang="zh-CN" sz="1400" b="1" i="1" dirty="0">
                              <a:solidFill>
                                <a:schemeClr val="tx1"/>
                              </a:solidFill>
                              <a:latin typeface="Cambria Math" panose="02040503050406030204" pitchFamily="18" charset="0"/>
                            </a:rPr>
                            <m:t>+</m:t>
                          </m:r>
                        </m:sup>
                      </m:sSup>
                      <m:r>
                        <a:rPr lang="zh-CN" altLang="en-US" sz="1400" b="1" i="1" dirty="0">
                          <a:solidFill>
                            <a:schemeClr val="tx1"/>
                          </a:solidFill>
                          <a:latin typeface="Cambria Math" panose="02040503050406030204" pitchFamily="18" charset="0"/>
                        </a:rPr>
                        <m:t>与</m:t>
                      </m:r>
                      <m:r>
                        <a:rPr lang="en-US" altLang="zh-CN" sz="1400" b="1" i="1" dirty="0">
                          <a:solidFill>
                            <a:schemeClr val="tx1"/>
                          </a:solidFill>
                          <a:latin typeface="Cambria Math" panose="02040503050406030204" pitchFamily="18" charset="0"/>
                        </a:rPr>
                        <m:t>𝒈</m:t>
                      </m:r>
                      <m:r>
                        <a:rPr lang="zh-CN" altLang="en-US" sz="1400" b="1" i="1" dirty="0">
                          <a:solidFill>
                            <a:schemeClr val="tx1"/>
                          </a:solidFill>
                          <a:latin typeface="Cambria Math" panose="02040503050406030204" pitchFamily="18" charset="0"/>
                        </a:rPr>
                        <m:t>的夹角</m:t>
                      </m:r>
                    </m:oMath>
                  </m:oMathPara>
                </a14:m>
                <a:endParaRPr lang="en-US" altLang="zh-CN" sz="14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num>
                        <m:den>
                          <m:r>
                            <a:rPr lang="en-US" altLang="zh-CN" sz="1400" dirty="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e>
                          </m:d>
                        </m:den>
                      </m:f>
                      <m:r>
                        <a:rPr lang="en-US" altLang="zh-CN" sz="1400" b="1" i="1" dirty="0" smtClean="0">
                          <a:solidFill>
                            <a:schemeClr val="tx1"/>
                          </a:solidFill>
                          <a:latin typeface="Cambria Math" panose="02040503050406030204" pitchFamily="18" charset="0"/>
                        </a:rPr>
                        <m:t>=</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2</m:t>
                          </m:r>
                        </m:num>
                        <m:den>
                          <m:r>
                            <a:rPr lang="en-US" altLang="zh-CN" sz="1400" i="1" dirty="0">
                              <a:solidFill>
                                <a:schemeClr val="tx1"/>
                              </a:solidFill>
                              <a:latin typeface="Cambria Math" panose="02040503050406030204" pitchFamily="18" charset="0"/>
                            </a:rPr>
                            <m:t>1+</m:t>
                          </m:r>
                          <m:rad>
                            <m:radPr>
                              <m:degHide m:val="on"/>
                              <m:ctrlPr>
                                <a:rPr lang="en-US" altLang="zh-CN" sz="1400" i="1" dirty="0">
                                  <a:solidFill>
                                    <a:schemeClr val="tx1"/>
                                  </a:solidFill>
                                  <a:latin typeface="Cambria Math" panose="02040503050406030204" pitchFamily="18" charset="0"/>
                                </a:rPr>
                              </m:ctrlPr>
                            </m:radPr>
                            <m:deg/>
                            <m:e>
                              <m:r>
                                <a:rPr lang="en-US" altLang="zh-CN" sz="1400" i="1" dirty="0">
                                  <a:solidFill>
                                    <a:schemeClr val="tx1"/>
                                  </a:solidFill>
                                  <a:latin typeface="Cambria Math" panose="02040503050406030204" pitchFamily="18" charset="0"/>
                                </a:rPr>
                                <m:t>1+</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𝛼</m:t>
                                  </m:r>
                                </m:e>
                                <m:sup>
                                  <m:r>
                                    <a:rPr lang="en-US" altLang="zh-CN" sz="1400" i="1" dirty="0">
                                      <a:solidFill>
                                        <a:schemeClr val="tx1"/>
                                      </a:solidFill>
                                      <a:latin typeface="Cambria Math" panose="02040503050406030204" pitchFamily="18" charset="0"/>
                                    </a:rPr>
                                    <m:t>2</m:t>
                                  </m:r>
                                </m:sup>
                              </m:s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𝑜</m:t>
                                      </m:r>
                                    </m:sub>
                                  </m:sSub>
                                </m:e>
                              </m:func>
                            </m:e>
                          </m:rad>
                        </m:den>
                      </m:f>
                    </m:oMath>
                  </m:oMathPara>
                </a14:m>
                <a:endParaRPr lang="en-US" altLang="zh-CN" sz="1400" b="1"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2</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b="1"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b="1"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𝒊</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num>
                        <m:den>
                          <m:r>
                            <a:rPr lang="en-US" altLang="zh-CN" sz="1400" i="1" dirty="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e>
                          </m:d>
                          <m:r>
                            <a:rPr lang="en-US" altLang="zh-CN" sz="1400"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e>
                          </m:d>
                        </m:den>
                      </m:f>
                    </m:oMath>
                  </m:oMathPara>
                </a14:m>
                <a:endParaRPr lang="en-US" altLang="zh-CN" sz="1400" b="1" dirty="0">
                  <a:solidFill>
                    <a:schemeClr val="tx1"/>
                  </a:solidFill>
                </a:endParaRPr>
              </a:p>
            </p:txBody>
          </p:sp>
        </mc:Choice>
        <mc:Fallback xmlns="">
          <p:sp>
            <p:nvSpPr>
              <p:cNvPr id="6" name="矩形 5">
                <a:extLst>
                  <a:ext uri="{FF2B5EF4-FFF2-40B4-BE49-F238E27FC236}">
                    <a16:creationId xmlns:a16="http://schemas.microsoft.com/office/drawing/2014/main" id="{7C04D326-A5B0-CB5A-77A6-845D77898679}"/>
                  </a:ext>
                </a:extLst>
              </p:cNvPr>
              <p:cNvSpPr>
                <a:spLocks noRot="1" noChangeAspect="1" noMove="1" noResize="1" noEditPoints="1" noAdjustHandles="1" noChangeArrowheads="1" noChangeShapeType="1" noTextEdit="1"/>
              </p:cNvSpPr>
              <p:nvPr/>
            </p:nvSpPr>
            <p:spPr>
              <a:xfrm>
                <a:off x="478709" y="1144044"/>
                <a:ext cx="11137094" cy="5402806"/>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9114824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66BF0-7FBD-7A77-FB03-6852D8DF5837}"/>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4AF54872-148B-903B-426B-D18BFA184DBA}"/>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伸缩不变性</a:t>
            </a:r>
            <a:endParaRPr lang="en-US" altLang="zh-CN" dirty="0"/>
          </a:p>
        </p:txBody>
      </p:sp>
      <p:sp>
        <p:nvSpPr>
          <p:cNvPr id="3" name="矩形 2">
            <a:extLst>
              <a:ext uri="{FF2B5EF4-FFF2-40B4-BE49-F238E27FC236}">
                <a16:creationId xmlns:a16="http://schemas.microsoft.com/office/drawing/2014/main" id="{16ED9AAE-681E-C087-43F6-533AA61A31DC}"/>
              </a:ext>
            </a:extLst>
          </p:cNvPr>
          <p:cNvSpPr/>
          <p:nvPr/>
        </p:nvSpPr>
        <p:spPr>
          <a:xfrm>
            <a:off x="631109" y="1315233"/>
            <a:ext cx="5289527"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9E0A9DCE-CD1A-460A-196C-60B5BDBF93EC}"/>
                  </a:ext>
                </a:extLst>
              </p:cNvPr>
              <p:cNvSpPr/>
              <p:nvPr/>
            </p:nvSpPr>
            <p:spPr>
              <a:xfrm>
                <a:off x="478709" y="1144044"/>
                <a:ext cx="5289527"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zh-CN" altLang="en-US" dirty="0">
                    <a:solidFill>
                      <a:schemeClr val="tx1"/>
                    </a:solidFill>
                    <a:latin typeface="Cambria Math" panose="02040503050406030204" pitchFamily="18" charset="0"/>
                  </a:rPr>
                  <a:t>        如右图所示，同时对光线与微观结构进行拉伸</a:t>
                </a:r>
                <a:r>
                  <a:rPr lang="en-US" altLang="zh-CN" dirty="0">
                    <a:solidFill>
                      <a:schemeClr val="tx1"/>
                    </a:solidFill>
                    <a:latin typeface="Cambria Math" panose="02040503050406030204" pitchFamily="18" charset="0"/>
                  </a:rPr>
                  <a:t>/</a:t>
                </a:r>
                <a:r>
                  <a:rPr lang="zh-CN" altLang="en-US" dirty="0">
                    <a:solidFill>
                      <a:schemeClr val="tx1"/>
                    </a:solidFill>
                    <a:latin typeface="Cambria Math" panose="02040503050406030204" pitchFamily="18" charset="0"/>
                  </a:rPr>
                  <a:t>收缩，光线的遮挡关系并没有改变，这就是掩蔽函数的伸缩不变性。</a:t>
                </a:r>
                <a:endParaRPr lang="en-US" altLang="zh-CN" dirty="0">
                  <a:solidFill>
                    <a:schemeClr val="tx1"/>
                  </a:solidFill>
                  <a:latin typeface="Cambria Math" panose="02040503050406030204" pitchFamily="18" charset="0"/>
                </a:endParaRPr>
              </a:p>
              <a:p>
                <a:endParaRPr lang="en-US" altLang="zh-CN" dirty="0">
                  <a:solidFill>
                    <a:schemeClr val="tx1"/>
                  </a:solidFill>
                  <a:latin typeface="Cambria Math" panose="02040503050406030204" pitchFamily="18" charset="0"/>
                </a:endParaRPr>
              </a:p>
              <a:p>
                <a:r>
                  <a:rPr lang="zh-CN" altLang="en-US" dirty="0">
                    <a:solidFill>
                      <a:schemeClr val="tx1"/>
                    </a:solidFill>
                    <a:latin typeface="Cambria Math" panose="02040503050406030204" pitchFamily="18" charset="0"/>
                  </a:rPr>
                  <a:t>        对光线</a:t>
                </a:r>
                <a:r>
                  <a:rPr lang="en-US" altLang="zh-CN" dirty="0">
                    <a:solidFill>
                      <a:schemeClr val="tx1"/>
                    </a:solidFill>
                    <a:latin typeface="Cambria Math" panose="02040503050406030204" pitchFamily="18" charset="0"/>
                  </a:rPr>
                  <a:t>/</a:t>
                </a:r>
                <a:r>
                  <a:rPr lang="zh-CN" altLang="en-US" dirty="0">
                    <a:solidFill>
                      <a:schemeClr val="tx1"/>
                    </a:solidFill>
                    <a:latin typeface="Cambria Math" panose="02040503050406030204" pitchFamily="18" charset="0"/>
                  </a:rPr>
                  <a:t>微观结构拉伸</a:t>
                </a:r>
                <a:r>
                  <a:rPr lang="en-US" altLang="zh-CN" dirty="0">
                    <a:solidFill>
                      <a:schemeClr val="tx1"/>
                    </a:solidFill>
                    <a:latin typeface="Cambria Math" panose="02040503050406030204" pitchFamily="18" charset="0"/>
                  </a:rPr>
                  <a:t>2</a:t>
                </a:r>
                <a:r>
                  <a:rPr lang="zh-CN" altLang="en-US" dirty="0">
                    <a:solidFill>
                      <a:schemeClr val="tx1"/>
                    </a:solidFill>
                    <a:latin typeface="Cambria Math" panose="02040503050406030204" pitchFamily="18" charset="0"/>
                  </a:rPr>
                  <a:t>倍，相当于将它们的斜率除以</a:t>
                </a:r>
                <a:r>
                  <a:rPr lang="en-US" altLang="zh-CN" dirty="0">
                    <a:solidFill>
                      <a:schemeClr val="tx1"/>
                    </a:solidFill>
                    <a:latin typeface="Cambria Math" panose="02040503050406030204" pitchFamily="18" charset="0"/>
                  </a:rPr>
                  <a:t>2</a:t>
                </a:r>
                <a:r>
                  <a:rPr lang="zh-CN" altLang="en-US" dirty="0">
                    <a:solidFill>
                      <a:schemeClr val="tx1"/>
                    </a:solidFill>
                    <a:latin typeface="Cambria Math" panose="02040503050406030204" pitchFamily="18" charset="0"/>
                  </a:rPr>
                  <a:t>。</a:t>
                </a:r>
                <a:endParaRPr lang="en-US" altLang="zh-CN" dirty="0">
                  <a:solidFill>
                    <a:schemeClr val="tx1"/>
                  </a:solidFill>
                  <a:latin typeface="Cambria Math" panose="02040503050406030204" pitchFamily="18" charset="0"/>
                </a:endParaRPr>
              </a:p>
              <a:p>
                <a:endParaRPr lang="en-US" altLang="zh-CN" dirty="0">
                  <a:solidFill>
                    <a:schemeClr val="tx1"/>
                  </a:solidFill>
                  <a:latin typeface="Cambria Math" panose="02040503050406030204" pitchFamily="18" charset="0"/>
                </a:endParaRPr>
              </a:p>
              <a:p>
                <a:r>
                  <a:rPr lang="en-US" altLang="zh-CN" dirty="0">
                    <a:solidFill>
                      <a:schemeClr val="tx1"/>
                    </a:solidFill>
                    <a:latin typeface="Cambria Math" panose="02040503050406030204" pitchFamily="18" charset="0"/>
                  </a:rPr>
                  <a:t>        </a:t>
                </a:r>
                <a:r>
                  <a:rPr lang="zh-CN" altLang="en-US" dirty="0">
                    <a:solidFill>
                      <a:schemeClr val="tx1"/>
                    </a:solidFill>
                    <a:latin typeface="Cambria Math" panose="02040503050406030204" pitchFamily="18" charset="0"/>
                  </a:rPr>
                  <a:t>伸缩前后微面斜率分布函数的形状不会改变。因为斜率除以</a:t>
                </a:r>
                <a:r>
                  <a:rPr lang="en-US" altLang="zh-CN" dirty="0">
                    <a:solidFill>
                      <a:schemeClr val="tx1"/>
                    </a:solidFill>
                    <a:latin typeface="Cambria Math" panose="02040503050406030204" pitchFamily="18" charset="0"/>
                  </a:rPr>
                  <a:t>2</a:t>
                </a:r>
                <a:r>
                  <a:rPr lang="zh-CN" altLang="en-US" dirty="0">
                    <a:solidFill>
                      <a:schemeClr val="tx1"/>
                    </a:solidFill>
                    <a:latin typeface="Cambria Math" panose="02040503050406030204" pitchFamily="18" charset="0"/>
                  </a:rPr>
                  <a:t>，所以微面斜率分布函数的域会缩小</a:t>
                </a:r>
                <a:r>
                  <a:rPr lang="en-US" altLang="zh-CN" dirty="0">
                    <a:solidFill>
                      <a:schemeClr val="tx1"/>
                    </a:solidFill>
                    <a:latin typeface="Cambria Math" panose="02040503050406030204" pitchFamily="18" charset="0"/>
                  </a:rPr>
                  <a:t>4</a:t>
                </a:r>
                <a:r>
                  <a:rPr lang="zh-CN" altLang="en-US" dirty="0">
                    <a:solidFill>
                      <a:schemeClr val="tx1"/>
                    </a:solidFill>
                    <a:latin typeface="Cambria Math" panose="02040503050406030204" pitchFamily="18" charset="0"/>
                  </a:rPr>
                  <a:t>倍（</a:t>
                </a:r>
                <a14:m>
                  <m:oMath xmlns:m="http://schemas.openxmlformats.org/officeDocument/2006/math">
                    <m:sSup>
                      <m:sSupPr>
                        <m:ctrlPr>
                          <a:rPr lang="en-US" altLang="zh-CN" sz="1800" b="0" i="1" dirty="0" smtClean="0">
                            <a:solidFill>
                              <a:schemeClr val="tx1"/>
                            </a:solidFill>
                            <a:latin typeface="Cambria Math" panose="02040503050406030204" pitchFamily="18" charset="0"/>
                          </a:rPr>
                        </m:ctrlPr>
                      </m:sSupPr>
                      <m:e>
                        <m:r>
                          <a:rPr lang="en-US" altLang="zh-CN" sz="1800" b="0" i="1" dirty="0" smtClean="0">
                            <a:solidFill>
                              <a:schemeClr val="tx1"/>
                            </a:solidFill>
                            <a:latin typeface="Cambria Math" panose="02040503050406030204" pitchFamily="18" charset="0"/>
                          </a:rPr>
                          <m:t>𝑃</m:t>
                        </m:r>
                      </m:e>
                      <m:sup>
                        <m:r>
                          <a:rPr lang="en-US" altLang="zh-CN" sz="1800" b="0" i="1" dirty="0" smtClean="0">
                            <a:solidFill>
                              <a:schemeClr val="tx1"/>
                            </a:solidFill>
                            <a:latin typeface="Cambria Math" panose="02040503050406030204" pitchFamily="18" charset="0"/>
                          </a:rPr>
                          <m:t>22</m:t>
                        </m:r>
                      </m:sup>
                    </m:sSup>
                    <m:d>
                      <m:dPr>
                        <m:ctrlPr>
                          <a:rPr lang="en-US" altLang="zh-CN" sz="1800" b="0" i="1" dirty="0" smtClean="0">
                            <a:solidFill>
                              <a:schemeClr val="tx1"/>
                            </a:solidFill>
                            <a:latin typeface="Cambria Math" panose="02040503050406030204" pitchFamily="18" charset="0"/>
                          </a:rPr>
                        </m:ctrlPr>
                      </m:dPr>
                      <m:e>
                        <m:sSub>
                          <m:sSubPr>
                            <m:ctrlPr>
                              <a:rPr lang="en-US" altLang="zh-CN" sz="1800" b="0" i="1" dirty="0" smtClean="0">
                                <a:solidFill>
                                  <a:schemeClr val="tx1"/>
                                </a:solidFill>
                                <a:latin typeface="Cambria Math" panose="02040503050406030204" pitchFamily="18" charset="0"/>
                              </a:rPr>
                            </m:ctrlPr>
                          </m:sSubPr>
                          <m:e>
                            <m:acc>
                              <m:accPr>
                                <m:chr m:val="̃"/>
                                <m:ctrlPr>
                                  <a:rPr lang="en-US" altLang="zh-CN" sz="1800" b="0" i="1" dirty="0" smtClean="0">
                                    <a:solidFill>
                                      <a:schemeClr val="tx1"/>
                                    </a:solidFill>
                                    <a:latin typeface="Cambria Math" panose="02040503050406030204" pitchFamily="18" charset="0"/>
                                  </a:rPr>
                                </m:ctrlPr>
                              </m:accPr>
                              <m:e>
                                <m:r>
                                  <a:rPr lang="en-US" altLang="zh-CN" sz="1800" b="0" i="1" dirty="0" smtClean="0">
                                    <a:solidFill>
                                      <a:schemeClr val="tx1"/>
                                    </a:solidFill>
                                    <a:latin typeface="Cambria Math" panose="02040503050406030204" pitchFamily="18" charset="0"/>
                                  </a:rPr>
                                  <m:t>𝑚</m:t>
                                </m:r>
                              </m:e>
                            </m:acc>
                          </m:e>
                          <m:sub>
                            <m:r>
                              <a:rPr lang="en-US" altLang="zh-CN" sz="1800" b="0" i="1" dirty="0" smtClean="0">
                                <a:solidFill>
                                  <a:schemeClr val="tx1"/>
                                </a:solidFill>
                                <a:latin typeface="Cambria Math" panose="02040503050406030204" pitchFamily="18" charset="0"/>
                              </a:rPr>
                              <m:t>𝑥</m:t>
                            </m:r>
                          </m:sub>
                        </m:sSub>
                        <m:r>
                          <a:rPr lang="en-US" altLang="zh-CN" sz="1800" b="0" i="1" dirty="0" smtClean="0">
                            <a:solidFill>
                              <a:schemeClr val="tx1"/>
                            </a:solidFill>
                            <a:latin typeface="Cambria Math" panose="02040503050406030204" pitchFamily="18" charset="0"/>
                          </a:rPr>
                          <m:t>,</m:t>
                        </m:r>
                        <m:sSub>
                          <m:sSubPr>
                            <m:ctrlPr>
                              <a:rPr lang="en-US" altLang="zh-CN" sz="1800" b="0" i="1" dirty="0" smtClean="0">
                                <a:solidFill>
                                  <a:schemeClr val="tx1"/>
                                </a:solidFill>
                                <a:latin typeface="Cambria Math" panose="02040503050406030204" pitchFamily="18" charset="0"/>
                              </a:rPr>
                            </m:ctrlPr>
                          </m:sSubPr>
                          <m:e>
                            <m:acc>
                              <m:accPr>
                                <m:chr m:val="̃"/>
                                <m:ctrlPr>
                                  <a:rPr lang="en-US" altLang="zh-CN" sz="1800" b="0" i="1" dirty="0" smtClean="0">
                                    <a:solidFill>
                                      <a:schemeClr val="tx1"/>
                                    </a:solidFill>
                                    <a:latin typeface="Cambria Math" panose="02040503050406030204" pitchFamily="18" charset="0"/>
                                  </a:rPr>
                                </m:ctrlPr>
                              </m:accPr>
                              <m:e>
                                <m:r>
                                  <a:rPr lang="en-US" altLang="zh-CN" sz="1800" b="0" i="1" dirty="0" smtClean="0">
                                    <a:solidFill>
                                      <a:schemeClr val="tx1"/>
                                    </a:solidFill>
                                    <a:latin typeface="Cambria Math" panose="02040503050406030204" pitchFamily="18" charset="0"/>
                                  </a:rPr>
                                  <m:t>𝑚</m:t>
                                </m:r>
                              </m:e>
                            </m:acc>
                          </m:e>
                          <m:sub>
                            <m:r>
                              <a:rPr lang="en-US" altLang="zh-CN" sz="1800" b="0" i="1" dirty="0" smtClean="0">
                                <a:solidFill>
                                  <a:schemeClr val="tx1"/>
                                </a:solidFill>
                                <a:latin typeface="Cambria Math" panose="02040503050406030204" pitchFamily="18" charset="0"/>
                              </a:rPr>
                              <m:t>𝑧</m:t>
                            </m:r>
                          </m:sub>
                        </m:sSub>
                      </m:e>
                    </m:d>
                  </m:oMath>
                </a14:m>
                <a:r>
                  <a:rPr lang="zh-CN" altLang="en-US" dirty="0">
                    <a:solidFill>
                      <a:schemeClr val="tx1"/>
                    </a:solidFill>
                    <a:latin typeface="Cambria Math" panose="02040503050406030204" pitchFamily="18" charset="0"/>
                  </a:rPr>
                  <a:t>是个二维函数），为了使伸缩后的微面斜率分布函数的积分仍为</a:t>
                </a:r>
                <a:r>
                  <a:rPr lang="en-US" altLang="zh-CN" dirty="0">
                    <a:solidFill>
                      <a:schemeClr val="tx1"/>
                    </a:solidFill>
                    <a:latin typeface="Cambria Math" panose="02040503050406030204" pitchFamily="18" charset="0"/>
                  </a:rPr>
                  <a:t>1</a:t>
                </a:r>
                <a:r>
                  <a:rPr lang="zh-CN" altLang="en-US" dirty="0">
                    <a:solidFill>
                      <a:schemeClr val="tx1"/>
                    </a:solidFill>
                    <a:latin typeface="Cambria Math" panose="02040503050406030204" pitchFamily="18" charset="0"/>
                  </a:rPr>
                  <a:t>，需要将函数值放大</a:t>
                </a:r>
                <a:r>
                  <a:rPr lang="en-US" altLang="zh-CN" dirty="0">
                    <a:solidFill>
                      <a:schemeClr val="tx1"/>
                    </a:solidFill>
                    <a:latin typeface="Cambria Math" panose="02040503050406030204" pitchFamily="18" charset="0"/>
                  </a:rPr>
                  <a:t>4</a:t>
                </a:r>
                <a:r>
                  <a:rPr lang="zh-CN" altLang="en-US" dirty="0">
                    <a:solidFill>
                      <a:schemeClr val="tx1"/>
                    </a:solidFill>
                    <a:latin typeface="Cambria Math" panose="02040503050406030204" pitchFamily="18" charset="0"/>
                  </a:rPr>
                  <a:t>倍。</a:t>
                </a:r>
                <a:endParaRPr lang="en-US" altLang="zh-CN"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p>
                        <m:sSupPr>
                          <m:ctrlPr>
                            <a:rPr lang="en-US" altLang="zh-CN" i="1" dirty="0">
                              <a:solidFill>
                                <a:schemeClr val="tx1"/>
                              </a:solidFill>
                              <a:latin typeface="Cambria Math" panose="02040503050406030204" pitchFamily="18" charset="0"/>
                            </a:rPr>
                          </m:ctrlPr>
                        </m:sSupPr>
                        <m:e>
                          <m:r>
                            <a:rPr lang="en-US" altLang="zh-CN" i="1" dirty="0">
                              <a:solidFill>
                                <a:schemeClr val="tx1"/>
                              </a:solidFill>
                              <a:latin typeface="Cambria Math" panose="02040503050406030204" pitchFamily="18" charset="0"/>
                            </a:rPr>
                            <m:t>𝑃</m:t>
                          </m:r>
                        </m:e>
                        <m:sup>
                          <m:r>
                            <a:rPr lang="en-US" altLang="zh-CN" i="1" dirty="0">
                              <a:solidFill>
                                <a:schemeClr val="tx1"/>
                              </a:solidFill>
                              <a:latin typeface="Cambria Math" panose="02040503050406030204" pitchFamily="18" charset="0"/>
                            </a:rPr>
                            <m:t>22</m:t>
                          </m:r>
                        </m:sup>
                      </m:sSup>
                      <m:d>
                        <m:dPr>
                          <m:ctrlPr>
                            <a:rPr lang="en-US" altLang="zh-CN" i="1" dirty="0">
                              <a:solidFill>
                                <a:schemeClr val="tx1"/>
                              </a:solidFill>
                              <a:latin typeface="Cambria Math" panose="02040503050406030204" pitchFamily="18" charset="0"/>
                            </a:rPr>
                          </m:ctrlPr>
                        </m:dPr>
                        <m:e>
                          <m:acc>
                            <m:accPr>
                              <m:chr m:val="̃"/>
                              <m:ctrlPr>
                                <a:rPr lang="en-US" altLang="zh-CN" b="1" i="1" dirty="0">
                                  <a:solidFill>
                                    <a:schemeClr val="tx1"/>
                                  </a:solidFill>
                                  <a:latin typeface="Cambria Math" panose="02040503050406030204" pitchFamily="18" charset="0"/>
                                </a:rPr>
                              </m:ctrlPr>
                            </m:accPr>
                            <m:e>
                              <m:r>
                                <a:rPr lang="en-US" altLang="zh-CN" b="1" i="1" dirty="0">
                                  <a:solidFill>
                                    <a:schemeClr val="tx1"/>
                                  </a:solidFill>
                                  <a:latin typeface="Cambria Math" panose="02040503050406030204" pitchFamily="18" charset="0"/>
                                </a:rPr>
                                <m:t>𝒎</m:t>
                              </m:r>
                            </m:e>
                          </m:acc>
                        </m:e>
                      </m:d>
                      <m:r>
                        <a:rPr lang="en-US" altLang="zh-CN" b="1" i="1" dirty="0">
                          <a:solidFill>
                            <a:schemeClr val="tx1"/>
                          </a:solidFill>
                          <a:latin typeface="Cambria Math" panose="02040503050406030204" pitchFamily="18" charset="0"/>
                        </a:rPr>
                        <m:t>=</m:t>
                      </m:r>
                      <m:r>
                        <a:rPr lang="en-US" altLang="zh-CN" i="1" dirty="0">
                          <a:solidFill>
                            <a:schemeClr val="tx1"/>
                          </a:solidFill>
                          <a:latin typeface="Cambria Math" panose="02040503050406030204" pitchFamily="18" charset="0"/>
                        </a:rPr>
                        <m:t>𝐷</m:t>
                      </m:r>
                      <m:d>
                        <m:dPr>
                          <m:ctrlPr>
                            <a:rPr lang="en-US" altLang="zh-CN" i="1" dirty="0">
                              <a:solidFill>
                                <a:schemeClr val="tx1"/>
                              </a:solidFill>
                              <a:latin typeface="Cambria Math" panose="02040503050406030204" pitchFamily="18" charset="0"/>
                            </a:rPr>
                          </m:ctrlPr>
                        </m:dPr>
                        <m:e>
                          <m:r>
                            <a:rPr lang="en-US" altLang="zh-CN" b="1" i="1" dirty="0">
                              <a:solidFill>
                                <a:schemeClr val="tx1"/>
                              </a:solidFill>
                              <a:latin typeface="Cambria Math" panose="02040503050406030204" pitchFamily="18" charset="0"/>
                            </a:rPr>
                            <m:t>𝒎</m:t>
                          </m:r>
                        </m:e>
                      </m:d>
                      <m:func>
                        <m:funcPr>
                          <m:ctrlPr>
                            <a:rPr lang="en-US" altLang="zh-CN" i="1" dirty="0">
                              <a:solidFill>
                                <a:schemeClr val="tx1"/>
                              </a:solidFill>
                              <a:latin typeface="Cambria Math" panose="02040503050406030204" pitchFamily="18" charset="0"/>
                            </a:rPr>
                          </m:ctrlPr>
                        </m:funcPr>
                        <m:fName>
                          <m:sSup>
                            <m:sSupPr>
                              <m:ctrlPr>
                                <a:rPr lang="en-US" altLang="zh-CN" i="1" dirty="0">
                                  <a:solidFill>
                                    <a:schemeClr val="tx1"/>
                                  </a:solidFill>
                                  <a:latin typeface="Cambria Math" panose="02040503050406030204" pitchFamily="18" charset="0"/>
                                </a:rPr>
                              </m:ctrlPr>
                            </m:sSupPr>
                            <m:e>
                              <m:r>
                                <m:rPr>
                                  <m:sty m:val="p"/>
                                </m:rPr>
                                <a:rPr lang="en-US" altLang="zh-CN" dirty="0">
                                  <a:solidFill>
                                    <a:schemeClr val="tx1"/>
                                  </a:solidFill>
                                  <a:latin typeface="Cambria Math" panose="02040503050406030204" pitchFamily="18" charset="0"/>
                                </a:rPr>
                                <m:t>cos</m:t>
                              </m:r>
                            </m:e>
                            <m:sup>
                              <m:r>
                                <a:rPr lang="en-US" altLang="zh-CN" i="1" dirty="0">
                                  <a:solidFill>
                                    <a:schemeClr val="tx1"/>
                                  </a:solidFill>
                                  <a:latin typeface="Cambria Math" panose="02040503050406030204" pitchFamily="18" charset="0"/>
                                </a:rPr>
                                <m:t>4</m:t>
                              </m:r>
                            </m:sup>
                          </m:sSup>
                        </m:fName>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𝜃</m:t>
                              </m:r>
                            </m:e>
                            <m:sub>
                              <m:r>
                                <a:rPr lang="en-US" altLang="zh-CN" i="1" dirty="0">
                                  <a:solidFill>
                                    <a:schemeClr val="tx1"/>
                                  </a:solidFill>
                                  <a:latin typeface="Cambria Math" panose="02040503050406030204" pitchFamily="18" charset="0"/>
                                </a:rPr>
                                <m:t>𝑚</m:t>
                              </m:r>
                            </m:sub>
                          </m:sSub>
                        </m:e>
                      </m:func>
                      <m:r>
                        <a:rPr lang="en-US" altLang="zh-CN" i="1" dirty="0">
                          <a:solidFill>
                            <a:schemeClr val="tx1"/>
                          </a:solidFill>
                          <a:latin typeface="Cambria Math" panose="02040503050406030204" pitchFamily="18" charset="0"/>
                        </a:rPr>
                        <m:t>=</m:t>
                      </m:r>
                      <m:f>
                        <m:fPr>
                          <m:ctrlPr>
                            <a:rPr lang="en-US" altLang="zh-CN" i="1" dirty="0">
                              <a:solidFill>
                                <a:schemeClr val="tx1"/>
                              </a:solidFill>
                              <a:latin typeface="Cambria Math" panose="02040503050406030204" pitchFamily="18" charset="0"/>
                            </a:rPr>
                          </m:ctrlPr>
                        </m:fPr>
                        <m:num>
                          <m:sSup>
                            <m:sSupPr>
                              <m:ctrlPr>
                                <a:rPr lang="en-US" altLang="zh-CN" i="1" dirty="0">
                                  <a:solidFill>
                                    <a:schemeClr val="tx1"/>
                                  </a:solidFill>
                                  <a:latin typeface="Cambria Math" panose="02040503050406030204" pitchFamily="18" charset="0"/>
                                </a:rPr>
                              </m:ctrlPr>
                            </m:sSupPr>
                            <m:e>
                              <m:r>
                                <a:rPr lang="en-US" altLang="zh-CN" i="1" dirty="0">
                                  <a:solidFill>
                                    <a:schemeClr val="tx1"/>
                                  </a:solidFill>
                                  <a:latin typeface="Cambria Math" panose="02040503050406030204" pitchFamily="18" charset="0"/>
                                </a:rPr>
                                <m:t>𝛼</m:t>
                              </m:r>
                            </m:e>
                            <m:sup>
                              <m:r>
                                <a:rPr lang="en-US" altLang="zh-CN" i="1" dirty="0">
                                  <a:solidFill>
                                    <a:schemeClr val="tx1"/>
                                  </a:solidFill>
                                  <a:latin typeface="Cambria Math" panose="02040503050406030204" pitchFamily="18" charset="0"/>
                                </a:rPr>
                                <m:t>2</m:t>
                              </m:r>
                            </m:sup>
                          </m:sSup>
                        </m:num>
                        <m:den>
                          <m:sSup>
                            <m:sSupPr>
                              <m:ctrlPr>
                                <a:rPr lang="en-US" altLang="zh-CN" i="1" dirty="0">
                                  <a:solidFill>
                                    <a:schemeClr val="tx1"/>
                                  </a:solidFill>
                                  <a:latin typeface="Cambria Math" panose="02040503050406030204" pitchFamily="18" charset="0"/>
                                </a:rPr>
                              </m:ctrlPr>
                            </m:sSupPr>
                            <m:e>
                              <m:r>
                                <a:rPr lang="en-US" altLang="zh-CN" i="1" dirty="0">
                                  <a:solidFill>
                                    <a:schemeClr val="tx1"/>
                                  </a:solidFill>
                                  <a:latin typeface="Cambria Math" panose="02040503050406030204" pitchFamily="18" charset="0"/>
                                </a:rPr>
                                <m:t>𝜋</m:t>
                              </m:r>
                              <m:r>
                                <a:rPr lang="en-US" altLang="zh-CN" i="1" dirty="0">
                                  <a:solidFill>
                                    <a:schemeClr val="tx1"/>
                                  </a:solidFill>
                                  <a:latin typeface="Cambria Math" panose="02040503050406030204" pitchFamily="18" charset="0"/>
                                </a:rPr>
                                <m:t> </m:t>
                              </m:r>
                              <m:d>
                                <m:dPr>
                                  <m:ctrlPr>
                                    <a:rPr lang="en-US" altLang="zh-CN" i="1" dirty="0">
                                      <a:solidFill>
                                        <a:schemeClr val="tx1"/>
                                      </a:solidFill>
                                      <a:latin typeface="Cambria Math" panose="02040503050406030204" pitchFamily="18" charset="0"/>
                                    </a:rPr>
                                  </m:ctrlPr>
                                </m:dPr>
                                <m:e>
                                  <m:sSup>
                                    <m:sSupPr>
                                      <m:ctrlPr>
                                        <a:rPr lang="en-US" altLang="zh-CN" i="1" dirty="0">
                                          <a:solidFill>
                                            <a:schemeClr val="tx1"/>
                                          </a:solidFill>
                                          <a:latin typeface="Cambria Math" panose="02040503050406030204" pitchFamily="18" charset="0"/>
                                        </a:rPr>
                                      </m:ctrlPr>
                                    </m:sSupPr>
                                    <m:e>
                                      <m:r>
                                        <a:rPr lang="en-US" altLang="zh-CN" i="1" dirty="0">
                                          <a:solidFill>
                                            <a:schemeClr val="tx1"/>
                                          </a:solidFill>
                                          <a:latin typeface="Cambria Math" panose="02040503050406030204" pitchFamily="18" charset="0"/>
                                        </a:rPr>
                                        <m:t>𝛼</m:t>
                                      </m:r>
                                    </m:e>
                                    <m:sup>
                                      <m:r>
                                        <a:rPr lang="en-US" altLang="zh-CN" i="1" dirty="0">
                                          <a:solidFill>
                                            <a:schemeClr val="tx1"/>
                                          </a:solidFill>
                                          <a:latin typeface="Cambria Math" panose="02040503050406030204" pitchFamily="18" charset="0"/>
                                        </a:rPr>
                                        <m:t>2</m:t>
                                      </m:r>
                                    </m:sup>
                                  </m:sSup>
                                  <m:r>
                                    <a:rPr lang="en-US" altLang="zh-CN" i="1" dirty="0">
                                      <a:solidFill>
                                        <a:schemeClr val="tx1"/>
                                      </a:solidFill>
                                      <a:latin typeface="Cambria Math" panose="02040503050406030204" pitchFamily="18" charset="0"/>
                                    </a:rPr>
                                    <m:t>+</m:t>
                                  </m:r>
                                  <m:func>
                                    <m:funcPr>
                                      <m:ctrlPr>
                                        <a:rPr lang="en-US" altLang="zh-CN" i="1" dirty="0">
                                          <a:solidFill>
                                            <a:schemeClr val="tx1"/>
                                          </a:solidFill>
                                          <a:latin typeface="Cambria Math" panose="02040503050406030204" pitchFamily="18" charset="0"/>
                                        </a:rPr>
                                      </m:ctrlPr>
                                    </m:funcPr>
                                    <m:fName>
                                      <m:sSup>
                                        <m:sSupPr>
                                          <m:ctrlPr>
                                            <a:rPr lang="en-US" altLang="zh-CN" i="1" dirty="0">
                                              <a:solidFill>
                                                <a:schemeClr val="tx1"/>
                                              </a:solidFill>
                                              <a:latin typeface="Cambria Math" panose="02040503050406030204" pitchFamily="18" charset="0"/>
                                            </a:rPr>
                                          </m:ctrlPr>
                                        </m:sSupPr>
                                        <m:e>
                                          <m:r>
                                            <m:rPr>
                                              <m:sty m:val="p"/>
                                            </m:rPr>
                                            <a:rPr lang="en-US" altLang="zh-CN" dirty="0">
                                              <a:solidFill>
                                                <a:schemeClr val="tx1"/>
                                              </a:solidFill>
                                              <a:latin typeface="Cambria Math" panose="02040503050406030204" pitchFamily="18" charset="0"/>
                                            </a:rPr>
                                            <m:t>tan</m:t>
                                          </m:r>
                                        </m:e>
                                        <m:sup>
                                          <m:r>
                                            <a:rPr lang="en-US" altLang="zh-CN" i="1" dirty="0">
                                              <a:solidFill>
                                                <a:schemeClr val="tx1"/>
                                              </a:solidFill>
                                              <a:latin typeface="Cambria Math" panose="02040503050406030204" pitchFamily="18" charset="0"/>
                                            </a:rPr>
                                            <m:t>2</m:t>
                                          </m:r>
                                        </m:sup>
                                      </m:sSup>
                                    </m:fName>
                                    <m:e>
                                      <m:sSub>
                                        <m:sSubPr>
                                          <m:ctrlPr>
                                            <a:rPr lang="en-US" altLang="zh-CN" i="1" dirty="0">
                                              <a:solidFill>
                                                <a:schemeClr val="tx1"/>
                                              </a:solidFill>
                                              <a:latin typeface="Cambria Math" panose="02040503050406030204" pitchFamily="18" charset="0"/>
                                            </a:rPr>
                                          </m:ctrlPr>
                                        </m:sSubPr>
                                        <m:e>
                                          <m:r>
                                            <a:rPr lang="en-US" altLang="zh-CN" i="1" dirty="0">
                                              <a:solidFill>
                                                <a:schemeClr val="tx1"/>
                                              </a:solidFill>
                                              <a:latin typeface="Cambria Math" panose="02040503050406030204" pitchFamily="18" charset="0"/>
                                            </a:rPr>
                                            <m:t>𝜃</m:t>
                                          </m:r>
                                        </m:e>
                                        <m:sub>
                                          <m:r>
                                            <a:rPr lang="en-US" altLang="zh-CN" i="1" dirty="0">
                                              <a:solidFill>
                                                <a:schemeClr val="tx1"/>
                                              </a:solidFill>
                                              <a:latin typeface="Cambria Math" panose="02040503050406030204" pitchFamily="18" charset="0"/>
                                            </a:rPr>
                                            <m:t>𝑚</m:t>
                                          </m:r>
                                        </m:sub>
                                      </m:sSub>
                                    </m:e>
                                  </m:func>
                                </m:e>
                              </m:d>
                            </m:e>
                            <m:sup>
                              <m:r>
                                <a:rPr lang="en-US" altLang="zh-CN" i="1" dirty="0">
                                  <a:solidFill>
                                    <a:schemeClr val="tx1"/>
                                  </a:solidFill>
                                  <a:latin typeface="Cambria Math" panose="02040503050406030204" pitchFamily="18" charset="0"/>
                                </a:rPr>
                                <m:t>2</m:t>
                              </m:r>
                            </m:sup>
                          </m:sSup>
                        </m:den>
                      </m:f>
                    </m:oMath>
                  </m:oMathPara>
                </a14:m>
                <a:endParaRPr lang="en-US" altLang="zh-CN" dirty="0">
                  <a:solidFill>
                    <a:schemeClr val="tx1"/>
                  </a:solidFill>
                  <a:latin typeface="Cambria Math" panose="02040503050406030204" pitchFamily="18" charset="0"/>
                </a:endParaRPr>
              </a:p>
              <a:p>
                <a:r>
                  <a:rPr lang="zh-CN" altLang="en-US" dirty="0">
                    <a:solidFill>
                      <a:schemeClr val="tx1"/>
                    </a:solidFill>
                    <a:latin typeface="Cambria Math" panose="02040503050406030204" pitchFamily="18" charset="0"/>
                  </a:rPr>
                  <a:t>        如果改变只</a:t>
                </a:r>
                <a14:m>
                  <m:oMath xmlns:m="http://schemas.openxmlformats.org/officeDocument/2006/math">
                    <m:r>
                      <a:rPr lang="en-US" altLang="zh-CN" b="0" i="1" dirty="0" smtClean="0">
                        <a:solidFill>
                          <a:schemeClr val="tx1"/>
                        </a:solidFill>
                        <a:latin typeface="Cambria Math" panose="02040503050406030204" pitchFamily="18" charset="0"/>
                      </a:rPr>
                      <m:t>𝛼</m:t>
                    </m:r>
                  </m:oMath>
                </a14:m>
                <a:r>
                  <a:rPr lang="zh-CN" altLang="en-US" dirty="0">
                    <a:solidFill>
                      <a:schemeClr val="tx1"/>
                    </a:solidFill>
                    <a:latin typeface="Cambria Math" panose="02040503050406030204" pitchFamily="18" charset="0"/>
                  </a:rPr>
                  <a:t>参数，</a:t>
                </a:r>
                <a:r>
                  <a:rPr lang="en-US" altLang="zh-CN" dirty="0">
                    <a:solidFill>
                      <a:schemeClr val="tx1"/>
                    </a:solidFill>
                  </a:rPr>
                  <a:t> </a:t>
                </a:r>
                <a14:m>
                  <m:oMath xmlns:m="http://schemas.openxmlformats.org/officeDocument/2006/math">
                    <m:sSup>
                      <m:sSupPr>
                        <m:ctrlPr>
                          <a:rPr lang="en-US" altLang="zh-CN" i="1" dirty="0">
                            <a:solidFill>
                              <a:schemeClr val="tx1"/>
                            </a:solidFill>
                            <a:latin typeface="Cambria Math" panose="02040503050406030204" pitchFamily="18" charset="0"/>
                          </a:rPr>
                        </m:ctrlPr>
                      </m:sSupPr>
                      <m:e>
                        <m:r>
                          <a:rPr lang="en-US" altLang="zh-CN" i="1" dirty="0">
                            <a:solidFill>
                              <a:schemeClr val="tx1"/>
                            </a:solidFill>
                            <a:latin typeface="Cambria Math" panose="02040503050406030204" pitchFamily="18" charset="0"/>
                          </a:rPr>
                          <m:t>𝑃</m:t>
                        </m:r>
                      </m:e>
                      <m:sup>
                        <m:r>
                          <a:rPr lang="en-US" altLang="zh-CN" i="1" dirty="0">
                            <a:solidFill>
                              <a:schemeClr val="tx1"/>
                            </a:solidFill>
                            <a:latin typeface="Cambria Math" panose="02040503050406030204" pitchFamily="18" charset="0"/>
                          </a:rPr>
                          <m:t>22</m:t>
                        </m:r>
                      </m:sup>
                    </m:sSup>
                    <m:d>
                      <m:dPr>
                        <m:ctrlPr>
                          <a:rPr lang="en-US" altLang="zh-CN" i="1" dirty="0">
                            <a:solidFill>
                              <a:schemeClr val="tx1"/>
                            </a:solidFill>
                            <a:latin typeface="Cambria Math" panose="02040503050406030204" pitchFamily="18" charset="0"/>
                          </a:rPr>
                        </m:ctrlPr>
                      </m:dPr>
                      <m:e>
                        <m:acc>
                          <m:accPr>
                            <m:chr m:val="̃"/>
                            <m:ctrlPr>
                              <a:rPr lang="en-US" altLang="zh-CN" b="1" i="1" dirty="0">
                                <a:solidFill>
                                  <a:schemeClr val="tx1"/>
                                </a:solidFill>
                                <a:latin typeface="Cambria Math" panose="02040503050406030204" pitchFamily="18" charset="0"/>
                              </a:rPr>
                            </m:ctrlPr>
                          </m:accPr>
                          <m:e>
                            <m:r>
                              <a:rPr lang="en-US" altLang="zh-CN" b="1" i="1" dirty="0">
                                <a:solidFill>
                                  <a:schemeClr val="tx1"/>
                                </a:solidFill>
                                <a:latin typeface="Cambria Math" panose="02040503050406030204" pitchFamily="18" charset="0"/>
                              </a:rPr>
                              <m:t>𝒎</m:t>
                            </m:r>
                          </m:e>
                        </m:acc>
                      </m:e>
                    </m:d>
                  </m:oMath>
                </a14:m>
                <a:r>
                  <a:rPr lang="zh-CN" altLang="en-US" dirty="0">
                    <a:solidFill>
                      <a:schemeClr val="tx1"/>
                    </a:solidFill>
                    <a:latin typeface="Cambria Math" panose="02040503050406030204" pitchFamily="18" charset="0"/>
                  </a:rPr>
                  <a:t>的形状不发生改变，那么</a:t>
                </a:r>
                <a14:m>
                  <m:oMath xmlns:m="http://schemas.openxmlformats.org/officeDocument/2006/math">
                    <m:sSup>
                      <m:sSupPr>
                        <m:ctrlPr>
                          <a:rPr lang="en-US" altLang="zh-CN" i="1" dirty="0">
                            <a:solidFill>
                              <a:schemeClr val="tx1"/>
                            </a:solidFill>
                            <a:latin typeface="Cambria Math" panose="02040503050406030204" pitchFamily="18" charset="0"/>
                          </a:rPr>
                        </m:ctrlPr>
                      </m:sSupPr>
                      <m:e>
                        <m:r>
                          <a:rPr lang="en-US" altLang="zh-CN" i="1" dirty="0">
                            <a:solidFill>
                              <a:schemeClr val="tx1"/>
                            </a:solidFill>
                            <a:latin typeface="Cambria Math" panose="02040503050406030204" pitchFamily="18" charset="0"/>
                          </a:rPr>
                          <m:t>𝑃</m:t>
                        </m:r>
                      </m:e>
                      <m:sup>
                        <m:r>
                          <a:rPr lang="en-US" altLang="zh-CN" i="1" dirty="0">
                            <a:solidFill>
                              <a:schemeClr val="tx1"/>
                            </a:solidFill>
                            <a:latin typeface="Cambria Math" panose="02040503050406030204" pitchFamily="18" charset="0"/>
                          </a:rPr>
                          <m:t>22</m:t>
                        </m:r>
                      </m:sup>
                    </m:sSup>
                    <m:d>
                      <m:dPr>
                        <m:ctrlPr>
                          <a:rPr lang="en-US" altLang="zh-CN" i="1" dirty="0">
                            <a:solidFill>
                              <a:schemeClr val="tx1"/>
                            </a:solidFill>
                            <a:latin typeface="Cambria Math" panose="02040503050406030204" pitchFamily="18" charset="0"/>
                          </a:rPr>
                        </m:ctrlPr>
                      </m:dPr>
                      <m:e>
                        <m:acc>
                          <m:accPr>
                            <m:chr m:val="̃"/>
                            <m:ctrlPr>
                              <a:rPr lang="en-US" altLang="zh-CN" b="1" i="1" dirty="0">
                                <a:solidFill>
                                  <a:schemeClr val="tx1"/>
                                </a:solidFill>
                                <a:latin typeface="Cambria Math" panose="02040503050406030204" pitchFamily="18" charset="0"/>
                              </a:rPr>
                            </m:ctrlPr>
                          </m:accPr>
                          <m:e>
                            <m:r>
                              <a:rPr lang="en-US" altLang="zh-CN" b="1" i="1" dirty="0">
                                <a:solidFill>
                                  <a:schemeClr val="tx1"/>
                                </a:solidFill>
                                <a:latin typeface="Cambria Math" panose="02040503050406030204" pitchFamily="18" charset="0"/>
                              </a:rPr>
                              <m:t>𝒎</m:t>
                            </m:r>
                          </m:e>
                        </m:acc>
                      </m:e>
                    </m:d>
                  </m:oMath>
                </a14:m>
                <a:r>
                  <a:rPr lang="zh-CN" altLang="en-US" dirty="0">
                    <a:solidFill>
                      <a:schemeClr val="tx1"/>
                    </a:solidFill>
                    <a:latin typeface="Cambria Math" panose="02040503050406030204" pitchFamily="18" charset="0"/>
                  </a:rPr>
                  <a:t>就是满足伸缩不变性的。</a:t>
                </a:r>
                <a:endParaRPr lang="en-US" altLang="zh-CN" dirty="0">
                  <a:solidFill>
                    <a:schemeClr val="tx1"/>
                  </a:solidFill>
                  <a:latin typeface="Cambria Math" panose="02040503050406030204" pitchFamily="18" charset="0"/>
                </a:endParaRPr>
              </a:p>
            </p:txBody>
          </p:sp>
        </mc:Choice>
        <mc:Fallback xmlns="">
          <p:sp>
            <p:nvSpPr>
              <p:cNvPr id="4" name="矩形 3">
                <a:extLst>
                  <a:ext uri="{FF2B5EF4-FFF2-40B4-BE49-F238E27FC236}">
                    <a16:creationId xmlns:a16="http://schemas.microsoft.com/office/drawing/2014/main" id="{9E0A9DCE-CD1A-460A-196C-60B5BDBF93EC}"/>
                  </a:ext>
                </a:extLst>
              </p:cNvPr>
              <p:cNvSpPr>
                <a:spLocks noRot="1" noChangeAspect="1" noMove="1" noResize="1" noEditPoints="1" noAdjustHandles="1" noChangeArrowheads="1" noChangeShapeType="1" noTextEdit="1"/>
              </p:cNvSpPr>
              <p:nvPr/>
            </p:nvSpPr>
            <p:spPr>
              <a:xfrm>
                <a:off x="478709" y="1144044"/>
                <a:ext cx="5289527" cy="5402806"/>
              </a:xfrm>
              <a:prstGeom prst="rect">
                <a:avLst/>
              </a:prstGeom>
              <a:blipFill>
                <a:blip r:embed="rId2"/>
                <a:stretch>
                  <a:fillRect l="-921" r="-5178"/>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972EE97E-3309-202B-054C-48B51D9C7513}"/>
              </a:ext>
            </a:extLst>
          </p:cNvPr>
          <p:cNvPicPr>
            <a:picLocks noChangeAspect="1"/>
          </p:cNvPicPr>
          <p:nvPr/>
        </p:nvPicPr>
        <p:blipFill>
          <a:blip r:embed="rId3"/>
          <a:stretch>
            <a:fillRect/>
          </a:stretch>
        </p:blipFill>
        <p:spPr>
          <a:xfrm>
            <a:off x="6026713" y="1860318"/>
            <a:ext cx="6075912" cy="3425666"/>
          </a:xfrm>
          <a:prstGeom prst="rect">
            <a:avLst/>
          </a:prstGeom>
        </p:spPr>
      </p:pic>
      <p:sp>
        <p:nvSpPr>
          <p:cNvPr id="2" name="文本框 1">
            <a:extLst>
              <a:ext uri="{FF2B5EF4-FFF2-40B4-BE49-F238E27FC236}">
                <a16:creationId xmlns:a16="http://schemas.microsoft.com/office/drawing/2014/main" id="{DB73D03A-3EED-05DE-F186-DFAB0F6C0413}"/>
              </a:ext>
            </a:extLst>
          </p:cNvPr>
          <p:cNvSpPr txBox="1"/>
          <p:nvPr/>
        </p:nvSpPr>
        <p:spPr>
          <a:xfrm>
            <a:off x="7779913" y="5285984"/>
            <a:ext cx="2655086" cy="369332"/>
          </a:xfrm>
          <a:prstGeom prst="rect">
            <a:avLst/>
          </a:prstGeom>
          <a:noFill/>
        </p:spPr>
        <p:txBody>
          <a:bodyPr wrap="none" rtlCol="0">
            <a:spAutoFit/>
          </a:bodyPr>
          <a:lstStyle/>
          <a:p>
            <a:pPr algn="ctr"/>
            <a:r>
              <a:rPr lang="en-US" altLang="zh-CN" b="0" i="0" dirty="0">
                <a:solidFill>
                  <a:srgbClr val="212529"/>
                </a:solidFill>
                <a:effectLst/>
                <a:latin typeface="Domine"/>
              </a:rPr>
              <a:t>Heitz </a:t>
            </a:r>
            <a:r>
              <a:rPr lang="en-US" altLang="zh-CN" dirty="0">
                <a:solidFill>
                  <a:srgbClr val="212529"/>
                </a:solidFill>
                <a:latin typeface="Domine"/>
              </a:rPr>
              <a:t>(2014) </a:t>
            </a:r>
            <a:r>
              <a:rPr lang="en-US" altLang="zh-CN" dirty="0">
                <a:solidFill>
                  <a:srgbClr val="212529"/>
                </a:solidFill>
                <a:latin typeface="Domine"/>
                <a:hlinkClick r:id="rId4" action="ppaction://hlinksldjump"/>
              </a:rPr>
              <a:t>5</a:t>
            </a:r>
            <a:r>
              <a:rPr lang="zh-CN" altLang="en-US" dirty="0">
                <a:solidFill>
                  <a:srgbClr val="212529"/>
                </a:solidFill>
                <a:latin typeface="Domine"/>
              </a:rPr>
              <a:t>，</a:t>
            </a:r>
            <a:r>
              <a:rPr lang="en-US" altLang="zh-CN" dirty="0">
                <a:solidFill>
                  <a:srgbClr val="212529"/>
                </a:solidFill>
                <a:latin typeface="Domine"/>
              </a:rPr>
              <a:t>Figure 13.</a:t>
            </a:r>
            <a:endParaRPr lang="zh-CN" altLang="en-US" dirty="0"/>
          </a:p>
        </p:txBody>
      </p:sp>
    </p:spTree>
    <p:extLst>
      <p:ext uri="{BB962C8B-B14F-4D97-AF65-F5344CB8AC3E}">
        <p14:creationId xmlns:p14="http://schemas.microsoft.com/office/powerpoint/2010/main" val="41189617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7E8CD2-0C00-378F-B1A8-D37AD364830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4DF1F49F-7C20-3D94-DC47-A69428F0D334}"/>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伸缩不变性 </a:t>
                </a:r>
                <a:r>
                  <a:rPr lang="en-US" altLang="zh-CN" dirty="0"/>
                  <a:t>—— </a:t>
                </a:r>
                <a14:m>
                  <m:oMath xmlns:m="http://schemas.openxmlformats.org/officeDocument/2006/math">
                    <m:r>
                      <a:rPr lang="en-US" altLang="zh-CN" i="1" dirty="0">
                        <a:solidFill>
                          <a:schemeClr val="tx1"/>
                        </a:solidFill>
                        <a:latin typeface="Cambria Math" panose="02040503050406030204" pitchFamily="18" charset="0"/>
                      </a:rPr>
                      <m:t>𝐷</m:t>
                    </m:r>
                    <m:d>
                      <m:dPr>
                        <m:ctrlPr>
                          <a:rPr lang="en-US" altLang="zh-CN" i="1" dirty="0">
                            <a:solidFill>
                              <a:schemeClr val="tx1"/>
                            </a:solidFill>
                            <a:latin typeface="Cambria Math" panose="02040503050406030204" pitchFamily="18" charset="0"/>
                          </a:rPr>
                        </m:ctrlPr>
                      </m:dPr>
                      <m:e>
                        <m:r>
                          <a:rPr lang="en-US" altLang="zh-CN" b="1" i="1" dirty="0">
                            <a:solidFill>
                              <a:schemeClr val="tx1"/>
                            </a:solidFill>
                            <a:latin typeface="Cambria Math" panose="02040503050406030204" pitchFamily="18" charset="0"/>
                          </a:rPr>
                          <m:t>𝒎</m:t>
                        </m:r>
                      </m:e>
                    </m:d>
                  </m:oMath>
                </a14:m>
                <a:endParaRPr lang="en-US" altLang="zh-CN" dirty="0"/>
              </a:p>
            </p:txBody>
          </p:sp>
        </mc:Choice>
        <mc:Fallback xmlns="">
          <p:sp>
            <p:nvSpPr>
              <p:cNvPr id="13" name="标题 2">
                <a:extLst>
                  <a:ext uri="{FF2B5EF4-FFF2-40B4-BE49-F238E27FC236}">
                    <a16:creationId xmlns:a16="http://schemas.microsoft.com/office/drawing/2014/main" id="{4DF1F49F-7C20-3D94-DC47-A69428F0D334}"/>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017" b="-8475"/>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B6225E89-7A35-D5A1-C6EC-C90B24DCE898}"/>
              </a:ext>
            </a:extLst>
          </p:cNvPr>
          <p:cNvSpPr/>
          <p:nvPr/>
        </p:nvSpPr>
        <p:spPr>
          <a:xfrm>
            <a:off x="631109" y="1329847"/>
            <a:ext cx="11151707" cy="3062613"/>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872302E0-D1C1-17CC-E8F1-2AA86F798656}"/>
                  </a:ext>
                </a:extLst>
              </p:cNvPr>
              <p:cNvSpPr/>
              <p:nvPr/>
            </p:nvSpPr>
            <p:spPr>
              <a:xfrm>
                <a:off x="478709" y="1158658"/>
                <a:ext cx="11151707" cy="3062613"/>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Cambria Math" panose="02040503050406030204" pitchFamily="18" charset="0"/>
                  </a:rPr>
                  <a:t>下图绿色为</a:t>
                </a:r>
                <a14:m>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m:rPr>
                            <m:sty m:val="p"/>
                          </m:rPr>
                          <a:rPr lang="en-US" altLang="zh-CN" sz="1600" dirty="0">
                            <a:solidFill>
                              <a:schemeClr val="tx1"/>
                            </a:solidFill>
                            <a:latin typeface="Cambria Math" panose="02040503050406030204" pitchFamily="18" charset="0"/>
                          </a:rPr>
                          <m:t>g</m:t>
                        </m:r>
                      </m:e>
                      <m:sub>
                        <m:r>
                          <a:rPr lang="en-US" altLang="zh-CN" sz="1600" b="0" i="1" dirty="0" smtClean="0">
                            <a:solidFill>
                              <a:schemeClr val="tx1"/>
                            </a:solidFill>
                            <a:latin typeface="Cambria Math" panose="02040503050406030204" pitchFamily="18" charset="0"/>
                          </a:rPr>
                          <m:t>1</m:t>
                        </m:r>
                      </m:sub>
                    </m:sSub>
                    <m:d>
                      <m:dPr>
                        <m:ctrlPr>
                          <a:rPr lang="en-US" altLang="zh-CN" sz="1600" b="0" i="1" dirty="0" smtClean="0">
                            <a:solidFill>
                              <a:schemeClr val="tx1"/>
                            </a:solidFill>
                            <a:latin typeface="Cambria Math" panose="02040503050406030204" pitchFamily="18" charset="0"/>
                          </a:rPr>
                        </m:ctrlPr>
                      </m:dPr>
                      <m:e>
                        <m:r>
                          <m:rPr>
                            <m:sty m:val="p"/>
                          </m:rPr>
                          <a:rPr lang="en-US" altLang="zh-CN" sz="1600" b="0" i="0" dirty="0" smtClean="0">
                            <a:solidFill>
                              <a:schemeClr val="tx1"/>
                            </a:solidFill>
                            <a:latin typeface="Cambria Math" panose="02040503050406030204" pitchFamily="18" charset="0"/>
                          </a:rPr>
                          <m:t>x</m:t>
                        </m:r>
                      </m:e>
                    </m:d>
                    <m:r>
                      <a:rPr lang="en-US" altLang="zh-CN" sz="1600" b="0" i="0" dirty="0" smtClean="0">
                        <a:solidFill>
                          <a:schemeClr val="tx1"/>
                        </a:solidFill>
                        <a:latin typeface="Cambria Math" panose="02040503050406030204" pitchFamily="18" charset="0"/>
                      </a:rPr>
                      <m:t>=</m:t>
                    </m:r>
                    <m:func>
                      <m:funcPr>
                        <m:ctrlPr>
                          <a:rPr lang="en-US" altLang="zh-CN" sz="1600" b="0" i="1" dirty="0" smtClean="0">
                            <a:solidFill>
                              <a:schemeClr val="tx1"/>
                            </a:solidFill>
                            <a:latin typeface="Cambria Math" panose="02040503050406030204" pitchFamily="18" charset="0"/>
                          </a:rPr>
                        </m:ctrlPr>
                      </m:funcPr>
                      <m:fName>
                        <m:r>
                          <m:rPr>
                            <m:sty m:val="p"/>
                          </m:rPr>
                          <a:rPr lang="en-US" altLang="zh-CN" sz="1600" i="0" dirty="0" smtClean="0">
                            <a:solidFill>
                              <a:schemeClr val="tx1"/>
                            </a:solidFill>
                            <a:latin typeface="Cambria Math" panose="02040503050406030204" pitchFamily="18" charset="0"/>
                          </a:rPr>
                          <m:t>sin</m:t>
                        </m:r>
                      </m:fName>
                      <m:e>
                        <m:r>
                          <a:rPr lang="en-US" altLang="zh-CN" sz="1600" b="0" i="1" dirty="0" smtClean="0">
                            <a:solidFill>
                              <a:schemeClr val="tx1"/>
                            </a:solidFill>
                            <a:latin typeface="Cambria Math" panose="02040503050406030204" pitchFamily="18" charset="0"/>
                          </a:rPr>
                          <m:t>𝑥</m:t>
                        </m:r>
                      </m:e>
                    </m:func>
                  </m:oMath>
                </a14:m>
                <a:r>
                  <a:rPr lang="zh-CN" altLang="en-US" sz="1600" dirty="0">
                    <a:solidFill>
                      <a:schemeClr val="tx1"/>
                    </a:solidFill>
                    <a:latin typeface="Cambria Math" panose="02040503050406030204" pitchFamily="18" charset="0"/>
                  </a:rPr>
                  <a:t>，蓝色为</a:t>
                </a:r>
                <a14:m>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m:rPr>
                            <m:sty m:val="p"/>
                          </m:rPr>
                          <a:rPr lang="en-US" altLang="zh-CN" sz="1600" dirty="0">
                            <a:solidFill>
                              <a:schemeClr val="tx1"/>
                            </a:solidFill>
                            <a:latin typeface="Cambria Math" panose="02040503050406030204" pitchFamily="18" charset="0"/>
                          </a:rPr>
                          <m:t>g</m:t>
                        </m:r>
                      </m:e>
                      <m:sub>
                        <m:r>
                          <a:rPr lang="en-US" altLang="zh-CN" sz="1600" b="0" i="0" dirty="0" smtClean="0">
                            <a:solidFill>
                              <a:schemeClr val="tx1"/>
                            </a:solidFill>
                            <a:latin typeface="Cambria Math" panose="02040503050406030204" pitchFamily="18" charset="0"/>
                          </a:rPr>
                          <m:t>2</m:t>
                        </m:r>
                      </m:sub>
                    </m:sSub>
                    <m:d>
                      <m:dPr>
                        <m:ctrlPr>
                          <a:rPr lang="en-US" altLang="zh-CN" sz="1600" b="0" i="1" dirty="0" smtClean="0">
                            <a:solidFill>
                              <a:schemeClr val="tx1"/>
                            </a:solidFill>
                            <a:latin typeface="Cambria Math" panose="02040503050406030204" pitchFamily="18" charset="0"/>
                          </a:rPr>
                        </m:ctrlPr>
                      </m:dPr>
                      <m:e>
                        <m:r>
                          <m:rPr>
                            <m:sty m:val="p"/>
                          </m:rPr>
                          <a:rPr lang="en-US" altLang="zh-CN" sz="1600" b="0" i="0" dirty="0" smtClean="0">
                            <a:solidFill>
                              <a:schemeClr val="tx1"/>
                            </a:solidFill>
                            <a:latin typeface="Cambria Math" panose="02040503050406030204" pitchFamily="18" charset="0"/>
                          </a:rPr>
                          <m:t>x</m:t>
                        </m:r>
                      </m:e>
                    </m:d>
                    <m:r>
                      <a:rPr lang="en-US" altLang="zh-CN" sz="1600" b="0" i="0" dirty="0" smtClean="0">
                        <a:solidFill>
                          <a:schemeClr val="tx1"/>
                        </a:solidFill>
                        <a:latin typeface="Cambria Math" panose="02040503050406030204" pitchFamily="18" charset="0"/>
                      </a:rPr>
                      <m:t>=</m:t>
                    </m:r>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f>
                          <m:fPr>
                            <m:ctrlPr>
                              <a:rPr lang="en-US" altLang="zh-CN" sz="1600" b="0" i="1" dirty="0" smtClean="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𝑥</m:t>
                            </m:r>
                          </m:num>
                          <m:den>
                            <m:r>
                              <a:rPr lang="en-US" altLang="zh-CN" sz="1600" b="0" i="1" dirty="0" smtClean="0">
                                <a:solidFill>
                                  <a:schemeClr val="tx1"/>
                                </a:solidFill>
                                <a:latin typeface="Cambria Math" panose="02040503050406030204" pitchFamily="18" charset="0"/>
                              </a:rPr>
                              <m:t>2</m:t>
                            </m:r>
                          </m:den>
                        </m:f>
                      </m:e>
                    </m:func>
                  </m:oMath>
                </a14:m>
                <a:r>
                  <a:rPr lang="zh-CN" altLang="en-US" sz="1600" dirty="0">
                    <a:solidFill>
                      <a:schemeClr val="tx1"/>
                    </a:solidFill>
                    <a:latin typeface="Cambria Math" panose="02040503050406030204" pitchFamily="18" charset="0"/>
                  </a:rPr>
                  <a:t>，可以看到，蓝色是绿色拉伸</a:t>
                </a:r>
                <a:r>
                  <a:rPr lang="en-US" altLang="zh-CN" sz="1600" dirty="0">
                    <a:solidFill>
                      <a:schemeClr val="tx1"/>
                    </a:solidFill>
                    <a:latin typeface="Cambria Math" panose="02040503050406030204" pitchFamily="18" charset="0"/>
                  </a:rPr>
                  <a:t>2</a:t>
                </a:r>
                <a:r>
                  <a:rPr lang="zh-CN" altLang="en-US" sz="1600" dirty="0">
                    <a:solidFill>
                      <a:schemeClr val="tx1"/>
                    </a:solidFill>
                    <a:latin typeface="Cambria Math" panose="02040503050406030204" pitchFamily="18" charset="0"/>
                  </a:rPr>
                  <a:t>倍后的结果。</a:t>
                </a:r>
                <a:endParaRPr lang="en-US" altLang="zh-CN" sz="1600" dirty="0">
                  <a:solidFill>
                    <a:schemeClr val="tx1"/>
                  </a:solidFill>
                  <a:latin typeface="Cambria Math" panose="02040503050406030204" pitchFamily="18" charset="0"/>
                </a:endParaRPr>
              </a:p>
              <a:p>
                <a:pPr algn="ctr"/>
                <a:r>
                  <a:rPr lang="zh-CN" altLang="en-US" sz="1600" dirty="0">
                    <a:solidFill>
                      <a:schemeClr val="tx1"/>
                    </a:solidFill>
                    <a:latin typeface="Cambria Math" panose="02040503050406030204" pitchFamily="18" charset="0"/>
                  </a:rPr>
                  <a:t>注意：对微面结构拉</a:t>
                </a:r>
                <a14:m>
                  <m:oMath xmlns:m="http://schemas.openxmlformats.org/officeDocument/2006/math">
                    <m:r>
                      <m:rPr>
                        <m:sty m:val="p"/>
                      </m:rPr>
                      <a:rPr lang="en-US" altLang="zh-CN" sz="1600" b="0" i="0" dirty="0" smtClean="0">
                        <a:solidFill>
                          <a:schemeClr val="tx1"/>
                        </a:solidFill>
                        <a:latin typeface="Cambria Math" panose="02040503050406030204" pitchFamily="18" charset="0"/>
                      </a:rPr>
                      <m:t>k</m:t>
                    </m:r>
                  </m:oMath>
                </a14:m>
                <a:r>
                  <a:rPr lang="zh-CN" altLang="en-US" sz="1600" dirty="0">
                    <a:solidFill>
                      <a:schemeClr val="tx1"/>
                    </a:solidFill>
                    <a:latin typeface="Cambria Math" panose="02040503050406030204" pitchFamily="18" charset="0"/>
                  </a:rPr>
                  <a:t>伸倍，实际上是对微面斜率收缩</a:t>
                </a:r>
                <a14:m>
                  <m:oMath xmlns:m="http://schemas.openxmlformats.org/officeDocument/2006/math">
                    <m:r>
                      <m:rPr>
                        <m:sty m:val="p"/>
                      </m:rPr>
                      <a:rPr lang="en-US" altLang="zh-CN" sz="1600" dirty="0">
                        <a:solidFill>
                          <a:schemeClr val="tx1"/>
                        </a:solidFill>
                        <a:latin typeface="Cambria Math" panose="02040503050406030204" pitchFamily="18" charset="0"/>
                      </a:rPr>
                      <m:t>k</m:t>
                    </m:r>
                  </m:oMath>
                </a14:m>
                <a:r>
                  <a:rPr lang="zh-CN" altLang="en-US" sz="1600" dirty="0">
                    <a:solidFill>
                      <a:schemeClr val="tx1"/>
                    </a:solidFill>
                    <a:latin typeface="Cambria Math" panose="02040503050406030204" pitchFamily="18" charset="0"/>
                  </a:rPr>
                  <a:t>倍（拉伸</a:t>
                </a:r>
                <a14:m>
                  <m:oMath xmlns:m="http://schemas.openxmlformats.org/officeDocument/2006/math">
                    <m:f>
                      <m:fPr>
                        <m:ctrlPr>
                          <a:rPr lang="en-US" altLang="zh-CN" sz="1600" b="0" i="1" dirty="0" smtClean="0">
                            <a:solidFill>
                              <a:schemeClr val="tx1"/>
                            </a:solidFill>
                            <a:latin typeface="Cambria Math" panose="02040503050406030204" pitchFamily="18" charset="0"/>
                          </a:rPr>
                        </m:ctrlPr>
                      </m:fPr>
                      <m:num>
                        <m:r>
                          <a:rPr lang="en-US" altLang="zh-CN" sz="1600" b="0" i="0" dirty="0" smtClean="0">
                            <a:solidFill>
                              <a:schemeClr val="tx1"/>
                            </a:solidFill>
                            <a:latin typeface="Cambria Math" panose="02040503050406030204" pitchFamily="18" charset="0"/>
                          </a:rPr>
                          <m:t>1</m:t>
                        </m:r>
                      </m:num>
                      <m:den>
                        <m:r>
                          <m:rPr>
                            <m:sty m:val="p"/>
                          </m:rPr>
                          <a:rPr lang="en-US" altLang="zh-CN" sz="1600" dirty="0">
                            <a:solidFill>
                              <a:schemeClr val="tx1"/>
                            </a:solidFill>
                            <a:latin typeface="Cambria Math" panose="02040503050406030204" pitchFamily="18" charset="0"/>
                          </a:rPr>
                          <m:t>k</m:t>
                        </m:r>
                      </m:den>
                    </m:f>
                  </m:oMath>
                </a14:m>
                <a:r>
                  <a:rPr lang="zh-CN" altLang="en-US" sz="1600" dirty="0">
                    <a:solidFill>
                      <a:schemeClr val="tx1"/>
                    </a:solidFill>
                    <a:latin typeface="Cambria Math" panose="02040503050406030204" pitchFamily="18" charset="0"/>
                  </a:rPr>
                  <a:t>倍）。</a:t>
                </a:r>
                <a:endParaRPr lang="en-US" altLang="zh-CN" sz="1600" dirty="0">
                  <a:solidFill>
                    <a:schemeClr val="tx1"/>
                  </a:solidFill>
                  <a:latin typeface="Cambria Math" panose="02040503050406030204" pitchFamily="18" charset="0"/>
                </a:endParaRPr>
              </a:p>
              <a:p>
                <a:pPr algn="ctr"/>
                <a:r>
                  <a:rPr lang="zh-CN" altLang="en-US" sz="1600" dirty="0">
                    <a:solidFill>
                      <a:schemeClr val="tx1"/>
                    </a:solidFill>
                    <a:latin typeface="Cambria Math" panose="02040503050406030204" pitchFamily="18" charset="0"/>
                  </a:rPr>
                  <a:t>令</a:t>
                </a:r>
                <a14:m>
                  <m:oMath xmlns:m="http://schemas.openxmlformats.org/officeDocument/2006/math">
                    <m:r>
                      <m:rPr>
                        <m:sty m:val="p"/>
                      </m:rPr>
                      <a:rPr lang="en-US" altLang="zh-CN" sz="1600" b="0" i="0" dirty="0" smtClean="0">
                        <a:solidFill>
                          <a:schemeClr val="tx1"/>
                        </a:solidFill>
                        <a:latin typeface="Cambria Math" panose="02040503050406030204" pitchFamily="18" charset="0"/>
                      </a:rPr>
                      <m:t>f</m:t>
                    </m:r>
                    <m:d>
                      <m:dPr>
                        <m:ctrlPr>
                          <a:rPr lang="en-US" altLang="zh-CN" sz="1600" b="0" i="1" dirty="0" smtClean="0">
                            <a:solidFill>
                              <a:schemeClr val="tx1"/>
                            </a:solidFill>
                            <a:latin typeface="Cambria Math" panose="02040503050406030204" pitchFamily="18" charset="0"/>
                          </a:rPr>
                        </m:ctrlPr>
                      </m:dPr>
                      <m:e>
                        <m:sSub>
                          <m:sSubPr>
                            <m:ctrlPr>
                              <a:rPr lang="en-US" altLang="zh-CN" sz="1600" b="0" i="1" dirty="0" smtClean="0">
                                <a:solidFill>
                                  <a:schemeClr val="tx1"/>
                                </a:solidFill>
                                <a:latin typeface="Cambria Math" panose="02040503050406030204" pitchFamily="18" charset="0"/>
                              </a:rPr>
                            </m:ctrlPr>
                          </m:sSubPr>
                          <m:e>
                            <m:acc>
                              <m:accPr>
                                <m:chr m:val="̃"/>
                                <m:ctrlPr>
                                  <a:rPr lang="en-US" altLang="zh-CN" sz="1600" b="0" i="1" dirty="0" smtClean="0">
                                    <a:solidFill>
                                      <a:schemeClr val="tx1"/>
                                    </a:solidFill>
                                    <a:latin typeface="Cambria Math" panose="02040503050406030204" pitchFamily="18" charset="0"/>
                                  </a:rPr>
                                </m:ctrlPr>
                              </m:accPr>
                              <m:e>
                                <m:r>
                                  <a:rPr lang="en-US" altLang="zh-CN" sz="1600" b="0" i="1" dirty="0" smtClean="0">
                                    <a:solidFill>
                                      <a:schemeClr val="tx1"/>
                                    </a:solidFill>
                                    <a:latin typeface="Cambria Math" panose="02040503050406030204" pitchFamily="18" charset="0"/>
                                  </a:rPr>
                                  <m:t>𝑚</m:t>
                                </m:r>
                              </m:e>
                            </m:acc>
                          </m:e>
                          <m:sub>
                            <m:r>
                              <a:rPr lang="en-US" altLang="zh-CN" sz="1600" b="0" i="1" dirty="0" smtClean="0">
                                <a:solidFill>
                                  <a:schemeClr val="tx1"/>
                                </a:solidFill>
                                <a:latin typeface="Cambria Math" panose="02040503050406030204" pitchFamily="18" charset="0"/>
                              </a:rPr>
                              <m:t>𝑥</m:t>
                            </m:r>
                          </m:sub>
                        </m:sSub>
                        <m:r>
                          <a:rPr lang="en-US" altLang="zh-CN" sz="1600" b="0" i="1" dirty="0" smtClean="0">
                            <a:solidFill>
                              <a:schemeClr val="tx1"/>
                            </a:solidFill>
                            <a:latin typeface="Cambria Math" panose="02040503050406030204" pitchFamily="18" charset="0"/>
                          </a:rPr>
                          <m:t>,</m:t>
                        </m:r>
                        <m:sSub>
                          <m:sSubPr>
                            <m:ctrlPr>
                              <a:rPr lang="en-US" altLang="zh-CN" sz="1600" b="0" i="1" dirty="0" smtClean="0">
                                <a:solidFill>
                                  <a:schemeClr val="tx1"/>
                                </a:solidFill>
                                <a:latin typeface="Cambria Math" panose="02040503050406030204" pitchFamily="18" charset="0"/>
                              </a:rPr>
                            </m:ctrlPr>
                          </m:sSubPr>
                          <m:e>
                            <m:acc>
                              <m:accPr>
                                <m:chr m:val="̃"/>
                                <m:ctrlPr>
                                  <a:rPr lang="en-US" altLang="zh-CN" sz="1600" b="0" i="1" dirty="0" smtClean="0">
                                    <a:solidFill>
                                      <a:schemeClr val="tx1"/>
                                    </a:solidFill>
                                    <a:latin typeface="Cambria Math" panose="02040503050406030204" pitchFamily="18" charset="0"/>
                                  </a:rPr>
                                </m:ctrlPr>
                              </m:accPr>
                              <m:e>
                                <m:r>
                                  <a:rPr lang="en-US" altLang="zh-CN" sz="1600" b="0" i="1" dirty="0" smtClean="0">
                                    <a:solidFill>
                                      <a:schemeClr val="tx1"/>
                                    </a:solidFill>
                                    <a:latin typeface="Cambria Math" panose="02040503050406030204" pitchFamily="18" charset="0"/>
                                  </a:rPr>
                                  <m:t>𝑚</m:t>
                                </m:r>
                              </m:e>
                            </m:acc>
                          </m:e>
                          <m:sub>
                            <m:r>
                              <a:rPr lang="en-US" altLang="zh-CN" sz="1600" b="0" i="1" dirty="0" smtClean="0">
                                <a:solidFill>
                                  <a:schemeClr val="tx1"/>
                                </a:solidFill>
                                <a:latin typeface="Cambria Math" panose="02040503050406030204" pitchFamily="18" charset="0"/>
                              </a:rPr>
                              <m:t>𝑧</m:t>
                            </m:r>
                          </m:sub>
                        </m:sSub>
                      </m:e>
                    </m:d>
                  </m:oMath>
                </a14:m>
                <a:r>
                  <a:rPr lang="zh-CN" altLang="en-US" sz="1600" dirty="0">
                    <a:solidFill>
                      <a:schemeClr val="tx1"/>
                    </a:solidFill>
                    <a:latin typeface="Cambria Math" panose="02040503050406030204" pitchFamily="18" charset="0"/>
                  </a:rPr>
                  <a:t>为微面斜率分布函数的形状。</a:t>
                </a:r>
                <a:endParaRPr lang="en-US" altLang="zh-CN" sz="1600" dirty="0">
                  <a:solidFill>
                    <a:schemeClr val="tx1"/>
                  </a:solidFill>
                  <a:latin typeface="Cambria Math" panose="02040503050406030204" pitchFamily="18" charset="0"/>
                </a:endParaRPr>
              </a:p>
              <a:p>
                <a:pPr algn="ctr"/>
                <a:r>
                  <a:rPr lang="zh-CN" altLang="en-US" sz="1600" dirty="0">
                    <a:solidFill>
                      <a:schemeClr val="tx1"/>
                    </a:solidFill>
                    <a:latin typeface="Cambria Math" panose="02040503050406030204" pitchFamily="18" charset="0"/>
                  </a:rPr>
                  <a:t>若对微面结构拉伸</a:t>
                </a:r>
                <a14:m>
                  <m:oMath xmlns:m="http://schemas.openxmlformats.org/officeDocument/2006/math">
                    <m:f>
                      <m:fPr>
                        <m:ctrlPr>
                          <a:rPr lang="en-US" altLang="zh-CN" sz="1600" b="0" i="1" dirty="0" smtClean="0">
                            <a:solidFill>
                              <a:schemeClr val="tx1"/>
                            </a:solidFill>
                            <a:latin typeface="Cambria Math" panose="02040503050406030204" pitchFamily="18" charset="0"/>
                          </a:rPr>
                        </m:ctrlPr>
                      </m:fPr>
                      <m:num>
                        <m:r>
                          <a:rPr lang="en-US" altLang="zh-CN" sz="1600" b="0" i="0" dirty="0" smtClean="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𝛼</m:t>
                        </m:r>
                      </m:den>
                    </m:f>
                  </m:oMath>
                </a14:m>
                <a:r>
                  <a:rPr lang="zh-CN" altLang="en-US" sz="1600" dirty="0">
                    <a:solidFill>
                      <a:schemeClr val="tx1"/>
                    </a:solidFill>
                    <a:latin typeface="Cambria Math" panose="02040503050406030204" pitchFamily="18" charset="0"/>
                  </a:rPr>
                  <a:t>倍，则微面斜率应当收缩</a:t>
                </a:r>
                <a14:m>
                  <m:oMath xmlns:m="http://schemas.openxmlformats.org/officeDocument/2006/math">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𝛼</m:t>
                        </m:r>
                      </m:den>
                    </m:f>
                  </m:oMath>
                </a14:m>
                <a:r>
                  <a:rPr lang="zh-CN" altLang="en-US" sz="1600" dirty="0">
                    <a:solidFill>
                      <a:schemeClr val="tx1"/>
                    </a:solidFill>
                    <a:latin typeface="Cambria Math" panose="02040503050406030204" pitchFamily="18" charset="0"/>
                  </a:rPr>
                  <a:t>倍，也就是拉伸</a:t>
                </a:r>
                <a14:m>
                  <m:oMath xmlns:m="http://schemas.openxmlformats.org/officeDocument/2006/math">
                    <m:r>
                      <a:rPr lang="en-US" altLang="zh-CN" sz="1600" i="1" dirty="0">
                        <a:solidFill>
                          <a:schemeClr val="tx1"/>
                        </a:solidFill>
                        <a:latin typeface="Cambria Math" panose="02040503050406030204" pitchFamily="18" charset="0"/>
                      </a:rPr>
                      <m:t>𝛼</m:t>
                    </m:r>
                  </m:oMath>
                </a14:m>
                <a:r>
                  <a:rPr lang="zh-CN" altLang="en-US" sz="1600" dirty="0">
                    <a:solidFill>
                      <a:schemeClr val="tx1"/>
                    </a:solidFill>
                    <a:latin typeface="Cambria Math" panose="02040503050406030204" pitchFamily="18" charset="0"/>
                  </a:rPr>
                  <a:t>倍，</a:t>
                </a:r>
                <a:r>
                  <a:rPr lang="en-US" altLang="zh-CN" sz="1600" dirty="0">
                    <a:solidFill>
                      <a:schemeClr val="tx1"/>
                    </a:solidFill>
                  </a:rPr>
                  <a:t> </a:t>
                </a:r>
                <a14:m>
                  <m:oMath xmlns:m="http://schemas.openxmlformats.org/officeDocument/2006/math">
                    <m:r>
                      <a:rPr lang="en-US" altLang="zh-CN" sz="1600" i="1" dirty="0">
                        <a:solidFill>
                          <a:schemeClr val="tx1"/>
                        </a:solidFill>
                        <a:latin typeface="Cambria Math" panose="02040503050406030204" pitchFamily="18" charset="0"/>
                      </a:rPr>
                      <m:t>𝛼</m:t>
                    </m:r>
                    <m:r>
                      <a:rPr lang="en-US" altLang="zh-CN" sz="1600" i="1" dirty="0">
                        <a:solidFill>
                          <a:schemeClr val="tx1"/>
                        </a:solidFill>
                        <a:latin typeface="Cambria Math" panose="02040503050406030204" pitchFamily="18" charset="0"/>
                      </a:rPr>
                      <m:t>∈</m:t>
                    </m:r>
                    <m:d>
                      <m:dPr>
                        <m:endChr m:val="]"/>
                        <m:ctrlPr>
                          <a:rPr lang="en-US" altLang="zh-CN" sz="1600" i="1" dirty="0">
                            <a:solidFill>
                              <a:schemeClr val="tx1"/>
                            </a:solidFill>
                            <a:latin typeface="Cambria Math" panose="02040503050406030204" pitchFamily="18" charset="0"/>
                          </a:rPr>
                        </m:ctrlPr>
                      </m:dPr>
                      <m:e>
                        <m:r>
                          <a:rPr lang="en-US" altLang="zh-CN" sz="1600" i="1" dirty="0">
                            <a:solidFill>
                              <a:schemeClr val="tx1"/>
                            </a:solidFill>
                            <a:latin typeface="Cambria Math" panose="02040503050406030204" pitchFamily="18" charset="0"/>
                          </a:rPr>
                          <m:t>0</m:t>
                        </m:r>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1</m:t>
                        </m:r>
                      </m:e>
                    </m:d>
                  </m:oMath>
                </a14:m>
                <a:endParaRPr lang="en-US" altLang="zh-CN" sz="16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1600" i="1" dirty="0">
                          <a:solidFill>
                            <a:schemeClr val="tx1"/>
                          </a:solidFill>
                          <a:latin typeface="Cambria Math" panose="02040503050406030204" pitchFamily="18" charset="0"/>
                        </a:rPr>
                        <m:t>拉伸前斜率为</m:t>
                      </m:r>
                      <m:acc>
                        <m:accPr>
                          <m:chr m:val="̃"/>
                          <m:ctrlPr>
                            <a:rPr lang="en-US" altLang="zh-CN" sz="1600" b="1" i="1" dirty="0" smtClean="0">
                              <a:solidFill>
                                <a:schemeClr val="tx1"/>
                              </a:solidFill>
                              <a:latin typeface="Cambria Math" panose="02040503050406030204" pitchFamily="18" charset="0"/>
                            </a:rPr>
                          </m:ctrlPr>
                        </m:accPr>
                        <m:e>
                          <m:r>
                            <a:rPr lang="en-US" altLang="zh-CN" sz="1600" b="1" i="1" dirty="0" smtClean="0">
                              <a:solidFill>
                                <a:schemeClr val="tx1"/>
                              </a:solidFill>
                              <a:latin typeface="Cambria Math" panose="02040503050406030204" pitchFamily="18" charset="0"/>
                            </a:rPr>
                            <m:t>𝒎</m:t>
                          </m:r>
                        </m:e>
                      </m:acc>
                      <m:r>
                        <a:rPr lang="zh-CN" altLang="en-US" sz="1600" b="1" i="1" dirty="0">
                          <a:solidFill>
                            <a:schemeClr val="tx1"/>
                          </a:solidFill>
                          <a:latin typeface="Cambria Math" panose="02040503050406030204" pitchFamily="18" charset="0"/>
                        </a:rPr>
                        <m:t>的</m:t>
                      </m:r>
                      <m:r>
                        <a:rPr lang="zh-CN" altLang="en-US" sz="1600" b="1" i="1" dirty="0" smtClean="0">
                          <a:solidFill>
                            <a:schemeClr val="tx1"/>
                          </a:solidFill>
                          <a:latin typeface="Cambria Math" panose="02040503050406030204" pitchFamily="18" charset="0"/>
                        </a:rPr>
                        <m:t>微面</m:t>
                      </m:r>
                      <m:r>
                        <a:rPr lang="zh-CN" altLang="en-US" sz="1600" b="1" i="1" dirty="0">
                          <a:solidFill>
                            <a:schemeClr val="tx1"/>
                          </a:solidFill>
                          <a:latin typeface="Cambria Math" panose="02040503050406030204" pitchFamily="18" charset="0"/>
                        </a:rPr>
                        <m:t>与</m:t>
                      </m:r>
                      <m:r>
                        <a:rPr lang="zh-CN" altLang="en-US" sz="1600" b="1" i="1" dirty="0" smtClean="0">
                          <a:solidFill>
                            <a:schemeClr val="tx1"/>
                          </a:solidFill>
                          <a:latin typeface="Cambria Math" panose="02040503050406030204" pitchFamily="18" charset="0"/>
                        </a:rPr>
                        <m:t>拉伸后</m:t>
                      </m:r>
                      <m:r>
                        <a:rPr lang="zh-CN" altLang="en-US" sz="1600" b="1" i="1" dirty="0">
                          <a:solidFill>
                            <a:schemeClr val="tx1"/>
                          </a:solidFill>
                          <a:latin typeface="Cambria Math" panose="02040503050406030204" pitchFamily="18" charset="0"/>
                        </a:rPr>
                        <m:t>斜率</m:t>
                      </m:r>
                      <m:r>
                        <a:rPr lang="zh-CN" altLang="en-US" sz="1600" b="1" i="1" dirty="0" smtClean="0">
                          <a:solidFill>
                            <a:schemeClr val="tx1"/>
                          </a:solidFill>
                          <a:latin typeface="Cambria Math" panose="02040503050406030204" pitchFamily="18" charset="0"/>
                        </a:rPr>
                        <m:t>为</m:t>
                      </m:r>
                      <m:r>
                        <a:rPr lang="en-US" altLang="zh-CN" sz="1600" b="0" i="1" dirty="0" smtClean="0">
                          <a:solidFill>
                            <a:schemeClr val="tx1"/>
                          </a:solidFill>
                          <a:latin typeface="Cambria Math" panose="02040503050406030204" pitchFamily="18" charset="0"/>
                        </a:rPr>
                        <m:t>𝛼</m:t>
                      </m:r>
                      <m:acc>
                        <m:accPr>
                          <m:chr m:val="̃"/>
                          <m:ctrlPr>
                            <a:rPr lang="en-US" altLang="zh-CN" sz="1600" b="1" i="1" dirty="0">
                              <a:solidFill>
                                <a:schemeClr val="tx1"/>
                              </a:solidFill>
                              <a:latin typeface="Cambria Math" panose="02040503050406030204" pitchFamily="18" charset="0"/>
                            </a:rPr>
                          </m:ctrlPr>
                        </m:accPr>
                        <m:e>
                          <m:r>
                            <a:rPr lang="en-US" altLang="zh-CN" sz="1600" b="1" i="1" dirty="0">
                              <a:solidFill>
                                <a:schemeClr val="tx1"/>
                              </a:solidFill>
                              <a:latin typeface="Cambria Math" panose="02040503050406030204" pitchFamily="18" charset="0"/>
                            </a:rPr>
                            <m:t>𝒎</m:t>
                          </m:r>
                        </m:e>
                      </m:acc>
                      <m:r>
                        <a:rPr lang="zh-CN" altLang="en-US" sz="1600" i="1" dirty="0">
                          <a:solidFill>
                            <a:schemeClr val="tx1"/>
                          </a:solidFill>
                          <a:latin typeface="Cambria Math" panose="02040503050406030204" pitchFamily="18" charset="0"/>
                        </a:rPr>
                        <m:t>的</m:t>
                      </m:r>
                      <m:r>
                        <a:rPr lang="zh-CN" altLang="en-US" sz="1600" i="1" dirty="0" smtClean="0">
                          <a:solidFill>
                            <a:schemeClr val="tx1"/>
                          </a:solidFill>
                          <a:latin typeface="Cambria Math" panose="02040503050406030204" pitchFamily="18" charset="0"/>
                        </a:rPr>
                        <m:t>微面</m:t>
                      </m:r>
                      <m:r>
                        <a:rPr lang="zh-CN" altLang="en-US" sz="1600" i="1" dirty="0">
                          <a:solidFill>
                            <a:schemeClr val="tx1"/>
                          </a:solidFill>
                          <a:latin typeface="Cambria Math" panose="02040503050406030204" pitchFamily="18" charset="0"/>
                        </a:rPr>
                        <m:t>是</m:t>
                      </m:r>
                      <m:r>
                        <a:rPr lang="zh-CN" altLang="en-US" sz="1600" i="1" dirty="0" smtClean="0">
                          <a:solidFill>
                            <a:schemeClr val="tx1"/>
                          </a:solidFill>
                          <a:latin typeface="Cambria Math" panose="02040503050406030204" pitchFamily="18" charset="0"/>
                        </a:rPr>
                        <m:t>对应的</m:t>
                      </m:r>
                      <m:r>
                        <a:rPr lang="zh-CN" altLang="en-US" sz="1600" i="1" dirty="0">
                          <a:solidFill>
                            <a:schemeClr val="tx1"/>
                          </a:solidFill>
                          <a:latin typeface="Cambria Math" panose="02040503050406030204" pitchFamily="18" charset="0"/>
                        </a:rPr>
                        <m:t>，</m:t>
                      </m:r>
                      <m:r>
                        <a:rPr lang="zh-CN" altLang="en-US" sz="1600" i="1" dirty="0" smtClean="0">
                          <a:solidFill>
                            <a:schemeClr val="tx1"/>
                          </a:solidFill>
                          <a:latin typeface="Cambria Math" panose="02040503050406030204" pitchFamily="18" charset="0"/>
                        </a:rPr>
                        <m:t>令</m:t>
                      </m:r>
                      <m:r>
                        <a:rPr lang="zh-CN" altLang="en-US" sz="1600" i="1" dirty="0">
                          <a:solidFill>
                            <a:schemeClr val="tx1"/>
                          </a:solidFill>
                          <a:latin typeface="Cambria Math" panose="02040503050406030204" pitchFamily="18" charset="0"/>
                        </a:rPr>
                        <m:t>拉伸后</m:t>
                      </m:r>
                      <m:r>
                        <a:rPr lang="zh-CN" altLang="en-US" sz="1600" i="1" dirty="0" smtClean="0">
                          <a:solidFill>
                            <a:schemeClr val="tx1"/>
                          </a:solidFill>
                          <a:latin typeface="Cambria Math" panose="02040503050406030204" pitchFamily="18" charset="0"/>
                        </a:rPr>
                        <m:t>的</m:t>
                      </m:r>
                      <m:r>
                        <a:rPr lang="zh-CN" altLang="en-US" sz="1600" i="1" dirty="0">
                          <a:solidFill>
                            <a:schemeClr val="tx1"/>
                          </a:solidFill>
                          <a:latin typeface="Cambria Math" panose="02040503050406030204" pitchFamily="18" charset="0"/>
                        </a:rPr>
                        <m:t>斜率</m:t>
                      </m:r>
                      <m:r>
                        <a:rPr lang="zh-CN" altLang="en-US" sz="1600" i="1" dirty="0" smtClean="0">
                          <a:solidFill>
                            <a:schemeClr val="tx1"/>
                          </a:solidFill>
                          <a:latin typeface="Cambria Math" panose="02040503050406030204" pitchFamily="18" charset="0"/>
                        </a:rPr>
                        <m:t>为</m:t>
                      </m:r>
                      <m:sSup>
                        <m:sSupPr>
                          <m:ctrlPr>
                            <a:rPr lang="en-US" altLang="zh-CN" sz="1600" b="1" i="1" dirty="0" smtClean="0">
                              <a:solidFill>
                                <a:schemeClr val="tx1"/>
                              </a:solidFill>
                              <a:latin typeface="Cambria Math" panose="02040503050406030204" pitchFamily="18" charset="0"/>
                            </a:rPr>
                          </m:ctrlPr>
                        </m:sSupPr>
                        <m:e>
                          <m:acc>
                            <m:accPr>
                              <m:chr m:val="̃"/>
                              <m:ctrlPr>
                                <a:rPr lang="en-US" altLang="zh-CN" sz="1600" b="1" i="1" dirty="0">
                                  <a:solidFill>
                                    <a:schemeClr val="tx1"/>
                                  </a:solidFill>
                                  <a:latin typeface="Cambria Math" panose="02040503050406030204" pitchFamily="18" charset="0"/>
                                </a:rPr>
                              </m:ctrlPr>
                            </m:accPr>
                            <m:e>
                              <m:r>
                                <a:rPr lang="en-US" altLang="zh-CN" sz="1600" b="1" i="1" dirty="0">
                                  <a:solidFill>
                                    <a:schemeClr val="tx1"/>
                                  </a:solidFill>
                                  <a:latin typeface="Cambria Math" panose="02040503050406030204" pitchFamily="18" charset="0"/>
                                </a:rPr>
                                <m:t>𝒎</m:t>
                              </m:r>
                            </m:e>
                          </m:acc>
                        </m:e>
                        <m:sup>
                          <m:r>
                            <a:rPr lang="en-US" altLang="zh-CN" sz="1600" b="1" i="1" dirty="0" smtClean="0">
                              <a:solidFill>
                                <a:schemeClr val="tx1"/>
                              </a:solidFill>
                              <a:latin typeface="Cambria Math" panose="02040503050406030204" pitchFamily="18" charset="0"/>
                            </a:rPr>
                            <m:t>′</m:t>
                          </m:r>
                        </m:sup>
                      </m:sSup>
                      <m:r>
                        <a:rPr lang="en-US" altLang="zh-CN" sz="1600" b="1" i="1" dirty="0" smtClean="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𝛼</m:t>
                      </m:r>
                      <m:acc>
                        <m:accPr>
                          <m:chr m:val="̃"/>
                          <m:ctrlPr>
                            <a:rPr lang="en-US" altLang="zh-CN" sz="1600" b="1" i="1" dirty="0">
                              <a:solidFill>
                                <a:schemeClr val="tx1"/>
                              </a:solidFill>
                              <a:latin typeface="Cambria Math" panose="02040503050406030204" pitchFamily="18" charset="0"/>
                            </a:rPr>
                          </m:ctrlPr>
                        </m:accPr>
                        <m:e>
                          <m:r>
                            <a:rPr lang="en-US" altLang="zh-CN" sz="1600" b="1" i="1" dirty="0">
                              <a:solidFill>
                                <a:schemeClr val="tx1"/>
                              </a:solidFill>
                              <a:latin typeface="Cambria Math" panose="02040503050406030204" pitchFamily="18" charset="0"/>
                            </a:rPr>
                            <m:t>𝒎</m:t>
                          </m:r>
                        </m:e>
                      </m:acc>
                      <m:r>
                        <a:rPr lang="zh-CN" altLang="en-US" sz="1600" i="1" dirty="0" smtClean="0">
                          <a:solidFill>
                            <a:schemeClr val="tx1"/>
                          </a:solidFill>
                          <a:latin typeface="Cambria Math" panose="02040503050406030204" pitchFamily="18" charset="0"/>
                        </a:rPr>
                        <m:t>：</m:t>
                      </m:r>
                      <m:sSup>
                        <m:sSupPr>
                          <m:ctrlPr>
                            <a:rPr lang="en-US" altLang="zh-CN" sz="1600" b="0" i="1" dirty="0" smtClean="0">
                              <a:solidFill>
                                <a:schemeClr val="tx1"/>
                              </a:solidFill>
                              <a:latin typeface="Cambria Math" panose="02040503050406030204" pitchFamily="18" charset="0"/>
                            </a:rPr>
                          </m:ctrlPr>
                        </m:sSupPr>
                        <m:e>
                          <m:r>
                            <m:rPr>
                              <m:sty m:val="p"/>
                            </m:rPr>
                            <a:rPr lang="en-US" altLang="zh-CN" sz="1600" i="1" dirty="0">
                              <a:solidFill>
                                <a:schemeClr val="tx1"/>
                              </a:solidFill>
                              <a:latin typeface="Cambria Math" panose="02040503050406030204" pitchFamily="18" charset="0"/>
                            </a:rPr>
                            <m:t>f</m:t>
                          </m:r>
                        </m:e>
                        <m:sup>
                          <m:r>
                            <a:rPr lang="en-US" altLang="zh-CN" sz="1600" b="0" i="0" dirty="0" smtClean="0">
                              <a:solidFill>
                                <a:schemeClr val="tx1"/>
                              </a:solidFill>
                              <a:latin typeface="Cambria Math" panose="02040503050406030204" pitchFamily="18" charset="0"/>
                            </a:rPr>
                            <m:t>′</m:t>
                          </m:r>
                        </m:sup>
                      </m:sSup>
                      <m:d>
                        <m:dPr>
                          <m:ctrlPr>
                            <a:rPr lang="en-US" altLang="zh-CN" sz="1600" b="0" i="1" dirty="0" smtClean="0">
                              <a:solidFill>
                                <a:schemeClr val="tx1"/>
                              </a:solidFill>
                              <a:latin typeface="Cambria Math" panose="02040503050406030204" pitchFamily="18" charset="0"/>
                            </a:rPr>
                          </m:ctrlPr>
                        </m:dPr>
                        <m:e>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b="0" i="1" dirty="0" smtClean="0">
                                      <a:solidFill>
                                        <a:schemeClr val="tx1"/>
                                      </a:solidFill>
                                      <a:latin typeface="Cambria Math" panose="02040503050406030204" pitchFamily="18" charset="0"/>
                                    </a:rPr>
                                  </m:ctrlPr>
                                </m:accPr>
                                <m:e>
                                  <m:r>
                                    <a:rPr lang="en-US" altLang="zh-CN" sz="1600" b="0" i="1" dirty="0" smtClean="0">
                                      <a:solidFill>
                                        <a:schemeClr val="tx1"/>
                                      </a:solidFill>
                                      <a:latin typeface="Cambria Math" panose="02040503050406030204" pitchFamily="18" charset="0"/>
                                    </a:rPr>
                                    <m:t>𝑚</m:t>
                                  </m:r>
                                </m:e>
                              </m:acc>
                            </m:e>
                            <m:sub>
                              <m:r>
                                <a:rPr lang="en-US" altLang="zh-CN" sz="1600" b="0" i="1" dirty="0" smtClean="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r>
                            <a:rPr lang="en-US" altLang="zh-CN" sz="1600" b="0" i="1" dirty="0" smtClean="0">
                              <a:solidFill>
                                <a:schemeClr val="tx1"/>
                              </a:solidFill>
                              <a:latin typeface="Cambria Math" panose="02040503050406030204" pitchFamily="18" charset="0"/>
                            </a:rPr>
                            <m:t>,</m:t>
                          </m:r>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b="0" i="1" dirty="0" smtClean="0">
                                      <a:solidFill>
                                        <a:schemeClr val="tx1"/>
                                      </a:solidFill>
                                      <a:latin typeface="Cambria Math" panose="02040503050406030204" pitchFamily="18" charset="0"/>
                                    </a:rPr>
                                  </m:ctrlPr>
                                </m:accPr>
                                <m:e>
                                  <m:r>
                                    <a:rPr lang="en-US" altLang="zh-CN" sz="1600" b="0" i="1" dirty="0" smtClean="0">
                                      <a:solidFill>
                                        <a:schemeClr val="tx1"/>
                                      </a:solidFill>
                                      <a:latin typeface="Cambria Math" panose="02040503050406030204" pitchFamily="18" charset="0"/>
                                    </a:rPr>
                                    <m:t>𝑚</m:t>
                                  </m:r>
                                </m:e>
                              </m:acc>
                            </m:e>
                            <m:sub>
                              <m:r>
                                <a:rPr lang="en-US" altLang="zh-CN" sz="1600" b="0" i="1" dirty="0" smtClean="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sup>
                          </m:sSubSup>
                        </m:e>
                      </m:d>
                      <m:r>
                        <a:rPr lang="en-US" altLang="zh-CN" sz="1600" b="0" i="0" dirty="0" smtClean="0">
                          <a:solidFill>
                            <a:schemeClr val="tx1"/>
                          </a:solidFill>
                          <a:latin typeface="Cambria Math" panose="02040503050406030204" pitchFamily="18" charset="0"/>
                        </a:rPr>
                        <m:t>=</m:t>
                      </m:r>
                      <m:r>
                        <m:rPr>
                          <m:sty m:val="p"/>
                        </m:rPr>
                        <a:rPr lang="en-US" altLang="zh-CN" sz="1600" dirty="0">
                          <a:solidFill>
                            <a:schemeClr val="tx1"/>
                          </a:solidFill>
                          <a:latin typeface="Cambria Math" panose="02040503050406030204" pitchFamily="18" charset="0"/>
                        </a:rPr>
                        <m:t>f</m:t>
                      </m:r>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num>
                            <m:den>
                              <m:r>
                                <a:rPr lang="en-US" altLang="zh-CN" sz="1600" i="1" dirty="0">
                                  <a:solidFill>
                                    <a:schemeClr val="tx1"/>
                                  </a:solidFill>
                                  <a:latin typeface="Cambria Math" panose="02040503050406030204" pitchFamily="18" charset="0"/>
                                </a:rPr>
                                <m:t>𝛼</m:t>
                              </m:r>
                            </m:den>
                          </m:f>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b="0" i="1" dirty="0" smtClean="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sup>
                              </m:sSubSup>
                            </m:num>
                            <m:den>
                              <m:r>
                                <a:rPr lang="en-US" altLang="zh-CN" sz="1600" i="1" dirty="0">
                                  <a:solidFill>
                                    <a:schemeClr val="tx1"/>
                                  </a:solidFill>
                                  <a:latin typeface="Cambria Math" panose="02040503050406030204" pitchFamily="18" charset="0"/>
                                </a:rPr>
                                <m:t>𝛼</m:t>
                              </m:r>
                            </m:den>
                          </m:f>
                        </m:e>
                      </m:d>
                    </m:oMath>
                  </m:oMathPara>
                </a14:m>
                <a:endParaRPr lang="en-US" altLang="zh-CN" sz="1600" dirty="0">
                  <a:solidFill>
                    <a:schemeClr val="tx1"/>
                  </a:solidFill>
                  <a:latin typeface="Cambria Math" panose="02040503050406030204" pitchFamily="18" charset="0"/>
                </a:endParaRPr>
              </a:p>
              <a:p>
                <a:pPr algn="ctr"/>
                <a:r>
                  <a:rPr lang="zh-CN" altLang="en-US" sz="1600" dirty="0">
                    <a:solidFill>
                      <a:schemeClr val="tx1"/>
                    </a:solidFill>
                    <a:latin typeface="Cambria Math" panose="02040503050406030204" pitchFamily="18" charset="0"/>
                  </a:rPr>
                  <a:t>为保证函数积分值不变，拉伸</a:t>
                </a:r>
                <a14:m>
                  <m:oMath xmlns:m="http://schemas.openxmlformats.org/officeDocument/2006/math">
                    <m:r>
                      <a:rPr lang="en-US" altLang="zh-CN" sz="1600" i="1" dirty="0" smtClean="0">
                        <a:solidFill>
                          <a:schemeClr val="tx1"/>
                        </a:solidFill>
                        <a:latin typeface="Cambria Math" panose="02040503050406030204" pitchFamily="18" charset="0"/>
                      </a:rPr>
                      <m:t>𝛼</m:t>
                    </m:r>
                  </m:oMath>
                </a14:m>
                <a:r>
                  <a:rPr lang="zh-CN" altLang="en-US" sz="1600" dirty="0">
                    <a:solidFill>
                      <a:schemeClr val="tx1"/>
                    </a:solidFill>
                    <a:latin typeface="Cambria Math" panose="02040503050406030204" pitchFamily="18" charset="0"/>
                  </a:rPr>
                  <a:t>倍后需对函数值除以</a:t>
                </a:r>
                <a14:m>
                  <m:oMath xmlns:m="http://schemas.openxmlformats.org/officeDocument/2006/math">
                    <m:sSup>
                      <m:sSupPr>
                        <m:ctrlPr>
                          <a:rPr lang="en-US" altLang="zh-CN" sz="1600" b="0" i="1" dirty="0" smtClean="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b="0" i="1" dirty="0" smtClean="0">
                            <a:solidFill>
                              <a:schemeClr val="tx1"/>
                            </a:solidFill>
                            <a:latin typeface="Cambria Math" panose="02040503050406030204" pitchFamily="18" charset="0"/>
                          </a:rPr>
                          <m:t>2</m:t>
                        </m:r>
                      </m:sup>
                    </m:sSup>
                  </m:oMath>
                </a14:m>
                <a:r>
                  <a:rPr lang="zh-CN" altLang="en-US" sz="1600" dirty="0">
                    <a:solidFill>
                      <a:schemeClr val="tx1"/>
                    </a:solidFill>
                    <a:latin typeface="Cambria Math" panose="02040503050406030204" pitchFamily="18" charset="0"/>
                  </a:rPr>
                  <a:t>（</a:t>
                </a:r>
                <a:r>
                  <a:rPr lang="en-US" altLang="zh-CN" sz="1600" dirty="0">
                    <a:solidFill>
                      <a:schemeClr val="tx1"/>
                    </a:solidFill>
                  </a:rPr>
                  <a:t> </a:t>
                </a:r>
                <a14:m>
                  <m:oMath xmlns:m="http://schemas.openxmlformats.org/officeDocument/2006/math">
                    <m:r>
                      <a:rPr lang="zh-CN" altLang="en-US" sz="1600" i="1" dirty="0" smtClean="0">
                        <a:solidFill>
                          <a:schemeClr val="tx1"/>
                        </a:solidFill>
                        <a:latin typeface="Cambria Math" panose="02040503050406030204" pitchFamily="18" charset="0"/>
                      </a:rPr>
                      <m:t>斜率</m:t>
                    </m:r>
                  </m:oMath>
                </a14:m>
                <a:r>
                  <a:rPr lang="zh-CN" altLang="en-US" sz="1600" dirty="0">
                    <a:solidFill>
                      <a:schemeClr val="tx1"/>
                    </a:solidFill>
                    <a:latin typeface="Cambria Math" panose="02040503050406030204" pitchFamily="18" charset="0"/>
                  </a:rPr>
                  <a:t>分布函数是二维的）。</a:t>
                </a:r>
                <a:endParaRPr lang="en-US" altLang="zh-CN" sz="1600" dirty="0">
                  <a:solidFill>
                    <a:schemeClr val="tx1"/>
                  </a:solidFill>
                  <a:latin typeface="Cambria Math" panose="02040503050406030204" pitchFamily="18" charset="0"/>
                </a:endParaRPr>
              </a:p>
              <a:p>
                <a:pPr algn="ctr"/>
                <a:r>
                  <a:rPr lang="zh-CN" altLang="en-US" sz="1600" dirty="0">
                    <a:solidFill>
                      <a:schemeClr val="tx1"/>
                    </a:solidFill>
                    <a:latin typeface="Cambria Math" panose="02040503050406030204" pitchFamily="18" charset="0"/>
                  </a:rPr>
                  <a:t>所以一个满足伸缩不变性的微面斜率分布函数可以写成：</a:t>
                </a:r>
                <a:r>
                  <a:rPr lang="en-US" altLang="zh-CN" sz="1600" b="0" dirty="0">
                    <a:solidFill>
                      <a:schemeClr val="tx1"/>
                    </a:solidFill>
                  </a:rPr>
                  <a:t> </a:t>
                </a:r>
                <a14:m>
                  <m:oMath xmlns:m="http://schemas.openxmlformats.org/officeDocument/2006/math">
                    <m:sSup>
                      <m:sSupPr>
                        <m:ctrlPr>
                          <a:rPr lang="en-US" altLang="zh-CN" sz="1600" b="0" i="1" dirty="0" smtClean="0">
                            <a:solidFill>
                              <a:schemeClr val="tx1"/>
                            </a:solidFill>
                            <a:latin typeface="Cambria Math" panose="02040503050406030204" pitchFamily="18" charset="0"/>
                          </a:rPr>
                        </m:ctrlPr>
                      </m:sSupPr>
                      <m:e>
                        <m:r>
                          <m:rPr>
                            <m:sty m:val="p"/>
                          </m:rPr>
                          <a:rPr lang="en-US" altLang="zh-CN" sz="1600" b="0" i="0" dirty="0" smtClean="0">
                            <a:solidFill>
                              <a:schemeClr val="tx1"/>
                            </a:solidFill>
                            <a:latin typeface="Cambria Math" panose="02040503050406030204" pitchFamily="18" charset="0"/>
                          </a:rPr>
                          <m:t>P</m:t>
                        </m:r>
                      </m:e>
                      <m:sup>
                        <m:r>
                          <a:rPr lang="en-US" altLang="zh-CN" sz="1600" b="0" i="0" dirty="0" smtClean="0">
                            <a:solidFill>
                              <a:schemeClr val="tx1"/>
                            </a:solidFill>
                            <a:latin typeface="Cambria Math" panose="02040503050406030204" pitchFamily="18" charset="0"/>
                          </a:rPr>
                          <m:t>22</m:t>
                        </m:r>
                      </m:sup>
                    </m:sSup>
                    <m:d>
                      <m:dPr>
                        <m:ctrlPr>
                          <a:rPr lang="en-US" altLang="zh-CN" sz="1600" b="0" i="1" dirty="0" smtClean="0">
                            <a:solidFill>
                              <a:schemeClr val="tx1"/>
                            </a:solidFill>
                            <a:latin typeface="Cambria Math" panose="02040503050406030204" pitchFamily="18" charset="0"/>
                          </a:rPr>
                        </m:ctrlPr>
                      </m:dPr>
                      <m:e>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b="0" i="1" dirty="0" smtClean="0">
                                    <a:solidFill>
                                      <a:schemeClr val="tx1"/>
                                    </a:solidFill>
                                    <a:latin typeface="Cambria Math" panose="02040503050406030204" pitchFamily="18" charset="0"/>
                                  </a:rPr>
                                </m:ctrlPr>
                              </m:accPr>
                              <m:e>
                                <m:r>
                                  <a:rPr lang="en-US" altLang="zh-CN" sz="1600" b="0" i="1" dirty="0" smtClean="0">
                                    <a:solidFill>
                                      <a:schemeClr val="tx1"/>
                                    </a:solidFill>
                                    <a:latin typeface="Cambria Math" panose="02040503050406030204" pitchFamily="18" charset="0"/>
                                  </a:rPr>
                                  <m:t>𝑚</m:t>
                                </m:r>
                              </m:e>
                            </m:acc>
                          </m:e>
                          <m:sub>
                            <m:r>
                              <m:rPr>
                                <m:sty m:val="p"/>
                              </m:rPr>
                              <a:rPr lang="en-US" altLang="zh-CN" sz="1600" b="0" i="0" dirty="0" smtClean="0">
                                <a:solidFill>
                                  <a:schemeClr val="tx1"/>
                                </a:solidFill>
                                <a:latin typeface="Cambria Math" panose="02040503050406030204" pitchFamily="18" charset="0"/>
                              </a:rPr>
                              <m:t>x</m:t>
                            </m:r>
                          </m:sub>
                          <m:sup>
                            <m:r>
                              <a:rPr lang="en-US" altLang="zh-CN" sz="1600" b="0" i="0" dirty="0" smtClean="0">
                                <a:solidFill>
                                  <a:schemeClr val="tx1"/>
                                </a:solidFill>
                                <a:latin typeface="Cambria Math" panose="02040503050406030204" pitchFamily="18" charset="0"/>
                              </a:rPr>
                              <m:t>′</m:t>
                            </m:r>
                          </m:sup>
                        </m:sSubSup>
                        <m:r>
                          <a:rPr lang="en-US" altLang="zh-CN" sz="1600" b="0" i="0" dirty="0" smtClean="0">
                            <a:solidFill>
                              <a:schemeClr val="tx1"/>
                            </a:solidFill>
                            <a:latin typeface="Cambria Math" panose="02040503050406030204" pitchFamily="18" charset="0"/>
                          </a:rPr>
                          <m:t>,</m:t>
                        </m:r>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b="0" i="1" dirty="0" smtClean="0">
                                    <a:solidFill>
                                      <a:schemeClr val="tx1"/>
                                    </a:solidFill>
                                    <a:latin typeface="Cambria Math" panose="02040503050406030204" pitchFamily="18" charset="0"/>
                                  </a:rPr>
                                </m:ctrlPr>
                              </m:accPr>
                              <m:e>
                                <m:r>
                                  <m:rPr>
                                    <m:sty m:val="p"/>
                                  </m:rPr>
                                  <a:rPr lang="en-US" altLang="zh-CN" sz="1600" b="0" i="0" dirty="0" smtClean="0">
                                    <a:solidFill>
                                      <a:schemeClr val="tx1"/>
                                    </a:solidFill>
                                    <a:latin typeface="Cambria Math" panose="02040503050406030204" pitchFamily="18" charset="0"/>
                                  </a:rPr>
                                  <m:t>m</m:t>
                                </m:r>
                              </m:e>
                            </m:acc>
                          </m:e>
                          <m:sub>
                            <m:r>
                              <a:rPr lang="en-US" altLang="zh-CN" sz="1600" b="0" i="1" dirty="0" smtClean="0">
                                <a:solidFill>
                                  <a:schemeClr val="tx1"/>
                                </a:solidFill>
                                <a:latin typeface="Cambria Math" panose="02040503050406030204" pitchFamily="18" charset="0"/>
                              </a:rPr>
                              <m:t>𝑧</m:t>
                            </m:r>
                          </m:sub>
                          <m:sup>
                            <m:r>
                              <a:rPr lang="en-US" altLang="zh-CN" sz="1600" b="0" i="0" dirty="0" smtClean="0">
                                <a:solidFill>
                                  <a:schemeClr val="tx1"/>
                                </a:solidFill>
                                <a:latin typeface="Cambria Math" panose="02040503050406030204" pitchFamily="18" charset="0"/>
                              </a:rPr>
                              <m:t>′</m:t>
                            </m:r>
                          </m:sup>
                        </m:sSubSup>
                        <m:r>
                          <a:rPr lang="en-US" altLang="zh-CN" sz="1600" b="0" i="0" dirty="0" smtClean="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𝛼</m:t>
                        </m:r>
                      </m:e>
                    </m:d>
                    <m:r>
                      <a:rPr lang="en-US" altLang="zh-CN" sz="1600" b="0" i="1" dirty="0" smtClean="0">
                        <a:solidFill>
                          <a:schemeClr val="tx1"/>
                        </a:solidFill>
                        <a:latin typeface="Cambria Math" panose="02040503050406030204" pitchFamily="18" charset="0"/>
                      </a:rPr>
                      <m:t>=</m:t>
                    </m:r>
                    <m:f>
                      <m:fPr>
                        <m:ctrlPr>
                          <a:rPr lang="en-US" altLang="zh-CN" sz="1600" b="0" i="1" dirty="0" smtClean="0">
                            <a:solidFill>
                              <a:schemeClr val="tx1"/>
                            </a:solidFill>
                            <a:latin typeface="Cambria Math" panose="02040503050406030204" pitchFamily="18" charset="0"/>
                          </a:rPr>
                        </m:ctrlPr>
                      </m:fPr>
                      <m:num>
                        <m:r>
                          <a:rPr lang="en-US" altLang="zh-CN" sz="1600" b="0" i="1" dirty="0" smtClean="0">
                            <a:solidFill>
                              <a:schemeClr val="tx1"/>
                            </a:solidFill>
                            <a:latin typeface="Cambria Math" panose="02040503050406030204" pitchFamily="18" charset="0"/>
                          </a:rPr>
                          <m:t>1</m:t>
                        </m:r>
                      </m:num>
                      <m:den>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𝛼</m:t>
                            </m:r>
                          </m:e>
                          <m:sup>
                            <m:r>
                              <a:rPr lang="en-US" altLang="zh-CN" sz="1600" b="0" i="1" dirty="0" smtClean="0">
                                <a:solidFill>
                                  <a:schemeClr val="tx1"/>
                                </a:solidFill>
                                <a:latin typeface="Cambria Math" panose="02040503050406030204" pitchFamily="18" charset="0"/>
                              </a:rPr>
                              <m:t>2</m:t>
                            </m:r>
                          </m:sup>
                        </m:sSup>
                      </m:den>
                    </m:f>
                    <m:r>
                      <m:rPr>
                        <m:sty m:val="p"/>
                      </m:rPr>
                      <a:rPr lang="en-US" altLang="zh-CN" sz="1600" dirty="0">
                        <a:solidFill>
                          <a:schemeClr val="tx1"/>
                        </a:solidFill>
                        <a:latin typeface="Cambria Math" panose="02040503050406030204" pitchFamily="18" charset="0"/>
                      </a:rPr>
                      <m:t>f</m:t>
                    </m:r>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num>
                          <m:den>
                            <m:r>
                              <a:rPr lang="en-US" altLang="zh-CN" sz="1600" i="1" dirty="0">
                                <a:solidFill>
                                  <a:schemeClr val="tx1"/>
                                </a:solidFill>
                                <a:latin typeface="Cambria Math" panose="02040503050406030204" pitchFamily="18" charset="0"/>
                              </a:rPr>
                              <m:t>𝛼</m:t>
                            </m:r>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num>
                          <m:den>
                            <m:r>
                              <a:rPr lang="en-US" altLang="zh-CN" sz="1600" i="1" dirty="0">
                                <a:solidFill>
                                  <a:schemeClr val="tx1"/>
                                </a:solidFill>
                                <a:latin typeface="Cambria Math" panose="02040503050406030204" pitchFamily="18" charset="0"/>
                              </a:rPr>
                              <m:t>𝛼</m:t>
                            </m:r>
                          </m:den>
                        </m:f>
                      </m:e>
                    </m:d>
                  </m:oMath>
                </a14:m>
                <a:endParaRPr lang="en-US" altLang="zh-CN" sz="1600" dirty="0">
                  <a:solidFill>
                    <a:schemeClr val="tx1"/>
                  </a:solidFill>
                  <a:latin typeface="Cambria Math" panose="02040503050406030204" pitchFamily="18" charset="0"/>
                </a:endParaRPr>
              </a:p>
            </p:txBody>
          </p:sp>
        </mc:Choice>
        <mc:Fallback xmlns="">
          <p:sp>
            <p:nvSpPr>
              <p:cNvPr id="4" name="矩形 3">
                <a:extLst>
                  <a:ext uri="{FF2B5EF4-FFF2-40B4-BE49-F238E27FC236}">
                    <a16:creationId xmlns:a16="http://schemas.microsoft.com/office/drawing/2014/main" id="{872302E0-D1C1-17CC-E8F1-2AA86F798656}"/>
                  </a:ext>
                </a:extLst>
              </p:cNvPr>
              <p:cNvSpPr>
                <a:spLocks noRot="1" noChangeAspect="1" noMove="1" noResize="1" noEditPoints="1" noAdjustHandles="1" noChangeArrowheads="1" noChangeShapeType="1" noTextEdit="1"/>
              </p:cNvSpPr>
              <p:nvPr/>
            </p:nvSpPr>
            <p:spPr>
              <a:xfrm>
                <a:off x="478709" y="1158658"/>
                <a:ext cx="11151707" cy="3062613"/>
              </a:xfrm>
              <a:prstGeom prst="rect">
                <a:avLst/>
              </a:prstGeom>
              <a:blipFill>
                <a:blip r:embed="rId3"/>
                <a:stretch>
                  <a:fillRect/>
                </a:stretch>
              </a:blipFill>
            </p:spPr>
            <p:txBody>
              <a:bodyPr/>
              <a:lstStyle/>
              <a:p>
                <a:r>
                  <a:rPr lang="zh-CN" altLang="en-US">
                    <a:noFill/>
                  </a:rPr>
                  <a:t> </a:t>
                </a:r>
              </a:p>
            </p:txBody>
          </p:sp>
        </mc:Fallback>
      </mc:AlternateContent>
      <p:pic>
        <p:nvPicPr>
          <p:cNvPr id="10" name="图片 9">
            <a:extLst>
              <a:ext uri="{FF2B5EF4-FFF2-40B4-BE49-F238E27FC236}">
                <a16:creationId xmlns:a16="http://schemas.microsoft.com/office/drawing/2014/main" id="{2089D8E1-69DD-4C9F-0510-08252FF3E1A6}"/>
              </a:ext>
            </a:extLst>
          </p:cNvPr>
          <p:cNvPicPr>
            <a:picLocks noChangeAspect="1"/>
          </p:cNvPicPr>
          <p:nvPr/>
        </p:nvPicPr>
        <p:blipFill>
          <a:blip r:embed="rId4"/>
          <a:stretch>
            <a:fillRect/>
          </a:stretch>
        </p:blipFill>
        <p:spPr>
          <a:xfrm>
            <a:off x="2345971" y="4428887"/>
            <a:ext cx="7417181" cy="2070206"/>
          </a:xfrm>
          <a:prstGeom prst="rect">
            <a:avLst/>
          </a:prstGeom>
        </p:spPr>
      </p:pic>
    </p:spTree>
    <p:extLst>
      <p:ext uri="{BB962C8B-B14F-4D97-AF65-F5344CB8AC3E}">
        <p14:creationId xmlns:p14="http://schemas.microsoft.com/office/powerpoint/2010/main" val="12680233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82209-712C-3908-CDEF-AAF08256EE1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D4A283F6-FAD4-D150-5E28-DDB81D3962ED}"/>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伸缩不变性 </a:t>
                </a:r>
                <a:r>
                  <a:rPr lang="en-US" altLang="zh-CN" dirty="0"/>
                  <a:t>—— </a:t>
                </a:r>
                <a14:m>
                  <m:oMath xmlns:m="http://schemas.openxmlformats.org/officeDocument/2006/math">
                    <m:r>
                      <a:rPr lang="en-US" altLang="zh-CN" sz="3200" i="1" dirty="0" smtClean="0">
                        <a:solidFill>
                          <a:schemeClr val="tx1"/>
                        </a:solidFill>
                        <a:latin typeface="Cambria Math" panose="02040503050406030204" pitchFamily="18" charset="0"/>
                      </a:rPr>
                      <m:t>𝐷</m:t>
                    </m:r>
                    <m:d>
                      <m:dPr>
                        <m:ctrlPr>
                          <a:rPr lang="en-US" altLang="zh-CN" sz="3200" i="1" dirty="0">
                            <a:solidFill>
                              <a:schemeClr val="tx1"/>
                            </a:solidFill>
                            <a:latin typeface="Cambria Math" panose="02040503050406030204" pitchFamily="18" charset="0"/>
                          </a:rPr>
                        </m:ctrlPr>
                      </m:dPr>
                      <m:e>
                        <m:r>
                          <a:rPr lang="en-US" altLang="zh-CN" sz="3200" b="1" i="1" dirty="0">
                            <a:solidFill>
                              <a:schemeClr val="tx1"/>
                            </a:solidFill>
                            <a:latin typeface="Cambria Math" panose="02040503050406030204" pitchFamily="18" charset="0"/>
                          </a:rPr>
                          <m:t>𝒎</m:t>
                        </m:r>
                      </m:e>
                    </m:d>
                  </m:oMath>
                </a14:m>
                <a:endParaRPr lang="en-US" altLang="zh-CN" dirty="0"/>
              </a:p>
            </p:txBody>
          </p:sp>
        </mc:Choice>
        <mc:Fallback xmlns="">
          <p:sp>
            <p:nvSpPr>
              <p:cNvPr id="13" name="标题 2">
                <a:extLst>
                  <a:ext uri="{FF2B5EF4-FFF2-40B4-BE49-F238E27FC236}">
                    <a16:creationId xmlns:a16="http://schemas.microsoft.com/office/drawing/2014/main" id="{D4A283F6-FAD4-D150-5E28-DDB81D3962ED}"/>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017" b="-8475"/>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D0CB2448-548C-1676-5485-5E57B88722AD}"/>
              </a:ext>
            </a:extLst>
          </p:cNvPr>
          <p:cNvSpPr/>
          <p:nvPr/>
        </p:nvSpPr>
        <p:spPr>
          <a:xfrm>
            <a:off x="631109" y="1329847"/>
            <a:ext cx="11151707" cy="5192038"/>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0B573C22-8183-09F9-2B5F-DE4E370B60D1}"/>
                  </a:ext>
                </a:extLst>
              </p:cNvPr>
              <p:cNvSpPr/>
              <p:nvPr/>
            </p:nvSpPr>
            <p:spPr>
              <a:xfrm>
                <a:off x="478709" y="1158658"/>
                <a:ext cx="11151707" cy="519203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14:m>
                  <m:oMathPara xmlns:m="http://schemas.openxmlformats.org/officeDocument/2006/math">
                    <m:oMathParaPr>
                      <m:jc m:val="centerGroup"/>
                    </m:oMathParaPr>
                    <m:oMath xmlns:m="http://schemas.openxmlformats.org/officeDocument/2006/math">
                      <m:acc>
                        <m:accPr>
                          <m:chr m:val="̃"/>
                          <m:ctrlPr>
                            <a:rPr lang="en-US" altLang="zh-CN" sz="1600" b="1" i="1" dirty="0" smtClean="0">
                              <a:solidFill>
                                <a:schemeClr val="tx1"/>
                              </a:solidFill>
                              <a:latin typeface="Cambria Math" panose="02040503050406030204" pitchFamily="18" charset="0"/>
                            </a:rPr>
                          </m:ctrlPr>
                        </m:accPr>
                        <m:e>
                          <m:r>
                            <a:rPr lang="en-US" altLang="zh-CN" sz="1600" b="1" i="1" dirty="0" smtClean="0">
                              <a:solidFill>
                                <a:schemeClr val="tx1"/>
                              </a:solidFill>
                              <a:latin typeface="Cambria Math" panose="02040503050406030204" pitchFamily="18" charset="0"/>
                            </a:rPr>
                            <m:t>𝒎</m:t>
                          </m:r>
                        </m:e>
                      </m:acc>
                      <m:r>
                        <a:rPr lang="en-US" altLang="zh-CN" sz="1600" b="0" i="1" dirty="0" smtClean="0">
                          <a:solidFill>
                            <a:schemeClr val="tx1"/>
                          </a:solidFill>
                          <a:latin typeface="Cambria Math" panose="02040503050406030204" pitchFamily="18" charset="0"/>
                        </a:rPr>
                        <m:t>=</m:t>
                      </m:r>
                      <m:d>
                        <m:dPr>
                          <m:ctrlPr>
                            <a:rPr lang="en-US" altLang="zh-CN" sz="1600" b="0" i="1" dirty="0" smtClean="0">
                              <a:solidFill>
                                <a:schemeClr val="tx1"/>
                              </a:solidFill>
                              <a:latin typeface="Cambria Math" panose="02040503050406030204" pitchFamily="18" charset="0"/>
                            </a:rPr>
                          </m:ctrlPr>
                        </m:dPr>
                        <m:e>
                          <m:r>
                            <a:rPr lang="en-US" altLang="zh-CN" sz="1600" b="0" i="1" dirty="0" smtClean="0">
                              <a:solidFill>
                                <a:schemeClr val="tx1"/>
                              </a:solidFill>
                              <a:latin typeface="Cambria Math" panose="02040503050406030204" pitchFamily="18" charset="0"/>
                            </a:rPr>
                            <m:t>−</m:t>
                          </m:r>
                          <m:func>
                            <m:funcPr>
                              <m:ctrlPr>
                                <a:rPr lang="en-US" altLang="zh-CN" sz="1600" b="0" i="1" dirty="0" smtClean="0">
                                  <a:solidFill>
                                    <a:schemeClr val="tx1"/>
                                  </a:solidFill>
                                  <a:latin typeface="Cambria Math" panose="02040503050406030204" pitchFamily="18" charset="0"/>
                                </a:rPr>
                              </m:ctrlPr>
                            </m:funcPr>
                            <m:fName>
                              <m:r>
                                <m:rPr>
                                  <m:sty m:val="p"/>
                                </m:rPr>
                                <a:rPr lang="en-US" altLang="zh-CN" sz="1600" b="0" i="0" dirty="0" smtClean="0">
                                  <a:solidFill>
                                    <a:schemeClr val="tx1"/>
                                  </a:solidFill>
                                  <a:latin typeface="Cambria Math" panose="02040503050406030204" pitchFamily="18" charset="0"/>
                                </a:rPr>
                                <m:t>tan</m:t>
                              </m:r>
                            </m:fName>
                            <m:e>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𝜃</m:t>
                                  </m:r>
                                </m:e>
                                <m:sub>
                                  <m:r>
                                    <a:rPr lang="en-US" altLang="zh-CN" sz="1600" b="0" i="1" dirty="0" smtClean="0">
                                      <a:solidFill>
                                        <a:schemeClr val="tx1"/>
                                      </a:solidFill>
                                      <a:latin typeface="Cambria Math" panose="02040503050406030204" pitchFamily="18" charset="0"/>
                                    </a:rPr>
                                    <m:t>𝑚</m:t>
                                  </m:r>
                                </m:sub>
                              </m:sSub>
                            </m:e>
                          </m:func>
                          <m:func>
                            <m:funcPr>
                              <m:ctrlPr>
                                <a:rPr lang="en-US" altLang="zh-CN" sz="1600" b="0" i="1" dirty="0" smtClean="0">
                                  <a:solidFill>
                                    <a:schemeClr val="tx1"/>
                                  </a:solidFill>
                                  <a:latin typeface="Cambria Math" panose="02040503050406030204" pitchFamily="18" charset="0"/>
                                </a:rPr>
                              </m:ctrlPr>
                            </m:funcPr>
                            <m:fName>
                              <m:r>
                                <m:rPr>
                                  <m:sty m:val="p"/>
                                </m:rPr>
                                <a:rPr lang="en-US" altLang="zh-CN" sz="1600" b="0" i="0" dirty="0" smtClean="0">
                                  <a:solidFill>
                                    <a:schemeClr val="tx1"/>
                                  </a:solidFill>
                                  <a:latin typeface="Cambria Math" panose="02040503050406030204" pitchFamily="18" charset="0"/>
                                </a:rPr>
                                <m:t>cos</m:t>
                              </m:r>
                            </m:fName>
                            <m:e>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𝜙</m:t>
                                  </m:r>
                                </m:e>
                                <m:sub>
                                  <m:r>
                                    <a:rPr lang="en-US" altLang="zh-CN" sz="1600" b="0" i="1" dirty="0" smtClean="0">
                                      <a:solidFill>
                                        <a:schemeClr val="tx1"/>
                                      </a:solidFill>
                                      <a:latin typeface="Cambria Math" panose="02040503050406030204" pitchFamily="18" charset="0"/>
                                    </a:rPr>
                                    <m:t>𝑚</m:t>
                                  </m:r>
                                </m:sub>
                              </m:sSub>
                            </m:e>
                          </m:func>
                          <m:r>
                            <a:rPr lang="en-US" altLang="zh-CN" sz="1600" b="0" i="1" dirty="0" smtClean="0">
                              <a:solidFill>
                                <a:schemeClr val="tx1"/>
                              </a:solidFill>
                              <a:latin typeface="Cambria Math" panose="02040503050406030204" pitchFamily="18" charset="0"/>
                            </a:rPr>
                            <m:t>,−</m:t>
                          </m:r>
                          <m:func>
                            <m:funcPr>
                              <m:ctrlPr>
                                <a:rPr lang="en-US" altLang="zh-CN" sz="1600" b="0" i="1" dirty="0" smtClean="0">
                                  <a:solidFill>
                                    <a:schemeClr val="tx1"/>
                                  </a:solidFill>
                                  <a:latin typeface="Cambria Math" panose="02040503050406030204" pitchFamily="18" charset="0"/>
                                </a:rPr>
                              </m:ctrlPr>
                            </m:funcPr>
                            <m:fName>
                              <m:r>
                                <m:rPr>
                                  <m:sty m:val="p"/>
                                </m:rPr>
                                <a:rPr lang="en-US" altLang="zh-CN" sz="1600" b="0" i="0" dirty="0" smtClean="0">
                                  <a:solidFill>
                                    <a:schemeClr val="tx1"/>
                                  </a:solidFill>
                                  <a:latin typeface="Cambria Math" panose="02040503050406030204" pitchFamily="18" charset="0"/>
                                </a:rPr>
                                <m:t>tan</m:t>
                              </m:r>
                            </m:fName>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𝑚</m:t>
                                  </m:r>
                                </m:sub>
                              </m:sSub>
                            </m:e>
                          </m:func>
                          <m:func>
                            <m:funcPr>
                              <m:ctrlPr>
                                <a:rPr lang="en-US" altLang="zh-CN" sz="1600" b="0" i="1" dirty="0" smtClean="0">
                                  <a:solidFill>
                                    <a:schemeClr val="tx1"/>
                                  </a:solidFill>
                                  <a:latin typeface="Cambria Math" panose="02040503050406030204" pitchFamily="18" charset="0"/>
                                </a:rPr>
                              </m:ctrlPr>
                            </m:funcPr>
                            <m:fName>
                              <m:r>
                                <m:rPr>
                                  <m:sty m:val="p"/>
                                </m:rPr>
                                <a:rPr lang="en-US" altLang="zh-CN" sz="1600" b="0" i="0" dirty="0" smtClean="0">
                                  <a:solidFill>
                                    <a:schemeClr val="tx1"/>
                                  </a:solidFill>
                                  <a:latin typeface="Cambria Math" panose="02040503050406030204" pitchFamily="18" charset="0"/>
                                </a:rPr>
                                <m:t>sin</m:t>
                              </m:r>
                            </m:fName>
                            <m:e>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𝜙</m:t>
                                  </m:r>
                                </m:e>
                                <m:sub>
                                  <m:r>
                                    <a:rPr lang="en-US" altLang="zh-CN" sz="1600" b="0" i="1" dirty="0" smtClean="0">
                                      <a:solidFill>
                                        <a:schemeClr val="tx1"/>
                                      </a:solidFill>
                                      <a:latin typeface="Cambria Math" panose="02040503050406030204" pitchFamily="18" charset="0"/>
                                    </a:rPr>
                                    <m:t>𝑚</m:t>
                                  </m:r>
                                </m:sub>
                              </m:sSub>
                            </m:e>
                          </m:func>
                        </m:e>
                      </m:d>
                      <m:r>
                        <a:rPr lang="en-US" altLang="zh-CN" sz="1600" b="0" i="1" dirty="0" smtClean="0">
                          <a:solidFill>
                            <a:schemeClr val="tx1"/>
                          </a:solidFill>
                          <a:latin typeface="Cambria Math" panose="02040503050406030204" pitchFamily="18" charset="0"/>
                        </a:rPr>
                        <m:t>,  </m:t>
                      </m:r>
                      <m:func>
                        <m:funcPr>
                          <m:ctrlPr>
                            <a:rPr lang="en-US" altLang="zh-CN" sz="1600" b="0" i="1" dirty="0" smtClean="0">
                              <a:solidFill>
                                <a:schemeClr val="tx1"/>
                              </a:solidFill>
                              <a:latin typeface="Cambria Math" panose="02040503050406030204" pitchFamily="18" charset="0"/>
                            </a:rPr>
                          </m:ctrlPr>
                        </m:funcPr>
                        <m:fName>
                          <m:sSup>
                            <m:sSupPr>
                              <m:ctrlPr>
                                <a:rPr lang="en-US" altLang="zh-CN" sz="1600" b="0" i="1" dirty="0" smtClean="0">
                                  <a:solidFill>
                                    <a:schemeClr val="tx1"/>
                                  </a:solidFill>
                                  <a:latin typeface="Cambria Math" panose="02040503050406030204" pitchFamily="18" charset="0"/>
                                </a:rPr>
                              </m:ctrlPr>
                            </m:sSupPr>
                            <m:e>
                              <m:r>
                                <m:rPr>
                                  <m:sty m:val="p"/>
                                </m:rPr>
                                <a:rPr lang="en-US" altLang="zh-CN" sz="1600" b="0" i="0" dirty="0" smtClean="0">
                                  <a:solidFill>
                                    <a:schemeClr val="tx1"/>
                                  </a:solidFill>
                                  <a:latin typeface="Cambria Math" panose="02040503050406030204" pitchFamily="18" charset="0"/>
                                </a:rPr>
                                <m:t>tan</m:t>
                              </m:r>
                            </m:e>
                            <m:sup>
                              <m:r>
                                <a:rPr lang="en-US" altLang="zh-CN" sz="1600" b="0" i="1" dirty="0" smtClean="0">
                                  <a:solidFill>
                                    <a:schemeClr val="tx1"/>
                                  </a:solidFill>
                                  <a:latin typeface="Cambria Math" panose="02040503050406030204" pitchFamily="18" charset="0"/>
                                </a:rPr>
                                <m:t>2</m:t>
                              </m:r>
                            </m:sup>
                          </m:sSup>
                        </m:fName>
                        <m:e>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𝜃</m:t>
                              </m:r>
                            </m:e>
                            <m:sub>
                              <m:r>
                                <a:rPr lang="en-US" altLang="zh-CN" sz="1600" b="0" i="1" dirty="0" smtClean="0">
                                  <a:solidFill>
                                    <a:schemeClr val="tx1"/>
                                  </a:solidFill>
                                  <a:latin typeface="Cambria Math" panose="02040503050406030204" pitchFamily="18" charset="0"/>
                                </a:rPr>
                                <m:t>𝑚</m:t>
                              </m:r>
                            </m:sub>
                          </m:sSub>
                        </m:e>
                      </m:func>
                      <m:r>
                        <a:rPr lang="en-US" altLang="zh-CN" sz="1600" b="0" i="1" dirty="0" smtClean="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r>
                        <a:rPr lang="en-US" altLang="zh-CN" sz="1600"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oMath>
                  </m:oMathPara>
                </a14:m>
                <a:endParaRPr lang="en-US" altLang="zh-CN" sz="16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1600" i="1" dirty="0" smtClean="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𝑃</m:t>
                          </m:r>
                        </m:e>
                        <m:sup>
                          <m:r>
                            <a:rPr lang="en-US" altLang="zh-CN" sz="1600" i="1" dirty="0">
                              <a:solidFill>
                                <a:schemeClr val="tx1"/>
                              </a:solidFill>
                              <a:latin typeface="Cambria Math" panose="02040503050406030204" pitchFamily="18" charset="0"/>
                            </a:rPr>
                            <m:t>22</m:t>
                          </m:r>
                        </m:sup>
                      </m:sSup>
                      <m:d>
                        <m:dPr>
                          <m:ctrlPr>
                            <a:rPr lang="en-US" altLang="zh-CN" sz="1600" i="1" dirty="0">
                              <a:solidFill>
                                <a:schemeClr val="tx1"/>
                              </a:solidFill>
                              <a:latin typeface="Cambria Math" panose="02040503050406030204" pitchFamily="18" charset="0"/>
                            </a:rPr>
                          </m:ctrlPr>
                        </m:dPr>
                        <m:e>
                          <m:acc>
                            <m:accPr>
                              <m:chr m:val="̃"/>
                              <m:ctrlPr>
                                <a:rPr lang="en-US" altLang="zh-CN" sz="1600" b="1" i="1" dirty="0">
                                  <a:solidFill>
                                    <a:schemeClr val="tx1"/>
                                  </a:solidFill>
                                  <a:latin typeface="Cambria Math" panose="02040503050406030204" pitchFamily="18" charset="0"/>
                                </a:rPr>
                              </m:ctrlPr>
                            </m:accPr>
                            <m:e>
                              <m:r>
                                <a:rPr lang="en-US" altLang="zh-CN" sz="1600" b="1" i="1" dirty="0">
                                  <a:solidFill>
                                    <a:schemeClr val="tx1"/>
                                  </a:solidFill>
                                  <a:latin typeface="Cambria Math" panose="02040503050406030204" pitchFamily="18" charset="0"/>
                                </a:rPr>
                                <m:t>𝒎</m:t>
                              </m:r>
                            </m:e>
                          </m:acc>
                        </m:e>
                      </m:d>
                      <m:r>
                        <a:rPr lang="en-US" altLang="zh-CN" sz="1600" b="1"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𝒎</m:t>
                          </m:r>
                        </m:e>
                      </m:d>
                      <m:func>
                        <m:funcPr>
                          <m:ctrlPr>
                            <a:rPr lang="en-US" altLang="zh-CN" sz="1600" i="1" dirty="0">
                              <a:solidFill>
                                <a:schemeClr val="tx1"/>
                              </a:solidFill>
                              <a:latin typeface="Cambria Math" panose="02040503050406030204" pitchFamily="18" charset="0"/>
                            </a:rPr>
                          </m:ctrlPr>
                        </m:funcPr>
                        <m:fName>
                          <m:sSup>
                            <m:sSupPr>
                              <m:ctrlPr>
                                <a:rPr lang="en-US" altLang="zh-CN" sz="1600" b="0" i="1" dirty="0" smtClean="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cos</m:t>
                              </m:r>
                            </m:e>
                            <m:sup>
                              <m:r>
                                <a:rPr lang="en-US" altLang="zh-CN" sz="1600" b="0" i="1" dirty="0" smtClean="0">
                                  <a:solidFill>
                                    <a:schemeClr val="tx1"/>
                                  </a:solidFill>
                                  <a:latin typeface="Cambria Math" panose="02040503050406030204" pitchFamily="18" charset="0"/>
                                </a:rPr>
                                <m:t>4</m:t>
                              </m:r>
                            </m:sup>
                          </m:sSup>
                        </m:fName>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𝑚</m:t>
                              </m:r>
                            </m:sub>
                          </m:sSub>
                        </m:e>
                      </m:func>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𝜋</m:t>
                              </m:r>
                              <m:r>
                                <a:rPr lang="en-US" altLang="zh-CN" sz="1600" b="0" i="1" dirty="0" smtClean="0">
                                  <a:solidFill>
                                    <a:schemeClr val="tx1"/>
                                  </a:solidFill>
                                  <a:latin typeface="Cambria Math" panose="02040503050406030204" pitchFamily="18" charset="0"/>
                                </a:rPr>
                                <m:t> </m:t>
                              </m:r>
                              <m:d>
                                <m:dPr>
                                  <m:ctrlPr>
                                    <a:rPr lang="en-US" altLang="zh-CN" sz="1600" i="1" dirty="0">
                                      <a:solidFill>
                                        <a:schemeClr val="tx1"/>
                                      </a:solidFill>
                                      <a:latin typeface="Cambria Math" panose="02040503050406030204" pitchFamily="18" charset="0"/>
                                    </a:rPr>
                                  </m:ctrlPr>
                                </m:dPr>
                                <m:e>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r>
                                    <a:rPr lang="en-US" altLang="zh-CN" sz="1600" i="1" dirty="0">
                                      <a:solidFill>
                                        <a:schemeClr val="tx1"/>
                                      </a:solidFill>
                                      <a:latin typeface="Cambria Math" panose="02040503050406030204" pitchFamily="18" charset="0"/>
                                    </a:rPr>
                                    <m:t>+</m:t>
                                  </m:r>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tan</m:t>
                                          </m:r>
                                        </m:e>
                                        <m:sup>
                                          <m:r>
                                            <a:rPr lang="en-US" altLang="zh-CN" sz="1600" i="1" dirty="0">
                                              <a:solidFill>
                                                <a:schemeClr val="tx1"/>
                                              </a:solidFill>
                                              <a:latin typeface="Cambria Math" panose="02040503050406030204" pitchFamily="18" charset="0"/>
                                            </a:rPr>
                                            <m:t>2</m:t>
                                          </m:r>
                                        </m:sup>
                                      </m:sSup>
                                    </m:fName>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𝑚</m:t>
                                          </m:r>
                                        </m:sub>
                                      </m:sSub>
                                    </m:e>
                                  </m:func>
                                </m:e>
                              </m:d>
                            </m:e>
                            <m:sup>
                              <m:r>
                                <a:rPr lang="en-US" altLang="zh-CN" sz="1600" i="1" dirty="0">
                                  <a:solidFill>
                                    <a:schemeClr val="tx1"/>
                                  </a:solidFill>
                                  <a:latin typeface="Cambria Math" panose="02040503050406030204" pitchFamily="18" charset="0"/>
                                </a:rPr>
                                <m:t>2</m:t>
                              </m:r>
                            </m:sup>
                          </m:sSup>
                        </m:den>
                      </m:f>
                      <m:r>
                        <a:rPr lang="en-US" altLang="zh-CN" sz="1600" b="1"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𝜋</m:t>
                              </m:r>
                              <m:r>
                                <a:rPr lang="en-US" altLang="zh-CN" sz="1600" i="1" dirty="0">
                                  <a:solidFill>
                                    <a:schemeClr val="tx1"/>
                                  </a:solidFill>
                                  <a:latin typeface="Cambria Math" panose="02040503050406030204" pitchFamily="18" charset="0"/>
                                </a:rPr>
                                <m:t> </m:t>
                              </m:r>
                              <m:d>
                                <m:dPr>
                                  <m:ctrlPr>
                                    <a:rPr lang="en-US" altLang="zh-CN" sz="1600" i="1" dirty="0">
                                      <a:solidFill>
                                        <a:schemeClr val="tx1"/>
                                      </a:solidFill>
                                      <a:latin typeface="Cambria Math" panose="02040503050406030204" pitchFamily="18" charset="0"/>
                                    </a:rPr>
                                  </m:ctrlPr>
                                </m:dPr>
                                <m:e>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r>
                                    <a:rPr lang="en-US" altLang="zh-CN" sz="1600"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r>
                                    <a:rPr lang="en-US" altLang="zh-CN" sz="1600"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e>
                              </m:d>
                            </m:e>
                            <m:sup>
                              <m:r>
                                <a:rPr lang="en-US" altLang="zh-CN" sz="1600" i="1" dirty="0">
                                  <a:solidFill>
                                    <a:schemeClr val="tx1"/>
                                  </a:solidFill>
                                  <a:latin typeface="Cambria Math" panose="02040503050406030204" pitchFamily="18" charset="0"/>
                                </a:rPr>
                                <m:t>2</m:t>
                              </m:r>
                            </m:sup>
                          </m:sSup>
                        </m:den>
                      </m:f>
                    </m:oMath>
                  </m:oMathPara>
                </a14:m>
                <a:endParaRPr lang="en-US" altLang="zh-CN" sz="1600"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1600" i="1" dirty="0">
                          <a:solidFill>
                            <a:schemeClr val="tx1"/>
                          </a:solidFill>
                          <a:latin typeface="Cambria Math" panose="02040503050406030204" pitchFamily="18" charset="0"/>
                        </a:rPr>
                        <m:t>𝛼</m:t>
                      </m:r>
                      <m:r>
                        <a:rPr lang="en-US" altLang="zh-CN" sz="1600" b="0" i="1" dirty="0" smtClean="0">
                          <a:solidFill>
                            <a:schemeClr val="tx1"/>
                          </a:solidFill>
                          <a:latin typeface="Cambria Math" panose="02040503050406030204" pitchFamily="18" charset="0"/>
                        </a:rPr>
                        <m:t>∈</m:t>
                      </m:r>
                      <m:d>
                        <m:dPr>
                          <m:endChr m:val="]"/>
                          <m:ctrlPr>
                            <a:rPr lang="en-US" altLang="zh-CN" sz="1600" b="0" i="1" dirty="0" smtClean="0">
                              <a:solidFill>
                                <a:schemeClr val="tx1"/>
                              </a:solidFill>
                              <a:latin typeface="Cambria Math" panose="02040503050406030204" pitchFamily="18" charset="0"/>
                            </a:rPr>
                          </m:ctrlPr>
                        </m:dPr>
                        <m:e>
                          <m:r>
                            <a:rPr lang="en-US" altLang="zh-CN" sz="1600" b="0" i="1" dirty="0" smtClean="0">
                              <a:solidFill>
                                <a:schemeClr val="tx1"/>
                              </a:solidFill>
                              <a:latin typeface="Cambria Math" panose="02040503050406030204" pitchFamily="18" charset="0"/>
                            </a:rPr>
                            <m:t>0,1</m:t>
                          </m:r>
                        </m:e>
                      </m:d>
                      <m:r>
                        <a:rPr lang="zh-CN" altLang="en-US" sz="1600" i="1" dirty="0">
                          <a:solidFill>
                            <a:schemeClr val="tx1"/>
                          </a:solidFill>
                          <a:latin typeface="Cambria Math" panose="02040503050406030204" pitchFamily="18" charset="0"/>
                        </a:rPr>
                        <m:t>，</m:t>
                      </m:r>
                      <m:r>
                        <a:rPr lang="zh-CN" altLang="en-US" sz="1600" i="1" dirty="0" smtClean="0">
                          <a:solidFill>
                            <a:schemeClr val="tx1"/>
                          </a:solidFill>
                          <a:latin typeface="Cambria Math" panose="02040503050406030204" pitchFamily="18" charset="0"/>
                        </a:rPr>
                        <m:t>令</m:t>
                      </m:r>
                      <m:r>
                        <a:rPr lang="en-US" altLang="zh-CN" sz="1600" b="0" i="1" dirty="0" smtClean="0">
                          <a:solidFill>
                            <a:schemeClr val="tx1"/>
                          </a:solidFill>
                          <a:latin typeface="Cambria Math" panose="02040503050406030204" pitchFamily="18" charset="0"/>
                        </a:rPr>
                        <m:t>𝑓</m:t>
                      </m:r>
                      <m:d>
                        <m:dPr>
                          <m:ctrlPr>
                            <a:rPr lang="en-US" altLang="zh-CN" sz="1600" b="0" i="1" dirty="0" smtClean="0">
                              <a:solidFill>
                                <a:schemeClr val="tx1"/>
                              </a:solidFill>
                              <a:latin typeface="Cambria Math" panose="02040503050406030204" pitchFamily="18" charset="0"/>
                            </a:rPr>
                          </m:ctrlPr>
                        </m:dPr>
                        <m:e>
                          <m:sSub>
                            <m:sSubPr>
                              <m:ctrlPr>
                                <a:rPr lang="en-US" altLang="zh-CN" sz="1600" b="0" i="1" dirty="0" smtClean="0">
                                  <a:solidFill>
                                    <a:schemeClr val="tx1"/>
                                  </a:solidFill>
                                  <a:latin typeface="Cambria Math" panose="02040503050406030204" pitchFamily="18" charset="0"/>
                                </a:rPr>
                              </m:ctrlPr>
                            </m:sSubPr>
                            <m:e>
                              <m:acc>
                                <m:accPr>
                                  <m:chr m:val="̃"/>
                                  <m:ctrlPr>
                                    <a:rPr lang="en-US" altLang="zh-CN" sz="1600" b="0" i="1" dirty="0" smtClean="0">
                                      <a:solidFill>
                                        <a:schemeClr val="tx1"/>
                                      </a:solidFill>
                                      <a:latin typeface="Cambria Math" panose="02040503050406030204" pitchFamily="18" charset="0"/>
                                    </a:rPr>
                                  </m:ctrlPr>
                                </m:accPr>
                                <m:e>
                                  <m:r>
                                    <a:rPr lang="en-US" altLang="zh-CN" sz="1600" b="0" i="1" dirty="0" smtClean="0">
                                      <a:solidFill>
                                        <a:schemeClr val="tx1"/>
                                      </a:solidFill>
                                      <a:latin typeface="Cambria Math" panose="02040503050406030204" pitchFamily="18" charset="0"/>
                                    </a:rPr>
                                    <m:t>𝑚</m:t>
                                  </m:r>
                                </m:e>
                              </m:acc>
                            </m:e>
                            <m:sub>
                              <m:r>
                                <a:rPr lang="en-US" altLang="zh-CN" sz="1600" b="0" i="1" dirty="0" smtClean="0">
                                  <a:solidFill>
                                    <a:schemeClr val="tx1"/>
                                  </a:solidFill>
                                  <a:latin typeface="Cambria Math" panose="02040503050406030204" pitchFamily="18" charset="0"/>
                                </a:rPr>
                                <m:t>𝑥</m:t>
                              </m:r>
                            </m:sub>
                          </m:sSub>
                          <m:r>
                            <a:rPr lang="en-US" altLang="zh-CN" sz="1600" b="0" i="1" dirty="0" smtClean="0">
                              <a:solidFill>
                                <a:schemeClr val="tx1"/>
                              </a:solidFill>
                              <a:latin typeface="Cambria Math" panose="02040503050406030204" pitchFamily="18" charset="0"/>
                            </a:rPr>
                            <m:t>,</m:t>
                          </m:r>
                          <m:sSub>
                            <m:sSubPr>
                              <m:ctrlPr>
                                <a:rPr lang="en-US" altLang="zh-CN" sz="1600" b="0" i="1" dirty="0" smtClean="0">
                                  <a:solidFill>
                                    <a:schemeClr val="tx1"/>
                                  </a:solidFill>
                                  <a:latin typeface="Cambria Math" panose="02040503050406030204" pitchFamily="18" charset="0"/>
                                </a:rPr>
                              </m:ctrlPr>
                            </m:sSubPr>
                            <m:e>
                              <m:acc>
                                <m:accPr>
                                  <m:chr m:val="̃"/>
                                  <m:ctrlPr>
                                    <a:rPr lang="en-US" altLang="zh-CN" sz="1600" b="0" i="1" dirty="0" smtClean="0">
                                      <a:solidFill>
                                        <a:schemeClr val="tx1"/>
                                      </a:solidFill>
                                      <a:latin typeface="Cambria Math" panose="02040503050406030204" pitchFamily="18" charset="0"/>
                                    </a:rPr>
                                  </m:ctrlPr>
                                </m:accPr>
                                <m:e>
                                  <m:r>
                                    <a:rPr lang="en-US" altLang="zh-CN" sz="1600" b="0" i="1" dirty="0" smtClean="0">
                                      <a:solidFill>
                                        <a:schemeClr val="tx1"/>
                                      </a:solidFill>
                                      <a:latin typeface="Cambria Math" panose="02040503050406030204" pitchFamily="18" charset="0"/>
                                    </a:rPr>
                                    <m:t>𝑚</m:t>
                                  </m:r>
                                </m:e>
                              </m:acc>
                            </m:e>
                            <m:sub>
                              <m:r>
                                <a:rPr lang="en-US" altLang="zh-CN" sz="1600" b="0" i="1" dirty="0" smtClean="0">
                                  <a:solidFill>
                                    <a:schemeClr val="tx1"/>
                                  </a:solidFill>
                                  <a:latin typeface="Cambria Math" panose="02040503050406030204" pitchFamily="18" charset="0"/>
                                </a:rPr>
                                <m:t>𝑧</m:t>
                              </m:r>
                            </m:sub>
                          </m:sSub>
                        </m:e>
                      </m:d>
                      <m:r>
                        <a:rPr lang="en-US" altLang="zh-CN" sz="1600" b="0" i="1" dirty="0" smtClean="0">
                          <a:solidFill>
                            <a:schemeClr val="tx1"/>
                          </a:solidFill>
                          <a:latin typeface="Cambria Math" panose="02040503050406030204" pitchFamily="18" charset="0"/>
                        </a:rPr>
                        <m:t>=</m:t>
                      </m:r>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𝑃</m:t>
                          </m:r>
                        </m:e>
                        <m:sup>
                          <m:r>
                            <a:rPr lang="en-US" altLang="zh-CN" sz="1600" b="0" i="1" dirty="0" smtClean="0">
                              <a:solidFill>
                                <a:schemeClr val="tx1"/>
                              </a:solidFill>
                              <a:latin typeface="Cambria Math" panose="02040503050406030204" pitchFamily="18" charset="0"/>
                            </a:rPr>
                            <m:t>22</m:t>
                          </m:r>
                        </m:sup>
                      </m:sSup>
                      <m:d>
                        <m:dPr>
                          <m:ctrlPr>
                            <a:rPr lang="en-US" altLang="zh-CN" sz="1600" b="0" i="1" dirty="0" smtClean="0">
                              <a:solidFill>
                                <a:schemeClr val="tx1"/>
                              </a:solidFill>
                              <a:latin typeface="Cambria Math" panose="02040503050406030204" pitchFamily="18" charset="0"/>
                            </a:rPr>
                          </m:ctrlPr>
                        </m:dPr>
                        <m:e>
                          <m:sSub>
                            <m:sSubPr>
                              <m:ctrlPr>
                                <a:rPr lang="en-US" altLang="zh-CN" sz="1600" i="1" dirty="0">
                                  <a:solidFill>
                                    <a:schemeClr val="tx1"/>
                                  </a:solidFill>
                                  <a:latin typeface="Cambria Math" panose="02040503050406030204" pitchFamily="18" charset="0"/>
                                </a:rPr>
                              </m:ctrlPr>
                            </m:sSub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Sub>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Sub>
                        </m:e>
                      </m:d>
                      <m:sSub>
                        <m:sSubPr>
                          <m:ctrlPr>
                            <a:rPr lang="en-US" altLang="zh-CN" sz="1600" b="0" i="1" dirty="0" smtClean="0">
                              <a:solidFill>
                                <a:schemeClr val="tx1"/>
                              </a:solidFill>
                              <a:latin typeface="Cambria Math" panose="02040503050406030204" pitchFamily="18" charset="0"/>
                            </a:rPr>
                          </m:ctrlPr>
                        </m:sSubPr>
                        <m:e>
                          <m:d>
                            <m:dPr>
                              <m:begChr m:val=""/>
                              <m:endChr m:val="|"/>
                              <m:ctrlPr>
                                <a:rPr lang="en-US" altLang="zh-CN" sz="1600" b="0" i="1" dirty="0" smtClean="0">
                                  <a:solidFill>
                                    <a:schemeClr val="tx1"/>
                                  </a:solidFill>
                                  <a:latin typeface="Cambria Math" panose="02040503050406030204" pitchFamily="18" charset="0"/>
                                </a:rPr>
                              </m:ctrlPr>
                            </m:dPr>
                            <m:e>
                              <m:r>
                                <a:rPr lang="en-US" altLang="zh-CN" sz="1600" b="0" i="1" dirty="0" smtClean="0">
                                  <a:solidFill>
                                    <a:schemeClr val="tx1"/>
                                  </a:solidFill>
                                  <a:latin typeface="Cambria Math" panose="02040503050406030204" pitchFamily="18" charset="0"/>
                                </a:rPr>
                                <m:t>​</m:t>
                              </m:r>
                            </m:e>
                          </m:d>
                        </m:e>
                        <m:sub>
                          <m:r>
                            <a:rPr lang="en-US" altLang="zh-CN" sz="1600" i="1" dirty="0" smtClean="0">
                              <a:solidFill>
                                <a:schemeClr val="tx1"/>
                              </a:solidFill>
                              <a:latin typeface="Cambria Math" panose="02040503050406030204" pitchFamily="18" charset="0"/>
                            </a:rPr>
                            <m:t>𝛼</m:t>
                          </m:r>
                          <m:r>
                            <a:rPr lang="en-US" altLang="zh-CN" sz="1600" b="0" i="1" dirty="0" smtClean="0">
                              <a:solidFill>
                                <a:schemeClr val="tx1"/>
                              </a:solidFill>
                              <a:latin typeface="Cambria Math" panose="02040503050406030204" pitchFamily="18" charset="0"/>
                            </a:rPr>
                            <m:t>=1</m:t>
                          </m:r>
                        </m:sub>
                      </m:sSub>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b="0" i="1" dirty="0" smtClean="0">
                              <a:solidFill>
                                <a:schemeClr val="tx1"/>
                              </a:solidFill>
                              <a:latin typeface="Cambria Math" panose="02040503050406030204" pitchFamily="18" charset="0"/>
                            </a:rPr>
                            <m:t>1</m:t>
                          </m:r>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𝜋</m:t>
                              </m:r>
                              <m:r>
                                <a:rPr lang="en-US" altLang="zh-CN" sz="1600" i="1" dirty="0">
                                  <a:solidFill>
                                    <a:schemeClr val="tx1"/>
                                  </a:solidFill>
                                  <a:latin typeface="Cambria Math" panose="02040503050406030204" pitchFamily="18" charset="0"/>
                                </a:rPr>
                                <m:t> </m:t>
                              </m:r>
                              <m:d>
                                <m:dPr>
                                  <m:ctrlPr>
                                    <a:rPr lang="en-US" altLang="zh-CN" sz="1600" i="1" dirty="0">
                                      <a:solidFill>
                                        <a:schemeClr val="tx1"/>
                                      </a:solidFill>
                                      <a:latin typeface="Cambria Math" panose="02040503050406030204" pitchFamily="18" charset="0"/>
                                    </a:rPr>
                                  </m:ctrlPr>
                                </m:dPr>
                                <m:e>
                                  <m:r>
                                    <a:rPr lang="en-US" altLang="zh-CN" sz="1600" b="0" i="1" dirty="0" smtClean="0">
                                      <a:solidFill>
                                        <a:schemeClr val="tx1"/>
                                      </a:solidFill>
                                      <a:latin typeface="Cambria Math" panose="02040503050406030204" pitchFamily="18" charset="0"/>
                                    </a:rPr>
                                    <m:t>1</m:t>
                                  </m:r>
                                  <m:r>
                                    <a:rPr lang="en-US" altLang="zh-CN" sz="1600"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r>
                                    <a:rPr lang="en-US" altLang="zh-CN" sz="1600"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e>
                              </m:d>
                            </m:e>
                            <m:sup>
                              <m:r>
                                <a:rPr lang="en-US" altLang="zh-CN" sz="1600" i="1" dirty="0">
                                  <a:solidFill>
                                    <a:schemeClr val="tx1"/>
                                  </a:solidFill>
                                  <a:latin typeface="Cambria Math" panose="02040503050406030204" pitchFamily="18" charset="0"/>
                                </a:rPr>
                                <m:t>2</m:t>
                              </m:r>
                            </m:sup>
                          </m:sSup>
                        </m:den>
                      </m:f>
                    </m:oMath>
                  </m:oMathPara>
                </a14:m>
                <a:endParaRPr lang="en-US" altLang="zh-CN" sz="16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m:rPr>
                          <m:nor/>
                        </m:rPr>
                        <a:rPr lang="zh-CN" altLang="en-US" sz="1600" dirty="0">
                          <a:solidFill>
                            <a:schemeClr val="tx1"/>
                          </a:solidFill>
                          <a:latin typeface="Cambria Math" panose="02040503050406030204" pitchFamily="18" charset="0"/>
                        </a:rPr>
                        <m:t>对微面结构拉伸</m:t>
                      </m:r>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𝛼</m:t>
                          </m:r>
                        </m:den>
                      </m:f>
                      <m:r>
                        <m:rPr>
                          <m:nor/>
                        </m:rPr>
                        <a:rPr lang="zh-CN" altLang="en-US" sz="1600" dirty="0">
                          <a:solidFill>
                            <a:schemeClr val="tx1"/>
                          </a:solidFill>
                          <a:latin typeface="Cambria Math" panose="02040503050406030204" pitchFamily="18" charset="0"/>
                        </a:rPr>
                        <m:t>倍，则微面斜率分布函数的形状应当收缩</m:t>
                      </m:r>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𝛼</m:t>
                          </m:r>
                        </m:den>
                      </m:f>
                      <m:r>
                        <m:rPr>
                          <m:nor/>
                        </m:rPr>
                        <a:rPr lang="zh-CN" altLang="en-US" sz="1600" dirty="0">
                          <a:solidFill>
                            <a:schemeClr val="tx1"/>
                          </a:solidFill>
                          <a:latin typeface="Cambria Math" panose="02040503050406030204" pitchFamily="18" charset="0"/>
                        </a:rPr>
                        <m:t>倍，也就是拉伸</m:t>
                      </m:r>
                      <m:r>
                        <a:rPr lang="en-US" altLang="zh-CN" sz="1600" i="1" dirty="0">
                          <a:solidFill>
                            <a:schemeClr val="tx1"/>
                          </a:solidFill>
                          <a:latin typeface="Cambria Math" panose="02040503050406030204" pitchFamily="18" charset="0"/>
                        </a:rPr>
                        <m:t>𝛼</m:t>
                      </m:r>
                      <m:r>
                        <m:rPr>
                          <m:nor/>
                        </m:rPr>
                        <a:rPr lang="zh-CN" altLang="en-US" sz="1600" dirty="0">
                          <a:solidFill>
                            <a:schemeClr val="tx1"/>
                          </a:solidFill>
                          <a:latin typeface="Cambria Math" panose="02040503050406030204" pitchFamily="18" charset="0"/>
                        </a:rPr>
                        <m:t>倍</m:t>
                      </m:r>
                    </m:oMath>
                  </m:oMathPara>
                </a14:m>
                <a:endParaRPr lang="en-US" altLang="zh-CN" sz="160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1600" i="1" dirty="0">
                          <a:solidFill>
                            <a:schemeClr val="tx1"/>
                          </a:solidFill>
                          <a:latin typeface="Cambria Math" panose="02040503050406030204" pitchFamily="18" charset="0"/>
                        </a:rPr>
                        <m:t>若</m:t>
                      </m:r>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𝑃</m:t>
                          </m:r>
                        </m:e>
                        <m:sup>
                          <m:r>
                            <a:rPr lang="en-US" altLang="zh-CN" sz="1600" b="0" i="1" dirty="0" smtClean="0">
                              <a:solidFill>
                                <a:schemeClr val="tx1"/>
                              </a:solidFill>
                              <a:latin typeface="Cambria Math" panose="02040503050406030204" pitchFamily="18" charset="0"/>
                            </a:rPr>
                            <m:t>22</m:t>
                          </m:r>
                        </m:sup>
                      </m:sSup>
                      <m:r>
                        <a:rPr lang="zh-CN" altLang="en-US" sz="1600" i="1" dirty="0">
                          <a:solidFill>
                            <a:schemeClr val="tx1"/>
                          </a:solidFill>
                          <a:latin typeface="Cambria Math" panose="02040503050406030204" pitchFamily="18" charset="0"/>
                        </a:rPr>
                        <m:t>满足</m:t>
                      </m:r>
                      <m:r>
                        <a:rPr lang="zh-CN" altLang="en-US" sz="1600" i="1" dirty="0" smtClean="0">
                          <a:solidFill>
                            <a:schemeClr val="tx1"/>
                          </a:solidFill>
                          <a:latin typeface="Cambria Math" panose="02040503050406030204" pitchFamily="18" charset="0"/>
                        </a:rPr>
                        <m:t>伸缩不变</m:t>
                      </m:r>
                      <m:r>
                        <a:rPr lang="zh-CN" altLang="en-US" sz="1600" i="1" dirty="0">
                          <a:solidFill>
                            <a:schemeClr val="tx1"/>
                          </a:solidFill>
                          <a:latin typeface="Cambria Math" panose="02040503050406030204" pitchFamily="18" charset="0"/>
                        </a:rPr>
                        <m:t>性</m:t>
                      </m:r>
                      <m:r>
                        <a:rPr lang="zh-CN" altLang="en-US" sz="1600" i="1" dirty="0" smtClean="0">
                          <a:solidFill>
                            <a:schemeClr val="tx1"/>
                          </a:solidFill>
                          <a:latin typeface="Cambria Math" panose="02040503050406030204" pitchFamily="18" charset="0"/>
                        </a:rPr>
                        <m:t>，</m:t>
                      </m:r>
                      <m:r>
                        <a:rPr lang="zh-CN" altLang="en-US" sz="1600" i="1" dirty="0">
                          <a:solidFill>
                            <a:schemeClr val="tx1"/>
                          </a:solidFill>
                          <a:latin typeface="Cambria Math" panose="02040503050406030204" pitchFamily="18" charset="0"/>
                        </a:rPr>
                        <m:t>则</m:t>
                      </m:r>
                      <m:r>
                        <a:rPr lang="zh-CN" altLang="en-US" sz="1600" i="1" dirty="0" smtClean="0">
                          <a:solidFill>
                            <a:schemeClr val="tx1"/>
                          </a:solidFill>
                          <a:latin typeface="Cambria Math" panose="02040503050406030204" pitchFamily="18" charset="0"/>
                        </a:rPr>
                        <m:t>可以写成</m:t>
                      </m:r>
                      <m:r>
                        <a:rPr lang="zh-CN" altLang="en-US" sz="1600"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P</m:t>
                          </m:r>
                        </m:e>
                        <m:sup>
                          <m:r>
                            <a:rPr lang="en-US" altLang="zh-CN" sz="1600" dirty="0">
                              <a:solidFill>
                                <a:schemeClr val="tx1"/>
                              </a:solidFill>
                              <a:latin typeface="Cambria Math" panose="02040503050406030204" pitchFamily="18" charset="0"/>
                            </a:rPr>
                            <m:t>22</m:t>
                          </m:r>
                        </m:sup>
                      </m:sSup>
                      <m:d>
                        <m:dPr>
                          <m:ctrlPr>
                            <a:rPr lang="en-US" altLang="zh-CN" sz="1600"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m:rPr>
                                  <m:sty m:val="p"/>
                                </m:rPr>
                                <a:rPr lang="en-US" altLang="zh-CN" sz="1600" dirty="0">
                                  <a:solidFill>
                                    <a:schemeClr val="tx1"/>
                                  </a:solidFill>
                                  <a:latin typeface="Cambria Math" panose="02040503050406030204" pitchFamily="18" charset="0"/>
                                </a:rPr>
                                <m:t>x</m:t>
                              </m:r>
                            </m:sub>
                            <m:sup>
                              <m:r>
                                <a:rPr lang="en-US" altLang="zh-CN" sz="1600" dirty="0">
                                  <a:solidFill>
                                    <a:schemeClr val="tx1"/>
                                  </a:solidFill>
                                  <a:latin typeface="Cambria Math" panose="02040503050406030204" pitchFamily="18" charset="0"/>
                                </a:rPr>
                                <m:t>′</m:t>
                              </m:r>
                            </m:sup>
                          </m:sSubSup>
                          <m:r>
                            <a:rPr lang="en-US" altLang="zh-CN" sz="1600"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m:rPr>
                                      <m:sty m:val="p"/>
                                    </m:rPr>
                                    <a:rPr lang="en-US" altLang="zh-CN" sz="1600" dirty="0">
                                      <a:solidFill>
                                        <a:schemeClr val="tx1"/>
                                      </a:solidFill>
                                      <a:latin typeface="Cambria Math" panose="02040503050406030204" pitchFamily="18" charset="0"/>
                                    </a:rPr>
                                    <m:t>m</m:t>
                                  </m:r>
                                </m:e>
                              </m:acc>
                            </m:e>
                            <m:sub>
                              <m:r>
                                <a:rPr lang="en-US" altLang="zh-CN" sz="1600" i="1" dirty="0">
                                  <a:solidFill>
                                    <a:schemeClr val="tx1"/>
                                  </a:solidFill>
                                  <a:latin typeface="Cambria Math" panose="02040503050406030204" pitchFamily="18" charset="0"/>
                                </a:rPr>
                                <m:t>𝑧</m:t>
                              </m:r>
                            </m:sub>
                            <m:sup>
                              <m:r>
                                <a:rPr lang="en-US" altLang="zh-CN" sz="1600" dirty="0">
                                  <a:solidFill>
                                    <a:schemeClr val="tx1"/>
                                  </a:solidFill>
                                  <a:latin typeface="Cambria Math" panose="02040503050406030204" pitchFamily="18" charset="0"/>
                                </a:rPr>
                                <m:t>′</m:t>
                              </m:r>
                            </m:sup>
                          </m:sSubSup>
                          <m:r>
                            <a:rPr lang="en-US" altLang="zh-CN" sz="1600"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𝛼</m:t>
                          </m:r>
                        </m:e>
                      </m:d>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den>
                      </m:f>
                      <m:r>
                        <m:rPr>
                          <m:sty m:val="p"/>
                        </m:rPr>
                        <a:rPr lang="en-US" altLang="zh-CN" sz="1600" dirty="0">
                          <a:solidFill>
                            <a:schemeClr val="tx1"/>
                          </a:solidFill>
                          <a:latin typeface="Cambria Math" panose="02040503050406030204" pitchFamily="18" charset="0"/>
                        </a:rPr>
                        <m:t>f</m:t>
                      </m:r>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num>
                            <m:den>
                              <m:r>
                                <a:rPr lang="en-US" altLang="zh-CN" sz="1600" i="1" dirty="0">
                                  <a:solidFill>
                                    <a:schemeClr val="tx1"/>
                                  </a:solidFill>
                                  <a:latin typeface="Cambria Math" panose="02040503050406030204" pitchFamily="18" charset="0"/>
                                </a:rPr>
                                <m:t>𝛼</m:t>
                              </m:r>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num>
                            <m:den>
                              <m:r>
                                <a:rPr lang="en-US" altLang="zh-CN" sz="1600" i="1" dirty="0">
                                  <a:solidFill>
                                    <a:schemeClr val="tx1"/>
                                  </a:solidFill>
                                  <a:latin typeface="Cambria Math" panose="02040503050406030204" pitchFamily="18" charset="0"/>
                                </a:rPr>
                                <m:t>𝛼</m:t>
                              </m:r>
                            </m:den>
                          </m:f>
                        </m:e>
                      </m:d>
                    </m:oMath>
                    <m:oMath xmlns:m="http://schemas.openxmlformats.org/officeDocument/2006/math">
                      <m:r>
                        <a:rPr lang="en-US" altLang="zh-CN" sz="1600" b="0" i="1"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den>
                      </m:f>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𝜋</m:t>
                              </m:r>
                              <m:r>
                                <a:rPr lang="en-US" altLang="zh-CN" sz="1600" i="1" dirty="0">
                                  <a:solidFill>
                                    <a:schemeClr val="tx1"/>
                                  </a:solidFill>
                                  <a:latin typeface="Cambria Math" panose="02040503050406030204" pitchFamily="18" charset="0"/>
                                </a:rPr>
                                <m:t> </m:t>
                              </m:r>
                              <m:d>
                                <m:dPr>
                                  <m:ctrlPr>
                                    <a:rPr lang="en-US" altLang="zh-CN" sz="1600" i="1" dirty="0">
                                      <a:solidFill>
                                        <a:schemeClr val="tx1"/>
                                      </a:solidFill>
                                      <a:latin typeface="Cambria Math" panose="02040503050406030204" pitchFamily="18" charset="0"/>
                                    </a:rPr>
                                  </m:ctrlPr>
                                </m:dPr>
                                <m:e>
                                  <m:r>
                                    <a:rPr lang="en-US" altLang="zh-CN" sz="1600" i="1" dirty="0">
                                      <a:solidFill>
                                        <a:schemeClr val="tx1"/>
                                      </a:solidFill>
                                      <a:latin typeface="Cambria Math" panose="02040503050406030204" pitchFamily="18" charset="0"/>
                                    </a:rPr>
                                    <m:t>1+</m:t>
                                  </m:r>
                                  <m:f>
                                    <m:fPr>
                                      <m:ctrlPr>
                                        <a:rPr lang="en-US" altLang="zh-CN" sz="1600" i="1" dirty="0">
                                          <a:solidFill>
                                            <a:schemeClr val="tx1"/>
                                          </a:solidFill>
                                          <a:latin typeface="Cambria Math" panose="02040503050406030204" pitchFamily="18" charset="0"/>
                                        </a:rPr>
                                      </m:ctrlPr>
                                    </m:fPr>
                                    <m:num>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den>
                                  </m:f>
                                </m:e>
                              </m:d>
                            </m:e>
                            <m:sup>
                              <m:r>
                                <a:rPr lang="en-US" altLang="zh-CN" sz="1600" i="1" dirty="0">
                                  <a:solidFill>
                                    <a:schemeClr val="tx1"/>
                                  </a:solidFill>
                                  <a:latin typeface="Cambria Math" panose="02040503050406030204" pitchFamily="18" charset="0"/>
                                </a:rPr>
                                <m:t>2</m:t>
                              </m:r>
                            </m:sup>
                          </m:sSup>
                        </m:den>
                      </m:f>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𝜋</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b="0" i="1" dirty="0" smtClean="0">
                                      <a:solidFill>
                                        <a:schemeClr val="tx1"/>
                                      </a:solidFill>
                                      <a:latin typeface="Cambria Math" panose="02040503050406030204" pitchFamily="18" charset="0"/>
                                    </a:rPr>
                                    <m:t>4</m:t>
                                  </m:r>
                                </m:sup>
                              </m:sSup>
                              <m:d>
                                <m:dPr>
                                  <m:ctrlPr>
                                    <a:rPr lang="en-US" altLang="zh-CN" sz="1600" i="1" dirty="0">
                                      <a:solidFill>
                                        <a:schemeClr val="tx1"/>
                                      </a:solidFill>
                                      <a:latin typeface="Cambria Math" panose="02040503050406030204" pitchFamily="18" charset="0"/>
                                    </a:rPr>
                                  </m:ctrlPr>
                                </m:dPr>
                                <m:e>
                                  <m:r>
                                    <a:rPr lang="en-US" altLang="zh-CN" sz="1600" i="1" dirty="0">
                                      <a:solidFill>
                                        <a:schemeClr val="tx1"/>
                                      </a:solidFill>
                                      <a:latin typeface="Cambria Math" panose="02040503050406030204" pitchFamily="18" charset="0"/>
                                    </a:rPr>
                                    <m:t>1+</m:t>
                                  </m:r>
                                  <m:f>
                                    <m:fPr>
                                      <m:ctrlPr>
                                        <a:rPr lang="en-US" altLang="zh-CN" sz="1600" i="1" dirty="0">
                                          <a:solidFill>
                                            <a:schemeClr val="tx1"/>
                                          </a:solidFill>
                                          <a:latin typeface="Cambria Math" panose="02040503050406030204" pitchFamily="18" charset="0"/>
                                        </a:rPr>
                                      </m:ctrlPr>
                                    </m:fPr>
                                    <m:num>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den>
                                  </m:f>
                                </m:e>
                              </m:d>
                            </m:e>
                            <m:sup>
                              <m:r>
                                <a:rPr lang="en-US" altLang="zh-CN" sz="1600" i="1" dirty="0">
                                  <a:solidFill>
                                    <a:schemeClr val="tx1"/>
                                  </a:solidFill>
                                  <a:latin typeface="Cambria Math" panose="02040503050406030204" pitchFamily="18" charset="0"/>
                                </a:rPr>
                                <m:t>2</m:t>
                              </m:r>
                            </m:sup>
                          </m:sSup>
                        </m:den>
                      </m:f>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𝜋</m:t>
                              </m:r>
                              <m:d>
                                <m:dPr>
                                  <m:ctrlPr>
                                    <a:rPr lang="en-US" altLang="zh-CN" sz="1600" i="1" dirty="0">
                                      <a:solidFill>
                                        <a:schemeClr val="tx1"/>
                                      </a:solidFill>
                                      <a:latin typeface="Cambria Math" panose="02040503050406030204" pitchFamily="18" charset="0"/>
                                    </a:rPr>
                                  </m:ctrlPr>
                                </m:dPr>
                                <m:e>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r>
                                    <a:rPr lang="en-US" altLang="zh-CN" sz="1600" i="1" dirty="0">
                                      <a:solidFill>
                                        <a:schemeClr val="tx1"/>
                                      </a:solidFill>
                                      <a:latin typeface="Cambria Math" panose="02040503050406030204" pitchFamily="18" charset="0"/>
                                    </a:rPr>
                                    <m:t>+</m:t>
                                  </m:r>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r>
                                    <a:rPr lang="en-US" altLang="zh-CN" sz="1600" i="1" dirty="0">
                                      <a:solidFill>
                                        <a:schemeClr val="tx1"/>
                                      </a:solidFill>
                                      <a:latin typeface="Cambria Math" panose="02040503050406030204" pitchFamily="18" charset="0"/>
                                    </a:rPr>
                                    <m:t>+</m:t>
                                  </m:r>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e>
                              </m:d>
                            </m:e>
                            <m:sup>
                              <m:r>
                                <a:rPr lang="en-US" altLang="zh-CN" sz="1600" i="1" dirty="0">
                                  <a:solidFill>
                                    <a:schemeClr val="tx1"/>
                                  </a:solidFill>
                                  <a:latin typeface="Cambria Math" panose="02040503050406030204" pitchFamily="18" charset="0"/>
                                </a:rPr>
                                <m:t>2</m:t>
                              </m:r>
                            </m:sup>
                          </m:sSup>
                        </m:den>
                      </m:f>
                    </m:oMath>
                  </m:oMathPara>
                </a14:m>
                <a:endParaRPr lang="en-US" altLang="zh-CN" sz="1600" dirty="0">
                  <a:solidFill>
                    <a:schemeClr val="tx1"/>
                  </a:solidFill>
                  <a:latin typeface="Cambria Math" panose="02040503050406030204" pitchFamily="18" charset="0"/>
                </a:endParaRPr>
              </a:p>
              <a:p>
                <a:pPr algn="ctr">
                  <a:lnSpc>
                    <a:spcPct val="150000"/>
                  </a:lnSpc>
                </a:pPr>
                <a:r>
                  <a:rPr lang="zh-CN" altLang="en-US" sz="1600" dirty="0">
                    <a:solidFill>
                      <a:schemeClr val="tx1"/>
                    </a:solidFill>
                    <a:latin typeface="Cambria Math" panose="02040503050406030204" pitchFamily="18" charset="0"/>
                  </a:rPr>
                  <a:t>所以</a:t>
                </a:r>
                <a:r>
                  <a:rPr lang="en-US" altLang="zh-CN" sz="1600" dirty="0">
                    <a:solidFill>
                      <a:schemeClr val="tx1"/>
                    </a:solidFill>
                    <a:latin typeface="Cambria Math" panose="02040503050406030204" pitchFamily="18" charset="0"/>
                  </a:rPr>
                  <a:t>GGX Distribution</a:t>
                </a:r>
                <a:r>
                  <a:rPr lang="zh-CN" altLang="en-US" sz="1600" dirty="0">
                    <a:solidFill>
                      <a:schemeClr val="tx1"/>
                    </a:solidFill>
                    <a:latin typeface="Cambria Math" panose="02040503050406030204" pitchFamily="18" charset="0"/>
                  </a:rPr>
                  <a:t>满足伸缩不变性</a:t>
                </a:r>
                <a:endParaRPr lang="en-US" altLang="zh-CN" sz="1600" dirty="0">
                  <a:solidFill>
                    <a:schemeClr val="tx1"/>
                  </a:solidFill>
                  <a:latin typeface="Cambria Math" panose="02040503050406030204" pitchFamily="18" charset="0"/>
                </a:endParaRPr>
              </a:p>
            </p:txBody>
          </p:sp>
        </mc:Choice>
        <mc:Fallback xmlns="">
          <p:sp>
            <p:nvSpPr>
              <p:cNvPr id="4" name="矩形 3">
                <a:extLst>
                  <a:ext uri="{FF2B5EF4-FFF2-40B4-BE49-F238E27FC236}">
                    <a16:creationId xmlns:a16="http://schemas.microsoft.com/office/drawing/2014/main" id="{0B573C22-8183-09F9-2B5F-DE4E370B60D1}"/>
                  </a:ext>
                </a:extLst>
              </p:cNvPr>
              <p:cNvSpPr>
                <a:spLocks noRot="1" noChangeAspect="1" noMove="1" noResize="1" noEditPoints="1" noAdjustHandles="1" noChangeArrowheads="1" noChangeShapeType="1" noTextEdit="1"/>
              </p:cNvSpPr>
              <p:nvPr/>
            </p:nvSpPr>
            <p:spPr>
              <a:xfrm>
                <a:off x="478709" y="1158658"/>
                <a:ext cx="11151707" cy="5192038"/>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4846834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A339F-FB32-9290-AD8D-2DA3A289CC9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991D5217-49BB-7897-F908-F404B3E04BE8}"/>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推广到各向异性 </a:t>
                </a:r>
                <a:r>
                  <a:rPr lang="en-US" altLang="zh-CN" dirty="0"/>
                  <a:t>—— </a:t>
                </a:r>
                <a14:m>
                  <m:oMath xmlns:m="http://schemas.openxmlformats.org/officeDocument/2006/math">
                    <m:r>
                      <a:rPr lang="en-US" altLang="zh-CN" sz="3200" i="1" dirty="0" smtClean="0">
                        <a:solidFill>
                          <a:schemeClr val="tx1"/>
                        </a:solidFill>
                        <a:latin typeface="Cambria Math" panose="02040503050406030204" pitchFamily="18" charset="0"/>
                      </a:rPr>
                      <m:t>𝐷</m:t>
                    </m:r>
                    <m:d>
                      <m:dPr>
                        <m:ctrlPr>
                          <a:rPr lang="en-US" altLang="zh-CN" sz="3200" i="1" dirty="0">
                            <a:solidFill>
                              <a:schemeClr val="tx1"/>
                            </a:solidFill>
                            <a:latin typeface="Cambria Math" panose="02040503050406030204" pitchFamily="18" charset="0"/>
                          </a:rPr>
                        </m:ctrlPr>
                      </m:dPr>
                      <m:e>
                        <m:r>
                          <a:rPr lang="en-US" altLang="zh-CN" sz="3200" b="1" i="1" dirty="0">
                            <a:solidFill>
                              <a:schemeClr val="tx1"/>
                            </a:solidFill>
                            <a:latin typeface="Cambria Math" panose="02040503050406030204" pitchFamily="18" charset="0"/>
                          </a:rPr>
                          <m:t>𝒎</m:t>
                        </m:r>
                      </m:e>
                    </m:d>
                  </m:oMath>
                </a14:m>
                <a:endParaRPr lang="zh-CN" altLang="en-US" dirty="0"/>
              </a:p>
            </p:txBody>
          </p:sp>
        </mc:Choice>
        <mc:Fallback xmlns="">
          <p:sp>
            <p:nvSpPr>
              <p:cNvPr id="13" name="标题 2">
                <a:extLst>
                  <a:ext uri="{FF2B5EF4-FFF2-40B4-BE49-F238E27FC236}">
                    <a16:creationId xmlns:a16="http://schemas.microsoft.com/office/drawing/2014/main" id="{991D5217-49BB-7897-F908-F404B3E04BE8}"/>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017" b="-8475"/>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32E3D100-48AB-B55B-1A4B-E1F11DC43899}"/>
              </a:ext>
            </a:extLst>
          </p:cNvPr>
          <p:cNvSpPr/>
          <p:nvPr/>
        </p:nvSpPr>
        <p:spPr>
          <a:xfrm>
            <a:off x="631109" y="1329847"/>
            <a:ext cx="11208075" cy="5192038"/>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399553E0-0DE9-97AF-E534-DDD0F5C73371}"/>
                  </a:ext>
                </a:extLst>
              </p:cNvPr>
              <p:cNvSpPr/>
              <p:nvPr/>
            </p:nvSpPr>
            <p:spPr>
              <a:xfrm>
                <a:off x="478709" y="1158658"/>
                <a:ext cx="11208075" cy="519203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Cambria Math" panose="02040503050406030204" pitchFamily="18" charset="0"/>
                  </a:rPr>
                  <a:t>对微面结构以及光线拉伸</a:t>
                </a:r>
                <a14:m>
                  <m:oMath xmlns:m="http://schemas.openxmlformats.org/officeDocument/2006/math">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𝛼</m:t>
                        </m:r>
                      </m:den>
                    </m:f>
                  </m:oMath>
                </a14:m>
                <a:r>
                  <a:rPr lang="zh-CN" altLang="en-US" sz="1600" dirty="0">
                    <a:solidFill>
                      <a:schemeClr val="tx1"/>
                    </a:solidFill>
                    <a:latin typeface="Cambria Math" panose="02040503050406030204" pitchFamily="18" charset="0"/>
                  </a:rPr>
                  <a:t>倍</a:t>
                </a:r>
                <a:r>
                  <a:rPr lang="en-US" altLang="zh-CN" sz="1600" dirty="0">
                    <a:solidFill>
                      <a:schemeClr val="tx1"/>
                    </a:solidFill>
                    <a:latin typeface="Cambria Math" panose="02040503050406030204" pitchFamily="18" charset="0"/>
                  </a:rPr>
                  <a:t>  </a:t>
                </a:r>
                <a:r>
                  <a:rPr lang="en-US" altLang="zh-CN" sz="1600" dirty="0">
                    <a:solidFill>
                      <a:schemeClr val="tx1"/>
                    </a:solidFill>
                    <a:latin typeface="Cambria Math" panose="02040503050406030204" pitchFamily="18" charset="0"/>
                    <a:sym typeface="Wingdings" panose="05000000000000000000" pitchFamily="2" charset="2"/>
                  </a:rPr>
                  <a:t>  </a:t>
                </a:r>
                <a:r>
                  <a:rPr lang="zh-CN" altLang="en-US" sz="1600" dirty="0">
                    <a:solidFill>
                      <a:schemeClr val="tx1"/>
                    </a:solidFill>
                    <a:latin typeface="Cambria Math" panose="02040503050406030204" pitchFamily="18" charset="0"/>
                  </a:rPr>
                  <a:t>对微面结构以及光线 在</a:t>
                </a:r>
                <a:r>
                  <a:rPr lang="en-US" altLang="zh-CN" sz="1600" dirty="0">
                    <a:solidFill>
                      <a:schemeClr val="tx1"/>
                    </a:solidFill>
                    <a:latin typeface="Cambria Math" panose="02040503050406030204" pitchFamily="18" charset="0"/>
                  </a:rPr>
                  <a:t>x</a:t>
                </a:r>
                <a:r>
                  <a:rPr lang="zh-CN" altLang="en-US" sz="1600" dirty="0">
                    <a:solidFill>
                      <a:schemeClr val="tx1"/>
                    </a:solidFill>
                    <a:latin typeface="Cambria Math" panose="02040503050406030204" pitchFamily="18" charset="0"/>
                  </a:rPr>
                  <a:t>方向拉伸</a:t>
                </a:r>
                <a14:m>
                  <m:oMath xmlns:m="http://schemas.openxmlformats.org/officeDocument/2006/math">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den>
                    </m:f>
                  </m:oMath>
                </a14:m>
                <a:r>
                  <a:rPr lang="zh-CN" altLang="en-US" sz="1600" dirty="0">
                    <a:solidFill>
                      <a:schemeClr val="tx1"/>
                    </a:solidFill>
                    <a:latin typeface="Cambria Math" panose="02040503050406030204" pitchFamily="18" charset="0"/>
                  </a:rPr>
                  <a:t>倍，在</a:t>
                </a:r>
                <a:r>
                  <a:rPr lang="en-US" altLang="zh-CN" sz="1600" dirty="0">
                    <a:solidFill>
                      <a:schemeClr val="tx1"/>
                    </a:solidFill>
                    <a:latin typeface="Cambria Math" panose="02040503050406030204" pitchFamily="18" charset="0"/>
                  </a:rPr>
                  <a:t>z</a:t>
                </a:r>
                <a:r>
                  <a:rPr lang="zh-CN" altLang="en-US" sz="1600" dirty="0">
                    <a:solidFill>
                      <a:schemeClr val="tx1"/>
                    </a:solidFill>
                    <a:latin typeface="Cambria Math" panose="02040503050406030204" pitchFamily="18" charset="0"/>
                  </a:rPr>
                  <a:t>方向拉伸</a:t>
                </a:r>
                <a14:m>
                  <m:oMath xmlns:m="http://schemas.openxmlformats.org/officeDocument/2006/math">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sSub>
                          <m:sSubPr>
                            <m:ctrlPr>
                              <a:rPr lang="en-US" altLang="zh-CN" sz="160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den>
                    </m:f>
                  </m:oMath>
                </a14:m>
                <a:r>
                  <a:rPr lang="zh-CN" altLang="en-US" sz="1600" dirty="0">
                    <a:solidFill>
                      <a:schemeClr val="tx1"/>
                    </a:solidFill>
                    <a:latin typeface="Cambria Math" panose="02040503050406030204" pitchFamily="18" charset="0"/>
                  </a:rPr>
                  <a:t>倍</a:t>
                </a:r>
                <a:endParaRPr lang="en-US" altLang="zh-CN" sz="160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1600" b="0" i="1" dirty="0">
                          <a:solidFill>
                            <a:schemeClr val="tx1"/>
                          </a:solidFill>
                          <a:latin typeface="Cambria Math" panose="02040503050406030204" pitchFamily="18" charset="0"/>
                        </a:rPr>
                        <m:t>则</m:t>
                      </m:r>
                      <m:r>
                        <a:rPr lang="zh-CN" altLang="en-US" sz="1600" i="1" dirty="0" smtClean="0">
                          <a:solidFill>
                            <a:schemeClr val="tx1"/>
                          </a:solidFill>
                          <a:latin typeface="Cambria Math" panose="02040503050406030204" pitchFamily="18" charset="0"/>
                        </a:rPr>
                        <m:t>形状函数</m:t>
                      </m:r>
                      <m:r>
                        <m:rPr>
                          <m:sty m:val="p"/>
                        </m:rPr>
                        <a:rPr lang="en-US" altLang="zh-CN" sz="1600" b="0" i="0" dirty="0" smtClean="0">
                          <a:solidFill>
                            <a:schemeClr val="tx1"/>
                          </a:solidFill>
                          <a:latin typeface="Cambria Math" panose="02040503050406030204" pitchFamily="18" charset="0"/>
                        </a:rPr>
                        <m:t>f</m:t>
                      </m:r>
                      <m:d>
                        <m:dPr>
                          <m:ctrlPr>
                            <a:rPr lang="en-US" altLang="zh-CN" sz="1600" b="0" i="1" dirty="0" smtClean="0">
                              <a:solidFill>
                                <a:schemeClr val="tx1"/>
                              </a:solidFill>
                              <a:latin typeface="Cambria Math" panose="02040503050406030204" pitchFamily="18" charset="0"/>
                            </a:rPr>
                          </m:ctrlPr>
                        </m:dPr>
                        <m:e>
                          <m:sSub>
                            <m:sSubPr>
                              <m:ctrlPr>
                                <a:rPr lang="en-US" altLang="zh-CN" sz="1600" b="0" i="1" dirty="0" smtClean="0">
                                  <a:solidFill>
                                    <a:schemeClr val="tx1"/>
                                  </a:solidFill>
                                  <a:latin typeface="Cambria Math" panose="02040503050406030204" pitchFamily="18" charset="0"/>
                                </a:rPr>
                              </m:ctrlPr>
                            </m:sSubPr>
                            <m:e>
                              <m:acc>
                                <m:accPr>
                                  <m:chr m:val="̃"/>
                                  <m:ctrlPr>
                                    <a:rPr lang="en-US" altLang="zh-CN" sz="1600" b="0" i="1" dirty="0" smtClean="0">
                                      <a:solidFill>
                                        <a:schemeClr val="tx1"/>
                                      </a:solidFill>
                                      <a:latin typeface="Cambria Math" panose="02040503050406030204" pitchFamily="18" charset="0"/>
                                    </a:rPr>
                                  </m:ctrlPr>
                                </m:accPr>
                                <m:e>
                                  <m:r>
                                    <a:rPr lang="en-US" altLang="zh-CN" sz="1600" b="0" i="1" dirty="0" smtClean="0">
                                      <a:solidFill>
                                        <a:schemeClr val="tx1"/>
                                      </a:solidFill>
                                      <a:latin typeface="Cambria Math" panose="02040503050406030204" pitchFamily="18" charset="0"/>
                                    </a:rPr>
                                    <m:t>𝑚</m:t>
                                  </m:r>
                                </m:e>
                              </m:acc>
                            </m:e>
                            <m:sub>
                              <m:r>
                                <a:rPr lang="en-US" altLang="zh-CN" sz="1600" b="0" i="1" dirty="0" smtClean="0">
                                  <a:solidFill>
                                    <a:schemeClr val="tx1"/>
                                  </a:solidFill>
                                  <a:latin typeface="Cambria Math" panose="02040503050406030204" pitchFamily="18" charset="0"/>
                                </a:rPr>
                                <m:t>𝑥</m:t>
                              </m:r>
                            </m:sub>
                          </m:sSub>
                          <m:r>
                            <a:rPr lang="en-US" altLang="zh-CN" sz="1600" b="0" i="1" dirty="0" smtClean="0">
                              <a:solidFill>
                                <a:schemeClr val="tx1"/>
                              </a:solidFill>
                              <a:latin typeface="Cambria Math" panose="02040503050406030204" pitchFamily="18" charset="0"/>
                            </a:rPr>
                            <m:t>,</m:t>
                          </m:r>
                          <m:sSub>
                            <m:sSubPr>
                              <m:ctrlPr>
                                <a:rPr lang="en-US" altLang="zh-CN" sz="1600" b="0" i="1" dirty="0" smtClean="0">
                                  <a:solidFill>
                                    <a:schemeClr val="tx1"/>
                                  </a:solidFill>
                                  <a:latin typeface="Cambria Math" panose="02040503050406030204" pitchFamily="18" charset="0"/>
                                </a:rPr>
                              </m:ctrlPr>
                            </m:sSubPr>
                            <m:e>
                              <m:acc>
                                <m:accPr>
                                  <m:chr m:val="̃"/>
                                  <m:ctrlPr>
                                    <a:rPr lang="en-US" altLang="zh-CN" sz="1600" b="0" i="1" dirty="0" smtClean="0">
                                      <a:solidFill>
                                        <a:schemeClr val="tx1"/>
                                      </a:solidFill>
                                      <a:latin typeface="Cambria Math" panose="02040503050406030204" pitchFamily="18" charset="0"/>
                                    </a:rPr>
                                  </m:ctrlPr>
                                </m:accPr>
                                <m:e>
                                  <m:r>
                                    <a:rPr lang="en-US" altLang="zh-CN" sz="1600" b="0" i="1" dirty="0" smtClean="0">
                                      <a:solidFill>
                                        <a:schemeClr val="tx1"/>
                                      </a:solidFill>
                                      <a:latin typeface="Cambria Math" panose="02040503050406030204" pitchFamily="18" charset="0"/>
                                    </a:rPr>
                                    <m:t>𝑚</m:t>
                                  </m:r>
                                </m:e>
                              </m:acc>
                            </m:e>
                            <m:sub>
                              <m:r>
                                <a:rPr lang="en-US" altLang="zh-CN" sz="1600" b="0" i="1" dirty="0" smtClean="0">
                                  <a:solidFill>
                                    <a:schemeClr val="tx1"/>
                                  </a:solidFill>
                                  <a:latin typeface="Cambria Math" panose="02040503050406030204" pitchFamily="18" charset="0"/>
                                </a:rPr>
                                <m:t>𝑧</m:t>
                              </m:r>
                            </m:sub>
                          </m:sSub>
                        </m:e>
                      </m:d>
                      <m:r>
                        <a:rPr lang="zh-CN" altLang="en-US" sz="1600" i="1" dirty="0">
                          <a:solidFill>
                            <a:schemeClr val="tx1"/>
                          </a:solidFill>
                          <a:latin typeface="Cambria Math" panose="02040503050406030204" pitchFamily="18" charset="0"/>
                        </a:rPr>
                        <m:t>会被</m:t>
                      </m:r>
                      <m:r>
                        <a:rPr lang="zh-CN" altLang="en-US" sz="1600" i="1" dirty="0" smtClean="0">
                          <a:solidFill>
                            <a:schemeClr val="tx1"/>
                          </a:solidFill>
                          <a:latin typeface="Cambria Math" panose="02040503050406030204" pitchFamily="18" charset="0"/>
                        </a:rPr>
                        <m:t>伸缩</m:t>
                      </m:r>
                      <m:r>
                        <a:rPr lang="zh-CN" altLang="en-US" sz="1600" i="1" dirty="0">
                          <a:solidFill>
                            <a:schemeClr val="tx1"/>
                          </a:solidFill>
                          <a:latin typeface="Cambria Math" panose="02040503050406030204" pitchFamily="18" charset="0"/>
                        </a:rPr>
                        <m:t>为</m:t>
                      </m:r>
                      <m:sSup>
                        <m:sSupPr>
                          <m:ctrlPr>
                            <a:rPr lang="en-US" altLang="zh-CN" sz="1600" b="0" i="1" dirty="0" smtClean="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f</m:t>
                          </m:r>
                        </m:e>
                        <m:sup>
                          <m:r>
                            <a:rPr lang="en-US" altLang="zh-CN" sz="1600" b="0" i="0" dirty="0" smtClean="0">
                              <a:solidFill>
                                <a:schemeClr val="tx1"/>
                              </a:solidFill>
                              <a:latin typeface="Cambria Math" panose="02040503050406030204" pitchFamily="18" charset="0"/>
                            </a:rPr>
                            <m:t>′</m:t>
                          </m:r>
                        </m:sup>
                      </m:sSup>
                      <m:d>
                        <m:dPr>
                          <m:ctrlPr>
                            <a:rPr lang="en-US" altLang="zh-CN" sz="1600"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r>
                            <a:rPr lang="en-US" altLang="zh-CN" sz="1600"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e>
                      </m:d>
                      <m:r>
                        <a:rPr lang="en-US" altLang="zh-CN" sz="1600" b="0" i="0" dirty="0" smtClean="0">
                          <a:solidFill>
                            <a:schemeClr val="tx1"/>
                          </a:solidFill>
                          <a:latin typeface="Cambria Math" panose="02040503050406030204" pitchFamily="18" charset="0"/>
                        </a:rPr>
                        <m:t>=</m:t>
                      </m:r>
                      <m:r>
                        <m:rPr>
                          <m:sty m:val="p"/>
                        </m:rPr>
                        <a:rPr lang="en-US" altLang="zh-CN" sz="1600" dirty="0">
                          <a:solidFill>
                            <a:schemeClr val="tx1"/>
                          </a:solidFill>
                          <a:latin typeface="Cambria Math" panose="02040503050406030204" pitchFamily="18" charset="0"/>
                        </a:rPr>
                        <m:t>f</m:t>
                      </m:r>
                      <m:d>
                        <m:dPr>
                          <m:ctrlPr>
                            <a:rPr lang="en-US" altLang="zh-CN" sz="1600" i="1" dirty="0">
                              <a:solidFill>
                                <a:schemeClr val="tx1"/>
                              </a:solidFill>
                              <a:latin typeface="Cambria Math" panose="02040503050406030204" pitchFamily="18" charset="0"/>
                            </a:rPr>
                          </m:ctrlPr>
                        </m:dPr>
                        <m:e>
                          <m:f>
                            <m:fPr>
                              <m:ctrlPr>
                                <a:rPr lang="en-US" altLang="zh-CN" sz="1600" b="0" i="1" dirty="0" smtClean="0">
                                  <a:solidFill>
                                    <a:schemeClr val="tx1"/>
                                  </a:solidFill>
                                  <a:latin typeface="Cambria Math" panose="02040503050406030204" pitchFamily="18" charset="0"/>
                                </a:rPr>
                              </m:ctrlPr>
                            </m:fPr>
                            <m:num>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num>
                            <m:den>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den>
                          </m:f>
                          <m:r>
                            <a:rPr lang="en-US" altLang="zh-CN" sz="1600" i="1" dirty="0">
                              <a:solidFill>
                                <a:schemeClr val="tx1"/>
                              </a:solidFill>
                              <a:latin typeface="Cambria Math" panose="02040503050406030204" pitchFamily="18" charset="0"/>
                            </a:rPr>
                            <m:t>,</m:t>
                          </m:r>
                          <m:f>
                            <m:fPr>
                              <m:ctrlPr>
                                <a:rPr lang="en-US" altLang="zh-CN" sz="1600" b="0" i="1" dirty="0" smtClean="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num>
                            <m:den>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den>
                          </m:f>
                        </m:e>
                      </m:d>
                    </m:oMath>
                  </m:oMathPara>
                </a14:m>
                <a:endParaRPr lang="en-US" altLang="zh-CN" sz="1600" dirty="0">
                  <a:solidFill>
                    <a:schemeClr val="tx1"/>
                  </a:solidFill>
                  <a:latin typeface="Cambria Math" panose="02040503050406030204" pitchFamily="18" charset="0"/>
                </a:endParaRPr>
              </a:p>
              <a:p>
                <a:pPr algn="ctr"/>
                <a:r>
                  <a:rPr lang="zh-CN" altLang="en-US" sz="1600" dirty="0">
                    <a:solidFill>
                      <a:schemeClr val="tx1"/>
                    </a:solidFill>
                    <a:latin typeface="Cambria Math" panose="02040503050406030204" pitchFamily="18" charset="0"/>
                  </a:rPr>
                  <a:t>微面斜率分布函数可写成：</a:t>
                </a:r>
                <a:r>
                  <a:rPr lang="en-US" altLang="zh-CN" sz="1600" b="0" dirty="0">
                    <a:solidFill>
                      <a:schemeClr val="tx1"/>
                    </a:solidFill>
                  </a:rPr>
                  <a:t> </a:t>
                </a:r>
                <a14:m>
                  <m:oMath xmlns:m="http://schemas.openxmlformats.org/officeDocument/2006/math">
                    <m:sSup>
                      <m:sSupPr>
                        <m:ctrlPr>
                          <a:rPr lang="en-US" altLang="zh-CN" sz="1600" b="0" i="1" dirty="0" smtClean="0">
                            <a:solidFill>
                              <a:schemeClr val="tx1"/>
                            </a:solidFill>
                            <a:latin typeface="Cambria Math" panose="02040503050406030204" pitchFamily="18" charset="0"/>
                          </a:rPr>
                        </m:ctrlPr>
                      </m:sSupPr>
                      <m:e>
                        <m:r>
                          <m:rPr>
                            <m:sty m:val="p"/>
                          </m:rPr>
                          <a:rPr lang="en-US" altLang="zh-CN" sz="1600" b="0" i="0" dirty="0" smtClean="0">
                            <a:solidFill>
                              <a:schemeClr val="tx1"/>
                            </a:solidFill>
                            <a:latin typeface="Cambria Math" panose="02040503050406030204" pitchFamily="18" charset="0"/>
                          </a:rPr>
                          <m:t>P</m:t>
                        </m:r>
                      </m:e>
                      <m:sup>
                        <m:r>
                          <a:rPr lang="en-US" altLang="zh-CN" sz="1600" b="0" i="0" dirty="0" smtClean="0">
                            <a:solidFill>
                              <a:schemeClr val="tx1"/>
                            </a:solidFill>
                            <a:latin typeface="Cambria Math" panose="02040503050406030204" pitchFamily="18" charset="0"/>
                          </a:rPr>
                          <m:t>22</m:t>
                        </m:r>
                      </m:sup>
                    </m:sSup>
                    <m:d>
                      <m:dPr>
                        <m:ctrlPr>
                          <a:rPr lang="en-US" altLang="zh-CN" sz="1600" b="0" i="1" dirty="0" smtClean="0">
                            <a:solidFill>
                              <a:schemeClr val="tx1"/>
                            </a:solidFill>
                            <a:latin typeface="Cambria Math" panose="02040503050406030204" pitchFamily="18" charset="0"/>
                          </a:rPr>
                        </m:ctrlPr>
                      </m:dPr>
                      <m:e>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b="0" i="1" dirty="0" smtClean="0">
                                    <a:solidFill>
                                      <a:schemeClr val="tx1"/>
                                    </a:solidFill>
                                    <a:latin typeface="Cambria Math" panose="02040503050406030204" pitchFamily="18" charset="0"/>
                                  </a:rPr>
                                </m:ctrlPr>
                              </m:accPr>
                              <m:e>
                                <m:r>
                                  <a:rPr lang="en-US" altLang="zh-CN" sz="1600" b="0" i="1" dirty="0" smtClean="0">
                                    <a:solidFill>
                                      <a:schemeClr val="tx1"/>
                                    </a:solidFill>
                                    <a:latin typeface="Cambria Math" panose="02040503050406030204" pitchFamily="18" charset="0"/>
                                  </a:rPr>
                                  <m:t>𝑚</m:t>
                                </m:r>
                              </m:e>
                            </m:acc>
                          </m:e>
                          <m:sub>
                            <m:r>
                              <m:rPr>
                                <m:sty m:val="p"/>
                              </m:rPr>
                              <a:rPr lang="en-US" altLang="zh-CN" sz="1600" b="0" i="0" dirty="0" smtClean="0">
                                <a:solidFill>
                                  <a:schemeClr val="tx1"/>
                                </a:solidFill>
                                <a:latin typeface="Cambria Math" panose="02040503050406030204" pitchFamily="18" charset="0"/>
                              </a:rPr>
                              <m:t>x</m:t>
                            </m:r>
                          </m:sub>
                          <m:sup>
                            <m:r>
                              <a:rPr lang="en-US" altLang="zh-CN" sz="1600" b="0" i="1" dirty="0" smtClean="0">
                                <a:solidFill>
                                  <a:schemeClr val="tx1"/>
                                </a:solidFill>
                                <a:latin typeface="Cambria Math" panose="02040503050406030204" pitchFamily="18" charset="0"/>
                              </a:rPr>
                              <m:t>′</m:t>
                            </m:r>
                          </m:sup>
                        </m:sSubSup>
                        <m:r>
                          <a:rPr lang="en-US" altLang="zh-CN" sz="1600" b="0" i="0" dirty="0" smtClean="0">
                            <a:solidFill>
                              <a:schemeClr val="tx1"/>
                            </a:solidFill>
                            <a:latin typeface="Cambria Math" panose="02040503050406030204" pitchFamily="18" charset="0"/>
                          </a:rPr>
                          <m:t>,</m:t>
                        </m:r>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b="0" i="1" dirty="0" smtClean="0">
                                    <a:solidFill>
                                      <a:schemeClr val="tx1"/>
                                    </a:solidFill>
                                    <a:latin typeface="Cambria Math" panose="02040503050406030204" pitchFamily="18" charset="0"/>
                                  </a:rPr>
                                </m:ctrlPr>
                              </m:accPr>
                              <m:e>
                                <m:r>
                                  <m:rPr>
                                    <m:sty m:val="p"/>
                                  </m:rPr>
                                  <a:rPr lang="en-US" altLang="zh-CN" sz="1600" b="0" i="0" dirty="0" smtClean="0">
                                    <a:solidFill>
                                      <a:schemeClr val="tx1"/>
                                    </a:solidFill>
                                    <a:latin typeface="Cambria Math" panose="02040503050406030204" pitchFamily="18" charset="0"/>
                                  </a:rPr>
                                  <m:t>m</m:t>
                                </m:r>
                              </m:e>
                            </m:acc>
                          </m:e>
                          <m:sub>
                            <m:r>
                              <a:rPr lang="en-US" altLang="zh-CN" sz="1600" b="0" i="1" dirty="0" smtClean="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sup>
                        </m:sSubSup>
                        <m:r>
                          <a:rPr lang="en-US" altLang="zh-CN" sz="1600" b="0" i="0" dirty="0" smtClean="0">
                            <a:solidFill>
                              <a:schemeClr val="tx1"/>
                            </a:solidFill>
                            <a:latin typeface="Cambria Math" panose="02040503050406030204" pitchFamily="18" charset="0"/>
                          </a:rPr>
                          <m:t>,</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r>
                          <a:rPr lang="en-US" altLang="zh-CN" sz="1600" b="0" i="1" dirty="0" smtClean="0">
                            <a:solidFill>
                              <a:schemeClr val="tx1"/>
                            </a:solidFill>
                            <a:latin typeface="Cambria Math" panose="02040503050406030204" pitchFamily="18" charset="0"/>
                          </a:rPr>
                          <m:t>,</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e>
                    </m:d>
                    <m:r>
                      <a:rPr lang="en-US" altLang="zh-CN" sz="1600" b="0" i="1" dirty="0" smtClean="0">
                        <a:solidFill>
                          <a:schemeClr val="tx1"/>
                        </a:solidFill>
                        <a:latin typeface="Cambria Math" panose="02040503050406030204" pitchFamily="18" charset="0"/>
                      </a:rPr>
                      <m:t>=</m:t>
                    </m:r>
                    <m:f>
                      <m:fPr>
                        <m:ctrlPr>
                          <a:rPr lang="en-US" altLang="zh-CN" sz="1600" b="0" i="1" dirty="0" smtClean="0">
                            <a:solidFill>
                              <a:schemeClr val="tx1"/>
                            </a:solidFill>
                            <a:latin typeface="Cambria Math" panose="02040503050406030204" pitchFamily="18" charset="0"/>
                          </a:rPr>
                        </m:ctrlPr>
                      </m:fPr>
                      <m:num>
                        <m:r>
                          <a:rPr lang="en-US" altLang="zh-CN" sz="1600" b="0" i="1" dirty="0" smtClean="0">
                            <a:solidFill>
                              <a:schemeClr val="tx1"/>
                            </a:solidFill>
                            <a:latin typeface="Cambria Math" panose="02040503050406030204" pitchFamily="18" charset="0"/>
                          </a:rPr>
                          <m:t>1</m:t>
                        </m:r>
                      </m:num>
                      <m:den>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den>
                    </m:f>
                    <m:r>
                      <a:rPr lang="en-US" altLang="zh-CN" sz="1600" b="0" i="1" dirty="0" smtClean="0">
                        <a:solidFill>
                          <a:schemeClr val="tx1"/>
                        </a:solidFill>
                        <a:latin typeface="Cambria Math" panose="02040503050406030204" pitchFamily="18" charset="0"/>
                      </a:rPr>
                      <m:t>𝑓</m:t>
                    </m:r>
                    <m:d>
                      <m:dPr>
                        <m:ctrlPr>
                          <a:rPr lang="en-US" altLang="zh-CN" sz="1600" b="0" i="1" dirty="0" smtClean="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num>
                          <m:den>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sup>
                            </m:sSubSup>
                          </m:num>
                          <m:den>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den>
                        </m:f>
                      </m:e>
                    </m:d>
                  </m:oMath>
                </a14:m>
                <a:endParaRPr lang="en-US" altLang="zh-CN" sz="160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1600" i="1" dirty="0">
                          <a:solidFill>
                            <a:schemeClr val="tx1"/>
                          </a:solidFill>
                          <a:latin typeface="Cambria Math" panose="02040503050406030204" pitchFamily="18" charset="0"/>
                        </a:rPr>
                        <m:t>𝑓</m:t>
                      </m:r>
                      <m:d>
                        <m:dPr>
                          <m:ctrlPr>
                            <a:rPr lang="en-US" altLang="zh-CN" sz="1600" i="1" dirty="0">
                              <a:solidFill>
                                <a:schemeClr val="tx1"/>
                              </a:solidFill>
                              <a:latin typeface="Cambria Math" panose="02040503050406030204" pitchFamily="18" charset="0"/>
                            </a:rPr>
                          </m:ctrlPr>
                        </m:dPr>
                        <m:e>
                          <m:sSub>
                            <m:sSubPr>
                              <m:ctrlPr>
                                <a:rPr lang="en-US" altLang="zh-CN" sz="1600" i="1" dirty="0">
                                  <a:solidFill>
                                    <a:schemeClr val="tx1"/>
                                  </a:solidFill>
                                  <a:latin typeface="Cambria Math" panose="02040503050406030204" pitchFamily="18" charset="0"/>
                                </a:rPr>
                              </m:ctrlPr>
                            </m:sSub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Sub>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Sub>
                        </m:e>
                      </m:d>
                      <m:r>
                        <a:rPr lang="en-US" altLang="zh-CN" sz="1600"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𝑃</m:t>
                          </m:r>
                        </m:e>
                        <m:sup>
                          <m:r>
                            <a:rPr lang="en-US" altLang="zh-CN" sz="1600" i="1" dirty="0">
                              <a:solidFill>
                                <a:schemeClr val="tx1"/>
                              </a:solidFill>
                              <a:latin typeface="Cambria Math" panose="02040503050406030204" pitchFamily="18" charset="0"/>
                            </a:rPr>
                            <m:t>22</m:t>
                          </m:r>
                        </m:sup>
                      </m:sSup>
                      <m:d>
                        <m:dPr>
                          <m:ctrlPr>
                            <a:rPr lang="en-US" altLang="zh-CN" sz="1600" i="1" dirty="0">
                              <a:solidFill>
                                <a:schemeClr val="tx1"/>
                              </a:solidFill>
                              <a:latin typeface="Cambria Math" panose="02040503050406030204" pitchFamily="18" charset="0"/>
                            </a:rPr>
                          </m:ctrlPr>
                        </m:dPr>
                        <m:e>
                          <m:sSub>
                            <m:sSubPr>
                              <m:ctrlPr>
                                <a:rPr lang="en-US" altLang="zh-CN" sz="1600" i="1" dirty="0">
                                  <a:solidFill>
                                    <a:schemeClr val="tx1"/>
                                  </a:solidFill>
                                  <a:latin typeface="Cambria Math" panose="02040503050406030204" pitchFamily="18" charset="0"/>
                                </a:rPr>
                              </m:ctrlPr>
                            </m:sSub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Sub>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Sub>
                        </m:e>
                      </m:d>
                      <m:sSub>
                        <m:sSubPr>
                          <m:ctrlPr>
                            <a:rPr lang="en-US" altLang="zh-CN" sz="1600" i="1" dirty="0">
                              <a:solidFill>
                                <a:schemeClr val="tx1"/>
                              </a:solidFill>
                              <a:latin typeface="Cambria Math" panose="02040503050406030204" pitchFamily="18" charset="0"/>
                            </a:rPr>
                          </m:ctrlPr>
                        </m:sSubPr>
                        <m:e>
                          <m:d>
                            <m:dPr>
                              <m:begChr m:val=""/>
                              <m:endChr m:val="|"/>
                              <m:ctrlPr>
                                <a:rPr lang="en-US" altLang="zh-CN" sz="1600" i="1" dirty="0">
                                  <a:solidFill>
                                    <a:schemeClr val="tx1"/>
                                  </a:solidFill>
                                  <a:latin typeface="Cambria Math" panose="02040503050406030204" pitchFamily="18" charset="0"/>
                                </a:rPr>
                              </m:ctrlPr>
                            </m:dPr>
                            <m:e>
                              <m:r>
                                <a:rPr lang="en-US" altLang="zh-CN" sz="1600" i="1" dirty="0">
                                  <a:solidFill>
                                    <a:schemeClr val="tx1"/>
                                  </a:solidFill>
                                  <a:latin typeface="Cambria Math" panose="02040503050406030204" pitchFamily="18" charset="0"/>
                                </a:rPr>
                                <m:t>​</m:t>
                              </m:r>
                            </m:e>
                          </m:d>
                        </m:e>
                        <m:sub>
                          <m:r>
                            <a:rPr lang="en-US" altLang="zh-CN" sz="1600" i="1" dirty="0">
                              <a:solidFill>
                                <a:schemeClr val="tx1"/>
                              </a:solidFill>
                              <a:latin typeface="Cambria Math" panose="02040503050406030204" pitchFamily="18" charset="0"/>
                            </a:rPr>
                            <m:t>𝛼</m:t>
                          </m:r>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1</m:t>
                          </m:r>
                        </m:sub>
                      </m:sSub>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𝜋</m:t>
                              </m:r>
                              <m:r>
                                <a:rPr lang="en-US" altLang="zh-CN" sz="1600" i="1" dirty="0">
                                  <a:solidFill>
                                    <a:schemeClr val="tx1"/>
                                  </a:solidFill>
                                  <a:latin typeface="Cambria Math" panose="02040503050406030204" pitchFamily="18" charset="0"/>
                                </a:rPr>
                                <m:t> </m:t>
                              </m:r>
                              <m:d>
                                <m:dPr>
                                  <m:ctrlPr>
                                    <a:rPr lang="en-US" altLang="zh-CN" sz="1600" i="1" dirty="0">
                                      <a:solidFill>
                                        <a:schemeClr val="tx1"/>
                                      </a:solidFill>
                                      <a:latin typeface="Cambria Math" panose="02040503050406030204" pitchFamily="18" charset="0"/>
                                    </a:rPr>
                                  </m:ctrlPr>
                                </m:dPr>
                                <m:e>
                                  <m:r>
                                    <a:rPr lang="en-US" altLang="zh-CN" sz="1600" i="1" dirty="0">
                                      <a:solidFill>
                                        <a:schemeClr val="tx1"/>
                                      </a:solidFill>
                                      <a:latin typeface="Cambria Math" panose="02040503050406030204" pitchFamily="18" charset="0"/>
                                    </a:rPr>
                                    <m:t>1</m:t>
                                  </m:r>
                                  <m:r>
                                    <a:rPr lang="en-US" altLang="zh-CN" sz="1600"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r>
                                    <a:rPr lang="en-US" altLang="zh-CN" sz="1600"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e>
                              </m:d>
                            </m:e>
                            <m:sup>
                              <m:r>
                                <a:rPr lang="en-US" altLang="zh-CN" sz="1600" i="1" dirty="0">
                                  <a:solidFill>
                                    <a:schemeClr val="tx1"/>
                                  </a:solidFill>
                                  <a:latin typeface="Cambria Math" panose="02040503050406030204" pitchFamily="18" charset="0"/>
                                </a:rPr>
                                <m:t>2</m:t>
                              </m:r>
                            </m:sup>
                          </m:sSup>
                        </m:den>
                      </m:f>
                    </m:oMath>
                  </m:oMathPara>
                </a14:m>
                <a:endParaRPr lang="en-US" altLang="zh-CN" sz="160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f</m:t>
                          </m:r>
                        </m:e>
                        <m:sup>
                          <m:r>
                            <a:rPr lang="en-US" altLang="zh-CN" sz="1600" dirty="0">
                              <a:solidFill>
                                <a:schemeClr val="tx1"/>
                              </a:solidFill>
                              <a:latin typeface="Cambria Math" panose="02040503050406030204" pitchFamily="18" charset="0"/>
                            </a:rPr>
                            <m:t>′</m:t>
                          </m:r>
                        </m:sup>
                      </m:sSup>
                      <m:d>
                        <m:dPr>
                          <m:ctrlPr>
                            <a:rPr lang="en-US" altLang="zh-CN" sz="1600"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r>
                            <a:rPr lang="en-US" altLang="zh-CN" sz="1600"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e>
                      </m:d>
                      <m:r>
                        <a:rPr lang="en-US" altLang="zh-CN" sz="1600" dirty="0">
                          <a:solidFill>
                            <a:schemeClr val="tx1"/>
                          </a:solidFill>
                          <a:latin typeface="Cambria Math" panose="02040503050406030204" pitchFamily="18" charset="0"/>
                        </a:rPr>
                        <m:t>=</m:t>
                      </m:r>
                      <m:r>
                        <m:rPr>
                          <m:sty m:val="p"/>
                        </m:rPr>
                        <a:rPr lang="en-US" altLang="zh-CN" sz="1600" dirty="0">
                          <a:solidFill>
                            <a:schemeClr val="tx1"/>
                          </a:solidFill>
                          <a:latin typeface="Cambria Math" panose="02040503050406030204" pitchFamily="18" charset="0"/>
                        </a:rPr>
                        <m:t>f</m:t>
                      </m:r>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num>
                            <m:den>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Sub>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num>
                            <m:den>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𝑧</m:t>
                                  </m:r>
                                </m:sub>
                              </m:sSub>
                            </m:den>
                          </m:f>
                        </m:e>
                      </m:d>
                      <m:r>
                        <a:rPr lang="en-US" altLang="zh-CN" sz="1600" b="0" i="0"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𝜋</m:t>
                              </m:r>
                              <m:r>
                                <a:rPr lang="en-US" altLang="zh-CN" sz="1600" i="1" dirty="0">
                                  <a:solidFill>
                                    <a:schemeClr val="tx1"/>
                                  </a:solidFill>
                                  <a:latin typeface="Cambria Math" panose="02040503050406030204" pitchFamily="18" charset="0"/>
                                </a:rPr>
                                <m:t> </m:t>
                              </m:r>
                              <m:d>
                                <m:dPr>
                                  <m:ctrlPr>
                                    <a:rPr lang="en-US" altLang="zh-CN" sz="1600" i="1" dirty="0">
                                      <a:solidFill>
                                        <a:schemeClr val="tx1"/>
                                      </a:solidFill>
                                      <a:latin typeface="Cambria Math" panose="02040503050406030204" pitchFamily="18" charset="0"/>
                                    </a:rPr>
                                  </m:ctrlPr>
                                </m:dPr>
                                <m:e>
                                  <m:r>
                                    <a:rPr lang="en-US" altLang="zh-CN" sz="1600" i="1" dirty="0">
                                      <a:solidFill>
                                        <a:schemeClr val="tx1"/>
                                      </a:solidFill>
                                      <a:latin typeface="Cambria Math" panose="02040503050406030204" pitchFamily="18" charset="0"/>
                                    </a:rPr>
                                    <m:t>1</m:t>
                                  </m:r>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num>
                                    <m:den>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b="0" i="1" dirty="0" smtClean="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num>
                                    <m:den>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den>
                                  </m:f>
                                </m:e>
                              </m:d>
                            </m:e>
                            <m:sup>
                              <m:r>
                                <a:rPr lang="en-US" altLang="zh-CN" sz="1600" i="1" dirty="0">
                                  <a:solidFill>
                                    <a:schemeClr val="tx1"/>
                                  </a:solidFill>
                                  <a:latin typeface="Cambria Math" panose="02040503050406030204" pitchFamily="18" charset="0"/>
                                </a:rPr>
                                <m:t>2</m:t>
                              </m:r>
                            </m:sup>
                          </m:sSup>
                        </m:den>
                      </m:f>
                    </m:oMath>
                  </m:oMathPara>
                </a14:m>
                <a:endParaRPr lang="en-US" altLang="zh-CN" sz="160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altLang="zh-CN" sz="1600" b="0" i="1" dirty="0" smtClean="0">
                              <a:solidFill>
                                <a:schemeClr val="tx1"/>
                              </a:solidFill>
                              <a:latin typeface="Cambria Math" panose="02040503050406030204" pitchFamily="18" charset="0"/>
                            </a:rPr>
                          </m:ctrlPr>
                        </m:sSupPr>
                        <m:e>
                          <m:r>
                            <m:rPr>
                              <m:sty m:val="p"/>
                            </m:rPr>
                            <a:rPr lang="en-US" altLang="zh-CN" sz="1600" b="0" i="0" dirty="0" smtClean="0">
                              <a:solidFill>
                                <a:schemeClr val="tx1"/>
                              </a:solidFill>
                              <a:latin typeface="Cambria Math" panose="02040503050406030204" pitchFamily="18" charset="0"/>
                            </a:rPr>
                            <m:t>P</m:t>
                          </m:r>
                        </m:e>
                        <m:sup>
                          <m:r>
                            <a:rPr lang="en-US" altLang="zh-CN" sz="1600" b="0" i="0" dirty="0" smtClean="0">
                              <a:solidFill>
                                <a:schemeClr val="tx1"/>
                              </a:solidFill>
                              <a:latin typeface="Cambria Math" panose="02040503050406030204" pitchFamily="18" charset="0"/>
                            </a:rPr>
                            <m:t>22</m:t>
                          </m:r>
                        </m:sup>
                      </m:sSup>
                      <m:d>
                        <m:dPr>
                          <m:ctrlPr>
                            <a:rPr lang="en-US" altLang="zh-CN" sz="1600" b="0" i="1" dirty="0" smtClean="0">
                              <a:solidFill>
                                <a:schemeClr val="tx1"/>
                              </a:solidFill>
                              <a:latin typeface="Cambria Math" panose="02040503050406030204" pitchFamily="18" charset="0"/>
                            </a:rPr>
                          </m:ctrlPr>
                        </m:dPr>
                        <m:e>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b="0" i="1" dirty="0" smtClean="0">
                                      <a:solidFill>
                                        <a:schemeClr val="tx1"/>
                                      </a:solidFill>
                                      <a:latin typeface="Cambria Math" panose="02040503050406030204" pitchFamily="18" charset="0"/>
                                    </a:rPr>
                                  </m:ctrlPr>
                                </m:accPr>
                                <m:e>
                                  <m:r>
                                    <a:rPr lang="en-US" altLang="zh-CN" sz="1600" b="0" i="1" dirty="0" smtClean="0">
                                      <a:solidFill>
                                        <a:schemeClr val="tx1"/>
                                      </a:solidFill>
                                      <a:latin typeface="Cambria Math" panose="02040503050406030204" pitchFamily="18" charset="0"/>
                                    </a:rPr>
                                    <m:t>𝑚</m:t>
                                  </m:r>
                                </m:e>
                              </m:acc>
                            </m:e>
                            <m:sub>
                              <m:r>
                                <m:rPr>
                                  <m:sty m:val="p"/>
                                </m:rPr>
                                <a:rPr lang="en-US" altLang="zh-CN" sz="1600" b="0" i="0" dirty="0" smtClean="0">
                                  <a:solidFill>
                                    <a:schemeClr val="tx1"/>
                                  </a:solidFill>
                                  <a:latin typeface="Cambria Math" panose="02040503050406030204" pitchFamily="18" charset="0"/>
                                </a:rPr>
                                <m:t>x</m:t>
                              </m:r>
                            </m:sub>
                            <m:sup>
                              <m:r>
                                <a:rPr lang="en-US" altLang="zh-CN" sz="1600" b="0" i="1" dirty="0" smtClean="0">
                                  <a:solidFill>
                                    <a:schemeClr val="tx1"/>
                                  </a:solidFill>
                                  <a:latin typeface="Cambria Math" panose="02040503050406030204" pitchFamily="18" charset="0"/>
                                </a:rPr>
                                <m:t>′</m:t>
                              </m:r>
                            </m:sup>
                          </m:sSubSup>
                          <m:r>
                            <a:rPr lang="en-US" altLang="zh-CN" sz="1600" b="0" i="0" dirty="0" smtClean="0">
                              <a:solidFill>
                                <a:schemeClr val="tx1"/>
                              </a:solidFill>
                              <a:latin typeface="Cambria Math" panose="02040503050406030204" pitchFamily="18" charset="0"/>
                            </a:rPr>
                            <m:t>,</m:t>
                          </m:r>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b="0" i="1" dirty="0" smtClean="0">
                                      <a:solidFill>
                                        <a:schemeClr val="tx1"/>
                                      </a:solidFill>
                                      <a:latin typeface="Cambria Math" panose="02040503050406030204" pitchFamily="18" charset="0"/>
                                    </a:rPr>
                                  </m:ctrlPr>
                                </m:accPr>
                                <m:e>
                                  <m:r>
                                    <m:rPr>
                                      <m:sty m:val="p"/>
                                    </m:rPr>
                                    <a:rPr lang="en-US" altLang="zh-CN" sz="1600" b="0" i="0" dirty="0" smtClean="0">
                                      <a:solidFill>
                                        <a:schemeClr val="tx1"/>
                                      </a:solidFill>
                                      <a:latin typeface="Cambria Math" panose="02040503050406030204" pitchFamily="18" charset="0"/>
                                    </a:rPr>
                                    <m:t>m</m:t>
                                  </m:r>
                                </m:e>
                              </m:acc>
                            </m:e>
                            <m:sub>
                              <m:r>
                                <a:rPr lang="en-US" altLang="zh-CN" sz="1600" b="0" i="1" dirty="0" smtClean="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sup>
                          </m:sSubSup>
                          <m:r>
                            <a:rPr lang="en-US" altLang="zh-CN" sz="1600" b="0" i="0" dirty="0" smtClean="0">
                              <a:solidFill>
                                <a:schemeClr val="tx1"/>
                              </a:solidFill>
                              <a:latin typeface="Cambria Math" panose="02040503050406030204" pitchFamily="18" charset="0"/>
                            </a:rPr>
                            <m:t>,</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r>
                            <a:rPr lang="en-US" altLang="zh-CN" sz="1600" b="0" i="1" dirty="0" smtClean="0">
                              <a:solidFill>
                                <a:schemeClr val="tx1"/>
                              </a:solidFill>
                              <a:latin typeface="Cambria Math" panose="02040503050406030204" pitchFamily="18" charset="0"/>
                            </a:rPr>
                            <m:t>,</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e>
                      </m:d>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𝜋</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𝑦</m:t>
                                  </m:r>
                                </m:sub>
                              </m:sSub>
                              <m:r>
                                <a:rPr lang="en-US" altLang="zh-CN" sz="1600" i="1" dirty="0">
                                  <a:solidFill>
                                    <a:schemeClr val="tx1"/>
                                  </a:solidFill>
                                  <a:latin typeface="Cambria Math" panose="02040503050406030204" pitchFamily="18" charset="0"/>
                                </a:rPr>
                                <m:t> </m:t>
                              </m:r>
                              <m:d>
                                <m:dPr>
                                  <m:ctrlPr>
                                    <a:rPr lang="en-US" altLang="zh-CN" sz="1600" i="1" dirty="0">
                                      <a:solidFill>
                                        <a:schemeClr val="tx1"/>
                                      </a:solidFill>
                                      <a:latin typeface="Cambria Math" panose="02040503050406030204" pitchFamily="18" charset="0"/>
                                    </a:rPr>
                                  </m:ctrlPr>
                                </m:dPr>
                                <m:e>
                                  <m:r>
                                    <a:rPr lang="en-US" altLang="zh-CN" sz="1600" i="1" dirty="0">
                                      <a:solidFill>
                                        <a:schemeClr val="tx1"/>
                                      </a:solidFill>
                                      <a:latin typeface="Cambria Math" panose="02040503050406030204" pitchFamily="18" charset="0"/>
                                    </a:rPr>
                                    <m:t>1</m:t>
                                  </m:r>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num>
                                    <m:den>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num>
                                    <m:den>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den>
                                  </m:f>
                                </m:e>
                              </m:d>
                            </m:e>
                            <m:sup>
                              <m:r>
                                <a:rPr lang="en-US" altLang="zh-CN" sz="1600" i="1" dirty="0">
                                  <a:solidFill>
                                    <a:schemeClr val="tx1"/>
                                  </a:solidFill>
                                  <a:latin typeface="Cambria Math" panose="02040503050406030204" pitchFamily="18" charset="0"/>
                                </a:rPr>
                                <m:t>2</m:t>
                              </m:r>
                            </m:sup>
                          </m:sSup>
                        </m:den>
                      </m:f>
                      <m:r>
                        <a:rPr lang="en-US" altLang="zh-CN" sz="1600" b="0" i="1" dirty="0" smtClean="0">
                          <a:solidFill>
                            <a:schemeClr val="tx1"/>
                          </a:solidFill>
                          <a:latin typeface="Cambria Math" panose="02040503050406030204" pitchFamily="18" charset="0"/>
                        </a:rPr>
                        <m:t>,  </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𝑃</m:t>
                          </m:r>
                        </m:e>
                        <m:sup>
                          <m:r>
                            <a:rPr lang="en-US" altLang="zh-CN" sz="1600" i="1" dirty="0">
                              <a:solidFill>
                                <a:schemeClr val="tx1"/>
                              </a:solidFill>
                              <a:latin typeface="Cambria Math" panose="02040503050406030204" pitchFamily="18" charset="0"/>
                            </a:rPr>
                            <m:t>22</m:t>
                          </m:r>
                        </m:sup>
                      </m:sSup>
                      <m:d>
                        <m:dPr>
                          <m:ctrlPr>
                            <a:rPr lang="en-US" altLang="zh-CN" sz="1600" i="1" dirty="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acc>
                                <m:accPr>
                                  <m:chr m:val="̃"/>
                                  <m:ctrlPr>
                                    <a:rPr lang="en-US" altLang="zh-CN" sz="1600" b="1" i="1" dirty="0">
                                      <a:solidFill>
                                        <a:schemeClr val="tx1"/>
                                      </a:solidFill>
                                      <a:latin typeface="Cambria Math" panose="02040503050406030204" pitchFamily="18" charset="0"/>
                                    </a:rPr>
                                  </m:ctrlPr>
                                </m:accPr>
                                <m:e>
                                  <m:r>
                                    <a:rPr lang="en-US" altLang="zh-CN" sz="1600" b="1" i="1" dirty="0">
                                      <a:solidFill>
                                        <a:schemeClr val="tx1"/>
                                      </a:solidFill>
                                      <a:latin typeface="Cambria Math" panose="02040503050406030204" pitchFamily="18" charset="0"/>
                                    </a:rPr>
                                    <m:t>𝒎</m:t>
                                  </m:r>
                                </m:e>
                              </m:acc>
                            </m:e>
                            <m:sup>
                              <m:r>
                                <a:rPr lang="en-US" altLang="zh-CN" sz="1600" b="1" i="1" dirty="0" smtClean="0">
                                  <a:solidFill>
                                    <a:schemeClr val="tx1"/>
                                  </a:solidFill>
                                  <a:latin typeface="Cambria Math" panose="02040503050406030204" pitchFamily="18" charset="0"/>
                                </a:rPr>
                                <m:t>′</m:t>
                              </m:r>
                            </m:sup>
                          </m:sSup>
                        </m:e>
                      </m:d>
                      <m:r>
                        <a:rPr lang="en-US" altLang="zh-CN" sz="1600" b="1"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𝒎</m:t>
                              </m:r>
                            </m:e>
                            <m:sup>
                              <m:r>
                                <a:rPr lang="en-US" altLang="zh-CN" sz="1600" b="1" i="1" dirty="0" smtClean="0">
                                  <a:solidFill>
                                    <a:schemeClr val="tx1"/>
                                  </a:solidFill>
                                  <a:latin typeface="Cambria Math" panose="02040503050406030204" pitchFamily="18" charset="0"/>
                                </a:rPr>
                                <m:t>′</m:t>
                              </m:r>
                            </m:sup>
                          </m:sSup>
                        </m:e>
                      </m:d>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cos</m:t>
                              </m:r>
                            </m:e>
                            <m:sup>
                              <m:r>
                                <a:rPr lang="en-US" altLang="zh-CN" sz="1600" i="1" dirty="0">
                                  <a:solidFill>
                                    <a:schemeClr val="tx1"/>
                                  </a:solidFill>
                                  <a:latin typeface="Cambria Math" panose="02040503050406030204" pitchFamily="18" charset="0"/>
                                </a:rPr>
                                <m:t>4</m:t>
                              </m:r>
                            </m:sup>
                          </m:sSup>
                        </m:fName>
                        <m:e>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𝑚</m:t>
                              </m:r>
                            </m:sub>
                            <m:sup>
                              <m:r>
                                <a:rPr lang="en-US" altLang="zh-CN" sz="1600" b="0" i="1" dirty="0" smtClean="0">
                                  <a:solidFill>
                                    <a:schemeClr val="tx1"/>
                                  </a:solidFill>
                                  <a:latin typeface="Cambria Math" panose="02040503050406030204" pitchFamily="18" charset="0"/>
                                </a:rPr>
                                <m:t>′</m:t>
                              </m:r>
                            </m:sup>
                          </m:sSubSup>
                        </m:e>
                      </m:func>
                      <m:r>
                        <a:rPr lang="en-US" altLang="zh-CN" sz="1600" b="0" i="1" dirty="0" smtClean="0">
                          <a:solidFill>
                            <a:schemeClr val="tx1"/>
                          </a:solidFill>
                          <a:latin typeface="Cambria Math" panose="02040503050406030204" pitchFamily="18" charset="0"/>
                        </a:rPr>
                        <m:t>,  </m:t>
                      </m:r>
                      <m:sSup>
                        <m:sSupPr>
                          <m:ctrlPr>
                            <a:rPr lang="en-US" altLang="zh-CN" sz="1600" b="1" i="1" dirty="0" smtClean="0">
                              <a:solidFill>
                                <a:schemeClr val="tx1"/>
                              </a:solidFill>
                              <a:latin typeface="Cambria Math" panose="02040503050406030204" pitchFamily="18" charset="0"/>
                            </a:rPr>
                          </m:ctrlPr>
                        </m:sSupPr>
                        <m:e>
                          <m:acc>
                            <m:accPr>
                              <m:chr m:val="̃"/>
                              <m:ctrlPr>
                                <a:rPr lang="en-US" altLang="zh-CN" sz="1600" b="1" i="1" dirty="0">
                                  <a:solidFill>
                                    <a:schemeClr val="tx1"/>
                                  </a:solidFill>
                                  <a:latin typeface="Cambria Math" panose="02040503050406030204" pitchFamily="18" charset="0"/>
                                </a:rPr>
                              </m:ctrlPr>
                            </m:accPr>
                            <m:e>
                              <m:r>
                                <a:rPr lang="en-US" altLang="zh-CN" sz="1600" b="1" i="1" dirty="0">
                                  <a:solidFill>
                                    <a:schemeClr val="tx1"/>
                                  </a:solidFill>
                                  <a:latin typeface="Cambria Math" panose="02040503050406030204" pitchFamily="18" charset="0"/>
                                </a:rPr>
                                <m:t>𝒎</m:t>
                              </m:r>
                            </m:e>
                          </m:acc>
                        </m:e>
                        <m:sup>
                          <m:r>
                            <a:rPr lang="en-US" altLang="zh-CN" sz="1600" b="1" i="1" dirty="0" smtClean="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d>
                        <m:dPr>
                          <m:ctrlPr>
                            <a:rPr lang="en-US" altLang="zh-CN" sz="1600" i="1" dirty="0">
                              <a:solidFill>
                                <a:schemeClr val="tx1"/>
                              </a:solidFill>
                              <a:latin typeface="Cambria Math" panose="02040503050406030204" pitchFamily="18" charset="0"/>
                            </a:rPr>
                          </m:ctrlPr>
                        </m:dPr>
                        <m:e>
                          <m:r>
                            <a:rPr lang="en-US" altLang="zh-CN" sz="1600" i="1" dirty="0">
                              <a:solidFill>
                                <a:schemeClr val="tx1"/>
                              </a:solidFill>
                              <a:latin typeface="Cambria Math" panose="02040503050406030204" pitchFamily="18" charset="0"/>
                            </a:rPr>
                            <m:t>−</m:t>
                          </m:r>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tan</m:t>
                              </m:r>
                            </m:fName>
                            <m:e>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𝑚</m:t>
                                  </m:r>
                                </m:sub>
                                <m:sup>
                                  <m:r>
                                    <a:rPr lang="en-US" altLang="zh-CN" sz="1600" b="0" i="1" dirty="0" smtClean="0">
                                      <a:solidFill>
                                        <a:schemeClr val="tx1"/>
                                      </a:solidFill>
                                      <a:latin typeface="Cambria Math" panose="02040503050406030204" pitchFamily="18" charset="0"/>
                                    </a:rPr>
                                    <m:t>′</m:t>
                                  </m:r>
                                </m:sup>
                              </m:sSubSup>
                            </m:e>
                          </m:func>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𝑚</m:t>
                                  </m:r>
                                </m:sub>
                                <m:sup>
                                  <m:r>
                                    <a:rPr lang="en-US" altLang="zh-CN" sz="1600" b="0" i="1" dirty="0" smtClean="0">
                                      <a:solidFill>
                                        <a:schemeClr val="tx1"/>
                                      </a:solidFill>
                                      <a:latin typeface="Cambria Math" panose="02040503050406030204" pitchFamily="18" charset="0"/>
                                    </a:rPr>
                                    <m:t>′</m:t>
                                  </m:r>
                                </m:sup>
                              </m:sSubSup>
                            </m:e>
                          </m:func>
                          <m:r>
                            <a:rPr lang="en-US" altLang="zh-CN" sz="1600" i="1" dirty="0">
                              <a:solidFill>
                                <a:schemeClr val="tx1"/>
                              </a:solidFill>
                              <a:latin typeface="Cambria Math" panose="02040503050406030204" pitchFamily="18" charset="0"/>
                            </a:rPr>
                            <m:t>,−</m:t>
                          </m:r>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tan</m:t>
                              </m:r>
                            </m:fName>
                            <m:e>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𝑚</m:t>
                                  </m:r>
                                </m:sub>
                                <m:sup>
                                  <m:r>
                                    <a:rPr lang="en-US" altLang="zh-CN" sz="1600" b="0" i="1" dirty="0" smtClean="0">
                                      <a:solidFill>
                                        <a:schemeClr val="tx1"/>
                                      </a:solidFill>
                                      <a:latin typeface="Cambria Math" panose="02040503050406030204" pitchFamily="18" charset="0"/>
                                    </a:rPr>
                                    <m:t>′</m:t>
                                  </m:r>
                                </m:sup>
                              </m:sSubSup>
                            </m:e>
                          </m:func>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𝑚</m:t>
                                  </m:r>
                                </m:sub>
                                <m:sup>
                                  <m:r>
                                    <a:rPr lang="en-US" altLang="zh-CN" sz="1600" b="0" i="1" dirty="0" smtClean="0">
                                      <a:solidFill>
                                        <a:schemeClr val="tx1"/>
                                      </a:solidFill>
                                      <a:latin typeface="Cambria Math" panose="02040503050406030204" pitchFamily="18" charset="0"/>
                                    </a:rPr>
                                    <m:t>′</m:t>
                                  </m:r>
                                </m:sup>
                              </m:sSubSup>
                            </m:e>
                          </m:func>
                        </m:e>
                      </m:d>
                    </m:oMath>
                  </m:oMathPara>
                </a14:m>
                <a:endParaRPr lang="en-US" altLang="zh-CN" sz="160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1600" i="1" dirty="0" smtClean="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𝒎</m:t>
                              </m:r>
                            </m:e>
                            <m:sup>
                              <m:r>
                                <a:rPr lang="en-US" altLang="zh-CN" sz="1600" b="1" i="1" dirty="0" smtClean="0">
                                  <a:solidFill>
                                    <a:schemeClr val="tx1"/>
                                  </a:solidFill>
                                  <a:latin typeface="Cambria Math" panose="02040503050406030204" pitchFamily="18" charset="0"/>
                                </a:rPr>
                                <m:t>′</m:t>
                              </m:r>
                            </m:sup>
                          </m:sSup>
                          <m:r>
                            <a:rPr lang="en-US" altLang="zh-CN" sz="1600" b="1" i="1" dirty="0" smtClean="0">
                              <a:solidFill>
                                <a:schemeClr val="tx1"/>
                              </a:solidFill>
                              <a:latin typeface="Cambria Math" panose="02040503050406030204" pitchFamily="18" charset="0"/>
                            </a:rPr>
                            <m:t>,</m:t>
                          </m:r>
                          <m:sSub>
                            <m:sSubPr>
                              <m:ctrlPr>
                                <a:rPr lang="en-US" altLang="zh-CN" sz="160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r>
                            <a:rPr lang="en-US" altLang="zh-CN" sz="1600" b="0" i="1" dirty="0" smtClean="0">
                              <a:solidFill>
                                <a:schemeClr val="tx1"/>
                              </a:solidFill>
                              <a:latin typeface="Cambria Math" panose="02040503050406030204" pitchFamily="18" charset="0"/>
                            </a:rPr>
                            <m:t>,</m:t>
                          </m:r>
                          <m:sSub>
                            <m:sSubPr>
                              <m:ctrlPr>
                                <a:rPr lang="en-US" altLang="zh-CN" sz="160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e>
                      </m:d>
                      <m:r>
                        <a:rPr lang="en-US" altLang="zh-CN" sz="1600" b="1"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𝜋</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Sub>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𝑦</m:t>
                                  </m:r>
                                </m:sub>
                              </m:sSub>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cos</m:t>
                                      </m:r>
                                    </m:e>
                                    <m:sup>
                                      <m:r>
                                        <a:rPr lang="en-US" altLang="zh-CN" sz="1600" i="1" dirty="0">
                                          <a:solidFill>
                                            <a:schemeClr val="tx1"/>
                                          </a:solidFill>
                                          <a:latin typeface="Cambria Math" panose="02040503050406030204" pitchFamily="18" charset="0"/>
                                        </a:rPr>
                                        <m:t>4</m:t>
                                      </m:r>
                                    </m:sup>
                                  </m:sSup>
                                </m:fName>
                                <m:e>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𝑚</m:t>
                                      </m:r>
                                    </m:sub>
                                  </m:sSub>
                                </m:e>
                              </m:func>
                              <m:d>
                                <m:dPr>
                                  <m:ctrlPr>
                                    <a:rPr lang="en-US" altLang="zh-CN" sz="1600" i="1" dirty="0">
                                      <a:solidFill>
                                        <a:schemeClr val="tx1"/>
                                      </a:solidFill>
                                      <a:latin typeface="Cambria Math" panose="02040503050406030204" pitchFamily="18" charset="0"/>
                                    </a:rPr>
                                  </m:ctrlPr>
                                </m:dPr>
                                <m:e>
                                  <m:r>
                                    <a:rPr lang="en-US" altLang="zh-CN" sz="1600" i="1" dirty="0">
                                      <a:solidFill>
                                        <a:schemeClr val="tx1"/>
                                      </a:solidFill>
                                      <a:latin typeface="Cambria Math" panose="02040503050406030204" pitchFamily="18" charset="0"/>
                                    </a:rPr>
                                    <m:t>1</m:t>
                                  </m:r>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num>
                                    <m:den>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num>
                                    <m:den>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den>
                                  </m:f>
                                </m:e>
                              </m:d>
                            </m:e>
                            <m:sup>
                              <m:r>
                                <a:rPr lang="en-US" altLang="zh-CN" sz="1600" i="1" dirty="0">
                                  <a:solidFill>
                                    <a:schemeClr val="tx1"/>
                                  </a:solidFill>
                                  <a:latin typeface="Cambria Math" panose="02040503050406030204" pitchFamily="18" charset="0"/>
                                </a:rPr>
                                <m:t>2</m:t>
                              </m:r>
                            </m:sup>
                          </m:sSup>
                        </m:den>
                      </m:f>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𝜋</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Sub>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𝑦</m:t>
                                  </m:r>
                                </m:sub>
                              </m:sSub>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cos</m:t>
                                      </m:r>
                                    </m:e>
                                    <m:sup>
                                      <m:r>
                                        <a:rPr lang="en-US" altLang="zh-CN" sz="1600" i="1" dirty="0">
                                          <a:solidFill>
                                            <a:schemeClr val="tx1"/>
                                          </a:solidFill>
                                          <a:latin typeface="Cambria Math" panose="02040503050406030204" pitchFamily="18" charset="0"/>
                                        </a:rPr>
                                        <m:t>4</m:t>
                                      </m:r>
                                    </m:sup>
                                  </m:sSup>
                                </m:fName>
                                <m:e>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𝑚</m:t>
                                      </m:r>
                                    </m:sub>
                                    <m:sup>
                                      <m:r>
                                        <a:rPr lang="en-US" altLang="zh-CN" sz="1600" b="0" i="1" dirty="0" smtClean="0">
                                          <a:solidFill>
                                            <a:schemeClr val="tx1"/>
                                          </a:solidFill>
                                          <a:latin typeface="Cambria Math" panose="02040503050406030204" pitchFamily="18" charset="0"/>
                                        </a:rPr>
                                        <m:t>′</m:t>
                                      </m:r>
                                    </m:sup>
                                  </m:sSubSup>
                                </m:e>
                              </m:func>
                              <m:d>
                                <m:dPr>
                                  <m:ctrlPr>
                                    <a:rPr lang="en-US" altLang="zh-CN" sz="1600" i="1" dirty="0">
                                      <a:solidFill>
                                        <a:schemeClr val="tx1"/>
                                      </a:solidFill>
                                      <a:latin typeface="Cambria Math" panose="02040503050406030204" pitchFamily="18" charset="0"/>
                                    </a:rPr>
                                  </m:ctrlPr>
                                </m:dPr>
                                <m:e>
                                  <m:r>
                                    <a:rPr lang="en-US" altLang="zh-CN" sz="1600" i="1" dirty="0">
                                      <a:solidFill>
                                        <a:schemeClr val="tx1"/>
                                      </a:solidFill>
                                      <a:latin typeface="Cambria Math" panose="02040503050406030204" pitchFamily="18" charset="0"/>
                                    </a:rPr>
                                    <m:t>1</m:t>
                                  </m:r>
                                  <m:r>
                                    <a:rPr lang="en-US" altLang="zh-CN" sz="1600" i="1" dirty="0">
                                      <a:solidFill>
                                        <a:schemeClr val="tx1"/>
                                      </a:solidFill>
                                      <a:latin typeface="Cambria Math" panose="02040503050406030204" pitchFamily="18" charset="0"/>
                                    </a:rPr>
                                    <m:t>+</m:t>
                                  </m:r>
                                  <m:func>
                                    <m:funcPr>
                                      <m:ctrlPr>
                                        <a:rPr lang="en-US" altLang="zh-CN" sz="1600" i="1" dirty="0">
                                          <a:solidFill>
                                            <a:schemeClr val="tx1"/>
                                          </a:solidFill>
                                          <a:latin typeface="Cambria Math" panose="02040503050406030204" pitchFamily="18" charset="0"/>
                                        </a:rPr>
                                      </m:ctrlPr>
                                    </m:funcPr>
                                    <m:fName>
                                      <m:sSup>
                                        <m:sSupPr>
                                          <m:ctrlPr>
                                            <a:rPr lang="en-US" altLang="zh-CN" sz="1600" b="0" i="1" dirty="0" smtClean="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tan</m:t>
                                          </m:r>
                                        </m:e>
                                        <m:sup>
                                          <m:r>
                                            <a:rPr lang="en-US" altLang="zh-CN" sz="1600" b="0" i="1" dirty="0" smtClean="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𝑚</m:t>
                                          </m:r>
                                        </m:sub>
                                        <m:sup>
                                          <m:r>
                                            <a:rPr lang="en-US" altLang="zh-CN" sz="1600" i="1" dirty="0">
                                              <a:solidFill>
                                                <a:schemeClr val="tx1"/>
                                              </a:solidFill>
                                              <a:latin typeface="Cambria Math" panose="02040503050406030204" pitchFamily="18" charset="0"/>
                                            </a:rPr>
                                            <m:t>′</m:t>
                                          </m:r>
                                        </m:sup>
                                      </m:sSubSup>
                                    </m:e>
                                  </m:func>
                                  <m:d>
                                    <m:dPr>
                                      <m:ctrlPr>
                                        <a:rPr lang="en-US" altLang="zh-CN" sz="1600" b="0" i="1" dirty="0" smtClean="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func>
                                            <m:funcPr>
                                              <m:ctrlPr>
                                                <a:rPr lang="en-US" altLang="zh-CN" sz="1600" i="1" dirty="0">
                                                  <a:solidFill>
                                                    <a:schemeClr val="tx1"/>
                                                  </a:solidFill>
                                                  <a:latin typeface="Cambria Math" panose="02040503050406030204" pitchFamily="18" charset="0"/>
                                                </a:rPr>
                                              </m:ctrlPr>
                                            </m:funcPr>
                                            <m:fName>
                                              <m:sSup>
                                                <m:sSupPr>
                                                  <m:ctrlPr>
                                                    <a:rPr lang="en-US" altLang="zh-CN" sz="1600" b="0" i="1" dirty="0" smtClean="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cos</m:t>
                                                  </m:r>
                                                </m:e>
                                                <m:sup>
                                                  <m:r>
                                                    <a:rPr lang="en-US" altLang="zh-CN" sz="1600" b="0" i="1" dirty="0" smtClean="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𝑚</m:t>
                                                  </m:r>
                                                </m:sub>
                                                <m:sup>
                                                  <m:r>
                                                    <a:rPr lang="en-US" altLang="zh-CN" sz="1600" i="1" dirty="0">
                                                      <a:solidFill>
                                                        <a:schemeClr val="tx1"/>
                                                      </a:solidFill>
                                                      <a:latin typeface="Cambria Math" panose="02040503050406030204" pitchFamily="18" charset="0"/>
                                                    </a:rPr>
                                                    <m:t>′</m:t>
                                                  </m:r>
                                                </m:sup>
                                              </m:sSubSup>
                                            </m:e>
                                          </m:func>
                                        </m:num>
                                        <m:den>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s</m:t>
                                                  </m:r>
                                                  <m:r>
                                                    <m:rPr>
                                                      <m:sty m:val="p"/>
                                                    </m:rPr>
                                                    <a:rPr lang="en-US" altLang="zh-CN" sz="1600" b="0" i="0" dirty="0" smtClean="0">
                                                      <a:solidFill>
                                                        <a:schemeClr val="tx1"/>
                                                      </a:solidFill>
                                                      <a:latin typeface="Cambria Math" panose="02040503050406030204" pitchFamily="18" charset="0"/>
                                                    </a:rPr>
                                                    <m:t>in</m:t>
                                                  </m:r>
                                                </m:e>
                                                <m:sup>
                                                  <m:r>
                                                    <a:rPr lang="en-US" altLang="zh-CN" sz="1600" i="1" dirty="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𝑚</m:t>
                                                  </m:r>
                                                </m:sub>
                                                <m:sup>
                                                  <m:r>
                                                    <a:rPr lang="en-US" altLang="zh-CN" sz="1600" i="1" dirty="0">
                                                      <a:solidFill>
                                                        <a:schemeClr val="tx1"/>
                                                      </a:solidFill>
                                                      <a:latin typeface="Cambria Math" panose="02040503050406030204" pitchFamily="18" charset="0"/>
                                                    </a:rPr>
                                                    <m:t>′</m:t>
                                                  </m:r>
                                                </m:sup>
                                              </m:sSubSup>
                                            </m:e>
                                          </m:func>
                                        </m:num>
                                        <m:den>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den>
                                      </m:f>
                                    </m:e>
                                  </m:d>
                                </m:e>
                              </m:d>
                            </m:e>
                            <m:sup>
                              <m:r>
                                <a:rPr lang="en-US" altLang="zh-CN" sz="1600" i="1" dirty="0">
                                  <a:solidFill>
                                    <a:schemeClr val="tx1"/>
                                  </a:solidFill>
                                  <a:latin typeface="Cambria Math" panose="02040503050406030204" pitchFamily="18" charset="0"/>
                                </a:rPr>
                                <m:t>2</m:t>
                              </m:r>
                            </m:sup>
                          </m:sSup>
                        </m:den>
                      </m:f>
                    </m:oMath>
                  </m:oMathPara>
                </a14:m>
                <a:endParaRPr lang="en-US" altLang="zh-CN" sz="1600" dirty="0">
                  <a:solidFill>
                    <a:schemeClr val="tx1"/>
                  </a:solidFill>
                  <a:latin typeface="Cambria Math" panose="02040503050406030204" pitchFamily="18" charset="0"/>
                </a:endParaRPr>
              </a:p>
            </p:txBody>
          </p:sp>
        </mc:Choice>
        <mc:Fallback xmlns="">
          <p:sp>
            <p:nvSpPr>
              <p:cNvPr id="4" name="矩形 3">
                <a:extLst>
                  <a:ext uri="{FF2B5EF4-FFF2-40B4-BE49-F238E27FC236}">
                    <a16:creationId xmlns:a16="http://schemas.microsoft.com/office/drawing/2014/main" id="{399553E0-0DE9-97AF-E534-DDD0F5C73371}"/>
                  </a:ext>
                </a:extLst>
              </p:cNvPr>
              <p:cNvSpPr>
                <a:spLocks noRot="1" noChangeAspect="1" noMove="1" noResize="1" noEditPoints="1" noAdjustHandles="1" noChangeArrowheads="1" noChangeShapeType="1" noTextEdit="1"/>
              </p:cNvSpPr>
              <p:nvPr/>
            </p:nvSpPr>
            <p:spPr>
              <a:xfrm>
                <a:off x="478709" y="1158658"/>
                <a:ext cx="11208075" cy="5192038"/>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930580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4EE13-D236-BA5E-CFCC-B68EE29CB9D6}"/>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56906375-78EC-DEAE-CE58-C0F64511C089}"/>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伸缩不变性 </a:t>
                </a:r>
                <a:r>
                  <a:rPr lang="en-US" altLang="zh-CN" dirty="0"/>
                  <a:t>—— </a:t>
                </a:r>
                <a14:m>
                  <m:oMath xmlns:m="http://schemas.openxmlformats.org/officeDocument/2006/math">
                    <m:r>
                      <m:rPr>
                        <m:sty m:val="p"/>
                      </m:rPr>
                      <a:rPr lang="en-US" altLang="zh-CN" b="0" i="0" dirty="0" smtClean="0">
                        <a:solidFill>
                          <a:schemeClr val="tx1"/>
                        </a:solidFill>
                        <a:latin typeface="Cambria Math" panose="02040503050406030204" pitchFamily="18" charset="0"/>
                      </a:rPr>
                      <m:t>Λ</m:t>
                    </m:r>
                  </m:oMath>
                </a14:m>
                <a:r>
                  <a:rPr lang="zh-CN" altLang="en-US" dirty="0"/>
                  <a:t>函数</a:t>
                </a:r>
                <a:endParaRPr lang="en-US" altLang="zh-CN" dirty="0"/>
              </a:p>
            </p:txBody>
          </p:sp>
        </mc:Choice>
        <mc:Fallback xmlns="">
          <p:sp>
            <p:nvSpPr>
              <p:cNvPr id="13" name="标题 2">
                <a:extLst>
                  <a:ext uri="{FF2B5EF4-FFF2-40B4-BE49-F238E27FC236}">
                    <a16:creationId xmlns:a16="http://schemas.microsoft.com/office/drawing/2014/main" id="{56906375-78EC-DEAE-CE58-C0F64511C089}"/>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017" b="-8475"/>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4AFB86D0-667B-35A8-27BB-D451FA36A729}"/>
              </a:ext>
            </a:extLst>
          </p:cNvPr>
          <p:cNvSpPr/>
          <p:nvPr/>
        </p:nvSpPr>
        <p:spPr>
          <a:xfrm>
            <a:off x="631109" y="1329847"/>
            <a:ext cx="11151707" cy="5192038"/>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AE5E0F47-9B13-F667-82F2-F27F72B31305}"/>
                  </a:ext>
                </a:extLst>
              </p:cNvPr>
              <p:cNvSpPr/>
              <p:nvPr/>
            </p:nvSpPr>
            <p:spPr>
              <a:xfrm>
                <a:off x="478709" y="1158658"/>
                <a:ext cx="11151707" cy="519203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p>
                      <m:sSupPr>
                        <m:ctrlPr>
                          <a:rPr lang="en-US" altLang="zh-CN" sz="1600" i="1" dirty="0" smtClean="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P</m:t>
                        </m:r>
                      </m:e>
                      <m:sup>
                        <m:r>
                          <a:rPr lang="en-US" altLang="zh-CN" sz="1600" dirty="0">
                            <a:solidFill>
                              <a:schemeClr val="tx1"/>
                            </a:solidFill>
                            <a:latin typeface="Cambria Math" panose="02040503050406030204" pitchFamily="18" charset="0"/>
                          </a:rPr>
                          <m:t>22</m:t>
                        </m:r>
                      </m:sup>
                    </m:sSup>
                    <m:d>
                      <m:dPr>
                        <m:ctrlPr>
                          <a:rPr lang="en-US" altLang="zh-CN" sz="1600"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𝑚</m:t>
                                </m:r>
                              </m:e>
                            </m:acc>
                          </m:e>
                          <m:sub>
                            <m:r>
                              <m:rPr>
                                <m:sty m:val="p"/>
                              </m:rPr>
                              <a:rPr lang="en-US" altLang="zh-CN" sz="1600" dirty="0">
                                <a:solidFill>
                                  <a:schemeClr val="tx1"/>
                                </a:solidFill>
                                <a:latin typeface="Cambria Math" panose="02040503050406030204" pitchFamily="18" charset="0"/>
                              </a:rPr>
                              <m:t>x</m:t>
                            </m:r>
                          </m:sub>
                          <m:sup>
                            <m:r>
                              <a:rPr lang="en-US" altLang="zh-CN" sz="1600" dirty="0">
                                <a:solidFill>
                                  <a:schemeClr val="tx1"/>
                                </a:solidFill>
                                <a:latin typeface="Cambria Math" panose="02040503050406030204" pitchFamily="18" charset="0"/>
                              </a:rPr>
                              <m:t>′</m:t>
                            </m:r>
                          </m:sup>
                        </m:sSubSup>
                        <m:r>
                          <a:rPr lang="en-US" altLang="zh-CN" sz="1600"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m:rPr>
                                    <m:sty m:val="p"/>
                                  </m:rPr>
                                  <a:rPr lang="en-US" altLang="zh-CN" sz="1600" dirty="0">
                                    <a:solidFill>
                                      <a:schemeClr val="tx1"/>
                                    </a:solidFill>
                                    <a:latin typeface="Cambria Math" panose="02040503050406030204" pitchFamily="18" charset="0"/>
                                  </a:rPr>
                                  <m:t>m</m:t>
                                </m:r>
                              </m:e>
                            </m:acc>
                          </m:e>
                          <m:sub>
                            <m:r>
                              <a:rPr lang="en-US" altLang="zh-CN" sz="1600" i="1" dirty="0">
                                <a:solidFill>
                                  <a:schemeClr val="tx1"/>
                                </a:solidFill>
                                <a:latin typeface="Cambria Math" panose="02040503050406030204" pitchFamily="18" charset="0"/>
                              </a:rPr>
                              <m:t>𝑧</m:t>
                            </m:r>
                          </m:sub>
                          <m:sup>
                            <m:r>
                              <a:rPr lang="en-US" altLang="zh-CN" sz="1600" dirty="0">
                                <a:solidFill>
                                  <a:schemeClr val="tx1"/>
                                </a:solidFill>
                                <a:latin typeface="Cambria Math" panose="02040503050406030204" pitchFamily="18" charset="0"/>
                              </a:rPr>
                              <m:t>′</m:t>
                            </m:r>
                          </m:sup>
                        </m:sSubSup>
                        <m:r>
                          <a:rPr lang="en-US" altLang="zh-CN" sz="1600"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𝛼</m:t>
                        </m:r>
                      </m:e>
                    </m:d>
                    <m:r>
                      <a:rPr lang="zh-CN" altLang="en-US" sz="1600" i="1" dirty="0">
                        <a:solidFill>
                          <a:schemeClr val="tx1"/>
                        </a:solidFill>
                        <a:latin typeface="Cambria Math" panose="02040503050406030204" pitchFamily="18" charset="0"/>
                      </a:rPr>
                      <m:t>满足伸缩不变性，这隐含着由其推导出的</m:t>
                    </m:r>
                    <m:r>
                      <m:rPr>
                        <m:sty m:val="p"/>
                      </m:rPr>
                      <a:rPr lang="en-US" altLang="zh-CN" sz="1600" b="0" i="0" dirty="0" smtClean="0">
                        <a:solidFill>
                          <a:schemeClr val="tx1"/>
                        </a:solidFill>
                        <a:latin typeface="Cambria Math" panose="02040503050406030204" pitchFamily="18" charset="0"/>
                      </a:rPr>
                      <m:t>Λ</m:t>
                    </m:r>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𝒗</m:t>
                        </m:r>
                      </m:e>
                    </m:d>
                    <m:r>
                      <a:rPr lang="zh-CN" altLang="en-US" sz="1600" b="1" i="1" dirty="0">
                        <a:solidFill>
                          <a:schemeClr val="tx1"/>
                        </a:solidFill>
                        <a:latin typeface="Cambria Math" panose="02040503050406030204" pitchFamily="18" charset="0"/>
                      </a:rPr>
                      <m:t>也</m:t>
                    </m:r>
                    <m:r>
                      <a:rPr lang="zh-CN" altLang="en-US" sz="1600" b="1" i="1" dirty="0" smtClean="0">
                        <a:solidFill>
                          <a:schemeClr val="tx1"/>
                        </a:solidFill>
                        <a:latin typeface="Cambria Math" panose="02040503050406030204" pitchFamily="18" charset="0"/>
                      </a:rPr>
                      <m:t>满足</m:t>
                    </m:r>
                    <m:r>
                      <a:rPr lang="zh-CN" altLang="en-US" sz="1600" b="1" i="1" dirty="0">
                        <a:solidFill>
                          <a:schemeClr val="tx1"/>
                        </a:solidFill>
                        <a:latin typeface="Cambria Math" panose="02040503050406030204" pitchFamily="18" charset="0"/>
                      </a:rPr>
                      <m:t>伸缩不变</m:t>
                    </m:r>
                    <m:r>
                      <a:rPr lang="zh-CN" altLang="en-US" sz="1600" b="1" i="1" dirty="0" smtClean="0">
                        <a:solidFill>
                          <a:schemeClr val="tx1"/>
                        </a:solidFill>
                        <a:latin typeface="Cambria Math" panose="02040503050406030204" pitchFamily="18" charset="0"/>
                      </a:rPr>
                      <m:t>性</m:t>
                    </m:r>
                  </m:oMath>
                </a14:m>
                <a:r>
                  <a:rPr lang="zh-CN" altLang="en-US" sz="1600" b="1" dirty="0">
                    <a:solidFill>
                      <a:schemeClr val="tx1"/>
                    </a:solidFill>
                    <a:latin typeface="Cambria Math" panose="02040503050406030204" pitchFamily="18" charset="0"/>
                  </a:rPr>
                  <a:t>。</a:t>
                </a:r>
                <a:endParaRPr lang="en-US" altLang="zh-CN" sz="1600" b="1" dirty="0">
                  <a:solidFill>
                    <a:schemeClr val="tx1"/>
                  </a:solidFill>
                  <a:latin typeface="Cambria Math" panose="02040503050406030204" pitchFamily="18" charset="0"/>
                </a:endParaRPr>
              </a:p>
              <a:p>
                <a:pPr algn="ctr"/>
                <a:r>
                  <a:rPr lang="zh-CN" altLang="en-US" sz="1600" dirty="0">
                    <a:solidFill>
                      <a:schemeClr val="tx1"/>
                    </a:solidFill>
                    <a:latin typeface="Cambria Math" panose="02040503050406030204" pitchFamily="18" charset="0"/>
                  </a:rPr>
                  <a:t>同时对光线与微观结构进行拉伸</a:t>
                </a:r>
                <a:r>
                  <a:rPr lang="en-US" altLang="zh-CN" sz="1600" dirty="0">
                    <a:solidFill>
                      <a:schemeClr val="tx1"/>
                    </a:solidFill>
                    <a:latin typeface="Cambria Math" panose="02040503050406030204" pitchFamily="18" charset="0"/>
                  </a:rPr>
                  <a:t>/</a:t>
                </a:r>
                <a:r>
                  <a:rPr lang="zh-CN" altLang="en-US" sz="1600" dirty="0">
                    <a:solidFill>
                      <a:schemeClr val="tx1"/>
                    </a:solidFill>
                    <a:latin typeface="Cambria Math" panose="02040503050406030204" pitchFamily="18" charset="0"/>
                  </a:rPr>
                  <a:t>收缩，光线的遮挡关系并没有改变。</a:t>
                </a:r>
                <a:endParaRPr lang="en-US" altLang="zh-CN" sz="1600" b="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m:rPr>
                          <m:nor/>
                        </m:rPr>
                        <a:rPr lang="zh-CN" altLang="en-US" sz="1600" dirty="0">
                          <a:solidFill>
                            <a:schemeClr val="tx1"/>
                          </a:solidFill>
                          <a:latin typeface="Cambria Math" panose="02040503050406030204" pitchFamily="18" charset="0"/>
                        </a:rPr>
                        <m:t>对微面结构拉伸</m:t>
                      </m:r>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𝛼</m:t>
                          </m:r>
                        </m:den>
                      </m:f>
                      <m:r>
                        <m:rPr>
                          <m:nor/>
                        </m:rPr>
                        <a:rPr lang="zh-CN" altLang="en-US" sz="1600" dirty="0">
                          <a:solidFill>
                            <a:schemeClr val="tx1"/>
                          </a:solidFill>
                          <a:latin typeface="Cambria Math" panose="02040503050406030204" pitchFamily="18" charset="0"/>
                        </a:rPr>
                        <m:t>倍，也要对光线拉伸</m:t>
                      </m:r>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𝛼</m:t>
                          </m:r>
                        </m:den>
                      </m:f>
                      <m:r>
                        <m:rPr>
                          <m:nor/>
                        </m:rPr>
                        <a:rPr lang="zh-CN" altLang="en-US" sz="1600" dirty="0">
                          <a:solidFill>
                            <a:schemeClr val="tx1"/>
                          </a:solidFill>
                          <a:latin typeface="Cambria Math" panose="02040503050406030204" pitchFamily="18" charset="0"/>
                        </a:rPr>
                        <m:t>倍，实际上是对光线斜率收缩</m:t>
                      </m:r>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𝛼</m:t>
                          </m:r>
                        </m:den>
                      </m:f>
                      <m:r>
                        <m:rPr>
                          <m:nor/>
                        </m:rPr>
                        <a:rPr lang="zh-CN" altLang="en-US" sz="1600" dirty="0">
                          <a:solidFill>
                            <a:schemeClr val="tx1"/>
                          </a:solidFill>
                          <a:latin typeface="Cambria Math" panose="02040503050406030204" pitchFamily="18" charset="0"/>
                        </a:rPr>
                        <m:t>倍</m:t>
                      </m:r>
                      <m:r>
                        <a:rPr lang="zh-CN" altLang="en-US" sz="1600" i="1" dirty="0">
                          <a:solidFill>
                            <a:schemeClr val="tx1"/>
                          </a:solidFill>
                          <a:latin typeface="Cambria Math" panose="02040503050406030204" pitchFamily="18" charset="0"/>
                        </a:rPr>
                        <m:t>，也就是拉伸</m:t>
                      </m:r>
                      <m:r>
                        <m:rPr>
                          <m:sty m:val="p"/>
                        </m:rPr>
                        <a:rPr lang="en-US" altLang="zh-CN" sz="1600" b="0" i="1" dirty="0" smtClean="0">
                          <a:solidFill>
                            <a:schemeClr val="tx1"/>
                          </a:solidFill>
                          <a:latin typeface="Cambria Math" panose="02040503050406030204" pitchFamily="18" charset="0"/>
                        </a:rPr>
                        <m:t>α</m:t>
                      </m:r>
                      <m:r>
                        <a:rPr lang="zh-CN" altLang="en-US" sz="1600" i="1" dirty="0">
                          <a:solidFill>
                            <a:schemeClr val="tx1"/>
                          </a:solidFill>
                          <a:latin typeface="Cambria Math" panose="02040503050406030204" pitchFamily="18" charset="0"/>
                        </a:rPr>
                        <m:t>倍</m:t>
                      </m:r>
                      <m:r>
                        <m:rPr>
                          <m:nor/>
                        </m:rPr>
                        <a:rPr lang="zh-CN" altLang="en-US" sz="1600" dirty="0">
                          <a:solidFill>
                            <a:schemeClr val="tx1"/>
                          </a:solidFill>
                          <a:latin typeface="Cambria Math" panose="02040503050406030204" pitchFamily="18" charset="0"/>
                        </a:rPr>
                        <m:t>。</m:t>
                      </m:r>
                    </m:oMath>
                  </m:oMathPara>
                </a14:m>
                <a:endParaRPr lang="en-US" altLang="zh-CN" sz="160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1600" i="1" dirty="0" smtClean="0">
                          <a:solidFill>
                            <a:schemeClr val="tx1"/>
                          </a:solidFill>
                          <a:latin typeface="Cambria Math" panose="02040503050406030204" pitchFamily="18" charset="0"/>
                        </a:rPr>
                        <m:t>拉伸前</m:t>
                      </m:r>
                      <m:r>
                        <a:rPr lang="zh-CN" altLang="en-US" sz="1600" i="1" dirty="0">
                          <a:solidFill>
                            <a:schemeClr val="tx1"/>
                          </a:solidFill>
                          <a:latin typeface="Cambria Math" panose="02040503050406030204" pitchFamily="18" charset="0"/>
                        </a:rPr>
                        <m:t>光线</m:t>
                      </m:r>
                      <m:r>
                        <a:rPr lang="en-US" altLang="zh-CN" sz="1600" b="1" i="1" dirty="0" smtClean="0">
                          <a:solidFill>
                            <a:schemeClr val="tx1"/>
                          </a:solidFill>
                          <a:latin typeface="Cambria Math" panose="02040503050406030204" pitchFamily="18" charset="0"/>
                        </a:rPr>
                        <m:t>𝒗</m:t>
                      </m:r>
                      <m:r>
                        <a:rPr lang="zh-CN" altLang="en-US" sz="1600" b="1" i="1" dirty="0">
                          <a:solidFill>
                            <a:schemeClr val="tx1"/>
                          </a:solidFill>
                          <a:latin typeface="Cambria Math" panose="02040503050406030204" pitchFamily="18" charset="0"/>
                        </a:rPr>
                        <m:t>与</m:t>
                      </m:r>
                      <m:r>
                        <a:rPr lang="zh-CN" altLang="en-US" sz="1600" b="1" i="1" dirty="0" smtClean="0">
                          <a:solidFill>
                            <a:schemeClr val="tx1"/>
                          </a:solidFill>
                          <a:latin typeface="Cambria Math" panose="02040503050406030204" pitchFamily="18" charset="0"/>
                        </a:rPr>
                        <m:t>拉伸后</m:t>
                      </m:r>
                      <m:r>
                        <a:rPr lang="zh-CN" altLang="en-US" sz="1600" b="1" i="1" dirty="0">
                          <a:solidFill>
                            <a:schemeClr val="tx1"/>
                          </a:solidFill>
                          <a:latin typeface="Cambria Math" panose="02040503050406030204" pitchFamily="18" charset="0"/>
                        </a:rPr>
                        <m:t>光线</m:t>
                      </m:r>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𝒗</m:t>
                          </m:r>
                        </m:e>
                        <m:sup>
                          <m:r>
                            <a:rPr lang="en-US" altLang="zh-CN" sz="1600" b="1" i="1" dirty="0" smtClean="0">
                              <a:solidFill>
                                <a:schemeClr val="tx1"/>
                              </a:solidFill>
                              <a:latin typeface="Cambria Math" panose="02040503050406030204" pitchFamily="18" charset="0"/>
                            </a:rPr>
                            <m:t>′</m:t>
                          </m:r>
                        </m:sup>
                      </m:sSup>
                      <m:r>
                        <a:rPr lang="zh-CN" altLang="en-US" sz="1600" i="1" dirty="0">
                          <a:solidFill>
                            <a:schemeClr val="tx1"/>
                          </a:solidFill>
                          <a:latin typeface="Cambria Math" panose="02040503050406030204" pitchFamily="18" charset="0"/>
                        </a:rPr>
                        <m:t>是</m:t>
                      </m:r>
                      <m:r>
                        <a:rPr lang="zh-CN" altLang="en-US" sz="1600" i="1" dirty="0" smtClean="0">
                          <a:solidFill>
                            <a:schemeClr val="tx1"/>
                          </a:solidFill>
                          <a:latin typeface="Cambria Math" panose="02040503050406030204" pitchFamily="18" charset="0"/>
                        </a:rPr>
                        <m:t>对应的</m:t>
                      </m:r>
                    </m:oMath>
                  </m:oMathPara>
                </a14:m>
                <a:endParaRPr lang="en-US" altLang="zh-CN" sz="160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Sup>
                        <m:sSubSupPr>
                          <m:ctrlPr>
                            <a:rPr lang="en-US" altLang="zh-CN" sz="1600" b="0" i="1" dirty="0" smtClean="0">
                              <a:solidFill>
                                <a:schemeClr val="tx1"/>
                              </a:solidFill>
                              <a:latin typeface="Cambria Math" panose="02040503050406030204" pitchFamily="18" charset="0"/>
                            </a:rPr>
                          </m:ctrlPr>
                        </m:sSubSupPr>
                        <m:e>
                          <m:r>
                            <m:rPr>
                              <m:sty m:val="p"/>
                            </m:rPr>
                            <a:rPr lang="en-US" altLang="zh-CN" sz="1600" i="1" dirty="0">
                              <a:solidFill>
                                <a:schemeClr val="tx1"/>
                              </a:solidFill>
                              <a:latin typeface="Cambria Math" panose="02040503050406030204" pitchFamily="18" charset="0"/>
                            </a:rPr>
                            <m:t>G</m:t>
                          </m:r>
                        </m:e>
                        <m:sub>
                          <m:r>
                            <a:rPr lang="en-US" altLang="zh-CN" sz="1600" b="0" i="1" dirty="0" smtClean="0">
                              <a:solidFill>
                                <a:schemeClr val="tx1"/>
                              </a:solidFill>
                              <a:latin typeface="Cambria Math" panose="02040503050406030204" pitchFamily="18" charset="0"/>
                            </a:rPr>
                            <m:t>1</m:t>
                          </m:r>
                        </m:sub>
                        <m:sup>
                          <m:r>
                            <a:rPr lang="en-US" altLang="zh-CN" sz="1600" b="0" i="1" dirty="0" smtClean="0">
                              <a:solidFill>
                                <a:schemeClr val="tx1"/>
                              </a:solidFill>
                              <a:latin typeface="Cambria Math" panose="02040503050406030204" pitchFamily="18" charset="0"/>
                            </a:rPr>
                            <m:t>′</m:t>
                          </m:r>
                        </m:sup>
                      </m:sSubSup>
                      <m:d>
                        <m:dPr>
                          <m:ctrlPr>
                            <a:rPr lang="en-US" altLang="zh-CN" sz="1600" b="0" i="1" dirty="0" smtClean="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𝒗</m:t>
                              </m:r>
                            </m:e>
                            <m:sup>
                              <m:r>
                                <a:rPr lang="en-US" altLang="zh-CN" sz="1600" b="1" i="1" dirty="0" smtClean="0">
                                  <a:solidFill>
                                    <a:schemeClr val="tx1"/>
                                  </a:solidFill>
                                  <a:latin typeface="Cambria Math" panose="02040503050406030204" pitchFamily="18" charset="0"/>
                                </a:rPr>
                                <m:t>′</m:t>
                              </m:r>
                            </m:sup>
                          </m:sSup>
                          <m:r>
                            <a:rPr lang="en-US" altLang="zh-CN" sz="1600" b="1" i="1" dirty="0" smtClean="0">
                              <a:solidFill>
                                <a:schemeClr val="tx1"/>
                              </a:solidFill>
                              <a:latin typeface="Cambria Math" panose="02040503050406030204" pitchFamily="18" charset="0"/>
                            </a:rPr>
                            <m:t>,</m:t>
                          </m:r>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𝒎</m:t>
                              </m:r>
                            </m:e>
                            <m:sup>
                              <m:r>
                                <a:rPr lang="en-US" altLang="zh-CN" sz="1600" b="1" i="1" dirty="0" smtClean="0">
                                  <a:solidFill>
                                    <a:schemeClr val="tx1"/>
                                  </a:solidFill>
                                  <a:latin typeface="Cambria Math" panose="02040503050406030204" pitchFamily="18" charset="0"/>
                                </a:rPr>
                                <m:t>′</m:t>
                              </m:r>
                            </m:sup>
                          </m:sSup>
                        </m:e>
                      </m:d>
                      <m:r>
                        <a:rPr lang="en-US" altLang="zh-CN" sz="1600" b="0" i="1" dirty="0" smtClean="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m:rPr>
                              <m:sty m:val="p"/>
                            </m:rPr>
                            <a:rPr lang="en-US" altLang="zh-CN" sz="1600" i="1" dirty="0">
                              <a:solidFill>
                                <a:schemeClr val="tx1"/>
                              </a:solidFill>
                              <a:latin typeface="Cambria Math" panose="02040503050406030204" pitchFamily="18" charset="0"/>
                            </a:rPr>
                            <m:t>G</m:t>
                          </m:r>
                        </m:e>
                        <m:sub>
                          <m:r>
                            <a:rPr lang="en-US" altLang="zh-CN" sz="1600" b="0" i="1" dirty="0" smtClean="0">
                              <a:solidFill>
                                <a:schemeClr val="tx1"/>
                              </a:solidFill>
                              <a:latin typeface="Cambria Math" panose="02040503050406030204" pitchFamily="18" charset="0"/>
                            </a:rPr>
                            <m:t>1</m:t>
                          </m:r>
                        </m:sub>
                      </m:sSub>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𝒗</m:t>
                          </m:r>
                          <m:r>
                            <a:rPr lang="en-US" altLang="zh-CN" sz="1600" b="1" i="1" dirty="0" smtClean="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  </m:t>
                      </m:r>
                      <m:sSubSup>
                        <m:sSubSupPr>
                          <m:ctrlPr>
                            <a:rPr lang="en-US" altLang="zh-CN" sz="1600" b="0" i="1" dirty="0" smtClean="0">
                              <a:solidFill>
                                <a:schemeClr val="tx1"/>
                              </a:solidFill>
                              <a:latin typeface="Cambria Math" panose="02040503050406030204" pitchFamily="18" charset="0"/>
                            </a:rPr>
                          </m:ctrlPr>
                        </m:sSubSupPr>
                        <m:e>
                          <m:r>
                            <a:rPr lang="en-US" altLang="zh-CN" sz="1600" b="0" i="1" dirty="0" smtClean="0">
                              <a:solidFill>
                                <a:schemeClr val="tx1"/>
                              </a:solidFill>
                              <a:latin typeface="Cambria Math" panose="02040503050406030204" pitchFamily="18" charset="0"/>
                            </a:rPr>
                            <m:t>𝐺</m:t>
                          </m:r>
                        </m:e>
                        <m:sub>
                          <m:r>
                            <a:rPr lang="en-US" altLang="zh-CN" sz="1600" b="0" i="1" dirty="0" smtClean="0">
                              <a:solidFill>
                                <a:schemeClr val="tx1"/>
                              </a:solidFill>
                              <a:latin typeface="Cambria Math" panose="02040503050406030204" pitchFamily="18" charset="0"/>
                            </a:rPr>
                            <m:t>2</m:t>
                          </m:r>
                        </m:sub>
                        <m:sup>
                          <m:r>
                            <a:rPr lang="en-US" altLang="zh-CN" sz="1600" b="0" i="1" dirty="0" smtClean="0">
                              <a:solidFill>
                                <a:schemeClr val="tx1"/>
                              </a:solidFill>
                              <a:latin typeface="Cambria Math" panose="02040503050406030204" pitchFamily="18" charset="0"/>
                            </a:rPr>
                            <m:t>′</m:t>
                          </m:r>
                        </m:sup>
                      </m:sSubSup>
                      <m:d>
                        <m:dPr>
                          <m:ctrlPr>
                            <a:rPr lang="en-US" altLang="zh-CN" sz="1600" b="0" i="1" dirty="0" smtClean="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𝒊</m:t>
                              </m:r>
                            </m:e>
                            <m:sup>
                              <m:r>
                                <a:rPr lang="en-US" altLang="zh-CN" sz="1600" b="1" i="1" dirty="0" smtClean="0">
                                  <a:solidFill>
                                    <a:schemeClr val="tx1"/>
                                  </a:solidFill>
                                  <a:latin typeface="Cambria Math" panose="02040503050406030204" pitchFamily="18" charset="0"/>
                                </a:rPr>
                                <m:t>′</m:t>
                              </m:r>
                            </m:sup>
                          </m:sSup>
                          <m:r>
                            <a:rPr lang="en-US" altLang="zh-CN" sz="1600" b="1" i="1" dirty="0" smtClean="0">
                              <a:solidFill>
                                <a:schemeClr val="tx1"/>
                              </a:solidFill>
                              <a:latin typeface="Cambria Math" panose="02040503050406030204" pitchFamily="18" charset="0"/>
                            </a:rPr>
                            <m:t>→</m:t>
                          </m:r>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𝒐</m:t>
                              </m:r>
                            </m:e>
                            <m:sup>
                              <m:r>
                                <a:rPr lang="en-US" altLang="zh-CN" sz="1600" b="1" i="1" dirty="0" smtClean="0">
                                  <a:solidFill>
                                    <a:schemeClr val="tx1"/>
                                  </a:solidFill>
                                  <a:latin typeface="Cambria Math" panose="02040503050406030204" pitchFamily="18" charset="0"/>
                                </a:rPr>
                                <m:t>′</m:t>
                              </m:r>
                            </m:sup>
                          </m:sSup>
                          <m:r>
                            <a:rPr lang="en-US" altLang="zh-CN" sz="1600" b="1" i="1" dirty="0" smtClean="0">
                              <a:solidFill>
                                <a:schemeClr val="tx1"/>
                              </a:solidFill>
                              <a:latin typeface="Cambria Math" panose="02040503050406030204" pitchFamily="18" charset="0"/>
                            </a:rPr>
                            <m:t>,</m:t>
                          </m:r>
                          <m:sSup>
                            <m:sSupPr>
                              <m:ctrlPr>
                                <a:rPr lang="en-US" altLang="zh-CN" sz="1600" b="0"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𝒎</m:t>
                              </m:r>
                            </m:e>
                            <m:sup>
                              <m:r>
                                <a:rPr lang="en-US" altLang="zh-CN" sz="1600" b="0" i="1" dirty="0" smtClean="0">
                                  <a:solidFill>
                                    <a:schemeClr val="tx1"/>
                                  </a:solidFill>
                                  <a:latin typeface="Cambria Math" panose="02040503050406030204" pitchFamily="18" charset="0"/>
                                </a:rPr>
                                <m:t>′</m:t>
                              </m:r>
                            </m:sup>
                          </m:sSup>
                        </m:e>
                      </m:d>
                      <m:r>
                        <a:rPr lang="en-US" altLang="zh-CN" sz="1600" b="0" i="1" dirty="0" smtClean="0">
                          <a:solidFill>
                            <a:schemeClr val="tx1"/>
                          </a:solidFill>
                          <a:latin typeface="Cambria Math" panose="02040503050406030204" pitchFamily="18" charset="0"/>
                        </a:rPr>
                        <m:t>=</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𝐺</m:t>
                          </m:r>
                        </m:e>
                        <m:sub>
                          <m:r>
                            <a:rPr lang="en-US" altLang="zh-CN" sz="1600" b="0" i="1" dirty="0" smtClean="0">
                              <a:solidFill>
                                <a:schemeClr val="tx1"/>
                              </a:solidFill>
                              <a:latin typeface="Cambria Math" panose="02040503050406030204" pitchFamily="18" charset="0"/>
                            </a:rPr>
                            <m:t>2</m:t>
                          </m:r>
                        </m:sub>
                      </m:sSub>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𝒊</m:t>
                          </m:r>
                          <m:r>
                            <a:rPr lang="en-US" altLang="zh-CN" sz="1600" b="1" i="1" dirty="0" smtClean="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𝒐</m:t>
                          </m:r>
                          <m:r>
                            <a:rPr lang="en-US" altLang="zh-CN" sz="1600" b="1" i="1" dirty="0" smtClean="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oMath>
                  </m:oMathPara>
                </a14:m>
                <a:endParaRPr lang="en-US" altLang="zh-CN" sz="16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b>
                        <m:sSubPr>
                          <m:ctrlPr>
                            <a:rPr lang="en-US" altLang="zh-CN" sz="160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f>
                        <m:fPr>
                          <m:ctrlPr>
                            <a:rPr lang="en-US" altLang="zh-CN" sz="1600" i="1" dirty="0">
                              <a:solidFill>
                                <a:schemeClr val="tx1"/>
                              </a:solidFill>
                              <a:latin typeface="Cambria Math" panose="02040503050406030204" pitchFamily="18" charset="0"/>
                            </a:rPr>
                          </m:ctrlPr>
                        </m:fPr>
                        <m:num>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𝑋</m:t>
                              </m:r>
                            </m:e>
                            <m:sup>
                              <m:r>
                                <a:rPr lang="en-US" altLang="zh-CN" sz="1600" i="1" dirty="0">
                                  <a:solidFill>
                                    <a:schemeClr val="tx1"/>
                                  </a:solidFill>
                                  <a:latin typeface="Cambria Math" panose="02040503050406030204" pitchFamily="18" charset="0"/>
                                </a:rPr>
                                <m:t>+</m:t>
                              </m:r>
                            </m:sup>
                          </m:sSup>
                          <m:d>
                            <m:dPr>
                              <m:ctrlPr>
                                <a:rPr lang="en-US" altLang="zh-CN" sz="1600" i="1" dirty="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num>
                        <m:den>
                          <m:r>
                            <a:rPr lang="en-US" altLang="zh-CN" sz="1600" dirty="0">
                              <a:solidFill>
                                <a:schemeClr val="tx1"/>
                              </a:solidFill>
                              <a:latin typeface="Cambria Math" panose="02040503050406030204" pitchFamily="18" charset="0"/>
                            </a:rPr>
                            <m:t>1+</m:t>
                          </m:r>
                          <m:r>
                            <m:rPr>
                              <m:sty m:val="p"/>
                            </m:rPr>
                            <a:rPr lang="en-US" altLang="zh-CN" sz="1600" dirty="0">
                              <a:solidFill>
                                <a:schemeClr val="tx1"/>
                              </a:solidFill>
                              <a:latin typeface="Cambria Math" panose="02040503050406030204" pitchFamily="18" charset="0"/>
                            </a:rPr>
                            <m:t>Λ</m:t>
                          </m:r>
                          <m:d>
                            <m:dPr>
                              <m:ctrlPr>
                                <a:rPr lang="en-US" altLang="zh-CN" sz="1600" b="1" i="1" dirty="0">
                                  <a:solidFill>
                                    <a:schemeClr val="tx1"/>
                                  </a:solidFill>
                                  <a:latin typeface="Cambria Math" panose="02040503050406030204" pitchFamily="18" charset="0"/>
                                </a:rPr>
                              </m:ctrlPr>
                            </m:dPr>
                            <m:e>
                              <m:r>
                                <a:rPr lang="en-US" altLang="zh-CN" sz="1600" b="1" dirty="0">
                                  <a:solidFill>
                                    <a:schemeClr val="tx1"/>
                                  </a:solidFill>
                                  <a:latin typeface="Cambria Math" panose="02040503050406030204" pitchFamily="18" charset="0"/>
                                </a:rPr>
                                <m:t>𝐨</m:t>
                              </m:r>
                            </m:e>
                          </m:d>
                        </m:den>
                      </m:f>
                      <m:r>
                        <a:rPr lang="en-US" altLang="zh-CN" sz="1600" b="1" i="1" dirty="0" smtClean="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2</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b="1"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b="1"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b="1"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𝑋</m:t>
                              </m:r>
                            </m:e>
                            <m:sup>
                              <m:r>
                                <a:rPr lang="en-US" altLang="zh-CN" sz="1600" i="1" dirty="0">
                                  <a:solidFill>
                                    <a:schemeClr val="tx1"/>
                                  </a:solidFill>
                                  <a:latin typeface="Cambria Math" panose="02040503050406030204" pitchFamily="18" charset="0"/>
                                </a:rPr>
                                <m:t>+</m:t>
                              </m:r>
                            </m:sup>
                          </m:sSup>
                          <m:d>
                            <m:dPr>
                              <m:ctrlPr>
                                <a:rPr lang="en-US" altLang="zh-CN" sz="1600" i="1" dirty="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𝑋</m:t>
                              </m:r>
                            </m:e>
                            <m:sup>
                              <m:r>
                                <a:rPr lang="en-US" altLang="zh-CN" sz="1600" i="1" dirty="0">
                                  <a:solidFill>
                                    <a:schemeClr val="tx1"/>
                                  </a:solidFill>
                                  <a:latin typeface="Cambria Math" panose="02040503050406030204" pitchFamily="18" charset="0"/>
                                </a:rPr>
                                <m:t>+</m:t>
                              </m:r>
                            </m:sup>
                          </m:sSup>
                          <m:d>
                            <m:dPr>
                              <m:ctrlPr>
                                <a:rPr lang="en-US" altLang="zh-CN" sz="1600" i="1" dirty="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𝒊</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num>
                        <m:den>
                          <m:r>
                            <a:rPr lang="en-US" altLang="zh-CN" sz="1600" i="1" dirty="0">
                              <a:solidFill>
                                <a:schemeClr val="tx1"/>
                              </a:solidFill>
                              <a:latin typeface="Cambria Math" panose="02040503050406030204" pitchFamily="18" charset="0"/>
                            </a:rPr>
                            <m:t>1+</m:t>
                          </m:r>
                          <m:r>
                            <m:rPr>
                              <m:sty m:val="p"/>
                            </m:rPr>
                            <a:rPr lang="en-US" altLang="zh-CN" sz="1600" dirty="0">
                              <a:solidFill>
                                <a:schemeClr val="tx1"/>
                              </a:solidFill>
                              <a:latin typeface="Cambria Math" panose="02040503050406030204" pitchFamily="18" charset="0"/>
                            </a:rPr>
                            <m:t>Λ</m:t>
                          </m:r>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e>
                          </m:d>
                          <m:r>
                            <a:rPr lang="en-US" altLang="zh-CN" sz="1600" i="1" dirty="0">
                              <a:solidFill>
                                <a:schemeClr val="tx1"/>
                              </a:solidFill>
                              <a:latin typeface="Cambria Math" panose="02040503050406030204" pitchFamily="18" charset="0"/>
                            </a:rPr>
                            <m:t>+</m:t>
                          </m:r>
                          <m:r>
                            <m:rPr>
                              <m:sty m:val="p"/>
                            </m:rPr>
                            <a:rPr lang="en-US" altLang="zh-CN" sz="1600" dirty="0">
                              <a:solidFill>
                                <a:schemeClr val="tx1"/>
                              </a:solidFill>
                              <a:latin typeface="Cambria Math" panose="02040503050406030204" pitchFamily="18" charset="0"/>
                            </a:rPr>
                            <m:t>Λ</m:t>
                          </m:r>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e>
                          </m:d>
                        </m:den>
                      </m:f>
                    </m:oMath>
                  </m:oMathPara>
                </a14:m>
                <a:endParaRPr lang="en-US" altLang="zh-CN" sz="16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en-US" altLang="zh-CN" sz="1600" b="0" i="1" dirty="0" smtClean="0">
                          <a:solidFill>
                            <a:schemeClr val="tx1"/>
                          </a:solidFill>
                          <a:latin typeface="Cambria Math" panose="02040503050406030204" pitchFamily="18" charset="0"/>
                        </a:rPr>
                        <m:t>𝑆𝑚𝑖𝑡h</m:t>
                      </m:r>
                      <m:r>
                        <a:rPr lang="en-US" altLang="zh-CN" sz="1600" b="0" i="1" dirty="0" smtClean="0">
                          <a:solidFill>
                            <a:schemeClr val="tx1"/>
                          </a:solidFill>
                          <a:latin typeface="Cambria Math" panose="02040503050406030204" pitchFamily="18" charset="0"/>
                        </a:rPr>
                        <m:t> </m:t>
                      </m:r>
                      <m:r>
                        <a:rPr lang="zh-CN" altLang="en-US" sz="1600" i="1" dirty="0">
                          <a:solidFill>
                            <a:schemeClr val="tx1"/>
                          </a:solidFill>
                          <a:latin typeface="Cambria Math" panose="02040503050406030204" pitchFamily="18" charset="0"/>
                        </a:rPr>
                        <m:t>模型下</m:t>
                      </m:r>
                      <m:r>
                        <a:rPr lang="zh-CN" altLang="en-US" sz="1600" i="1" dirty="0" smtClean="0">
                          <a:solidFill>
                            <a:schemeClr val="tx1"/>
                          </a:solidFill>
                          <a:latin typeface="Cambria Math" panose="02040503050406030204" pitchFamily="18" charset="0"/>
                        </a:rPr>
                        <m:t>，</m:t>
                      </m:r>
                      <m:r>
                        <a:rPr lang="zh-CN" altLang="en-US" sz="1600" i="1" dirty="0">
                          <a:solidFill>
                            <a:schemeClr val="tx1"/>
                          </a:solidFill>
                          <a:latin typeface="Cambria Math" panose="02040503050406030204" pitchFamily="18" charset="0"/>
                        </a:rPr>
                        <m:t>掩蔽</m:t>
                      </m:r>
                      <m:r>
                        <a:rPr lang="zh-CN" altLang="en-US" sz="1600" i="1" dirty="0" smtClean="0">
                          <a:solidFill>
                            <a:schemeClr val="tx1"/>
                          </a:solidFill>
                          <a:latin typeface="Cambria Math" panose="02040503050406030204" pitchFamily="18" charset="0"/>
                        </a:rPr>
                        <m:t>函数</m:t>
                      </m:r>
                      <m:r>
                        <a:rPr lang="zh-CN" altLang="en-US" sz="1600" i="1" dirty="0">
                          <a:solidFill>
                            <a:schemeClr val="tx1"/>
                          </a:solidFill>
                          <a:latin typeface="Cambria Math" panose="02040503050406030204" pitchFamily="18" charset="0"/>
                        </a:rPr>
                        <m:t>的</m:t>
                      </m:r>
                      <m:r>
                        <a:rPr lang="zh-CN" altLang="en-US" sz="1600" i="1" dirty="0" smtClean="0">
                          <a:solidFill>
                            <a:schemeClr val="tx1"/>
                          </a:solidFill>
                          <a:latin typeface="Cambria Math" panose="02040503050406030204" pitchFamily="18" charset="0"/>
                        </a:rPr>
                        <m:t>函数值</m:t>
                      </m:r>
                      <m:r>
                        <a:rPr lang="zh-CN" altLang="en-US" sz="1600" i="1" dirty="0">
                          <a:solidFill>
                            <a:schemeClr val="tx1"/>
                          </a:solidFill>
                          <a:latin typeface="Cambria Math" panose="02040503050406030204" pitchFamily="18" charset="0"/>
                        </a:rPr>
                        <m:t>只</m:t>
                      </m:r>
                      <m:r>
                        <a:rPr lang="zh-CN" altLang="en-US" sz="1600" i="1" dirty="0" smtClean="0">
                          <a:solidFill>
                            <a:schemeClr val="tx1"/>
                          </a:solidFill>
                          <a:latin typeface="Cambria Math" panose="02040503050406030204" pitchFamily="18" charset="0"/>
                        </a:rPr>
                        <m:t>依赖于</m:t>
                      </m:r>
                      <m:r>
                        <m:rPr>
                          <m:sty m:val="p"/>
                        </m:rPr>
                        <a:rPr lang="en-US" altLang="zh-CN" sz="1600" b="0" i="0" dirty="0" smtClean="0">
                          <a:solidFill>
                            <a:schemeClr val="tx1"/>
                          </a:solidFill>
                          <a:latin typeface="Cambria Math" panose="02040503050406030204" pitchFamily="18" charset="0"/>
                        </a:rPr>
                        <m:t>Λ</m:t>
                      </m:r>
                      <m:r>
                        <a:rPr lang="zh-CN" altLang="en-US" sz="1600" i="1" dirty="0">
                          <a:solidFill>
                            <a:schemeClr val="tx1"/>
                          </a:solidFill>
                          <a:latin typeface="Cambria Math" panose="02040503050406030204" pitchFamily="18" charset="0"/>
                        </a:rPr>
                        <m:t>函数</m:t>
                      </m:r>
                      <m:r>
                        <a:rPr lang="zh-CN" altLang="en-US" sz="1600" i="1" dirty="0" smtClean="0">
                          <a:solidFill>
                            <a:schemeClr val="tx1"/>
                          </a:solidFill>
                          <a:latin typeface="Cambria Math" panose="02040503050406030204" pitchFamily="18" charset="0"/>
                        </a:rPr>
                        <m:t>：</m:t>
                      </m:r>
                      <m:sSup>
                        <m:sSupPr>
                          <m:ctrlPr>
                            <a:rPr lang="en-US" altLang="zh-CN" sz="1600" b="0" i="1" dirty="0" smtClean="0">
                              <a:solidFill>
                                <a:schemeClr val="tx1"/>
                              </a:solidFill>
                              <a:latin typeface="Cambria Math" panose="02040503050406030204" pitchFamily="18" charset="0"/>
                            </a:rPr>
                          </m:ctrlPr>
                        </m:sSupPr>
                        <m:e>
                          <m:r>
                            <m:rPr>
                              <m:sty m:val="p"/>
                            </m:rPr>
                            <a:rPr lang="en-US" altLang="zh-CN" sz="1600" b="0" i="0" dirty="0" smtClean="0">
                              <a:solidFill>
                                <a:schemeClr val="tx1"/>
                              </a:solidFill>
                              <a:latin typeface="Cambria Math" panose="02040503050406030204" pitchFamily="18" charset="0"/>
                            </a:rPr>
                            <m:t>Λ</m:t>
                          </m:r>
                        </m:e>
                        <m:sup>
                          <m:r>
                            <a:rPr lang="en-US" altLang="zh-CN" sz="1600" b="0" i="1" dirty="0" smtClean="0">
                              <a:solidFill>
                                <a:schemeClr val="tx1"/>
                              </a:solidFill>
                              <a:latin typeface="Cambria Math" panose="02040503050406030204" pitchFamily="18" charset="0"/>
                            </a:rPr>
                            <m:t>′</m:t>
                          </m:r>
                        </m:sup>
                      </m:sSup>
                      <m:d>
                        <m:dPr>
                          <m:ctrlPr>
                            <a:rPr lang="en-US" altLang="zh-CN" sz="1600" b="0" i="1" dirty="0" smtClean="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𝒗</m:t>
                              </m:r>
                            </m:e>
                            <m:sup>
                              <m:r>
                                <a:rPr lang="en-US" altLang="zh-CN" sz="1600" b="1" i="1" dirty="0" smtClean="0">
                                  <a:solidFill>
                                    <a:schemeClr val="tx1"/>
                                  </a:solidFill>
                                  <a:latin typeface="Cambria Math" panose="02040503050406030204" pitchFamily="18" charset="0"/>
                                </a:rPr>
                                <m:t>′</m:t>
                              </m:r>
                            </m:sup>
                          </m:sSup>
                        </m:e>
                      </m:d>
                      <m:r>
                        <a:rPr lang="en-US" altLang="zh-CN" sz="1600" b="0" i="1" dirty="0" smtClean="0">
                          <a:solidFill>
                            <a:schemeClr val="tx1"/>
                          </a:solidFill>
                          <a:latin typeface="Cambria Math" panose="02040503050406030204" pitchFamily="18" charset="0"/>
                        </a:rPr>
                        <m:t>=</m:t>
                      </m:r>
                      <m:r>
                        <m:rPr>
                          <m:sty m:val="p"/>
                        </m:rPr>
                        <a:rPr lang="en-US" altLang="zh-CN" sz="1600" b="0" i="0" dirty="0" smtClean="0">
                          <a:solidFill>
                            <a:schemeClr val="tx1"/>
                          </a:solidFill>
                          <a:latin typeface="Cambria Math" panose="02040503050406030204" pitchFamily="18" charset="0"/>
                        </a:rPr>
                        <m:t>Λ</m:t>
                      </m:r>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𝒗</m:t>
                          </m:r>
                        </m:e>
                      </m:d>
                    </m:oMath>
                  </m:oMathPara>
                </a14:m>
                <a:endParaRPr lang="en-US" altLang="zh-CN" sz="16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m:rPr>
                          <m:sty m:val="p"/>
                        </m:rPr>
                        <a:rPr lang="en-US" altLang="zh-CN" sz="1600" dirty="0" smtClean="0">
                          <a:solidFill>
                            <a:schemeClr val="tx1"/>
                          </a:solidFill>
                          <a:latin typeface="Cambria Math" panose="02040503050406030204" pitchFamily="18" charset="0"/>
                        </a:rPr>
                        <m:t>Λ</m:t>
                      </m:r>
                      <m:d>
                        <m:dPr>
                          <m:ctrlPr>
                            <a:rPr lang="en-US" altLang="zh-CN" sz="1600" b="1"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𝒗</m:t>
                          </m:r>
                        </m:e>
                      </m:d>
                      <m:r>
                        <a:rPr lang="en-US" altLang="zh-CN" sz="1600" b="1" i="1" dirty="0">
                          <a:solidFill>
                            <a:schemeClr val="tx1"/>
                          </a:solidFill>
                          <a:latin typeface="Cambria Math" panose="02040503050406030204" pitchFamily="18" charset="0"/>
                        </a:rPr>
                        <m:t>=</m:t>
                      </m:r>
                      <m:f>
                        <m:fPr>
                          <m:ctrlPr>
                            <a:rPr lang="en-US" altLang="zh-CN" sz="1600" b="1" i="1" dirty="0">
                              <a:solidFill>
                                <a:schemeClr val="tx1"/>
                              </a:solidFill>
                              <a:latin typeface="Cambria Math" panose="02040503050406030204" pitchFamily="18" charset="0"/>
                            </a:rPr>
                          </m:ctrlPr>
                        </m:fPr>
                        <m:num>
                          <m:rad>
                            <m:radPr>
                              <m:degHide m:val="on"/>
                              <m:ctrlPr>
                                <a:rPr lang="en-US" altLang="zh-CN" sz="1600"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tan</m:t>
                                      </m:r>
                                    </m:e>
                                    <m:sup>
                                      <m:r>
                                        <a:rPr lang="en-US" altLang="zh-CN" sz="1600" i="1" dirty="0">
                                          <a:solidFill>
                                            <a:schemeClr val="tx1"/>
                                          </a:solidFill>
                                          <a:latin typeface="Cambria Math" panose="02040503050406030204" pitchFamily="18" charset="0"/>
                                        </a:rPr>
                                        <m:t>2</m:t>
                                      </m:r>
                                    </m:sup>
                                  </m:sSup>
                                </m:fName>
                                <m:e>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b="0" i="1" dirty="0" smtClean="0">
                                          <a:solidFill>
                                            <a:schemeClr val="tx1"/>
                                          </a:solidFill>
                                          <a:latin typeface="Cambria Math" panose="02040503050406030204" pitchFamily="18" charset="0"/>
                                        </a:rPr>
                                        <m:t>+</m:t>
                                      </m:r>
                                    </m:sup>
                                  </m:sSubSup>
                                </m:e>
                              </m:func>
                            </m:e>
                          </m:rad>
                          <m:r>
                            <a:rPr lang="en-US" altLang="zh-CN" sz="1600" i="1"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2</m:t>
                          </m:r>
                        </m:den>
                      </m:f>
                      <m:r>
                        <a:rPr lang="en-US" altLang="zh-CN" sz="1600" b="1"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  </m:t>
                      </m:r>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b="0" i="1" dirty="0" smtClean="0">
                              <a:solidFill>
                                <a:schemeClr val="tx1"/>
                              </a:solidFill>
                              <a:latin typeface="Cambria Math" panose="02040503050406030204" pitchFamily="18" charset="0"/>
                            </a:rPr>
                            <m:t>+</m:t>
                          </m:r>
                        </m:sup>
                      </m:sSubSup>
                      <m:r>
                        <a:rPr lang="zh-CN" altLang="en-US" sz="1600" i="1" dirty="0">
                          <a:solidFill>
                            <a:schemeClr val="tx1"/>
                          </a:solidFill>
                          <a:latin typeface="Cambria Math" panose="02040503050406030204" pitchFamily="18" charset="0"/>
                        </a:rPr>
                        <m:t>为</m:t>
                      </m:r>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𝒗</m:t>
                          </m:r>
                        </m:e>
                        <m:sup>
                          <m:r>
                            <a:rPr lang="en-US" altLang="zh-CN" sz="1600" b="1" i="1" dirty="0">
                              <a:solidFill>
                                <a:schemeClr val="tx1"/>
                              </a:solidFill>
                              <a:latin typeface="Cambria Math" panose="02040503050406030204" pitchFamily="18" charset="0"/>
                            </a:rPr>
                            <m:t>+</m:t>
                          </m:r>
                        </m:sup>
                      </m:sSup>
                      <m:r>
                        <a:rPr lang="zh-CN" altLang="en-US" sz="1600" b="1" i="1" dirty="0">
                          <a:solidFill>
                            <a:schemeClr val="tx1"/>
                          </a:solidFill>
                          <a:latin typeface="Cambria Math" panose="02040503050406030204" pitchFamily="18" charset="0"/>
                        </a:rPr>
                        <m:t>与</m:t>
                      </m:r>
                      <m:r>
                        <a:rPr lang="en-US" altLang="zh-CN" sz="1600" b="1" i="1" dirty="0">
                          <a:solidFill>
                            <a:schemeClr val="tx1"/>
                          </a:solidFill>
                          <a:latin typeface="Cambria Math" panose="02040503050406030204" pitchFamily="18" charset="0"/>
                        </a:rPr>
                        <m:t>𝒈</m:t>
                      </m:r>
                      <m:r>
                        <a:rPr lang="zh-CN" altLang="en-US" sz="1600" b="1" i="1" dirty="0">
                          <a:solidFill>
                            <a:schemeClr val="tx1"/>
                          </a:solidFill>
                          <a:latin typeface="Cambria Math" panose="02040503050406030204" pitchFamily="18" charset="0"/>
                        </a:rPr>
                        <m:t>的夹</m:t>
                      </m:r>
                      <m:r>
                        <a:rPr lang="zh-CN" altLang="en-US" sz="1600" b="1" i="1" dirty="0" smtClean="0">
                          <a:solidFill>
                            <a:schemeClr val="tx1"/>
                          </a:solidFill>
                          <a:latin typeface="Cambria Math" panose="02040503050406030204" pitchFamily="18" charset="0"/>
                        </a:rPr>
                        <m:t>角</m:t>
                      </m:r>
                    </m:oMath>
                  </m:oMathPara>
                </a14:m>
                <a:endParaRPr lang="en-US" altLang="zh-CN" sz="1600" b="1" i="1" dirty="0">
                  <a:solidFill>
                    <a:schemeClr val="tx1"/>
                  </a:solidFill>
                  <a:latin typeface="Cambria Math" panose="02040503050406030204" pitchFamily="18" charset="0"/>
                </a:endParaRPr>
              </a:p>
              <a:p>
                <a:pPr algn="ctr">
                  <a:lnSpc>
                    <a:spcPct val="60000"/>
                  </a:lnSpc>
                </a:pPr>
                <a14:m>
                  <m:oMathPara xmlns:m="http://schemas.openxmlformats.org/officeDocument/2006/math">
                    <m:oMathParaPr>
                      <m:jc m:val="centerGroup"/>
                    </m:oMathParaPr>
                    <m:oMath xmlns:m="http://schemas.openxmlformats.org/officeDocument/2006/math">
                      <m:r>
                        <a:rPr lang="zh-CN" altLang="en-US" sz="1600" b="1" i="1" dirty="0">
                          <a:solidFill>
                            <a:schemeClr val="tx1"/>
                          </a:solidFill>
                          <a:latin typeface="Cambria Math" panose="02040503050406030204" pitchFamily="18" charset="0"/>
                        </a:rPr>
                        <m:t>由于是</m:t>
                      </m:r>
                      <m:r>
                        <a:rPr lang="zh-CN" altLang="en-US" sz="1600" b="1" i="1" dirty="0" smtClean="0">
                          <a:solidFill>
                            <a:schemeClr val="tx1"/>
                          </a:solidFill>
                          <a:latin typeface="Cambria Math" panose="02040503050406030204" pitchFamily="18" charset="0"/>
                        </a:rPr>
                        <m:t>相对于</m:t>
                      </m:r>
                      <m:r>
                        <a:rPr lang="en-US" altLang="zh-CN" sz="1600" b="0" i="1" dirty="0" smtClean="0">
                          <a:solidFill>
                            <a:schemeClr val="tx1"/>
                          </a:solidFill>
                          <a:latin typeface="Cambria Math" panose="02040503050406030204" pitchFamily="18" charset="0"/>
                        </a:rPr>
                        <m:t>𝛼</m:t>
                      </m:r>
                      <m:r>
                        <a:rPr lang="en-US" altLang="zh-CN" sz="1600" b="0" i="1" dirty="0" smtClean="0">
                          <a:solidFill>
                            <a:schemeClr val="tx1"/>
                          </a:solidFill>
                          <a:latin typeface="Cambria Math" panose="02040503050406030204" pitchFamily="18" charset="0"/>
                        </a:rPr>
                        <m:t>=1</m:t>
                      </m:r>
                      <m:r>
                        <a:rPr lang="zh-CN" altLang="en-US" sz="1600" i="1" dirty="0">
                          <a:solidFill>
                            <a:schemeClr val="tx1"/>
                          </a:solidFill>
                          <a:latin typeface="Cambria Math" panose="02040503050406030204" pitchFamily="18" charset="0"/>
                        </a:rPr>
                        <m:t>的</m:t>
                      </m:r>
                      <m:r>
                        <a:rPr lang="zh-CN" altLang="en-US" sz="1600" i="1" dirty="0" smtClean="0">
                          <a:solidFill>
                            <a:schemeClr val="tx1"/>
                          </a:solidFill>
                          <a:latin typeface="Cambria Math" panose="02040503050406030204" pitchFamily="18" charset="0"/>
                        </a:rPr>
                        <m:t>情况</m:t>
                      </m:r>
                      <m:r>
                        <a:rPr lang="zh-CN" altLang="en-US" sz="1600" i="1" dirty="0">
                          <a:solidFill>
                            <a:schemeClr val="tx1"/>
                          </a:solidFill>
                          <a:latin typeface="Cambria Math" panose="02040503050406030204" pitchFamily="18" charset="0"/>
                        </a:rPr>
                        <m:t>拉伸</m:t>
                      </m:r>
                      <m:r>
                        <a:rPr lang="zh-CN" altLang="en-US" sz="1600" i="1" dirty="0" smtClean="0">
                          <a:solidFill>
                            <a:schemeClr val="tx1"/>
                          </a:solidFill>
                          <a:latin typeface="Cambria Math" panose="02040503050406030204" pitchFamily="18" charset="0"/>
                        </a:rPr>
                        <m:t>的</m:t>
                      </m:r>
                      <m:r>
                        <a:rPr lang="zh-CN" altLang="en-US" sz="1600" i="1" dirty="0">
                          <a:solidFill>
                            <a:schemeClr val="tx1"/>
                          </a:solidFill>
                          <a:latin typeface="Cambria Math" panose="02040503050406030204" pitchFamily="18" charset="0"/>
                        </a:rPr>
                        <m:t>，</m:t>
                      </m:r>
                      <m:r>
                        <a:rPr lang="zh-CN" altLang="en-US" sz="1600" i="1" dirty="0" smtClean="0">
                          <a:solidFill>
                            <a:schemeClr val="tx1"/>
                          </a:solidFill>
                          <a:latin typeface="Cambria Math" panose="02040503050406030204" pitchFamily="18" charset="0"/>
                        </a:rPr>
                        <m:t>所以</m:t>
                      </m:r>
                      <m:r>
                        <a:rPr lang="zh-CN" altLang="en-US" sz="1600" i="1" dirty="0">
                          <a:solidFill>
                            <a:schemeClr val="tx1"/>
                          </a:solidFill>
                          <a:latin typeface="Cambria Math" panose="02040503050406030204" pitchFamily="18" charset="0"/>
                        </a:rPr>
                        <m:t>拉伸</m:t>
                      </m:r>
                      <m:r>
                        <a:rPr lang="zh-CN" altLang="en-US" sz="1600" i="1" dirty="0" smtClean="0">
                          <a:solidFill>
                            <a:schemeClr val="tx1"/>
                          </a:solidFill>
                          <a:latin typeface="Cambria Math" panose="02040503050406030204" pitchFamily="18" charset="0"/>
                        </a:rPr>
                        <m:t>前</m:t>
                      </m:r>
                      <m:r>
                        <a:rPr lang="zh-CN" altLang="en-US" sz="1600" i="1" dirty="0">
                          <a:solidFill>
                            <a:schemeClr val="tx1"/>
                          </a:solidFill>
                          <a:latin typeface="Cambria Math" panose="02040503050406030204" pitchFamily="18" charset="0"/>
                        </a:rPr>
                        <m:t>的</m:t>
                      </m:r>
                      <m:r>
                        <m:rPr>
                          <m:sty m:val="p"/>
                        </m:rPr>
                        <a:rPr lang="en-US" altLang="zh-CN" sz="1600" b="0" i="0" dirty="0" smtClean="0">
                          <a:solidFill>
                            <a:schemeClr val="tx1"/>
                          </a:solidFill>
                          <a:latin typeface="Cambria Math" panose="02040503050406030204" pitchFamily="18" charset="0"/>
                        </a:rPr>
                        <m:t>Λ</m:t>
                      </m:r>
                      <m:r>
                        <a:rPr lang="zh-CN" altLang="en-US" sz="1600" i="1" dirty="0">
                          <a:solidFill>
                            <a:schemeClr val="tx1"/>
                          </a:solidFill>
                          <a:latin typeface="Cambria Math" panose="02040503050406030204" pitchFamily="18" charset="0"/>
                        </a:rPr>
                        <m:t>函数</m:t>
                      </m:r>
                      <m:r>
                        <a:rPr lang="zh-CN" altLang="en-US" sz="1600" i="1" dirty="0" smtClean="0">
                          <a:solidFill>
                            <a:schemeClr val="tx1"/>
                          </a:solidFill>
                          <a:latin typeface="Cambria Math" panose="02040503050406030204" pitchFamily="18" charset="0"/>
                        </a:rPr>
                        <m:t>为</m:t>
                      </m:r>
                      <m:r>
                        <a:rPr lang="zh-CN" altLang="en-US" sz="1600" i="1" dirty="0">
                          <a:solidFill>
                            <a:schemeClr val="tx1"/>
                          </a:solidFill>
                          <a:latin typeface="Cambria Math" panose="02040503050406030204" pitchFamily="18" charset="0"/>
                        </a:rPr>
                        <m:t>：</m:t>
                      </m:r>
                      <m:r>
                        <m:rPr>
                          <m:sty m:val="p"/>
                        </m:rPr>
                        <a:rPr lang="en-US" altLang="zh-CN" sz="1600" dirty="0">
                          <a:solidFill>
                            <a:schemeClr val="tx1"/>
                          </a:solidFill>
                          <a:latin typeface="Cambria Math" panose="02040503050406030204" pitchFamily="18" charset="0"/>
                        </a:rPr>
                        <m:t>Λ</m:t>
                      </m:r>
                      <m:d>
                        <m:dPr>
                          <m:ctrlPr>
                            <a:rPr lang="en-US" altLang="zh-CN" sz="1600" b="1"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𝒗</m:t>
                          </m:r>
                        </m:e>
                      </m:d>
                      <m:r>
                        <a:rPr lang="en-US" altLang="zh-CN" sz="1600" b="1" i="1" dirty="0">
                          <a:solidFill>
                            <a:schemeClr val="tx1"/>
                          </a:solidFill>
                          <a:latin typeface="Cambria Math" panose="02040503050406030204" pitchFamily="18" charset="0"/>
                        </a:rPr>
                        <m:t>=</m:t>
                      </m:r>
                      <m:f>
                        <m:fPr>
                          <m:ctrlPr>
                            <a:rPr lang="en-US" altLang="zh-CN" sz="1600" b="1" i="1" dirty="0">
                              <a:solidFill>
                                <a:schemeClr val="tx1"/>
                              </a:solidFill>
                              <a:latin typeface="Cambria Math" panose="02040503050406030204" pitchFamily="18" charset="0"/>
                            </a:rPr>
                          </m:ctrlPr>
                        </m:fPr>
                        <m:num>
                          <m:rad>
                            <m:radPr>
                              <m:degHide m:val="on"/>
                              <m:ctrlPr>
                                <a:rPr lang="en-US" altLang="zh-CN" sz="1600"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tan</m:t>
                                      </m:r>
                                    </m:e>
                                    <m:sup>
                                      <m:r>
                                        <a:rPr lang="en-US" altLang="zh-CN" sz="1600" i="1" dirty="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e>
                          </m:rad>
                          <m:r>
                            <a:rPr lang="en-US" altLang="zh-CN" sz="1600" i="1"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2</m:t>
                          </m:r>
                        </m:den>
                      </m:f>
                      <m:sSub>
                        <m:sSubPr>
                          <m:ctrlPr>
                            <a:rPr lang="en-US" altLang="zh-CN" sz="1600" i="1" dirty="0" smtClean="0">
                              <a:solidFill>
                                <a:schemeClr val="tx1"/>
                              </a:solidFill>
                              <a:latin typeface="Cambria Math" panose="02040503050406030204" pitchFamily="18" charset="0"/>
                            </a:rPr>
                          </m:ctrlPr>
                        </m:sSubPr>
                        <m:e>
                          <m:d>
                            <m:dPr>
                              <m:begChr m:val=""/>
                              <m:endChr m:val="|"/>
                              <m:ctrlPr>
                                <a:rPr lang="en-US" altLang="zh-CN" sz="1600" i="1" dirty="0" smtClean="0">
                                  <a:solidFill>
                                    <a:schemeClr val="tx1"/>
                                  </a:solidFill>
                                  <a:latin typeface="Cambria Math" panose="02040503050406030204" pitchFamily="18" charset="0"/>
                                </a:rPr>
                              </m:ctrlPr>
                            </m:dPr>
                            <m:e>
                              <m:r>
                                <a:rPr lang="zh-CN" altLang="en-US" b="0">
                                  <a:latin typeface="Cambria Math" panose="02040503050406030204" pitchFamily="18" charset="0"/>
                                </a:rPr>
                                <m:t>​</m:t>
                              </m:r>
                            </m:e>
                          </m:d>
                        </m:e>
                        <m:sub>
                          <m:r>
                            <a:rPr lang="en-US" altLang="zh-CN" sz="1600" b="0" i="1" dirty="0" smtClean="0">
                              <a:solidFill>
                                <a:schemeClr val="tx1"/>
                              </a:solidFill>
                              <a:latin typeface="Cambria Math" panose="02040503050406030204" pitchFamily="18" charset="0"/>
                            </a:rPr>
                            <m:t>𝛼</m:t>
                          </m:r>
                          <m:r>
                            <a:rPr lang="en-US" altLang="zh-CN" sz="1600" b="0" i="1" dirty="0" smtClean="0">
                              <a:solidFill>
                                <a:schemeClr val="tx1"/>
                              </a:solidFill>
                              <a:latin typeface="Cambria Math" panose="02040503050406030204" pitchFamily="18" charset="0"/>
                            </a:rPr>
                            <m:t>=1</m:t>
                          </m:r>
                        </m:sub>
                      </m:sSub>
                      <m:r>
                        <a:rPr lang="en-US" altLang="zh-CN" sz="1600" b="0" i="1" dirty="0" smtClean="0">
                          <a:solidFill>
                            <a:schemeClr val="tx1"/>
                          </a:solidFill>
                          <a:latin typeface="Cambria Math" panose="02040503050406030204" pitchFamily="18" charset="0"/>
                        </a:rPr>
                        <m:t>=</m:t>
                      </m:r>
                      <m:r>
                        <m:rPr>
                          <m:sty m:val="p"/>
                        </m:rPr>
                        <a:rPr lang="en-US" altLang="zh-CN" sz="1600" dirty="0">
                          <a:solidFill>
                            <a:schemeClr val="tx1"/>
                          </a:solidFill>
                          <a:latin typeface="Cambria Math" panose="02040503050406030204" pitchFamily="18" charset="0"/>
                        </a:rPr>
                        <m:t>Λ</m:t>
                      </m:r>
                      <m:d>
                        <m:dPr>
                          <m:ctrlPr>
                            <a:rPr lang="en-US" altLang="zh-CN" sz="1600" b="1"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𝒗</m:t>
                          </m:r>
                        </m:e>
                      </m:d>
                      <m:r>
                        <a:rPr lang="en-US" altLang="zh-CN" sz="1600" b="1" i="1" dirty="0">
                          <a:solidFill>
                            <a:schemeClr val="tx1"/>
                          </a:solidFill>
                          <a:latin typeface="Cambria Math" panose="02040503050406030204" pitchFamily="18" charset="0"/>
                        </a:rPr>
                        <m:t>=</m:t>
                      </m:r>
                      <m:f>
                        <m:fPr>
                          <m:ctrlPr>
                            <a:rPr lang="en-US" altLang="zh-CN" sz="1600" b="1" i="1" dirty="0">
                              <a:solidFill>
                                <a:schemeClr val="tx1"/>
                              </a:solidFill>
                              <a:latin typeface="Cambria Math" panose="02040503050406030204" pitchFamily="18" charset="0"/>
                            </a:rPr>
                          </m:ctrlPr>
                        </m:fPr>
                        <m:num>
                          <m:rad>
                            <m:radPr>
                              <m:degHide m:val="on"/>
                              <m:ctrlPr>
                                <a:rPr lang="en-US" altLang="zh-CN" sz="1600"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f>
                                <m:fPr>
                                  <m:ctrlPr>
                                    <a:rPr lang="en-US" altLang="zh-CN" sz="1600" b="0" i="1" dirty="0" smtClean="0">
                                      <a:solidFill>
                                        <a:schemeClr val="tx1"/>
                                      </a:solidFill>
                                      <a:latin typeface="Cambria Math" panose="02040503050406030204" pitchFamily="18" charset="0"/>
                                    </a:rPr>
                                  </m:ctrlPr>
                                </m:fPr>
                                <m:num>
                                  <m:r>
                                    <a:rPr lang="en-US" altLang="zh-CN" sz="1600" b="0" i="1" dirty="0" smtClean="0">
                                      <a:solidFill>
                                        <a:schemeClr val="tx1"/>
                                      </a:solidFill>
                                      <a:latin typeface="Cambria Math" panose="02040503050406030204" pitchFamily="18" charset="0"/>
                                    </a:rPr>
                                    <m:t>1</m:t>
                                  </m:r>
                                </m:num>
                                <m:den>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b="0" i="0" dirty="0" smtClean="0">
                                              <a:solidFill>
                                                <a:schemeClr val="tx1"/>
                                              </a:solidFill>
                                              <a:latin typeface="Cambria Math" panose="02040503050406030204" pitchFamily="18" charset="0"/>
                                            </a:rPr>
                                            <m:t>cot</m:t>
                                          </m:r>
                                        </m:e>
                                        <m:sup>
                                          <m:r>
                                            <a:rPr lang="en-US" altLang="zh-CN" sz="1600" i="1" dirty="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den>
                              </m:f>
                            </m:e>
                          </m:rad>
                          <m:r>
                            <a:rPr lang="en-US" altLang="zh-CN" sz="1600" i="1"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2</m:t>
                          </m:r>
                        </m:den>
                      </m:f>
                    </m:oMath>
                  </m:oMathPara>
                </a14:m>
                <a:endParaRPr lang="en-US" altLang="zh-CN" sz="16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1600" b="1" i="1" dirty="0">
                          <a:solidFill>
                            <a:schemeClr val="tx1"/>
                          </a:solidFill>
                          <a:latin typeface="Cambria Math" panose="02040503050406030204" pitchFamily="18" charset="0"/>
                        </a:rPr>
                        <m:t>和</m:t>
                      </m:r>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𝑃</m:t>
                          </m:r>
                        </m:e>
                        <m:sup>
                          <m:r>
                            <a:rPr lang="en-US" altLang="zh-CN" sz="1600" i="1" dirty="0">
                              <a:solidFill>
                                <a:schemeClr val="tx1"/>
                              </a:solidFill>
                              <a:latin typeface="Cambria Math" panose="02040503050406030204" pitchFamily="18" charset="0"/>
                            </a:rPr>
                            <m:t>22</m:t>
                          </m:r>
                        </m:sup>
                      </m:sSup>
                      <m:d>
                        <m:dPr>
                          <m:ctrlPr>
                            <a:rPr lang="en-US" altLang="zh-CN" sz="1600" i="1" dirty="0">
                              <a:solidFill>
                                <a:schemeClr val="tx1"/>
                              </a:solidFill>
                              <a:latin typeface="Cambria Math" panose="02040503050406030204" pitchFamily="18" charset="0"/>
                            </a:rPr>
                          </m:ctrlPr>
                        </m:dPr>
                        <m:e>
                          <m:acc>
                            <m:accPr>
                              <m:chr m:val="̃"/>
                              <m:ctrlPr>
                                <a:rPr lang="en-US" altLang="zh-CN" sz="1600" b="1" i="1" dirty="0">
                                  <a:solidFill>
                                    <a:schemeClr val="tx1"/>
                                  </a:solidFill>
                                  <a:latin typeface="Cambria Math" panose="02040503050406030204" pitchFamily="18" charset="0"/>
                                </a:rPr>
                              </m:ctrlPr>
                            </m:accPr>
                            <m:e>
                              <m:r>
                                <a:rPr lang="en-US" altLang="zh-CN" sz="1600" b="1" i="1" dirty="0">
                                  <a:solidFill>
                                    <a:schemeClr val="tx1"/>
                                  </a:solidFill>
                                  <a:latin typeface="Cambria Math" panose="02040503050406030204" pitchFamily="18" charset="0"/>
                                </a:rPr>
                                <m:t>𝒎</m:t>
                              </m:r>
                            </m:e>
                          </m:acc>
                        </m:e>
                      </m:d>
                      <m:r>
                        <a:rPr lang="zh-CN" altLang="en-US" sz="1600" b="1" i="1" dirty="0">
                          <a:solidFill>
                            <a:schemeClr val="tx1"/>
                          </a:solidFill>
                          <a:latin typeface="Cambria Math" panose="02040503050406030204" pitchFamily="18" charset="0"/>
                        </a:rPr>
                        <m:t>一样，</m:t>
                      </m:r>
                      <m:r>
                        <m:rPr>
                          <m:sty m:val="p"/>
                        </m:rPr>
                        <a:rPr lang="en-US" altLang="zh-CN" sz="1600" b="0" i="0" dirty="0" smtClean="0">
                          <a:solidFill>
                            <a:schemeClr val="tx1"/>
                          </a:solidFill>
                          <a:latin typeface="Cambria Math" panose="02040503050406030204" pitchFamily="18" charset="0"/>
                        </a:rPr>
                        <m:t>Λ</m:t>
                      </m:r>
                      <m:r>
                        <a:rPr lang="zh-CN" altLang="en-US" sz="1600" i="1" dirty="0">
                          <a:solidFill>
                            <a:schemeClr val="tx1"/>
                          </a:solidFill>
                          <a:latin typeface="Cambria Math" panose="02040503050406030204" pitchFamily="18" charset="0"/>
                        </a:rPr>
                        <m:t>函数</m:t>
                      </m:r>
                      <m:r>
                        <a:rPr lang="zh-CN" altLang="en-US" sz="1600" i="1" dirty="0" smtClean="0">
                          <a:solidFill>
                            <a:schemeClr val="tx1"/>
                          </a:solidFill>
                          <a:latin typeface="Cambria Math" panose="02040503050406030204" pitchFamily="18" charset="0"/>
                        </a:rPr>
                        <m:t>只依赖于</m:t>
                      </m:r>
                      <m:r>
                        <a:rPr lang="zh-CN" altLang="en-US" sz="1600" i="1" dirty="0">
                          <a:solidFill>
                            <a:schemeClr val="tx1"/>
                          </a:solidFill>
                          <a:latin typeface="Cambria Math" panose="02040503050406030204" pitchFamily="18" charset="0"/>
                        </a:rPr>
                        <m:t>光线斜率</m:t>
                      </m:r>
                    </m:oMath>
                  </m:oMathPara>
                </a14:m>
                <a:endParaRPr lang="en-US" altLang="zh-CN" sz="16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altLang="zh-CN" sz="1500" b="1" i="1" dirty="0" smtClean="0">
                              <a:solidFill>
                                <a:schemeClr val="tx1"/>
                              </a:solidFill>
                              <a:latin typeface="Cambria Math" panose="02040503050406030204" pitchFamily="18" charset="0"/>
                            </a:rPr>
                          </m:ctrlPr>
                        </m:sSupPr>
                        <m:e>
                          <m:r>
                            <a:rPr lang="en-US" altLang="zh-CN" sz="1500" b="1" i="1" dirty="0" smtClean="0">
                              <a:solidFill>
                                <a:schemeClr val="tx1"/>
                              </a:solidFill>
                              <a:latin typeface="Cambria Math" panose="02040503050406030204" pitchFamily="18" charset="0"/>
                            </a:rPr>
                            <m:t>𝒗</m:t>
                          </m:r>
                        </m:e>
                        <m:sup>
                          <m:r>
                            <a:rPr lang="en-US" altLang="zh-CN" sz="1500" b="1" i="1" dirty="0" smtClean="0">
                              <a:solidFill>
                                <a:schemeClr val="tx1"/>
                              </a:solidFill>
                              <a:latin typeface="Cambria Math" panose="02040503050406030204" pitchFamily="18" charset="0"/>
                            </a:rPr>
                            <m:t>+</m:t>
                          </m:r>
                        </m:sup>
                      </m:sSup>
                      <m:r>
                        <a:rPr lang="en-US" altLang="zh-CN" sz="1500" b="1" i="1" dirty="0">
                          <a:solidFill>
                            <a:schemeClr val="tx1"/>
                          </a:solidFill>
                          <a:latin typeface="Cambria Math" panose="02040503050406030204" pitchFamily="18" charset="0"/>
                        </a:rPr>
                        <m:t>=</m:t>
                      </m:r>
                      <m:d>
                        <m:dPr>
                          <m:ctrlPr>
                            <a:rPr lang="en-US" altLang="zh-CN" sz="1500" b="1" i="1" dirty="0">
                              <a:solidFill>
                                <a:schemeClr val="tx1"/>
                              </a:solidFill>
                              <a:latin typeface="Cambria Math" panose="02040503050406030204" pitchFamily="18" charset="0"/>
                            </a:rPr>
                          </m:ctrlPr>
                        </m:dPr>
                        <m:e>
                          <m:func>
                            <m:funcPr>
                              <m:ctrlPr>
                                <a:rPr lang="en-US" altLang="zh-CN" sz="1500" b="1"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sin</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𝜃</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func>
                            <m:funcPr>
                              <m:ctrlPr>
                                <a:rPr lang="en-US" altLang="zh-CN" sz="1500"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cos</m:t>
                              </m:r>
                            </m:fName>
                            <m:e>
                              <m:sSubSup>
                                <m:sSubSupPr>
                                  <m:ctrlPr>
                                    <a:rPr lang="en-US" altLang="zh-CN" sz="1500" b="0" i="1" dirty="0" smtClean="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𝜙</m:t>
                                  </m:r>
                                </m:e>
                                <m:sub>
                                  <m:r>
                                    <a:rPr lang="en-US" altLang="zh-CN" sz="1500" b="0" i="1" dirty="0" smtClean="0">
                                      <a:solidFill>
                                        <a:schemeClr val="tx1"/>
                                      </a:solidFill>
                                      <a:latin typeface="Cambria Math" panose="02040503050406030204" pitchFamily="18" charset="0"/>
                                    </a:rPr>
                                    <m:t>𝑣</m:t>
                                  </m:r>
                                </m:sub>
                                <m:sup>
                                  <m:r>
                                    <a:rPr lang="en-US" altLang="zh-CN" sz="1500" b="0" i="1" dirty="0" smtClean="0">
                                      <a:solidFill>
                                        <a:schemeClr val="tx1"/>
                                      </a:solidFill>
                                      <a:latin typeface="Cambria Math" panose="02040503050406030204" pitchFamily="18" charset="0"/>
                                    </a:rPr>
                                    <m:t>+</m:t>
                                  </m:r>
                                </m:sup>
                              </m:sSubSup>
                            </m:e>
                          </m:func>
                          <m:r>
                            <a:rPr lang="en-US" altLang="zh-CN" sz="1500" i="1" dirty="0">
                              <a:solidFill>
                                <a:schemeClr val="tx1"/>
                              </a:solidFill>
                              <a:latin typeface="Cambria Math" panose="02040503050406030204" pitchFamily="18" charset="0"/>
                            </a:rPr>
                            <m:t>,</m:t>
                          </m:r>
                          <m:func>
                            <m:funcPr>
                              <m:ctrlPr>
                                <a:rPr lang="en-US" altLang="zh-CN" sz="1500"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cos</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𝜃</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r>
                            <a:rPr lang="en-US" altLang="zh-CN" sz="1500" i="1" dirty="0">
                              <a:solidFill>
                                <a:schemeClr val="tx1"/>
                              </a:solidFill>
                              <a:latin typeface="Cambria Math" panose="02040503050406030204" pitchFamily="18" charset="0"/>
                            </a:rPr>
                            <m:t>,</m:t>
                          </m:r>
                          <m:func>
                            <m:funcPr>
                              <m:ctrlPr>
                                <a:rPr lang="en-US" altLang="zh-CN" sz="1500"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sin</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𝜃</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func>
                            <m:funcPr>
                              <m:ctrlPr>
                                <a:rPr lang="en-US" altLang="zh-CN" sz="1500"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sin</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𝜙</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e>
                      </m:d>
                      <m:r>
                        <a:rPr lang="en-US" altLang="zh-CN" sz="1500" b="0" i="1" dirty="0" smtClean="0">
                          <a:solidFill>
                            <a:schemeClr val="tx1"/>
                          </a:solidFill>
                          <a:latin typeface="Cambria Math" panose="02040503050406030204" pitchFamily="18" charset="0"/>
                        </a:rPr>
                        <m:t>,  </m:t>
                      </m:r>
                      <m:sSup>
                        <m:sSupPr>
                          <m:ctrlPr>
                            <a:rPr lang="en-US" altLang="zh-CN" sz="1500" b="0" i="1" dirty="0" smtClean="0">
                              <a:solidFill>
                                <a:schemeClr val="tx1"/>
                              </a:solidFill>
                              <a:latin typeface="Cambria Math" panose="02040503050406030204" pitchFamily="18" charset="0"/>
                            </a:rPr>
                          </m:ctrlPr>
                        </m:sSupPr>
                        <m:e>
                          <m:acc>
                            <m:accPr>
                              <m:chr m:val="̃"/>
                              <m:ctrlPr>
                                <a:rPr lang="en-US" altLang="zh-CN" sz="1500" b="0" i="1" dirty="0" smtClean="0">
                                  <a:solidFill>
                                    <a:schemeClr val="tx1"/>
                                  </a:solidFill>
                                  <a:latin typeface="Cambria Math" panose="02040503050406030204" pitchFamily="18" charset="0"/>
                                </a:rPr>
                              </m:ctrlPr>
                            </m:accPr>
                            <m:e>
                              <m:r>
                                <a:rPr lang="en-US" altLang="zh-CN" sz="1500" b="1" i="1" dirty="0" smtClean="0">
                                  <a:solidFill>
                                    <a:schemeClr val="tx1"/>
                                  </a:solidFill>
                                  <a:latin typeface="Cambria Math" panose="02040503050406030204" pitchFamily="18" charset="0"/>
                                </a:rPr>
                                <m:t>𝒗</m:t>
                              </m:r>
                            </m:e>
                          </m:acc>
                        </m:e>
                        <m:sup>
                          <m:r>
                            <a:rPr lang="en-US" altLang="zh-CN" sz="1500" b="0" i="1" dirty="0" smtClean="0">
                              <a:solidFill>
                                <a:schemeClr val="tx1"/>
                              </a:solidFill>
                              <a:latin typeface="Cambria Math" panose="02040503050406030204" pitchFamily="18" charset="0"/>
                            </a:rPr>
                            <m:t>+</m:t>
                          </m:r>
                        </m:sup>
                      </m:sSup>
                      <m:r>
                        <a:rPr lang="en-US" altLang="zh-CN" sz="1500" b="0" i="1" dirty="0" smtClean="0">
                          <a:solidFill>
                            <a:schemeClr val="tx1"/>
                          </a:solidFill>
                          <a:latin typeface="Cambria Math" panose="02040503050406030204" pitchFamily="18" charset="0"/>
                        </a:rPr>
                        <m:t>=</m:t>
                      </m:r>
                      <m:d>
                        <m:dPr>
                          <m:ctrlPr>
                            <a:rPr lang="en-US" altLang="zh-CN" sz="1500" b="0" i="1" dirty="0" smtClean="0">
                              <a:solidFill>
                                <a:schemeClr val="tx1"/>
                              </a:solidFill>
                              <a:latin typeface="Cambria Math" panose="02040503050406030204" pitchFamily="18" charset="0"/>
                            </a:rPr>
                          </m:ctrlPr>
                        </m:dPr>
                        <m:e>
                          <m:sSubSup>
                            <m:sSubSupPr>
                              <m:ctrlPr>
                                <a:rPr lang="en-US" altLang="zh-CN" sz="1500" b="0" i="1" dirty="0" smtClean="0">
                                  <a:solidFill>
                                    <a:schemeClr val="tx1"/>
                                  </a:solidFill>
                                  <a:latin typeface="Cambria Math" panose="02040503050406030204" pitchFamily="18" charset="0"/>
                                </a:rPr>
                              </m:ctrlPr>
                            </m:sSubSupPr>
                            <m:e>
                              <m:acc>
                                <m:accPr>
                                  <m:chr m:val="̃"/>
                                  <m:ctrlPr>
                                    <a:rPr lang="en-US" altLang="zh-CN" sz="1500" b="0" i="1" dirty="0" smtClean="0">
                                      <a:solidFill>
                                        <a:schemeClr val="tx1"/>
                                      </a:solidFill>
                                      <a:latin typeface="Cambria Math" panose="02040503050406030204" pitchFamily="18" charset="0"/>
                                    </a:rPr>
                                  </m:ctrlPr>
                                </m:accPr>
                                <m:e>
                                  <m:r>
                                    <a:rPr lang="en-US" altLang="zh-CN" sz="1500" b="0" i="1" dirty="0" smtClean="0">
                                      <a:solidFill>
                                        <a:schemeClr val="tx1"/>
                                      </a:solidFill>
                                      <a:latin typeface="Cambria Math" panose="02040503050406030204" pitchFamily="18" charset="0"/>
                                    </a:rPr>
                                    <m:t>𝑣</m:t>
                                  </m:r>
                                </m:e>
                              </m:acc>
                            </m:e>
                            <m:sub>
                              <m:r>
                                <a:rPr lang="en-US" altLang="zh-CN" sz="1500" b="0" i="1" dirty="0" smtClean="0">
                                  <a:solidFill>
                                    <a:schemeClr val="tx1"/>
                                  </a:solidFill>
                                  <a:latin typeface="Cambria Math" panose="02040503050406030204" pitchFamily="18" charset="0"/>
                                </a:rPr>
                                <m:t>𝑥</m:t>
                              </m:r>
                            </m:sub>
                            <m:sup>
                              <m:r>
                                <a:rPr lang="en-US" altLang="zh-CN" sz="1500" b="0" i="1" dirty="0" smtClean="0">
                                  <a:solidFill>
                                    <a:schemeClr val="tx1"/>
                                  </a:solidFill>
                                  <a:latin typeface="Cambria Math" panose="02040503050406030204" pitchFamily="18" charset="0"/>
                                </a:rPr>
                                <m:t>+</m:t>
                              </m:r>
                            </m:sup>
                          </m:sSubSup>
                          <m:r>
                            <a:rPr lang="en-US" altLang="zh-CN" sz="1500" b="0" i="1" dirty="0" smtClean="0">
                              <a:solidFill>
                                <a:schemeClr val="tx1"/>
                              </a:solidFill>
                              <a:latin typeface="Cambria Math" panose="02040503050406030204" pitchFamily="18" charset="0"/>
                            </a:rPr>
                            <m:t>,</m:t>
                          </m:r>
                          <m:sSubSup>
                            <m:sSubSupPr>
                              <m:ctrlPr>
                                <a:rPr lang="en-US" altLang="zh-CN" sz="1500" b="0" i="1" dirty="0" smtClean="0">
                                  <a:solidFill>
                                    <a:schemeClr val="tx1"/>
                                  </a:solidFill>
                                  <a:latin typeface="Cambria Math" panose="02040503050406030204" pitchFamily="18" charset="0"/>
                                </a:rPr>
                              </m:ctrlPr>
                            </m:sSubSupPr>
                            <m:e>
                              <m:acc>
                                <m:accPr>
                                  <m:chr m:val="̃"/>
                                  <m:ctrlPr>
                                    <a:rPr lang="en-US" altLang="zh-CN" sz="1500" i="1" dirty="0">
                                      <a:solidFill>
                                        <a:schemeClr val="tx1"/>
                                      </a:solidFill>
                                      <a:latin typeface="Cambria Math" panose="02040503050406030204" pitchFamily="18" charset="0"/>
                                    </a:rPr>
                                  </m:ctrlPr>
                                </m:accPr>
                                <m:e>
                                  <m:r>
                                    <a:rPr lang="en-US" altLang="zh-CN" sz="1500" i="1" dirty="0">
                                      <a:solidFill>
                                        <a:schemeClr val="tx1"/>
                                      </a:solidFill>
                                      <a:latin typeface="Cambria Math" panose="02040503050406030204" pitchFamily="18" charset="0"/>
                                    </a:rPr>
                                    <m:t>𝑣</m:t>
                                  </m:r>
                                </m:e>
                              </m:acc>
                            </m:e>
                            <m:sub>
                              <m:r>
                                <a:rPr lang="en-US" altLang="zh-CN" sz="1500" b="0" i="1" dirty="0" smtClean="0">
                                  <a:solidFill>
                                    <a:schemeClr val="tx1"/>
                                  </a:solidFill>
                                  <a:latin typeface="Cambria Math" panose="02040503050406030204" pitchFamily="18" charset="0"/>
                                </a:rPr>
                                <m:t>𝑧</m:t>
                              </m:r>
                            </m:sub>
                            <m:sup>
                              <m:r>
                                <a:rPr lang="en-US" altLang="zh-CN" sz="1500" b="0" i="1" dirty="0" smtClean="0">
                                  <a:solidFill>
                                    <a:schemeClr val="tx1"/>
                                  </a:solidFill>
                                  <a:latin typeface="Cambria Math" panose="02040503050406030204" pitchFamily="18" charset="0"/>
                                </a:rPr>
                                <m:t>+</m:t>
                              </m:r>
                            </m:sup>
                          </m:sSubSup>
                        </m:e>
                      </m:d>
                      <m:r>
                        <a:rPr lang="en-US" altLang="zh-CN" sz="1500" b="0" i="1" dirty="0" smtClean="0">
                          <a:solidFill>
                            <a:schemeClr val="tx1"/>
                          </a:solidFill>
                          <a:latin typeface="Cambria Math" panose="02040503050406030204" pitchFamily="18" charset="0"/>
                        </a:rPr>
                        <m:t>=</m:t>
                      </m:r>
                      <m:d>
                        <m:dPr>
                          <m:ctrlPr>
                            <a:rPr lang="en-US" altLang="zh-CN" sz="1500" b="0" i="1" dirty="0" smtClean="0">
                              <a:solidFill>
                                <a:schemeClr val="tx1"/>
                              </a:solidFill>
                              <a:latin typeface="Cambria Math" panose="02040503050406030204" pitchFamily="18" charset="0"/>
                            </a:rPr>
                          </m:ctrlPr>
                        </m:dPr>
                        <m:e>
                          <m:f>
                            <m:fPr>
                              <m:ctrlPr>
                                <a:rPr lang="en-US" altLang="zh-CN" sz="1500" b="0" i="1" dirty="0" smtClean="0">
                                  <a:solidFill>
                                    <a:schemeClr val="tx1"/>
                                  </a:solidFill>
                                  <a:latin typeface="Cambria Math" panose="02040503050406030204" pitchFamily="18" charset="0"/>
                                </a:rPr>
                              </m:ctrlPr>
                            </m:fPr>
                            <m:num>
                              <m:sSubSup>
                                <m:sSubSupPr>
                                  <m:ctrlPr>
                                    <a:rPr lang="en-US" altLang="zh-CN" sz="1500" b="0" i="1" dirty="0" smtClean="0">
                                      <a:solidFill>
                                        <a:schemeClr val="tx1"/>
                                      </a:solidFill>
                                      <a:latin typeface="Cambria Math" panose="02040503050406030204" pitchFamily="18" charset="0"/>
                                    </a:rPr>
                                  </m:ctrlPr>
                                </m:sSubSupPr>
                                <m:e>
                                  <m:r>
                                    <a:rPr lang="en-US" altLang="zh-CN" sz="1500" b="0" i="1" dirty="0" smtClean="0">
                                      <a:solidFill>
                                        <a:schemeClr val="tx1"/>
                                      </a:solidFill>
                                      <a:latin typeface="Cambria Math" panose="02040503050406030204" pitchFamily="18" charset="0"/>
                                    </a:rPr>
                                    <m:t>𝑣</m:t>
                                  </m:r>
                                </m:e>
                                <m:sub>
                                  <m:r>
                                    <a:rPr lang="en-US" altLang="zh-CN" sz="1500" b="0" i="1" dirty="0" smtClean="0">
                                      <a:solidFill>
                                        <a:schemeClr val="tx1"/>
                                      </a:solidFill>
                                      <a:latin typeface="Cambria Math" panose="02040503050406030204" pitchFamily="18" charset="0"/>
                                    </a:rPr>
                                    <m:t>𝑦</m:t>
                                  </m:r>
                                </m:sub>
                                <m:sup>
                                  <m:r>
                                    <a:rPr lang="en-US" altLang="zh-CN" sz="1500" b="0" i="1" dirty="0" smtClean="0">
                                      <a:solidFill>
                                        <a:schemeClr val="tx1"/>
                                      </a:solidFill>
                                      <a:latin typeface="Cambria Math" panose="02040503050406030204" pitchFamily="18" charset="0"/>
                                    </a:rPr>
                                    <m:t>+</m:t>
                                  </m:r>
                                </m:sup>
                              </m:sSubSup>
                            </m:num>
                            <m:den>
                              <m:sSubSup>
                                <m:sSubSupPr>
                                  <m:ctrlPr>
                                    <a:rPr lang="en-US" altLang="zh-CN" sz="1500" b="0" i="1" dirty="0" smtClean="0">
                                      <a:solidFill>
                                        <a:schemeClr val="tx1"/>
                                      </a:solidFill>
                                      <a:latin typeface="Cambria Math" panose="02040503050406030204" pitchFamily="18" charset="0"/>
                                    </a:rPr>
                                  </m:ctrlPr>
                                </m:sSubSupPr>
                                <m:e>
                                  <m:r>
                                    <a:rPr lang="en-US" altLang="zh-CN" sz="1500" b="0" i="1" dirty="0" smtClean="0">
                                      <a:solidFill>
                                        <a:schemeClr val="tx1"/>
                                      </a:solidFill>
                                      <a:latin typeface="Cambria Math" panose="02040503050406030204" pitchFamily="18" charset="0"/>
                                    </a:rPr>
                                    <m:t>𝑣</m:t>
                                  </m:r>
                                </m:e>
                                <m:sub>
                                  <m:r>
                                    <a:rPr lang="en-US" altLang="zh-CN" sz="1500" b="0" i="1" dirty="0" smtClean="0">
                                      <a:solidFill>
                                        <a:schemeClr val="tx1"/>
                                      </a:solidFill>
                                      <a:latin typeface="Cambria Math" panose="02040503050406030204" pitchFamily="18" charset="0"/>
                                    </a:rPr>
                                    <m:t>𝑥</m:t>
                                  </m:r>
                                </m:sub>
                                <m:sup>
                                  <m:r>
                                    <a:rPr lang="en-US" altLang="zh-CN" sz="1500" b="0" i="1" dirty="0" smtClean="0">
                                      <a:solidFill>
                                        <a:schemeClr val="tx1"/>
                                      </a:solidFill>
                                      <a:latin typeface="Cambria Math" panose="02040503050406030204" pitchFamily="18" charset="0"/>
                                    </a:rPr>
                                    <m:t>+</m:t>
                                  </m:r>
                                </m:sup>
                              </m:sSubSup>
                            </m:den>
                          </m:f>
                          <m:r>
                            <a:rPr lang="en-US" altLang="zh-CN" sz="1500" b="0" i="1" dirty="0" smtClean="0">
                              <a:solidFill>
                                <a:schemeClr val="tx1"/>
                              </a:solidFill>
                              <a:latin typeface="Cambria Math" panose="02040503050406030204" pitchFamily="18" charset="0"/>
                            </a:rPr>
                            <m:t>,</m:t>
                          </m:r>
                          <m:f>
                            <m:fPr>
                              <m:ctrlPr>
                                <a:rPr lang="en-US" altLang="zh-CN" sz="1500" b="0" i="1" dirty="0" smtClean="0">
                                  <a:solidFill>
                                    <a:schemeClr val="tx1"/>
                                  </a:solidFill>
                                  <a:latin typeface="Cambria Math" panose="02040503050406030204" pitchFamily="18" charset="0"/>
                                </a:rPr>
                              </m:ctrlPr>
                            </m:fPr>
                            <m:num>
                              <m:sSubSup>
                                <m:sSubSupPr>
                                  <m:ctrlPr>
                                    <a:rPr lang="en-US" altLang="zh-CN" sz="1500" b="0" i="1" dirty="0" smtClean="0">
                                      <a:solidFill>
                                        <a:schemeClr val="tx1"/>
                                      </a:solidFill>
                                      <a:latin typeface="Cambria Math" panose="02040503050406030204" pitchFamily="18" charset="0"/>
                                    </a:rPr>
                                  </m:ctrlPr>
                                </m:sSubSupPr>
                                <m:e>
                                  <m:r>
                                    <a:rPr lang="en-US" altLang="zh-CN" sz="1500" b="0" i="1" dirty="0" smtClean="0">
                                      <a:solidFill>
                                        <a:schemeClr val="tx1"/>
                                      </a:solidFill>
                                      <a:latin typeface="Cambria Math" panose="02040503050406030204" pitchFamily="18" charset="0"/>
                                    </a:rPr>
                                    <m:t>𝑣</m:t>
                                  </m:r>
                                </m:e>
                                <m:sub>
                                  <m:r>
                                    <a:rPr lang="en-US" altLang="zh-CN" sz="1500" b="0" i="1" dirty="0" smtClean="0">
                                      <a:solidFill>
                                        <a:schemeClr val="tx1"/>
                                      </a:solidFill>
                                      <a:latin typeface="Cambria Math" panose="02040503050406030204" pitchFamily="18" charset="0"/>
                                    </a:rPr>
                                    <m:t>𝑦</m:t>
                                  </m:r>
                                </m:sub>
                                <m:sup>
                                  <m:r>
                                    <a:rPr lang="en-US" altLang="zh-CN" sz="1500" b="0" i="1" dirty="0" smtClean="0">
                                      <a:solidFill>
                                        <a:schemeClr val="tx1"/>
                                      </a:solidFill>
                                      <a:latin typeface="Cambria Math" panose="02040503050406030204" pitchFamily="18" charset="0"/>
                                    </a:rPr>
                                    <m:t>+</m:t>
                                  </m:r>
                                </m:sup>
                              </m:sSubSup>
                            </m:num>
                            <m:den>
                              <m:sSubSup>
                                <m:sSubSupPr>
                                  <m:ctrlPr>
                                    <a:rPr lang="en-US" altLang="zh-CN" sz="1500" b="0" i="1" dirty="0" smtClean="0">
                                      <a:solidFill>
                                        <a:schemeClr val="tx1"/>
                                      </a:solidFill>
                                      <a:latin typeface="Cambria Math" panose="02040503050406030204" pitchFamily="18" charset="0"/>
                                    </a:rPr>
                                  </m:ctrlPr>
                                </m:sSubSupPr>
                                <m:e>
                                  <m:r>
                                    <a:rPr lang="en-US" altLang="zh-CN" sz="1500" b="0" i="1" dirty="0" smtClean="0">
                                      <a:solidFill>
                                        <a:schemeClr val="tx1"/>
                                      </a:solidFill>
                                      <a:latin typeface="Cambria Math" panose="02040503050406030204" pitchFamily="18" charset="0"/>
                                    </a:rPr>
                                    <m:t>𝑣</m:t>
                                  </m:r>
                                </m:e>
                                <m:sub>
                                  <m:r>
                                    <a:rPr lang="en-US" altLang="zh-CN" sz="1500" b="0" i="1" dirty="0" smtClean="0">
                                      <a:solidFill>
                                        <a:schemeClr val="tx1"/>
                                      </a:solidFill>
                                      <a:latin typeface="Cambria Math" panose="02040503050406030204" pitchFamily="18" charset="0"/>
                                    </a:rPr>
                                    <m:t>𝑧</m:t>
                                  </m:r>
                                </m:sub>
                                <m:sup>
                                  <m:r>
                                    <a:rPr lang="en-US" altLang="zh-CN" sz="1500" b="0" i="1" dirty="0" smtClean="0">
                                      <a:solidFill>
                                        <a:schemeClr val="tx1"/>
                                      </a:solidFill>
                                      <a:latin typeface="Cambria Math" panose="02040503050406030204" pitchFamily="18" charset="0"/>
                                    </a:rPr>
                                    <m:t>+</m:t>
                                  </m:r>
                                </m:sup>
                              </m:sSubSup>
                            </m:den>
                          </m:f>
                        </m:e>
                      </m:d>
                      <m:r>
                        <a:rPr lang="en-US" altLang="zh-CN" sz="1500" b="0" i="1" dirty="0" smtClean="0">
                          <a:solidFill>
                            <a:schemeClr val="tx1"/>
                          </a:solidFill>
                          <a:latin typeface="Cambria Math" panose="02040503050406030204" pitchFamily="18" charset="0"/>
                        </a:rPr>
                        <m:t>=</m:t>
                      </m:r>
                      <m:d>
                        <m:dPr>
                          <m:ctrlPr>
                            <a:rPr lang="en-US" altLang="zh-CN" sz="1500" b="0" i="1" dirty="0" smtClean="0">
                              <a:solidFill>
                                <a:schemeClr val="tx1"/>
                              </a:solidFill>
                              <a:latin typeface="Cambria Math" panose="02040503050406030204" pitchFamily="18" charset="0"/>
                            </a:rPr>
                          </m:ctrlPr>
                        </m:dPr>
                        <m:e>
                          <m:f>
                            <m:fPr>
                              <m:ctrlPr>
                                <a:rPr lang="en-US" altLang="zh-CN" sz="1500" b="0" i="1" dirty="0" smtClean="0">
                                  <a:solidFill>
                                    <a:schemeClr val="tx1"/>
                                  </a:solidFill>
                                  <a:latin typeface="Cambria Math" panose="02040503050406030204" pitchFamily="18" charset="0"/>
                                </a:rPr>
                              </m:ctrlPr>
                            </m:fPr>
                            <m:num>
                              <m:func>
                                <m:funcPr>
                                  <m:ctrlPr>
                                    <a:rPr lang="en-US" altLang="zh-CN" sz="1500"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cos</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𝜃</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num>
                            <m:den>
                              <m:func>
                                <m:funcPr>
                                  <m:ctrlPr>
                                    <a:rPr lang="en-US" altLang="zh-CN" sz="1500" b="1"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sin</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𝜃</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func>
                                <m:funcPr>
                                  <m:ctrlPr>
                                    <a:rPr lang="en-US" altLang="zh-CN" sz="1500"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cos</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𝜙</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den>
                          </m:f>
                          <m:r>
                            <a:rPr lang="en-US" altLang="zh-CN" sz="1500" b="0" i="1" dirty="0" smtClean="0">
                              <a:solidFill>
                                <a:schemeClr val="tx1"/>
                              </a:solidFill>
                              <a:latin typeface="Cambria Math" panose="02040503050406030204" pitchFamily="18" charset="0"/>
                            </a:rPr>
                            <m:t>,</m:t>
                          </m:r>
                          <m:f>
                            <m:fPr>
                              <m:ctrlPr>
                                <a:rPr lang="en-US" altLang="zh-CN" sz="1500" b="0" i="1" dirty="0" smtClean="0">
                                  <a:solidFill>
                                    <a:schemeClr val="tx1"/>
                                  </a:solidFill>
                                  <a:latin typeface="Cambria Math" panose="02040503050406030204" pitchFamily="18" charset="0"/>
                                </a:rPr>
                              </m:ctrlPr>
                            </m:fPr>
                            <m:num>
                              <m:func>
                                <m:funcPr>
                                  <m:ctrlPr>
                                    <a:rPr lang="en-US" altLang="zh-CN" sz="1500"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cos</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𝜃</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num>
                            <m:den>
                              <m:func>
                                <m:funcPr>
                                  <m:ctrlPr>
                                    <a:rPr lang="en-US" altLang="zh-CN" sz="1500"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sin</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𝜃</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func>
                                <m:funcPr>
                                  <m:ctrlPr>
                                    <a:rPr lang="en-US" altLang="zh-CN" sz="1500"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sin</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𝜙</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den>
                          </m:f>
                        </m:e>
                      </m:d>
                      <m:r>
                        <a:rPr lang="en-US" altLang="zh-CN" sz="1500" b="0" i="1" dirty="0" smtClean="0">
                          <a:solidFill>
                            <a:schemeClr val="tx1"/>
                          </a:solidFill>
                          <a:latin typeface="Cambria Math" panose="02040503050406030204" pitchFamily="18" charset="0"/>
                        </a:rPr>
                        <m:t>=</m:t>
                      </m:r>
                      <m:d>
                        <m:dPr>
                          <m:ctrlPr>
                            <a:rPr lang="en-US" altLang="zh-CN" sz="1500" b="0" i="1" dirty="0" smtClean="0">
                              <a:solidFill>
                                <a:schemeClr val="tx1"/>
                              </a:solidFill>
                              <a:latin typeface="Cambria Math" panose="02040503050406030204" pitchFamily="18" charset="0"/>
                            </a:rPr>
                          </m:ctrlPr>
                        </m:dPr>
                        <m:e>
                          <m:f>
                            <m:fPr>
                              <m:ctrlPr>
                                <a:rPr lang="en-US" altLang="zh-CN" sz="1500" i="1" dirty="0">
                                  <a:solidFill>
                                    <a:schemeClr val="tx1"/>
                                  </a:solidFill>
                                  <a:latin typeface="Cambria Math" panose="02040503050406030204" pitchFamily="18" charset="0"/>
                                </a:rPr>
                              </m:ctrlPr>
                            </m:fPr>
                            <m:num>
                              <m:func>
                                <m:funcPr>
                                  <m:ctrlPr>
                                    <a:rPr lang="en-US" altLang="zh-CN" sz="1500"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cot</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𝜃</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num>
                            <m:den>
                              <m:func>
                                <m:funcPr>
                                  <m:ctrlPr>
                                    <a:rPr lang="en-US" altLang="zh-CN" sz="1500"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cos</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𝜙</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den>
                          </m:f>
                          <m:r>
                            <a:rPr lang="en-US" altLang="zh-CN" sz="1500" b="0" i="1" dirty="0" smtClean="0">
                              <a:solidFill>
                                <a:schemeClr val="tx1"/>
                              </a:solidFill>
                              <a:latin typeface="Cambria Math" panose="02040503050406030204" pitchFamily="18" charset="0"/>
                            </a:rPr>
                            <m:t>,</m:t>
                          </m:r>
                          <m:f>
                            <m:fPr>
                              <m:ctrlPr>
                                <a:rPr lang="en-US" altLang="zh-CN" sz="1500" i="1" dirty="0">
                                  <a:solidFill>
                                    <a:schemeClr val="tx1"/>
                                  </a:solidFill>
                                  <a:latin typeface="Cambria Math" panose="02040503050406030204" pitchFamily="18" charset="0"/>
                                </a:rPr>
                              </m:ctrlPr>
                            </m:fPr>
                            <m:num>
                              <m:func>
                                <m:funcPr>
                                  <m:ctrlPr>
                                    <a:rPr lang="en-US" altLang="zh-CN" sz="1500"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cot</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𝜃</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num>
                            <m:den>
                              <m:func>
                                <m:funcPr>
                                  <m:ctrlPr>
                                    <a:rPr lang="en-US" altLang="zh-CN" sz="1500" i="1" dirty="0">
                                      <a:solidFill>
                                        <a:schemeClr val="tx1"/>
                                      </a:solidFill>
                                      <a:latin typeface="Cambria Math" panose="02040503050406030204" pitchFamily="18" charset="0"/>
                                    </a:rPr>
                                  </m:ctrlPr>
                                </m:funcPr>
                                <m:fName>
                                  <m:r>
                                    <m:rPr>
                                      <m:sty m:val="p"/>
                                    </m:rPr>
                                    <a:rPr lang="en-US" altLang="zh-CN" sz="1500" dirty="0">
                                      <a:solidFill>
                                        <a:schemeClr val="tx1"/>
                                      </a:solidFill>
                                      <a:latin typeface="Cambria Math" panose="02040503050406030204" pitchFamily="18" charset="0"/>
                                    </a:rPr>
                                    <m:t>s</m:t>
                                  </m:r>
                                  <m:r>
                                    <m:rPr>
                                      <m:sty m:val="p"/>
                                    </m:rPr>
                                    <a:rPr lang="en-US" altLang="zh-CN" sz="1500" b="0" i="0" dirty="0" smtClean="0">
                                      <a:solidFill>
                                        <a:schemeClr val="tx1"/>
                                      </a:solidFill>
                                      <a:latin typeface="Cambria Math" panose="02040503050406030204" pitchFamily="18" charset="0"/>
                                    </a:rPr>
                                    <m:t>in</m:t>
                                  </m:r>
                                </m:fName>
                                <m:e>
                                  <m:sSubSup>
                                    <m:sSubSupPr>
                                      <m:ctrlPr>
                                        <a:rPr lang="en-US" altLang="zh-CN" sz="1500" i="1" dirty="0">
                                          <a:solidFill>
                                            <a:schemeClr val="tx1"/>
                                          </a:solidFill>
                                          <a:latin typeface="Cambria Math" panose="02040503050406030204" pitchFamily="18" charset="0"/>
                                        </a:rPr>
                                      </m:ctrlPr>
                                    </m:sSubSupPr>
                                    <m:e>
                                      <m:r>
                                        <a:rPr lang="en-US" altLang="zh-CN" sz="1500" i="1" dirty="0">
                                          <a:solidFill>
                                            <a:schemeClr val="tx1"/>
                                          </a:solidFill>
                                          <a:latin typeface="Cambria Math" panose="02040503050406030204" pitchFamily="18" charset="0"/>
                                        </a:rPr>
                                        <m:t>𝜙</m:t>
                                      </m:r>
                                    </m:e>
                                    <m:sub>
                                      <m:r>
                                        <a:rPr lang="en-US" altLang="zh-CN" sz="1500" i="1" dirty="0">
                                          <a:solidFill>
                                            <a:schemeClr val="tx1"/>
                                          </a:solidFill>
                                          <a:latin typeface="Cambria Math" panose="02040503050406030204" pitchFamily="18" charset="0"/>
                                        </a:rPr>
                                        <m:t>𝑣</m:t>
                                      </m:r>
                                    </m:sub>
                                    <m:sup>
                                      <m:r>
                                        <a:rPr lang="en-US" altLang="zh-CN" sz="1500" i="1" dirty="0">
                                          <a:solidFill>
                                            <a:schemeClr val="tx1"/>
                                          </a:solidFill>
                                          <a:latin typeface="Cambria Math" panose="02040503050406030204" pitchFamily="18" charset="0"/>
                                        </a:rPr>
                                        <m:t>+</m:t>
                                      </m:r>
                                    </m:sup>
                                  </m:sSubSup>
                                </m:e>
                              </m:func>
                            </m:den>
                          </m:f>
                        </m:e>
                      </m:d>
                    </m:oMath>
                  </m:oMathPara>
                </a14:m>
                <a:endParaRPr lang="en-US" altLang="zh-CN" sz="15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cot</m:t>
                                  </m:r>
                                </m:e>
                                <m:sup>
                                  <m:r>
                                    <a:rPr lang="en-US" altLang="zh-CN" sz="1600" i="1" dirty="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den>
                      </m:f>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den>
                      </m:f>
                      <m:r>
                        <a:rPr lang="en-US" altLang="zh-CN" sz="1600" b="0" i="1" dirty="0" smtClean="0">
                          <a:solidFill>
                            <a:schemeClr val="tx1"/>
                          </a:solidFill>
                          <a:latin typeface="Cambria Math" panose="02040503050406030204" pitchFamily="18" charset="0"/>
                        </a:rPr>
                        <m:t>,</m:t>
                      </m:r>
                      <m:r>
                        <a:rPr lang="en-US" altLang="zh-CN" sz="1600" b="0" i="0" dirty="0" smtClean="0">
                          <a:solidFill>
                            <a:schemeClr val="tx1"/>
                          </a:solidFill>
                          <a:latin typeface="Cambria Math" panose="02040503050406030204" pitchFamily="18" charset="0"/>
                        </a:rPr>
                        <m:t>  </m:t>
                      </m:r>
                      <m:r>
                        <m:rPr>
                          <m:sty m:val="p"/>
                        </m:rPr>
                        <a:rPr lang="en-US" altLang="zh-CN" sz="1600" dirty="0">
                          <a:solidFill>
                            <a:schemeClr val="tx1"/>
                          </a:solidFill>
                          <a:latin typeface="Cambria Math" panose="02040503050406030204" pitchFamily="18" charset="0"/>
                        </a:rPr>
                        <m:t>Λ</m:t>
                      </m:r>
                      <m:d>
                        <m:dPr>
                          <m:ctrlPr>
                            <a:rPr lang="en-US" altLang="zh-CN" sz="1600" b="1" i="1" dirty="0">
                              <a:solidFill>
                                <a:schemeClr val="tx1"/>
                              </a:solidFill>
                              <a:latin typeface="Cambria Math" panose="02040503050406030204" pitchFamily="18" charset="0"/>
                            </a:rPr>
                          </m:ctrlPr>
                        </m:dPr>
                        <m:e>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r>
                            <a:rPr lang="en-US" altLang="zh-CN" sz="1600" b="1" i="1" dirty="0" smtClean="0">
                              <a:solidFill>
                                <a:schemeClr val="tx1"/>
                              </a:solidFill>
                              <a:latin typeface="Cambria Math" panose="02040503050406030204" pitchFamily="18" charset="0"/>
                            </a:rPr>
                            <m:t>,</m:t>
                          </m:r>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b="0" i="1" dirty="0" smtClean="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sup>
                          </m:sSubSup>
                        </m:e>
                      </m:d>
                      <m:r>
                        <a:rPr lang="en-US" altLang="zh-CN" sz="1600" b="1" i="1" dirty="0">
                          <a:solidFill>
                            <a:schemeClr val="tx1"/>
                          </a:solidFill>
                          <a:latin typeface="Cambria Math" panose="02040503050406030204" pitchFamily="18" charset="0"/>
                        </a:rPr>
                        <m:t>=</m:t>
                      </m:r>
                      <m:f>
                        <m:fPr>
                          <m:ctrlPr>
                            <a:rPr lang="en-US" altLang="zh-CN" sz="1600" b="1" i="1" dirty="0">
                              <a:solidFill>
                                <a:schemeClr val="tx1"/>
                              </a:solidFill>
                              <a:latin typeface="Cambria Math" panose="02040503050406030204" pitchFamily="18" charset="0"/>
                            </a:rPr>
                          </m:ctrlPr>
                        </m:fPr>
                        <m:num>
                          <m:rad>
                            <m:radPr>
                              <m:degHide m:val="on"/>
                              <m:ctrlPr>
                                <a:rPr lang="en-US" altLang="zh-CN" sz="1600"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den>
                              </m:f>
                            </m:e>
                          </m:rad>
                          <m:r>
                            <a:rPr lang="en-US" altLang="zh-CN" sz="1600" i="1"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2</m:t>
                          </m:r>
                        </m:den>
                      </m:f>
                    </m:oMath>
                  </m:oMathPara>
                </a14:m>
                <a:endParaRPr lang="en-US" altLang="zh-CN" sz="1500" b="0" i="1" dirty="0">
                  <a:solidFill>
                    <a:schemeClr val="tx1"/>
                  </a:solidFill>
                  <a:latin typeface="Cambria Math" panose="02040503050406030204" pitchFamily="18" charset="0"/>
                </a:endParaRPr>
              </a:p>
            </p:txBody>
          </p:sp>
        </mc:Choice>
        <mc:Fallback xmlns="">
          <p:sp>
            <p:nvSpPr>
              <p:cNvPr id="4" name="矩形 3">
                <a:extLst>
                  <a:ext uri="{FF2B5EF4-FFF2-40B4-BE49-F238E27FC236}">
                    <a16:creationId xmlns:a16="http://schemas.microsoft.com/office/drawing/2014/main" id="{AE5E0F47-9B13-F667-82F2-F27F72B31305}"/>
                  </a:ext>
                </a:extLst>
              </p:cNvPr>
              <p:cNvSpPr>
                <a:spLocks noRot="1" noChangeAspect="1" noMove="1" noResize="1" noEditPoints="1" noAdjustHandles="1" noChangeArrowheads="1" noChangeShapeType="1" noTextEdit="1"/>
              </p:cNvSpPr>
              <p:nvPr/>
            </p:nvSpPr>
            <p:spPr>
              <a:xfrm>
                <a:off x="478709" y="1158658"/>
                <a:ext cx="11151707" cy="5192038"/>
              </a:xfrm>
              <a:prstGeom prst="rect">
                <a:avLst/>
              </a:prstGeom>
              <a:blipFill>
                <a:blip r:embed="rId3"/>
                <a:stretch>
                  <a:fillRect t="-23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801962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8425A-9F56-7365-B132-E7F01D55285F}"/>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E1CF6F57-DA63-4B3E-A7EF-198B1BD8455A}"/>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伸缩不变性 </a:t>
                </a:r>
                <a:r>
                  <a:rPr lang="en-US" altLang="zh-CN" dirty="0"/>
                  <a:t>—— </a:t>
                </a:r>
                <a14:m>
                  <m:oMath xmlns:m="http://schemas.openxmlformats.org/officeDocument/2006/math">
                    <m:r>
                      <m:rPr>
                        <m:sty m:val="p"/>
                      </m:rPr>
                      <a:rPr lang="en-US" altLang="zh-CN" b="0" i="0" dirty="0" smtClean="0">
                        <a:solidFill>
                          <a:schemeClr val="tx1"/>
                        </a:solidFill>
                        <a:latin typeface="Cambria Math" panose="02040503050406030204" pitchFamily="18" charset="0"/>
                      </a:rPr>
                      <m:t>Λ</m:t>
                    </m:r>
                  </m:oMath>
                </a14:m>
                <a:r>
                  <a:rPr lang="zh-CN" altLang="en-US" dirty="0"/>
                  <a:t>函数</a:t>
                </a:r>
                <a:endParaRPr lang="en-US" altLang="zh-CN" dirty="0"/>
              </a:p>
            </p:txBody>
          </p:sp>
        </mc:Choice>
        <mc:Fallback xmlns="">
          <p:sp>
            <p:nvSpPr>
              <p:cNvPr id="13" name="标题 2">
                <a:extLst>
                  <a:ext uri="{FF2B5EF4-FFF2-40B4-BE49-F238E27FC236}">
                    <a16:creationId xmlns:a16="http://schemas.microsoft.com/office/drawing/2014/main" id="{E1CF6F57-DA63-4B3E-A7EF-198B1BD8455A}"/>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017" b="-8475"/>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DF1D7D83-CA43-68AC-E277-7A1B957D8896}"/>
              </a:ext>
            </a:extLst>
          </p:cNvPr>
          <p:cNvSpPr/>
          <p:nvPr/>
        </p:nvSpPr>
        <p:spPr>
          <a:xfrm>
            <a:off x="631109" y="1329847"/>
            <a:ext cx="11151707" cy="5192038"/>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A9D5114C-A47C-5AE9-8378-99056F89ED1F}"/>
                  </a:ext>
                </a:extLst>
              </p:cNvPr>
              <p:cNvSpPr/>
              <p:nvPr/>
            </p:nvSpPr>
            <p:spPr>
              <a:xfrm>
                <a:off x="478709" y="1158658"/>
                <a:ext cx="11151707" cy="519203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m:rPr>
                          <m:nor/>
                        </m:rPr>
                        <a:rPr lang="zh-CN" altLang="en-US" sz="1600" dirty="0" smtClean="0">
                          <a:solidFill>
                            <a:schemeClr val="tx1"/>
                          </a:solidFill>
                          <a:latin typeface="Cambria Math" panose="02040503050406030204" pitchFamily="18" charset="0"/>
                        </a:rPr>
                        <m:t>对微面结构拉伸</m:t>
                      </m:r>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𝛼</m:t>
                          </m:r>
                        </m:den>
                      </m:f>
                      <m:r>
                        <m:rPr>
                          <m:nor/>
                        </m:rPr>
                        <a:rPr lang="zh-CN" altLang="en-US" sz="1600" dirty="0">
                          <a:solidFill>
                            <a:schemeClr val="tx1"/>
                          </a:solidFill>
                          <a:latin typeface="Cambria Math" panose="02040503050406030204" pitchFamily="18" charset="0"/>
                        </a:rPr>
                        <m:t>倍</m:t>
                      </m:r>
                      <m:r>
                        <m:rPr>
                          <m:nor/>
                        </m:rPr>
                        <a:rPr lang="zh-CN" altLang="en-US" sz="1600" dirty="0">
                          <a:solidFill>
                            <a:schemeClr val="tx1"/>
                          </a:solidFill>
                          <a:latin typeface="Cambria Math" panose="02040503050406030204" pitchFamily="18" charset="0"/>
                        </a:rPr>
                        <m:t>，</m:t>
                      </m:r>
                      <m:r>
                        <m:rPr>
                          <m:nor/>
                        </m:rPr>
                        <a:rPr lang="zh-CN" altLang="en-US" sz="1600" dirty="0">
                          <a:solidFill>
                            <a:schemeClr val="tx1"/>
                          </a:solidFill>
                          <a:latin typeface="Cambria Math" panose="02040503050406030204" pitchFamily="18" charset="0"/>
                        </a:rPr>
                        <m:t>也要对光线拉伸</m:t>
                      </m:r>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𝛼</m:t>
                          </m:r>
                        </m:den>
                      </m:f>
                      <m:r>
                        <m:rPr>
                          <m:nor/>
                        </m:rPr>
                        <a:rPr lang="zh-CN" altLang="en-US" sz="1600" dirty="0">
                          <a:solidFill>
                            <a:schemeClr val="tx1"/>
                          </a:solidFill>
                          <a:latin typeface="Cambria Math" panose="02040503050406030204" pitchFamily="18" charset="0"/>
                        </a:rPr>
                        <m:t>倍</m:t>
                      </m:r>
                      <m:r>
                        <m:rPr>
                          <m:nor/>
                        </m:rPr>
                        <a:rPr lang="zh-CN" altLang="en-US" sz="1600" dirty="0">
                          <a:solidFill>
                            <a:schemeClr val="tx1"/>
                          </a:solidFill>
                          <a:latin typeface="Cambria Math" panose="02040503050406030204" pitchFamily="18" charset="0"/>
                        </a:rPr>
                        <m:t>，</m:t>
                      </m:r>
                      <m:r>
                        <m:rPr>
                          <m:nor/>
                        </m:rPr>
                        <a:rPr lang="zh-CN" altLang="en-US" sz="1600" dirty="0">
                          <a:solidFill>
                            <a:schemeClr val="tx1"/>
                          </a:solidFill>
                          <a:latin typeface="Cambria Math" panose="02040503050406030204" pitchFamily="18" charset="0"/>
                        </a:rPr>
                        <m:t>实际上是对光线斜率收缩</m:t>
                      </m:r>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𝛼</m:t>
                          </m:r>
                        </m:den>
                      </m:f>
                      <m:r>
                        <m:rPr>
                          <m:nor/>
                        </m:rPr>
                        <a:rPr lang="zh-CN" altLang="en-US" sz="1600" dirty="0">
                          <a:solidFill>
                            <a:schemeClr val="tx1"/>
                          </a:solidFill>
                          <a:latin typeface="Cambria Math" panose="02040503050406030204" pitchFamily="18" charset="0"/>
                        </a:rPr>
                        <m:t>倍</m:t>
                      </m:r>
                      <m:r>
                        <a:rPr lang="zh-CN" altLang="en-US" sz="1600" i="1" dirty="0">
                          <a:solidFill>
                            <a:schemeClr val="tx1"/>
                          </a:solidFill>
                          <a:latin typeface="Cambria Math" panose="02040503050406030204" pitchFamily="18" charset="0"/>
                        </a:rPr>
                        <m:t>，</m:t>
                      </m:r>
                      <m:r>
                        <a:rPr lang="zh-CN" altLang="en-US" sz="1600" i="1" dirty="0">
                          <a:solidFill>
                            <a:schemeClr val="tx1"/>
                          </a:solidFill>
                          <a:latin typeface="Cambria Math" panose="02040503050406030204" pitchFamily="18" charset="0"/>
                        </a:rPr>
                        <m:t>也就是拉伸</m:t>
                      </m:r>
                      <m:r>
                        <m:rPr>
                          <m:sty m:val="p"/>
                        </m:rPr>
                        <a:rPr lang="en-US" altLang="zh-CN" sz="1600" b="0" i="1" dirty="0" smtClean="0">
                          <a:solidFill>
                            <a:schemeClr val="tx1"/>
                          </a:solidFill>
                          <a:latin typeface="Cambria Math" panose="02040503050406030204" pitchFamily="18" charset="0"/>
                        </a:rPr>
                        <m:t>α</m:t>
                      </m:r>
                      <m:r>
                        <a:rPr lang="zh-CN" altLang="en-US" sz="1600" i="1" dirty="0">
                          <a:solidFill>
                            <a:schemeClr val="tx1"/>
                          </a:solidFill>
                          <a:latin typeface="Cambria Math" panose="02040503050406030204" pitchFamily="18" charset="0"/>
                        </a:rPr>
                        <m:t>倍</m:t>
                      </m:r>
                      <m:r>
                        <m:rPr>
                          <m:nor/>
                        </m:rPr>
                        <a:rPr lang="zh-CN" altLang="en-US" sz="1600" dirty="0">
                          <a:solidFill>
                            <a:schemeClr val="tx1"/>
                          </a:solidFill>
                          <a:latin typeface="Cambria Math" panose="02040503050406030204" pitchFamily="18" charset="0"/>
                        </a:rPr>
                        <m:t>。</m:t>
                      </m:r>
                    </m:oMath>
                  </m:oMathPara>
                </a14:m>
                <a:endParaRPr lang="en-US" altLang="zh-CN" sz="160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1600" i="1" dirty="0" smtClean="0">
                          <a:solidFill>
                            <a:schemeClr val="tx1"/>
                          </a:solidFill>
                          <a:latin typeface="Cambria Math" panose="02040503050406030204" pitchFamily="18" charset="0"/>
                        </a:rPr>
                        <m:t>拉伸前</m:t>
                      </m:r>
                      <m:r>
                        <a:rPr lang="zh-CN" altLang="en-US" sz="1600" i="1" dirty="0">
                          <a:solidFill>
                            <a:schemeClr val="tx1"/>
                          </a:solidFill>
                          <a:latin typeface="Cambria Math" panose="02040503050406030204" pitchFamily="18" charset="0"/>
                        </a:rPr>
                        <m:t>光线</m:t>
                      </m:r>
                      <m:r>
                        <a:rPr lang="en-US" altLang="zh-CN" sz="1600" b="1" i="1" dirty="0" smtClean="0">
                          <a:solidFill>
                            <a:schemeClr val="tx1"/>
                          </a:solidFill>
                          <a:latin typeface="Cambria Math" panose="02040503050406030204" pitchFamily="18" charset="0"/>
                        </a:rPr>
                        <m:t>𝒗</m:t>
                      </m:r>
                      <m:r>
                        <a:rPr lang="zh-CN" altLang="en-US" sz="1600" b="1" i="1" dirty="0">
                          <a:solidFill>
                            <a:schemeClr val="tx1"/>
                          </a:solidFill>
                          <a:latin typeface="Cambria Math" panose="02040503050406030204" pitchFamily="18" charset="0"/>
                        </a:rPr>
                        <m:t>与</m:t>
                      </m:r>
                      <m:r>
                        <a:rPr lang="zh-CN" altLang="en-US" sz="1600" b="1" i="1" dirty="0" smtClean="0">
                          <a:solidFill>
                            <a:schemeClr val="tx1"/>
                          </a:solidFill>
                          <a:latin typeface="Cambria Math" panose="02040503050406030204" pitchFamily="18" charset="0"/>
                        </a:rPr>
                        <m:t>拉伸后</m:t>
                      </m:r>
                      <m:r>
                        <a:rPr lang="zh-CN" altLang="en-US" sz="1600" b="1" i="1" dirty="0">
                          <a:solidFill>
                            <a:schemeClr val="tx1"/>
                          </a:solidFill>
                          <a:latin typeface="Cambria Math" panose="02040503050406030204" pitchFamily="18" charset="0"/>
                        </a:rPr>
                        <m:t>光线</m:t>
                      </m:r>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𝒗</m:t>
                          </m:r>
                        </m:e>
                        <m:sup>
                          <m:r>
                            <a:rPr lang="en-US" altLang="zh-CN" sz="1600" b="1" i="1" dirty="0" smtClean="0">
                              <a:solidFill>
                                <a:schemeClr val="tx1"/>
                              </a:solidFill>
                              <a:latin typeface="Cambria Math" panose="02040503050406030204" pitchFamily="18" charset="0"/>
                            </a:rPr>
                            <m:t>′</m:t>
                          </m:r>
                        </m:sup>
                      </m:sSup>
                      <m:r>
                        <a:rPr lang="zh-CN" altLang="en-US" sz="1600" i="1" dirty="0">
                          <a:solidFill>
                            <a:schemeClr val="tx1"/>
                          </a:solidFill>
                          <a:latin typeface="Cambria Math" panose="02040503050406030204" pitchFamily="18" charset="0"/>
                        </a:rPr>
                        <m:t>是</m:t>
                      </m:r>
                      <m:r>
                        <a:rPr lang="zh-CN" altLang="en-US" sz="1600" i="1" dirty="0" smtClean="0">
                          <a:solidFill>
                            <a:schemeClr val="tx1"/>
                          </a:solidFill>
                          <a:latin typeface="Cambria Math" panose="02040503050406030204" pitchFamily="18" charset="0"/>
                        </a:rPr>
                        <m:t>对应的</m:t>
                      </m:r>
                    </m:oMath>
                  </m:oMathPara>
                </a14:m>
                <a:endParaRPr lang="en-US" altLang="zh-CN" sz="16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a:rPr lang="zh-CN" altLang="en-US" sz="1600" i="1" dirty="0" smtClean="0">
                          <a:solidFill>
                            <a:schemeClr val="tx1"/>
                          </a:solidFill>
                          <a:latin typeface="Cambria Math" panose="02040503050406030204" pitchFamily="18" charset="0"/>
                        </a:rPr>
                        <m:t>拉伸前斜率为</m:t>
                      </m:r>
                      <m:acc>
                        <m:accPr>
                          <m:chr m:val="̃"/>
                          <m:ctrlPr>
                            <a:rPr lang="en-US" altLang="zh-CN" sz="1600" b="1" i="1" dirty="0" smtClean="0">
                              <a:solidFill>
                                <a:schemeClr val="tx1"/>
                              </a:solidFill>
                              <a:latin typeface="Cambria Math" panose="02040503050406030204" pitchFamily="18" charset="0"/>
                            </a:rPr>
                          </m:ctrlPr>
                        </m:accPr>
                        <m:e>
                          <m:r>
                            <a:rPr lang="en-US" altLang="zh-CN" sz="1600" b="1" i="1" dirty="0">
                              <a:solidFill>
                                <a:schemeClr val="tx1"/>
                              </a:solidFill>
                              <a:latin typeface="Cambria Math" panose="02040503050406030204" pitchFamily="18" charset="0"/>
                            </a:rPr>
                            <m:t>𝒗</m:t>
                          </m:r>
                        </m:e>
                      </m:acc>
                      <m:r>
                        <a:rPr lang="zh-CN" altLang="en-US" sz="1600" b="1" i="1" dirty="0">
                          <a:solidFill>
                            <a:schemeClr val="tx1"/>
                          </a:solidFill>
                          <a:latin typeface="Cambria Math" panose="02040503050406030204" pitchFamily="18" charset="0"/>
                        </a:rPr>
                        <m:t>的光线与</m:t>
                      </m:r>
                      <m:r>
                        <a:rPr lang="zh-CN" altLang="en-US" sz="1600" b="1" i="1" dirty="0" smtClean="0">
                          <a:solidFill>
                            <a:schemeClr val="tx1"/>
                          </a:solidFill>
                          <a:latin typeface="Cambria Math" panose="02040503050406030204" pitchFamily="18" charset="0"/>
                        </a:rPr>
                        <m:t>拉伸后</m:t>
                      </m:r>
                      <m:r>
                        <a:rPr lang="zh-CN" altLang="en-US" sz="1600" b="1" i="1" dirty="0">
                          <a:solidFill>
                            <a:schemeClr val="tx1"/>
                          </a:solidFill>
                          <a:latin typeface="Cambria Math" panose="02040503050406030204" pitchFamily="18" charset="0"/>
                        </a:rPr>
                        <m:t>斜率</m:t>
                      </m:r>
                      <m:r>
                        <a:rPr lang="zh-CN" altLang="en-US" sz="1600" b="1" i="1" dirty="0" smtClean="0">
                          <a:solidFill>
                            <a:schemeClr val="tx1"/>
                          </a:solidFill>
                          <a:latin typeface="Cambria Math" panose="02040503050406030204" pitchFamily="18" charset="0"/>
                        </a:rPr>
                        <m:t>为</m:t>
                      </m:r>
                      <m:r>
                        <a:rPr lang="en-US" altLang="zh-CN" sz="1600" b="0" i="1" dirty="0" smtClean="0">
                          <a:solidFill>
                            <a:schemeClr val="tx1"/>
                          </a:solidFill>
                          <a:latin typeface="Cambria Math" panose="02040503050406030204" pitchFamily="18" charset="0"/>
                        </a:rPr>
                        <m:t>𝛼</m:t>
                      </m:r>
                      <m:acc>
                        <m:accPr>
                          <m:chr m:val="̃"/>
                          <m:ctrlPr>
                            <a:rPr lang="en-US" altLang="zh-CN" sz="1600" b="1" i="1" dirty="0">
                              <a:solidFill>
                                <a:schemeClr val="tx1"/>
                              </a:solidFill>
                              <a:latin typeface="Cambria Math" panose="02040503050406030204" pitchFamily="18" charset="0"/>
                            </a:rPr>
                          </m:ctrlPr>
                        </m:accPr>
                        <m:e>
                          <m:r>
                            <a:rPr lang="en-US" altLang="zh-CN" sz="1600" b="1" i="1" dirty="0" smtClean="0">
                              <a:solidFill>
                                <a:schemeClr val="tx1"/>
                              </a:solidFill>
                              <a:latin typeface="Cambria Math" panose="02040503050406030204" pitchFamily="18" charset="0"/>
                            </a:rPr>
                            <m:t>𝒗</m:t>
                          </m:r>
                        </m:e>
                      </m:acc>
                      <m:r>
                        <a:rPr lang="zh-CN" altLang="en-US" sz="1600" i="1" dirty="0">
                          <a:solidFill>
                            <a:schemeClr val="tx1"/>
                          </a:solidFill>
                          <a:latin typeface="Cambria Math" panose="02040503050406030204" pitchFamily="18" charset="0"/>
                        </a:rPr>
                        <m:t>的光线是</m:t>
                      </m:r>
                      <m:r>
                        <a:rPr lang="zh-CN" altLang="en-US" sz="1600" i="1" dirty="0" smtClean="0">
                          <a:solidFill>
                            <a:schemeClr val="tx1"/>
                          </a:solidFill>
                          <a:latin typeface="Cambria Math" panose="02040503050406030204" pitchFamily="18" charset="0"/>
                        </a:rPr>
                        <m:t>对应的</m:t>
                      </m:r>
                      <m:r>
                        <a:rPr lang="zh-CN" altLang="en-US" sz="1600" i="1" dirty="0">
                          <a:solidFill>
                            <a:schemeClr val="tx1"/>
                          </a:solidFill>
                          <a:latin typeface="Cambria Math" panose="02040503050406030204" pitchFamily="18" charset="0"/>
                        </a:rPr>
                        <m:t>，</m:t>
                      </m:r>
                      <m:r>
                        <a:rPr lang="zh-CN" altLang="en-US" sz="1600" i="1" dirty="0">
                          <a:solidFill>
                            <a:schemeClr val="tx1"/>
                          </a:solidFill>
                          <a:latin typeface="Cambria Math" panose="02040503050406030204" pitchFamily="18" charset="0"/>
                        </a:rPr>
                        <m:t>令拉伸后的斜率为</m:t>
                      </m:r>
                      <m:sSup>
                        <m:sSupPr>
                          <m:ctrlPr>
                            <a:rPr lang="en-US" altLang="zh-CN" sz="1600" b="1" i="1" dirty="0">
                              <a:solidFill>
                                <a:schemeClr val="tx1"/>
                              </a:solidFill>
                              <a:latin typeface="Cambria Math" panose="02040503050406030204" pitchFamily="18" charset="0"/>
                            </a:rPr>
                          </m:ctrlPr>
                        </m:sSupPr>
                        <m:e>
                          <m:acc>
                            <m:accPr>
                              <m:chr m:val="̃"/>
                              <m:ctrlPr>
                                <a:rPr lang="en-US" altLang="zh-CN" sz="1600" b="1" i="1" dirty="0">
                                  <a:solidFill>
                                    <a:schemeClr val="tx1"/>
                                  </a:solidFill>
                                  <a:latin typeface="Cambria Math" panose="02040503050406030204" pitchFamily="18" charset="0"/>
                                </a:rPr>
                              </m:ctrlPr>
                            </m:accPr>
                            <m:e>
                              <m:r>
                                <a:rPr lang="en-US" altLang="zh-CN" sz="1600" b="1" i="1" dirty="0" smtClean="0">
                                  <a:solidFill>
                                    <a:schemeClr val="tx1"/>
                                  </a:solidFill>
                                  <a:latin typeface="Cambria Math" panose="02040503050406030204" pitchFamily="18" charset="0"/>
                                </a:rPr>
                                <m:t>𝒗</m:t>
                              </m:r>
                            </m:e>
                          </m:acc>
                        </m:e>
                        <m:sup>
                          <m:r>
                            <a:rPr lang="en-US" altLang="zh-CN" sz="1600" b="1" i="1" dirty="0">
                              <a:solidFill>
                                <a:schemeClr val="tx1"/>
                              </a:solidFill>
                              <a:latin typeface="Cambria Math" panose="02040503050406030204" pitchFamily="18" charset="0"/>
                            </a:rPr>
                            <m:t>′</m:t>
                          </m:r>
                        </m:sup>
                      </m:sSup>
                      <m:r>
                        <a:rPr lang="en-US" altLang="zh-CN" sz="1600" b="1"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𝛼</m:t>
                      </m:r>
                      <m:acc>
                        <m:accPr>
                          <m:chr m:val="̃"/>
                          <m:ctrlPr>
                            <a:rPr lang="en-US" altLang="zh-CN" sz="1600" b="1" i="1" dirty="0">
                              <a:solidFill>
                                <a:schemeClr val="tx1"/>
                              </a:solidFill>
                              <a:latin typeface="Cambria Math" panose="02040503050406030204" pitchFamily="18" charset="0"/>
                            </a:rPr>
                          </m:ctrlPr>
                        </m:accPr>
                        <m:e>
                          <m:r>
                            <a:rPr lang="en-US" altLang="zh-CN" sz="1600" b="1" i="1" dirty="0" smtClean="0">
                              <a:solidFill>
                                <a:schemeClr val="tx1"/>
                              </a:solidFill>
                              <a:latin typeface="Cambria Math" panose="02040503050406030204" pitchFamily="18" charset="0"/>
                            </a:rPr>
                            <m:t>𝒗</m:t>
                          </m:r>
                        </m:e>
                      </m:acc>
                    </m:oMath>
                  </m:oMathPara>
                </a14:m>
                <a:endParaRPr lang="en-US" altLang="zh-CN" sz="16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altLang="zh-CN" sz="1600" b="0" i="1" dirty="0" smtClean="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Λ</m:t>
                          </m:r>
                        </m:e>
                        <m:sup>
                          <m:r>
                            <a:rPr lang="en-US" altLang="zh-CN" sz="1600" b="0" i="0" dirty="0" smtClean="0">
                              <a:solidFill>
                                <a:schemeClr val="tx1"/>
                              </a:solidFill>
                              <a:latin typeface="Cambria Math" panose="02040503050406030204" pitchFamily="18" charset="0"/>
                            </a:rPr>
                            <m:t>′</m:t>
                          </m:r>
                        </m:sup>
                      </m:sSup>
                      <m:d>
                        <m:dPr>
                          <m:ctrlPr>
                            <a:rPr lang="en-US" altLang="zh-CN" sz="1600" b="1"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b="0" i="1" dirty="0" smtClean="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r>
                            <a:rPr lang="en-US" altLang="zh-CN" sz="1600" b="1" i="1" dirty="0" smtClean="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𝛼</m:t>
                          </m:r>
                        </m:e>
                      </m:d>
                      <m:r>
                        <a:rPr lang="en-US" altLang="zh-CN" sz="1600" b="1" i="1" dirty="0" smtClean="0">
                          <a:solidFill>
                            <a:schemeClr val="tx1"/>
                          </a:solidFill>
                          <a:latin typeface="Cambria Math" panose="02040503050406030204" pitchFamily="18" charset="0"/>
                        </a:rPr>
                        <m:t>=</m:t>
                      </m:r>
                      <m:r>
                        <m:rPr>
                          <m:sty m:val="p"/>
                        </m:rPr>
                        <a:rPr lang="en-US" altLang="zh-CN" sz="1600" dirty="0">
                          <a:solidFill>
                            <a:schemeClr val="tx1"/>
                          </a:solidFill>
                          <a:latin typeface="Cambria Math" panose="02040503050406030204" pitchFamily="18" charset="0"/>
                        </a:rPr>
                        <m:t>Λ</m:t>
                      </m:r>
                      <m:d>
                        <m:dPr>
                          <m:ctrlPr>
                            <a:rPr lang="en-US" altLang="zh-CN" sz="1600" b="1"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b="0" i="1" dirty="0" smtClean="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e>
                      </m:d>
                      <m:r>
                        <a:rPr lang="en-US" altLang="zh-CN" sz="1600" b="1" i="1" dirty="0" smtClean="0">
                          <a:solidFill>
                            <a:schemeClr val="tx1"/>
                          </a:solidFill>
                          <a:latin typeface="Cambria Math" panose="02040503050406030204" pitchFamily="18" charset="0"/>
                        </a:rPr>
                        <m:t>=</m:t>
                      </m:r>
                      <m:r>
                        <m:rPr>
                          <m:sty m:val="p"/>
                        </m:rPr>
                        <a:rPr lang="en-US" altLang="zh-CN" sz="1600" dirty="0">
                          <a:solidFill>
                            <a:schemeClr val="tx1"/>
                          </a:solidFill>
                          <a:latin typeface="Cambria Math" panose="02040503050406030204" pitchFamily="18" charset="0"/>
                        </a:rPr>
                        <m:t>Λ</m:t>
                      </m:r>
                      <m:d>
                        <m:dPr>
                          <m:ctrlPr>
                            <a:rPr lang="en-US" altLang="zh-CN" sz="1600" b="1" i="1" dirty="0">
                              <a:solidFill>
                                <a:schemeClr val="tx1"/>
                              </a:solidFill>
                              <a:latin typeface="Cambria Math" panose="02040503050406030204" pitchFamily="18" charset="0"/>
                            </a:rPr>
                          </m:ctrlPr>
                        </m:dPr>
                        <m:e>
                          <m:f>
                            <m:fPr>
                              <m:ctrlPr>
                                <a:rPr lang="en-US" altLang="zh-CN" sz="1600" i="1" dirty="0" smtClean="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num>
                            <m:den>
                              <m:r>
                                <a:rPr lang="en-US" altLang="zh-CN" sz="1600" b="0" i="1" dirty="0" smtClean="0">
                                  <a:solidFill>
                                    <a:schemeClr val="tx1"/>
                                  </a:solidFill>
                                  <a:latin typeface="Cambria Math" panose="02040503050406030204" pitchFamily="18" charset="0"/>
                                </a:rPr>
                                <m:t>𝛼</m:t>
                              </m:r>
                            </m:den>
                          </m:f>
                          <m:r>
                            <a:rPr lang="en-US" altLang="zh-CN" sz="1600" b="1" i="1" dirty="0">
                              <a:solidFill>
                                <a:schemeClr val="tx1"/>
                              </a:solidFill>
                              <a:latin typeface="Cambria Math" panose="02040503050406030204" pitchFamily="18" charset="0"/>
                            </a:rPr>
                            <m:t>,</m:t>
                          </m:r>
                          <m:f>
                            <m:fPr>
                              <m:ctrlPr>
                                <a:rPr lang="en-US" altLang="zh-CN" sz="1600" b="0" i="1" dirty="0" smtClean="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b="0" i="1" dirty="0" smtClean="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num>
                            <m:den>
                              <m:r>
                                <a:rPr lang="en-US" altLang="zh-CN" sz="1600" b="0" i="1" dirty="0" smtClean="0">
                                  <a:solidFill>
                                    <a:schemeClr val="tx1"/>
                                  </a:solidFill>
                                  <a:latin typeface="Cambria Math" panose="02040503050406030204" pitchFamily="18" charset="0"/>
                                </a:rPr>
                                <m:t>𝛼</m:t>
                              </m:r>
                            </m:den>
                          </m:f>
                        </m:e>
                      </m:d>
                    </m:oMath>
                  </m:oMathPara>
                </a14:m>
                <a:endParaRPr lang="en-US" altLang="zh-CN" sz="1600" b="0" i="1" dirty="0">
                  <a:solidFill>
                    <a:schemeClr val="tx1"/>
                  </a:solidFill>
                  <a:latin typeface="Cambria Math" panose="02040503050406030204" pitchFamily="18" charset="0"/>
                </a:endParaRPr>
              </a:p>
              <a:p>
                <a:pPr algn="ctr"/>
                <a:endParaRPr lang="en-US" altLang="zh-CN" sz="1600" b="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m:rPr>
                          <m:sty m:val="p"/>
                        </m:rPr>
                        <a:rPr lang="en-US" altLang="zh-CN" sz="1600" dirty="0">
                          <a:solidFill>
                            <a:schemeClr val="tx1"/>
                          </a:solidFill>
                          <a:latin typeface="Cambria Math" panose="02040503050406030204" pitchFamily="18" charset="0"/>
                        </a:rPr>
                        <m:t>Λ</m:t>
                      </m:r>
                      <m:d>
                        <m:dPr>
                          <m:ctrlPr>
                            <a:rPr lang="en-US" altLang="zh-CN" sz="1600" b="1" i="1" dirty="0">
                              <a:solidFill>
                                <a:schemeClr val="tx1"/>
                              </a:solidFill>
                              <a:latin typeface="Cambria Math" panose="02040503050406030204" pitchFamily="18" charset="0"/>
                            </a:rPr>
                          </m:ctrlPr>
                        </m:dPr>
                        <m:e>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r>
                            <a:rPr lang="en-US" altLang="zh-CN" sz="1600" b="1" i="1" dirty="0" smtClean="0">
                              <a:solidFill>
                                <a:schemeClr val="tx1"/>
                              </a:solidFill>
                              <a:latin typeface="Cambria Math" panose="02040503050406030204" pitchFamily="18" charset="0"/>
                            </a:rPr>
                            <m:t>,</m:t>
                          </m:r>
                          <m:sSubSup>
                            <m:sSubSupPr>
                              <m:ctrlPr>
                                <a:rPr lang="en-US" altLang="zh-CN" sz="1600" b="0" i="1" dirty="0" smtClean="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b="0" i="1" dirty="0" smtClean="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sup>
                          </m:sSubSup>
                        </m:e>
                      </m:d>
                      <m:r>
                        <a:rPr lang="en-US" altLang="zh-CN" sz="1600" b="1" i="1" dirty="0">
                          <a:solidFill>
                            <a:schemeClr val="tx1"/>
                          </a:solidFill>
                          <a:latin typeface="Cambria Math" panose="02040503050406030204" pitchFamily="18" charset="0"/>
                        </a:rPr>
                        <m:t>=</m:t>
                      </m:r>
                      <m:f>
                        <m:fPr>
                          <m:ctrlPr>
                            <a:rPr lang="en-US" altLang="zh-CN" sz="1600" b="1" i="1" dirty="0">
                              <a:solidFill>
                                <a:schemeClr val="tx1"/>
                              </a:solidFill>
                              <a:latin typeface="Cambria Math" panose="02040503050406030204" pitchFamily="18" charset="0"/>
                            </a:rPr>
                          </m:ctrlPr>
                        </m:fPr>
                        <m:num>
                          <m:rad>
                            <m:radPr>
                              <m:degHide m:val="on"/>
                              <m:ctrlPr>
                                <a:rPr lang="en-US" altLang="zh-CN" sz="1600"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den>
                              </m:f>
                            </m:e>
                          </m:rad>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2</m:t>
                          </m:r>
                        </m:den>
                      </m:f>
                    </m:oMath>
                  </m:oMathPara>
                </a14:m>
                <a:endParaRPr lang="en-US" altLang="zh-CN" sz="1600" b="1" i="1" dirty="0">
                  <a:solidFill>
                    <a:schemeClr val="tx1"/>
                  </a:solidFill>
                  <a:latin typeface="Cambria Math" panose="02040503050406030204" pitchFamily="18" charset="0"/>
                </a:endParaRPr>
              </a:p>
              <a:p>
                <a:pPr algn="ctr"/>
                <a:endParaRPr lang="en-US" altLang="zh-CN" sz="1600" b="1"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Λ</m:t>
                          </m:r>
                        </m:e>
                        <m:sup>
                          <m:r>
                            <a:rPr lang="en-US" altLang="zh-CN" sz="1600" dirty="0">
                              <a:solidFill>
                                <a:schemeClr val="tx1"/>
                              </a:solidFill>
                              <a:latin typeface="Cambria Math" panose="02040503050406030204" pitchFamily="18" charset="0"/>
                            </a:rPr>
                            <m:t>′</m:t>
                          </m:r>
                        </m:sup>
                      </m:sSup>
                      <m:d>
                        <m:dPr>
                          <m:ctrlPr>
                            <a:rPr lang="en-US" altLang="zh-CN" sz="1600" b="1"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𝛼</m:t>
                          </m:r>
                        </m:e>
                      </m:d>
                      <m:r>
                        <a:rPr lang="en-US" altLang="zh-CN" sz="1600" b="0" i="1" dirty="0" smtClean="0">
                          <a:solidFill>
                            <a:schemeClr val="tx1"/>
                          </a:solidFill>
                          <a:latin typeface="Cambria Math" panose="02040503050406030204" pitchFamily="18" charset="0"/>
                        </a:rPr>
                        <m:t>=</m:t>
                      </m:r>
                      <m:f>
                        <m:fPr>
                          <m:ctrlPr>
                            <a:rPr lang="en-US" altLang="zh-CN" sz="1600" b="1" i="1" dirty="0">
                              <a:solidFill>
                                <a:schemeClr val="tx1"/>
                              </a:solidFill>
                              <a:latin typeface="Cambria Math" panose="02040503050406030204" pitchFamily="18" charset="0"/>
                            </a:rPr>
                          </m:ctrlPr>
                        </m:fPr>
                        <m:num>
                          <m:rad>
                            <m:radPr>
                              <m:degHide m:val="on"/>
                              <m:ctrlPr>
                                <a:rPr lang="en-US" altLang="zh-CN" sz="1600"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𝛼</m:t>
                                      </m:r>
                                    </m:e>
                                    <m:sup>
                                      <m:r>
                                        <a:rPr lang="en-US" altLang="zh-CN" sz="1600" b="0" i="1" dirty="0" smtClean="0">
                                          <a:solidFill>
                                            <a:schemeClr val="tx1"/>
                                          </a:solidFill>
                                          <a:latin typeface="Cambria Math" panose="02040503050406030204" pitchFamily="18" charset="0"/>
                                        </a:rPr>
                                        <m:t>2</m:t>
                                      </m:r>
                                    </m:sup>
                                  </m:sSup>
                                </m:num>
                                <m:den>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p>
                                    <m:sSupPr>
                                      <m:ctrlPr>
                                        <a:rPr lang="en-US" altLang="zh-CN" sz="1600" i="1" dirty="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𝛼</m:t>
                                      </m:r>
                                    </m:e>
                                    <m:sup>
                                      <m:r>
                                        <a:rPr lang="en-US" altLang="zh-CN" sz="1600" i="1" dirty="0">
                                          <a:solidFill>
                                            <a:schemeClr val="tx1"/>
                                          </a:solidFill>
                                          <a:latin typeface="Cambria Math" panose="02040503050406030204" pitchFamily="18" charset="0"/>
                                        </a:rPr>
                                        <m:t>2</m:t>
                                      </m:r>
                                    </m:sup>
                                  </m:sSup>
                                </m:num>
                                <m:den>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b="0" i="1" dirty="0" smtClean="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den>
                              </m:f>
                            </m:e>
                          </m:rad>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2</m:t>
                          </m:r>
                        </m:den>
                      </m:f>
                    </m:oMath>
                  </m:oMathPara>
                </a14:m>
                <a:endParaRPr lang="en-US" altLang="zh-CN" sz="1600" b="1" i="1" dirty="0">
                  <a:solidFill>
                    <a:schemeClr val="tx1"/>
                  </a:solidFill>
                  <a:latin typeface="Cambria Math" panose="02040503050406030204" pitchFamily="18" charset="0"/>
                </a:endParaRPr>
              </a:p>
            </p:txBody>
          </p:sp>
        </mc:Choice>
        <mc:Fallback xmlns="">
          <p:sp>
            <p:nvSpPr>
              <p:cNvPr id="4" name="矩形 3">
                <a:extLst>
                  <a:ext uri="{FF2B5EF4-FFF2-40B4-BE49-F238E27FC236}">
                    <a16:creationId xmlns:a16="http://schemas.microsoft.com/office/drawing/2014/main" id="{A9D5114C-A47C-5AE9-8378-99056F89ED1F}"/>
                  </a:ext>
                </a:extLst>
              </p:cNvPr>
              <p:cNvSpPr>
                <a:spLocks noRot="1" noChangeAspect="1" noMove="1" noResize="1" noEditPoints="1" noAdjustHandles="1" noChangeArrowheads="1" noChangeShapeType="1" noTextEdit="1"/>
              </p:cNvSpPr>
              <p:nvPr/>
            </p:nvSpPr>
            <p:spPr>
              <a:xfrm>
                <a:off x="478709" y="1158658"/>
                <a:ext cx="11151707" cy="5192038"/>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8825144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DC8A4-55E9-A26D-7F2B-A6D7525215D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72765182-F4E7-9E93-2299-4B17E23025CF}"/>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推广到各向异性 </a:t>
                </a:r>
                <a:r>
                  <a:rPr lang="en-US" altLang="zh-CN" dirty="0"/>
                  <a:t>—— </a:t>
                </a:r>
                <a14:m>
                  <m:oMath xmlns:m="http://schemas.openxmlformats.org/officeDocument/2006/math">
                    <m:r>
                      <m:rPr>
                        <m:sty m:val="p"/>
                      </m:rPr>
                      <a:rPr lang="en-US" altLang="zh-CN" dirty="0">
                        <a:solidFill>
                          <a:schemeClr val="tx1"/>
                        </a:solidFill>
                        <a:latin typeface="Cambria Math" panose="02040503050406030204" pitchFamily="18" charset="0"/>
                      </a:rPr>
                      <m:t>Λ</m:t>
                    </m:r>
                  </m:oMath>
                </a14:m>
                <a:r>
                  <a:rPr lang="zh-CN" altLang="en-US" dirty="0"/>
                  <a:t>函数</a:t>
                </a:r>
              </a:p>
            </p:txBody>
          </p:sp>
        </mc:Choice>
        <mc:Fallback xmlns="">
          <p:sp>
            <p:nvSpPr>
              <p:cNvPr id="13" name="标题 2">
                <a:extLst>
                  <a:ext uri="{FF2B5EF4-FFF2-40B4-BE49-F238E27FC236}">
                    <a16:creationId xmlns:a16="http://schemas.microsoft.com/office/drawing/2014/main" id="{72765182-F4E7-9E93-2299-4B17E23025CF}"/>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017" b="-8475"/>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75478120-66BD-755B-04F9-728C9A8DE44A}"/>
              </a:ext>
            </a:extLst>
          </p:cNvPr>
          <p:cNvSpPr/>
          <p:nvPr/>
        </p:nvSpPr>
        <p:spPr>
          <a:xfrm>
            <a:off x="631109" y="1329847"/>
            <a:ext cx="11151707" cy="5192038"/>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979EBD14-1338-4E8A-E692-4F0BAD319194}"/>
                  </a:ext>
                </a:extLst>
              </p:cNvPr>
              <p:cNvSpPr/>
              <p:nvPr/>
            </p:nvSpPr>
            <p:spPr>
              <a:xfrm>
                <a:off x="478709" y="1158658"/>
                <a:ext cx="11151707" cy="519203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Cambria Math" panose="02040503050406030204" pitchFamily="18" charset="0"/>
                  </a:rPr>
                  <a:t>对微面结构以及光线拉伸</a:t>
                </a:r>
                <a14:m>
                  <m:oMath xmlns:m="http://schemas.openxmlformats.org/officeDocument/2006/math">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𝛼</m:t>
                        </m:r>
                      </m:den>
                    </m:f>
                  </m:oMath>
                </a14:m>
                <a:r>
                  <a:rPr lang="zh-CN" altLang="en-US" sz="1600" dirty="0">
                    <a:solidFill>
                      <a:schemeClr val="tx1"/>
                    </a:solidFill>
                    <a:latin typeface="Cambria Math" panose="02040503050406030204" pitchFamily="18" charset="0"/>
                  </a:rPr>
                  <a:t>倍</a:t>
                </a:r>
                <a:r>
                  <a:rPr lang="en-US" altLang="zh-CN" sz="1600" dirty="0">
                    <a:solidFill>
                      <a:schemeClr val="tx1"/>
                    </a:solidFill>
                    <a:latin typeface="Cambria Math" panose="02040503050406030204" pitchFamily="18" charset="0"/>
                  </a:rPr>
                  <a:t>  </a:t>
                </a:r>
                <a:r>
                  <a:rPr lang="en-US" altLang="zh-CN" sz="1600" dirty="0">
                    <a:solidFill>
                      <a:schemeClr val="tx1"/>
                    </a:solidFill>
                    <a:latin typeface="Cambria Math" panose="02040503050406030204" pitchFamily="18" charset="0"/>
                    <a:sym typeface="Wingdings" panose="05000000000000000000" pitchFamily="2" charset="2"/>
                  </a:rPr>
                  <a:t>  </a:t>
                </a:r>
                <a:r>
                  <a:rPr lang="zh-CN" altLang="en-US" sz="1600" dirty="0">
                    <a:solidFill>
                      <a:schemeClr val="tx1"/>
                    </a:solidFill>
                    <a:latin typeface="Cambria Math" panose="02040503050406030204" pitchFamily="18" charset="0"/>
                  </a:rPr>
                  <a:t>对微面结构以及光线 在</a:t>
                </a:r>
                <a:r>
                  <a:rPr lang="en-US" altLang="zh-CN" sz="1600" dirty="0">
                    <a:solidFill>
                      <a:schemeClr val="tx1"/>
                    </a:solidFill>
                    <a:latin typeface="Cambria Math" panose="02040503050406030204" pitchFamily="18" charset="0"/>
                  </a:rPr>
                  <a:t>x</a:t>
                </a:r>
                <a:r>
                  <a:rPr lang="zh-CN" altLang="en-US" sz="1600" dirty="0">
                    <a:solidFill>
                      <a:schemeClr val="tx1"/>
                    </a:solidFill>
                    <a:latin typeface="Cambria Math" panose="02040503050406030204" pitchFamily="18" charset="0"/>
                  </a:rPr>
                  <a:t>方向拉伸</a:t>
                </a:r>
                <a14:m>
                  <m:oMath xmlns:m="http://schemas.openxmlformats.org/officeDocument/2006/math">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den>
                    </m:f>
                  </m:oMath>
                </a14:m>
                <a:r>
                  <a:rPr lang="zh-CN" altLang="en-US" sz="1600" dirty="0">
                    <a:solidFill>
                      <a:schemeClr val="tx1"/>
                    </a:solidFill>
                    <a:latin typeface="Cambria Math" panose="02040503050406030204" pitchFamily="18" charset="0"/>
                  </a:rPr>
                  <a:t>倍，在</a:t>
                </a:r>
                <a:r>
                  <a:rPr lang="en-US" altLang="zh-CN" sz="1600" dirty="0">
                    <a:solidFill>
                      <a:schemeClr val="tx1"/>
                    </a:solidFill>
                    <a:latin typeface="Cambria Math" panose="02040503050406030204" pitchFamily="18" charset="0"/>
                  </a:rPr>
                  <a:t>z</a:t>
                </a:r>
                <a:r>
                  <a:rPr lang="zh-CN" altLang="en-US" sz="1600" dirty="0">
                    <a:solidFill>
                      <a:schemeClr val="tx1"/>
                    </a:solidFill>
                    <a:latin typeface="Cambria Math" panose="02040503050406030204" pitchFamily="18" charset="0"/>
                  </a:rPr>
                  <a:t>方向拉伸</a:t>
                </a:r>
                <a14:m>
                  <m:oMath xmlns:m="http://schemas.openxmlformats.org/officeDocument/2006/math">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sSub>
                          <m:sSubPr>
                            <m:ctrlPr>
                              <a:rPr lang="en-US" altLang="zh-CN" sz="160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den>
                    </m:f>
                  </m:oMath>
                </a14:m>
                <a:r>
                  <a:rPr lang="zh-CN" altLang="en-US" sz="1600" dirty="0">
                    <a:solidFill>
                      <a:schemeClr val="tx1"/>
                    </a:solidFill>
                    <a:latin typeface="Cambria Math" panose="02040503050406030204" pitchFamily="18" charset="0"/>
                  </a:rPr>
                  <a:t>倍</a:t>
                </a:r>
                <a:endParaRPr lang="en-US" altLang="zh-CN" sz="1600"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Λ</m:t>
                          </m:r>
                        </m:e>
                        <m:sup>
                          <m:r>
                            <a:rPr lang="en-US" altLang="zh-CN" sz="1600" dirty="0">
                              <a:solidFill>
                                <a:schemeClr val="tx1"/>
                              </a:solidFill>
                              <a:latin typeface="Cambria Math" panose="02040503050406030204" pitchFamily="18" charset="0"/>
                            </a:rPr>
                            <m:t>′</m:t>
                          </m:r>
                        </m:sup>
                      </m:sSup>
                      <m:d>
                        <m:dPr>
                          <m:ctrlPr>
                            <a:rPr lang="en-US" altLang="zh-CN" sz="1600" b="1"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Sub>
                          <m:r>
                            <a:rPr lang="en-US" altLang="zh-CN" sz="1600" b="1" i="1" dirty="0" smtClean="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e>
                      </m:d>
                      <m:r>
                        <a:rPr lang="en-US" altLang="zh-CN" sz="1600" b="1" i="1" dirty="0">
                          <a:solidFill>
                            <a:schemeClr val="tx1"/>
                          </a:solidFill>
                          <a:latin typeface="Cambria Math" panose="02040503050406030204" pitchFamily="18" charset="0"/>
                        </a:rPr>
                        <m:t>=</m:t>
                      </m:r>
                      <m:r>
                        <m:rPr>
                          <m:sty m:val="p"/>
                        </m:rPr>
                        <a:rPr lang="en-US" altLang="zh-CN" sz="1600" dirty="0">
                          <a:solidFill>
                            <a:schemeClr val="tx1"/>
                          </a:solidFill>
                          <a:latin typeface="Cambria Math" panose="02040503050406030204" pitchFamily="18" charset="0"/>
                        </a:rPr>
                        <m:t>Λ</m:t>
                      </m:r>
                      <m:d>
                        <m:dPr>
                          <m:ctrlPr>
                            <a:rPr lang="en-US" altLang="zh-CN" sz="1600" b="1"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e>
                      </m:d>
                      <m:r>
                        <a:rPr lang="en-US" altLang="zh-CN" sz="1600" b="1" i="1" dirty="0">
                          <a:solidFill>
                            <a:schemeClr val="tx1"/>
                          </a:solidFill>
                          <a:latin typeface="Cambria Math" panose="02040503050406030204" pitchFamily="18" charset="0"/>
                        </a:rPr>
                        <m:t>=</m:t>
                      </m:r>
                      <m:r>
                        <m:rPr>
                          <m:sty m:val="p"/>
                        </m:rPr>
                        <a:rPr lang="en-US" altLang="zh-CN" sz="1600" dirty="0">
                          <a:solidFill>
                            <a:schemeClr val="tx1"/>
                          </a:solidFill>
                          <a:latin typeface="Cambria Math" panose="02040503050406030204" pitchFamily="18" charset="0"/>
                        </a:rPr>
                        <m:t>Λ</m:t>
                      </m:r>
                      <m:d>
                        <m:dPr>
                          <m:ctrlPr>
                            <a:rPr lang="en-US" altLang="zh-CN" sz="1600" b="1"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num>
                            <m:den>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den>
                          </m:f>
                          <m:r>
                            <a:rPr lang="en-US" altLang="zh-CN" sz="1600" b="1"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b="0" i="1" dirty="0" smtClean="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num>
                            <m:den>
                              <m:sSub>
                                <m:sSubPr>
                                  <m:ctrlPr>
                                    <a:rPr lang="en-US" altLang="zh-CN" sz="1600" b="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den>
                          </m:f>
                        </m:e>
                      </m:d>
                    </m:oMath>
                  </m:oMathPara>
                </a14:m>
                <a:endParaRPr lang="en-US" altLang="zh-CN" sz="1600"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r>
                        <m:rPr>
                          <m:sty m:val="p"/>
                        </m:rPr>
                        <a:rPr lang="en-US" altLang="zh-CN" sz="1600" dirty="0">
                          <a:solidFill>
                            <a:schemeClr val="tx1"/>
                          </a:solidFill>
                          <a:latin typeface="Cambria Math" panose="02040503050406030204" pitchFamily="18" charset="0"/>
                        </a:rPr>
                        <m:t>Λ</m:t>
                      </m:r>
                      <m:d>
                        <m:dPr>
                          <m:ctrlPr>
                            <a:rPr lang="en-US" altLang="zh-CN" sz="1600" b="1"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e>
                      </m:d>
                      <m:r>
                        <a:rPr lang="en-US" altLang="zh-CN" sz="1600" b="1" i="1" dirty="0">
                          <a:solidFill>
                            <a:schemeClr val="tx1"/>
                          </a:solidFill>
                          <a:latin typeface="Cambria Math" panose="02040503050406030204" pitchFamily="18" charset="0"/>
                        </a:rPr>
                        <m:t>=</m:t>
                      </m:r>
                      <m:f>
                        <m:fPr>
                          <m:ctrlPr>
                            <a:rPr lang="en-US" altLang="zh-CN" sz="1600" b="1" i="1" dirty="0">
                              <a:solidFill>
                                <a:schemeClr val="tx1"/>
                              </a:solidFill>
                              <a:latin typeface="Cambria Math" panose="02040503050406030204" pitchFamily="18" charset="0"/>
                            </a:rPr>
                          </m:ctrlPr>
                        </m:fPr>
                        <m:num>
                          <m:rad>
                            <m:radPr>
                              <m:degHide m:val="on"/>
                              <m:ctrlPr>
                                <a:rPr lang="en-US" altLang="zh-CN" sz="1600"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1</m:t>
                                  </m:r>
                                </m:num>
                                <m:den>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den>
                              </m:f>
                            </m:e>
                          </m:rad>
                          <m:r>
                            <a:rPr lang="en-US" altLang="zh-CN" sz="1600" i="1"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2</m:t>
                          </m:r>
                        </m:den>
                      </m:f>
                    </m:oMath>
                  </m:oMathPara>
                </a14:m>
                <a:endParaRPr lang="en-US" altLang="zh-CN" sz="1600" b="1"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altLang="zh-CN" sz="1600" i="1" dirty="0" smtClean="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Λ</m:t>
                          </m:r>
                        </m:e>
                        <m:sup>
                          <m:r>
                            <a:rPr lang="en-US" altLang="zh-CN" sz="1600" dirty="0">
                              <a:solidFill>
                                <a:schemeClr val="tx1"/>
                              </a:solidFill>
                              <a:latin typeface="Cambria Math" panose="02040503050406030204" pitchFamily="18" charset="0"/>
                            </a:rPr>
                            <m:t>′</m:t>
                          </m:r>
                        </m:sup>
                      </m:sSup>
                      <m:d>
                        <m:dPr>
                          <m:ctrlPr>
                            <a:rPr lang="en-US" altLang="zh-CN" sz="1600" b="1"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Sub>
                          <m:r>
                            <a:rPr lang="en-US" altLang="zh-CN" sz="1600" b="1"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𝑧</m:t>
                              </m:r>
                            </m:sub>
                          </m:sSub>
                        </m:e>
                      </m:d>
                      <m:r>
                        <a:rPr lang="en-US" altLang="zh-CN" sz="1600" i="1" dirty="0">
                          <a:solidFill>
                            <a:schemeClr val="tx1"/>
                          </a:solidFill>
                          <a:latin typeface="Cambria Math" panose="02040503050406030204" pitchFamily="18" charset="0"/>
                        </a:rPr>
                        <m:t>=</m:t>
                      </m:r>
                      <m:f>
                        <m:fPr>
                          <m:ctrlPr>
                            <a:rPr lang="en-US" altLang="zh-CN" sz="1600" b="1" i="1" dirty="0">
                              <a:solidFill>
                                <a:schemeClr val="tx1"/>
                              </a:solidFill>
                              <a:latin typeface="Cambria Math" panose="02040503050406030204" pitchFamily="18" charset="0"/>
                            </a:rPr>
                          </m:ctrlPr>
                        </m:fPr>
                        <m:num>
                          <m:rad>
                            <m:radPr>
                              <m:degHide m:val="on"/>
                              <m:ctrlPr>
                                <a:rPr lang="en-US" altLang="zh-CN" sz="1600"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f>
                                <m:fPr>
                                  <m:ctrlPr>
                                    <a:rPr lang="en-US" altLang="zh-CN" sz="1600" i="1" dirty="0">
                                      <a:solidFill>
                                        <a:schemeClr val="tx1"/>
                                      </a:solidFill>
                                      <a:latin typeface="Cambria Math" panose="02040503050406030204" pitchFamily="18" charset="0"/>
                                    </a:rPr>
                                  </m:ctrlPr>
                                </m:fPr>
                                <m:num>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num>
                                <m:den>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num>
                                <m:den>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den>
                              </m:f>
                            </m:e>
                          </m:rad>
                          <m:r>
                            <a:rPr lang="en-US" altLang="zh-CN" sz="1600" i="1"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2</m:t>
                          </m:r>
                        </m:den>
                      </m:f>
                    </m:oMath>
                  </m:oMathPara>
                </a14:m>
                <a:endParaRPr lang="en-US" altLang="zh-CN" sz="1600" b="1" i="1" dirty="0">
                  <a:solidFill>
                    <a:schemeClr val="tx1"/>
                  </a:solidFill>
                  <a:latin typeface="Cambria Math" panose="02040503050406030204" pitchFamily="18" charset="0"/>
                </a:endParaRPr>
              </a:p>
              <a:p>
                <a:pPr algn="ctr"/>
                <a14:m>
                  <m:oMathPara xmlns:m="http://schemas.openxmlformats.org/officeDocument/2006/math">
                    <m:oMathParaPr>
                      <m:jc m:val="centerGroup"/>
                    </m:oMathParaPr>
                    <m:oMath xmlns:m="http://schemas.openxmlformats.org/officeDocument/2006/math">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𝒗</m:t>
                          </m:r>
                        </m:e>
                        <m:sup>
                          <m:r>
                            <a:rPr lang="en-US" altLang="zh-CN" sz="1600" b="1" i="1" dirty="0">
                              <a:solidFill>
                                <a:schemeClr val="tx1"/>
                              </a:solidFill>
                              <a:latin typeface="Cambria Math" panose="02040503050406030204" pitchFamily="18" charset="0"/>
                            </a:rPr>
                            <m:t>′+</m:t>
                          </m:r>
                        </m:sup>
                      </m:sSup>
                      <m:r>
                        <a:rPr lang="en-US" altLang="zh-CN" sz="1600" b="1" i="1" dirty="0">
                          <a:solidFill>
                            <a:schemeClr val="tx1"/>
                          </a:solidFill>
                          <a:latin typeface="Cambria Math" panose="02040503050406030204" pitchFamily="18" charset="0"/>
                        </a:rPr>
                        <m:t>=</m:t>
                      </m:r>
                      <m:d>
                        <m:dPr>
                          <m:ctrlPr>
                            <a:rPr lang="en-US" altLang="zh-CN" sz="1600" b="1" i="1" dirty="0">
                              <a:solidFill>
                                <a:schemeClr val="tx1"/>
                              </a:solidFill>
                              <a:latin typeface="Cambria Math" panose="02040503050406030204" pitchFamily="18" charset="0"/>
                            </a:rPr>
                          </m:ctrlPr>
                        </m:dPr>
                        <m:e>
                          <m:func>
                            <m:funcPr>
                              <m:ctrlPr>
                                <a:rPr lang="en-US" altLang="zh-CN" sz="1600" b="1"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r>
                            <a:rPr lang="en-US" altLang="zh-CN" sz="1600" i="1" dirty="0">
                              <a:solidFill>
                                <a:schemeClr val="tx1"/>
                              </a:solidFill>
                              <a:latin typeface="Cambria Math" panose="02040503050406030204" pitchFamily="18" charset="0"/>
                            </a:rPr>
                            <m:t>,</m:t>
                          </m:r>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r>
                            <a:rPr lang="en-US" altLang="zh-CN" sz="1600" i="1" dirty="0">
                              <a:solidFill>
                                <a:schemeClr val="tx1"/>
                              </a:solidFill>
                              <a:latin typeface="Cambria Math" panose="02040503050406030204" pitchFamily="18" charset="0"/>
                            </a:rPr>
                            <m:t>,</m:t>
                          </m:r>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e>
                      </m:d>
                    </m:oMath>
                    <m:oMath xmlns:m="http://schemas.openxmlformats.org/officeDocument/2006/math">
                      <m:sSup>
                        <m:sSupPr>
                          <m:ctrlPr>
                            <a:rPr lang="en-US" altLang="zh-CN" sz="1600" i="1" dirty="0">
                              <a:solidFill>
                                <a:schemeClr val="tx1"/>
                              </a:solidFill>
                              <a:latin typeface="Cambria Math" panose="02040503050406030204" pitchFamily="18" charset="0"/>
                            </a:rPr>
                          </m:ctrlPr>
                        </m:sSupPr>
                        <m:e>
                          <m:acc>
                            <m:accPr>
                              <m:chr m:val="̃"/>
                              <m:ctrlPr>
                                <a:rPr lang="en-US" altLang="zh-CN" sz="1600" i="1" dirty="0">
                                  <a:solidFill>
                                    <a:schemeClr val="tx1"/>
                                  </a:solidFill>
                                  <a:latin typeface="Cambria Math" panose="02040503050406030204" pitchFamily="18" charset="0"/>
                                </a:rPr>
                              </m:ctrlPr>
                            </m:accPr>
                            <m:e>
                              <m:r>
                                <a:rPr lang="en-US" altLang="zh-CN" sz="1600" b="1" i="1" dirty="0">
                                  <a:solidFill>
                                    <a:schemeClr val="tx1"/>
                                  </a:solidFill>
                                  <a:latin typeface="Cambria Math" panose="02040503050406030204" pitchFamily="18" charset="0"/>
                                </a:rPr>
                                <m:t>𝒗</m:t>
                              </m:r>
                            </m:e>
                          </m:acc>
                        </m:e>
                        <m:sup>
                          <m:r>
                            <a:rPr lang="en-US" altLang="zh-CN" sz="1600"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d>
                        <m:dPr>
                          <m:ctrlPr>
                            <a:rPr lang="en-US" altLang="zh-CN" sz="1600"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r>
                            <a:rPr lang="en-US" altLang="zh-CN" sz="1600"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e>
                      </m:d>
                      <m:r>
                        <a:rPr lang="en-US" altLang="zh-CN" sz="1600" i="1" dirty="0">
                          <a:solidFill>
                            <a:schemeClr val="tx1"/>
                          </a:solidFill>
                          <a:latin typeface="Cambria Math" panose="02040503050406030204" pitchFamily="18" charset="0"/>
                        </a:rPr>
                        <m:t>=</m:t>
                      </m:r>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𝑣</m:t>
                                  </m:r>
                                </m:e>
                                <m:sub>
                                  <m:r>
                                    <a:rPr lang="en-US" altLang="zh-CN" sz="1600" i="1" dirty="0">
                                      <a:solidFill>
                                        <a:schemeClr val="tx1"/>
                                      </a:solidFill>
                                      <a:latin typeface="Cambria Math" panose="02040503050406030204" pitchFamily="18" charset="0"/>
                                    </a:rPr>
                                    <m:t>𝑦</m:t>
                                  </m:r>
                                </m:sub>
                                <m:sup>
                                  <m:r>
                                    <a:rPr lang="en-US" altLang="zh-CN" sz="1600" b="0" i="1" dirty="0" smtClean="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num>
                            <m:den>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𝑣</m:t>
                                  </m:r>
                                </m:e>
                                <m:sub>
                                  <m:r>
                                    <a:rPr lang="en-US" altLang="zh-CN" sz="1600" i="1" dirty="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𝑣</m:t>
                                  </m:r>
                                </m:e>
                                <m:sub>
                                  <m:r>
                                    <a:rPr lang="en-US" altLang="zh-CN" sz="1600" i="1" dirty="0">
                                      <a:solidFill>
                                        <a:schemeClr val="tx1"/>
                                      </a:solidFill>
                                      <a:latin typeface="Cambria Math" panose="02040503050406030204" pitchFamily="18" charset="0"/>
                                    </a:rPr>
                                    <m:t>𝑦</m:t>
                                  </m:r>
                                </m:sub>
                                <m:sup>
                                  <m:r>
                                    <a:rPr lang="en-US" altLang="zh-CN" sz="1600" b="0" i="1" dirty="0" smtClean="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num>
                            <m:den>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𝑣</m:t>
                                  </m:r>
                                </m:e>
                                <m:sub>
                                  <m:r>
                                    <a:rPr lang="en-US" altLang="zh-CN" sz="1600" i="1" dirty="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den>
                          </m:f>
                        </m:e>
                      </m:d>
                      <m:r>
                        <a:rPr lang="en-US" altLang="zh-CN" sz="1600" i="1" dirty="0">
                          <a:solidFill>
                            <a:schemeClr val="tx1"/>
                          </a:solidFill>
                          <a:latin typeface="Cambria Math" panose="02040503050406030204" pitchFamily="18" charset="0"/>
                        </a:rPr>
                        <m:t>=</m:t>
                      </m:r>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num>
                            <m:den>
                              <m:func>
                                <m:funcPr>
                                  <m:ctrlPr>
                                    <a:rPr lang="en-US" altLang="zh-CN" sz="1600" b="1"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num>
                            <m:den>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den>
                          </m:f>
                        </m:e>
                      </m:d>
                      <m:r>
                        <a:rPr lang="en-US" altLang="zh-CN" sz="1600" i="1" dirty="0">
                          <a:solidFill>
                            <a:schemeClr val="tx1"/>
                          </a:solidFill>
                          <a:latin typeface="Cambria Math" panose="02040503050406030204" pitchFamily="18" charset="0"/>
                        </a:rPr>
                        <m:t>=</m:t>
                      </m:r>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cot</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num>
                            <m:den>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cot</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num>
                            <m:den>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den>
                          </m:f>
                        </m:e>
                      </m:d>
                    </m:oMath>
                  </m:oMathPara>
                </a14:m>
                <a:endParaRPr lang="en-US" altLang="zh-CN" sz="1600" dirty="0">
                  <a:solidFill>
                    <a:schemeClr val="tx1"/>
                  </a:solidFill>
                </a:endParaRPr>
              </a:p>
              <a:p>
                <a:pPr algn="ctr"/>
                <a14:m>
                  <m:oMathPara xmlns:m="http://schemas.openxmlformats.org/officeDocument/2006/math">
                    <m:oMathParaPr>
                      <m:jc m:val="centerGroup"/>
                    </m:oMathParaPr>
                    <m:oMath xmlns:m="http://schemas.openxmlformats.org/officeDocument/2006/math">
                      <m:sSup>
                        <m:sSupPr>
                          <m:ctrlPr>
                            <a:rPr lang="en-US" altLang="zh-CN" sz="1600" i="1" dirty="0" smtClean="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Λ</m:t>
                          </m:r>
                        </m:e>
                        <m:sup>
                          <m:r>
                            <a:rPr lang="en-US" altLang="zh-CN" sz="1600" dirty="0">
                              <a:solidFill>
                                <a:schemeClr val="tx1"/>
                              </a:solidFill>
                              <a:latin typeface="Cambria Math" panose="02040503050406030204" pitchFamily="18" charset="0"/>
                            </a:rPr>
                            <m:t>′</m:t>
                          </m:r>
                        </m:sup>
                      </m:sSup>
                      <m:d>
                        <m:dPr>
                          <m:ctrlPr>
                            <a:rPr lang="en-US" altLang="zh-CN" sz="1600" b="1"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Sub>
                          <m:r>
                            <a:rPr lang="en-US" altLang="zh-CN" sz="1600" b="1"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𝑧</m:t>
                              </m:r>
                            </m:sub>
                          </m:sSub>
                        </m:e>
                      </m:d>
                      <m:r>
                        <a:rPr lang="en-US" altLang="zh-CN" sz="1600" i="1" dirty="0">
                          <a:solidFill>
                            <a:schemeClr val="tx1"/>
                          </a:solidFill>
                          <a:latin typeface="Cambria Math" panose="02040503050406030204" pitchFamily="18" charset="0"/>
                        </a:rPr>
                        <m:t>=</m:t>
                      </m:r>
                      <m:f>
                        <m:fPr>
                          <m:ctrlPr>
                            <a:rPr lang="en-US" altLang="zh-CN" sz="1600" b="1" i="1" dirty="0">
                              <a:solidFill>
                                <a:schemeClr val="tx1"/>
                              </a:solidFill>
                              <a:latin typeface="Cambria Math" panose="02040503050406030204" pitchFamily="18" charset="0"/>
                            </a:rPr>
                          </m:ctrlPr>
                        </m:fPr>
                        <m:num>
                          <m:rad>
                            <m:radPr>
                              <m:degHide m:val="on"/>
                              <m:ctrlPr>
                                <a:rPr lang="en-US" altLang="zh-CN" sz="1600"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f>
                                <m:fPr>
                                  <m:ctrlPr>
                                    <a:rPr lang="en-US" altLang="zh-CN" sz="1600" i="1" dirty="0">
                                      <a:solidFill>
                                        <a:schemeClr val="tx1"/>
                                      </a:solidFill>
                                      <a:latin typeface="Cambria Math" panose="02040503050406030204" pitchFamily="18" charset="0"/>
                                    </a:rPr>
                                  </m:ctrlPr>
                                </m:fPr>
                                <m:num>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num>
                                <m:den>
                                  <m:sSup>
                                    <m:sSupPr>
                                      <m:ctrlPr>
                                        <a:rPr lang="en-US" altLang="zh-CN" sz="1600" b="0" i="1" dirty="0" smtClean="0">
                                          <a:solidFill>
                                            <a:schemeClr val="tx1"/>
                                          </a:solidFill>
                                          <a:latin typeface="Cambria Math" panose="02040503050406030204" pitchFamily="18" charset="0"/>
                                        </a:rPr>
                                      </m:ctrlPr>
                                    </m:sSupPr>
                                    <m:e>
                                      <m:d>
                                        <m:dPr>
                                          <m:ctrlPr>
                                            <a:rPr lang="en-US" altLang="zh-CN" sz="1600" b="0" i="1" dirty="0" smtClean="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cot</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num>
                                            <m:den>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den>
                                          </m:f>
                                        </m:e>
                                      </m:d>
                                    </m:e>
                                    <m:sup>
                                      <m:r>
                                        <a:rPr lang="en-US" altLang="zh-CN" sz="1600" b="0" i="1" dirty="0" smtClean="0">
                                          <a:solidFill>
                                            <a:schemeClr val="tx1"/>
                                          </a:solidFill>
                                          <a:latin typeface="Cambria Math" panose="02040503050406030204" pitchFamily="18" charset="0"/>
                                        </a:rPr>
                                        <m:t>2</m:t>
                                      </m:r>
                                    </m:sup>
                                  </m:s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num>
                                <m:den>
                                  <m:sSup>
                                    <m:sSupPr>
                                      <m:ctrlPr>
                                        <a:rPr lang="en-US" altLang="zh-CN" sz="1600" b="0" i="1" dirty="0" smtClean="0">
                                          <a:solidFill>
                                            <a:schemeClr val="tx1"/>
                                          </a:solidFill>
                                          <a:latin typeface="Cambria Math" panose="02040503050406030204" pitchFamily="18" charset="0"/>
                                        </a:rPr>
                                      </m:ctrlPr>
                                    </m:sSupPr>
                                    <m:e>
                                      <m:d>
                                        <m:dPr>
                                          <m:ctrlPr>
                                            <a:rPr lang="en-US" altLang="zh-CN" sz="1600" b="0" i="1" dirty="0" smtClean="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cot</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num>
                                            <m:den>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sup>
                                                  </m:sSubSup>
                                                </m:e>
                                              </m:func>
                                            </m:den>
                                          </m:f>
                                        </m:e>
                                      </m:d>
                                    </m:e>
                                    <m:sup>
                                      <m:r>
                                        <a:rPr lang="en-US" altLang="zh-CN" sz="1600" b="0" i="1" dirty="0" smtClean="0">
                                          <a:solidFill>
                                            <a:schemeClr val="tx1"/>
                                          </a:solidFill>
                                          <a:latin typeface="Cambria Math" panose="02040503050406030204" pitchFamily="18" charset="0"/>
                                        </a:rPr>
                                        <m:t>2</m:t>
                                      </m:r>
                                    </m:sup>
                                  </m:sSup>
                                </m:den>
                              </m:f>
                            </m:e>
                          </m:rad>
                          <m:r>
                            <a:rPr lang="en-US" altLang="zh-CN" sz="1600" i="1"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2</m:t>
                          </m:r>
                        </m:den>
                      </m:f>
                    </m:oMath>
                  </m:oMathPara>
                </a14:m>
                <a:endParaRPr lang="en-US" altLang="zh-CN" sz="1600" dirty="0">
                  <a:solidFill>
                    <a:schemeClr val="tx1"/>
                  </a:solidFill>
                  <a:latin typeface="Cambria Math" panose="02040503050406030204" pitchFamily="18" charset="0"/>
                </a:endParaRPr>
              </a:p>
            </p:txBody>
          </p:sp>
        </mc:Choice>
        <mc:Fallback xmlns="">
          <p:sp>
            <p:nvSpPr>
              <p:cNvPr id="4" name="矩形 3">
                <a:extLst>
                  <a:ext uri="{FF2B5EF4-FFF2-40B4-BE49-F238E27FC236}">
                    <a16:creationId xmlns:a16="http://schemas.microsoft.com/office/drawing/2014/main" id="{979EBD14-1338-4E8A-E692-4F0BAD319194}"/>
                  </a:ext>
                </a:extLst>
              </p:cNvPr>
              <p:cNvSpPr>
                <a:spLocks noRot="1" noChangeAspect="1" noMove="1" noResize="1" noEditPoints="1" noAdjustHandles="1" noChangeArrowheads="1" noChangeShapeType="1" noTextEdit="1"/>
              </p:cNvSpPr>
              <p:nvPr/>
            </p:nvSpPr>
            <p:spPr>
              <a:xfrm>
                <a:off x="478709" y="1158658"/>
                <a:ext cx="11151707" cy="5192038"/>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555341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B35EE-4AA5-B341-5816-6937591C913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2FD9C903-D18C-BF95-616A-A1D067D175CA}"/>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推广到各向异性 </a:t>
                </a:r>
                <a:r>
                  <a:rPr lang="en-US" altLang="zh-CN" dirty="0"/>
                  <a:t>—— </a:t>
                </a:r>
                <a14:m>
                  <m:oMath xmlns:m="http://schemas.openxmlformats.org/officeDocument/2006/math">
                    <m:r>
                      <m:rPr>
                        <m:sty m:val="p"/>
                      </m:rPr>
                      <a:rPr lang="en-US" altLang="zh-CN" dirty="0">
                        <a:solidFill>
                          <a:schemeClr val="tx1"/>
                        </a:solidFill>
                        <a:latin typeface="Cambria Math" panose="02040503050406030204" pitchFamily="18" charset="0"/>
                      </a:rPr>
                      <m:t>Λ</m:t>
                    </m:r>
                  </m:oMath>
                </a14:m>
                <a:r>
                  <a:rPr lang="zh-CN" altLang="en-US" dirty="0"/>
                  <a:t>函数</a:t>
                </a:r>
              </a:p>
            </p:txBody>
          </p:sp>
        </mc:Choice>
        <mc:Fallback xmlns="">
          <p:sp>
            <p:nvSpPr>
              <p:cNvPr id="13" name="标题 2">
                <a:extLst>
                  <a:ext uri="{FF2B5EF4-FFF2-40B4-BE49-F238E27FC236}">
                    <a16:creationId xmlns:a16="http://schemas.microsoft.com/office/drawing/2014/main" id="{2FD9C903-D18C-BF95-616A-A1D067D175CA}"/>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017" b="-8475"/>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6F800D35-E2A2-782B-A04A-E288FDE1F553}"/>
              </a:ext>
            </a:extLst>
          </p:cNvPr>
          <p:cNvSpPr/>
          <p:nvPr/>
        </p:nvSpPr>
        <p:spPr>
          <a:xfrm>
            <a:off x="631109" y="1329847"/>
            <a:ext cx="11151707" cy="5192038"/>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62D1E8BF-7C25-C2C3-B780-D35D49C8AA1E}"/>
                  </a:ext>
                </a:extLst>
              </p:cNvPr>
              <p:cNvSpPr/>
              <p:nvPr/>
            </p:nvSpPr>
            <p:spPr>
              <a:xfrm>
                <a:off x="478709" y="1158658"/>
                <a:ext cx="11151707" cy="5192038"/>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20000"/>
                  </a:lnSpc>
                </a:pPr>
                <a14:m>
                  <m:oMathPara xmlns:m="http://schemas.openxmlformats.org/officeDocument/2006/math">
                    <m:oMathParaPr>
                      <m:jc m:val="centerGroup"/>
                    </m:oMathParaPr>
                    <m:oMath xmlns:m="http://schemas.openxmlformats.org/officeDocument/2006/math">
                      <m:sSup>
                        <m:sSupPr>
                          <m:ctrlPr>
                            <a:rPr lang="en-US" altLang="zh-CN" sz="1600" i="1" dirty="0" smtClean="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Λ</m:t>
                          </m:r>
                        </m:e>
                        <m:sup>
                          <m:r>
                            <a:rPr lang="en-US" altLang="zh-CN" sz="1600" dirty="0">
                              <a:solidFill>
                                <a:schemeClr val="tx1"/>
                              </a:solidFill>
                              <a:latin typeface="Cambria Math" panose="02040503050406030204" pitchFamily="18" charset="0"/>
                            </a:rPr>
                            <m:t>′</m:t>
                          </m:r>
                        </m:sup>
                      </m:sSup>
                      <m:d>
                        <m:dPr>
                          <m:ctrlPr>
                            <a:rPr lang="en-US" altLang="zh-CN" sz="1600" b="1"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acc>
                                <m:accPr>
                                  <m:chr m:val="̃"/>
                                  <m:ctrlPr>
                                    <a:rPr lang="en-US" altLang="zh-CN" sz="1600" i="1" dirty="0">
                                      <a:solidFill>
                                        <a:schemeClr val="tx1"/>
                                      </a:solidFill>
                                      <a:latin typeface="Cambria Math" panose="02040503050406030204" pitchFamily="18" charset="0"/>
                                    </a:rPr>
                                  </m:ctrlPr>
                                </m:accPr>
                                <m:e>
                                  <m:r>
                                    <a:rPr lang="en-US" altLang="zh-CN" sz="1600" i="1" dirty="0">
                                      <a:solidFill>
                                        <a:schemeClr val="tx1"/>
                                      </a:solidFill>
                                      <a:latin typeface="Cambria Math" panose="02040503050406030204" pitchFamily="18" charset="0"/>
                                    </a:rPr>
                                    <m:t>𝑣</m:t>
                                  </m:r>
                                </m:e>
                              </m:acc>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Sub>
                          <m:r>
                            <a:rPr lang="en-US" altLang="zh-CN" sz="1600" b="1"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𝑧</m:t>
                              </m:r>
                            </m:sub>
                          </m:sSub>
                        </m:e>
                      </m:d>
                    </m:oMath>
                    <m:oMath xmlns:m="http://schemas.openxmlformats.org/officeDocument/2006/math">
                      <m:r>
                        <a:rPr lang="en-US" altLang="zh-CN" sz="1600" i="1" dirty="0">
                          <a:solidFill>
                            <a:schemeClr val="tx1"/>
                          </a:solidFill>
                          <a:latin typeface="Cambria Math" panose="02040503050406030204" pitchFamily="18" charset="0"/>
                        </a:rPr>
                        <m:t>=</m:t>
                      </m:r>
                      <m:f>
                        <m:fPr>
                          <m:ctrlPr>
                            <a:rPr lang="en-US" altLang="zh-CN" sz="1600" b="1" i="1" dirty="0">
                              <a:solidFill>
                                <a:schemeClr val="tx1"/>
                              </a:solidFill>
                              <a:latin typeface="Cambria Math" panose="02040503050406030204" pitchFamily="18" charset="0"/>
                            </a:rPr>
                          </m:ctrlPr>
                        </m:fPr>
                        <m:num>
                          <m:rad>
                            <m:radPr>
                              <m:degHide m:val="on"/>
                              <m:ctrlPr>
                                <a:rPr lang="en-US" altLang="zh-CN" sz="1600"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num>
                                <m:den>
                                  <m:sSup>
                                    <m:sSupPr>
                                      <m:ctrlPr>
                                        <a:rPr lang="en-US" altLang="zh-CN" sz="1600" b="0" i="1" dirty="0" smtClean="0">
                                          <a:solidFill>
                                            <a:schemeClr val="tx1"/>
                                          </a:solidFill>
                                          <a:latin typeface="Cambria Math" panose="02040503050406030204" pitchFamily="18" charset="0"/>
                                        </a:rPr>
                                      </m:ctrlPr>
                                    </m:sSupPr>
                                    <m:e>
                                      <m:d>
                                        <m:dPr>
                                          <m:ctrlPr>
                                            <a:rPr lang="en-US" altLang="zh-CN" sz="1600" b="0" i="1" dirty="0" smtClean="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cot</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func>
                                            </m:num>
                                            <m:den>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cos</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func>
                                            </m:den>
                                          </m:f>
                                        </m:e>
                                      </m:d>
                                    </m:e>
                                    <m:sup>
                                      <m:r>
                                        <a:rPr lang="en-US" altLang="zh-CN" sz="1600" b="0" i="1" dirty="0" smtClean="0">
                                          <a:solidFill>
                                            <a:schemeClr val="tx1"/>
                                          </a:solidFill>
                                          <a:latin typeface="Cambria Math" panose="02040503050406030204" pitchFamily="18" charset="0"/>
                                        </a:rPr>
                                        <m:t>2</m:t>
                                      </m:r>
                                    </m:sup>
                                  </m:sSup>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Sup>
                                    <m:sSubSupPr>
                                      <m:ctrlPr>
                                        <a:rPr lang="en-US" altLang="zh-CN" sz="1600" b="0"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num>
                                <m:den>
                                  <m:sSup>
                                    <m:sSupPr>
                                      <m:ctrlPr>
                                        <a:rPr lang="en-US" altLang="zh-CN" sz="1600" b="0" i="1" dirty="0" smtClean="0">
                                          <a:solidFill>
                                            <a:schemeClr val="tx1"/>
                                          </a:solidFill>
                                          <a:latin typeface="Cambria Math" panose="02040503050406030204" pitchFamily="18" charset="0"/>
                                        </a:rPr>
                                      </m:ctrlPr>
                                    </m:sSupPr>
                                    <m:e>
                                      <m:d>
                                        <m:dPr>
                                          <m:ctrlPr>
                                            <a:rPr lang="en-US" altLang="zh-CN" sz="1600" b="0" i="1" dirty="0" smtClean="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cot</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func>
                                            </m:num>
                                            <m:den>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sin</m:t>
                                                  </m:r>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func>
                                            </m:den>
                                          </m:f>
                                        </m:e>
                                      </m:d>
                                    </m:e>
                                    <m:sup>
                                      <m:r>
                                        <a:rPr lang="en-US" altLang="zh-CN" sz="1600" b="0" i="1" dirty="0" smtClean="0">
                                          <a:solidFill>
                                            <a:schemeClr val="tx1"/>
                                          </a:solidFill>
                                          <a:latin typeface="Cambria Math" panose="02040503050406030204" pitchFamily="18" charset="0"/>
                                        </a:rPr>
                                        <m:t>2</m:t>
                                      </m:r>
                                    </m:sup>
                                  </m:sSup>
                                </m:den>
                              </m:f>
                            </m:e>
                          </m:rad>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2</m:t>
                          </m:r>
                        </m:den>
                      </m:f>
                    </m:oMath>
                    <m:oMath xmlns:m="http://schemas.openxmlformats.org/officeDocument/2006/math">
                      <m:r>
                        <a:rPr lang="en-US" altLang="zh-CN" sz="1600" i="1" dirty="0">
                          <a:solidFill>
                            <a:schemeClr val="tx1"/>
                          </a:solidFill>
                          <a:latin typeface="Cambria Math" panose="02040503050406030204" pitchFamily="18" charset="0"/>
                        </a:rPr>
                        <m:t>=</m:t>
                      </m:r>
                      <m:f>
                        <m:fPr>
                          <m:ctrlPr>
                            <a:rPr lang="en-US" altLang="zh-CN" sz="1600" b="1" i="1" dirty="0">
                              <a:solidFill>
                                <a:schemeClr val="tx1"/>
                              </a:solidFill>
                              <a:latin typeface="Cambria Math" panose="02040503050406030204" pitchFamily="18" charset="0"/>
                            </a:rPr>
                          </m:ctrlPr>
                        </m:fPr>
                        <m:num>
                          <m:rad>
                            <m:radPr>
                              <m:degHide m:val="on"/>
                              <m:ctrlPr>
                                <a:rPr lang="en-US" altLang="zh-CN" sz="1600"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func>
                                    <m:funcPr>
                                      <m:ctrlPr>
                                        <a:rPr lang="en-US" altLang="zh-CN" sz="1600" i="1" dirty="0">
                                          <a:solidFill>
                                            <a:schemeClr val="tx1"/>
                                          </a:solidFill>
                                          <a:latin typeface="Cambria Math" panose="02040503050406030204" pitchFamily="18" charset="0"/>
                                        </a:rPr>
                                      </m:ctrlPr>
                                    </m:funcPr>
                                    <m:fName>
                                      <m:sSup>
                                        <m:sSupPr>
                                          <m:ctrlPr>
                                            <a:rPr lang="en-US" altLang="zh-CN" sz="1600" b="0" i="1" dirty="0" smtClean="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cos</m:t>
                                          </m:r>
                                        </m:e>
                                        <m:sup>
                                          <m:r>
                                            <a:rPr lang="en-US" altLang="zh-CN" sz="1600" b="0" i="1" dirty="0" smtClean="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func>
                                </m:num>
                                <m:den>
                                  <m:func>
                                    <m:funcPr>
                                      <m:ctrlPr>
                                        <a:rPr lang="en-US" altLang="zh-CN" sz="1600" i="1" dirty="0">
                                          <a:solidFill>
                                            <a:schemeClr val="tx1"/>
                                          </a:solidFill>
                                          <a:latin typeface="Cambria Math" panose="02040503050406030204" pitchFamily="18" charset="0"/>
                                        </a:rPr>
                                      </m:ctrlPr>
                                    </m:funcPr>
                                    <m:fName>
                                      <m:sSup>
                                        <m:sSupPr>
                                          <m:ctrlPr>
                                            <a:rPr lang="en-US" altLang="zh-CN" sz="1600" b="0" i="1" dirty="0" smtClean="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cot</m:t>
                                          </m:r>
                                        </m:e>
                                        <m:sup>
                                          <m:r>
                                            <a:rPr lang="en-US" altLang="zh-CN" sz="1600" b="0" i="0" dirty="0" smtClean="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func>
                                </m:den>
                              </m:f>
                              <m:r>
                                <a:rPr lang="en-US" altLang="zh-CN"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func>
                                    <m:funcPr>
                                      <m:ctrlPr>
                                        <a:rPr lang="en-US" altLang="zh-CN" sz="1600" i="1" dirty="0">
                                          <a:solidFill>
                                            <a:schemeClr val="tx1"/>
                                          </a:solidFill>
                                          <a:latin typeface="Cambria Math" panose="02040503050406030204" pitchFamily="18" charset="0"/>
                                        </a:rPr>
                                      </m:ctrlPr>
                                    </m:funcPr>
                                    <m:fName>
                                      <m:sSup>
                                        <m:sSupPr>
                                          <m:ctrlPr>
                                            <a:rPr lang="en-US" altLang="zh-CN" sz="1600" b="0" i="1" dirty="0" smtClean="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sin</m:t>
                                          </m:r>
                                        </m:e>
                                        <m:sup>
                                          <m:r>
                                            <a:rPr lang="en-US" altLang="zh-CN" sz="1600" b="0" i="0" dirty="0" smtClean="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func>
                                </m:num>
                                <m:den>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cot</m:t>
                                          </m:r>
                                        </m:e>
                                        <m:sup>
                                          <m:r>
                                            <a:rPr lang="en-US" altLang="zh-CN" sz="1600" dirty="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func>
                                </m:den>
                              </m:f>
                            </m:e>
                          </m:rad>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2</m:t>
                          </m:r>
                        </m:den>
                      </m:f>
                    </m:oMath>
                    <m:oMath xmlns:m="http://schemas.openxmlformats.org/officeDocument/2006/math">
                      <m:r>
                        <a:rPr lang="en-US" altLang="zh-CN" sz="1600" b="1" i="1" smtClean="0">
                          <a:solidFill>
                            <a:schemeClr val="tx1"/>
                          </a:solidFill>
                          <a:latin typeface="Cambria Math" panose="02040503050406030204" pitchFamily="18" charset="0"/>
                        </a:rPr>
                        <m:t>=</m:t>
                      </m:r>
                      <m:f>
                        <m:fPr>
                          <m:ctrlPr>
                            <a:rPr lang="en-US" altLang="zh-CN" sz="1600" b="1" i="1" dirty="0">
                              <a:solidFill>
                                <a:schemeClr val="tx1"/>
                              </a:solidFill>
                              <a:latin typeface="Cambria Math" panose="02040503050406030204" pitchFamily="18" charset="0"/>
                            </a:rPr>
                          </m:ctrlPr>
                        </m:fPr>
                        <m:num>
                          <m:rad>
                            <m:radPr>
                              <m:degHide m:val="on"/>
                              <m:ctrlPr>
                                <a:rPr lang="en-US" altLang="zh-CN" sz="1600"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r>
                                <a:rPr lang="en-US" altLang="zh-CN" sz="1600" i="1" dirty="0">
                                  <a:solidFill>
                                    <a:schemeClr val="tx1"/>
                                  </a:solidFill>
                                  <a:latin typeface="Cambria Math" panose="02040503050406030204" pitchFamily="18" charset="0"/>
                                </a:rPr>
                                <m:t>+</m:t>
                              </m:r>
                              <m:func>
                                <m:funcPr>
                                  <m:ctrlPr>
                                    <a:rPr lang="en-US" altLang="zh-CN" sz="1600" b="0" i="1" dirty="0" smtClean="0">
                                      <a:solidFill>
                                        <a:schemeClr val="tx1"/>
                                      </a:solidFill>
                                      <a:latin typeface="Cambria Math" panose="02040503050406030204" pitchFamily="18" charset="0"/>
                                    </a:rPr>
                                  </m:ctrlPr>
                                </m:funcPr>
                                <m:fName>
                                  <m:sSup>
                                    <m:sSupPr>
                                      <m:ctrlPr>
                                        <a:rPr lang="en-US" altLang="zh-CN" sz="1600" b="0" i="1" dirty="0" smtClean="0">
                                          <a:solidFill>
                                            <a:schemeClr val="tx1"/>
                                          </a:solidFill>
                                          <a:latin typeface="Cambria Math" panose="02040503050406030204" pitchFamily="18" charset="0"/>
                                        </a:rPr>
                                      </m:ctrlPr>
                                    </m:sSupPr>
                                    <m:e>
                                      <m:r>
                                        <m:rPr>
                                          <m:sty m:val="p"/>
                                        </m:rPr>
                                        <a:rPr lang="en-US" altLang="zh-CN" sz="1600" b="0" i="0" dirty="0" smtClean="0">
                                          <a:solidFill>
                                            <a:schemeClr val="tx1"/>
                                          </a:solidFill>
                                          <a:latin typeface="Cambria Math" panose="02040503050406030204" pitchFamily="18" charset="0"/>
                                        </a:rPr>
                                        <m:t>tan</m:t>
                                      </m:r>
                                    </m:e>
                                    <m:sup>
                                      <m:r>
                                        <a:rPr lang="en-US" altLang="zh-CN" sz="1600" b="0" i="1" dirty="0" smtClean="0">
                                          <a:solidFill>
                                            <a:schemeClr val="tx1"/>
                                          </a:solidFill>
                                          <a:latin typeface="Cambria Math" panose="02040503050406030204" pitchFamily="18" charset="0"/>
                                        </a:rPr>
                                        <m:t>2</m:t>
                                      </m:r>
                                    </m:sup>
                                  </m:sSup>
                                </m:fName>
                                <m:e>
                                  <m:sSubSup>
                                    <m:sSubSupPr>
                                      <m:ctrlPr>
                                        <a:rPr lang="en-US" altLang="zh-CN" sz="1600" b="0" i="1" dirty="0" smtClean="0">
                                          <a:solidFill>
                                            <a:schemeClr val="tx1"/>
                                          </a:solidFill>
                                          <a:latin typeface="Cambria Math" panose="02040503050406030204" pitchFamily="18" charset="0"/>
                                        </a:rPr>
                                      </m:ctrlPr>
                                    </m:sSubSupPr>
                                    <m:e>
                                      <m:r>
                                        <a:rPr lang="en-US" altLang="zh-CN" sz="1600" b="0" i="1" dirty="0" smtClean="0">
                                          <a:solidFill>
                                            <a:schemeClr val="tx1"/>
                                          </a:solidFill>
                                          <a:latin typeface="Cambria Math" panose="02040503050406030204" pitchFamily="18" charset="0"/>
                                        </a:rPr>
                                        <m:t>𝜃</m:t>
                                      </m:r>
                                    </m:e>
                                    <m:sub>
                                      <m:r>
                                        <a:rPr lang="en-US" altLang="zh-CN" sz="1600" b="0" i="1" dirty="0" smtClean="0">
                                          <a:solidFill>
                                            <a:schemeClr val="tx1"/>
                                          </a:solidFill>
                                          <a:latin typeface="Cambria Math" panose="02040503050406030204" pitchFamily="18" charset="0"/>
                                        </a:rPr>
                                        <m:t>𝑣</m:t>
                                      </m:r>
                                    </m:sub>
                                    <m:sup>
                                      <m:r>
                                        <a:rPr lang="en-US" altLang="zh-CN" sz="1600" b="0" i="1" dirty="0" smtClean="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m:t>
                                      </m:r>
                                    </m:sup>
                                  </m:sSubSup>
                                </m:e>
                              </m:func>
                              <m:d>
                                <m:dPr>
                                  <m:ctrlPr>
                                    <a:rPr lang="en-US" altLang="zh-CN" sz="1600" b="0" i="1" dirty="0" smtClean="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cos</m:t>
                                          </m:r>
                                        </m:e>
                                        <m:sup>
                                          <m:r>
                                            <a:rPr lang="en-US" altLang="zh-CN" sz="1600" i="1" dirty="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func>
                                  <m:r>
                                    <a:rPr lang="en-US" altLang="zh-CN" sz="1600"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sin</m:t>
                                          </m:r>
                                        </m:e>
                                        <m:sup>
                                          <m:r>
                                            <a:rPr lang="en-US" altLang="zh-CN" sz="1600" dirty="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func>
                                </m:e>
                              </m:d>
                            </m:e>
                          </m:rad>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2</m:t>
                          </m:r>
                        </m:den>
                      </m:f>
                    </m:oMath>
                  </m:oMathPara>
                </a14:m>
                <a:endParaRPr lang="en-US" altLang="zh-CN" sz="1600" b="1" i="1" dirty="0">
                  <a:solidFill>
                    <a:schemeClr val="tx1"/>
                  </a:solidFill>
                  <a:latin typeface="Cambria Math" panose="02040503050406030204" pitchFamily="18" charset="0"/>
                </a:endParaRPr>
              </a:p>
              <a:p>
                <a:pPr algn="ctr">
                  <a:lnSpc>
                    <a:spcPct val="120000"/>
                  </a:lnSpc>
                </a:pPr>
                <a14:m>
                  <m:oMathPara xmlns:m="http://schemas.openxmlformats.org/officeDocument/2006/math">
                    <m:oMathParaPr>
                      <m:jc m:val="centerGroup"/>
                    </m:oMathParaPr>
                    <m:oMath xmlns:m="http://schemas.openxmlformats.org/officeDocument/2006/math">
                      <m:r>
                        <m:rPr>
                          <m:nor/>
                        </m:rPr>
                        <a:rPr lang="zh-CN" altLang="en-US" sz="1600" dirty="0">
                          <a:solidFill>
                            <a:schemeClr val="tx1"/>
                          </a:solidFill>
                          <a:latin typeface="Cambria Math" panose="02040503050406030204" pitchFamily="18" charset="0"/>
                        </a:rPr>
                        <m:t>令</m:t>
                      </m:r>
                      <m:sSub>
                        <m:sSubPr>
                          <m:ctrlPr>
                            <a:rPr lang="en-US" altLang="zh-CN" sz="1600" b="0" i="1" dirty="0" smtClean="0">
                              <a:solidFill>
                                <a:schemeClr val="tx1"/>
                              </a:solidFill>
                              <a:latin typeface="Cambria Math" panose="02040503050406030204" pitchFamily="18" charset="0"/>
                            </a:rPr>
                          </m:ctrlPr>
                        </m:sSubPr>
                        <m:e>
                          <m:r>
                            <m:rPr>
                              <m:sty m:val="p"/>
                            </m:rPr>
                            <a:rPr lang="en-US" altLang="zh-CN" sz="1600" b="0" i="1" dirty="0" smtClean="0">
                              <a:solidFill>
                                <a:schemeClr val="tx1"/>
                              </a:solidFill>
                              <a:latin typeface="Cambria Math" panose="02040503050406030204" pitchFamily="18" charset="0"/>
                            </a:rPr>
                            <m:t>α</m:t>
                          </m:r>
                        </m:e>
                        <m:sub>
                          <m:r>
                            <a:rPr lang="en-US" altLang="zh-CN" sz="1600" b="0" i="1" dirty="0" smtClean="0">
                              <a:solidFill>
                                <a:schemeClr val="tx1"/>
                              </a:solidFill>
                              <a:latin typeface="Cambria Math" panose="02040503050406030204" pitchFamily="18" charset="0"/>
                            </a:rPr>
                            <m:t>0</m:t>
                          </m:r>
                        </m:sub>
                      </m:sSub>
                      <m:r>
                        <a:rPr lang="en-US" altLang="zh-CN" sz="1600" b="0" i="1" dirty="0" smtClean="0">
                          <a:solidFill>
                            <a:schemeClr val="tx1"/>
                          </a:solidFill>
                          <a:latin typeface="Cambria Math" panose="02040503050406030204" pitchFamily="18" charset="0"/>
                        </a:rPr>
                        <m:t>=</m:t>
                      </m:r>
                      <m:rad>
                        <m:radPr>
                          <m:degHide m:val="on"/>
                          <m:ctrlPr>
                            <a:rPr lang="en-US" altLang="zh-CN" sz="1600" b="0" i="1" dirty="0" smtClean="0">
                              <a:solidFill>
                                <a:schemeClr val="tx1"/>
                              </a:solidFill>
                              <a:latin typeface="Cambria Math" panose="02040503050406030204" pitchFamily="18" charset="0"/>
                            </a:rPr>
                          </m:ctrlPr>
                        </m:radPr>
                        <m:deg/>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2</m:t>
                              </m:r>
                            </m:sup>
                          </m:sSubSup>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cos</m:t>
                                  </m:r>
                                </m:e>
                                <m:sup>
                                  <m:r>
                                    <a:rPr lang="en-US" altLang="zh-CN" sz="1600" i="1" dirty="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func>
                          <m:r>
                            <a:rPr lang="en-US" altLang="zh-CN" sz="1600"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𝑧</m:t>
                              </m:r>
                            </m:sub>
                            <m:sup>
                              <m:r>
                                <a:rPr lang="en-US" altLang="zh-CN" sz="1600" i="1" dirty="0">
                                  <a:solidFill>
                                    <a:schemeClr val="tx1"/>
                                  </a:solidFill>
                                  <a:latin typeface="Cambria Math" panose="02040503050406030204" pitchFamily="18" charset="0"/>
                                </a:rPr>
                                <m:t>2</m:t>
                              </m:r>
                            </m:sup>
                          </m:sSubSup>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sin</m:t>
                                  </m:r>
                                </m:e>
                                <m:sup>
                                  <m:r>
                                    <a:rPr lang="en-US" altLang="zh-CN" sz="1600" dirty="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𝜙</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func>
                        </m:e>
                      </m:rad>
                    </m:oMath>
                  </m:oMathPara>
                </a14:m>
                <a:endParaRPr lang="en-US" altLang="zh-CN" sz="1600" dirty="0">
                  <a:solidFill>
                    <a:schemeClr val="tx1"/>
                  </a:solidFill>
                  <a:latin typeface="Cambria Math" panose="02040503050406030204" pitchFamily="18" charset="0"/>
                </a:endParaRPr>
              </a:p>
              <a:p>
                <a:pPr algn="ctr">
                  <a:lnSpc>
                    <a:spcPct val="120000"/>
                  </a:lnSpc>
                </a:pPr>
                <a14:m>
                  <m:oMathPara xmlns:m="http://schemas.openxmlformats.org/officeDocument/2006/math">
                    <m:oMathParaPr>
                      <m:jc m:val="centerGroup"/>
                    </m:oMathParaPr>
                    <m:oMath xmlns:m="http://schemas.openxmlformats.org/officeDocument/2006/math">
                      <m:sSup>
                        <m:sSupPr>
                          <m:ctrlPr>
                            <a:rPr lang="en-US" altLang="zh-CN" sz="1600" i="1" dirty="0" smtClean="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Λ</m:t>
                          </m:r>
                        </m:e>
                        <m:sup>
                          <m:r>
                            <a:rPr lang="en-US" altLang="zh-CN" sz="1600" dirty="0">
                              <a:solidFill>
                                <a:schemeClr val="tx1"/>
                              </a:solidFill>
                              <a:latin typeface="Cambria Math" panose="02040503050406030204" pitchFamily="18" charset="0"/>
                            </a:rPr>
                            <m:t>′</m:t>
                          </m:r>
                        </m:sup>
                      </m:sSup>
                      <m:d>
                        <m:dPr>
                          <m:ctrlPr>
                            <a:rPr lang="en-US" altLang="zh-CN" sz="1600" b="1" i="1" dirty="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𝒗</m:t>
                              </m:r>
                            </m:e>
                            <m:sup>
                              <m:r>
                                <a:rPr lang="en-US" altLang="zh-CN" sz="1600" b="1" i="1" dirty="0" smtClean="0">
                                  <a:solidFill>
                                    <a:schemeClr val="tx1"/>
                                  </a:solidFill>
                                  <a:latin typeface="Cambria Math" panose="02040503050406030204" pitchFamily="18" charset="0"/>
                                </a:rPr>
                                <m:t>′</m:t>
                              </m:r>
                            </m:sup>
                          </m:sSup>
                          <m:r>
                            <a:rPr lang="en-US" altLang="zh-CN" sz="1600" b="1"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Sub>
                          <m:r>
                            <a:rPr lang="en-US" altLang="zh-CN" sz="1600" b="1"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𝑧</m:t>
                              </m:r>
                            </m:sub>
                          </m:sSub>
                        </m:e>
                      </m:d>
                      <m:r>
                        <a:rPr lang="en-US" altLang="zh-CN" sz="1600" b="1" i="1" dirty="0" smtClean="0">
                          <a:solidFill>
                            <a:schemeClr val="tx1"/>
                          </a:solidFill>
                          <a:latin typeface="Cambria Math" panose="02040503050406030204" pitchFamily="18" charset="0"/>
                        </a:rPr>
                        <m:t>=</m:t>
                      </m:r>
                      <m:f>
                        <m:fPr>
                          <m:ctrlPr>
                            <a:rPr lang="en-US" altLang="zh-CN" sz="1600" b="1" i="1" dirty="0">
                              <a:solidFill>
                                <a:schemeClr val="tx1"/>
                              </a:solidFill>
                              <a:latin typeface="Cambria Math" panose="02040503050406030204" pitchFamily="18" charset="0"/>
                            </a:rPr>
                          </m:ctrlPr>
                        </m:fPr>
                        <m:num>
                          <m:rad>
                            <m:radPr>
                              <m:degHide m:val="on"/>
                              <m:ctrlPr>
                                <a:rPr lang="en-US" altLang="zh-CN" sz="1600"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r>
                                <a:rPr lang="en-US" altLang="zh-CN" sz="1600" i="1" dirty="0">
                                  <a:solidFill>
                                    <a:schemeClr val="tx1"/>
                                  </a:solidFill>
                                  <a:latin typeface="Cambria Math" panose="02040503050406030204" pitchFamily="18" charset="0"/>
                                </a:rPr>
                                <m:t>+</m:t>
                              </m:r>
                              <m:sSubSup>
                                <m:sSubSupPr>
                                  <m:ctrlPr>
                                    <a:rPr lang="en-US" altLang="zh-CN" sz="1600" b="0" i="1" dirty="0" smtClean="0">
                                      <a:solidFill>
                                        <a:schemeClr val="tx1"/>
                                      </a:solidFill>
                                      <a:latin typeface="Cambria Math" panose="02040503050406030204" pitchFamily="18" charset="0"/>
                                    </a:rPr>
                                  </m:ctrlPr>
                                </m:sSubSupPr>
                                <m:e>
                                  <m:r>
                                    <m:rPr>
                                      <m:sty m:val="p"/>
                                    </m:rPr>
                                    <a:rPr lang="en-US" altLang="zh-CN" sz="1600" i="1" dirty="0">
                                      <a:solidFill>
                                        <a:schemeClr val="tx1"/>
                                      </a:solidFill>
                                      <a:latin typeface="Cambria Math" panose="02040503050406030204" pitchFamily="18" charset="0"/>
                                    </a:rPr>
                                    <m:t>α</m:t>
                                  </m:r>
                                </m:e>
                                <m:sub>
                                  <m:r>
                                    <a:rPr lang="en-US" altLang="zh-CN" sz="1600" i="1" dirty="0">
                                      <a:solidFill>
                                        <a:schemeClr val="tx1"/>
                                      </a:solidFill>
                                      <a:latin typeface="Cambria Math" panose="02040503050406030204" pitchFamily="18" charset="0"/>
                                    </a:rPr>
                                    <m:t>0</m:t>
                                  </m:r>
                                </m:sub>
                                <m:sup>
                                  <m:r>
                                    <a:rPr lang="en-US" altLang="zh-CN" sz="1600" b="0" i="1" dirty="0" smtClean="0">
                                      <a:solidFill>
                                        <a:schemeClr val="tx1"/>
                                      </a:solidFill>
                                      <a:latin typeface="Cambria Math" panose="02040503050406030204" pitchFamily="18" charset="0"/>
                                    </a:rPr>
                                    <m:t>2</m:t>
                                  </m:r>
                                </m:sup>
                              </m:sSubSup>
                              <m:func>
                                <m:funcPr>
                                  <m:ctrlPr>
                                    <a:rPr lang="en-US" altLang="zh-CN" sz="1600" i="1" dirty="0">
                                      <a:solidFill>
                                        <a:schemeClr val="tx1"/>
                                      </a:solidFill>
                                      <a:latin typeface="Cambria Math" panose="02040503050406030204" pitchFamily="18" charset="0"/>
                                    </a:rPr>
                                  </m:ctrlPr>
                                </m:funcPr>
                                <m:fName>
                                  <m:sSup>
                                    <m:sSupPr>
                                      <m:ctrlPr>
                                        <a:rPr lang="en-US" altLang="zh-CN" sz="1600" i="1" dirty="0">
                                          <a:solidFill>
                                            <a:schemeClr val="tx1"/>
                                          </a:solidFill>
                                          <a:latin typeface="Cambria Math" panose="02040503050406030204" pitchFamily="18" charset="0"/>
                                        </a:rPr>
                                      </m:ctrlPr>
                                    </m:sSupPr>
                                    <m:e>
                                      <m:r>
                                        <m:rPr>
                                          <m:sty m:val="p"/>
                                        </m:rPr>
                                        <a:rPr lang="en-US" altLang="zh-CN" sz="1600" dirty="0">
                                          <a:solidFill>
                                            <a:schemeClr val="tx1"/>
                                          </a:solidFill>
                                          <a:latin typeface="Cambria Math" panose="02040503050406030204" pitchFamily="18" charset="0"/>
                                        </a:rPr>
                                        <m:t>tan</m:t>
                                      </m:r>
                                    </m:e>
                                    <m:sup>
                                      <m:r>
                                        <a:rPr lang="en-US" altLang="zh-CN" sz="1600" i="1" dirty="0">
                                          <a:solidFill>
                                            <a:schemeClr val="tx1"/>
                                          </a:solidFill>
                                          <a:latin typeface="Cambria Math" panose="02040503050406030204" pitchFamily="18" charset="0"/>
                                        </a:rPr>
                                        <m:t>2</m:t>
                                      </m:r>
                                    </m:sup>
                                  </m:sSup>
                                </m:fName>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𝜃</m:t>
                                      </m:r>
                                    </m:e>
                                    <m:sub>
                                      <m:r>
                                        <a:rPr lang="en-US" altLang="zh-CN" sz="1600" i="1" dirty="0">
                                          <a:solidFill>
                                            <a:schemeClr val="tx1"/>
                                          </a:solidFill>
                                          <a:latin typeface="Cambria Math" panose="02040503050406030204" pitchFamily="18" charset="0"/>
                                        </a:rPr>
                                        <m:t>𝑣</m:t>
                                      </m:r>
                                    </m:sub>
                                    <m:sup>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m:t>
                                      </m:r>
                                    </m:sup>
                                  </m:sSubSup>
                                </m:e>
                              </m:func>
                            </m:e>
                          </m:rad>
                          <m:r>
                            <a:rPr lang="en-US" altLang="zh-CN" sz="1600"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1</m:t>
                          </m:r>
                        </m:num>
                        <m:den>
                          <m:r>
                            <a:rPr lang="en-US" altLang="zh-CN" sz="1600" i="1" dirty="0">
                              <a:solidFill>
                                <a:schemeClr val="tx1"/>
                              </a:solidFill>
                              <a:latin typeface="Cambria Math" panose="02040503050406030204" pitchFamily="18" charset="0"/>
                            </a:rPr>
                            <m:t>2</m:t>
                          </m:r>
                        </m:den>
                      </m:f>
                    </m:oMath>
                  </m:oMathPara>
                </a14:m>
                <a:endParaRPr lang="en-US" altLang="zh-CN" sz="1600" b="1" i="1" dirty="0">
                  <a:solidFill>
                    <a:schemeClr val="tx1"/>
                  </a:solidFill>
                  <a:latin typeface="Cambria Math" panose="02040503050406030204" pitchFamily="18" charset="0"/>
                </a:endParaRPr>
              </a:p>
            </p:txBody>
          </p:sp>
        </mc:Choice>
        <mc:Fallback xmlns="">
          <p:sp>
            <p:nvSpPr>
              <p:cNvPr id="4" name="矩形 3">
                <a:extLst>
                  <a:ext uri="{FF2B5EF4-FFF2-40B4-BE49-F238E27FC236}">
                    <a16:creationId xmlns:a16="http://schemas.microsoft.com/office/drawing/2014/main" id="{62D1E8BF-7C25-C2C3-B780-D35D49C8AA1E}"/>
                  </a:ext>
                </a:extLst>
              </p:cNvPr>
              <p:cNvSpPr>
                <a:spLocks noRot="1" noChangeAspect="1" noMove="1" noResize="1" noEditPoints="1" noAdjustHandles="1" noChangeArrowheads="1" noChangeShapeType="1" noTextEdit="1"/>
              </p:cNvSpPr>
              <p:nvPr/>
            </p:nvSpPr>
            <p:spPr>
              <a:xfrm>
                <a:off x="478709" y="1158658"/>
                <a:ext cx="11151707" cy="5192038"/>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1524659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F7FB-DA56-3D28-FCAF-683B12BA8D34}"/>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347D41F9-64F9-B686-5D31-359DE3EC80AC}"/>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整理一下</a:t>
            </a:r>
            <a:endParaRPr lang="en-US" altLang="zh-CN" dirty="0"/>
          </a:p>
        </p:txBody>
      </p:sp>
      <p:sp>
        <p:nvSpPr>
          <p:cNvPr id="5" name="矩形 4">
            <a:extLst>
              <a:ext uri="{FF2B5EF4-FFF2-40B4-BE49-F238E27FC236}">
                <a16:creationId xmlns:a16="http://schemas.microsoft.com/office/drawing/2014/main" id="{6A865838-E3A6-E914-1C10-02EB71B02302}"/>
              </a:ext>
            </a:extLst>
          </p:cNvPr>
          <p:cNvSpPr/>
          <p:nvPr/>
        </p:nvSpPr>
        <p:spPr>
          <a:xfrm>
            <a:off x="631109" y="1315233"/>
            <a:ext cx="11137094"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E9742DC-017B-7923-4553-F80EB54C53F4}"/>
                  </a:ext>
                </a:extLst>
              </p:cNvPr>
              <p:cNvSpPr/>
              <p:nvPr/>
            </p:nvSpPr>
            <p:spPr>
              <a:xfrm>
                <a:off x="478709" y="1144044"/>
                <a:ext cx="11137094"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1400" i="1" dirty="0" smtClean="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e>
                        <m:sup>
                          <m:r>
                            <a:rPr lang="en-US" altLang="zh-CN" sz="1400" i="1" dirty="0">
                              <a:solidFill>
                                <a:schemeClr val="tx1"/>
                              </a:solidFill>
                              <a:latin typeface="Cambria Math" panose="02040503050406030204" pitchFamily="18" charset="0"/>
                            </a:rPr>
                            <m:t>𝑟</m:t>
                          </m:r>
                        </m:sup>
                      </m:sSup>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𝐹</m:t>
                              </m:r>
                            </m:e>
                            <m:sub>
                              <m:r>
                                <a:rPr lang="en-US" altLang="zh-CN" sz="1400" i="1">
                                  <a:solidFill>
                                    <a:schemeClr val="tx1"/>
                                  </a:solidFill>
                                  <a:latin typeface="Cambria Math" panose="02040503050406030204" pitchFamily="18" charset="0"/>
                                </a:rPr>
                                <m:t>𝑟</m:t>
                              </m:r>
                            </m:sub>
                          </m:sSub>
                          <m:d>
                            <m:dPr>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𝒐</m:t>
                              </m:r>
                            </m:e>
                          </m:d>
                          <m:r>
                            <a:rPr lang="en-US" altLang="zh-CN" sz="1400" i="1">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𝒓</m:t>
                                  </m:r>
                                </m:sub>
                              </m:sSub>
                            </m:e>
                          </m:d>
                          <m:r>
                            <a:rPr lang="en-US" altLang="zh-CN" sz="1400" i="1">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2</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𝒓</m:t>
                                  </m:r>
                                </m:sub>
                              </m:sSub>
                            </m:e>
                          </m:d>
                        </m:num>
                        <m:den>
                          <m:r>
                            <a:rPr lang="en-US" altLang="zh-CN" sz="1400" i="1" dirty="0">
                              <a:solidFill>
                                <a:schemeClr val="tx1"/>
                              </a:solidFill>
                              <a:latin typeface="Cambria Math" panose="02040503050406030204" pitchFamily="18" charset="0"/>
                            </a:rPr>
                            <m:t>4</m:t>
                          </m:r>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en>
                      </m:f>
                      <m:r>
                        <a:rPr lang="en-US" altLang="zh-CN" sz="1400" i="1" dirty="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𝒓</m:t>
                              </m:r>
                            </m:sub>
                          </m:sSub>
                          <m:r>
                            <a:rPr lang="en-US" altLang="zh-CN" sz="1400" i="1" dirty="0">
                              <a:solidFill>
                                <a:schemeClr val="tx1"/>
                              </a:solidFill>
                              <a:latin typeface="Cambria Math" panose="02040503050406030204" pitchFamily="18" charset="0"/>
                            </a:rPr>
                            <m:t>&gt;0</m:t>
                          </m:r>
                        </m:e>
                      </m:d>
                    </m:oMath>
                  </m:oMathPara>
                </a14:m>
                <a:endParaRPr lang="en-US" altLang="zh-CN" sz="14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1400" i="1" dirty="0" smtClean="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𝑓</m:t>
                          </m:r>
                        </m:e>
                        <m:sup>
                          <m:r>
                            <a:rPr lang="en-US" altLang="zh-CN" sz="1400" i="1" dirty="0">
                              <a:solidFill>
                                <a:schemeClr val="tx1"/>
                              </a:solidFill>
                              <a:latin typeface="Cambria Math" panose="02040503050406030204" pitchFamily="18" charset="0"/>
                            </a:rPr>
                            <m:t>𝑡</m:t>
                          </m:r>
                        </m:sup>
                      </m:sSup>
                      <m:d>
                        <m:dPr>
                          <m:ctrlPr>
                            <a:rPr lang="en-US" altLang="zh-CN" sz="1400" i="1" dirty="0">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𝒐</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𝒈</m:t>
                          </m:r>
                        </m:e>
                      </m:d>
                      <m:r>
                        <a:rPr lang="en-US" altLang="zh-CN" sz="1400" b="0" i="1" dirty="0" smtClean="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num>
                        <m:den>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
                            <m:dPr>
                              <m:begChr m:val="|"/>
                              <m:endChr m:val="|"/>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𝒈</m:t>
                              </m:r>
                            </m:e>
                          </m:d>
                        </m:den>
                      </m:f>
                      <m:r>
                        <a:rPr lang="en-US" altLang="zh-CN" sz="1400" i="1" dirty="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sSubSup>
                            <m:sSubSupPr>
                              <m:ctrlPr>
                                <a:rPr lang="en-US" altLang="zh-CN" sz="1400" i="1">
                                  <a:solidFill>
                                    <a:schemeClr val="tx1"/>
                                  </a:solidFill>
                                  <a:latin typeface="Cambria Math" panose="02040503050406030204" pitchFamily="18" charset="0"/>
                                </a:rPr>
                              </m:ctrlPr>
                            </m:sSubSup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up>
                              <m:r>
                                <a:rPr lang="en-US" altLang="zh-CN" sz="1400" i="1">
                                  <a:solidFill>
                                    <a:schemeClr val="tx1"/>
                                  </a:solidFill>
                                  <a:latin typeface="Cambria Math" panose="02040503050406030204" pitchFamily="18" charset="0"/>
                                </a:rPr>
                                <m:t>2</m:t>
                              </m:r>
                            </m:sup>
                          </m:sSubSup>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𝐹</m:t>
                              </m:r>
                            </m:e>
                            <m:sub>
                              <m:r>
                                <a:rPr lang="en-US" altLang="zh-CN" sz="1400" i="1">
                                  <a:solidFill>
                                    <a:schemeClr val="tx1"/>
                                  </a:solidFill>
                                  <a:latin typeface="Cambria Math" panose="02040503050406030204" pitchFamily="18" charset="0"/>
                                </a:rPr>
                                <m:t>𝑡</m:t>
                              </m:r>
                            </m:sub>
                          </m:sSub>
                          <m:d>
                            <m:dPr>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r>
                                <a:rPr lang="en-US" altLang="zh-CN" sz="1400" b="1" i="1">
                                  <a:solidFill>
                                    <a:schemeClr val="tx1"/>
                                  </a:solidFill>
                                  <a:latin typeface="Cambria Math" panose="02040503050406030204" pitchFamily="18" charset="0"/>
                                </a:rPr>
                                <m:t>𝒐</m:t>
                              </m:r>
                            </m:e>
                          </m:d>
                          <m:r>
                            <a:rPr lang="en-US" altLang="zh-CN" sz="1400" i="1">
                              <a:solidFill>
                                <a:schemeClr val="tx1"/>
                              </a:solidFill>
                              <a:latin typeface="Cambria Math" panose="02040503050406030204" pitchFamily="18" charset="0"/>
                            </a:rPr>
                            <m:t> </m:t>
                          </m:r>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r>
                            <a:rPr lang="en-US" altLang="zh-CN" sz="1400" i="1" dirty="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2</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num>
                        <m:den>
                          <m:sSup>
                            <m:sSupPr>
                              <m:ctrlPr>
                                <a:rPr lang="en-US" altLang="zh-CN" sz="1400" i="1">
                                  <a:solidFill>
                                    <a:schemeClr val="tx1"/>
                                  </a:solidFill>
                                  <a:latin typeface="Cambria Math" panose="02040503050406030204" pitchFamily="18" charset="0"/>
                                </a:rPr>
                              </m:ctrlPr>
                            </m:sSupPr>
                            <m:e>
                              <m:d>
                                <m:dPr>
                                  <m:ctrlPr>
                                    <a:rPr lang="en-US" altLang="zh-CN" sz="1400" i="1">
                                      <a:solidFill>
                                        <a:schemeClr val="tx1"/>
                                      </a:solidFill>
                                      <a:latin typeface="Cambria Math" panose="02040503050406030204" pitchFamily="18" charset="0"/>
                                    </a:rPr>
                                  </m:ctrlPr>
                                </m:dPr>
                                <m:e>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𝑜</m:t>
                                      </m:r>
                                    </m:sub>
                                  </m:sSub>
                                  <m:d>
                                    <m:dPr>
                                      <m:begChr m:val="|"/>
                                      <m:endChr m:val="|"/>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𝒐</m:t>
                                      </m:r>
                                      <m:r>
                                        <a:rPr lang="en-US" altLang="zh-CN" sz="1400" i="1">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r>
                                    <a:rPr lang="en-US" altLang="zh-CN" sz="1400" i="1">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a:rPr lang="en-US" altLang="zh-CN" sz="1400" i="1">
                                          <a:solidFill>
                                            <a:schemeClr val="tx1"/>
                                          </a:solidFill>
                                          <a:latin typeface="Cambria Math" panose="02040503050406030204" pitchFamily="18" charset="0"/>
                                        </a:rPr>
                                        <m:t>𝜂</m:t>
                                      </m:r>
                                    </m:e>
                                    <m:sub>
                                      <m:r>
                                        <a:rPr lang="en-US" altLang="zh-CN" sz="1400" i="1">
                                          <a:solidFill>
                                            <a:schemeClr val="tx1"/>
                                          </a:solidFill>
                                          <a:latin typeface="Cambria Math" panose="02040503050406030204" pitchFamily="18" charset="0"/>
                                        </a:rPr>
                                        <m:t>𝑖</m:t>
                                      </m:r>
                                    </m:sub>
                                  </m:sSub>
                                  <m:d>
                                    <m:dPr>
                                      <m:begChr m:val="|"/>
                                      <m:endChr m:val="|"/>
                                      <m:ctrlPr>
                                        <a:rPr lang="en-US" altLang="zh-CN" sz="1400" i="1">
                                          <a:solidFill>
                                            <a:schemeClr val="tx1"/>
                                          </a:solidFill>
                                          <a:latin typeface="Cambria Math" panose="02040503050406030204" pitchFamily="18" charset="0"/>
                                        </a:rPr>
                                      </m:ctrlPr>
                                    </m:dPr>
                                    <m:e>
                                      <m:r>
                                        <a:rPr lang="en-US" altLang="zh-CN" sz="1400" b="1" i="1">
                                          <a:solidFill>
                                            <a:schemeClr val="tx1"/>
                                          </a:solidFill>
                                          <a:latin typeface="Cambria Math" panose="02040503050406030204" pitchFamily="18" charset="0"/>
                                        </a:rPr>
                                        <m:t>𝒊</m:t>
                                      </m:r>
                                      <m:r>
                                        <a:rPr lang="en-US" altLang="zh-CN" sz="1400" i="1">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e>
                                  </m:d>
                                </m:e>
                              </m:d>
                            </m:e>
                            <m:sup>
                              <m:r>
                                <a:rPr lang="en-US" altLang="zh-CN" sz="1400" i="1">
                                  <a:solidFill>
                                    <a:schemeClr val="tx1"/>
                                  </a:solidFill>
                                  <a:latin typeface="Cambria Math" panose="02040503050406030204" pitchFamily="18" charset="0"/>
                                </a:rPr>
                                <m:t>2</m:t>
                              </m:r>
                            </m:sup>
                          </m:sSup>
                        </m:den>
                      </m:f>
                      <m:r>
                        <a:rPr lang="en-US" altLang="zh-CN" sz="1400" i="1" dirty="0">
                          <a:solidFill>
                            <a:schemeClr val="tx1"/>
                          </a:solidFill>
                          <a:latin typeface="Cambria Math" panose="02040503050406030204" pitchFamily="18" charset="0"/>
                        </a:rPr>
                        <m:t>,  </m:t>
                      </m:r>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sSub>
                            <m:sSubPr>
                              <m:ctrlPr>
                                <a:rPr lang="en-US" altLang="zh-CN" sz="1400" b="1" i="1" dirty="0">
                                  <a:solidFill>
                                    <a:schemeClr val="tx1"/>
                                  </a:solidFill>
                                  <a:latin typeface="Cambria Math" panose="02040503050406030204" pitchFamily="18" charset="0"/>
                                </a:rPr>
                              </m:ctrlPr>
                            </m:sSubPr>
                            <m:e>
                              <m:r>
                                <a:rPr lang="en-US" altLang="zh-CN" sz="1400" b="1" i="1" dirty="0">
                                  <a:solidFill>
                                    <a:schemeClr val="tx1"/>
                                  </a:solidFill>
                                  <a:latin typeface="Cambria Math" panose="02040503050406030204" pitchFamily="18" charset="0"/>
                                </a:rPr>
                                <m:t>𝒉</m:t>
                              </m:r>
                            </m:e>
                            <m:sub>
                              <m:r>
                                <a:rPr lang="en-US" altLang="zh-CN" sz="1400" b="1" i="1" dirty="0">
                                  <a:solidFill>
                                    <a:schemeClr val="tx1"/>
                                  </a:solidFill>
                                  <a:latin typeface="Cambria Math" panose="02040503050406030204" pitchFamily="18" charset="0"/>
                                </a:rPr>
                                <m:t>𝒕</m:t>
                              </m:r>
                            </m:sub>
                          </m:sSub>
                          <m:r>
                            <a:rPr lang="en-US" altLang="zh-CN" sz="1400" i="1" dirty="0">
                              <a:solidFill>
                                <a:schemeClr val="tx1"/>
                              </a:solidFill>
                              <a:latin typeface="Cambria Math" panose="02040503050406030204" pitchFamily="18" charset="0"/>
                            </a:rPr>
                            <m:t>&gt;0</m:t>
                          </m:r>
                        </m:e>
                      </m:d>
                    </m:oMath>
                  </m:oMathPara>
                </a14:m>
                <a:endParaRPr lang="en-US" altLang="zh-CN" sz="1400" i="1" dirty="0">
                  <a:solidFill>
                    <a:schemeClr val="tx1"/>
                  </a:solidFill>
                  <a:latin typeface="Cambria Math" panose="02040503050406030204" pitchFamily="18" charset="0"/>
                </a:endParaRPr>
              </a:p>
              <a:p>
                <a:pPr algn="ctr">
                  <a:lnSpc>
                    <a:spcPct val="150000"/>
                  </a:lnSpc>
                </a:pPr>
                <a:r>
                  <a:rPr lang="en-US" altLang="zh-CN" sz="1400" i="1" dirty="0">
                    <a:solidFill>
                      <a:schemeClr val="tx1"/>
                    </a:solidFill>
                    <a:latin typeface="Cambria Math" panose="02040503050406030204" pitchFamily="18" charset="0"/>
                  </a:rPr>
                  <a:t>—————————————————————————————————————————————————————————————</a:t>
                </a:r>
              </a:p>
              <a:p>
                <a:pPr algn="ctr">
                  <a:lnSpc>
                    <a:spcPct val="150000"/>
                  </a:lnSpc>
                </a:pPr>
                <a:r>
                  <a:rPr lang="zh-CN" altLang="en-US" sz="1400" dirty="0">
                    <a:solidFill>
                      <a:schemeClr val="tx1"/>
                    </a:solidFill>
                    <a:latin typeface="Cambria Math" panose="02040503050406030204" pitchFamily="18" charset="0"/>
                  </a:rPr>
                  <a:t>其中：</a:t>
                </a:r>
                <a:endParaRPr lang="en-US" altLang="zh-CN" sz="1400"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a:rPr lang="en-US" altLang="zh-CN" sz="1400" i="1" dirty="0">
                          <a:solidFill>
                            <a:schemeClr val="tx1"/>
                          </a:solidFill>
                          <a:latin typeface="Cambria Math" panose="02040503050406030204" pitchFamily="18" charset="0"/>
                        </a:rPr>
                        <m:t>𝐷</m:t>
                      </m:r>
                      <m:d>
                        <m:dPr>
                          <m:ctrlPr>
                            <a:rPr lang="en-US" altLang="zh-CN" sz="1400" i="1" dirty="0">
                              <a:solidFill>
                                <a:schemeClr val="tx1"/>
                              </a:solidFill>
                              <a:latin typeface="Cambria Math" panose="02040503050406030204" pitchFamily="18" charset="0"/>
                            </a:rPr>
                          </m:ctrlPr>
                        </m:dPr>
                        <m:e>
                          <m:r>
                            <a:rPr lang="en-US" altLang="zh-CN" sz="1400" b="1" i="1" dirty="0" smtClean="0">
                              <a:solidFill>
                                <a:schemeClr val="tx1"/>
                              </a:solidFill>
                              <a:latin typeface="Cambria Math" panose="02040503050406030204" pitchFamily="18" charset="0"/>
                            </a:rPr>
                            <m:t>𝒎</m:t>
                          </m:r>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𝑧</m:t>
                              </m:r>
                            </m:sub>
                          </m:sSub>
                        </m:e>
                      </m:d>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r>
                            <a:rPr lang="en-US" altLang="zh-CN" sz="1400" i="1" dirty="0">
                              <a:solidFill>
                                <a:schemeClr val="tx1"/>
                              </a:solidFill>
                              <a:latin typeface="Cambria Math" panose="02040503050406030204" pitchFamily="18" charset="0"/>
                            </a:rPr>
                            <m:t>1</m:t>
                          </m:r>
                        </m:num>
                        <m:den>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𝜋</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𝑥</m:t>
                                  </m:r>
                                </m:sub>
                              </m:sSub>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𝑦</m:t>
                                  </m:r>
                                </m:sub>
                              </m:sSub>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4</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1+</m:t>
                                  </m:r>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𝑚</m:t>
                                          </m:r>
                                        </m:sub>
                                      </m:sSub>
                                    </m:e>
                                  </m:func>
                                  <m:d>
                                    <m:dPr>
                                      <m:ctrlPr>
                                        <a:rPr lang="en-US" altLang="zh-CN" sz="1400" i="1" dirty="0">
                                          <a:solidFill>
                                            <a:schemeClr val="tx1"/>
                                          </a:solidFill>
                                          <a:latin typeface="Cambria Math" panose="02040503050406030204" pitchFamily="18" charset="0"/>
                                        </a:rPr>
                                      </m:ctrlPr>
                                    </m:dPr>
                                    <m:e>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𝜙</m:t>
                                                  </m:r>
                                                </m:e>
                                                <m:sub>
                                                  <m:r>
                                                    <a:rPr lang="en-US" altLang="zh-CN" sz="1400" b="0" i="1" dirty="0" smtClean="0">
                                                      <a:solidFill>
                                                        <a:schemeClr val="tx1"/>
                                                      </a:solidFill>
                                                      <a:latin typeface="Cambria Math" panose="02040503050406030204" pitchFamily="18" charset="0"/>
                                                    </a:rPr>
                                                    <m:t>𝑚</m:t>
                                                  </m:r>
                                                </m:sub>
                                              </m:sSub>
                                            </m:e>
                                          </m:func>
                                        </m:num>
                                        <m:den>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𝑥</m:t>
                                              </m:r>
                                            </m:sub>
                                            <m:sup>
                                              <m:r>
                                                <a:rPr lang="en-US" altLang="zh-CN" sz="1400" i="1" dirty="0">
                                                  <a:solidFill>
                                                    <a:schemeClr val="tx1"/>
                                                  </a:solidFill>
                                                  <a:latin typeface="Cambria Math" panose="02040503050406030204" pitchFamily="18" charset="0"/>
                                                </a:rPr>
                                                <m:t>2</m:t>
                                              </m:r>
                                            </m:sup>
                                          </m:sSubSup>
                                        </m:den>
                                      </m:f>
                                      <m:r>
                                        <a:rPr lang="en-US" altLang="zh-CN" sz="1400"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sin</m:t>
                                                  </m:r>
                                                </m:e>
                                                <m:sup>
                                                  <m:r>
                                                    <a:rPr lang="en-US" altLang="zh-CN" sz="1400" i="1" dirty="0">
                                                      <a:solidFill>
                                                        <a:schemeClr val="tx1"/>
                                                      </a:solidFill>
                                                      <a:latin typeface="Cambria Math" panose="02040503050406030204" pitchFamily="18" charset="0"/>
                                                    </a:rPr>
                                                    <m:t>2</m:t>
                                                  </m:r>
                                                </m:sup>
                                              </m:sSup>
                                            </m:fName>
                                            <m:e>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𝑚</m:t>
                                                  </m:r>
                                                </m:sub>
                                              </m:sSub>
                                            </m:e>
                                          </m:func>
                                        </m:num>
                                        <m:den>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𝑧</m:t>
                                              </m:r>
                                            </m:sub>
                                            <m:sup>
                                              <m:r>
                                                <a:rPr lang="en-US" altLang="zh-CN" sz="1400" i="1" dirty="0">
                                                  <a:solidFill>
                                                    <a:schemeClr val="tx1"/>
                                                  </a:solidFill>
                                                  <a:latin typeface="Cambria Math" panose="02040503050406030204" pitchFamily="18" charset="0"/>
                                                </a:rPr>
                                                <m:t>2</m:t>
                                              </m:r>
                                            </m:sup>
                                          </m:sSubSup>
                                        </m:den>
                                      </m:f>
                                    </m:e>
                                  </m:d>
                                </m:e>
                              </m:d>
                            </m:e>
                            <m:sup>
                              <m:r>
                                <a:rPr lang="en-US" altLang="zh-CN" sz="1400" i="1" dirty="0">
                                  <a:solidFill>
                                    <a:schemeClr val="tx1"/>
                                  </a:solidFill>
                                  <a:latin typeface="Cambria Math" panose="02040503050406030204" pitchFamily="18" charset="0"/>
                                </a:rPr>
                                <m:t>2</m:t>
                              </m:r>
                            </m:sup>
                          </m:sSup>
                        </m:den>
                      </m:f>
                    </m:oMath>
                  </m:oMathPara>
                </a14:m>
                <a:endParaRPr lang="en-US" altLang="zh-CN" sz="14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𝒗</m:t>
                          </m:r>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𝑧</m:t>
                              </m:r>
                            </m:sub>
                          </m:sSub>
                        </m:e>
                      </m:d>
                      <m:r>
                        <a:rPr lang="en-US" altLang="zh-CN" sz="1400" b="1" i="1" dirty="0">
                          <a:solidFill>
                            <a:schemeClr val="tx1"/>
                          </a:solidFill>
                          <a:latin typeface="Cambria Math" panose="02040503050406030204" pitchFamily="18" charset="0"/>
                        </a:rPr>
                        <m:t>=</m:t>
                      </m:r>
                      <m:f>
                        <m:fPr>
                          <m:ctrlPr>
                            <a:rPr lang="en-US" altLang="zh-CN" sz="1400" b="1" i="1" dirty="0">
                              <a:solidFill>
                                <a:schemeClr val="tx1"/>
                              </a:solidFill>
                              <a:latin typeface="Cambria Math" panose="02040503050406030204" pitchFamily="18" charset="0"/>
                            </a:rPr>
                          </m:ctrlPr>
                        </m:fPr>
                        <m:num>
                          <m:rad>
                            <m:radPr>
                              <m:degHide m:val="on"/>
                              <m:ctrlPr>
                                <a:rPr lang="en-US" altLang="zh-CN" sz="1400" i="1" dirty="0">
                                  <a:solidFill>
                                    <a:schemeClr val="tx1"/>
                                  </a:solidFill>
                                  <a:latin typeface="Cambria Math" panose="02040503050406030204" pitchFamily="18" charset="0"/>
                                </a:rPr>
                              </m:ctrlPr>
                            </m:radPr>
                            <m:deg/>
                            <m:e>
                              <m:r>
                                <a:rPr lang="en-US" altLang="zh-CN" sz="1400" i="1" dirty="0">
                                  <a:solidFill>
                                    <a:schemeClr val="tx1"/>
                                  </a:solidFill>
                                  <a:latin typeface="Cambria Math" panose="02040503050406030204" pitchFamily="18" charset="0"/>
                                </a:rPr>
                                <m:t>1+</m:t>
                              </m:r>
                              <m:sSubSup>
                                <m:sSubSupPr>
                                  <m:ctrlPr>
                                    <a:rPr lang="en-US" altLang="zh-CN" sz="1400" i="1" dirty="0">
                                      <a:solidFill>
                                        <a:schemeClr val="tx1"/>
                                      </a:solidFill>
                                      <a:latin typeface="Cambria Math" panose="02040503050406030204" pitchFamily="18" charset="0"/>
                                    </a:rPr>
                                  </m:ctrlPr>
                                </m:sSubSupPr>
                                <m:e>
                                  <m:r>
                                    <m:rPr>
                                      <m:sty m:val="p"/>
                                    </m:rPr>
                                    <a:rPr lang="en-US" altLang="zh-CN" sz="1400" i="1" dirty="0">
                                      <a:solidFill>
                                        <a:schemeClr val="tx1"/>
                                      </a:solidFill>
                                      <a:latin typeface="Cambria Math" panose="02040503050406030204" pitchFamily="18" charset="0"/>
                                    </a:rPr>
                                    <m:t>α</m:t>
                                  </m:r>
                                </m:e>
                                <m:sub>
                                  <m:r>
                                    <a:rPr lang="en-US" altLang="zh-CN" sz="1400" i="1" dirty="0">
                                      <a:solidFill>
                                        <a:schemeClr val="tx1"/>
                                      </a:solidFill>
                                      <a:latin typeface="Cambria Math" panose="02040503050406030204" pitchFamily="18" charset="0"/>
                                    </a:rPr>
                                    <m:t>0</m:t>
                                  </m:r>
                                </m:sub>
                                <m:sup>
                                  <m:r>
                                    <a:rPr lang="en-US" altLang="zh-CN" sz="1400" i="1" dirty="0">
                                      <a:solidFill>
                                        <a:schemeClr val="tx1"/>
                                      </a:solidFill>
                                      <a:latin typeface="Cambria Math" panose="02040503050406030204" pitchFamily="18" charset="0"/>
                                    </a:rPr>
                                    <m:t>2</m:t>
                                  </m:r>
                                </m:sup>
                              </m:sSub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tan</m:t>
                                      </m:r>
                                    </m:e>
                                    <m:sup>
                                      <m:r>
                                        <a:rPr lang="en-US" altLang="zh-CN" sz="1400" i="1" dirty="0">
                                          <a:solidFill>
                                            <a:schemeClr val="tx1"/>
                                          </a:solidFill>
                                          <a:latin typeface="Cambria Math" panose="02040503050406030204" pitchFamily="18" charset="0"/>
                                        </a:rPr>
                                        <m:t>2</m:t>
                                      </m:r>
                                    </m:sup>
                                  </m:sSup>
                                </m:fName>
                                <m:e>
                                  <m:sSubSup>
                                    <m:sSubSupPr>
                                      <m:ctrlPr>
                                        <a:rPr lang="en-US" altLang="zh-CN" sz="1400" b="0" i="1" dirty="0" smtClean="0">
                                          <a:solidFill>
                                            <a:schemeClr val="tx1"/>
                                          </a:solidFill>
                                          <a:latin typeface="Cambria Math" panose="02040503050406030204" pitchFamily="18" charset="0"/>
                                        </a:rPr>
                                      </m:ctrlPr>
                                    </m:sSubSupPr>
                                    <m:e>
                                      <m:r>
                                        <a:rPr lang="en-US" altLang="zh-CN" sz="1400" b="0" i="1" dirty="0" smtClean="0">
                                          <a:solidFill>
                                            <a:schemeClr val="tx1"/>
                                          </a:solidFill>
                                          <a:latin typeface="Cambria Math" panose="02040503050406030204" pitchFamily="18" charset="0"/>
                                        </a:rPr>
                                        <m:t>𝜃</m:t>
                                      </m:r>
                                    </m:e>
                                    <m:sub>
                                      <m:r>
                                        <a:rPr lang="en-US" altLang="zh-CN" sz="1400" b="0" i="1" dirty="0" smtClean="0">
                                          <a:solidFill>
                                            <a:schemeClr val="tx1"/>
                                          </a:solidFill>
                                          <a:latin typeface="Cambria Math" panose="02040503050406030204" pitchFamily="18" charset="0"/>
                                        </a:rPr>
                                        <m:t>𝑣</m:t>
                                      </m:r>
                                    </m:sub>
                                    <m:sup>
                                      <m:r>
                                        <a:rPr lang="en-US" altLang="zh-CN" sz="1400" b="0" i="1" dirty="0" smtClean="0">
                                          <a:solidFill>
                                            <a:schemeClr val="tx1"/>
                                          </a:solidFill>
                                          <a:latin typeface="Cambria Math" panose="02040503050406030204" pitchFamily="18" charset="0"/>
                                        </a:rPr>
                                        <m:t>+</m:t>
                                      </m:r>
                                    </m:sup>
                                  </m:sSubSup>
                                </m:e>
                              </m:func>
                            </m:e>
                          </m:rad>
                          <m:r>
                            <a:rPr lang="en-US" altLang="zh-CN" sz="1400" i="1" dirty="0">
                              <a:solidFill>
                                <a:schemeClr val="tx1"/>
                              </a:solidFill>
                              <a:latin typeface="Cambria Math" panose="02040503050406030204" pitchFamily="18" charset="0"/>
                            </a:rPr>
                            <m:t>−1</m:t>
                          </m:r>
                        </m:num>
                        <m:den>
                          <m:r>
                            <a:rPr lang="en-US" altLang="zh-CN" sz="1400" i="1" dirty="0">
                              <a:solidFill>
                                <a:schemeClr val="tx1"/>
                              </a:solidFill>
                              <a:latin typeface="Cambria Math" panose="02040503050406030204" pitchFamily="18" charset="0"/>
                            </a:rPr>
                            <m:t>2</m:t>
                          </m:r>
                        </m:den>
                      </m:f>
                      <m:r>
                        <a:rPr lang="en-US" altLang="zh-CN" sz="1400" b="1"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m:rPr>
                              <m:sty m:val="p"/>
                            </m:rPr>
                            <a:rPr lang="en-US" altLang="zh-CN" sz="1400" i="1" dirty="0">
                              <a:solidFill>
                                <a:schemeClr val="tx1"/>
                              </a:solidFill>
                              <a:latin typeface="Cambria Math" panose="02040503050406030204" pitchFamily="18" charset="0"/>
                            </a:rPr>
                            <m:t>α</m:t>
                          </m:r>
                        </m:e>
                        <m:sub>
                          <m:r>
                            <a:rPr lang="en-US" altLang="zh-CN" sz="1400" i="1" dirty="0">
                              <a:solidFill>
                                <a:schemeClr val="tx1"/>
                              </a:solidFill>
                              <a:latin typeface="Cambria Math" panose="02040503050406030204" pitchFamily="18" charset="0"/>
                            </a:rPr>
                            <m:t>0</m:t>
                          </m:r>
                        </m:sub>
                      </m:sSub>
                      <m:r>
                        <a:rPr lang="en-US" altLang="zh-CN" sz="1400" i="1" dirty="0">
                          <a:solidFill>
                            <a:schemeClr val="tx1"/>
                          </a:solidFill>
                          <a:latin typeface="Cambria Math" panose="02040503050406030204" pitchFamily="18" charset="0"/>
                        </a:rPr>
                        <m:t>=</m:t>
                      </m:r>
                      <m:rad>
                        <m:radPr>
                          <m:degHide m:val="on"/>
                          <m:ctrlPr>
                            <a:rPr lang="en-US" altLang="zh-CN" sz="1400" i="1" dirty="0">
                              <a:solidFill>
                                <a:schemeClr val="tx1"/>
                              </a:solidFill>
                              <a:latin typeface="Cambria Math" panose="02040503050406030204" pitchFamily="18" charset="0"/>
                            </a:rPr>
                          </m:ctrlPr>
                        </m:radPr>
                        <m:deg/>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𝑥</m:t>
                              </m:r>
                            </m:sub>
                            <m:sup>
                              <m:r>
                                <a:rPr lang="en-US" altLang="zh-CN" sz="1400" i="1" dirty="0">
                                  <a:solidFill>
                                    <a:schemeClr val="tx1"/>
                                  </a:solidFill>
                                  <a:latin typeface="Cambria Math" panose="02040503050406030204" pitchFamily="18" charset="0"/>
                                </a:rPr>
                                <m:t>2</m:t>
                              </m:r>
                            </m:sup>
                          </m:sSub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cos</m:t>
                                  </m:r>
                                </m:e>
                                <m:sup>
                                  <m:r>
                                    <a:rPr lang="en-US" altLang="zh-CN" sz="1400" i="1"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𝑣</m:t>
                                  </m:r>
                                </m:sub>
                                <m:sup>
                                  <m:r>
                                    <a:rPr lang="en-US" altLang="zh-CN" sz="1400" i="1" dirty="0">
                                      <a:solidFill>
                                        <a:schemeClr val="tx1"/>
                                      </a:solidFill>
                                      <a:latin typeface="Cambria Math" panose="02040503050406030204" pitchFamily="18" charset="0"/>
                                    </a:rPr>
                                    <m:t>+</m:t>
                                  </m:r>
                                </m:sup>
                              </m:sSubSup>
                            </m:e>
                          </m:func>
                          <m:r>
                            <a:rPr lang="en-US" altLang="zh-CN" sz="1400" i="1" dirty="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𝑧</m:t>
                              </m:r>
                            </m:sub>
                            <m:sup>
                              <m:r>
                                <a:rPr lang="en-US" altLang="zh-CN" sz="1400" i="1" dirty="0">
                                  <a:solidFill>
                                    <a:schemeClr val="tx1"/>
                                  </a:solidFill>
                                  <a:latin typeface="Cambria Math" panose="02040503050406030204" pitchFamily="18" charset="0"/>
                                </a:rPr>
                                <m:t>2</m:t>
                              </m:r>
                            </m:sup>
                          </m:sSubSup>
                          <m:func>
                            <m:funcPr>
                              <m:ctrlPr>
                                <a:rPr lang="en-US" altLang="zh-CN" sz="1400" i="1" dirty="0">
                                  <a:solidFill>
                                    <a:schemeClr val="tx1"/>
                                  </a:solidFill>
                                  <a:latin typeface="Cambria Math" panose="02040503050406030204" pitchFamily="18" charset="0"/>
                                </a:rPr>
                              </m:ctrlPr>
                            </m:funcPr>
                            <m:fName>
                              <m:sSup>
                                <m:sSupPr>
                                  <m:ctrlPr>
                                    <a:rPr lang="en-US" altLang="zh-CN" sz="1400" i="1" dirty="0">
                                      <a:solidFill>
                                        <a:schemeClr val="tx1"/>
                                      </a:solidFill>
                                      <a:latin typeface="Cambria Math" panose="02040503050406030204" pitchFamily="18" charset="0"/>
                                    </a:rPr>
                                  </m:ctrlPr>
                                </m:sSupPr>
                                <m:e>
                                  <m:r>
                                    <m:rPr>
                                      <m:sty m:val="p"/>
                                    </m:rPr>
                                    <a:rPr lang="en-US" altLang="zh-CN" sz="1400" dirty="0">
                                      <a:solidFill>
                                        <a:schemeClr val="tx1"/>
                                      </a:solidFill>
                                      <a:latin typeface="Cambria Math" panose="02040503050406030204" pitchFamily="18" charset="0"/>
                                    </a:rPr>
                                    <m:t>sin</m:t>
                                  </m:r>
                                </m:e>
                                <m:sup>
                                  <m:r>
                                    <a:rPr lang="en-US" altLang="zh-CN" sz="1400" dirty="0">
                                      <a:solidFill>
                                        <a:schemeClr val="tx1"/>
                                      </a:solidFill>
                                      <a:latin typeface="Cambria Math" panose="02040503050406030204" pitchFamily="18" charset="0"/>
                                    </a:rPr>
                                    <m:t>2</m:t>
                                  </m:r>
                                </m:sup>
                              </m:sSup>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𝑣</m:t>
                                  </m:r>
                                </m:sub>
                                <m:sup>
                                  <m:r>
                                    <a:rPr lang="en-US" altLang="zh-CN" sz="1400" i="1" dirty="0">
                                      <a:solidFill>
                                        <a:schemeClr val="tx1"/>
                                      </a:solidFill>
                                      <a:latin typeface="Cambria Math" panose="02040503050406030204" pitchFamily="18" charset="0"/>
                                    </a:rPr>
                                    <m:t>+</m:t>
                                  </m:r>
                                </m:sup>
                              </m:sSubSup>
                            </m:e>
                          </m:func>
                        </m:e>
                      </m:rad>
                      <m:r>
                        <a:rPr lang="en-US" altLang="zh-CN" sz="1400" b="0" i="1" dirty="0" smtClean="0">
                          <a:solidFill>
                            <a:schemeClr val="tx1"/>
                          </a:solidFill>
                          <a:latin typeface="Cambria Math" panose="02040503050406030204" pitchFamily="18" charset="0"/>
                        </a:rPr>
                        <m:t>,  </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r>
                            <a:rPr lang="en-US" altLang="zh-CN" sz="1400" i="1" dirty="0">
                              <a:solidFill>
                                <a:schemeClr val="tx1"/>
                              </a:solidFill>
                              <a:latin typeface="Cambria Math" panose="02040503050406030204" pitchFamily="18" charset="0"/>
                            </a:rPr>
                            <m:t>𝑣</m:t>
                          </m:r>
                        </m:sub>
                        <m:sup>
                          <m:r>
                            <a:rPr lang="en-US" altLang="zh-CN" sz="1400" i="1" dirty="0">
                              <a:solidFill>
                                <a:schemeClr val="tx1"/>
                              </a:solidFill>
                              <a:latin typeface="Cambria Math" panose="02040503050406030204" pitchFamily="18" charset="0"/>
                            </a:rPr>
                            <m:t>+</m:t>
                          </m:r>
                        </m:sup>
                      </m:sSubSup>
                      <m:r>
                        <a:rPr lang="zh-CN" altLang="en-US" sz="1400" i="1" dirty="0" smtClean="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𝜙</m:t>
                          </m:r>
                        </m:e>
                        <m:sub>
                          <m:r>
                            <a:rPr lang="en-US" altLang="zh-CN" sz="1400" i="1" dirty="0">
                              <a:solidFill>
                                <a:schemeClr val="tx1"/>
                              </a:solidFill>
                              <a:latin typeface="Cambria Math" panose="02040503050406030204" pitchFamily="18" charset="0"/>
                            </a:rPr>
                            <m:t>𝑣</m:t>
                          </m:r>
                        </m:sub>
                        <m:sup>
                          <m:r>
                            <a:rPr lang="en-US" altLang="zh-CN" sz="1400" i="1" dirty="0">
                              <a:solidFill>
                                <a:schemeClr val="tx1"/>
                              </a:solidFill>
                              <a:latin typeface="Cambria Math" panose="02040503050406030204" pitchFamily="18" charset="0"/>
                            </a:rPr>
                            <m:t>+</m:t>
                          </m:r>
                        </m:sup>
                      </m:sSubSup>
                      <m:r>
                        <a:rPr lang="zh-CN" altLang="en-US" sz="1400" i="1" dirty="0">
                          <a:solidFill>
                            <a:schemeClr val="tx1"/>
                          </a:solidFill>
                          <a:latin typeface="Cambria Math" panose="02040503050406030204" pitchFamily="18" charset="0"/>
                        </a:rPr>
                        <m:t>分别为</m:t>
                      </m:r>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𝒗</m:t>
                          </m:r>
                        </m:e>
                        <m:sup>
                          <m:r>
                            <a:rPr lang="en-US" altLang="zh-CN" sz="1400" b="1" i="1" dirty="0">
                              <a:solidFill>
                                <a:schemeClr val="tx1"/>
                              </a:solidFill>
                              <a:latin typeface="Cambria Math" panose="02040503050406030204" pitchFamily="18" charset="0"/>
                            </a:rPr>
                            <m:t>+</m:t>
                          </m:r>
                        </m:sup>
                      </m:sSup>
                      <m:r>
                        <a:rPr lang="zh-CN" altLang="en-US" sz="1400" b="1" i="1" dirty="0">
                          <a:solidFill>
                            <a:schemeClr val="tx1"/>
                          </a:solidFill>
                          <a:latin typeface="Cambria Math" panose="02040503050406030204" pitchFamily="18" charset="0"/>
                        </a:rPr>
                        <m:t>的极角、方位角</m:t>
                      </m:r>
                    </m:oMath>
                  </m:oMathPara>
                </a14:m>
                <a:endParaRPr lang="en-US" altLang="zh-CN" sz="14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1</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𝑧</m:t>
                              </m:r>
                            </m:sub>
                          </m:sSub>
                        </m:e>
                      </m:d>
                      <m:r>
                        <a:rPr lang="en-US" altLang="zh-CN" sz="1400" i="1" dirty="0">
                          <a:solidFill>
                            <a:schemeClr val="tx1"/>
                          </a:solidFill>
                          <a:latin typeface="Cambria Math" panose="02040503050406030204" pitchFamily="18" charset="0"/>
                        </a:rPr>
                        <m:t>= </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𝒎</m:t>
                              </m:r>
                            </m:e>
                          </m:d>
                        </m:num>
                        <m:den>
                          <m:r>
                            <a:rPr lang="en-US" altLang="zh-CN" sz="1400" dirty="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b="1" i="1" dirty="0">
                                  <a:solidFill>
                                    <a:schemeClr val="tx1"/>
                                  </a:solidFill>
                                  <a:latin typeface="Cambria Math" panose="02040503050406030204" pitchFamily="18" charset="0"/>
                                </a:rPr>
                              </m:ctrlPr>
                            </m:dPr>
                            <m:e>
                              <m:r>
                                <a:rPr lang="en-US" altLang="zh-CN" sz="1400" b="1" dirty="0">
                                  <a:solidFill>
                                    <a:schemeClr val="tx1"/>
                                  </a:solidFill>
                                  <a:latin typeface="Cambria Math" panose="02040503050406030204" pitchFamily="18" charset="0"/>
                                </a:rPr>
                                <m:t>𝐨</m:t>
                              </m:r>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𝑧</m:t>
                                  </m:r>
                                </m:sub>
                              </m:sSub>
                            </m:e>
                          </m:d>
                        </m:den>
                      </m:f>
                      <m:r>
                        <a:rPr lang="en-US" altLang="zh-CN" sz="1400" b="1" i="1" dirty="0" smtClean="0">
                          <a:solidFill>
                            <a:schemeClr val="tx1"/>
                          </a:solidFill>
                          <a:latin typeface="Cambria Math" panose="02040503050406030204" pitchFamily="18" charset="0"/>
                        </a:rPr>
                        <m:t>,  </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𝐺</m:t>
                          </m:r>
                        </m:e>
                        <m:sub>
                          <m:r>
                            <a:rPr lang="en-US" altLang="zh-CN" sz="1400" i="1" dirty="0">
                              <a:solidFill>
                                <a:schemeClr val="tx1"/>
                              </a:solidFill>
                              <a:latin typeface="Cambria Math" panose="02040503050406030204" pitchFamily="18" charset="0"/>
                            </a:rPr>
                            <m:t>2</m:t>
                          </m:r>
                        </m:sub>
                      </m:sSub>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b="1" i="1" dirty="0">
                              <a:solidFill>
                                <a:schemeClr val="tx1"/>
                              </a:solidFill>
                              <a:latin typeface="Cambria Math" panose="02040503050406030204" pitchFamily="18" charset="0"/>
                            </a:rPr>
                            <m:t>→</m:t>
                          </m:r>
                          <m:r>
                            <a:rPr lang="en-US" altLang="zh-CN" sz="1400" b="1" i="1" dirty="0">
                              <a:solidFill>
                                <a:schemeClr val="tx1"/>
                              </a:solidFill>
                              <a:latin typeface="Cambria Math" panose="02040503050406030204" pitchFamily="18" charset="0"/>
                            </a:rPr>
                            <m:t>𝒐</m:t>
                          </m:r>
                          <m:r>
                            <a:rPr lang="en-US" altLang="zh-CN" sz="1400" b="1"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𝑧</m:t>
                              </m:r>
                            </m:sub>
                          </m:sSub>
                        </m:e>
                      </m:d>
                      <m:r>
                        <a:rPr lang="en-US" altLang="zh-CN" sz="1400" b="1" i="1" dirty="0">
                          <a:solidFill>
                            <a:schemeClr val="tx1"/>
                          </a:solidFill>
                          <a:latin typeface="Cambria Math" panose="02040503050406030204" pitchFamily="18" charset="0"/>
                        </a:rPr>
                        <m:t>=</m:t>
                      </m:r>
                      <m:f>
                        <m:fPr>
                          <m:ctrlPr>
                            <a:rPr lang="en-US" altLang="zh-CN" sz="1400" i="1" dirty="0">
                              <a:solidFill>
                                <a:schemeClr val="tx1"/>
                              </a:solidFill>
                              <a:latin typeface="Cambria Math" panose="02040503050406030204" pitchFamily="18" charset="0"/>
                            </a:rPr>
                          </m:ctrlPr>
                        </m:fPr>
                        <m:num>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𝒐</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r>
                            <a:rPr lang="en-US" altLang="zh-CN" sz="1400" i="1" dirty="0">
                              <a:solidFill>
                                <a:schemeClr val="tx1"/>
                              </a:solidFill>
                              <a:latin typeface="Cambria Math" panose="02040503050406030204" pitchFamily="18" charset="0"/>
                            </a:rPr>
                            <m:t> </m:t>
                          </m:r>
                          <m:sSup>
                            <m:sSupPr>
                              <m:ctrlPr>
                                <a:rPr lang="en-US" altLang="zh-CN" sz="1400" i="1" dirty="0">
                                  <a:solidFill>
                                    <a:schemeClr val="tx1"/>
                                  </a:solidFill>
                                  <a:latin typeface="Cambria Math" panose="02040503050406030204" pitchFamily="18" charset="0"/>
                                </a:rPr>
                              </m:ctrlPr>
                            </m:sSupPr>
                            <m:e>
                              <m:r>
                                <a:rPr lang="en-US" altLang="zh-CN" sz="1400" i="1" dirty="0">
                                  <a:solidFill>
                                    <a:schemeClr val="tx1"/>
                                  </a:solidFill>
                                  <a:latin typeface="Cambria Math" panose="02040503050406030204" pitchFamily="18" charset="0"/>
                                </a:rPr>
                                <m:t>𝑋</m:t>
                              </m:r>
                            </m:e>
                            <m:sup>
                              <m:r>
                                <a:rPr lang="en-US" altLang="zh-CN" sz="1400" i="1" dirty="0">
                                  <a:solidFill>
                                    <a:schemeClr val="tx1"/>
                                  </a:solidFill>
                                  <a:latin typeface="Cambria Math" panose="02040503050406030204" pitchFamily="18" charset="0"/>
                                </a:rPr>
                                <m:t>+</m:t>
                              </m:r>
                            </m:sup>
                          </m:sSup>
                          <m:d>
                            <m:dPr>
                              <m:ctrlPr>
                                <a:rPr lang="en-US" altLang="zh-CN" sz="1400" i="1" dirty="0">
                                  <a:solidFill>
                                    <a:schemeClr val="tx1"/>
                                  </a:solidFill>
                                  <a:latin typeface="Cambria Math" panose="02040503050406030204" pitchFamily="18" charset="0"/>
                                </a:rPr>
                              </m:ctrlPr>
                            </m:dPr>
                            <m:e>
                              <m:sSup>
                                <m:sSupPr>
                                  <m:ctrlPr>
                                    <a:rPr lang="en-US" altLang="zh-CN" sz="1400" b="1" i="1" dirty="0">
                                      <a:solidFill>
                                        <a:schemeClr val="tx1"/>
                                      </a:solidFill>
                                      <a:latin typeface="Cambria Math" panose="02040503050406030204" pitchFamily="18" charset="0"/>
                                    </a:rPr>
                                  </m:ctrlPr>
                                </m:sSupPr>
                                <m:e>
                                  <m:r>
                                    <a:rPr lang="en-US" altLang="zh-CN" sz="1400" b="1" i="1" dirty="0">
                                      <a:solidFill>
                                        <a:schemeClr val="tx1"/>
                                      </a:solidFill>
                                      <a:latin typeface="Cambria Math" panose="02040503050406030204" pitchFamily="18" charset="0"/>
                                    </a:rPr>
                                    <m:t>𝒊</m:t>
                                  </m:r>
                                </m:e>
                                <m:sup>
                                  <m:r>
                                    <a:rPr lang="en-US" altLang="zh-CN" sz="1400" b="1" i="1" dirty="0">
                                      <a:solidFill>
                                        <a:schemeClr val="tx1"/>
                                      </a:solidFill>
                                      <a:latin typeface="Cambria Math" panose="02040503050406030204" pitchFamily="18" charset="0"/>
                                    </a:rPr>
                                    <m:t>+</m:t>
                                  </m:r>
                                </m:sup>
                              </m:sSup>
                              <m:r>
                                <a:rPr lang="en-US" altLang="zh-CN" sz="1400" i="1" dirty="0">
                                  <a:solidFill>
                                    <a:schemeClr val="tx1"/>
                                  </a:solidFill>
                                  <a:latin typeface="Cambria Math" panose="02040503050406030204" pitchFamily="18" charset="0"/>
                                </a:rPr>
                                <m:t>⋅</m:t>
                              </m:r>
                              <m:r>
                                <a:rPr lang="en-US" altLang="zh-CN" sz="1400" b="1" i="1" dirty="0" smtClean="0">
                                  <a:solidFill>
                                    <a:schemeClr val="tx1"/>
                                  </a:solidFill>
                                  <a:latin typeface="Cambria Math" panose="02040503050406030204" pitchFamily="18" charset="0"/>
                                </a:rPr>
                                <m:t>𝒎</m:t>
                              </m:r>
                            </m:e>
                          </m:d>
                        </m:num>
                        <m:den>
                          <m:r>
                            <a:rPr lang="en-US" altLang="zh-CN" sz="1400" i="1" dirty="0">
                              <a:solidFill>
                                <a:schemeClr val="tx1"/>
                              </a:solidFill>
                              <a:latin typeface="Cambria Math" panose="02040503050406030204" pitchFamily="18" charset="0"/>
                            </a:rPr>
                            <m:t>1+</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𝒐</m:t>
                              </m:r>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𝑧</m:t>
                                  </m:r>
                                </m:sub>
                              </m:sSub>
                            </m:e>
                          </m:d>
                          <m:r>
                            <a:rPr lang="en-US" altLang="zh-CN" sz="1400" i="1" dirty="0">
                              <a:solidFill>
                                <a:schemeClr val="tx1"/>
                              </a:solidFill>
                              <a:latin typeface="Cambria Math" panose="02040503050406030204" pitchFamily="18" charset="0"/>
                            </a:rPr>
                            <m:t>+</m:t>
                          </m:r>
                          <m:r>
                            <m:rPr>
                              <m:sty m:val="p"/>
                            </m:rPr>
                            <a:rPr lang="en-US" altLang="zh-CN" sz="1400" dirty="0">
                              <a:solidFill>
                                <a:schemeClr val="tx1"/>
                              </a:solidFill>
                              <a:latin typeface="Cambria Math" panose="02040503050406030204" pitchFamily="18" charset="0"/>
                            </a:rPr>
                            <m:t>Λ</m:t>
                          </m:r>
                          <m:d>
                            <m:dPr>
                              <m:ctrlPr>
                                <a:rPr lang="en-US" altLang="zh-CN" sz="1400" i="1" dirty="0">
                                  <a:solidFill>
                                    <a:schemeClr val="tx1"/>
                                  </a:solidFill>
                                  <a:latin typeface="Cambria Math" panose="02040503050406030204" pitchFamily="18" charset="0"/>
                                </a:rPr>
                              </m:ctrlPr>
                            </m:dPr>
                            <m:e>
                              <m:r>
                                <a:rPr lang="en-US" altLang="zh-CN" sz="1400" b="1" i="1" dirty="0">
                                  <a:solidFill>
                                    <a:schemeClr val="tx1"/>
                                  </a:solidFill>
                                  <a:latin typeface="Cambria Math" panose="02040503050406030204" pitchFamily="18" charset="0"/>
                                </a:rPr>
                                <m:t>𝒊</m:t>
                              </m:r>
                              <m:r>
                                <a:rPr lang="en-US" altLang="zh-CN" sz="1400" b="1"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𝑥</m:t>
                                  </m:r>
                                </m:sub>
                              </m:sSub>
                              <m:r>
                                <a:rPr lang="en-US" altLang="zh-CN" sz="1400" i="1" dirty="0">
                                  <a:solidFill>
                                    <a:schemeClr val="tx1"/>
                                  </a:solidFill>
                                  <a:latin typeface="Cambria Math" panose="02040503050406030204" pitchFamily="18" charset="0"/>
                                </a:rPr>
                                <m:t>,</m:t>
                              </m:r>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𝛼</m:t>
                                  </m:r>
                                </m:e>
                                <m:sub>
                                  <m:r>
                                    <a:rPr lang="en-US" altLang="zh-CN" sz="1400" i="1" dirty="0">
                                      <a:solidFill>
                                        <a:schemeClr val="tx1"/>
                                      </a:solidFill>
                                      <a:latin typeface="Cambria Math" panose="02040503050406030204" pitchFamily="18" charset="0"/>
                                    </a:rPr>
                                    <m:t>𝑧</m:t>
                                  </m:r>
                                </m:sub>
                              </m:sSub>
                            </m:e>
                          </m:d>
                        </m:den>
                      </m:f>
                    </m:oMath>
                  </m:oMathPara>
                </a14:m>
                <a:endParaRPr lang="en-US" altLang="zh-CN" sz="1400" b="1" dirty="0">
                  <a:solidFill>
                    <a:schemeClr val="tx1"/>
                  </a:solidFill>
                </a:endParaRPr>
              </a:p>
            </p:txBody>
          </p:sp>
        </mc:Choice>
        <mc:Fallback xmlns="">
          <p:sp>
            <p:nvSpPr>
              <p:cNvPr id="6" name="矩形 5">
                <a:extLst>
                  <a:ext uri="{FF2B5EF4-FFF2-40B4-BE49-F238E27FC236}">
                    <a16:creationId xmlns:a16="http://schemas.microsoft.com/office/drawing/2014/main" id="{3E9742DC-017B-7923-4553-F80EB54C53F4}"/>
                  </a:ext>
                </a:extLst>
              </p:cNvPr>
              <p:cNvSpPr>
                <a:spLocks noRot="1" noChangeAspect="1" noMove="1" noResize="1" noEditPoints="1" noAdjustHandles="1" noChangeArrowheads="1" noChangeShapeType="1" noTextEdit="1"/>
              </p:cNvSpPr>
              <p:nvPr/>
            </p:nvSpPr>
            <p:spPr>
              <a:xfrm>
                <a:off x="478709" y="1144044"/>
                <a:ext cx="11137094" cy="5402806"/>
              </a:xfrm>
              <a:prstGeom prst="rect">
                <a:avLst/>
              </a:prstGeom>
              <a:blipFill>
                <a:blip r:embed="rId2"/>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4524591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F1D39-D5E8-BAD1-B442-3E9E9E023A81}"/>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7BC8F901-95FB-96A4-D07B-18158AA3A4D6}"/>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重要性采样</a:t>
            </a:r>
            <a:endParaRPr lang="en-US" altLang="zh-CN" dirty="0"/>
          </a:p>
        </p:txBody>
      </p:sp>
      <p:sp>
        <p:nvSpPr>
          <p:cNvPr id="63" name="矩形 62">
            <a:extLst>
              <a:ext uri="{FF2B5EF4-FFF2-40B4-BE49-F238E27FC236}">
                <a16:creationId xmlns:a16="http://schemas.microsoft.com/office/drawing/2014/main" id="{E7223BC7-EA98-CF8E-C44F-8E8898C0C127}"/>
              </a:ext>
            </a:extLst>
          </p:cNvPr>
          <p:cNvSpPr/>
          <p:nvPr/>
        </p:nvSpPr>
        <p:spPr>
          <a:xfrm>
            <a:off x="631110" y="1315233"/>
            <a:ext cx="11008200"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7645C7DE-C588-0D2A-39F3-B0CDCEEDBF61}"/>
                  </a:ext>
                </a:extLst>
              </p:cNvPr>
              <p:cNvSpPr/>
              <p:nvPr/>
            </p:nvSpPr>
            <p:spPr>
              <a:xfrm>
                <a:off x="478710" y="1144044"/>
                <a:ext cx="11008200"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600" dirty="0">
                    <a:solidFill>
                      <a:schemeClr val="tx1"/>
                    </a:solidFill>
                    <a:latin typeface="Cambria Math" panose="02040503050406030204" pitchFamily="18" charset="0"/>
                  </a:rPr>
                  <a:t>        为了提高蒙特卡洛估计器的效率，我们需要对微面</a:t>
                </a:r>
                <a:r>
                  <a:rPr lang="en-US" altLang="zh-CN" sz="1600" dirty="0">
                    <a:solidFill>
                      <a:schemeClr val="tx1"/>
                    </a:solidFill>
                    <a:latin typeface="Cambria Math" panose="02040503050406030204" pitchFamily="18" charset="0"/>
                  </a:rPr>
                  <a:t>BSDF</a:t>
                </a:r>
                <a:r>
                  <a:rPr lang="zh-CN" altLang="en-US" sz="1600" dirty="0">
                    <a:solidFill>
                      <a:schemeClr val="tx1"/>
                    </a:solidFill>
                    <a:latin typeface="Cambria Math" panose="02040503050406030204" pitchFamily="18" charset="0"/>
                  </a:rPr>
                  <a:t>进行重要性采样。但如果继续沿用余弦重要性采样，当粗糙度较低时，采样效果会很不好。我们需要选取一个和被积函数形状相似，且能包含被积函数定义域的概率密度函数，这样就可以大幅度降低最终的方差。</a:t>
                </a:r>
                <a:endParaRPr lang="en-US" altLang="zh-CN" sz="1600"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1600" i="1" dirty="0" smtClean="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𝑓</m:t>
                          </m:r>
                        </m:e>
                        <m:sup>
                          <m:r>
                            <a:rPr lang="en-US" altLang="zh-CN" sz="1600" i="1" dirty="0">
                              <a:solidFill>
                                <a:schemeClr val="tx1"/>
                              </a:solidFill>
                              <a:latin typeface="Cambria Math" panose="02040503050406030204" pitchFamily="18" charset="0"/>
                            </a:rPr>
                            <m:t>𝑟</m:t>
                          </m:r>
                        </m:sup>
                      </m:sSup>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𝑟</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r>
                            <a:rPr lang="en-US" altLang="zh-CN" sz="1600" i="1">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r>
                            <a:rPr lang="en-US" altLang="zh-CN" sz="1600" i="1">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2</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b="1"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num>
                        <m:den>
                          <m:r>
                            <a:rPr lang="en-US" altLang="zh-CN" sz="1600" i="1" dirty="0">
                              <a:solidFill>
                                <a:schemeClr val="tx1"/>
                              </a:solidFill>
                              <a:latin typeface="Cambria Math" panose="02040503050406030204" pitchFamily="18" charset="0"/>
                            </a:rPr>
                            <m:t>4</m:t>
                          </m:r>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en>
                      </m:f>
                      <m:r>
                        <a:rPr lang="en-US" altLang="zh-CN" sz="1600" i="1" dirty="0">
                          <a:solidFill>
                            <a:schemeClr val="tx1"/>
                          </a:solidFill>
                          <a:latin typeface="Cambria Math" panose="02040503050406030204" pitchFamily="18" charset="0"/>
                        </a:rPr>
                        <m:t>,  </m:t>
                      </m:r>
                      <m:d>
                        <m:dPr>
                          <m:ctrlPr>
                            <a:rPr lang="en-US" altLang="zh-CN" sz="1600" i="1" dirty="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r>
                            <a:rPr lang="en-US" altLang="zh-CN" sz="1600" i="1" dirty="0">
                              <a:solidFill>
                                <a:schemeClr val="tx1"/>
                              </a:solidFill>
                              <a:latin typeface="Cambria Math" panose="02040503050406030204" pitchFamily="18" charset="0"/>
                            </a:rPr>
                            <m:t>&gt;0</m:t>
                          </m:r>
                        </m:e>
                      </m:d>
                    </m:oMath>
                  </m:oMathPara>
                </a14:m>
                <a:endParaRPr lang="en-US" altLang="zh-CN" sz="1600" i="1" dirty="0">
                  <a:solidFill>
                    <a:schemeClr val="tx1"/>
                  </a:solidFill>
                  <a:latin typeface="Cambria Math" panose="02040503050406030204" pitchFamily="18" charset="0"/>
                </a:endParaRPr>
              </a:p>
              <a:p>
                <a:pPr algn="ctr">
                  <a:lnSpc>
                    <a:spcPct val="150000"/>
                  </a:lnSpc>
                </a:pPr>
                <a14:m>
                  <m:oMathPara xmlns:m="http://schemas.openxmlformats.org/officeDocument/2006/math">
                    <m:oMathParaPr>
                      <m:jc m:val="centerGroup"/>
                    </m:oMathParaPr>
                    <m:oMath xmlns:m="http://schemas.openxmlformats.org/officeDocument/2006/math">
                      <m:sSup>
                        <m:sSupPr>
                          <m:ctrlPr>
                            <a:rPr lang="en-US" altLang="zh-CN" sz="1600" i="1" dirty="0" smtClean="0">
                              <a:solidFill>
                                <a:schemeClr val="tx1"/>
                              </a:solidFill>
                              <a:latin typeface="Cambria Math" panose="02040503050406030204" pitchFamily="18" charset="0"/>
                            </a:rPr>
                          </m:ctrlPr>
                        </m:sSupPr>
                        <m:e>
                          <m:r>
                            <a:rPr lang="en-US" altLang="zh-CN" sz="1600" i="1" dirty="0">
                              <a:solidFill>
                                <a:schemeClr val="tx1"/>
                              </a:solidFill>
                              <a:latin typeface="Cambria Math" panose="02040503050406030204" pitchFamily="18" charset="0"/>
                            </a:rPr>
                            <m:t>𝑓</m:t>
                          </m:r>
                        </m:e>
                        <m:sup>
                          <m:r>
                            <a:rPr lang="en-US" altLang="zh-CN" sz="1600" i="1" dirty="0">
                              <a:solidFill>
                                <a:schemeClr val="tx1"/>
                              </a:solidFill>
                              <a:latin typeface="Cambria Math" panose="02040503050406030204" pitchFamily="18" charset="0"/>
                            </a:rPr>
                            <m:t>𝑡</m:t>
                          </m:r>
                        </m:sup>
                      </m:sSup>
                      <m:d>
                        <m:dPr>
                          <m:ctrlPr>
                            <a:rPr lang="en-US" altLang="zh-CN" sz="1600" i="1" dirty="0">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𝒈</m:t>
                          </m:r>
                        </m:e>
                      </m:d>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en>
                      </m:f>
                      <m:r>
                        <a:rPr lang="en-US" altLang="zh-CN" sz="1600" i="1" dirty="0">
                          <a:solidFill>
                            <a:schemeClr val="tx1"/>
                          </a:solidFill>
                          <a:latin typeface="Cambria Math" panose="02040503050406030204" pitchFamily="18" charset="0"/>
                        </a:rPr>
                        <m:t> </m:t>
                      </m:r>
                      <m:f>
                        <m:fPr>
                          <m:ctrlPr>
                            <a:rPr lang="en-US" altLang="zh-CN" sz="1600" i="1" dirty="0">
                              <a:solidFill>
                                <a:schemeClr val="tx1"/>
                              </a:solidFill>
                              <a:latin typeface="Cambria Math" panose="02040503050406030204" pitchFamily="18" charset="0"/>
                            </a:rPr>
                          </m:ctrlPr>
                        </m:fPr>
                        <m:num>
                          <m:sSubSup>
                            <m:sSubSupPr>
                              <m:ctrlPr>
                                <a:rPr lang="en-US" altLang="zh-CN" sz="1600" i="1">
                                  <a:solidFill>
                                    <a:schemeClr val="tx1"/>
                                  </a:solidFill>
                                  <a:latin typeface="Cambria Math" panose="02040503050406030204" pitchFamily="18" charset="0"/>
                                </a:rPr>
                              </m:ctrlPr>
                            </m:sSubSup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up>
                              <m:r>
                                <a:rPr lang="en-US" altLang="zh-CN" sz="1600" i="1">
                                  <a:solidFill>
                                    <a:schemeClr val="tx1"/>
                                  </a:solidFill>
                                  <a:latin typeface="Cambria Math" panose="02040503050406030204" pitchFamily="18" charset="0"/>
                                </a:rPr>
                                <m:t>2</m:t>
                              </m:r>
                            </m:sup>
                          </m:sSubSup>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𝑡</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r>
                            <a:rPr lang="en-US" altLang="zh-CN" sz="1600" i="1">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2</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num>
                        <m:den>
                          <m:sSup>
                            <m:sSupPr>
                              <m:ctrlPr>
                                <a:rPr lang="en-US" altLang="zh-CN" sz="1600" i="1">
                                  <a:solidFill>
                                    <a:schemeClr val="tx1"/>
                                  </a:solidFill>
                                  <a:latin typeface="Cambria Math" panose="02040503050406030204" pitchFamily="18" charset="0"/>
                                </a:rPr>
                              </m:ctrlPr>
                            </m:sSupPr>
                            <m:e>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𝑜</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e>
                              </m:d>
                            </m:e>
                            <m:sup>
                              <m:r>
                                <a:rPr lang="en-US" altLang="zh-CN" sz="1600" i="1">
                                  <a:solidFill>
                                    <a:schemeClr val="tx1"/>
                                  </a:solidFill>
                                  <a:latin typeface="Cambria Math" panose="02040503050406030204" pitchFamily="18" charset="0"/>
                                </a:rPr>
                                <m:t>2</m:t>
                              </m:r>
                            </m:sup>
                          </m:sSup>
                        </m:den>
                      </m:f>
                      <m:r>
                        <a:rPr lang="en-US" altLang="zh-CN" sz="1600" i="1" dirty="0">
                          <a:solidFill>
                            <a:schemeClr val="tx1"/>
                          </a:solidFill>
                          <a:latin typeface="Cambria Math" panose="02040503050406030204" pitchFamily="18" charset="0"/>
                        </a:rPr>
                        <m:t>,  </m:t>
                      </m:r>
                      <m:d>
                        <m:dPr>
                          <m:ctrlPr>
                            <a:rPr lang="en-US" altLang="zh-CN" sz="1600" i="1" dirty="0">
                              <a:solidFill>
                                <a:schemeClr val="tx1"/>
                              </a:solidFill>
                              <a:latin typeface="Cambria Math" panose="02040503050406030204" pitchFamily="18" charset="0"/>
                            </a:rPr>
                          </m:ctrlPr>
                        </m:dPr>
                        <m:e>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r>
                            <a:rPr lang="en-US" altLang="zh-CN" sz="1600" i="1" dirty="0">
                              <a:solidFill>
                                <a:schemeClr val="tx1"/>
                              </a:solidFill>
                              <a:latin typeface="Cambria Math" panose="02040503050406030204" pitchFamily="18" charset="0"/>
                            </a:rPr>
                            <m:t>&gt;0</m:t>
                          </m:r>
                        </m:e>
                      </m:d>
                    </m:oMath>
                  </m:oMathPara>
                </a14:m>
                <a:endParaRPr lang="en-US" altLang="zh-CN" sz="1600"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𝐿</m:t>
                          </m:r>
                        </m:e>
                        <m:sub>
                          <m:r>
                            <a:rPr lang="en-US" altLang="zh-CN" sz="1600" b="0" i="1" dirty="0" smtClean="0">
                              <a:solidFill>
                                <a:schemeClr val="tx1"/>
                              </a:solidFill>
                              <a:latin typeface="Cambria Math" panose="02040503050406030204" pitchFamily="18" charset="0"/>
                            </a:rPr>
                            <m:t>𝑜</m:t>
                          </m:r>
                        </m:sub>
                      </m:sSub>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e>
                      </m:d>
                      <m:r>
                        <a:rPr lang="en-US" altLang="zh-CN" sz="1600" b="0" i="1" dirty="0" smtClean="0">
                          <a:solidFill>
                            <a:schemeClr val="tx1"/>
                          </a:solidFill>
                          <a:latin typeface="Cambria Math" panose="02040503050406030204" pitchFamily="18" charset="0"/>
                        </a:rPr>
                        <m:t>=</m:t>
                      </m:r>
                      <m:nary>
                        <m:naryPr>
                          <m:supHide m:val="on"/>
                          <m:ctrlPr>
                            <a:rPr lang="en-US" altLang="zh-CN" sz="1600" b="0" i="1" dirty="0" smtClean="0">
                              <a:solidFill>
                                <a:schemeClr val="tx1"/>
                              </a:solidFill>
                              <a:latin typeface="Cambria Math" panose="02040503050406030204" pitchFamily="18" charset="0"/>
                            </a:rPr>
                          </m:ctrlPr>
                        </m:naryPr>
                        <m:sub>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𝑆</m:t>
                              </m:r>
                            </m:e>
                            <m:sup>
                              <m:r>
                                <a:rPr lang="en-US" altLang="zh-CN" sz="1600" b="0" i="1" dirty="0" smtClean="0">
                                  <a:solidFill>
                                    <a:schemeClr val="tx1"/>
                                  </a:solidFill>
                                  <a:latin typeface="Cambria Math" panose="02040503050406030204" pitchFamily="18" charset="0"/>
                                </a:rPr>
                                <m:t>2</m:t>
                              </m:r>
                            </m:sup>
                          </m:sSup>
                        </m:sub>
                        <m:sup/>
                        <m:e>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𝐿</m:t>
                              </m:r>
                            </m:e>
                            <m:sub>
                              <m:r>
                                <a:rPr lang="en-US" altLang="zh-CN" sz="1600" b="0" i="1" dirty="0" smtClean="0">
                                  <a:solidFill>
                                    <a:schemeClr val="tx1"/>
                                  </a:solidFill>
                                  <a:latin typeface="Cambria Math" panose="02040503050406030204" pitchFamily="18" charset="0"/>
                                </a:rPr>
                                <m:t>𝑖</m:t>
                              </m:r>
                            </m:sub>
                          </m:sSub>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𝒊</m:t>
                              </m:r>
                            </m:e>
                          </m:d>
                          <m:r>
                            <a:rPr lang="en-US" altLang="zh-CN" sz="1600" b="1" i="1" dirty="0" smtClean="0">
                              <a:solidFill>
                                <a:schemeClr val="tx1"/>
                              </a:solidFill>
                              <a:latin typeface="Cambria Math" panose="02040503050406030204" pitchFamily="18" charset="0"/>
                            </a:rPr>
                            <m:t> </m:t>
                          </m:r>
                          <m:r>
                            <a:rPr lang="en-US" altLang="zh-CN" sz="1600" b="0" i="1" dirty="0" smtClean="0">
                              <a:solidFill>
                                <a:schemeClr val="tx1"/>
                              </a:solidFill>
                              <a:latin typeface="Cambria Math" panose="02040503050406030204" pitchFamily="18" charset="0"/>
                            </a:rPr>
                            <m:t>𝑓</m:t>
                          </m:r>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𝒊</m:t>
                              </m:r>
                              <m:r>
                                <a:rPr lang="en-US" altLang="zh-CN" sz="1600" b="1" i="1" dirty="0" smtClean="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𝒐</m:t>
                              </m:r>
                            </m:e>
                          </m:d>
                          <m:r>
                            <a:rPr lang="en-US" altLang="zh-CN" sz="1600" b="0" i="1" dirty="0" smtClean="0">
                              <a:solidFill>
                                <a:schemeClr val="tx1"/>
                              </a:solidFill>
                              <a:latin typeface="Cambria Math" panose="02040503050406030204" pitchFamily="18" charset="0"/>
                            </a:rPr>
                            <m:t> </m:t>
                          </m:r>
                          <m:d>
                            <m:dPr>
                              <m:begChr m:val="|"/>
                              <m:endChr m:val="|"/>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𝒊</m:t>
                              </m:r>
                              <m:r>
                                <a:rPr lang="en-US" altLang="zh-CN" sz="1600" b="1" i="1" dirty="0" smtClean="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𝒈</m:t>
                              </m:r>
                            </m:e>
                          </m:d>
                          <m:r>
                            <a:rPr lang="en-US" altLang="zh-CN" sz="1600" b="0" i="1" dirty="0" smtClean="0">
                              <a:solidFill>
                                <a:schemeClr val="tx1"/>
                              </a:solidFill>
                              <a:latin typeface="Cambria Math" panose="02040503050406030204" pitchFamily="18" charset="0"/>
                            </a:rPr>
                            <m:t> </m:t>
                          </m:r>
                          <m:r>
                            <a:rPr lang="en-US" altLang="zh-CN" sz="1600" b="0" i="1" dirty="0" smtClean="0">
                              <a:solidFill>
                                <a:schemeClr val="tx1"/>
                              </a:solidFill>
                              <a:latin typeface="Cambria Math" panose="02040503050406030204" pitchFamily="18" charset="0"/>
                            </a:rPr>
                            <m:t>𝑑</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𝜔</m:t>
                              </m:r>
                            </m:e>
                            <m:sub>
                              <m:r>
                                <a:rPr lang="en-US" altLang="zh-CN" sz="1600" b="0" i="1" dirty="0" smtClean="0">
                                  <a:solidFill>
                                    <a:schemeClr val="tx1"/>
                                  </a:solidFill>
                                  <a:latin typeface="Cambria Math" panose="02040503050406030204" pitchFamily="18" charset="0"/>
                                </a:rPr>
                                <m:t>𝑖</m:t>
                              </m:r>
                            </m:sub>
                          </m:sSub>
                        </m:e>
                      </m:nary>
                    </m:oMath>
                  </m:oMathPara>
                </a14:m>
                <a:endParaRPr lang="en-US" altLang="zh-CN" sz="1600" b="0" i="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1600" i="1" dirty="0">
                          <a:solidFill>
                            <a:schemeClr val="tx1"/>
                          </a:solidFill>
                          <a:latin typeface="Cambria Math" panose="02040503050406030204" pitchFamily="18" charset="0"/>
                        </a:rPr>
                        <m:t>反射</m:t>
                      </m:r>
                      <m:r>
                        <a:rPr lang="zh-CN" altLang="en-US" sz="1600" i="1" dirty="0" smtClean="0">
                          <a:solidFill>
                            <a:schemeClr val="tx1"/>
                          </a:solidFill>
                          <a:latin typeface="Cambria Math" panose="02040503050406030204" pitchFamily="18" charset="0"/>
                        </a:rPr>
                        <m:t>的</m:t>
                      </m:r>
                      <m:r>
                        <a:rPr lang="zh-CN" altLang="en-US" sz="1600" i="1" dirty="0">
                          <a:solidFill>
                            <a:schemeClr val="tx1"/>
                          </a:solidFill>
                          <a:latin typeface="Cambria Math" panose="02040503050406030204" pitchFamily="18" charset="0"/>
                        </a:rPr>
                        <m:t>被积函数</m:t>
                      </m:r>
                      <m:r>
                        <a:rPr lang="zh-CN" altLang="en-US" sz="1600" i="1" dirty="0" smtClean="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𝐿</m:t>
                          </m:r>
                        </m:e>
                        <m:sub>
                          <m:r>
                            <a:rPr lang="en-US" altLang="zh-CN" sz="1600" i="1" dirty="0">
                              <a:solidFill>
                                <a:schemeClr val="tx1"/>
                              </a:solidFill>
                              <a:latin typeface="Cambria Math" panose="02040503050406030204" pitchFamily="18" charset="0"/>
                            </a:rPr>
                            <m:t>𝑖</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e>
                      </m:d>
                      <m:f>
                        <m:fPr>
                          <m:ctrlPr>
                            <a:rPr lang="en-US" altLang="zh-CN" sz="1600" i="1" dirty="0">
                              <a:solidFill>
                                <a:schemeClr val="tx1"/>
                              </a:solidFill>
                              <a:latin typeface="Cambria Math" panose="02040503050406030204" pitchFamily="18" charset="0"/>
                            </a:rPr>
                          </m:ctrlPr>
                        </m:fPr>
                        <m:num>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𝑟</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r>
                            <a:rPr lang="en-US" altLang="zh-CN" sz="1600" i="1">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r>
                            <a:rPr lang="en-US" altLang="zh-CN" sz="1600" i="1">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2</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b="1"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𝒓</m:t>
                                  </m:r>
                                </m:sub>
                              </m:sSub>
                            </m:e>
                          </m:d>
                        </m:num>
                        <m:den>
                          <m:r>
                            <a:rPr lang="en-US" altLang="zh-CN" sz="1600" i="1" dirty="0">
                              <a:solidFill>
                                <a:schemeClr val="tx1"/>
                              </a:solidFill>
                              <a:latin typeface="Cambria Math" panose="02040503050406030204" pitchFamily="18" charset="0"/>
                            </a:rPr>
                            <m:t>4</m:t>
                          </m:r>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en>
                      </m:f>
                    </m:oMath>
                  </m:oMathPara>
                </a14:m>
                <a:endParaRPr lang="en-US" altLang="zh-CN" sz="1600" b="1" dirty="0">
                  <a:solidFill>
                    <a:schemeClr val="tx1"/>
                  </a:solidFill>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zh-CN" altLang="en-US" sz="1600" i="1" dirty="0" smtClean="0">
                          <a:solidFill>
                            <a:schemeClr val="tx1"/>
                          </a:solidFill>
                          <a:latin typeface="Cambria Math" panose="02040503050406030204" pitchFamily="18" charset="0"/>
                        </a:rPr>
                        <m:t>折射的</m:t>
                      </m:r>
                      <m:r>
                        <a:rPr lang="zh-CN" altLang="en-US" sz="1600" i="1" dirty="0">
                          <a:solidFill>
                            <a:schemeClr val="tx1"/>
                          </a:solidFill>
                          <a:latin typeface="Cambria Math" panose="02040503050406030204" pitchFamily="18" charset="0"/>
                        </a:rPr>
                        <m:t>被积函数</m:t>
                      </m:r>
                      <m:r>
                        <a:rPr lang="zh-CN" altLang="en-US" sz="1600" i="1" dirty="0" smtClean="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𝐿</m:t>
                          </m:r>
                        </m:e>
                        <m:sub>
                          <m:r>
                            <a:rPr lang="en-US" altLang="zh-CN" sz="1600" i="1" dirty="0">
                              <a:solidFill>
                                <a:schemeClr val="tx1"/>
                              </a:solidFill>
                              <a:latin typeface="Cambria Math" panose="02040503050406030204" pitchFamily="18" charset="0"/>
                            </a:rPr>
                            <m:t>𝑖</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e>
                      </m:d>
                      <m:f>
                        <m:fPr>
                          <m:ctrlPr>
                            <a:rPr lang="en-US" altLang="zh-CN" sz="1600" i="1" dirty="0">
                              <a:solidFill>
                                <a:schemeClr val="tx1"/>
                              </a:solidFill>
                              <a:latin typeface="Cambria Math" panose="02040503050406030204" pitchFamily="18" charset="0"/>
                            </a:rPr>
                          </m:ctrlPr>
                        </m:fPr>
                        <m:num>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𝒈</m:t>
                              </m:r>
                            </m:e>
                          </m:d>
                        </m:den>
                      </m:f>
                      <m:r>
                        <a:rPr lang="en-US" altLang="zh-CN" sz="1600" i="1" dirty="0">
                          <a:solidFill>
                            <a:schemeClr val="tx1"/>
                          </a:solidFill>
                          <a:latin typeface="Cambria Math" panose="02040503050406030204" pitchFamily="18" charset="0"/>
                        </a:rPr>
                        <m:t> </m:t>
                      </m:r>
                      <m:f>
                        <m:fPr>
                          <m:ctrlPr>
                            <a:rPr lang="en-US" altLang="zh-CN" sz="1600" i="1" dirty="0">
                              <a:solidFill>
                                <a:schemeClr val="tx1"/>
                              </a:solidFill>
                              <a:latin typeface="Cambria Math" panose="02040503050406030204" pitchFamily="18" charset="0"/>
                            </a:rPr>
                          </m:ctrlPr>
                        </m:fPr>
                        <m:num>
                          <m:sSubSup>
                            <m:sSubSupPr>
                              <m:ctrlPr>
                                <a:rPr lang="en-US" altLang="zh-CN" sz="1600" i="1">
                                  <a:solidFill>
                                    <a:schemeClr val="tx1"/>
                                  </a:solidFill>
                                  <a:latin typeface="Cambria Math" panose="02040503050406030204" pitchFamily="18" charset="0"/>
                                </a:rPr>
                              </m:ctrlPr>
                            </m:sSubSup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up>
                              <m:r>
                                <a:rPr lang="en-US" altLang="zh-CN" sz="1600" i="1">
                                  <a:solidFill>
                                    <a:schemeClr val="tx1"/>
                                  </a:solidFill>
                                  <a:latin typeface="Cambria Math" panose="02040503050406030204" pitchFamily="18" charset="0"/>
                                </a:rPr>
                                <m:t>2</m:t>
                              </m:r>
                            </m:sup>
                          </m:sSubSup>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𝑡</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r>
                            <a:rPr lang="en-US" altLang="zh-CN" sz="1600" i="1">
                              <a:solidFill>
                                <a:schemeClr val="tx1"/>
                              </a:solidFill>
                              <a:latin typeface="Cambria Math" panose="02040503050406030204" pitchFamily="18" charset="0"/>
                            </a:rPr>
                            <m:t> </m:t>
                          </m:r>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2</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num>
                        <m:den>
                          <m:sSup>
                            <m:sSupPr>
                              <m:ctrlPr>
                                <a:rPr lang="en-US" altLang="zh-CN" sz="1600" i="1">
                                  <a:solidFill>
                                    <a:schemeClr val="tx1"/>
                                  </a:solidFill>
                                  <a:latin typeface="Cambria Math" panose="02040503050406030204" pitchFamily="18" charset="0"/>
                                </a:rPr>
                              </m:ctrlPr>
                            </m:sSupPr>
                            <m:e>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𝑜</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e>
                              </m:d>
                            </m:e>
                            <m:sup>
                              <m:r>
                                <a:rPr lang="en-US" altLang="zh-CN" sz="1600" i="1">
                                  <a:solidFill>
                                    <a:schemeClr val="tx1"/>
                                  </a:solidFill>
                                  <a:latin typeface="Cambria Math" panose="02040503050406030204" pitchFamily="18" charset="0"/>
                                </a:rPr>
                                <m:t>2</m:t>
                              </m:r>
                            </m:sup>
                          </m:sSup>
                        </m:den>
                      </m:f>
                    </m:oMath>
                  </m:oMathPara>
                </a14:m>
                <a:endParaRPr lang="en-US" altLang="zh-CN" sz="1600" b="1" dirty="0">
                  <a:solidFill>
                    <a:schemeClr val="tx1"/>
                  </a:solidFill>
                  <a:latin typeface="Cambria Math" panose="02040503050406030204" pitchFamily="18" charset="0"/>
                </a:endParaRPr>
              </a:p>
            </p:txBody>
          </p:sp>
        </mc:Choice>
        <mc:Fallback xmlns="">
          <p:sp>
            <p:nvSpPr>
              <p:cNvPr id="64" name="矩形 63">
                <a:extLst>
                  <a:ext uri="{FF2B5EF4-FFF2-40B4-BE49-F238E27FC236}">
                    <a16:creationId xmlns:a16="http://schemas.microsoft.com/office/drawing/2014/main" id="{7645C7DE-C588-0D2A-39F3-B0CDCEEDBF61}"/>
                  </a:ext>
                </a:extLst>
              </p:cNvPr>
              <p:cNvSpPr>
                <a:spLocks noRot="1" noChangeAspect="1" noMove="1" noResize="1" noEditPoints="1" noAdjustHandles="1" noChangeArrowheads="1" noChangeShapeType="1" noTextEdit="1"/>
              </p:cNvSpPr>
              <p:nvPr/>
            </p:nvSpPr>
            <p:spPr>
              <a:xfrm>
                <a:off x="478710" y="1144044"/>
                <a:ext cx="11008200" cy="5402806"/>
              </a:xfrm>
              <a:prstGeom prst="rect">
                <a:avLst/>
              </a:prstGeom>
              <a:blipFill>
                <a:blip r:embed="rId2"/>
                <a:stretch>
                  <a:fillRect l="-2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3771404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10E63-DCE9-E3A5-A684-629B5B6A5909}"/>
            </a:ext>
          </a:extLst>
        </p:cNvPr>
        <p:cNvGrpSpPr/>
        <p:nvPr/>
      </p:nvGrpSpPr>
      <p:grpSpPr>
        <a:xfrm>
          <a:off x="0" y="0"/>
          <a:ext cx="0" cy="0"/>
          <a:chOff x="0" y="0"/>
          <a:chExt cx="0" cy="0"/>
        </a:xfrm>
      </p:grpSpPr>
      <p:sp>
        <p:nvSpPr>
          <p:cNvPr id="13" name="标题 2">
            <a:extLst>
              <a:ext uri="{FF2B5EF4-FFF2-40B4-BE49-F238E27FC236}">
                <a16:creationId xmlns:a16="http://schemas.microsoft.com/office/drawing/2014/main" id="{74FA3FCC-8B6F-23B3-7E67-E1B21F229797}"/>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可见法线分布函数</a:t>
            </a:r>
            <a:endParaRPr lang="en-US" altLang="zh-CN" dirty="0"/>
          </a:p>
        </p:txBody>
      </p:sp>
      <p:sp>
        <p:nvSpPr>
          <p:cNvPr id="63" name="矩形 62">
            <a:extLst>
              <a:ext uri="{FF2B5EF4-FFF2-40B4-BE49-F238E27FC236}">
                <a16:creationId xmlns:a16="http://schemas.microsoft.com/office/drawing/2014/main" id="{7F171715-3538-BD55-D056-2CF25A695785}"/>
              </a:ext>
            </a:extLst>
          </p:cNvPr>
          <p:cNvSpPr/>
          <p:nvPr/>
        </p:nvSpPr>
        <p:spPr>
          <a:xfrm>
            <a:off x="631110" y="1315233"/>
            <a:ext cx="6673652" cy="5402806"/>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F5906C71-9F6B-D0DA-75E1-23D3B08A43F0}"/>
                  </a:ext>
                </a:extLst>
              </p:cNvPr>
              <p:cNvSpPr/>
              <p:nvPr/>
            </p:nvSpPr>
            <p:spPr>
              <a:xfrm>
                <a:off x="478710" y="1144044"/>
                <a:ext cx="6673652" cy="5402806"/>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40000"/>
                  </a:lnSpc>
                </a:pPr>
                <a14:m>
                  <m:oMathPara xmlns:m="http://schemas.openxmlformats.org/officeDocument/2006/math">
                    <m:oMathParaPr>
                      <m:jc m:val="centerGroup"/>
                    </m:oMathParaPr>
                    <m:oMath xmlns:m="http://schemas.openxmlformats.org/officeDocument/2006/math">
                      <m:r>
                        <a:rPr lang="zh-CN" altLang="en-US" sz="1600" i="1" dirty="0" smtClean="0">
                          <a:solidFill>
                            <a:schemeClr val="tx1"/>
                          </a:solidFill>
                          <a:latin typeface="Cambria Math" panose="02040503050406030204" pitchFamily="18" charset="0"/>
                        </a:rPr>
                        <m:t>反射的</m:t>
                      </m:r>
                      <m:r>
                        <a:rPr lang="zh-CN" altLang="en-US" sz="1600" i="1" dirty="0">
                          <a:solidFill>
                            <a:schemeClr val="tx1"/>
                          </a:solidFill>
                          <a:latin typeface="Cambria Math" panose="02040503050406030204" pitchFamily="18" charset="0"/>
                        </a:rPr>
                        <m:t>被积函数</m:t>
                      </m:r>
                      <m:r>
                        <a:rPr lang="zh-CN" altLang="en-US" sz="1600" i="1" dirty="0" smtClean="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𝐿</m:t>
                          </m:r>
                        </m:e>
                        <m:sub>
                          <m:r>
                            <a:rPr lang="en-US" altLang="zh-CN" sz="1600" i="1" dirty="0">
                              <a:solidFill>
                                <a:schemeClr val="tx1"/>
                              </a:solidFill>
                              <a:latin typeface="Cambria Math" panose="02040503050406030204" pitchFamily="18" charset="0"/>
                            </a:rPr>
                            <m:t>𝑖</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e>
                      </m:d>
                      <m:f>
                        <m:fPr>
                          <m:ctrlPr>
                            <a:rPr lang="en-US" altLang="zh-CN" sz="1600" i="1" dirty="0">
                              <a:solidFill>
                                <a:schemeClr val="tx1"/>
                              </a:solidFill>
                              <a:latin typeface="Cambria Math" panose="02040503050406030204" pitchFamily="18" charset="0"/>
                            </a:rPr>
                          </m:ctrlPr>
                        </m:fPr>
                        <m:num>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𝑟</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r>
                            <a:rPr lang="en-US" altLang="zh-CN" sz="1600" i="1">
                              <a:solidFill>
                                <a:schemeClr val="tx1"/>
                              </a:solidFill>
                              <a:latin typeface="Cambria Math" panose="02040503050406030204" pitchFamily="18" charset="0"/>
                            </a:rPr>
                            <m:t> </m:t>
                          </m:r>
                          <m:r>
                            <a:rPr lang="en-US" altLang="zh-CN" sz="1600" i="1" dirty="0" smtClean="0">
                              <a:solidFill>
                                <a:schemeClr val="accent5">
                                  <a:lumMod val="75000"/>
                                </a:schemeClr>
                              </a:solidFill>
                              <a:latin typeface="Cambria Math" panose="02040503050406030204" pitchFamily="18" charset="0"/>
                            </a:rPr>
                            <m:t>𝐷</m:t>
                          </m:r>
                          <m:d>
                            <m:dPr>
                              <m:ctrlPr>
                                <a:rPr lang="en-US" altLang="zh-CN" sz="1600" i="1" dirty="0">
                                  <a:solidFill>
                                    <a:schemeClr val="accent5">
                                      <a:lumMod val="75000"/>
                                    </a:schemeClr>
                                  </a:solidFill>
                                  <a:latin typeface="Cambria Math" panose="02040503050406030204" pitchFamily="18" charset="0"/>
                                </a:rPr>
                              </m:ctrlPr>
                            </m:dPr>
                            <m:e>
                              <m:sSub>
                                <m:sSubPr>
                                  <m:ctrlPr>
                                    <a:rPr lang="en-US" altLang="zh-CN" sz="1600" b="1" i="1" dirty="0">
                                      <a:solidFill>
                                        <a:schemeClr val="accent5">
                                          <a:lumMod val="75000"/>
                                        </a:schemeClr>
                                      </a:solidFill>
                                      <a:latin typeface="Cambria Math" panose="02040503050406030204" pitchFamily="18" charset="0"/>
                                    </a:rPr>
                                  </m:ctrlPr>
                                </m:sSubPr>
                                <m:e>
                                  <m:r>
                                    <a:rPr lang="en-US" altLang="zh-CN" sz="1600" b="1" i="1" dirty="0">
                                      <a:solidFill>
                                        <a:schemeClr val="accent5">
                                          <a:lumMod val="75000"/>
                                        </a:schemeClr>
                                      </a:solidFill>
                                      <a:latin typeface="Cambria Math" panose="02040503050406030204" pitchFamily="18" charset="0"/>
                                    </a:rPr>
                                    <m:t>𝒉</m:t>
                                  </m:r>
                                </m:e>
                                <m:sub>
                                  <m:r>
                                    <a:rPr lang="en-US" altLang="zh-CN" sz="1600" b="1" i="1" dirty="0">
                                      <a:solidFill>
                                        <a:schemeClr val="accent5">
                                          <a:lumMod val="75000"/>
                                        </a:schemeClr>
                                      </a:solidFill>
                                      <a:latin typeface="Cambria Math" panose="02040503050406030204" pitchFamily="18" charset="0"/>
                                    </a:rPr>
                                    <m:t>𝒓</m:t>
                                  </m:r>
                                </m:sub>
                              </m:sSub>
                            </m:e>
                          </m:d>
                          <m:r>
                            <a:rPr lang="en-US" altLang="zh-CN" sz="1600" i="1">
                              <a:solidFill>
                                <a:schemeClr val="accent5">
                                  <a:lumMod val="75000"/>
                                </a:schemeClr>
                              </a:solidFill>
                              <a:latin typeface="Cambria Math" panose="02040503050406030204" pitchFamily="18" charset="0"/>
                            </a:rPr>
                            <m:t> </m:t>
                          </m:r>
                          <m:sSub>
                            <m:sSubPr>
                              <m:ctrlPr>
                                <a:rPr lang="en-US" altLang="zh-CN" sz="1600" i="1" dirty="0">
                                  <a:solidFill>
                                    <a:schemeClr val="accent5">
                                      <a:lumMod val="75000"/>
                                    </a:schemeClr>
                                  </a:solidFill>
                                  <a:latin typeface="Cambria Math" panose="02040503050406030204" pitchFamily="18" charset="0"/>
                                </a:rPr>
                              </m:ctrlPr>
                            </m:sSubPr>
                            <m:e>
                              <m:r>
                                <a:rPr lang="en-US" altLang="zh-CN" sz="1600" i="1" dirty="0">
                                  <a:solidFill>
                                    <a:schemeClr val="accent5">
                                      <a:lumMod val="75000"/>
                                    </a:schemeClr>
                                  </a:solidFill>
                                  <a:latin typeface="Cambria Math" panose="02040503050406030204" pitchFamily="18" charset="0"/>
                                </a:rPr>
                                <m:t>𝐺</m:t>
                              </m:r>
                            </m:e>
                            <m:sub>
                              <m:r>
                                <a:rPr lang="en-US" altLang="zh-CN" sz="1600" i="1" dirty="0">
                                  <a:solidFill>
                                    <a:schemeClr val="accent5">
                                      <a:lumMod val="75000"/>
                                    </a:schemeClr>
                                  </a:solidFill>
                                  <a:latin typeface="Cambria Math" panose="02040503050406030204" pitchFamily="18" charset="0"/>
                                </a:rPr>
                                <m:t>2</m:t>
                              </m:r>
                            </m:sub>
                          </m:sSub>
                          <m:d>
                            <m:dPr>
                              <m:ctrlPr>
                                <a:rPr lang="en-US" altLang="zh-CN" sz="1600" i="1" dirty="0">
                                  <a:solidFill>
                                    <a:schemeClr val="accent5">
                                      <a:lumMod val="75000"/>
                                    </a:schemeClr>
                                  </a:solidFill>
                                  <a:latin typeface="Cambria Math" panose="02040503050406030204" pitchFamily="18" charset="0"/>
                                </a:rPr>
                              </m:ctrlPr>
                            </m:dPr>
                            <m:e>
                              <m:r>
                                <a:rPr lang="en-US" altLang="zh-CN" sz="1600" b="1" i="1" dirty="0">
                                  <a:solidFill>
                                    <a:schemeClr val="accent5">
                                      <a:lumMod val="75000"/>
                                    </a:schemeClr>
                                  </a:solidFill>
                                  <a:latin typeface="Cambria Math" panose="02040503050406030204" pitchFamily="18" charset="0"/>
                                </a:rPr>
                                <m:t>𝒊</m:t>
                              </m:r>
                              <m:r>
                                <a:rPr lang="en-US" altLang="zh-CN" sz="1600" b="1" i="1" dirty="0">
                                  <a:solidFill>
                                    <a:schemeClr val="accent5">
                                      <a:lumMod val="75000"/>
                                    </a:schemeClr>
                                  </a:solidFill>
                                  <a:latin typeface="Cambria Math" panose="02040503050406030204" pitchFamily="18" charset="0"/>
                                </a:rPr>
                                <m:t>→</m:t>
                              </m:r>
                              <m:r>
                                <a:rPr lang="en-US" altLang="zh-CN" sz="1600" b="1" i="1" dirty="0">
                                  <a:solidFill>
                                    <a:schemeClr val="accent5">
                                      <a:lumMod val="75000"/>
                                    </a:schemeClr>
                                  </a:solidFill>
                                  <a:latin typeface="Cambria Math" panose="02040503050406030204" pitchFamily="18" charset="0"/>
                                </a:rPr>
                                <m:t>𝒐</m:t>
                              </m:r>
                              <m:r>
                                <a:rPr lang="en-US" altLang="zh-CN" sz="1600" i="1" dirty="0">
                                  <a:solidFill>
                                    <a:schemeClr val="accent5">
                                      <a:lumMod val="75000"/>
                                    </a:schemeClr>
                                  </a:solidFill>
                                  <a:latin typeface="Cambria Math" panose="02040503050406030204" pitchFamily="18" charset="0"/>
                                </a:rPr>
                                <m:t>,</m:t>
                              </m:r>
                              <m:sSub>
                                <m:sSubPr>
                                  <m:ctrlPr>
                                    <a:rPr lang="en-US" altLang="zh-CN" sz="1600" b="1" i="1" dirty="0">
                                      <a:solidFill>
                                        <a:schemeClr val="accent5">
                                          <a:lumMod val="75000"/>
                                        </a:schemeClr>
                                      </a:solidFill>
                                      <a:latin typeface="Cambria Math" panose="02040503050406030204" pitchFamily="18" charset="0"/>
                                    </a:rPr>
                                  </m:ctrlPr>
                                </m:sSubPr>
                                <m:e>
                                  <m:r>
                                    <a:rPr lang="en-US" altLang="zh-CN" sz="1600" b="1" i="1" dirty="0">
                                      <a:solidFill>
                                        <a:schemeClr val="accent5">
                                          <a:lumMod val="75000"/>
                                        </a:schemeClr>
                                      </a:solidFill>
                                      <a:latin typeface="Cambria Math" panose="02040503050406030204" pitchFamily="18" charset="0"/>
                                    </a:rPr>
                                    <m:t>𝒉</m:t>
                                  </m:r>
                                </m:e>
                                <m:sub>
                                  <m:r>
                                    <a:rPr lang="en-US" altLang="zh-CN" sz="1600" b="1" i="1" dirty="0">
                                      <a:solidFill>
                                        <a:schemeClr val="accent5">
                                          <a:lumMod val="75000"/>
                                        </a:schemeClr>
                                      </a:solidFill>
                                      <a:latin typeface="Cambria Math" panose="02040503050406030204" pitchFamily="18" charset="0"/>
                                    </a:rPr>
                                    <m:t>𝒓</m:t>
                                  </m:r>
                                </m:sub>
                              </m:sSub>
                            </m:e>
                          </m:d>
                        </m:num>
                        <m:den>
                          <m:r>
                            <a:rPr lang="en-US" altLang="zh-CN" sz="1600" i="1" dirty="0">
                              <a:solidFill>
                                <a:schemeClr val="tx1"/>
                              </a:solidFill>
                              <a:latin typeface="Cambria Math" panose="02040503050406030204" pitchFamily="18" charset="0"/>
                            </a:rPr>
                            <m:t>4</m:t>
                          </m:r>
                          <m:d>
                            <m:dPr>
                              <m:begChr m:val="|"/>
                              <m:endChr m:val="|"/>
                              <m:ctrlPr>
                                <a:rPr lang="en-US" altLang="zh-CN" sz="1600" i="1" dirty="0" smtClean="0">
                                  <a:solidFill>
                                    <a:schemeClr val="accent5">
                                      <a:lumMod val="75000"/>
                                    </a:schemeClr>
                                  </a:solidFill>
                                  <a:latin typeface="Cambria Math" panose="02040503050406030204" pitchFamily="18" charset="0"/>
                                </a:rPr>
                              </m:ctrlPr>
                            </m:dPr>
                            <m:e>
                              <m:r>
                                <a:rPr lang="en-US" altLang="zh-CN" sz="1600" b="1" i="1" dirty="0">
                                  <a:solidFill>
                                    <a:schemeClr val="accent5">
                                      <a:lumMod val="75000"/>
                                    </a:schemeClr>
                                  </a:solidFill>
                                  <a:latin typeface="Cambria Math" panose="02040503050406030204" pitchFamily="18" charset="0"/>
                                </a:rPr>
                                <m:t>𝒐</m:t>
                              </m:r>
                              <m:r>
                                <a:rPr lang="en-US" altLang="zh-CN" sz="1600" i="1" dirty="0">
                                  <a:solidFill>
                                    <a:schemeClr val="accent5">
                                      <a:lumMod val="75000"/>
                                    </a:schemeClr>
                                  </a:solidFill>
                                  <a:latin typeface="Cambria Math" panose="02040503050406030204" pitchFamily="18" charset="0"/>
                                </a:rPr>
                                <m:t>⋅</m:t>
                              </m:r>
                              <m:r>
                                <a:rPr lang="en-US" altLang="zh-CN" sz="1600" b="1" i="1" dirty="0">
                                  <a:solidFill>
                                    <a:schemeClr val="accent5">
                                      <a:lumMod val="75000"/>
                                    </a:schemeClr>
                                  </a:solidFill>
                                  <a:latin typeface="Cambria Math" panose="02040503050406030204" pitchFamily="18" charset="0"/>
                                </a:rPr>
                                <m:t>𝒈</m:t>
                              </m:r>
                            </m:e>
                          </m:d>
                        </m:den>
                      </m:f>
                    </m:oMath>
                  </m:oMathPara>
                </a14:m>
                <a:endParaRPr lang="en-US" altLang="zh-CN" sz="1600" b="1" dirty="0">
                  <a:solidFill>
                    <a:schemeClr val="tx1"/>
                  </a:solidFill>
                  <a:latin typeface="Cambria Math" panose="02040503050406030204" pitchFamily="18" charset="0"/>
                </a:endParaRPr>
              </a:p>
              <a:p>
                <a:pPr>
                  <a:lnSpc>
                    <a:spcPct val="140000"/>
                  </a:lnSpc>
                </a:pPr>
                <a14:m>
                  <m:oMathPara xmlns:m="http://schemas.openxmlformats.org/officeDocument/2006/math">
                    <m:oMathParaPr>
                      <m:jc m:val="centerGroup"/>
                    </m:oMathParaPr>
                    <m:oMath xmlns:m="http://schemas.openxmlformats.org/officeDocument/2006/math">
                      <m:r>
                        <a:rPr lang="zh-CN" altLang="en-US" sz="1600" i="1" dirty="0" smtClean="0">
                          <a:solidFill>
                            <a:schemeClr val="tx1"/>
                          </a:solidFill>
                          <a:latin typeface="Cambria Math" panose="02040503050406030204" pitchFamily="18" charset="0"/>
                        </a:rPr>
                        <m:t>折射的</m:t>
                      </m:r>
                      <m:r>
                        <a:rPr lang="zh-CN" altLang="en-US" sz="1600" i="1" dirty="0">
                          <a:solidFill>
                            <a:schemeClr val="tx1"/>
                          </a:solidFill>
                          <a:latin typeface="Cambria Math" panose="02040503050406030204" pitchFamily="18" charset="0"/>
                        </a:rPr>
                        <m:t>被积函数</m:t>
                      </m:r>
                      <m:r>
                        <a:rPr lang="zh-CN" altLang="en-US" sz="1600" i="1" dirty="0" smtClean="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𝐿</m:t>
                          </m:r>
                        </m:e>
                        <m:sub>
                          <m:r>
                            <a:rPr lang="en-US" altLang="zh-CN" sz="1600" i="1" dirty="0">
                              <a:solidFill>
                                <a:schemeClr val="tx1"/>
                              </a:solidFill>
                              <a:latin typeface="Cambria Math" panose="02040503050406030204" pitchFamily="18" charset="0"/>
                            </a:rPr>
                            <m:t>𝑖</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e>
                      </m:d>
                      <m:f>
                        <m:fPr>
                          <m:ctrlPr>
                            <a:rPr lang="en-US" altLang="zh-CN" sz="1600" i="1" dirty="0">
                              <a:solidFill>
                                <a:schemeClr val="tx1"/>
                              </a:solidFill>
                              <a:latin typeface="Cambria Math" panose="02040503050406030204" pitchFamily="18" charset="0"/>
                            </a:rPr>
                          </m:ctrlPr>
                        </m:fPr>
                        <m:num>
                          <m:d>
                            <m:dPr>
                              <m:begChr m:val="|"/>
                              <m:endChr m:val="|"/>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r>
                                <a:rPr lang="en-US" altLang="zh-CN" sz="1600" i="1" dirty="0">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d>
                            <m:dPr>
                              <m:begChr m:val="|"/>
                              <m:endChr m:val="|"/>
                              <m:ctrlPr>
                                <a:rPr lang="en-US" altLang="zh-CN" sz="1600" i="1" dirty="0" smtClean="0">
                                  <a:solidFill>
                                    <a:schemeClr val="accent5">
                                      <a:lumMod val="75000"/>
                                    </a:schemeClr>
                                  </a:solidFill>
                                  <a:latin typeface="Cambria Math" panose="02040503050406030204" pitchFamily="18" charset="0"/>
                                </a:rPr>
                              </m:ctrlPr>
                            </m:dPr>
                            <m:e>
                              <m:r>
                                <a:rPr lang="en-US" altLang="zh-CN" sz="1600" b="1" i="1" dirty="0">
                                  <a:solidFill>
                                    <a:schemeClr val="accent5">
                                      <a:lumMod val="75000"/>
                                    </a:schemeClr>
                                  </a:solidFill>
                                  <a:latin typeface="Cambria Math" panose="02040503050406030204" pitchFamily="18" charset="0"/>
                                </a:rPr>
                                <m:t>𝒐</m:t>
                              </m:r>
                              <m:r>
                                <a:rPr lang="en-US" altLang="zh-CN" sz="1600" i="1" dirty="0">
                                  <a:solidFill>
                                    <a:schemeClr val="accent5">
                                      <a:lumMod val="75000"/>
                                    </a:schemeClr>
                                  </a:solidFill>
                                  <a:latin typeface="Cambria Math" panose="02040503050406030204" pitchFamily="18" charset="0"/>
                                </a:rPr>
                                <m:t>⋅</m:t>
                              </m:r>
                              <m:sSub>
                                <m:sSubPr>
                                  <m:ctrlPr>
                                    <a:rPr lang="en-US" altLang="zh-CN" sz="1600" b="1" i="1" dirty="0">
                                      <a:solidFill>
                                        <a:schemeClr val="accent5">
                                          <a:lumMod val="75000"/>
                                        </a:schemeClr>
                                      </a:solidFill>
                                      <a:latin typeface="Cambria Math" panose="02040503050406030204" pitchFamily="18" charset="0"/>
                                    </a:rPr>
                                  </m:ctrlPr>
                                </m:sSubPr>
                                <m:e>
                                  <m:r>
                                    <a:rPr lang="en-US" altLang="zh-CN" sz="1600" b="1" i="1" dirty="0">
                                      <a:solidFill>
                                        <a:schemeClr val="accent5">
                                          <a:lumMod val="75000"/>
                                        </a:schemeClr>
                                      </a:solidFill>
                                      <a:latin typeface="Cambria Math" panose="02040503050406030204" pitchFamily="18" charset="0"/>
                                    </a:rPr>
                                    <m:t>𝒉</m:t>
                                  </m:r>
                                </m:e>
                                <m:sub>
                                  <m:r>
                                    <a:rPr lang="en-US" altLang="zh-CN" sz="1600" b="1" i="1" dirty="0">
                                      <a:solidFill>
                                        <a:schemeClr val="accent5">
                                          <a:lumMod val="75000"/>
                                        </a:schemeClr>
                                      </a:solidFill>
                                      <a:latin typeface="Cambria Math" panose="02040503050406030204" pitchFamily="18" charset="0"/>
                                    </a:rPr>
                                    <m:t>𝒕</m:t>
                                  </m:r>
                                </m:sub>
                              </m:sSub>
                            </m:e>
                          </m:d>
                        </m:num>
                        <m:den>
                          <m:d>
                            <m:dPr>
                              <m:begChr m:val="|"/>
                              <m:endChr m:val="|"/>
                              <m:ctrlPr>
                                <a:rPr lang="en-US" altLang="zh-CN" sz="1600" i="1" dirty="0" smtClean="0">
                                  <a:solidFill>
                                    <a:schemeClr val="accent5">
                                      <a:lumMod val="75000"/>
                                    </a:schemeClr>
                                  </a:solidFill>
                                  <a:latin typeface="Cambria Math" panose="02040503050406030204" pitchFamily="18" charset="0"/>
                                </a:rPr>
                              </m:ctrlPr>
                            </m:dPr>
                            <m:e>
                              <m:r>
                                <a:rPr lang="en-US" altLang="zh-CN" sz="1600" b="1" i="1" dirty="0">
                                  <a:solidFill>
                                    <a:schemeClr val="accent5">
                                      <a:lumMod val="75000"/>
                                    </a:schemeClr>
                                  </a:solidFill>
                                  <a:latin typeface="Cambria Math" panose="02040503050406030204" pitchFamily="18" charset="0"/>
                                </a:rPr>
                                <m:t>𝒐</m:t>
                              </m:r>
                              <m:r>
                                <a:rPr lang="en-US" altLang="zh-CN" sz="1600" i="1" dirty="0">
                                  <a:solidFill>
                                    <a:schemeClr val="accent5">
                                      <a:lumMod val="75000"/>
                                    </a:schemeClr>
                                  </a:solidFill>
                                  <a:latin typeface="Cambria Math" panose="02040503050406030204" pitchFamily="18" charset="0"/>
                                </a:rPr>
                                <m:t>⋅</m:t>
                              </m:r>
                              <m:r>
                                <a:rPr lang="en-US" altLang="zh-CN" sz="1600" b="1" i="1" dirty="0">
                                  <a:solidFill>
                                    <a:schemeClr val="accent5">
                                      <a:lumMod val="75000"/>
                                    </a:schemeClr>
                                  </a:solidFill>
                                  <a:latin typeface="Cambria Math" panose="02040503050406030204" pitchFamily="18" charset="0"/>
                                </a:rPr>
                                <m:t>𝒈</m:t>
                              </m:r>
                            </m:e>
                          </m:d>
                        </m:den>
                      </m:f>
                      <m:r>
                        <a:rPr lang="en-US" altLang="zh-CN" sz="1600" i="1" dirty="0">
                          <a:solidFill>
                            <a:schemeClr val="tx1"/>
                          </a:solidFill>
                          <a:latin typeface="Cambria Math" panose="02040503050406030204" pitchFamily="18" charset="0"/>
                        </a:rPr>
                        <m:t> </m:t>
                      </m:r>
                      <m:f>
                        <m:fPr>
                          <m:ctrlPr>
                            <a:rPr lang="en-US" altLang="zh-CN" sz="1600" i="1" dirty="0">
                              <a:solidFill>
                                <a:schemeClr val="tx1"/>
                              </a:solidFill>
                              <a:latin typeface="Cambria Math" panose="02040503050406030204" pitchFamily="18" charset="0"/>
                            </a:rPr>
                          </m:ctrlPr>
                        </m:fPr>
                        <m:num>
                          <m:sSubSup>
                            <m:sSubSupPr>
                              <m:ctrlPr>
                                <a:rPr lang="en-US" altLang="zh-CN" sz="1600" i="1">
                                  <a:solidFill>
                                    <a:schemeClr val="tx1"/>
                                  </a:solidFill>
                                  <a:latin typeface="Cambria Math" panose="02040503050406030204" pitchFamily="18" charset="0"/>
                                </a:rPr>
                              </m:ctrlPr>
                            </m:sSubSup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up>
                              <m:r>
                                <a:rPr lang="en-US" altLang="zh-CN" sz="1600" i="1">
                                  <a:solidFill>
                                    <a:schemeClr val="tx1"/>
                                  </a:solidFill>
                                  <a:latin typeface="Cambria Math" panose="02040503050406030204" pitchFamily="18" charset="0"/>
                                </a:rPr>
                                <m:t>2</m:t>
                              </m:r>
                            </m:sup>
                          </m:sSubSup>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𝐹</m:t>
                              </m:r>
                            </m:e>
                            <m:sub>
                              <m:r>
                                <a:rPr lang="en-US" altLang="zh-CN" sz="1600" i="1">
                                  <a:solidFill>
                                    <a:schemeClr val="tx1"/>
                                  </a:solidFill>
                                  <a:latin typeface="Cambria Math" panose="02040503050406030204" pitchFamily="18" charset="0"/>
                                </a:rPr>
                                <m:t>𝑡</m:t>
                              </m:r>
                            </m:sub>
                          </m:sSub>
                          <m:d>
                            <m:dPr>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𝒐</m:t>
                              </m:r>
                            </m:e>
                          </m:d>
                          <m:r>
                            <a:rPr lang="en-US" altLang="zh-CN" sz="1600" i="1">
                              <a:solidFill>
                                <a:schemeClr val="tx1"/>
                              </a:solidFill>
                              <a:latin typeface="Cambria Math" panose="02040503050406030204" pitchFamily="18" charset="0"/>
                            </a:rPr>
                            <m:t> </m:t>
                          </m:r>
                          <m:r>
                            <a:rPr lang="en-US" altLang="zh-CN" sz="1600" i="1" dirty="0" smtClean="0">
                              <a:solidFill>
                                <a:schemeClr val="accent5">
                                  <a:lumMod val="75000"/>
                                </a:schemeClr>
                              </a:solidFill>
                              <a:latin typeface="Cambria Math" panose="02040503050406030204" pitchFamily="18" charset="0"/>
                            </a:rPr>
                            <m:t>𝐷</m:t>
                          </m:r>
                          <m:d>
                            <m:dPr>
                              <m:ctrlPr>
                                <a:rPr lang="en-US" altLang="zh-CN" sz="1600" i="1" dirty="0">
                                  <a:solidFill>
                                    <a:schemeClr val="accent5">
                                      <a:lumMod val="75000"/>
                                    </a:schemeClr>
                                  </a:solidFill>
                                  <a:latin typeface="Cambria Math" panose="02040503050406030204" pitchFamily="18" charset="0"/>
                                </a:rPr>
                              </m:ctrlPr>
                            </m:dPr>
                            <m:e>
                              <m:sSub>
                                <m:sSubPr>
                                  <m:ctrlPr>
                                    <a:rPr lang="en-US" altLang="zh-CN" sz="1600" b="1" i="1" dirty="0">
                                      <a:solidFill>
                                        <a:schemeClr val="accent5">
                                          <a:lumMod val="75000"/>
                                        </a:schemeClr>
                                      </a:solidFill>
                                      <a:latin typeface="Cambria Math" panose="02040503050406030204" pitchFamily="18" charset="0"/>
                                    </a:rPr>
                                  </m:ctrlPr>
                                </m:sSubPr>
                                <m:e>
                                  <m:r>
                                    <a:rPr lang="en-US" altLang="zh-CN" sz="1600" b="1" i="1" dirty="0">
                                      <a:solidFill>
                                        <a:schemeClr val="accent5">
                                          <a:lumMod val="75000"/>
                                        </a:schemeClr>
                                      </a:solidFill>
                                      <a:latin typeface="Cambria Math" panose="02040503050406030204" pitchFamily="18" charset="0"/>
                                    </a:rPr>
                                    <m:t>𝒉</m:t>
                                  </m:r>
                                </m:e>
                                <m:sub>
                                  <m:r>
                                    <a:rPr lang="en-US" altLang="zh-CN" sz="1600" b="1" i="1" dirty="0">
                                      <a:solidFill>
                                        <a:schemeClr val="accent5">
                                          <a:lumMod val="75000"/>
                                        </a:schemeClr>
                                      </a:solidFill>
                                      <a:latin typeface="Cambria Math" panose="02040503050406030204" pitchFamily="18" charset="0"/>
                                    </a:rPr>
                                    <m:t>𝒕</m:t>
                                  </m:r>
                                </m:sub>
                              </m:sSub>
                            </m:e>
                          </m:d>
                          <m:r>
                            <a:rPr lang="en-US" altLang="zh-CN" sz="1600" i="1" dirty="0">
                              <a:solidFill>
                                <a:schemeClr val="accent5">
                                  <a:lumMod val="75000"/>
                                </a:schemeClr>
                              </a:solidFill>
                              <a:latin typeface="Cambria Math" panose="02040503050406030204" pitchFamily="18" charset="0"/>
                            </a:rPr>
                            <m:t> </m:t>
                          </m:r>
                          <m:sSub>
                            <m:sSubPr>
                              <m:ctrlPr>
                                <a:rPr lang="en-US" altLang="zh-CN" sz="1600" i="1" dirty="0">
                                  <a:solidFill>
                                    <a:schemeClr val="accent5">
                                      <a:lumMod val="75000"/>
                                    </a:schemeClr>
                                  </a:solidFill>
                                  <a:latin typeface="Cambria Math" panose="02040503050406030204" pitchFamily="18" charset="0"/>
                                </a:rPr>
                              </m:ctrlPr>
                            </m:sSubPr>
                            <m:e>
                              <m:r>
                                <a:rPr lang="en-US" altLang="zh-CN" sz="1600" i="1" dirty="0">
                                  <a:solidFill>
                                    <a:schemeClr val="accent5">
                                      <a:lumMod val="75000"/>
                                    </a:schemeClr>
                                  </a:solidFill>
                                  <a:latin typeface="Cambria Math" panose="02040503050406030204" pitchFamily="18" charset="0"/>
                                </a:rPr>
                                <m:t>𝐺</m:t>
                              </m:r>
                            </m:e>
                            <m:sub>
                              <m:r>
                                <a:rPr lang="en-US" altLang="zh-CN" sz="1600" i="1" dirty="0">
                                  <a:solidFill>
                                    <a:schemeClr val="accent5">
                                      <a:lumMod val="75000"/>
                                    </a:schemeClr>
                                  </a:solidFill>
                                  <a:latin typeface="Cambria Math" panose="02040503050406030204" pitchFamily="18" charset="0"/>
                                </a:rPr>
                                <m:t>2</m:t>
                              </m:r>
                            </m:sub>
                          </m:sSub>
                          <m:d>
                            <m:dPr>
                              <m:ctrlPr>
                                <a:rPr lang="en-US" altLang="zh-CN" sz="1600" i="1" dirty="0">
                                  <a:solidFill>
                                    <a:schemeClr val="accent5">
                                      <a:lumMod val="75000"/>
                                    </a:schemeClr>
                                  </a:solidFill>
                                  <a:latin typeface="Cambria Math" panose="02040503050406030204" pitchFamily="18" charset="0"/>
                                </a:rPr>
                              </m:ctrlPr>
                            </m:dPr>
                            <m:e>
                              <m:r>
                                <a:rPr lang="en-US" altLang="zh-CN" sz="1600" b="1" i="1" dirty="0">
                                  <a:solidFill>
                                    <a:schemeClr val="accent5">
                                      <a:lumMod val="75000"/>
                                    </a:schemeClr>
                                  </a:solidFill>
                                  <a:latin typeface="Cambria Math" panose="02040503050406030204" pitchFamily="18" charset="0"/>
                                </a:rPr>
                                <m:t>𝒊</m:t>
                              </m:r>
                              <m:r>
                                <a:rPr lang="en-US" altLang="zh-CN" sz="1600" i="1" dirty="0">
                                  <a:solidFill>
                                    <a:schemeClr val="accent5">
                                      <a:lumMod val="75000"/>
                                    </a:schemeClr>
                                  </a:solidFill>
                                  <a:latin typeface="Cambria Math" panose="02040503050406030204" pitchFamily="18" charset="0"/>
                                </a:rPr>
                                <m:t>→</m:t>
                              </m:r>
                              <m:r>
                                <a:rPr lang="en-US" altLang="zh-CN" sz="1600" b="1" i="1" dirty="0">
                                  <a:solidFill>
                                    <a:schemeClr val="accent5">
                                      <a:lumMod val="75000"/>
                                    </a:schemeClr>
                                  </a:solidFill>
                                  <a:latin typeface="Cambria Math" panose="02040503050406030204" pitchFamily="18" charset="0"/>
                                </a:rPr>
                                <m:t>𝒐</m:t>
                              </m:r>
                              <m:r>
                                <a:rPr lang="en-US" altLang="zh-CN" sz="1600" i="1" dirty="0">
                                  <a:solidFill>
                                    <a:schemeClr val="accent5">
                                      <a:lumMod val="75000"/>
                                    </a:schemeClr>
                                  </a:solidFill>
                                  <a:latin typeface="Cambria Math" panose="02040503050406030204" pitchFamily="18" charset="0"/>
                                </a:rPr>
                                <m:t>,</m:t>
                              </m:r>
                              <m:sSub>
                                <m:sSubPr>
                                  <m:ctrlPr>
                                    <a:rPr lang="en-US" altLang="zh-CN" sz="1600" b="1" i="1" dirty="0">
                                      <a:solidFill>
                                        <a:schemeClr val="accent5">
                                          <a:lumMod val="75000"/>
                                        </a:schemeClr>
                                      </a:solidFill>
                                      <a:latin typeface="Cambria Math" panose="02040503050406030204" pitchFamily="18" charset="0"/>
                                    </a:rPr>
                                  </m:ctrlPr>
                                </m:sSubPr>
                                <m:e>
                                  <m:r>
                                    <a:rPr lang="en-US" altLang="zh-CN" sz="1600" b="1" i="1" dirty="0">
                                      <a:solidFill>
                                        <a:schemeClr val="accent5">
                                          <a:lumMod val="75000"/>
                                        </a:schemeClr>
                                      </a:solidFill>
                                      <a:latin typeface="Cambria Math" panose="02040503050406030204" pitchFamily="18" charset="0"/>
                                    </a:rPr>
                                    <m:t>𝒉</m:t>
                                  </m:r>
                                </m:e>
                                <m:sub>
                                  <m:r>
                                    <a:rPr lang="en-US" altLang="zh-CN" sz="1600" b="1" i="1" dirty="0">
                                      <a:solidFill>
                                        <a:schemeClr val="accent5">
                                          <a:lumMod val="75000"/>
                                        </a:schemeClr>
                                      </a:solidFill>
                                      <a:latin typeface="Cambria Math" panose="02040503050406030204" pitchFamily="18" charset="0"/>
                                    </a:rPr>
                                    <m:t>𝒕</m:t>
                                  </m:r>
                                </m:sub>
                              </m:sSub>
                            </m:e>
                          </m:d>
                        </m:num>
                        <m:den>
                          <m:sSup>
                            <m:sSupPr>
                              <m:ctrlPr>
                                <a:rPr lang="en-US" altLang="zh-CN" sz="1600" i="1">
                                  <a:solidFill>
                                    <a:schemeClr val="tx1"/>
                                  </a:solidFill>
                                  <a:latin typeface="Cambria Math" panose="02040503050406030204" pitchFamily="18" charset="0"/>
                                </a:rPr>
                              </m:ctrlPr>
                            </m:sSupPr>
                            <m:e>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𝑜</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sSub>
                                        <m:sSubPr>
                                          <m:ctrlPr>
                                            <a:rPr lang="en-US" altLang="zh-CN" sz="1600" b="1" i="1" dirty="0">
                                              <a:solidFill>
                                                <a:schemeClr val="tx1"/>
                                              </a:solidFill>
                                              <a:latin typeface="Cambria Math" panose="02040503050406030204" pitchFamily="18" charset="0"/>
                                            </a:rPr>
                                          </m:ctrlPr>
                                        </m:sSubPr>
                                        <m:e>
                                          <m:r>
                                            <a:rPr lang="en-US" altLang="zh-CN" sz="1600" b="1" i="1" dirty="0">
                                              <a:solidFill>
                                                <a:schemeClr val="tx1"/>
                                              </a:solidFill>
                                              <a:latin typeface="Cambria Math" panose="02040503050406030204" pitchFamily="18" charset="0"/>
                                            </a:rPr>
                                            <m:t>𝒉</m:t>
                                          </m:r>
                                        </m:e>
                                        <m:sub>
                                          <m:r>
                                            <a:rPr lang="en-US" altLang="zh-CN" sz="1600" b="1" i="1" dirty="0">
                                              <a:solidFill>
                                                <a:schemeClr val="tx1"/>
                                              </a:solidFill>
                                              <a:latin typeface="Cambria Math" panose="02040503050406030204" pitchFamily="18" charset="0"/>
                                            </a:rPr>
                                            <m:t>𝒕</m:t>
                                          </m:r>
                                        </m:sub>
                                      </m:sSub>
                                    </m:e>
                                  </m:d>
                                </m:e>
                              </m:d>
                            </m:e>
                            <m:sup>
                              <m:r>
                                <a:rPr lang="en-US" altLang="zh-CN" sz="1600" i="1">
                                  <a:solidFill>
                                    <a:schemeClr val="tx1"/>
                                  </a:solidFill>
                                  <a:latin typeface="Cambria Math" panose="02040503050406030204" pitchFamily="18" charset="0"/>
                                </a:rPr>
                                <m:t>2</m:t>
                              </m:r>
                            </m:sup>
                          </m:sSup>
                        </m:den>
                      </m:f>
                    </m:oMath>
                  </m:oMathPara>
                </a14:m>
                <a:endParaRPr lang="en-US" altLang="zh-CN" sz="1600" dirty="0">
                  <a:solidFill>
                    <a:schemeClr val="tx1"/>
                  </a:solidFill>
                  <a:latin typeface="Cambria Math" panose="02040503050406030204" pitchFamily="18" charset="0"/>
                </a:endParaRPr>
              </a:p>
              <a:p>
                <a:pPr>
                  <a:lnSpc>
                    <a:spcPct val="140000"/>
                  </a:lnSpc>
                </a:pPr>
                <a14:m>
                  <m:oMathPara xmlns:m="http://schemas.openxmlformats.org/officeDocument/2006/math">
                    <m:oMathParaPr>
                      <m:jc m:val="centerGroup"/>
                    </m:oMathParaPr>
                    <m:oMath xmlns:m="http://schemas.openxmlformats.org/officeDocument/2006/math">
                      <m:r>
                        <a:rPr lang="zh-CN" altLang="en-US" sz="1600" dirty="0">
                          <a:solidFill>
                            <a:schemeClr val="tx1"/>
                          </a:solidFill>
                          <a:latin typeface="Cambria Math" panose="02040503050406030204" pitchFamily="18" charset="0"/>
                        </a:rPr>
                        <m:t>可见</m:t>
                      </m:r>
                      <m:r>
                        <a:rPr lang="zh-CN" altLang="en-US" sz="1600" i="1" dirty="0">
                          <a:solidFill>
                            <a:schemeClr val="tx1"/>
                          </a:solidFill>
                          <a:latin typeface="Cambria Math" panose="02040503050406030204" pitchFamily="18" charset="0"/>
                        </a:rPr>
                        <m:t>法线分布函数</m:t>
                      </m:r>
                      <m:r>
                        <a:rPr lang="zh-CN" altLang="en-US" sz="1600" i="1" dirty="0">
                          <a:solidFill>
                            <a:schemeClr val="tx1"/>
                          </a:solidFill>
                          <a:latin typeface="Cambria Math" panose="02040503050406030204" pitchFamily="18" charset="0"/>
                        </a:rPr>
                        <m:t>：</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𝐷</m:t>
                          </m:r>
                        </m:e>
                        <m:sub>
                          <m:r>
                            <a:rPr lang="en-US" altLang="zh-CN" sz="1600" b="0" i="1" dirty="0" smtClean="0">
                              <a:solidFill>
                                <a:schemeClr val="tx1"/>
                              </a:solidFill>
                              <a:latin typeface="Cambria Math" panose="02040503050406030204" pitchFamily="18" charset="0"/>
                            </a:rPr>
                            <m:t>𝑣</m:t>
                          </m:r>
                        </m:sub>
                      </m:sSub>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b="1" i="1" dirty="0" smtClean="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 </m:t>
                          </m:r>
                          <m:r>
                            <a:rPr lang="en-US" altLang="zh-CN" sz="1600" b="1" i="1" dirty="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𝒐</m:t>
                                  </m:r>
                                </m:e>
                                <m:sup>
                                  <m:r>
                                    <a:rPr lang="en-US" altLang="zh-CN" sz="1600" b="1" i="1" dirty="0" smtClean="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𝒈</m:t>
                              </m:r>
                            </m:e>
                          </m:d>
                        </m:den>
                      </m:f>
                      <m:r>
                        <a:rPr lang="en-US" altLang="zh-CN" sz="1600" b="0" i="1" dirty="0" smtClean="0">
                          <a:solidFill>
                            <a:schemeClr val="tx1"/>
                          </a:solidFill>
                          <a:latin typeface="Cambria Math" panose="02040503050406030204" pitchFamily="18" charset="0"/>
                        </a:rPr>
                        <m:t> </m:t>
                      </m:r>
                      <m:d>
                        <m:dPr>
                          <m:begChr m:val="["/>
                          <m:endChr m:val="]"/>
                          <m:ctrlPr>
                            <a:rPr lang="en-US" altLang="zh-CN" sz="1600" b="0" i="1" dirty="0" smtClean="0">
                              <a:solidFill>
                                <a:schemeClr val="tx1"/>
                              </a:solidFill>
                              <a:latin typeface="Cambria Math" panose="02040503050406030204" pitchFamily="18" charset="0"/>
                            </a:rPr>
                          </m:ctrlPr>
                        </m:dPr>
                        <m:e>
                          <m:f>
                            <m:fPr>
                              <m:ctrlPr>
                                <a:rPr lang="en-US" altLang="zh-CN" sz="1600" b="0" i="1" dirty="0" smtClean="0">
                                  <a:solidFill>
                                    <a:schemeClr val="tx1"/>
                                  </a:solidFill>
                                  <a:latin typeface="Cambria Math" panose="02040503050406030204" pitchFamily="18" charset="0"/>
                                </a:rPr>
                              </m:ctrlPr>
                            </m:fPr>
                            <m:num>
                              <m:r>
                                <a:rPr lang="en-US" altLang="zh-CN" sz="1600" b="0" i="1" dirty="0" smtClean="0">
                                  <a:solidFill>
                                    <a:schemeClr val="tx1"/>
                                  </a:solidFill>
                                  <a:latin typeface="Cambria Math" panose="02040503050406030204" pitchFamily="18" charset="0"/>
                                </a:rPr>
                                <m:t>1</m:t>
                              </m:r>
                            </m:num>
                            <m:den>
                              <m:r>
                                <a:rPr lang="en-US" altLang="zh-CN" sz="1600" b="0" i="1" dirty="0" smtClean="0">
                                  <a:solidFill>
                                    <a:schemeClr val="tx1"/>
                                  </a:solidFill>
                                  <a:latin typeface="Cambria Math" panose="02040503050406030204" pitchFamily="18" charset="0"/>
                                </a:rPr>
                                <m:t>𝑠𝑟</m:t>
                              </m:r>
                            </m:den>
                          </m:f>
                        </m:e>
                      </m:d>
                    </m:oMath>
                  </m:oMathPara>
                </a14:m>
                <a:endParaRPr lang="en-US" altLang="zh-CN" sz="1600" b="0" dirty="0">
                  <a:solidFill>
                    <a:schemeClr val="tx1"/>
                  </a:solidFill>
                </a:endParaRPr>
              </a:p>
              <a:p>
                <a:pPr>
                  <a:lnSpc>
                    <a:spcPct val="140000"/>
                  </a:lnSpc>
                </a:pPr>
                <a:r>
                  <a:rPr lang="zh-CN" altLang="en-US" sz="1600" dirty="0">
                    <a:solidFill>
                      <a:schemeClr val="tx1"/>
                    </a:solidFill>
                  </a:rPr>
                  <a:t>        可以看到，散射的被积函数中的部分项与可见法线分布函数相似，而可见法线分布函数的积分为</a:t>
                </a:r>
                <a:r>
                  <a:rPr lang="en-US" altLang="zh-CN" sz="1600" dirty="0">
                    <a:solidFill>
                      <a:schemeClr val="tx1"/>
                    </a:solidFill>
                  </a:rPr>
                  <a:t>1</a:t>
                </a:r>
                <a:r>
                  <a:rPr lang="zh-CN" altLang="en-US" sz="1600" dirty="0">
                    <a:solidFill>
                      <a:schemeClr val="tx1"/>
                    </a:solidFill>
                  </a:rPr>
                  <a:t>，并且可见法线分布函数的域比被积函数的域要大（</a:t>
                </a:r>
                <a14:m>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𝐷</m:t>
                        </m:r>
                      </m:e>
                      <m:sub>
                        <m:r>
                          <a:rPr lang="en-US" altLang="zh-CN" sz="1600" b="0" i="1" dirty="0" smtClean="0">
                            <a:solidFill>
                              <a:schemeClr val="tx1"/>
                            </a:solidFill>
                            <a:latin typeface="Cambria Math" panose="02040503050406030204" pitchFamily="18" charset="0"/>
                          </a:rPr>
                          <m:t>𝑣</m:t>
                        </m:r>
                      </m:sub>
                    </m:sSub>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b="1" i="1" dirty="0" smtClean="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 </m:t>
                        </m:r>
                        <m:r>
                          <a:rPr lang="en-US" altLang="zh-CN" sz="1600" b="1" i="1" dirty="0">
                            <a:solidFill>
                              <a:schemeClr val="tx1"/>
                            </a:solidFill>
                            <a:latin typeface="Cambria Math" panose="02040503050406030204" pitchFamily="18" charset="0"/>
                          </a:rPr>
                          <m:t>𝒎</m:t>
                        </m:r>
                      </m:e>
                    </m:d>
                  </m:oMath>
                </a14:m>
                <a:r>
                  <a:rPr lang="zh-CN" altLang="en-US" sz="1600" dirty="0">
                    <a:solidFill>
                      <a:schemeClr val="tx1"/>
                    </a:solidFill>
                  </a:rPr>
                  <a:t>仅考虑了掩蔽函数，而被积函数考虑了掩蔽</a:t>
                </a:r>
                <a:r>
                  <a:rPr lang="en-US" altLang="zh-CN" sz="1600" dirty="0">
                    <a:solidFill>
                      <a:schemeClr val="tx1"/>
                    </a:solidFill>
                  </a:rPr>
                  <a:t>-</a:t>
                </a:r>
                <a:r>
                  <a:rPr lang="zh-CN" altLang="en-US" sz="1600" dirty="0">
                    <a:solidFill>
                      <a:schemeClr val="tx1"/>
                    </a:solidFill>
                  </a:rPr>
                  <a:t>阴影函数），所以可见法线分布函数就是我们要找的用于重要性采样的概率密度函数。</a:t>
                </a:r>
                <a:endParaRPr lang="en-US" altLang="zh-CN" sz="1600" dirty="0">
                  <a:solidFill>
                    <a:schemeClr val="tx1"/>
                  </a:solidFill>
                </a:endParaRPr>
              </a:p>
              <a:p>
                <a:pPr>
                  <a:lnSpc>
                    <a:spcPct val="150000"/>
                  </a:lnSpc>
                </a:pPr>
                <a:r>
                  <a:rPr lang="en-US" altLang="zh-CN" sz="1600" b="0" dirty="0">
                    <a:solidFill>
                      <a:schemeClr val="tx1"/>
                    </a:solidFill>
                  </a:rPr>
                  <a:t>        </a:t>
                </a:r>
                <a:r>
                  <a:rPr lang="zh-CN" altLang="en-US" sz="1600" b="0" dirty="0">
                    <a:solidFill>
                      <a:schemeClr val="tx1"/>
                    </a:solidFill>
                  </a:rPr>
                  <a:t>但是要注意，给定观察方向</a:t>
                </a:r>
                <a14:m>
                  <m:oMath xmlns:m="http://schemas.openxmlformats.org/officeDocument/2006/math">
                    <m:r>
                      <a:rPr lang="en-US" altLang="zh-CN" sz="1600" b="1" i="1" dirty="0" smtClean="0">
                        <a:solidFill>
                          <a:schemeClr val="tx1"/>
                        </a:solidFill>
                        <a:latin typeface="Cambria Math" panose="02040503050406030204" pitchFamily="18" charset="0"/>
                      </a:rPr>
                      <m:t>𝒐</m:t>
                    </m:r>
                  </m:oMath>
                </a14:m>
                <a:r>
                  <a:rPr lang="zh-CN" altLang="en-US" sz="1600" dirty="0">
                    <a:solidFill>
                      <a:schemeClr val="tx1"/>
                    </a:solidFill>
                  </a:rPr>
                  <a:t>，</a:t>
                </a:r>
                <a14:m>
                  <m:oMath xmlns:m="http://schemas.openxmlformats.org/officeDocument/2006/math">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𝐷</m:t>
                        </m:r>
                      </m:e>
                      <m:sub>
                        <m:r>
                          <a:rPr lang="en-US" altLang="zh-CN" sz="1600" i="1" dirty="0">
                            <a:solidFill>
                              <a:schemeClr val="tx1"/>
                            </a:solidFill>
                            <a:latin typeface="Cambria Math" panose="02040503050406030204" pitchFamily="18" charset="0"/>
                          </a:rPr>
                          <m:t>𝑣</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b="1"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 </m:t>
                        </m:r>
                        <m:r>
                          <a:rPr lang="en-US" altLang="zh-CN" sz="1600" b="1" i="1" dirty="0">
                            <a:solidFill>
                              <a:schemeClr val="tx1"/>
                            </a:solidFill>
                            <a:latin typeface="Cambria Math" panose="02040503050406030204" pitchFamily="18" charset="0"/>
                          </a:rPr>
                          <m:t>𝒎</m:t>
                        </m:r>
                      </m:e>
                    </m:d>
                  </m:oMath>
                </a14:m>
                <a:r>
                  <a:rPr lang="zh-CN" altLang="en-US" sz="1600" dirty="0">
                    <a:solidFill>
                      <a:schemeClr val="tx1"/>
                    </a:solidFill>
                  </a:rPr>
                  <a:t>给出的是法线朝向的密度，在实践中，需要先根据</a:t>
                </a:r>
                <a14:m>
                  <m:oMath xmlns:m="http://schemas.openxmlformats.org/officeDocument/2006/math">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𝐷</m:t>
                        </m:r>
                      </m:e>
                      <m:sub>
                        <m:r>
                          <a:rPr lang="en-US" altLang="zh-CN" sz="1600" i="1" dirty="0">
                            <a:solidFill>
                              <a:schemeClr val="tx1"/>
                            </a:solidFill>
                            <a:latin typeface="Cambria Math" panose="02040503050406030204" pitchFamily="18" charset="0"/>
                          </a:rPr>
                          <m:t>𝑣</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b="1"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 </m:t>
                        </m:r>
                        <m:r>
                          <a:rPr lang="en-US" altLang="zh-CN" sz="1600" b="1" i="1" dirty="0">
                            <a:solidFill>
                              <a:schemeClr val="tx1"/>
                            </a:solidFill>
                            <a:latin typeface="Cambria Math" panose="02040503050406030204" pitchFamily="18" charset="0"/>
                          </a:rPr>
                          <m:t>𝒎</m:t>
                        </m:r>
                      </m:e>
                    </m:d>
                  </m:oMath>
                </a14:m>
                <a:r>
                  <a:rPr lang="zh-CN" altLang="en-US" sz="1600" dirty="0">
                    <a:solidFill>
                      <a:schemeClr val="tx1"/>
                    </a:solidFill>
                  </a:rPr>
                  <a:t>采样可见法线，然后根据采样的法线</a:t>
                </a:r>
                <a14:m>
                  <m:oMath xmlns:m="http://schemas.openxmlformats.org/officeDocument/2006/math">
                    <m:r>
                      <a:rPr lang="en-US" altLang="zh-CN" sz="1600" b="1" i="1" dirty="0">
                        <a:solidFill>
                          <a:schemeClr val="tx1"/>
                        </a:solidFill>
                        <a:latin typeface="Cambria Math" panose="02040503050406030204" pitchFamily="18" charset="0"/>
                      </a:rPr>
                      <m:t>𝒎</m:t>
                    </m:r>
                  </m:oMath>
                </a14:m>
                <a:r>
                  <a:rPr lang="zh-CN" altLang="en-US" sz="1600" dirty="0">
                    <a:solidFill>
                      <a:schemeClr val="tx1"/>
                    </a:solidFill>
                  </a:rPr>
                  <a:t>与观察方向</a:t>
                </a:r>
                <a14:m>
                  <m:oMath xmlns:m="http://schemas.openxmlformats.org/officeDocument/2006/math">
                    <m:r>
                      <a:rPr lang="en-US" altLang="zh-CN" sz="1600" b="1" i="1" dirty="0">
                        <a:solidFill>
                          <a:schemeClr val="tx1"/>
                        </a:solidFill>
                        <a:latin typeface="Cambria Math" panose="02040503050406030204" pitchFamily="18" charset="0"/>
                      </a:rPr>
                      <m:t>𝒐</m:t>
                    </m:r>
                    <m:r>
                      <a:rPr lang="en-US" altLang="zh-CN" sz="1600" b="1" i="1" dirty="0">
                        <a:solidFill>
                          <a:schemeClr val="tx1"/>
                        </a:solidFill>
                        <a:latin typeface="Cambria Math" panose="02040503050406030204" pitchFamily="18" charset="0"/>
                      </a:rPr>
                      <m:t> </m:t>
                    </m:r>
                  </m:oMath>
                </a14:m>
                <a:r>
                  <a:rPr lang="zh-CN" altLang="en-US" sz="1600" dirty="0">
                    <a:solidFill>
                      <a:schemeClr val="tx1"/>
                    </a:solidFill>
                  </a:rPr>
                  <a:t>，计算得到光线方向</a:t>
                </a:r>
                <a14:m>
                  <m:oMath xmlns:m="http://schemas.openxmlformats.org/officeDocument/2006/math">
                    <m:r>
                      <a:rPr lang="en-US" altLang="zh-CN" sz="1600" b="1" i="1" dirty="0">
                        <a:solidFill>
                          <a:schemeClr val="tx1"/>
                        </a:solidFill>
                        <a:latin typeface="Cambria Math" panose="02040503050406030204" pitchFamily="18" charset="0"/>
                      </a:rPr>
                      <m:t>𝒊</m:t>
                    </m:r>
                  </m:oMath>
                </a14:m>
                <a:r>
                  <a:rPr lang="zh-CN" altLang="en-US" sz="1600" dirty="0">
                    <a:solidFill>
                      <a:schemeClr val="tx1"/>
                    </a:solidFill>
                  </a:rPr>
                  <a:t>，最后根据雅可比行列式，得到光线方向</a:t>
                </a:r>
                <a14:m>
                  <m:oMath xmlns:m="http://schemas.openxmlformats.org/officeDocument/2006/math">
                    <m:r>
                      <a:rPr lang="en-US" altLang="zh-CN" sz="1600" b="1" i="1" dirty="0">
                        <a:solidFill>
                          <a:schemeClr val="tx1"/>
                        </a:solidFill>
                        <a:latin typeface="Cambria Math" panose="02040503050406030204" pitchFamily="18" charset="0"/>
                      </a:rPr>
                      <m:t>𝒊</m:t>
                    </m:r>
                  </m:oMath>
                </a14:m>
                <a:r>
                  <a:rPr lang="zh-CN" altLang="en-US" sz="1600" dirty="0">
                    <a:solidFill>
                      <a:schemeClr val="tx1"/>
                    </a:solidFill>
                  </a:rPr>
                  <a:t>对应的概率密度。</a:t>
                </a:r>
                <a:endParaRPr lang="en-US" altLang="zh-CN" sz="1600" dirty="0">
                  <a:solidFill>
                    <a:schemeClr val="tx1"/>
                  </a:solidFill>
                </a:endParaRPr>
              </a:p>
            </p:txBody>
          </p:sp>
        </mc:Choice>
        <mc:Fallback xmlns="">
          <p:sp>
            <p:nvSpPr>
              <p:cNvPr id="64" name="矩形 63">
                <a:extLst>
                  <a:ext uri="{FF2B5EF4-FFF2-40B4-BE49-F238E27FC236}">
                    <a16:creationId xmlns:a16="http://schemas.microsoft.com/office/drawing/2014/main" id="{F5906C71-9F6B-D0DA-75E1-23D3B08A43F0}"/>
                  </a:ext>
                </a:extLst>
              </p:cNvPr>
              <p:cNvSpPr>
                <a:spLocks noRot="1" noChangeAspect="1" noMove="1" noResize="1" noEditPoints="1" noAdjustHandles="1" noChangeArrowheads="1" noChangeShapeType="1" noTextEdit="1"/>
              </p:cNvSpPr>
              <p:nvPr/>
            </p:nvSpPr>
            <p:spPr>
              <a:xfrm>
                <a:off x="478710" y="1144044"/>
                <a:ext cx="6673652" cy="5402806"/>
              </a:xfrm>
              <a:prstGeom prst="rect">
                <a:avLst/>
              </a:prstGeom>
              <a:blipFill>
                <a:blip r:embed="rId2"/>
                <a:stretch>
                  <a:fillRect l="-456" b="-1802"/>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809F4AA9-742D-1519-2F8E-28701FE49078}"/>
              </a:ext>
            </a:extLst>
          </p:cNvPr>
          <p:cNvSpPr/>
          <p:nvPr/>
        </p:nvSpPr>
        <p:spPr>
          <a:xfrm>
            <a:off x="7772004" y="1716327"/>
            <a:ext cx="4320195" cy="29862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64B47C8F-58DF-7AB0-23B1-E6C726CFEFCF}"/>
              </a:ext>
            </a:extLst>
          </p:cNvPr>
          <p:cNvSpPr/>
          <p:nvPr/>
        </p:nvSpPr>
        <p:spPr>
          <a:xfrm>
            <a:off x="7638654" y="1544877"/>
            <a:ext cx="4320195" cy="298623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 name="组合 5">
            <a:extLst>
              <a:ext uri="{FF2B5EF4-FFF2-40B4-BE49-F238E27FC236}">
                <a16:creationId xmlns:a16="http://schemas.microsoft.com/office/drawing/2014/main" id="{116E061C-F2EA-F1A1-6042-019C8B0D4423}"/>
              </a:ext>
            </a:extLst>
          </p:cNvPr>
          <p:cNvGrpSpPr/>
          <p:nvPr/>
        </p:nvGrpSpPr>
        <p:grpSpPr>
          <a:xfrm>
            <a:off x="7869231" y="1711553"/>
            <a:ext cx="4322769" cy="2757063"/>
            <a:chOff x="7869231" y="1711553"/>
            <a:chExt cx="4322769" cy="2757063"/>
          </a:xfrm>
        </p:grpSpPr>
        <p:grpSp>
          <p:nvGrpSpPr>
            <p:cNvPr id="7" name="组合 6">
              <a:extLst>
                <a:ext uri="{FF2B5EF4-FFF2-40B4-BE49-F238E27FC236}">
                  <a16:creationId xmlns:a16="http://schemas.microsoft.com/office/drawing/2014/main" id="{60F704F7-D3B1-0FC7-C9D5-110B1D4A5FA1}"/>
                </a:ext>
              </a:extLst>
            </p:cNvPr>
            <p:cNvGrpSpPr/>
            <p:nvPr/>
          </p:nvGrpSpPr>
          <p:grpSpPr>
            <a:xfrm>
              <a:off x="8174440" y="1956387"/>
              <a:ext cx="3505629" cy="2091540"/>
              <a:chOff x="7012852" y="1572343"/>
              <a:chExt cx="4052678" cy="2418577"/>
            </a:xfrm>
          </p:grpSpPr>
          <p:sp>
            <p:nvSpPr>
              <p:cNvPr id="19" name="任意多边形: 形状 18">
                <a:extLst>
                  <a:ext uri="{FF2B5EF4-FFF2-40B4-BE49-F238E27FC236}">
                    <a16:creationId xmlns:a16="http://schemas.microsoft.com/office/drawing/2014/main" id="{FEB1D44C-CC43-D364-1284-05B35E6EDBA8}"/>
                  </a:ext>
                </a:extLst>
              </p:cNvPr>
              <p:cNvSpPr/>
              <p:nvPr/>
            </p:nvSpPr>
            <p:spPr>
              <a:xfrm>
                <a:off x="9886950" y="3022545"/>
                <a:ext cx="577850" cy="698500"/>
              </a:xfrm>
              <a:custGeom>
                <a:avLst/>
                <a:gdLst>
                  <a:gd name="connsiteX0" fmla="*/ 0 w 552450"/>
                  <a:gd name="connsiteY0" fmla="*/ 0 h 679450"/>
                  <a:gd name="connsiteX1" fmla="*/ 552450 w 552450"/>
                  <a:gd name="connsiteY1" fmla="*/ 679450 h 679450"/>
                  <a:gd name="connsiteX2" fmla="*/ 412750 w 552450"/>
                  <a:gd name="connsiteY2" fmla="*/ 622300 h 679450"/>
                  <a:gd name="connsiteX3" fmla="*/ 323850 w 552450"/>
                  <a:gd name="connsiteY3" fmla="*/ 584200 h 679450"/>
                  <a:gd name="connsiteX4" fmla="*/ 228600 w 552450"/>
                  <a:gd name="connsiteY4" fmla="*/ 530225 h 679450"/>
                  <a:gd name="connsiteX5" fmla="*/ 171450 w 552450"/>
                  <a:gd name="connsiteY5" fmla="*/ 479425 h 679450"/>
                  <a:gd name="connsiteX6" fmla="*/ 127000 w 552450"/>
                  <a:gd name="connsiteY6" fmla="*/ 396875 h 679450"/>
                  <a:gd name="connsiteX7" fmla="*/ 0 w 552450"/>
                  <a:gd name="connsiteY7" fmla="*/ 0 h 67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 h="679450">
                    <a:moveTo>
                      <a:pt x="0" y="0"/>
                    </a:moveTo>
                    <a:lnTo>
                      <a:pt x="552450" y="679450"/>
                    </a:lnTo>
                    <a:lnTo>
                      <a:pt x="412750" y="622300"/>
                    </a:lnTo>
                    <a:lnTo>
                      <a:pt x="323850" y="584200"/>
                    </a:lnTo>
                    <a:lnTo>
                      <a:pt x="228600" y="530225"/>
                    </a:lnTo>
                    <a:lnTo>
                      <a:pt x="171450" y="479425"/>
                    </a:lnTo>
                    <a:lnTo>
                      <a:pt x="127000" y="3968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19">
                <a:extLst>
                  <a:ext uri="{FF2B5EF4-FFF2-40B4-BE49-F238E27FC236}">
                    <a16:creationId xmlns:a16="http://schemas.microsoft.com/office/drawing/2014/main" id="{6C19AAF2-79EE-9AC6-2794-68FDDC6E4223}"/>
                  </a:ext>
                </a:extLst>
              </p:cNvPr>
              <p:cNvSpPr/>
              <p:nvPr/>
            </p:nvSpPr>
            <p:spPr>
              <a:xfrm>
                <a:off x="7962900" y="3219395"/>
                <a:ext cx="596952" cy="733425"/>
              </a:xfrm>
              <a:custGeom>
                <a:avLst/>
                <a:gdLst>
                  <a:gd name="connsiteX0" fmla="*/ 0 w 590550"/>
                  <a:gd name="connsiteY0" fmla="*/ 0 h 733425"/>
                  <a:gd name="connsiteX1" fmla="*/ 590550 w 590550"/>
                  <a:gd name="connsiteY1" fmla="*/ 727075 h 733425"/>
                  <a:gd name="connsiteX2" fmla="*/ 523875 w 590550"/>
                  <a:gd name="connsiteY2" fmla="*/ 733425 h 733425"/>
                  <a:gd name="connsiteX3" fmla="*/ 469900 w 590550"/>
                  <a:gd name="connsiteY3" fmla="*/ 730250 h 733425"/>
                  <a:gd name="connsiteX4" fmla="*/ 400050 w 590550"/>
                  <a:gd name="connsiteY4" fmla="*/ 711200 h 733425"/>
                  <a:gd name="connsiteX5" fmla="*/ 336550 w 590550"/>
                  <a:gd name="connsiteY5" fmla="*/ 638175 h 733425"/>
                  <a:gd name="connsiteX6" fmla="*/ 247650 w 590550"/>
                  <a:gd name="connsiteY6" fmla="*/ 511175 h 733425"/>
                  <a:gd name="connsiteX7" fmla="*/ 0 w 590550"/>
                  <a:gd name="connsiteY7" fmla="*/ 0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550" h="733425">
                    <a:moveTo>
                      <a:pt x="0" y="0"/>
                    </a:moveTo>
                    <a:lnTo>
                      <a:pt x="590550" y="727075"/>
                    </a:lnTo>
                    <a:lnTo>
                      <a:pt x="523875" y="733425"/>
                    </a:lnTo>
                    <a:lnTo>
                      <a:pt x="469900" y="730250"/>
                    </a:lnTo>
                    <a:lnTo>
                      <a:pt x="400050" y="711200"/>
                    </a:lnTo>
                    <a:lnTo>
                      <a:pt x="336550" y="638175"/>
                    </a:lnTo>
                    <a:lnTo>
                      <a:pt x="247650" y="5111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a:extLst>
                  <a:ext uri="{FF2B5EF4-FFF2-40B4-BE49-F238E27FC236}">
                    <a16:creationId xmlns:a16="http://schemas.microsoft.com/office/drawing/2014/main" id="{7C25384A-D8BB-166F-932A-702E9F813BEB}"/>
                  </a:ext>
                </a:extLst>
              </p:cNvPr>
              <p:cNvSpPr/>
              <p:nvPr/>
            </p:nvSpPr>
            <p:spPr>
              <a:xfrm>
                <a:off x="7609840" y="2948975"/>
                <a:ext cx="3439160" cy="1041945"/>
              </a:xfrm>
              <a:custGeom>
                <a:avLst/>
                <a:gdLst>
                  <a:gd name="connsiteX0" fmla="*/ 0 w 3332480"/>
                  <a:gd name="connsiteY0" fmla="*/ 1041945 h 1041945"/>
                  <a:gd name="connsiteX1" fmla="*/ 279400 w 3332480"/>
                  <a:gd name="connsiteY1" fmla="*/ 218985 h 1041945"/>
                  <a:gd name="connsiteX2" fmla="*/ 868680 w 3332480"/>
                  <a:gd name="connsiteY2" fmla="*/ 1016545 h 1041945"/>
                  <a:gd name="connsiteX3" fmla="*/ 2087880 w 3332480"/>
                  <a:gd name="connsiteY3" fmla="*/ 5625 h 1041945"/>
                  <a:gd name="connsiteX4" fmla="*/ 2494280 w 3332480"/>
                  <a:gd name="connsiteY4" fmla="*/ 620305 h 1041945"/>
                  <a:gd name="connsiteX5" fmla="*/ 3332480 w 3332480"/>
                  <a:gd name="connsiteY5" fmla="*/ 8844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160" h="1041945">
                    <a:moveTo>
                      <a:pt x="0" y="1041945"/>
                    </a:moveTo>
                    <a:cubicBezTo>
                      <a:pt x="67310" y="632581"/>
                      <a:pt x="134620" y="223218"/>
                      <a:pt x="279400" y="218985"/>
                    </a:cubicBezTo>
                    <a:cubicBezTo>
                      <a:pt x="424180" y="214752"/>
                      <a:pt x="567267" y="1052105"/>
                      <a:pt x="868680" y="1016545"/>
                    </a:cubicBezTo>
                    <a:cubicBezTo>
                      <a:pt x="1170093" y="980985"/>
                      <a:pt x="1816947" y="71665"/>
                      <a:pt x="2087880" y="5625"/>
                    </a:cubicBezTo>
                    <a:cubicBezTo>
                      <a:pt x="2358813" y="-60415"/>
                      <a:pt x="2286847" y="473832"/>
                      <a:pt x="2494280" y="620305"/>
                    </a:cubicBezTo>
                    <a:cubicBezTo>
                      <a:pt x="2701713" y="766778"/>
                      <a:pt x="3343487" y="826892"/>
                      <a:pt x="3439160" y="1036865"/>
                    </a:cubicBez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2" name="直接连接符 21">
                <a:extLst>
                  <a:ext uri="{FF2B5EF4-FFF2-40B4-BE49-F238E27FC236}">
                    <a16:creationId xmlns:a16="http://schemas.microsoft.com/office/drawing/2014/main" id="{AF8C850C-0C75-7A00-04EC-AB9A7410834B}"/>
                  </a:ext>
                </a:extLst>
              </p:cNvPr>
              <p:cNvCxnSpPr>
                <a:cxnSpLocks/>
                <a:stCxn id="21" idx="0"/>
              </p:cNvCxnSpPr>
              <p:nvPr/>
            </p:nvCxnSpPr>
            <p:spPr>
              <a:xfrm flipH="1" flipV="1">
                <a:off x="7012852" y="3255565"/>
                <a:ext cx="596988" cy="73535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98000159-278E-3C17-FB05-3FB746EE261C}"/>
                  </a:ext>
                </a:extLst>
              </p:cNvPr>
              <p:cNvCxnSpPr>
                <a:cxnSpLocks/>
              </p:cNvCxnSpPr>
              <p:nvPr/>
            </p:nvCxnSpPr>
            <p:spPr>
              <a:xfrm flipH="1" flipV="1">
                <a:off x="7609840" y="2780935"/>
                <a:ext cx="950012" cy="115059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B19E93B3-C283-B345-7642-417A84B900B4}"/>
                  </a:ext>
                </a:extLst>
              </p:cNvPr>
              <p:cNvCxnSpPr>
                <a:cxnSpLocks/>
              </p:cNvCxnSpPr>
              <p:nvPr/>
            </p:nvCxnSpPr>
            <p:spPr>
              <a:xfrm flipH="1" flipV="1">
                <a:off x="8847134" y="1760557"/>
                <a:ext cx="1595118" cy="19319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D09FD2C3-F72D-EC1F-9EE6-4C5FF6F81CE0}"/>
                  </a:ext>
                </a:extLst>
              </p:cNvPr>
              <p:cNvCxnSpPr>
                <a:cxnSpLocks/>
              </p:cNvCxnSpPr>
              <p:nvPr/>
            </p:nvCxnSpPr>
            <p:spPr>
              <a:xfrm flipV="1">
                <a:off x="7012852" y="1577258"/>
                <a:ext cx="2055740" cy="167830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9B8C93D-1747-DC20-B008-93EE52B008D8}"/>
                  </a:ext>
                </a:extLst>
              </p:cNvPr>
              <p:cNvCxnSpPr>
                <a:cxnSpLocks/>
              </p:cNvCxnSpPr>
              <p:nvPr/>
            </p:nvCxnSpPr>
            <p:spPr>
              <a:xfrm flipH="1" flipV="1">
                <a:off x="9068592" y="1572343"/>
                <a:ext cx="1996938" cy="241857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8F66C25E-D93B-2BA2-9C06-5D17F832B91A}"/>
                  </a:ext>
                </a:extLst>
              </p:cNvPr>
              <p:cNvCxnSpPr/>
              <p:nvPr/>
            </p:nvCxnSpPr>
            <p:spPr>
              <a:xfrm flipH="1" flipV="1">
                <a:off x="7748072" y="2002651"/>
                <a:ext cx="314960" cy="381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404725A0-9E3B-731A-E6FD-E79D65D109F8}"/>
                      </a:ext>
                    </a:extLst>
                  </p:cNvPr>
                  <p:cNvSpPr txBox="1"/>
                  <p:nvPr/>
                </p:nvSpPr>
                <p:spPr>
                  <a:xfrm>
                    <a:off x="7399694" y="1984426"/>
                    <a:ext cx="439977" cy="4270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𝒐</m:t>
                          </m:r>
                        </m:oMath>
                      </m:oMathPara>
                    </a14:m>
                    <a:endParaRPr lang="zh-CN" altLang="en-US" b="1" dirty="0"/>
                  </a:p>
                </p:txBody>
              </p:sp>
            </mc:Choice>
            <mc:Fallback xmlns="">
              <p:sp>
                <p:nvSpPr>
                  <p:cNvPr id="28" name="文本框 27">
                    <a:extLst>
                      <a:ext uri="{FF2B5EF4-FFF2-40B4-BE49-F238E27FC236}">
                        <a16:creationId xmlns:a16="http://schemas.microsoft.com/office/drawing/2014/main" id="{DCC458BA-6E63-B35A-F431-EF82DCDEFD17}"/>
                      </a:ext>
                    </a:extLst>
                  </p:cNvPr>
                  <p:cNvSpPr txBox="1">
                    <a:spLocks noRot="1" noChangeAspect="1" noMove="1" noResize="1" noEditPoints="1" noAdjustHandles="1" noChangeArrowheads="1" noChangeShapeType="1" noTextEdit="1"/>
                  </p:cNvSpPr>
                  <p:nvPr/>
                </p:nvSpPr>
                <p:spPr>
                  <a:xfrm>
                    <a:off x="7399694" y="1984426"/>
                    <a:ext cx="439977" cy="427081"/>
                  </a:xfrm>
                  <a:prstGeom prst="rect">
                    <a:avLst/>
                  </a:prstGeom>
                  <a:blipFill>
                    <a:blip r:embed="rId3"/>
                    <a:stretch>
                      <a:fillRect/>
                    </a:stretch>
                  </a:blipFill>
                </p:spPr>
                <p:txBody>
                  <a:bodyPr/>
                  <a:lstStyle/>
                  <a:p>
                    <a:r>
                      <a:rPr lang="zh-CN" altLang="en-US">
                        <a:noFill/>
                      </a:rPr>
                      <a:t> </a:t>
                    </a:r>
                  </a:p>
                </p:txBody>
              </p:sp>
            </mc:Fallback>
          </mc:AlternateContent>
          <p:cxnSp>
            <p:nvCxnSpPr>
              <p:cNvPr id="29" name="直接箭头连接符 28">
                <a:extLst>
                  <a:ext uri="{FF2B5EF4-FFF2-40B4-BE49-F238E27FC236}">
                    <a16:creationId xmlns:a16="http://schemas.microsoft.com/office/drawing/2014/main" id="{6F502FA2-67BD-8301-E197-A7E59B4D1B10}"/>
                  </a:ext>
                </a:extLst>
              </p:cNvPr>
              <p:cNvCxnSpPr>
                <a:cxnSpLocks/>
              </p:cNvCxnSpPr>
              <p:nvPr/>
            </p:nvCxnSpPr>
            <p:spPr>
              <a:xfrm flipH="1" flipV="1">
                <a:off x="7330440" y="3381320"/>
                <a:ext cx="376414" cy="102503"/>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48340AF2-9BCC-8F2A-AB92-8DF141A1A2E2}"/>
                      </a:ext>
                    </a:extLst>
                  </p:cNvPr>
                  <p:cNvSpPr txBox="1"/>
                  <p:nvPr/>
                </p:nvSpPr>
                <p:spPr>
                  <a:xfrm>
                    <a:off x="7356905" y="3073543"/>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31" name="文本框 30">
                    <a:extLst>
                      <a:ext uri="{FF2B5EF4-FFF2-40B4-BE49-F238E27FC236}">
                        <a16:creationId xmlns:a16="http://schemas.microsoft.com/office/drawing/2014/main" id="{63885C98-BD43-B3A4-2AB9-907E2E308DA6}"/>
                      </a:ext>
                    </a:extLst>
                  </p:cNvPr>
                  <p:cNvSpPr txBox="1">
                    <a:spLocks noRot="1" noChangeAspect="1" noMove="1" noResize="1" noEditPoints="1" noAdjustHandles="1" noChangeArrowheads="1" noChangeShapeType="1" noTextEdit="1"/>
                  </p:cNvSpPr>
                  <p:nvPr/>
                </p:nvSpPr>
                <p:spPr>
                  <a:xfrm>
                    <a:off x="7356905" y="3073543"/>
                    <a:ext cx="439977" cy="355902"/>
                  </a:xfrm>
                  <a:prstGeom prst="rect">
                    <a:avLst/>
                  </a:prstGeom>
                  <a:blipFill>
                    <a:blip r:embed="rId4"/>
                    <a:stretch>
                      <a:fillRect/>
                    </a:stretch>
                  </a:blipFill>
                </p:spPr>
                <p:txBody>
                  <a:bodyPr/>
                  <a:lstStyle/>
                  <a:p>
                    <a:r>
                      <a:rPr lang="zh-CN" altLang="en-US">
                        <a:noFill/>
                      </a:rPr>
                      <a:t> </a:t>
                    </a:r>
                  </a:p>
                </p:txBody>
              </p:sp>
            </mc:Fallback>
          </mc:AlternateContent>
          <p:cxnSp>
            <p:nvCxnSpPr>
              <p:cNvPr id="36" name="直接箭头连接符 35">
                <a:extLst>
                  <a:ext uri="{FF2B5EF4-FFF2-40B4-BE49-F238E27FC236}">
                    <a16:creationId xmlns:a16="http://schemas.microsoft.com/office/drawing/2014/main" id="{B7C0E2BD-948A-4DF2-49EF-DC8D327011F0}"/>
                  </a:ext>
                </a:extLst>
              </p:cNvPr>
              <p:cNvCxnSpPr>
                <a:cxnSpLocks/>
              </p:cNvCxnSpPr>
              <p:nvPr/>
            </p:nvCxnSpPr>
            <p:spPr>
              <a:xfrm flipH="1" flipV="1">
                <a:off x="8895080" y="3162880"/>
                <a:ext cx="261666" cy="269945"/>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91B23230-8C59-5039-1DBC-1DF89C9B5A6F}"/>
                      </a:ext>
                    </a:extLst>
                  </p:cNvPr>
                  <p:cNvSpPr txBox="1"/>
                  <p:nvPr/>
                </p:nvSpPr>
                <p:spPr>
                  <a:xfrm>
                    <a:off x="8921819" y="2940720"/>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38" name="文本框 37">
                    <a:extLst>
                      <a:ext uri="{FF2B5EF4-FFF2-40B4-BE49-F238E27FC236}">
                        <a16:creationId xmlns:a16="http://schemas.microsoft.com/office/drawing/2014/main" id="{2198D2F1-0D85-7D20-6DC8-DD4F5BCA04A4}"/>
                      </a:ext>
                    </a:extLst>
                  </p:cNvPr>
                  <p:cNvSpPr txBox="1">
                    <a:spLocks noRot="1" noChangeAspect="1" noMove="1" noResize="1" noEditPoints="1" noAdjustHandles="1" noChangeArrowheads="1" noChangeShapeType="1" noTextEdit="1"/>
                  </p:cNvSpPr>
                  <p:nvPr/>
                </p:nvSpPr>
                <p:spPr>
                  <a:xfrm>
                    <a:off x="8921819" y="2940720"/>
                    <a:ext cx="439977" cy="355902"/>
                  </a:xfrm>
                  <a:prstGeom prst="rect">
                    <a:avLst/>
                  </a:prstGeom>
                  <a:blipFill>
                    <a:blip r:embed="rId5"/>
                    <a:stretch>
                      <a:fillRect/>
                    </a:stretch>
                  </a:blipFill>
                </p:spPr>
                <p:txBody>
                  <a:bodyPr/>
                  <a:lstStyle/>
                  <a:p>
                    <a:r>
                      <a:rPr lang="zh-CN" altLang="en-US">
                        <a:noFill/>
                      </a:rPr>
                      <a:t> </a:t>
                    </a:r>
                  </a:p>
                </p:txBody>
              </p:sp>
            </mc:Fallback>
          </mc:AlternateContent>
          <p:cxnSp>
            <p:nvCxnSpPr>
              <p:cNvPr id="40" name="直接箭头连接符 39">
                <a:extLst>
                  <a:ext uri="{FF2B5EF4-FFF2-40B4-BE49-F238E27FC236}">
                    <a16:creationId xmlns:a16="http://schemas.microsoft.com/office/drawing/2014/main" id="{D4E1F5EC-5136-4DB2-9BB1-14318624DF66}"/>
                  </a:ext>
                </a:extLst>
              </p:cNvPr>
              <p:cNvCxnSpPr>
                <a:cxnSpLocks/>
              </p:cNvCxnSpPr>
              <p:nvPr/>
            </p:nvCxnSpPr>
            <p:spPr>
              <a:xfrm flipV="1">
                <a:off x="10639339" y="3395642"/>
                <a:ext cx="90195" cy="380931"/>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6F6DD30A-26EB-674E-7AA9-19EBCA404A44}"/>
                      </a:ext>
                    </a:extLst>
                  </p:cNvPr>
                  <p:cNvSpPr txBox="1"/>
                  <p:nvPr/>
                </p:nvSpPr>
                <p:spPr>
                  <a:xfrm>
                    <a:off x="10599935" y="3470335"/>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42" name="文本框 41">
                    <a:extLst>
                      <a:ext uri="{FF2B5EF4-FFF2-40B4-BE49-F238E27FC236}">
                        <a16:creationId xmlns:a16="http://schemas.microsoft.com/office/drawing/2014/main" id="{98861FAA-C48D-6C6E-5C67-B3C32FE14270}"/>
                      </a:ext>
                    </a:extLst>
                  </p:cNvPr>
                  <p:cNvSpPr txBox="1">
                    <a:spLocks noRot="1" noChangeAspect="1" noMove="1" noResize="1" noEditPoints="1" noAdjustHandles="1" noChangeArrowheads="1" noChangeShapeType="1" noTextEdit="1"/>
                  </p:cNvSpPr>
                  <p:nvPr/>
                </p:nvSpPr>
                <p:spPr>
                  <a:xfrm>
                    <a:off x="10599935" y="3470335"/>
                    <a:ext cx="439977" cy="355902"/>
                  </a:xfrm>
                  <a:prstGeom prst="rect">
                    <a:avLst/>
                  </a:prstGeom>
                  <a:blipFill>
                    <a:blip r:embed="rId5"/>
                    <a:stretch>
                      <a:fillRect/>
                    </a:stretch>
                  </a:blipFill>
                </p:spPr>
                <p:txBody>
                  <a:bodyPr/>
                  <a:lstStyle/>
                  <a:p>
                    <a:r>
                      <a:rPr lang="zh-CN" altLang="en-US">
                        <a:noFill/>
                      </a:rPr>
                      <a:t> </a:t>
                    </a:r>
                  </a:p>
                </p:txBody>
              </p:sp>
            </mc:Fallback>
          </mc:AlternateContent>
          <p:cxnSp>
            <p:nvCxnSpPr>
              <p:cNvPr id="43" name="直接连接符 42">
                <a:extLst>
                  <a:ext uri="{FF2B5EF4-FFF2-40B4-BE49-F238E27FC236}">
                    <a16:creationId xmlns:a16="http://schemas.microsoft.com/office/drawing/2014/main" id="{6CFE41B7-401B-C77B-5A10-A79DB7C710ED}"/>
                  </a:ext>
                </a:extLst>
              </p:cNvPr>
              <p:cNvCxnSpPr>
                <a:cxnSpLocks/>
              </p:cNvCxnSpPr>
              <p:nvPr/>
            </p:nvCxnSpPr>
            <p:spPr>
              <a:xfrm>
                <a:off x="7609840" y="3990920"/>
                <a:ext cx="34556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E628CBE3-4DCE-E772-59D6-A3E9CF6AF0C1}"/>
                    </a:ext>
                  </a:extLst>
                </p:cNvPr>
                <p:cNvSpPr txBox="1"/>
                <p:nvPr/>
              </p:nvSpPr>
              <p:spPr>
                <a:xfrm>
                  <a:off x="7869231" y="1711553"/>
                  <a:ext cx="1790893"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𝑝𝑟𝑜𝑗𝑒𝑐𝑡𝑒𝑑</m:t>
                        </m:r>
                        <m:r>
                          <a:rPr lang="en-US" altLang="zh-CN" sz="1600" b="0" i="1" smtClean="0">
                            <a:solidFill>
                              <a:schemeClr val="tx1"/>
                            </a:solidFill>
                            <a:latin typeface="Cambria Math" panose="02040503050406030204" pitchFamily="18" charset="0"/>
                          </a:rPr>
                          <m:t> </m:t>
                        </m:r>
                        <m:r>
                          <a:rPr lang="en-US" altLang="zh-CN" sz="1600" b="0" i="1" smtClean="0">
                            <a:solidFill>
                              <a:schemeClr val="tx1"/>
                            </a:solidFill>
                            <a:latin typeface="Cambria Math" panose="02040503050406030204" pitchFamily="18" charset="0"/>
                          </a:rPr>
                          <m:t>𝑎𝑟𝑒𝑎</m:t>
                        </m:r>
                      </m:oMath>
                    </m:oMathPara>
                  </a14:m>
                  <a:endParaRPr lang="en-US" altLang="zh-CN" sz="16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     =</m:t>
                        </m:r>
                        <m:d>
                          <m:dPr>
                            <m:begChr m:val="|"/>
                            <m:endChr m:val="|"/>
                            <m:ctrlPr>
                              <a:rPr lang="en-US" altLang="zh-CN" sz="1600" b="0" i="1" smtClean="0">
                                <a:solidFill>
                                  <a:schemeClr val="tx1"/>
                                </a:solidFill>
                                <a:latin typeface="Cambria Math" panose="02040503050406030204" pitchFamily="18" charset="0"/>
                              </a:rPr>
                            </m:ctrlPr>
                          </m:dPr>
                          <m:e>
                            <m:r>
                              <a:rPr lang="en-US" altLang="zh-CN" sz="1600" b="1" i="1" smtClean="0">
                                <a:latin typeface="Cambria Math" panose="02040503050406030204" pitchFamily="18" charset="0"/>
                              </a:rPr>
                              <m:t>𝒐</m:t>
                            </m:r>
                            <m:r>
                              <a:rPr lang="en-US" altLang="zh-CN" sz="1600" i="1">
                                <a:latin typeface="Cambria Math" panose="02040503050406030204" pitchFamily="18" charset="0"/>
                              </a:rPr>
                              <m:t>⋅</m:t>
                            </m:r>
                            <m:r>
                              <a:rPr lang="en-US" altLang="zh-CN" sz="1600" b="1" i="1" smtClean="0">
                                <a:latin typeface="Cambria Math" panose="02040503050406030204" pitchFamily="18" charset="0"/>
                              </a:rPr>
                              <m:t>𝒈</m:t>
                            </m:r>
                          </m:e>
                        </m:d>
                        <m:r>
                          <a:rPr lang="en-US" altLang="zh-CN" sz="1600" b="0" i="1" smtClean="0">
                            <a:solidFill>
                              <a:schemeClr val="tx1"/>
                            </a:solidFill>
                            <a:latin typeface="Cambria Math" panose="02040503050406030204" pitchFamily="18" charset="0"/>
                          </a:rPr>
                          <m:t> </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𝐴</m:t>
                            </m:r>
                          </m:e>
                          <m:sub>
                            <m:r>
                              <a:rPr lang="en-US" altLang="zh-CN" sz="1600" b="0" i="1" smtClean="0">
                                <a:solidFill>
                                  <a:schemeClr val="tx1"/>
                                </a:solidFill>
                                <a:latin typeface="Cambria Math" panose="02040503050406030204" pitchFamily="18" charset="0"/>
                              </a:rPr>
                              <m:t>𝑀</m:t>
                            </m:r>
                          </m:sub>
                        </m:sSub>
                      </m:oMath>
                    </m:oMathPara>
                  </a14:m>
                  <a:endParaRPr lang="zh-CN" altLang="en-US" sz="1600" dirty="0"/>
                </a:p>
              </p:txBody>
            </p:sp>
          </mc:Choice>
          <mc:Fallback xmlns="">
            <p:sp>
              <p:nvSpPr>
                <p:cNvPr id="8" name="文本框 7">
                  <a:extLst>
                    <a:ext uri="{FF2B5EF4-FFF2-40B4-BE49-F238E27FC236}">
                      <a16:creationId xmlns:a16="http://schemas.microsoft.com/office/drawing/2014/main" id="{A676F0EC-3E78-D4CD-C1ED-4D9A59FC3CCA}"/>
                    </a:ext>
                  </a:extLst>
                </p:cNvPr>
                <p:cNvSpPr txBox="1">
                  <a:spLocks noRot="1" noChangeAspect="1" noMove="1" noResize="1" noEditPoints="1" noAdjustHandles="1" noChangeArrowheads="1" noChangeShapeType="1" noTextEdit="1"/>
                </p:cNvSpPr>
                <p:nvPr/>
              </p:nvSpPr>
              <p:spPr>
                <a:xfrm>
                  <a:off x="7869231" y="1711553"/>
                  <a:ext cx="1790893" cy="584775"/>
                </a:xfrm>
                <a:prstGeom prst="rect">
                  <a:avLst/>
                </a:prstGeom>
                <a:blipFill>
                  <a:blip r:embed="rId6"/>
                  <a:stretch>
                    <a:fillRect b="-20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2452F064-206E-646E-A57D-CB3869C8FA82}"/>
                    </a:ext>
                  </a:extLst>
                </p:cNvPr>
                <p:cNvSpPr txBox="1"/>
                <p:nvPr/>
              </p:nvSpPr>
              <p:spPr>
                <a:xfrm>
                  <a:off x="9793292" y="4099284"/>
                  <a:ext cx="17801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𝑀𝑎𝑐𝑟𝑜</m:t>
                        </m:r>
                        <m:r>
                          <a:rPr lang="en-US" altLang="zh-CN" sz="1800" b="0" i="1" smtClean="0">
                            <a:solidFill>
                              <a:schemeClr val="tx1"/>
                            </a:solidFill>
                            <a:latin typeface="Cambria Math" panose="02040503050406030204" pitchFamily="18" charset="0"/>
                          </a:rPr>
                          <m:t> </m:t>
                        </m:r>
                        <m:r>
                          <a:rPr lang="en-US" altLang="zh-CN" sz="1800" b="0" i="1" smtClean="0">
                            <a:solidFill>
                              <a:schemeClr val="tx1"/>
                            </a:solidFill>
                            <a:latin typeface="Cambria Math" panose="02040503050406030204" pitchFamily="18" charset="0"/>
                          </a:rPr>
                          <m:t>𝑆𝑢𝑟𝑓𝑎𝑐𝑒</m:t>
                        </m:r>
                        <m:r>
                          <a:rPr lang="en-US" altLang="zh-CN" sz="1800" b="0" i="1" smtClean="0">
                            <a:solidFill>
                              <a:schemeClr val="tx1"/>
                            </a:solidFill>
                            <a:latin typeface="Cambria Math" panose="02040503050406030204" pitchFamily="18" charset="0"/>
                          </a:rPr>
                          <m:t>  </m:t>
                        </m:r>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𝐴</m:t>
                            </m:r>
                          </m:e>
                          <m:sub>
                            <m:r>
                              <a:rPr lang="en-US" altLang="zh-CN" sz="1800" b="0" i="1" smtClean="0">
                                <a:solidFill>
                                  <a:schemeClr val="tx1"/>
                                </a:solidFill>
                                <a:latin typeface="Cambria Math" panose="02040503050406030204" pitchFamily="18" charset="0"/>
                              </a:rPr>
                              <m:t>𝑀</m:t>
                            </m:r>
                          </m:sub>
                        </m:sSub>
                      </m:oMath>
                    </m:oMathPara>
                  </a14:m>
                  <a:endParaRPr lang="zh-CN" altLang="en-US" dirty="0"/>
                </a:p>
              </p:txBody>
            </p:sp>
          </mc:Choice>
          <mc:Fallback xmlns="">
            <p:sp>
              <p:nvSpPr>
                <p:cNvPr id="9" name="文本框 8">
                  <a:extLst>
                    <a:ext uri="{FF2B5EF4-FFF2-40B4-BE49-F238E27FC236}">
                      <a16:creationId xmlns:a16="http://schemas.microsoft.com/office/drawing/2014/main" id="{77755C37-75CB-02A9-B64C-922BA5F821D9}"/>
                    </a:ext>
                  </a:extLst>
                </p:cNvPr>
                <p:cNvSpPr txBox="1">
                  <a:spLocks noRot="1" noChangeAspect="1" noMove="1" noResize="1" noEditPoints="1" noAdjustHandles="1" noChangeArrowheads="1" noChangeShapeType="1" noTextEdit="1"/>
                </p:cNvSpPr>
                <p:nvPr/>
              </p:nvSpPr>
              <p:spPr>
                <a:xfrm>
                  <a:off x="9793292" y="4099284"/>
                  <a:ext cx="1780198" cy="369332"/>
                </a:xfrm>
                <a:prstGeom prst="rect">
                  <a:avLst/>
                </a:prstGeom>
                <a:blipFill>
                  <a:blip r:embed="rId7"/>
                  <a:stretch>
                    <a:fillRect l="-1027" r="-16438" b="-14754"/>
                  </a:stretch>
                </a:blipFill>
              </p:spPr>
              <p:txBody>
                <a:bodyPr/>
                <a:lstStyle/>
                <a:p>
                  <a:r>
                    <a:rPr lang="zh-CN" altLang="en-US">
                      <a:noFill/>
                    </a:rPr>
                    <a:t> </a:t>
                  </a:r>
                </a:p>
              </p:txBody>
            </p:sp>
          </mc:Fallback>
        </mc:AlternateContent>
        <p:cxnSp>
          <p:nvCxnSpPr>
            <p:cNvPr id="10" name="直接连接符 9">
              <a:extLst>
                <a:ext uri="{FF2B5EF4-FFF2-40B4-BE49-F238E27FC236}">
                  <a16:creationId xmlns:a16="http://schemas.microsoft.com/office/drawing/2014/main" id="{9B6F87C0-1BB6-884D-C0A7-81D23E09FD42}"/>
                </a:ext>
              </a:extLst>
            </p:cNvPr>
            <p:cNvCxnSpPr>
              <a:cxnSpLocks/>
            </p:cNvCxnSpPr>
            <p:nvPr/>
          </p:nvCxnSpPr>
          <p:spPr>
            <a:xfrm flipH="1">
              <a:off x="10375591" y="2695759"/>
              <a:ext cx="191092" cy="160175"/>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4C51036-503E-A9C5-5470-3EA65617A6BD}"/>
                    </a:ext>
                  </a:extLst>
                </p:cNvPr>
                <p:cNvSpPr txBox="1"/>
                <p:nvPr/>
              </p:nvSpPr>
              <p:spPr>
                <a:xfrm>
                  <a:off x="10405475" y="2494705"/>
                  <a:ext cx="1786525" cy="3250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dirty="0">
                                <a:solidFill>
                                  <a:srgbClr val="00B050"/>
                                </a:solidFill>
                                <a:latin typeface="Cambria Math" panose="02040503050406030204" pitchFamily="18" charset="0"/>
                              </a:rPr>
                            </m:ctrlPr>
                          </m:sSubPr>
                          <m:e>
                            <m:r>
                              <a:rPr lang="en-US" altLang="zh-CN" sz="1400" i="1" dirty="0">
                                <a:solidFill>
                                  <a:srgbClr val="00B050"/>
                                </a:solidFill>
                                <a:latin typeface="Cambria Math" panose="02040503050406030204" pitchFamily="18" charset="0"/>
                              </a:rPr>
                              <m:t>𝐴</m:t>
                            </m:r>
                          </m:e>
                          <m:sub>
                            <m:r>
                              <a:rPr lang="en-US" altLang="zh-CN" sz="1400" i="1" dirty="0">
                                <a:solidFill>
                                  <a:srgbClr val="00B050"/>
                                </a:solidFill>
                                <a:latin typeface="Cambria Math" panose="02040503050406030204" pitchFamily="18" charset="0"/>
                              </a:rPr>
                              <m:t>𝑝𝑟𝑜𝑗𝑒𝑐𝑡𝑒𝑑</m:t>
                            </m:r>
                            <m:r>
                              <a:rPr lang="en-US" altLang="zh-CN" sz="1400" i="1" dirty="0">
                                <a:solidFill>
                                  <a:srgbClr val="00B050"/>
                                </a:solidFill>
                                <a:latin typeface="Cambria Math" panose="02040503050406030204" pitchFamily="18" charset="0"/>
                              </a:rPr>
                              <m:t>_</m:t>
                            </m:r>
                            <m:r>
                              <a:rPr lang="en-US" altLang="zh-CN" sz="1400" i="1" dirty="0">
                                <a:solidFill>
                                  <a:srgbClr val="00B050"/>
                                </a:solidFill>
                                <a:latin typeface="Cambria Math" panose="02040503050406030204" pitchFamily="18" charset="0"/>
                              </a:rPr>
                              <m:t>𝑣𝑖𝑠𝑖𝑏𝑙𝑒</m:t>
                            </m:r>
                          </m:sub>
                        </m:sSub>
                      </m:oMath>
                    </m:oMathPara>
                  </a14:m>
                  <a:endParaRPr lang="zh-CN" altLang="en-US" sz="1400" dirty="0">
                    <a:solidFill>
                      <a:srgbClr val="00B050"/>
                    </a:solidFill>
                  </a:endParaRPr>
                </a:p>
              </p:txBody>
            </p:sp>
          </mc:Choice>
          <mc:Fallback xmlns="">
            <p:sp>
              <p:nvSpPr>
                <p:cNvPr id="11" name="文本框 10">
                  <a:extLst>
                    <a:ext uri="{FF2B5EF4-FFF2-40B4-BE49-F238E27FC236}">
                      <a16:creationId xmlns:a16="http://schemas.microsoft.com/office/drawing/2014/main" id="{003B5F69-FCA2-6390-0A8D-119A5842504C}"/>
                    </a:ext>
                  </a:extLst>
                </p:cNvPr>
                <p:cNvSpPr txBox="1">
                  <a:spLocks noRot="1" noChangeAspect="1" noMove="1" noResize="1" noEditPoints="1" noAdjustHandles="1" noChangeArrowheads="1" noChangeShapeType="1" noTextEdit="1"/>
                </p:cNvSpPr>
                <p:nvPr/>
              </p:nvSpPr>
              <p:spPr>
                <a:xfrm>
                  <a:off x="10405475" y="2494705"/>
                  <a:ext cx="1786525" cy="325089"/>
                </a:xfrm>
                <a:prstGeom prst="rect">
                  <a:avLst/>
                </a:prstGeom>
                <a:blipFill>
                  <a:blip r:embed="rId8"/>
                  <a:stretch>
                    <a:fillRect b="-1852"/>
                  </a:stretch>
                </a:blipFill>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97FCC4DC-2821-907C-A3FF-D11EB9F82100}"/>
                </a:ext>
              </a:extLst>
            </p:cNvPr>
            <p:cNvCxnSpPr>
              <a:cxnSpLocks/>
            </p:cNvCxnSpPr>
            <p:nvPr/>
          </p:nvCxnSpPr>
          <p:spPr>
            <a:xfrm flipH="1" flipV="1">
              <a:off x="10600882" y="2973876"/>
              <a:ext cx="709637" cy="859022"/>
            </a:xfrm>
            <a:prstGeom prst="straightConnector1">
              <a:avLst/>
            </a:prstGeom>
            <a:ln w="19050">
              <a:solidFill>
                <a:srgbClr val="FFA40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144FFF7-BB80-7C53-F2F4-7AE08ECAE850}"/>
                    </a:ext>
                  </a:extLst>
                </p:cNvPr>
                <p:cNvSpPr txBox="1"/>
                <p:nvPr/>
              </p:nvSpPr>
              <p:spPr>
                <a:xfrm>
                  <a:off x="10760268" y="2839095"/>
                  <a:ext cx="1222853"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dirty="0" smtClean="0">
                                <a:solidFill>
                                  <a:srgbClr val="FFA401"/>
                                </a:solidFill>
                                <a:latin typeface="Cambria Math" panose="02040503050406030204" pitchFamily="18" charset="0"/>
                              </a:rPr>
                            </m:ctrlPr>
                          </m:sSubSupPr>
                          <m:e>
                            <m:r>
                              <a:rPr lang="en-US" altLang="zh-CN" sz="1400" b="0" i="1" dirty="0" smtClean="0">
                                <a:solidFill>
                                  <a:srgbClr val="FFA401"/>
                                </a:solidFill>
                                <a:latin typeface="Cambria Math" panose="02040503050406030204" pitchFamily="18" charset="0"/>
                              </a:rPr>
                              <m:t>𝐿</m:t>
                            </m:r>
                          </m:e>
                          <m:sub>
                            <m:r>
                              <a:rPr lang="en-US" altLang="zh-CN" sz="1400" b="0" i="1" dirty="0" smtClean="0">
                                <a:solidFill>
                                  <a:srgbClr val="FFA401"/>
                                </a:solidFill>
                                <a:latin typeface="Cambria Math" panose="02040503050406030204" pitchFamily="18" charset="0"/>
                              </a:rPr>
                              <m:t>𝑜</m:t>
                            </m:r>
                          </m:sub>
                          <m:sup>
                            <m:r>
                              <a:rPr lang="en-US" altLang="zh-CN" sz="1400" b="1" i="1" dirty="0" smtClean="0">
                                <a:solidFill>
                                  <a:srgbClr val="FFA401"/>
                                </a:solidFill>
                                <a:latin typeface="Cambria Math" panose="02040503050406030204" pitchFamily="18" charset="0"/>
                              </a:rPr>
                              <m:t>𝒎</m:t>
                            </m:r>
                          </m:sup>
                        </m:sSubSup>
                        <m:d>
                          <m:dPr>
                            <m:ctrlPr>
                              <a:rPr lang="en-US" altLang="zh-CN" sz="1400" b="0" i="1" dirty="0" smtClean="0">
                                <a:solidFill>
                                  <a:srgbClr val="FFA401"/>
                                </a:solidFill>
                                <a:latin typeface="Cambria Math" panose="02040503050406030204" pitchFamily="18" charset="0"/>
                              </a:rPr>
                            </m:ctrlPr>
                          </m:dPr>
                          <m:e>
                            <m:r>
                              <a:rPr lang="en-US" altLang="zh-CN" sz="1400" b="1" i="1" dirty="0" smtClean="0">
                                <a:solidFill>
                                  <a:srgbClr val="FFA401"/>
                                </a:solidFill>
                                <a:latin typeface="Cambria Math" panose="02040503050406030204" pitchFamily="18" charset="0"/>
                              </a:rPr>
                              <m:t>𝒐</m:t>
                            </m:r>
                          </m:e>
                        </m:d>
                      </m:oMath>
                    </m:oMathPara>
                  </a14:m>
                  <a:endParaRPr lang="zh-CN" altLang="en-US" sz="1400" dirty="0">
                    <a:solidFill>
                      <a:srgbClr val="FFA401"/>
                    </a:solidFill>
                  </a:endParaRPr>
                </a:p>
              </p:txBody>
            </p:sp>
          </mc:Choice>
          <mc:Fallback xmlns="">
            <p:sp>
              <p:nvSpPr>
                <p:cNvPr id="14" name="文本框 13">
                  <a:extLst>
                    <a:ext uri="{FF2B5EF4-FFF2-40B4-BE49-F238E27FC236}">
                      <a16:creationId xmlns:a16="http://schemas.microsoft.com/office/drawing/2014/main" id="{BF97F1F5-B2E0-EE8C-3290-0D5DB699829D}"/>
                    </a:ext>
                  </a:extLst>
                </p:cNvPr>
                <p:cNvSpPr txBox="1">
                  <a:spLocks noRot="1" noChangeAspect="1" noMove="1" noResize="1" noEditPoints="1" noAdjustHandles="1" noChangeArrowheads="1" noChangeShapeType="1" noTextEdit="1"/>
                </p:cNvSpPr>
                <p:nvPr/>
              </p:nvSpPr>
              <p:spPr>
                <a:xfrm>
                  <a:off x="10760268" y="2839095"/>
                  <a:ext cx="1222853" cy="307777"/>
                </a:xfrm>
                <a:prstGeom prst="rect">
                  <a:avLst/>
                </a:prstGeom>
                <a:blipFill>
                  <a:blip r:embed="rId9"/>
                  <a:stretch>
                    <a:fillRect/>
                  </a:stretch>
                </a:blipFill>
              </p:spPr>
              <p:txBody>
                <a:bodyPr/>
                <a:lstStyle/>
                <a:p>
                  <a:r>
                    <a:rPr lang="zh-CN" altLang="en-US">
                      <a:noFill/>
                    </a:rPr>
                    <a:t> </a:t>
                  </a:r>
                </a:p>
              </p:txBody>
            </p:sp>
          </mc:Fallback>
        </mc:AlternateContent>
        <p:cxnSp>
          <p:nvCxnSpPr>
            <p:cNvPr id="15" name="直接箭头连接符 14">
              <a:extLst>
                <a:ext uri="{FF2B5EF4-FFF2-40B4-BE49-F238E27FC236}">
                  <a16:creationId xmlns:a16="http://schemas.microsoft.com/office/drawing/2014/main" id="{D7CF304B-F8CB-7CAA-1710-65342D0CF5F1}"/>
                </a:ext>
              </a:extLst>
            </p:cNvPr>
            <p:cNvCxnSpPr>
              <a:cxnSpLocks/>
            </p:cNvCxnSpPr>
            <p:nvPr/>
          </p:nvCxnSpPr>
          <p:spPr>
            <a:xfrm flipH="1" flipV="1">
              <a:off x="10295266" y="2688247"/>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3C08B8F8-F4A7-2337-584E-159EB19CC404}"/>
                </a:ext>
              </a:extLst>
            </p:cNvPr>
            <p:cNvCxnSpPr/>
            <p:nvPr/>
          </p:nvCxnSpPr>
          <p:spPr>
            <a:xfrm flipH="1" flipV="1">
              <a:off x="10418989" y="2595881"/>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C2764B9C-5B77-F62E-66CD-758E194B971B}"/>
                </a:ext>
              </a:extLst>
            </p:cNvPr>
            <p:cNvCxnSpPr/>
            <p:nvPr/>
          </p:nvCxnSpPr>
          <p:spPr>
            <a:xfrm flipH="1" flipV="1">
              <a:off x="10360325" y="2642611"/>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77483021-F724-E076-849A-7A49D22B6858}"/>
                    </a:ext>
                  </a:extLst>
                </p:cNvPr>
                <p:cNvSpPr txBox="1"/>
                <p:nvPr/>
              </p:nvSpPr>
              <p:spPr>
                <a:xfrm>
                  <a:off x="10295266" y="2242512"/>
                  <a:ext cx="117901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dirty="0" smtClean="0">
                                <a:solidFill>
                                  <a:srgbClr val="92D050"/>
                                </a:solidFill>
                                <a:latin typeface="Cambria Math" panose="02040503050406030204" pitchFamily="18" charset="0"/>
                              </a:rPr>
                            </m:ctrlPr>
                          </m:sSubPr>
                          <m:e>
                            <m:r>
                              <m:rPr>
                                <m:sty m:val="p"/>
                              </m:rPr>
                              <a:rPr lang="en-US" altLang="zh-CN" sz="1400" dirty="0">
                                <a:solidFill>
                                  <a:srgbClr val="92D050"/>
                                </a:solidFill>
                                <a:latin typeface="Cambria Math" panose="02040503050406030204" pitchFamily="18" charset="0"/>
                              </a:rPr>
                              <m:t>I</m:t>
                            </m:r>
                          </m:e>
                          <m:sub>
                            <m:r>
                              <m:rPr>
                                <m:sty m:val="p"/>
                              </m:rPr>
                              <a:rPr lang="en-US" altLang="zh-CN" sz="1400" dirty="0">
                                <a:solidFill>
                                  <a:srgbClr val="92D050"/>
                                </a:solidFill>
                                <a:latin typeface="Cambria Math" panose="02040503050406030204" pitchFamily="18" charset="0"/>
                              </a:rPr>
                              <m:t>o</m:t>
                            </m:r>
                          </m:sub>
                        </m:sSub>
                        <m:d>
                          <m:dPr>
                            <m:ctrlPr>
                              <a:rPr lang="en-US" altLang="zh-CN" sz="1400" i="1" dirty="0">
                                <a:solidFill>
                                  <a:srgbClr val="92D050"/>
                                </a:solidFill>
                                <a:latin typeface="Cambria Math" panose="02040503050406030204" pitchFamily="18" charset="0"/>
                              </a:rPr>
                            </m:ctrlPr>
                          </m:dPr>
                          <m:e>
                            <m:r>
                              <a:rPr lang="en-US" altLang="zh-CN" sz="1400" b="1" i="1" dirty="0" smtClean="0">
                                <a:solidFill>
                                  <a:srgbClr val="92D050"/>
                                </a:solidFill>
                                <a:latin typeface="Cambria Math" panose="02040503050406030204" pitchFamily="18" charset="0"/>
                              </a:rPr>
                              <m:t>𝒐</m:t>
                            </m:r>
                            <m:r>
                              <a:rPr lang="en-US" altLang="zh-CN" sz="1400" i="1" dirty="0">
                                <a:solidFill>
                                  <a:srgbClr val="92D050"/>
                                </a:solidFill>
                                <a:latin typeface="Cambria Math" panose="02040503050406030204" pitchFamily="18" charset="0"/>
                              </a:rPr>
                              <m:t>,</m:t>
                            </m:r>
                            <m:r>
                              <a:rPr lang="en-US" altLang="zh-CN" sz="1400" b="1" i="1" dirty="0" smtClean="0">
                                <a:solidFill>
                                  <a:srgbClr val="92D050"/>
                                </a:solidFill>
                                <a:latin typeface="Cambria Math" panose="02040503050406030204" pitchFamily="18" charset="0"/>
                              </a:rPr>
                              <m:t>𝒎</m:t>
                            </m:r>
                          </m:e>
                        </m:d>
                      </m:oMath>
                    </m:oMathPara>
                  </a14:m>
                  <a:endParaRPr lang="zh-CN" altLang="en-US" sz="1400" dirty="0">
                    <a:solidFill>
                      <a:srgbClr val="92D050"/>
                    </a:solidFill>
                  </a:endParaRPr>
                </a:p>
              </p:txBody>
            </p:sp>
          </mc:Choice>
          <mc:Fallback xmlns="">
            <p:sp>
              <p:nvSpPr>
                <p:cNvPr id="18" name="文本框 17">
                  <a:extLst>
                    <a:ext uri="{FF2B5EF4-FFF2-40B4-BE49-F238E27FC236}">
                      <a16:creationId xmlns:a16="http://schemas.microsoft.com/office/drawing/2014/main" id="{14D939C5-2258-0CAE-AD31-8AAB2EABD6C7}"/>
                    </a:ext>
                  </a:extLst>
                </p:cNvPr>
                <p:cNvSpPr txBox="1">
                  <a:spLocks noRot="1" noChangeAspect="1" noMove="1" noResize="1" noEditPoints="1" noAdjustHandles="1" noChangeArrowheads="1" noChangeShapeType="1" noTextEdit="1"/>
                </p:cNvSpPr>
                <p:nvPr/>
              </p:nvSpPr>
              <p:spPr>
                <a:xfrm>
                  <a:off x="10295266" y="2242512"/>
                  <a:ext cx="1179012" cy="307777"/>
                </a:xfrm>
                <a:prstGeom prst="rect">
                  <a:avLst/>
                </a:prstGeom>
                <a:blipFill>
                  <a:blip r:embed="rId10"/>
                  <a:stretch>
                    <a:fillRect/>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68320466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6399A-1B5B-1074-DA42-F033E3991B5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7E6C293B-88EC-1340-E759-A171693CF480}"/>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重要性采样</a:t>
                </a:r>
                <a14:m>
                  <m:oMath xmlns:m="http://schemas.openxmlformats.org/officeDocument/2006/math">
                    <m:sSub>
                      <m:sSubPr>
                        <m:ctrlPr>
                          <a:rPr lang="en-US" altLang="zh-CN" sz="3200" i="1" dirty="0" smtClean="0">
                            <a:solidFill>
                              <a:schemeClr val="tx1"/>
                            </a:solidFill>
                            <a:latin typeface="Cambria Math" panose="02040503050406030204" pitchFamily="18" charset="0"/>
                          </a:rPr>
                        </m:ctrlPr>
                      </m:sSubPr>
                      <m:e>
                        <m:r>
                          <a:rPr lang="en-US" altLang="zh-CN" sz="3200" i="1" dirty="0">
                            <a:solidFill>
                              <a:schemeClr val="tx1"/>
                            </a:solidFill>
                            <a:latin typeface="Cambria Math" panose="02040503050406030204" pitchFamily="18" charset="0"/>
                          </a:rPr>
                          <m:t>𝐷</m:t>
                        </m:r>
                      </m:e>
                      <m:sub>
                        <m:r>
                          <a:rPr lang="en-US" altLang="zh-CN" sz="3200" i="1" dirty="0">
                            <a:solidFill>
                              <a:schemeClr val="tx1"/>
                            </a:solidFill>
                            <a:latin typeface="Cambria Math" panose="02040503050406030204" pitchFamily="18" charset="0"/>
                          </a:rPr>
                          <m:t>𝑣</m:t>
                        </m:r>
                      </m:sub>
                    </m:sSub>
                    <m:d>
                      <m:dPr>
                        <m:ctrlPr>
                          <a:rPr lang="en-US" altLang="zh-CN" sz="3200" i="1" dirty="0">
                            <a:solidFill>
                              <a:schemeClr val="tx1"/>
                            </a:solidFill>
                            <a:latin typeface="Cambria Math" panose="02040503050406030204" pitchFamily="18" charset="0"/>
                          </a:rPr>
                        </m:ctrlPr>
                      </m:dPr>
                      <m:e>
                        <m:r>
                          <a:rPr lang="en-US" altLang="zh-CN" sz="3200" b="1" i="1" dirty="0">
                            <a:solidFill>
                              <a:schemeClr val="tx1"/>
                            </a:solidFill>
                            <a:latin typeface="Cambria Math" panose="02040503050406030204" pitchFamily="18" charset="0"/>
                          </a:rPr>
                          <m:t>𝒐</m:t>
                        </m:r>
                        <m:r>
                          <a:rPr lang="en-US" altLang="zh-CN" sz="3200" b="1" i="1" dirty="0">
                            <a:solidFill>
                              <a:schemeClr val="tx1"/>
                            </a:solidFill>
                            <a:latin typeface="Cambria Math" panose="02040503050406030204" pitchFamily="18" charset="0"/>
                          </a:rPr>
                          <m:t>,</m:t>
                        </m:r>
                        <m:r>
                          <a:rPr lang="en-US" altLang="zh-CN" sz="3200" i="1" dirty="0">
                            <a:solidFill>
                              <a:schemeClr val="tx1"/>
                            </a:solidFill>
                            <a:latin typeface="Cambria Math" panose="02040503050406030204" pitchFamily="18" charset="0"/>
                          </a:rPr>
                          <m:t> </m:t>
                        </m:r>
                        <m:r>
                          <a:rPr lang="en-US" altLang="zh-CN" sz="3200" b="1" i="1" dirty="0">
                            <a:solidFill>
                              <a:schemeClr val="tx1"/>
                            </a:solidFill>
                            <a:latin typeface="Cambria Math" panose="02040503050406030204" pitchFamily="18" charset="0"/>
                          </a:rPr>
                          <m:t>𝒎</m:t>
                        </m:r>
                      </m:e>
                    </m:d>
                  </m:oMath>
                </a14:m>
                <a:endParaRPr lang="en-US" altLang="zh-CN" dirty="0"/>
              </a:p>
            </p:txBody>
          </p:sp>
        </mc:Choice>
        <mc:Fallback xmlns="">
          <p:sp>
            <p:nvSpPr>
              <p:cNvPr id="13" name="标题 2">
                <a:extLst>
                  <a:ext uri="{FF2B5EF4-FFF2-40B4-BE49-F238E27FC236}">
                    <a16:creationId xmlns:a16="http://schemas.microsoft.com/office/drawing/2014/main" id="{7E6C293B-88EC-1340-E759-A171693CF480}"/>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864" b="-7627"/>
                </a:stretch>
              </a:blipFill>
            </p:spPr>
            <p:txBody>
              <a:bodyPr/>
              <a:lstStyle/>
              <a:p>
                <a:r>
                  <a:rPr lang="zh-CN" altLang="en-US">
                    <a:noFill/>
                  </a:rPr>
                  <a:t> </a:t>
                </a:r>
              </a:p>
            </p:txBody>
          </p:sp>
        </mc:Fallback>
      </mc:AlternateContent>
      <p:sp>
        <p:nvSpPr>
          <p:cNvPr id="63" name="矩形 62">
            <a:extLst>
              <a:ext uri="{FF2B5EF4-FFF2-40B4-BE49-F238E27FC236}">
                <a16:creationId xmlns:a16="http://schemas.microsoft.com/office/drawing/2014/main" id="{A6BEF234-8DC2-3B35-0055-08F38AD61BFA}"/>
              </a:ext>
            </a:extLst>
          </p:cNvPr>
          <p:cNvSpPr/>
          <p:nvPr/>
        </p:nvSpPr>
        <p:spPr>
          <a:xfrm>
            <a:off x="631110" y="1315233"/>
            <a:ext cx="6673652" cy="29862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162C6F83-B1C8-8D7E-656E-DFE595D6746B}"/>
                  </a:ext>
                </a:extLst>
              </p:cNvPr>
              <p:cNvSpPr/>
              <p:nvPr/>
            </p:nvSpPr>
            <p:spPr>
              <a:xfrm>
                <a:off x="478710" y="1144044"/>
                <a:ext cx="6673652" cy="2986232"/>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40000"/>
                  </a:lnSpc>
                </a:pPr>
                <a14:m>
                  <m:oMathPara xmlns:m="http://schemas.openxmlformats.org/officeDocument/2006/math">
                    <m:oMathParaPr>
                      <m:jc m:val="centerGroup"/>
                    </m:oMathParaPr>
                    <m:oMath xmlns:m="http://schemas.openxmlformats.org/officeDocument/2006/math">
                      <m:r>
                        <a:rPr lang="zh-CN" altLang="en-US" sz="1600" dirty="0">
                          <a:solidFill>
                            <a:schemeClr val="tx1"/>
                          </a:solidFill>
                          <a:latin typeface="Cambria Math" panose="02040503050406030204" pitchFamily="18" charset="0"/>
                        </a:rPr>
                        <m:t>可见</m:t>
                      </m:r>
                      <m:r>
                        <a:rPr lang="zh-CN" altLang="en-US" sz="1600" i="1" dirty="0">
                          <a:solidFill>
                            <a:schemeClr val="tx1"/>
                          </a:solidFill>
                          <a:latin typeface="Cambria Math" panose="02040503050406030204" pitchFamily="18" charset="0"/>
                        </a:rPr>
                        <m:t>法线分布函数</m:t>
                      </m:r>
                      <m:r>
                        <a:rPr lang="zh-CN" altLang="en-US" sz="1600" i="1" dirty="0">
                          <a:solidFill>
                            <a:schemeClr val="tx1"/>
                          </a:solidFill>
                          <a:latin typeface="Cambria Math" panose="02040503050406030204" pitchFamily="18" charset="0"/>
                        </a:rPr>
                        <m:t>：</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𝐷</m:t>
                          </m:r>
                        </m:e>
                        <m:sub>
                          <m:r>
                            <a:rPr lang="en-US" altLang="zh-CN" sz="1600" b="0" i="1" dirty="0" smtClean="0">
                              <a:solidFill>
                                <a:schemeClr val="tx1"/>
                              </a:solidFill>
                              <a:latin typeface="Cambria Math" panose="02040503050406030204" pitchFamily="18" charset="0"/>
                            </a:rPr>
                            <m:t>𝑣</m:t>
                          </m:r>
                        </m:sub>
                      </m:sSub>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b="1" i="1" dirty="0" smtClean="0">
                              <a:solidFill>
                                <a:schemeClr val="tx1"/>
                              </a:solidFill>
                              <a:latin typeface="Cambria Math" panose="02040503050406030204" pitchFamily="18" charset="0"/>
                            </a:rPr>
                            <m:t>,</m:t>
                          </m:r>
                          <m:r>
                            <a:rPr lang="en-US" altLang="zh-CN" sz="1600" b="0" i="1" dirty="0" smtClean="0">
                              <a:solidFill>
                                <a:schemeClr val="tx1"/>
                              </a:solidFill>
                              <a:latin typeface="Cambria Math" panose="02040503050406030204" pitchFamily="18" charset="0"/>
                            </a:rPr>
                            <m:t> </m:t>
                          </m:r>
                          <m:r>
                            <a:rPr lang="en-US" altLang="zh-CN" sz="1600" b="1" i="1" dirty="0">
                              <a:solidFill>
                                <a:schemeClr val="tx1"/>
                              </a:solidFill>
                              <a:latin typeface="Cambria Math" panose="02040503050406030204" pitchFamily="18" charset="0"/>
                            </a:rPr>
                            <m:t>𝒎</m:t>
                          </m:r>
                        </m:e>
                      </m:d>
                      <m:r>
                        <a:rPr lang="en-US" altLang="zh-CN" sz="1600" b="0" i="1" dirty="0" smtClean="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d>
                            <m:dPr>
                              <m:begChr m:val="⟨"/>
                              <m:endChr m:val="⟩"/>
                              <m:ctrlPr>
                                <a:rPr lang="en-US" altLang="zh-CN" sz="1600" i="1" dirty="0">
                                  <a:solidFill>
                                    <a:schemeClr val="tx1"/>
                                  </a:solidFill>
                                  <a:latin typeface="Cambria Math" panose="02040503050406030204" pitchFamily="18" charset="0"/>
                                </a:rPr>
                              </m:ctrlPr>
                            </m:dPr>
                            <m:e>
                              <m:sSup>
                                <m:sSupPr>
                                  <m:ctrlPr>
                                    <a:rPr lang="en-US" altLang="zh-CN" sz="1600" b="1" i="1" dirty="0" smtClean="0">
                                      <a:solidFill>
                                        <a:schemeClr val="tx1"/>
                                      </a:solidFill>
                                      <a:latin typeface="Cambria Math" panose="02040503050406030204" pitchFamily="18" charset="0"/>
                                    </a:rPr>
                                  </m:ctrlPr>
                                </m:sSupPr>
                                <m:e>
                                  <m:r>
                                    <a:rPr lang="en-US" altLang="zh-CN" sz="1600" b="1" i="1" dirty="0" smtClean="0">
                                      <a:solidFill>
                                        <a:schemeClr val="tx1"/>
                                      </a:solidFill>
                                      <a:latin typeface="Cambria Math" panose="02040503050406030204" pitchFamily="18" charset="0"/>
                                    </a:rPr>
                                    <m:t>𝒐</m:t>
                                  </m:r>
                                </m:e>
                                <m:sup>
                                  <m:r>
                                    <a:rPr lang="en-US" altLang="zh-CN" sz="1600" b="1" i="1" dirty="0" smtClean="0">
                                      <a:solidFill>
                                        <a:schemeClr val="tx1"/>
                                      </a:solidFill>
                                      <a:latin typeface="Cambria Math" panose="02040503050406030204" pitchFamily="18" charset="0"/>
                                    </a:rPr>
                                    <m:t>+</m:t>
                                  </m:r>
                                </m:sup>
                              </m:sSup>
                              <m:r>
                                <a:rPr lang="en-US" altLang="zh-CN" sz="1600" i="1" dirty="0">
                                  <a:solidFill>
                                    <a:schemeClr val="tx1"/>
                                  </a:solidFill>
                                  <a:latin typeface="Cambria Math" panose="02040503050406030204" pitchFamily="18" charset="0"/>
                                </a:rPr>
                                <m:t>,</m:t>
                              </m:r>
                              <m:r>
                                <a:rPr lang="en-US" altLang="zh-CN" sz="1600" b="1" i="1" dirty="0">
                                  <a:solidFill>
                                    <a:schemeClr val="tx1"/>
                                  </a:solidFill>
                                  <a:latin typeface="Cambria Math" panose="02040503050406030204" pitchFamily="18" charset="0"/>
                                </a:rPr>
                                <m:t>𝒎</m:t>
                              </m:r>
                            </m:e>
                          </m:d>
                          <m:r>
                            <a:rPr lang="en-US" altLang="zh-CN" sz="1600" i="1" dirty="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𝐺</m:t>
                              </m:r>
                            </m:e>
                            <m:sub>
                              <m:r>
                                <a:rPr lang="en-US" altLang="zh-CN" sz="1600" i="1" dirty="0">
                                  <a:solidFill>
                                    <a:schemeClr val="tx1"/>
                                  </a:solidFill>
                                  <a:latin typeface="Cambria Math" panose="02040503050406030204" pitchFamily="18" charset="0"/>
                                </a:rPr>
                                <m:t>1</m:t>
                              </m:r>
                            </m:sub>
                          </m:sSub>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e>
                          </m:d>
                        </m:num>
                        <m:den>
                          <m:d>
                            <m:dPr>
                              <m:begChr m:val="|"/>
                              <m:endChr m:val="|"/>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𝒐</m:t>
                              </m:r>
                              <m:r>
                                <a:rPr lang="en-US" altLang="zh-CN" sz="1600" i="1" dirty="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𝒈</m:t>
                              </m:r>
                            </m:e>
                          </m:d>
                        </m:den>
                      </m:f>
                      <m:r>
                        <a:rPr lang="en-US" altLang="zh-CN" sz="1600" b="0" i="1" dirty="0" smtClean="0">
                          <a:solidFill>
                            <a:schemeClr val="tx1"/>
                          </a:solidFill>
                          <a:latin typeface="Cambria Math" panose="02040503050406030204" pitchFamily="18" charset="0"/>
                        </a:rPr>
                        <m:t> </m:t>
                      </m:r>
                      <m:d>
                        <m:dPr>
                          <m:begChr m:val="["/>
                          <m:endChr m:val="]"/>
                          <m:ctrlPr>
                            <a:rPr lang="en-US" altLang="zh-CN" sz="1600" b="0" i="1" dirty="0" smtClean="0">
                              <a:solidFill>
                                <a:schemeClr val="tx1"/>
                              </a:solidFill>
                              <a:latin typeface="Cambria Math" panose="02040503050406030204" pitchFamily="18" charset="0"/>
                            </a:rPr>
                          </m:ctrlPr>
                        </m:dPr>
                        <m:e>
                          <m:f>
                            <m:fPr>
                              <m:ctrlPr>
                                <a:rPr lang="en-US" altLang="zh-CN" sz="1600" b="0" i="1" dirty="0" smtClean="0">
                                  <a:solidFill>
                                    <a:schemeClr val="tx1"/>
                                  </a:solidFill>
                                  <a:latin typeface="Cambria Math" panose="02040503050406030204" pitchFamily="18" charset="0"/>
                                </a:rPr>
                              </m:ctrlPr>
                            </m:fPr>
                            <m:num>
                              <m:r>
                                <a:rPr lang="en-US" altLang="zh-CN" sz="1600" b="0" i="1" dirty="0" smtClean="0">
                                  <a:solidFill>
                                    <a:schemeClr val="tx1"/>
                                  </a:solidFill>
                                  <a:latin typeface="Cambria Math" panose="02040503050406030204" pitchFamily="18" charset="0"/>
                                </a:rPr>
                                <m:t>1</m:t>
                              </m:r>
                            </m:num>
                            <m:den>
                              <m:r>
                                <a:rPr lang="en-US" altLang="zh-CN" sz="1600" b="0" i="1" dirty="0" smtClean="0">
                                  <a:solidFill>
                                    <a:schemeClr val="tx1"/>
                                  </a:solidFill>
                                  <a:latin typeface="Cambria Math" panose="02040503050406030204" pitchFamily="18" charset="0"/>
                                </a:rPr>
                                <m:t>𝑠𝑟</m:t>
                              </m:r>
                            </m:den>
                          </m:f>
                        </m:e>
                      </m:d>
                    </m:oMath>
                  </m:oMathPara>
                </a14:m>
                <a:endParaRPr lang="en-US" altLang="zh-CN" sz="1600" b="0" dirty="0">
                  <a:solidFill>
                    <a:schemeClr val="tx1"/>
                  </a:solidFill>
                </a:endParaRPr>
              </a:p>
              <a:p>
                <a:pPr>
                  <a:lnSpc>
                    <a:spcPct val="150000"/>
                  </a:lnSpc>
                </a:pPr>
                <a:r>
                  <a:rPr lang="zh-CN" altLang="en-US" sz="1600" dirty="0">
                    <a:solidFill>
                      <a:schemeClr val="tx1"/>
                    </a:solidFill>
                  </a:rPr>
                  <a:t>每单位法线立体角的微面相对面积的可见部分向</a:t>
                </a:r>
                <a14:m>
                  <m:oMath xmlns:m="http://schemas.openxmlformats.org/officeDocument/2006/math">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oMath>
                </a14:m>
                <a:r>
                  <a:rPr lang="zh-CN" altLang="en-US" sz="1600" dirty="0">
                    <a:solidFill>
                      <a:schemeClr val="tx1"/>
                    </a:solidFill>
                  </a:rPr>
                  <a:t>方向投影面积的比例。</a:t>
                </a:r>
                <a:endParaRPr lang="en-US" altLang="zh-CN" sz="1600" dirty="0">
                  <a:solidFill>
                    <a:schemeClr val="tx1"/>
                  </a:solidFill>
                </a:endParaRPr>
              </a:p>
              <a:p>
                <a:pPr>
                  <a:lnSpc>
                    <a:spcPct val="150000"/>
                  </a:lnSpc>
                </a:pPr>
                <a:endParaRPr lang="en-US" altLang="zh-CN" sz="1600" dirty="0">
                  <a:solidFill>
                    <a:schemeClr val="tx1"/>
                  </a:solidFill>
                </a:endParaRPr>
              </a:p>
              <a:p>
                <a:pPr>
                  <a:lnSpc>
                    <a:spcPct val="150000"/>
                  </a:lnSpc>
                </a:pPr>
                <a:r>
                  <a:rPr lang="zh-CN" altLang="en-US" sz="1600" dirty="0">
                    <a:solidFill>
                      <a:schemeClr val="tx1"/>
                    </a:solidFill>
                  </a:rPr>
                  <a:t>        因为</a:t>
                </a:r>
                <a14:m>
                  <m:oMath xmlns:m="http://schemas.openxmlformats.org/officeDocument/2006/math">
                    <m:r>
                      <a:rPr lang="en-US" altLang="zh-CN" sz="1600" i="1" dirty="0" smtClean="0">
                        <a:solidFill>
                          <a:schemeClr val="tx1"/>
                        </a:solidFill>
                        <a:latin typeface="Cambria Math" panose="02040503050406030204" pitchFamily="18" charset="0"/>
                      </a:rPr>
                      <m:t>𝐷</m:t>
                    </m:r>
                    <m:d>
                      <m:dPr>
                        <m:ctrlPr>
                          <a:rPr lang="en-US" altLang="zh-CN" sz="1600" i="1" dirty="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𝒎</m:t>
                        </m:r>
                      </m:e>
                    </m:d>
                  </m:oMath>
                </a14:m>
                <a:r>
                  <a:rPr lang="zh-CN" altLang="en-US" sz="1600" dirty="0">
                    <a:solidFill>
                      <a:schemeClr val="tx1"/>
                    </a:solidFill>
                  </a:rPr>
                  <a:t>是根据截断的椭球推导得出，所以，我们将可见的椭球表面，向</a:t>
                </a:r>
                <a14:m>
                  <m:oMath xmlns:m="http://schemas.openxmlformats.org/officeDocument/2006/math">
                    <m:sSup>
                      <m:sSupPr>
                        <m:ctrlPr>
                          <a:rPr lang="en-US" altLang="zh-CN" sz="1600" b="1" i="1" dirty="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a:solidFill>
                              <a:schemeClr val="tx1"/>
                            </a:solidFill>
                            <a:latin typeface="Cambria Math" panose="02040503050406030204" pitchFamily="18" charset="0"/>
                          </a:rPr>
                          <m:t>+</m:t>
                        </m:r>
                      </m:sup>
                    </m:sSup>
                  </m:oMath>
                </a14:m>
                <a:r>
                  <a:rPr lang="zh-CN" altLang="en-US" sz="1600" dirty="0">
                    <a:solidFill>
                      <a:schemeClr val="tx1"/>
                    </a:solidFill>
                  </a:rPr>
                  <a:t>方向投影，并均匀采样投影面积，而后得到对应法线。这种方式采样对应的法线的概率密度就是</a:t>
                </a:r>
                <a14:m>
                  <m:oMath xmlns:m="http://schemas.openxmlformats.org/officeDocument/2006/math">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𝐷</m:t>
                        </m:r>
                      </m:e>
                      <m:sub>
                        <m:r>
                          <a:rPr lang="en-US" altLang="zh-CN" sz="1600" i="1" dirty="0">
                            <a:solidFill>
                              <a:schemeClr val="tx1"/>
                            </a:solidFill>
                            <a:latin typeface="Cambria Math" panose="02040503050406030204" pitchFamily="18" charset="0"/>
                          </a:rPr>
                          <m:t>𝑣</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b="1"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 </m:t>
                        </m:r>
                        <m:r>
                          <a:rPr lang="en-US" altLang="zh-CN" sz="1600" b="1" i="1" dirty="0">
                            <a:solidFill>
                              <a:schemeClr val="tx1"/>
                            </a:solidFill>
                            <a:latin typeface="Cambria Math" panose="02040503050406030204" pitchFamily="18" charset="0"/>
                          </a:rPr>
                          <m:t>𝒎</m:t>
                        </m:r>
                      </m:e>
                    </m:d>
                  </m:oMath>
                </a14:m>
                <a:r>
                  <a:rPr lang="zh-CN" altLang="en-US" sz="1600" dirty="0">
                    <a:solidFill>
                      <a:schemeClr val="tx1"/>
                    </a:solidFill>
                  </a:rPr>
                  <a:t>。</a:t>
                </a:r>
                <a:endParaRPr lang="en-US" altLang="zh-CN" sz="1600" dirty="0">
                  <a:solidFill>
                    <a:schemeClr val="tx1"/>
                  </a:solidFill>
                </a:endParaRPr>
              </a:p>
              <a:p>
                <a:pPr>
                  <a:lnSpc>
                    <a:spcPct val="150000"/>
                  </a:lnSpc>
                </a:pPr>
                <a:endParaRPr lang="en-US" altLang="zh-CN" sz="1600" dirty="0">
                  <a:solidFill>
                    <a:schemeClr val="tx1"/>
                  </a:solidFill>
                </a:endParaRPr>
              </a:p>
            </p:txBody>
          </p:sp>
        </mc:Choice>
        <mc:Fallback xmlns="">
          <p:sp>
            <p:nvSpPr>
              <p:cNvPr id="64" name="矩形 63">
                <a:extLst>
                  <a:ext uri="{FF2B5EF4-FFF2-40B4-BE49-F238E27FC236}">
                    <a16:creationId xmlns:a16="http://schemas.microsoft.com/office/drawing/2014/main" id="{162C6F83-B1C8-8D7E-656E-DFE595D6746B}"/>
                  </a:ext>
                </a:extLst>
              </p:cNvPr>
              <p:cNvSpPr>
                <a:spLocks noRot="1" noChangeAspect="1" noMove="1" noResize="1" noEditPoints="1" noAdjustHandles="1" noChangeArrowheads="1" noChangeShapeType="1" noTextEdit="1"/>
              </p:cNvSpPr>
              <p:nvPr/>
            </p:nvSpPr>
            <p:spPr>
              <a:xfrm>
                <a:off x="478710" y="1144044"/>
                <a:ext cx="6673652" cy="2986232"/>
              </a:xfrm>
              <a:prstGeom prst="rect">
                <a:avLst/>
              </a:prstGeom>
              <a:blipFill>
                <a:blip r:embed="rId3"/>
                <a:stretch>
                  <a:fillRect l="-456" r="-3467"/>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B4AAE68D-6E3B-7BAE-5FAF-749557680E21}"/>
              </a:ext>
            </a:extLst>
          </p:cNvPr>
          <p:cNvSpPr/>
          <p:nvPr/>
        </p:nvSpPr>
        <p:spPr>
          <a:xfrm>
            <a:off x="7772004" y="1315494"/>
            <a:ext cx="4320195" cy="29862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8B26792A-369B-2BAD-A166-1D2C790BE0E0}"/>
              </a:ext>
            </a:extLst>
          </p:cNvPr>
          <p:cNvSpPr/>
          <p:nvPr/>
        </p:nvSpPr>
        <p:spPr>
          <a:xfrm>
            <a:off x="7638654" y="1144044"/>
            <a:ext cx="4320195" cy="298623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 name="组合 5">
            <a:extLst>
              <a:ext uri="{FF2B5EF4-FFF2-40B4-BE49-F238E27FC236}">
                <a16:creationId xmlns:a16="http://schemas.microsoft.com/office/drawing/2014/main" id="{07F3B864-5F01-ABA2-C320-2D219715B2B8}"/>
              </a:ext>
            </a:extLst>
          </p:cNvPr>
          <p:cNvGrpSpPr/>
          <p:nvPr/>
        </p:nvGrpSpPr>
        <p:grpSpPr>
          <a:xfrm>
            <a:off x="7869231" y="1310720"/>
            <a:ext cx="4322769" cy="2757063"/>
            <a:chOff x="7869231" y="1711553"/>
            <a:chExt cx="4322769" cy="2757063"/>
          </a:xfrm>
        </p:grpSpPr>
        <p:grpSp>
          <p:nvGrpSpPr>
            <p:cNvPr id="7" name="组合 6">
              <a:extLst>
                <a:ext uri="{FF2B5EF4-FFF2-40B4-BE49-F238E27FC236}">
                  <a16:creationId xmlns:a16="http://schemas.microsoft.com/office/drawing/2014/main" id="{E23B5717-20EF-E089-4D70-5229BA516F08}"/>
                </a:ext>
              </a:extLst>
            </p:cNvPr>
            <p:cNvGrpSpPr/>
            <p:nvPr/>
          </p:nvGrpSpPr>
          <p:grpSpPr>
            <a:xfrm>
              <a:off x="8174440" y="1956387"/>
              <a:ext cx="3505629" cy="2091540"/>
              <a:chOff x="7012852" y="1572343"/>
              <a:chExt cx="4052678" cy="2418577"/>
            </a:xfrm>
          </p:grpSpPr>
          <p:sp>
            <p:nvSpPr>
              <p:cNvPr id="19" name="任意多边形: 形状 18">
                <a:extLst>
                  <a:ext uri="{FF2B5EF4-FFF2-40B4-BE49-F238E27FC236}">
                    <a16:creationId xmlns:a16="http://schemas.microsoft.com/office/drawing/2014/main" id="{73FFF5C9-0CF7-1423-120E-03B549F7CC74}"/>
                  </a:ext>
                </a:extLst>
              </p:cNvPr>
              <p:cNvSpPr/>
              <p:nvPr/>
            </p:nvSpPr>
            <p:spPr>
              <a:xfrm>
                <a:off x="9886950" y="3022545"/>
                <a:ext cx="577850" cy="698500"/>
              </a:xfrm>
              <a:custGeom>
                <a:avLst/>
                <a:gdLst>
                  <a:gd name="connsiteX0" fmla="*/ 0 w 552450"/>
                  <a:gd name="connsiteY0" fmla="*/ 0 h 679450"/>
                  <a:gd name="connsiteX1" fmla="*/ 552450 w 552450"/>
                  <a:gd name="connsiteY1" fmla="*/ 679450 h 679450"/>
                  <a:gd name="connsiteX2" fmla="*/ 412750 w 552450"/>
                  <a:gd name="connsiteY2" fmla="*/ 622300 h 679450"/>
                  <a:gd name="connsiteX3" fmla="*/ 323850 w 552450"/>
                  <a:gd name="connsiteY3" fmla="*/ 584200 h 679450"/>
                  <a:gd name="connsiteX4" fmla="*/ 228600 w 552450"/>
                  <a:gd name="connsiteY4" fmla="*/ 530225 h 679450"/>
                  <a:gd name="connsiteX5" fmla="*/ 171450 w 552450"/>
                  <a:gd name="connsiteY5" fmla="*/ 479425 h 679450"/>
                  <a:gd name="connsiteX6" fmla="*/ 127000 w 552450"/>
                  <a:gd name="connsiteY6" fmla="*/ 396875 h 679450"/>
                  <a:gd name="connsiteX7" fmla="*/ 0 w 552450"/>
                  <a:gd name="connsiteY7" fmla="*/ 0 h 67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 h="679450">
                    <a:moveTo>
                      <a:pt x="0" y="0"/>
                    </a:moveTo>
                    <a:lnTo>
                      <a:pt x="552450" y="679450"/>
                    </a:lnTo>
                    <a:lnTo>
                      <a:pt x="412750" y="622300"/>
                    </a:lnTo>
                    <a:lnTo>
                      <a:pt x="323850" y="584200"/>
                    </a:lnTo>
                    <a:lnTo>
                      <a:pt x="228600" y="530225"/>
                    </a:lnTo>
                    <a:lnTo>
                      <a:pt x="171450" y="479425"/>
                    </a:lnTo>
                    <a:lnTo>
                      <a:pt x="127000" y="3968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19">
                <a:extLst>
                  <a:ext uri="{FF2B5EF4-FFF2-40B4-BE49-F238E27FC236}">
                    <a16:creationId xmlns:a16="http://schemas.microsoft.com/office/drawing/2014/main" id="{B8168FEA-E52D-9D50-E1A5-17A42B850C5B}"/>
                  </a:ext>
                </a:extLst>
              </p:cNvPr>
              <p:cNvSpPr/>
              <p:nvPr/>
            </p:nvSpPr>
            <p:spPr>
              <a:xfrm>
                <a:off x="7962900" y="3219395"/>
                <a:ext cx="596952" cy="733425"/>
              </a:xfrm>
              <a:custGeom>
                <a:avLst/>
                <a:gdLst>
                  <a:gd name="connsiteX0" fmla="*/ 0 w 590550"/>
                  <a:gd name="connsiteY0" fmla="*/ 0 h 733425"/>
                  <a:gd name="connsiteX1" fmla="*/ 590550 w 590550"/>
                  <a:gd name="connsiteY1" fmla="*/ 727075 h 733425"/>
                  <a:gd name="connsiteX2" fmla="*/ 523875 w 590550"/>
                  <a:gd name="connsiteY2" fmla="*/ 733425 h 733425"/>
                  <a:gd name="connsiteX3" fmla="*/ 469900 w 590550"/>
                  <a:gd name="connsiteY3" fmla="*/ 730250 h 733425"/>
                  <a:gd name="connsiteX4" fmla="*/ 400050 w 590550"/>
                  <a:gd name="connsiteY4" fmla="*/ 711200 h 733425"/>
                  <a:gd name="connsiteX5" fmla="*/ 336550 w 590550"/>
                  <a:gd name="connsiteY5" fmla="*/ 638175 h 733425"/>
                  <a:gd name="connsiteX6" fmla="*/ 247650 w 590550"/>
                  <a:gd name="connsiteY6" fmla="*/ 511175 h 733425"/>
                  <a:gd name="connsiteX7" fmla="*/ 0 w 590550"/>
                  <a:gd name="connsiteY7" fmla="*/ 0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550" h="733425">
                    <a:moveTo>
                      <a:pt x="0" y="0"/>
                    </a:moveTo>
                    <a:lnTo>
                      <a:pt x="590550" y="727075"/>
                    </a:lnTo>
                    <a:lnTo>
                      <a:pt x="523875" y="733425"/>
                    </a:lnTo>
                    <a:lnTo>
                      <a:pt x="469900" y="730250"/>
                    </a:lnTo>
                    <a:lnTo>
                      <a:pt x="400050" y="711200"/>
                    </a:lnTo>
                    <a:lnTo>
                      <a:pt x="336550" y="638175"/>
                    </a:lnTo>
                    <a:lnTo>
                      <a:pt x="247650" y="5111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a:extLst>
                  <a:ext uri="{FF2B5EF4-FFF2-40B4-BE49-F238E27FC236}">
                    <a16:creationId xmlns:a16="http://schemas.microsoft.com/office/drawing/2014/main" id="{DC87B218-4887-4E6E-4B0E-52B6403DC29A}"/>
                  </a:ext>
                </a:extLst>
              </p:cNvPr>
              <p:cNvSpPr/>
              <p:nvPr/>
            </p:nvSpPr>
            <p:spPr>
              <a:xfrm>
                <a:off x="7609840" y="2948975"/>
                <a:ext cx="3439160" cy="1041945"/>
              </a:xfrm>
              <a:custGeom>
                <a:avLst/>
                <a:gdLst>
                  <a:gd name="connsiteX0" fmla="*/ 0 w 3332480"/>
                  <a:gd name="connsiteY0" fmla="*/ 1041945 h 1041945"/>
                  <a:gd name="connsiteX1" fmla="*/ 279400 w 3332480"/>
                  <a:gd name="connsiteY1" fmla="*/ 218985 h 1041945"/>
                  <a:gd name="connsiteX2" fmla="*/ 868680 w 3332480"/>
                  <a:gd name="connsiteY2" fmla="*/ 1016545 h 1041945"/>
                  <a:gd name="connsiteX3" fmla="*/ 2087880 w 3332480"/>
                  <a:gd name="connsiteY3" fmla="*/ 5625 h 1041945"/>
                  <a:gd name="connsiteX4" fmla="*/ 2494280 w 3332480"/>
                  <a:gd name="connsiteY4" fmla="*/ 620305 h 1041945"/>
                  <a:gd name="connsiteX5" fmla="*/ 3332480 w 3332480"/>
                  <a:gd name="connsiteY5" fmla="*/ 8844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160" h="1041945">
                    <a:moveTo>
                      <a:pt x="0" y="1041945"/>
                    </a:moveTo>
                    <a:cubicBezTo>
                      <a:pt x="67310" y="632581"/>
                      <a:pt x="134620" y="223218"/>
                      <a:pt x="279400" y="218985"/>
                    </a:cubicBezTo>
                    <a:cubicBezTo>
                      <a:pt x="424180" y="214752"/>
                      <a:pt x="567267" y="1052105"/>
                      <a:pt x="868680" y="1016545"/>
                    </a:cubicBezTo>
                    <a:cubicBezTo>
                      <a:pt x="1170093" y="980985"/>
                      <a:pt x="1816947" y="71665"/>
                      <a:pt x="2087880" y="5625"/>
                    </a:cubicBezTo>
                    <a:cubicBezTo>
                      <a:pt x="2358813" y="-60415"/>
                      <a:pt x="2286847" y="473832"/>
                      <a:pt x="2494280" y="620305"/>
                    </a:cubicBezTo>
                    <a:cubicBezTo>
                      <a:pt x="2701713" y="766778"/>
                      <a:pt x="3343487" y="826892"/>
                      <a:pt x="3439160" y="1036865"/>
                    </a:cubicBez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2" name="直接连接符 21">
                <a:extLst>
                  <a:ext uri="{FF2B5EF4-FFF2-40B4-BE49-F238E27FC236}">
                    <a16:creationId xmlns:a16="http://schemas.microsoft.com/office/drawing/2014/main" id="{A9E1AD92-CC69-2B22-33C1-C88EE0419551}"/>
                  </a:ext>
                </a:extLst>
              </p:cNvPr>
              <p:cNvCxnSpPr>
                <a:cxnSpLocks/>
                <a:stCxn id="21" idx="0"/>
              </p:cNvCxnSpPr>
              <p:nvPr/>
            </p:nvCxnSpPr>
            <p:spPr>
              <a:xfrm flipH="1" flipV="1">
                <a:off x="7012852" y="3255565"/>
                <a:ext cx="596988" cy="73535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963A9868-C8F4-B846-7CE7-4E6C75370798}"/>
                  </a:ext>
                </a:extLst>
              </p:cNvPr>
              <p:cNvCxnSpPr>
                <a:cxnSpLocks/>
              </p:cNvCxnSpPr>
              <p:nvPr/>
            </p:nvCxnSpPr>
            <p:spPr>
              <a:xfrm flipH="1" flipV="1">
                <a:off x="7609840" y="2780935"/>
                <a:ext cx="950012" cy="115059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7A50585-B4CF-76D4-7AEA-B18EEFD1F665}"/>
                  </a:ext>
                </a:extLst>
              </p:cNvPr>
              <p:cNvCxnSpPr>
                <a:cxnSpLocks/>
              </p:cNvCxnSpPr>
              <p:nvPr/>
            </p:nvCxnSpPr>
            <p:spPr>
              <a:xfrm flipH="1" flipV="1">
                <a:off x="8847134" y="1760557"/>
                <a:ext cx="1595118" cy="19319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E8FF018F-1A64-E930-FBEE-4375C2A29688}"/>
                  </a:ext>
                </a:extLst>
              </p:cNvPr>
              <p:cNvCxnSpPr>
                <a:cxnSpLocks/>
              </p:cNvCxnSpPr>
              <p:nvPr/>
            </p:nvCxnSpPr>
            <p:spPr>
              <a:xfrm flipV="1">
                <a:off x="7012852" y="1577258"/>
                <a:ext cx="2055740" cy="167830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013EDD0D-EE7D-1D9E-D4DA-CA36AA08F5EA}"/>
                  </a:ext>
                </a:extLst>
              </p:cNvPr>
              <p:cNvCxnSpPr>
                <a:cxnSpLocks/>
              </p:cNvCxnSpPr>
              <p:nvPr/>
            </p:nvCxnSpPr>
            <p:spPr>
              <a:xfrm flipH="1" flipV="1">
                <a:off x="9068592" y="1572343"/>
                <a:ext cx="1996938" cy="241857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9E665D6C-C9F4-B9A7-69B2-98A474C1A775}"/>
                  </a:ext>
                </a:extLst>
              </p:cNvPr>
              <p:cNvCxnSpPr/>
              <p:nvPr/>
            </p:nvCxnSpPr>
            <p:spPr>
              <a:xfrm flipH="1" flipV="1">
                <a:off x="7748072" y="2002651"/>
                <a:ext cx="314960" cy="381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DBA7CC6C-1DEE-7F31-DBC7-1029CCF309ED}"/>
                      </a:ext>
                    </a:extLst>
                  </p:cNvPr>
                  <p:cNvSpPr txBox="1"/>
                  <p:nvPr/>
                </p:nvSpPr>
                <p:spPr>
                  <a:xfrm>
                    <a:off x="7399694" y="1984426"/>
                    <a:ext cx="439977" cy="4270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𝒐</m:t>
                          </m:r>
                        </m:oMath>
                      </m:oMathPara>
                    </a14:m>
                    <a:endParaRPr lang="zh-CN" altLang="en-US" b="1" dirty="0"/>
                  </a:p>
                </p:txBody>
              </p:sp>
            </mc:Choice>
            <mc:Fallback xmlns="">
              <p:sp>
                <p:nvSpPr>
                  <p:cNvPr id="28" name="文本框 27">
                    <a:extLst>
                      <a:ext uri="{FF2B5EF4-FFF2-40B4-BE49-F238E27FC236}">
                        <a16:creationId xmlns:a16="http://schemas.microsoft.com/office/drawing/2014/main" id="{DCC458BA-6E63-B35A-F431-EF82DCDEFD17}"/>
                      </a:ext>
                    </a:extLst>
                  </p:cNvPr>
                  <p:cNvSpPr txBox="1">
                    <a:spLocks noRot="1" noChangeAspect="1" noMove="1" noResize="1" noEditPoints="1" noAdjustHandles="1" noChangeArrowheads="1" noChangeShapeType="1" noTextEdit="1"/>
                  </p:cNvSpPr>
                  <p:nvPr/>
                </p:nvSpPr>
                <p:spPr>
                  <a:xfrm>
                    <a:off x="7399694" y="1984426"/>
                    <a:ext cx="439977" cy="427081"/>
                  </a:xfrm>
                  <a:prstGeom prst="rect">
                    <a:avLst/>
                  </a:prstGeom>
                  <a:blipFill>
                    <a:blip r:embed="rId4"/>
                    <a:stretch>
                      <a:fillRect/>
                    </a:stretch>
                  </a:blipFill>
                </p:spPr>
                <p:txBody>
                  <a:bodyPr/>
                  <a:lstStyle/>
                  <a:p>
                    <a:r>
                      <a:rPr lang="zh-CN" altLang="en-US">
                        <a:noFill/>
                      </a:rPr>
                      <a:t> </a:t>
                    </a:r>
                  </a:p>
                </p:txBody>
              </p:sp>
            </mc:Fallback>
          </mc:AlternateContent>
          <p:cxnSp>
            <p:nvCxnSpPr>
              <p:cNvPr id="29" name="直接箭头连接符 28">
                <a:extLst>
                  <a:ext uri="{FF2B5EF4-FFF2-40B4-BE49-F238E27FC236}">
                    <a16:creationId xmlns:a16="http://schemas.microsoft.com/office/drawing/2014/main" id="{3EB9E710-4E3D-2D50-D1C9-DD0A8A23DCB5}"/>
                  </a:ext>
                </a:extLst>
              </p:cNvPr>
              <p:cNvCxnSpPr>
                <a:cxnSpLocks/>
              </p:cNvCxnSpPr>
              <p:nvPr/>
            </p:nvCxnSpPr>
            <p:spPr>
              <a:xfrm flipH="1" flipV="1">
                <a:off x="7330440" y="3381320"/>
                <a:ext cx="376414" cy="102503"/>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0128A5B6-8020-792F-40D7-3798E025AF54}"/>
                      </a:ext>
                    </a:extLst>
                  </p:cNvPr>
                  <p:cNvSpPr txBox="1"/>
                  <p:nvPr/>
                </p:nvSpPr>
                <p:spPr>
                  <a:xfrm>
                    <a:off x="7356905" y="3073543"/>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31" name="文本框 30">
                    <a:extLst>
                      <a:ext uri="{FF2B5EF4-FFF2-40B4-BE49-F238E27FC236}">
                        <a16:creationId xmlns:a16="http://schemas.microsoft.com/office/drawing/2014/main" id="{63885C98-BD43-B3A4-2AB9-907E2E308DA6}"/>
                      </a:ext>
                    </a:extLst>
                  </p:cNvPr>
                  <p:cNvSpPr txBox="1">
                    <a:spLocks noRot="1" noChangeAspect="1" noMove="1" noResize="1" noEditPoints="1" noAdjustHandles="1" noChangeArrowheads="1" noChangeShapeType="1" noTextEdit="1"/>
                  </p:cNvSpPr>
                  <p:nvPr/>
                </p:nvSpPr>
                <p:spPr>
                  <a:xfrm>
                    <a:off x="7356905" y="3073543"/>
                    <a:ext cx="439977" cy="355902"/>
                  </a:xfrm>
                  <a:prstGeom prst="rect">
                    <a:avLst/>
                  </a:prstGeom>
                  <a:blipFill>
                    <a:blip r:embed="rId5"/>
                    <a:stretch>
                      <a:fillRect/>
                    </a:stretch>
                  </a:blipFill>
                </p:spPr>
                <p:txBody>
                  <a:bodyPr/>
                  <a:lstStyle/>
                  <a:p>
                    <a:r>
                      <a:rPr lang="zh-CN" altLang="en-US">
                        <a:noFill/>
                      </a:rPr>
                      <a:t> </a:t>
                    </a:r>
                  </a:p>
                </p:txBody>
              </p:sp>
            </mc:Fallback>
          </mc:AlternateContent>
          <p:cxnSp>
            <p:nvCxnSpPr>
              <p:cNvPr id="36" name="直接箭头连接符 35">
                <a:extLst>
                  <a:ext uri="{FF2B5EF4-FFF2-40B4-BE49-F238E27FC236}">
                    <a16:creationId xmlns:a16="http://schemas.microsoft.com/office/drawing/2014/main" id="{85B5E436-6D75-04A7-E557-E2047EE9CCDF}"/>
                  </a:ext>
                </a:extLst>
              </p:cNvPr>
              <p:cNvCxnSpPr>
                <a:cxnSpLocks/>
              </p:cNvCxnSpPr>
              <p:nvPr/>
            </p:nvCxnSpPr>
            <p:spPr>
              <a:xfrm flipH="1" flipV="1">
                <a:off x="8895080" y="3162880"/>
                <a:ext cx="261666" cy="269945"/>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51B2609A-A952-C5C3-92F6-E38B5ECDF651}"/>
                      </a:ext>
                    </a:extLst>
                  </p:cNvPr>
                  <p:cNvSpPr txBox="1"/>
                  <p:nvPr/>
                </p:nvSpPr>
                <p:spPr>
                  <a:xfrm>
                    <a:off x="8921819" y="2940720"/>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38" name="文本框 37">
                    <a:extLst>
                      <a:ext uri="{FF2B5EF4-FFF2-40B4-BE49-F238E27FC236}">
                        <a16:creationId xmlns:a16="http://schemas.microsoft.com/office/drawing/2014/main" id="{2198D2F1-0D85-7D20-6DC8-DD4F5BCA04A4}"/>
                      </a:ext>
                    </a:extLst>
                  </p:cNvPr>
                  <p:cNvSpPr txBox="1">
                    <a:spLocks noRot="1" noChangeAspect="1" noMove="1" noResize="1" noEditPoints="1" noAdjustHandles="1" noChangeArrowheads="1" noChangeShapeType="1" noTextEdit="1"/>
                  </p:cNvSpPr>
                  <p:nvPr/>
                </p:nvSpPr>
                <p:spPr>
                  <a:xfrm>
                    <a:off x="8921819" y="2940720"/>
                    <a:ext cx="439977" cy="355902"/>
                  </a:xfrm>
                  <a:prstGeom prst="rect">
                    <a:avLst/>
                  </a:prstGeom>
                  <a:blipFill>
                    <a:blip r:embed="rId6"/>
                    <a:stretch>
                      <a:fillRect/>
                    </a:stretch>
                  </a:blipFill>
                </p:spPr>
                <p:txBody>
                  <a:bodyPr/>
                  <a:lstStyle/>
                  <a:p>
                    <a:r>
                      <a:rPr lang="zh-CN" altLang="en-US">
                        <a:noFill/>
                      </a:rPr>
                      <a:t> </a:t>
                    </a:r>
                  </a:p>
                </p:txBody>
              </p:sp>
            </mc:Fallback>
          </mc:AlternateContent>
          <p:cxnSp>
            <p:nvCxnSpPr>
              <p:cNvPr id="40" name="直接箭头连接符 39">
                <a:extLst>
                  <a:ext uri="{FF2B5EF4-FFF2-40B4-BE49-F238E27FC236}">
                    <a16:creationId xmlns:a16="http://schemas.microsoft.com/office/drawing/2014/main" id="{22B6BC14-A859-C3E6-8FE8-2E02DED4324B}"/>
                  </a:ext>
                </a:extLst>
              </p:cNvPr>
              <p:cNvCxnSpPr>
                <a:cxnSpLocks/>
              </p:cNvCxnSpPr>
              <p:nvPr/>
            </p:nvCxnSpPr>
            <p:spPr>
              <a:xfrm flipV="1">
                <a:off x="10639339" y="3395642"/>
                <a:ext cx="90195" cy="380931"/>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50664615-B607-C5C8-E49D-50A0A79CD5F7}"/>
                      </a:ext>
                    </a:extLst>
                  </p:cNvPr>
                  <p:cNvSpPr txBox="1"/>
                  <p:nvPr/>
                </p:nvSpPr>
                <p:spPr>
                  <a:xfrm>
                    <a:off x="10599935" y="3470335"/>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42" name="文本框 41">
                    <a:extLst>
                      <a:ext uri="{FF2B5EF4-FFF2-40B4-BE49-F238E27FC236}">
                        <a16:creationId xmlns:a16="http://schemas.microsoft.com/office/drawing/2014/main" id="{98861FAA-C48D-6C6E-5C67-B3C32FE14270}"/>
                      </a:ext>
                    </a:extLst>
                  </p:cNvPr>
                  <p:cNvSpPr txBox="1">
                    <a:spLocks noRot="1" noChangeAspect="1" noMove="1" noResize="1" noEditPoints="1" noAdjustHandles="1" noChangeArrowheads="1" noChangeShapeType="1" noTextEdit="1"/>
                  </p:cNvSpPr>
                  <p:nvPr/>
                </p:nvSpPr>
                <p:spPr>
                  <a:xfrm>
                    <a:off x="10599935" y="3470335"/>
                    <a:ext cx="439977" cy="355902"/>
                  </a:xfrm>
                  <a:prstGeom prst="rect">
                    <a:avLst/>
                  </a:prstGeom>
                  <a:blipFill>
                    <a:blip r:embed="rId6"/>
                    <a:stretch>
                      <a:fillRect/>
                    </a:stretch>
                  </a:blipFill>
                </p:spPr>
                <p:txBody>
                  <a:bodyPr/>
                  <a:lstStyle/>
                  <a:p>
                    <a:r>
                      <a:rPr lang="zh-CN" altLang="en-US">
                        <a:noFill/>
                      </a:rPr>
                      <a:t> </a:t>
                    </a:r>
                  </a:p>
                </p:txBody>
              </p:sp>
            </mc:Fallback>
          </mc:AlternateContent>
          <p:cxnSp>
            <p:nvCxnSpPr>
              <p:cNvPr id="43" name="直接连接符 42">
                <a:extLst>
                  <a:ext uri="{FF2B5EF4-FFF2-40B4-BE49-F238E27FC236}">
                    <a16:creationId xmlns:a16="http://schemas.microsoft.com/office/drawing/2014/main" id="{99B5A8F5-A2F7-663C-1947-0D305611E747}"/>
                  </a:ext>
                </a:extLst>
              </p:cNvPr>
              <p:cNvCxnSpPr>
                <a:cxnSpLocks/>
              </p:cNvCxnSpPr>
              <p:nvPr/>
            </p:nvCxnSpPr>
            <p:spPr>
              <a:xfrm>
                <a:off x="7609840" y="3990920"/>
                <a:ext cx="34556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440CE0C-8853-4949-CF62-30BC0122E64B}"/>
                    </a:ext>
                  </a:extLst>
                </p:cNvPr>
                <p:cNvSpPr txBox="1"/>
                <p:nvPr/>
              </p:nvSpPr>
              <p:spPr>
                <a:xfrm>
                  <a:off x="7869231" y="1711553"/>
                  <a:ext cx="1790893"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𝑝𝑟𝑜𝑗𝑒𝑐𝑡𝑒𝑑</m:t>
                        </m:r>
                        <m:r>
                          <a:rPr lang="en-US" altLang="zh-CN" sz="1600" b="0" i="1" smtClean="0">
                            <a:solidFill>
                              <a:schemeClr val="tx1"/>
                            </a:solidFill>
                            <a:latin typeface="Cambria Math" panose="02040503050406030204" pitchFamily="18" charset="0"/>
                          </a:rPr>
                          <m:t> </m:t>
                        </m:r>
                        <m:r>
                          <a:rPr lang="en-US" altLang="zh-CN" sz="1600" b="0" i="1" smtClean="0">
                            <a:solidFill>
                              <a:schemeClr val="tx1"/>
                            </a:solidFill>
                            <a:latin typeface="Cambria Math" panose="02040503050406030204" pitchFamily="18" charset="0"/>
                          </a:rPr>
                          <m:t>𝑎𝑟𝑒𝑎</m:t>
                        </m:r>
                      </m:oMath>
                    </m:oMathPara>
                  </a14:m>
                  <a:endParaRPr lang="en-US" altLang="zh-CN" sz="16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     =</m:t>
                        </m:r>
                        <m:d>
                          <m:dPr>
                            <m:begChr m:val="|"/>
                            <m:endChr m:val="|"/>
                            <m:ctrlPr>
                              <a:rPr lang="en-US" altLang="zh-CN" sz="1600" b="0" i="1" smtClean="0">
                                <a:solidFill>
                                  <a:schemeClr val="tx1"/>
                                </a:solidFill>
                                <a:latin typeface="Cambria Math" panose="02040503050406030204" pitchFamily="18" charset="0"/>
                              </a:rPr>
                            </m:ctrlPr>
                          </m:dPr>
                          <m:e>
                            <m:r>
                              <a:rPr lang="en-US" altLang="zh-CN" sz="1600" b="1" i="1" smtClean="0">
                                <a:latin typeface="Cambria Math" panose="02040503050406030204" pitchFamily="18" charset="0"/>
                              </a:rPr>
                              <m:t>𝒐</m:t>
                            </m:r>
                            <m:r>
                              <a:rPr lang="en-US" altLang="zh-CN" sz="1600" i="1">
                                <a:latin typeface="Cambria Math" panose="02040503050406030204" pitchFamily="18" charset="0"/>
                              </a:rPr>
                              <m:t>⋅</m:t>
                            </m:r>
                            <m:r>
                              <a:rPr lang="en-US" altLang="zh-CN" sz="1600" b="1" i="1" smtClean="0">
                                <a:latin typeface="Cambria Math" panose="02040503050406030204" pitchFamily="18" charset="0"/>
                              </a:rPr>
                              <m:t>𝒈</m:t>
                            </m:r>
                          </m:e>
                        </m:d>
                        <m:r>
                          <a:rPr lang="en-US" altLang="zh-CN" sz="1600" b="0" i="1" smtClean="0">
                            <a:solidFill>
                              <a:schemeClr val="tx1"/>
                            </a:solidFill>
                            <a:latin typeface="Cambria Math" panose="02040503050406030204" pitchFamily="18" charset="0"/>
                          </a:rPr>
                          <m:t> </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𝐴</m:t>
                            </m:r>
                          </m:e>
                          <m:sub>
                            <m:r>
                              <a:rPr lang="en-US" altLang="zh-CN" sz="1600" b="0" i="1" smtClean="0">
                                <a:solidFill>
                                  <a:schemeClr val="tx1"/>
                                </a:solidFill>
                                <a:latin typeface="Cambria Math" panose="02040503050406030204" pitchFamily="18" charset="0"/>
                              </a:rPr>
                              <m:t>𝑀</m:t>
                            </m:r>
                          </m:sub>
                        </m:sSub>
                      </m:oMath>
                    </m:oMathPara>
                  </a14:m>
                  <a:endParaRPr lang="zh-CN" altLang="en-US" sz="1600" dirty="0"/>
                </a:p>
              </p:txBody>
            </p:sp>
          </mc:Choice>
          <mc:Fallback xmlns="">
            <p:sp>
              <p:nvSpPr>
                <p:cNvPr id="8" name="文本框 7">
                  <a:extLst>
                    <a:ext uri="{FF2B5EF4-FFF2-40B4-BE49-F238E27FC236}">
                      <a16:creationId xmlns:a16="http://schemas.microsoft.com/office/drawing/2014/main" id="{A676F0EC-3E78-D4CD-C1ED-4D9A59FC3CCA}"/>
                    </a:ext>
                  </a:extLst>
                </p:cNvPr>
                <p:cNvSpPr txBox="1">
                  <a:spLocks noRot="1" noChangeAspect="1" noMove="1" noResize="1" noEditPoints="1" noAdjustHandles="1" noChangeArrowheads="1" noChangeShapeType="1" noTextEdit="1"/>
                </p:cNvSpPr>
                <p:nvPr/>
              </p:nvSpPr>
              <p:spPr>
                <a:xfrm>
                  <a:off x="7869231" y="1711553"/>
                  <a:ext cx="1790893" cy="584775"/>
                </a:xfrm>
                <a:prstGeom prst="rect">
                  <a:avLst/>
                </a:prstGeom>
                <a:blipFill>
                  <a:blip r:embed="rId7"/>
                  <a:stretch>
                    <a:fillRect b="-20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E72F14E-2A5B-B701-79E6-2397323EFE4F}"/>
                    </a:ext>
                  </a:extLst>
                </p:cNvPr>
                <p:cNvSpPr txBox="1"/>
                <p:nvPr/>
              </p:nvSpPr>
              <p:spPr>
                <a:xfrm>
                  <a:off x="9793292" y="4099284"/>
                  <a:ext cx="17801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𝑀𝑎𝑐𝑟𝑜</m:t>
                        </m:r>
                        <m:r>
                          <a:rPr lang="en-US" altLang="zh-CN" sz="1800" b="0" i="1" smtClean="0">
                            <a:solidFill>
                              <a:schemeClr val="tx1"/>
                            </a:solidFill>
                            <a:latin typeface="Cambria Math" panose="02040503050406030204" pitchFamily="18" charset="0"/>
                          </a:rPr>
                          <m:t> </m:t>
                        </m:r>
                        <m:r>
                          <a:rPr lang="en-US" altLang="zh-CN" sz="1800" b="0" i="1" smtClean="0">
                            <a:solidFill>
                              <a:schemeClr val="tx1"/>
                            </a:solidFill>
                            <a:latin typeface="Cambria Math" panose="02040503050406030204" pitchFamily="18" charset="0"/>
                          </a:rPr>
                          <m:t>𝑆𝑢𝑟𝑓𝑎𝑐𝑒</m:t>
                        </m:r>
                        <m:r>
                          <a:rPr lang="en-US" altLang="zh-CN" sz="1800" b="0" i="1" smtClean="0">
                            <a:solidFill>
                              <a:schemeClr val="tx1"/>
                            </a:solidFill>
                            <a:latin typeface="Cambria Math" panose="02040503050406030204" pitchFamily="18" charset="0"/>
                          </a:rPr>
                          <m:t>  </m:t>
                        </m:r>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𝐴</m:t>
                            </m:r>
                          </m:e>
                          <m:sub>
                            <m:r>
                              <a:rPr lang="en-US" altLang="zh-CN" sz="1800" b="0" i="1" smtClean="0">
                                <a:solidFill>
                                  <a:schemeClr val="tx1"/>
                                </a:solidFill>
                                <a:latin typeface="Cambria Math" panose="02040503050406030204" pitchFamily="18" charset="0"/>
                              </a:rPr>
                              <m:t>𝑀</m:t>
                            </m:r>
                          </m:sub>
                        </m:sSub>
                      </m:oMath>
                    </m:oMathPara>
                  </a14:m>
                  <a:endParaRPr lang="zh-CN" altLang="en-US" dirty="0"/>
                </a:p>
              </p:txBody>
            </p:sp>
          </mc:Choice>
          <mc:Fallback xmlns="">
            <p:sp>
              <p:nvSpPr>
                <p:cNvPr id="9" name="文本框 8">
                  <a:extLst>
                    <a:ext uri="{FF2B5EF4-FFF2-40B4-BE49-F238E27FC236}">
                      <a16:creationId xmlns:a16="http://schemas.microsoft.com/office/drawing/2014/main" id="{77755C37-75CB-02A9-B64C-922BA5F821D9}"/>
                    </a:ext>
                  </a:extLst>
                </p:cNvPr>
                <p:cNvSpPr txBox="1">
                  <a:spLocks noRot="1" noChangeAspect="1" noMove="1" noResize="1" noEditPoints="1" noAdjustHandles="1" noChangeArrowheads="1" noChangeShapeType="1" noTextEdit="1"/>
                </p:cNvSpPr>
                <p:nvPr/>
              </p:nvSpPr>
              <p:spPr>
                <a:xfrm>
                  <a:off x="9793292" y="4099284"/>
                  <a:ext cx="1780198" cy="369332"/>
                </a:xfrm>
                <a:prstGeom prst="rect">
                  <a:avLst/>
                </a:prstGeom>
                <a:blipFill>
                  <a:blip r:embed="rId8"/>
                  <a:stretch>
                    <a:fillRect l="-1027" r="-16438" b="-14754"/>
                  </a:stretch>
                </a:blipFill>
              </p:spPr>
              <p:txBody>
                <a:bodyPr/>
                <a:lstStyle/>
                <a:p>
                  <a:r>
                    <a:rPr lang="zh-CN" altLang="en-US">
                      <a:noFill/>
                    </a:rPr>
                    <a:t> </a:t>
                  </a:r>
                </a:p>
              </p:txBody>
            </p:sp>
          </mc:Fallback>
        </mc:AlternateContent>
        <p:cxnSp>
          <p:nvCxnSpPr>
            <p:cNvPr id="10" name="直接连接符 9">
              <a:extLst>
                <a:ext uri="{FF2B5EF4-FFF2-40B4-BE49-F238E27FC236}">
                  <a16:creationId xmlns:a16="http://schemas.microsoft.com/office/drawing/2014/main" id="{4B194866-3745-4352-423E-FDDD74B6F35C}"/>
                </a:ext>
              </a:extLst>
            </p:cNvPr>
            <p:cNvCxnSpPr>
              <a:cxnSpLocks/>
            </p:cNvCxnSpPr>
            <p:nvPr/>
          </p:nvCxnSpPr>
          <p:spPr>
            <a:xfrm flipH="1">
              <a:off x="10375591" y="2695759"/>
              <a:ext cx="191092" cy="160175"/>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74A19831-FE8A-1F70-BD38-08E206EC4733}"/>
                    </a:ext>
                  </a:extLst>
                </p:cNvPr>
                <p:cNvSpPr txBox="1"/>
                <p:nvPr/>
              </p:nvSpPr>
              <p:spPr>
                <a:xfrm>
                  <a:off x="10405475" y="2494705"/>
                  <a:ext cx="1786525" cy="3250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dirty="0">
                                <a:solidFill>
                                  <a:srgbClr val="00B050"/>
                                </a:solidFill>
                                <a:latin typeface="Cambria Math" panose="02040503050406030204" pitchFamily="18" charset="0"/>
                              </a:rPr>
                            </m:ctrlPr>
                          </m:sSubPr>
                          <m:e>
                            <m:r>
                              <a:rPr lang="en-US" altLang="zh-CN" sz="1400" i="1" dirty="0">
                                <a:solidFill>
                                  <a:srgbClr val="00B050"/>
                                </a:solidFill>
                                <a:latin typeface="Cambria Math" panose="02040503050406030204" pitchFamily="18" charset="0"/>
                              </a:rPr>
                              <m:t>𝐴</m:t>
                            </m:r>
                          </m:e>
                          <m:sub>
                            <m:r>
                              <a:rPr lang="en-US" altLang="zh-CN" sz="1400" i="1" dirty="0">
                                <a:solidFill>
                                  <a:srgbClr val="00B050"/>
                                </a:solidFill>
                                <a:latin typeface="Cambria Math" panose="02040503050406030204" pitchFamily="18" charset="0"/>
                              </a:rPr>
                              <m:t>𝑝𝑟𝑜𝑗𝑒𝑐𝑡𝑒𝑑</m:t>
                            </m:r>
                            <m:r>
                              <a:rPr lang="en-US" altLang="zh-CN" sz="1400" i="1" dirty="0">
                                <a:solidFill>
                                  <a:srgbClr val="00B050"/>
                                </a:solidFill>
                                <a:latin typeface="Cambria Math" panose="02040503050406030204" pitchFamily="18" charset="0"/>
                              </a:rPr>
                              <m:t>_</m:t>
                            </m:r>
                            <m:r>
                              <a:rPr lang="en-US" altLang="zh-CN" sz="1400" i="1" dirty="0">
                                <a:solidFill>
                                  <a:srgbClr val="00B050"/>
                                </a:solidFill>
                                <a:latin typeface="Cambria Math" panose="02040503050406030204" pitchFamily="18" charset="0"/>
                              </a:rPr>
                              <m:t>𝑣𝑖𝑠𝑖𝑏𝑙𝑒</m:t>
                            </m:r>
                          </m:sub>
                        </m:sSub>
                      </m:oMath>
                    </m:oMathPara>
                  </a14:m>
                  <a:endParaRPr lang="zh-CN" altLang="en-US" sz="1400" dirty="0">
                    <a:solidFill>
                      <a:srgbClr val="00B050"/>
                    </a:solidFill>
                  </a:endParaRPr>
                </a:p>
              </p:txBody>
            </p:sp>
          </mc:Choice>
          <mc:Fallback xmlns="">
            <p:sp>
              <p:nvSpPr>
                <p:cNvPr id="11" name="文本框 10">
                  <a:extLst>
                    <a:ext uri="{FF2B5EF4-FFF2-40B4-BE49-F238E27FC236}">
                      <a16:creationId xmlns:a16="http://schemas.microsoft.com/office/drawing/2014/main" id="{003B5F69-FCA2-6390-0A8D-119A5842504C}"/>
                    </a:ext>
                  </a:extLst>
                </p:cNvPr>
                <p:cNvSpPr txBox="1">
                  <a:spLocks noRot="1" noChangeAspect="1" noMove="1" noResize="1" noEditPoints="1" noAdjustHandles="1" noChangeArrowheads="1" noChangeShapeType="1" noTextEdit="1"/>
                </p:cNvSpPr>
                <p:nvPr/>
              </p:nvSpPr>
              <p:spPr>
                <a:xfrm>
                  <a:off x="10405475" y="2494705"/>
                  <a:ext cx="1786525" cy="325089"/>
                </a:xfrm>
                <a:prstGeom prst="rect">
                  <a:avLst/>
                </a:prstGeom>
                <a:blipFill>
                  <a:blip r:embed="rId9"/>
                  <a:stretch>
                    <a:fillRect b="-1852"/>
                  </a:stretch>
                </a:blipFill>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3E50A52E-7111-1420-16BD-78CBC0E15E85}"/>
                </a:ext>
              </a:extLst>
            </p:cNvPr>
            <p:cNvCxnSpPr>
              <a:cxnSpLocks/>
            </p:cNvCxnSpPr>
            <p:nvPr/>
          </p:nvCxnSpPr>
          <p:spPr>
            <a:xfrm flipH="1" flipV="1">
              <a:off x="10600882" y="2973876"/>
              <a:ext cx="709637" cy="859022"/>
            </a:xfrm>
            <a:prstGeom prst="straightConnector1">
              <a:avLst/>
            </a:prstGeom>
            <a:ln w="19050">
              <a:solidFill>
                <a:srgbClr val="FFA40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1099D69-84DA-0441-56A6-A547CEFEA3B6}"/>
                    </a:ext>
                  </a:extLst>
                </p:cNvPr>
                <p:cNvSpPr txBox="1"/>
                <p:nvPr/>
              </p:nvSpPr>
              <p:spPr>
                <a:xfrm>
                  <a:off x="10760268" y="2839095"/>
                  <a:ext cx="1222853"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dirty="0" smtClean="0">
                                <a:solidFill>
                                  <a:srgbClr val="FFA401"/>
                                </a:solidFill>
                                <a:latin typeface="Cambria Math" panose="02040503050406030204" pitchFamily="18" charset="0"/>
                              </a:rPr>
                            </m:ctrlPr>
                          </m:sSubSupPr>
                          <m:e>
                            <m:r>
                              <a:rPr lang="en-US" altLang="zh-CN" sz="1400" b="0" i="1" dirty="0" smtClean="0">
                                <a:solidFill>
                                  <a:srgbClr val="FFA401"/>
                                </a:solidFill>
                                <a:latin typeface="Cambria Math" panose="02040503050406030204" pitchFamily="18" charset="0"/>
                              </a:rPr>
                              <m:t>𝐿</m:t>
                            </m:r>
                          </m:e>
                          <m:sub>
                            <m:r>
                              <a:rPr lang="en-US" altLang="zh-CN" sz="1400" b="0" i="1" dirty="0" smtClean="0">
                                <a:solidFill>
                                  <a:srgbClr val="FFA401"/>
                                </a:solidFill>
                                <a:latin typeface="Cambria Math" panose="02040503050406030204" pitchFamily="18" charset="0"/>
                              </a:rPr>
                              <m:t>𝑜</m:t>
                            </m:r>
                          </m:sub>
                          <m:sup>
                            <m:r>
                              <a:rPr lang="en-US" altLang="zh-CN" sz="1400" b="1" i="1" dirty="0" smtClean="0">
                                <a:solidFill>
                                  <a:srgbClr val="FFA401"/>
                                </a:solidFill>
                                <a:latin typeface="Cambria Math" panose="02040503050406030204" pitchFamily="18" charset="0"/>
                              </a:rPr>
                              <m:t>𝒎</m:t>
                            </m:r>
                          </m:sup>
                        </m:sSubSup>
                        <m:d>
                          <m:dPr>
                            <m:ctrlPr>
                              <a:rPr lang="en-US" altLang="zh-CN" sz="1400" b="0" i="1" dirty="0" smtClean="0">
                                <a:solidFill>
                                  <a:srgbClr val="FFA401"/>
                                </a:solidFill>
                                <a:latin typeface="Cambria Math" panose="02040503050406030204" pitchFamily="18" charset="0"/>
                              </a:rPr>
                            </m:ctrlPr>
                          </m:dPr>
                          <m:e>
                            <m:r>
                              <a:rPr lang="en-US" altLang="zh-CN" sz="1400" b="1" i="1" dirty="0" smtClean="0">
                                <a:solidFill>
                                  <a:srgbClr val="FFA401"/>
                                </a:solidFill>
                                <a:latin typeface="Cambria Math" panose="02040503050406030204" pitchFamily="18" charset="0"/>
                              </a:rPr>
                              <m:t>𝒐</m:t>
                            </m:r>
                          </m:e>
                        </m:d>
                      </m:oMath>
                    </m:oMathPara>
                  </a14:m>
                  <a:endParaRPr lang="zh-CN" altLang="en-US" sz="1400" dirty="0">
                    <a:solidFill>
                      <a:srgbClr val="FFA401"/>
                    </a:solidFill>
                  </a:endParaRPr>
                </a:p>
              </p:txBody>
            </p:sp>
          </mc:Choice>
          <mc:Fallback xmlns="">
            <p:sp>
              <p:nvSpPr>
                <p:cNvPr id="14" name="文本框 13">
                  <a:extLst>
                    <a:ext uri="{FF2B5EF4-FFF2-40B4-BE49-F238E27FC236}">
                      <a16:creationId xmlns:a16="http://schemas.microsoft.com/office/drawing/2014/main" id="{BF97F1F5-B2E0-EE8C-3290-0D5DB699829D}"/>
                    </a:ext>
                  </a:extLst>
                </p:cNvPr>
                <p:cNvSpPr txBox="1">
                  <a:spLocks noRot="1" noChangeAspect="1" noMove="1" noResize="1" noEditPoints="1" noAdjustHandles="1" noChangeArrowheads="1" noChangeShapeType="1" noTextEdit="1"/>
                </p:cNvSpPr>
                <p:nvPr/>
              </p:nvSpPr>
              <p:spPr>
                <a:xfrm>
                  <a:off x="10760268" y="2839095"/>
                  <a:ext cx="1222853" cy="307777"/>
                </a:xfrm>
                <a:prstGeom prst="rect">
                  <a:avLst/>
                </a:prstGeom>
                <a:blipFill>
                  <a:blip r:embed="rId10"/>
                  <a:stretch>
                    <a:fillRect/>
                  </a:stretch>
                </a:blipFill>
              </p:spPr>
              <p:txBody>
                <a:bodyPr/>
                <a:lstStyle/>
                <a:p>
                  <a:r>
                    <a:rPr lang="zh-CN" altLang="en-US">
                      <a:noFill/>
                    </a:rPr>
                    <a:t> </a:t>
                  </a:r>
                </a:p>
              </p:txBody>
            </p:sp>
          </mc:Fallback>
        </mc:AlternateContent>
        <p:cxnSp>
          <p:nvCxnSpPr>
            <p:cNvPr id="15" name="直接箭头连接符 14">
              <a:extLst>
                <a:ext uri="{FF2B5EF4-FFF2-40B4-BE49-F238E27FC236}">
                  <a16:creationId xmlns:a16="http://schemas.microsoft.com/office/drawing/2014/main" id="{71F2946A-F980-A165-41EC-B2E1567E8215}"/>
                </a:ext>
              </a:extLst>
            </p:cNvPr>
            <p:cNvCxnSpPr>
              <a:cxnSpLocks/>
            </p:cNvCxnSpPr>
            <p:nvPr/>
          </p:nvCxnSpPr>
          <p:spPr>
            <a:xfrm flipH="1" flipV="1">
              <a:off x="10295266" y="2688247"/>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E9CF8658-31B8-2EF3-3E6B-8755237D9959}"/>
                </a:ext>
              </a:extLst>
            </p:cNvPr>
            <p:cNvCxnSpPr/>
            <p:nvPr/>
          </p:nvCxnSpPr>
          <p:spPr>
            <a:xfrm flipH="1" flipV="1">
              <a:off x="10418989" y="2595881"/>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2BEC59BB-6171-3FD9-9995-9A3A7572983C}"/>
                </a:ext>
              </a:extLst>
            </p:cNvPr>
            <p:cNvCxnSpPr/>
            <p:nvPr/>
          </p:nvCxnSpPr>
          <p:spPr>
            <a:xfrm flipH="1" flipV="1">
              <a:off x="10360325" y="2642611"/>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447D0EB5-9DEF-7660-0BF2-4FCA02E565BC}"/>
                    </a:ext>
                  </a:extLst>
                </p:cNvPr>
                <p:cNvSpPr txBox="1"/>
                <p:nvPr/>
              </p:nvSpPr>
              <p:spPr>
                <a:xfrm>
                  <a:off x="10295266" y="2242512"/>
                  <a:ext cx="117901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dirty="0" smtClean="0">
                                <a:solidFill>
                                  <a:srgbClr val="92D050"/>
                                </a:solidFill>
                                <a:latin typeface="Cambria Math" panose="02040503050406030204" pitchFamily="18" charset="0"/>
                              </a:rPr>
                            </m:ctrlPr>
                          </m:sSubPr>
                          <m:e>
                            <m:r>
                              <m:rPr>
                                <m:sty m:val="p"/>
                              </m:rPr>
                              <a:rPr lang="en-US" altLang="zh-CN" sz="1400" dirty="0">
                                <a:solidFill>
                                  <a:srgbClr val="92D050"/>
                                </a:solidFill>
                                <a:latin typeface="Cambria Math" panose="02040503050406030204" pitchFamily="18" charset="0"/>
                              </a:rPr>
                              <m:t>I</m:t>
                            </m:r>
                          </m:e>
                          <m:sub>
                            <m:r>
                              <m:rPr>
                                <m:sty m:val="p"/>
                              </m:rPr>
                              <a:rPr lang="en-US" altLang="zh-CN" sz="1400" dirty="0">
                                <a:solidFill>
                                  <a:srgbClr val="92D050"/>
                                </a:solidFill>
                                <a:latin typeface="Cambria Math" panose="02040503050406030204" pitchFamily="18" charset="0"/>
                              </a:rPr>
                              <m:t>o</m:t>
                            </m:r>
                          </m:sub>
                        </m:sSub>
                        <m:d>
                          <m:dPr>
                            <m:ctrlPr>
                              <a:rPr lang="en-US" altLang="zh-CN" sz="1400" i="1" dirty="0">
                                <a:solidFill>
                                  <a:srgbClr val="92D050"/>
                                </a:solidFill>
                                <a:latin typeface="Cambria Math" panose="02040503050406030204" pitchFamily="18" charset="0"/>
                              </a:rPr>
                            </m:ctrlPr>
                          </m:dPr>
                          <m:e>
                            <m:r>
                              <a:rPr lang="en-US" altLang="zh-CN" sz="1400" b="1" i="1" dirty="0" smtClean="0">
                                <a:solidFill>
                                  <a:srgbClr val="92D050"/>
                                </a:solidFill>
                                <a:latin typeface="Cambria Math" panose="02040503050406030204" pitchFamily="18" charset="0"/>
                              </a:rPr>
                              <m:t>𝒐</m:t>
                            </m:r>
                            <m:r>
                              <a:rPr lang="en-US" altLang="zh-CN" sz="1400" i="1" dirty="0">
                                <a:solidFill>
                                  <a:srgbClr val="92D050"/>
                                </a:solidFill>
                                <a:latin typeface="Cambria Math" panose="02040503050406030204" pitchFamily="18" charset="0"/>
                              </a:rPr>
                              <m:t>,</m:t>
                            </m:r>
                            <m:r>
                              <a:rPr lang="en-US" altLang="zh-CN" sz="1400" b="1" i="1" dirty="0" smtClean="0">
                                <a:solidFill>
                                  <a:srgbClr val="92D050"/>
                                </a:solidFill>
                                <a:latin typeface="Cambria Math" panose="02040503050406030204" pitchFamily="18" charset="0"/>
                              </a:rPr>
                              <m:t>𝒎</m:t>
                            </m:r>
                          </m:e>
                        </m:d>
                      </m:oMath>
                    </m:oMathPara>
                  </a14:m>
                  <a:endParaRPr lang="zh-CN" altLang="en-US" sz="1400" dirty="0">
                    <a:solidFill>
                      <a:srgbClr val="92D050"/>
                    </a:solidFill>
                  </a:endParaRPr>
                </a:p>
              </p:txBody>
            </p:sp>
          </mc:Choice>
          <mc:Fallback xmlns="">
            <p:sp>
              <p:nvSpPr>
                <p:cNvPr id="18" name="文本框 17">
                  <a:extLst>
                    <a:ext uri="{FF2B5EF4-FFF2-40B4-BE49-F238E27FC236}">
                      <a16:creationId xmlns:a16="http://schemas.microsoft.com/office/drawing/2014/main" id="{14D939C5-2258-0CAE-AD31-8AAB2EABD6C7}"/>
                    </a:ext>
                  </a:extLst>
                </p:cNvPr>
                <p:cNvSpPr txBox="1">
                  <a:spLocks noRot="1" noChangeAspect="1" noMove="1" noResize="1" noEditPoints="1" noAdjustHandles="1" noChangeArrowheads="1" noChangeShapeType="1" noTextEdit="1"/>
                </p:cNvSpPr>
                <p:nvPr/>
              </p:nvSpPr>
              <p:spPr>
                <a:xfrm>
                  <a:off x="10295266" y="2242512"/>
                  <a:ext cx="1179012" cy="307777"/>
                </a:xfrm>
                <a:prstGeom prst="rect">
                  <a:avLst/>
                </a:prstGeom>
                <a:blipFill>
                  <a:blip r:embed="rId11"/>
                  <a:stretch>
                    <a:fillRect/>
                  </a:stretch>
                </a:blipFill>
              </p:spPr>
              <p:txBody>
                <a:bodyPr/>
                <a:lstStyle/>
                <a:p>
                  <a:r>
                    <a:rPr lang="zh-CN" altLang="en-US">
                      <a:noFill/>
                    </a:rPr>
                    <a:t> </a:t>
                  </a:r>
                </a:p>
              </p:txBody>
            </p:sp>
          </mc:Fallback>
        </mc:AlternateContent>
      </p:grpSp>
      <p:pic>
        <p:nvPicPr>
          <p:cNvPr id="5" name="图片 4">
            <a:extLst>
              <a:ext uri="{FF2B5EF4-FFF2-40B4-BE49-F238E27FC236}">
                <a16:creationId xmlns:a16="http://schemas.microsoft.com/office/drawing/2014/main" id="{A2CBB87D-84DF-D0A0-278B-D7402A2D246C}"/>
              </a:ext>
            </a:extLst>
          </p:cNvPr>
          <p:cNvPicPr>
            <a:picLocks noChangeAspect="1"/>
          </p:cNvPicPr>
          <p:nvPr/>
        </p:nvPicPr>
        <p:blipFill>
          <a:blip r:embed="rId12"/>
          <a:stretch>
            <a:fillRect/>
          </a:stretch>
        </p:blipFill>
        <p:spPr>
          <a:xfrm>
            <a:off x="898332" y="4667646"/>
            <a:ext cx="3536204" cy="1750242"/>
          </a:xfrm>
          <a:prstGeom prst="rect">
            <a:avLst/>
          </a:prstGeom>
        </p:spPr>
      </p:pic>
      <p:pic>
        <p:nvPicPr>
          <p:cNvPr id="32" name="图片 31">
            <a:extLst>
              <a:ext uri="{FF2B5EF4-FFF2-40B4-BE49-F238E27FC236}">
                <a16:creationId xmlns:a16="http://schemas.microsoft.com/office/drawing/2014/main" id="{6596A165-7DFC-9797-7242-3B2A9C8BC9E5}"/>
              </a:ext>
            </a:extLst>
          </p:cNvPr>
          <p:cNvPicPr>
            <a:picLocks noChangeAspect="1"/>
          </p:cNvPicPr>
          <p:nvPr/>
        </p:nvPicPr>
        <p:blipFill>
          <a:blip r:embed="rId13"/>
          <a:stretch>
            <a:fillRect/>
          </a:stretch>
        </p:blipFill>
        <p:spPr>
          <a:xfrm>
            <a:off x="5853061" y="4446283"/>
            <a:ext cx="4608262" cy="2097500"/>
          </a:xfrm>
          <a:prstGeom prst="rect">
            <a:avLst/>
          </a:prstGeom>
        </p:spPr>
      </p:pic>
    </p:spTree>
    <p:extLst>
      <p:ext uri="{BB962C8B-B14F-4D97-AF65-F5344CB8AC3E}">
        <p14:creationId xmlns:p14="http://schemas.microsoft.com/office/powerpoint/2010/main" val="272035996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75CE5-DAFD-6198-848D-A5C0B27C7ED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D66756B4-0D38-0D4F-F0AC-E653BC860FF8}"/>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重要性采样</a:t>
                </a:r>
                <a14:m>
                  <m:oMath xmlns:m="http://schemas.openxmlformats.org/officeDocument/2006/math">
                    <m:sSub>
                      <m:sSubPr>
                        <m:ctrlPr>
                          <a:rPr lang="en-US" altLang="zh-CN" sz="3200" i="1" dirty="0" smtClean="0">
                            <a:solidFill>
                              <a:schemeClr val="tx1"/>
                            </a:solidFill>
                            <a:latin typeface="Cambria Math" panose="02040503050406030204" pitchFamily="18" charset="0"/>
                          </a:rPr>
                        </m:ctrlPr>
                      </m:sSubPr>
                      <m:e>
                        <m:r>
                          <a:rPr lang="en-US" altLang="zh-CN" sz="3200" i="1" dirty="0">
                            <a:solidFill>
                              <a:schemeClr val="tx1"/>
                            </a:solidFill>
                            <a:latin typeface="Cambria Math" panose="02040503050406030204" pitchFamily="18" charset="0"/>
                          </a:rPr>
                          <m:t>𝐷</m:t>
                        </m:r>
                      </m:e>
                      <m:sub>
                        <m:r>
                          <a:rPr lang="en-US" altLang="zh-CN" sz="3200" i="1" dirty="0">
                            <a:solidFill>
                              <a:schemeClr val="tx1"/>
                            </a:solidFill>
                            <a:latin typeface="Cambria Math" panose="02040503050406030204" pitchFamily="18" charset="0"/>
                          </a:rPr>
                          <m:t>𝑣</m:t>
                        </m:r>
                      </m:sub>
                    </m:sSub>
                    <m:d>
                      <m:dPr>
                        <m:ctrlPr>
                          <a:rPr lang="en-US" altLang="zh-CN" sz="3200" i="1" dirty="0">
                            <a:solidFill>
                              <a:schemeClr val="tx1"/>
                            </a:solidFill>
                            <a:latin typeface="Cambria Math" panose="02040503050406030204" pitchFamily="18" charset="0"/>
                          </a:rPr>
                        </m:ctrlPr>
                      </m:dPr>
                      <m:e>
                        <m:r>
                          <a:rPr lang="en-US" altLang="zh-CN" sz="3200" b="1" i="1" dirty="0">
                            <a:solidFill>
                              <a:schemeClr val="tx1"/>
                            </a:solidFill>
                            <a:latin typeface="Cambria Math" panose="02040503050406030204" pitchFamily="18" charset="0"/>
                          </a:rPr>
                          <m:t>𝒐</m:t>
                        </m:r>
                        <m:r>
                          <a:rPr lang="en-US" altLang="zh-CN" sz="3200" b="1" i="1" dirty="0">
                            <a:solidFill>
                              <a:schemeClr val="tx1"/>
                            </a:solidFill>
                            <a:latin typeface="Cambria Math" panose="02040503050406030204" pitchFamily="18" charset="0"/>
                          </a:rPr>
                          <m:t>,</m:t>
                        </m:r>
                        <m:r>
                          <a:rPr lang="en-US" altLang="zh-CN" sz="3200" i="1" dirty="0">
                            <a:solidFill>
                              <a:schemeClr val="tx1"/>
                            </a:solidFill>
                            <a:latin typeface="Cambria Math" panose="02040503050406030204" pitchFamily="18" charset="0"/>
                          </a:rPr>
                          <m:t> </m:t>
                        </m:r>
                        <m:r>
                          <a:rPr lang="en-US" altLang="zh-CN" sz="3200" b="1" i="1" dirty="0">
                            <a:solidFill>
                              <a:schemeClr val="tx1"/>
                            </a:solidFill>
                            <a:latin typeface="Cambria Math" panose="02040503050406030204" pitchFamily="18" charset="0"/>
                          </a:rPr>
                          <m:t>𝒎</m:t>
                        </m:r>
                      </m:e>
                    </m:d>
                  </m:oMath>
                </a14:m>
                <a:endParaRPr lang="en-US" altLang="zh-CN" dirty="0"/>
              </a:p>
            </p:txBody>
          </p:sp>
        </mc:Choice>
        <mc:Fallback xmlns="">
          <p:sp>
            <p:nvSpPr>
              <p:cNvPr id="13" name="标题 2">
                <a:extLst>
                  <a:ext uri="{FF2B5EF4-FFF2-40B4-BE49-F238E27FC236}">
                    <a16:creationId xmlns:a16="http://schemas.microsoft.com/office/drawing/2014/main" id="{D66756B4-0D38-0D4F-F0AC-E653BC860FF8}"/>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864" b="-7627"/>
                </a:stretch>
              </a:blipFill>
            </p:spPr>
            <p:txBody>
              <a:bodyPr/>
              <a:lstStyle/>
              <a:p>
                <a:r>
                  <a:rPr lang="zh-CN" altLang="en-US">
                    <a:noFill/>
                  </a:rPr>
                  <a:t> </a:t>
                </a:r>
              </a:p>
            </p:txBody>
          </p:sp>
        </mc:Fallback>
      </mc:AlternateContent>
      <p:sp>
        <p:nvSpPr>
          <p:cNvPr id="63" name="矩形 62">
            <a:extLst>
              <a:ext uri="{FF2B5EF4-FFF2-40B4-BE49-F238E27FC236}">
                <a16:creationId xmlns:a16="http://schemas.microsoft.com/office/drawing/2014/main" id="{9D163B4B-3283-69F5-938D-265CA0C49314}"/>
              </a:ext>
            </a:extLst>
          </p:cNvPr>
          <p:cNvSpPr/>
          <p:nvPr/>
        </p:nvSpPr>
        <p:spPr>
          <a:xfrm>
            <a:off x="631110" y="1315233"/>
            <a:ext cx="6673652" cy="29862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104E62D4-42C5-18D2-05E8-6C5FD9CA383F}"/>
                  </a:ext>
                </a:extLst>
              </p:cNvPr>
              <p:cNvSpPr/>
              <p:nvPr/>
            </p:nvSpPr>
            <p:spPr>
              <a:xfrm>
                <a:off x="478710" y="1144044"/>
                <a:ext cx="6673652" cy="2986232"/>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40000"/>
                  </a:lnSpc>
                </a:pPr>
                <a:r>
                  <a:rPr lang="zh-CN" altLang="en-US" sz="1600" dirty="0">
                    <a:solidFill>
                      <a:schemeClr val="tx1"/>
                    </a:solidFill>
                  </a:rPr>
                  <a:t>        因为椭球是从球体根据</a:t>
                </a:r>
                <a14:m>
                  <m:oMath xmlns:m="http://schemas.openxmlformats.org/officeDocument/2006/math">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oMath>
                </a14:m>
                <a:r>
                  <a:rPr lang="zh-CN" altLang="en-US" sz="1600" dirty="0">
                    <a:solidFill>
                      <a:schemeClr val="tx1"/>
                    </a:solidFill>
                  </a:rPr>
                  <a:t>与</a:t>
                </a:r>
                <a14:m>
                  <m:oMath xmlns:m="http://schemas.openxmlformats.org/officeDocument/2006/math">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m:rPr>
                            <m:sty m:val="p"/>
                          </m:rPr>
                          <a:rPr lang="en-US" altLang="zh-CN" sz="1600" i="1" dirty="0" smtClean="0">
                            <a:solidFill>
                              <a:schemeClr val="tx1"/>
                            </a:solidFill>
                            <a:latin typeface="Cambria Math" panose="02040503050406030204" pitchFamily="18" charset="0"/>
                          </a:rPr>
                          <m:t>z</m:t>
                        </m:r>
                      </m:sub>
                    </m:sSub>
                  </m:oMath>
                </a14:m>
                <a:r>
                  <a:rPr lang="zh-CN" altLang="en-US" sz="1600" dirty="0">
                    <a:solidFill>
                      <a:schemeClr val="tx1"/>
                    </a:solidFill>
                  </a:rPr>
                  <a:t>参数拉伸得到的，所以为了简化采样过程，我们可以根据粗糙度，将椭球以及观察方向</a:t>
                </a:r>
                <a14:m>
                  <m:oMath xmlns:m="http://schemas.openxmlformats.org/officeDocument/2006/math">
                    <m:r>
                      <a:rPr lang="en-US" altLang="zh-CN" sz="1600" b="1" i="1" dirty="0">
                        <a:solidFill>
                          <a:schemeClr val="tx1"/>
                        </a:solidFill>
                        <a:latin typeface="Cambria Math" panose="02040503050406030204" pitchFamily="18" charset="0"/>
                      </a:rPr>
                      <m:t>𝒐</m:t>
                    </m:r>
                  </m:oMath>
                </a14:m>
                <a:r>
                  <a:rPr lang="zh-CN" altLang="en-US" sz="1600" dirty="0">
                    <a:solidFill>
                      <a:schemeClr val="tx1"/>
                    </a:solidFill>
                  </a:rPr>
                  <a:t>拉伸回原来的球体，并投影到观察方向，而后均匀采样投影面积，计算对应法线，最后再根据粗糙度参数，将球体上采样的法线拉伸到对应的椭球。</a:t>
                </a:r>
                <a:endParaRPr lang="en-US" altLang="zh-CN" sz="1600" dirty="0">
                  <a:solidFill>
                    <a:schemeClr val="tx1"/>
                  </a:solidFill>
                </a:endParaRPr>
              </a:p>
              <a:p>
                <a:pPr>
                  <a:lnSpc>
                    <a:spcPct val="140000"/>
                  </a:lnSpc>
                </a:pPr>
                <a:r>
                  <a:rPr lang="zh-CN" altLang="en-US" sz="1600" dirty="0">
                    <a:solidFill>
                      <a:schemeClr val="tx1"/>
                    </a:solidFill>
                  </a:rPr>
                  <a:t>        椭球是由球体拉伸</a:t>
                </a:r>
                <a14:m>
                  <m:oMath xmlns:m="http://schemas.openxmlformats.org/officeDocument/2006/math">
                    <m:f>
                      <m:fPr>
                        <m:ctrlPr>
                          <a:rPr lang="en-US" altLang="zh-CN" sz="1600" b="0" i="1" dirty="0" smtClean="0">
                            <a:solidFill>
                              <a:schemeClr val="tx1"/>
                            </a:solidFill>
                            <a:latin typeface="Cambria Math" panose="02040503050406030204" pitchFamily="18" charset="0"/>
                          </a:rPr>
                        </m:ctrlPr>
                      </m:fPr>
                      <m:num>
                        <m:r>
                          <a:rPr lang="en-US" altLang="zh-CN" sz="1600" b="0" i="0" dirty="0" smtClean="0">
                            <a:solidFill>
                              <a:schemeClr val="tx1"/>
                            </a:solidFill>
                            <a:latin typeface="Cambria Math" panose="02040503050406030204" pitchFamily="18" charset="0"/>
                          </a:rPr>
                          <m:t>1</m:t>
                        </m:r>
                      </m:num>
                      <m:den>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Sub>
                      </m:den>
                    </m:f>
                    <m:r>
                      <a:rPr lang="zh-CN" altLang="en-US" sz="1600" i="1" dirty="0">
                        <a:solidFill>
                          <a:schemeClr val="tx1"/>
                        </a:solidFill>
                        <a:latin typeface="Cambria Math" panose="02040503050406030204" pitchFamily="18" charset="0"/>
                      </a:rPr>
                      <m:t>、</m:t>
                    </m:r>
                    <m:f>
                      <m:fPr>
                        <m:ctrlPr>
                          <a:rPr lang="en-US" altLang="zh-CN" sz="1600" i="1" dirty="0">
                            <a:solidFill>
                              <a:schemeClr val="tx1"/>
                            </a:solidFill>
                            <a:latin typeface="Cambria Math" panose="02040503050406030204" pitchFamily="18" charset="0"/>
                          </a:rPr>
                        </m:ctrlPr>
                      </m:fPr>
                      <m:num>
                        <m:r>
                          <a:rPr lang="en-US" altLang="zh-CN" sz="1600" dirty="0">
                            <a:solidFill>
                              <a:schemeClr val="tx1"/>
                            </a:solidFill>
                            <a:latin typeface="Cambria Math" panose="02040503050406030204" pitchFamily="18" charset="0"/>
                          </a:rPr>
                          <m:t>1</m:t>
                        </m:r>
                      </m:num>
                      <m:den>
                        <m:sSub>
                          <m:sSubPr>
                            <m:ctrlPr>
                              <a:rPr lang="en-US" altLang="zh-CN" sz="1600" i="1" dirty="0" smtClean="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den>
                    </m:f>
                  </m:oMath>
                </a14:m>
                <a:r>
                  <a:rPr lang="zh-CN" altLang="en-US" sz="1600" dirty="0">
                    <a:solidFill>
                      <a:schemeClr val="tx1"/>
                    </a:solidFill>
                  </a:rPr>
                  <a:t>倍得到的，所以拉伸回原来的球体，相当于拉伸</a:t>
                </a:r>
                <a14:m>
                  <m:oMath xmlns:m="http://schemas.openxmlformats.org/officeDocument/2006/math">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Sub>
                    <m:r>
                      <a:rPr lang="zh-CN" altLang="en-US"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m:rPr>
                            <m:sty m:val="p"/>
                          </m:rPr>
                          <a:rPr lang="en-US" altLang="zh-CN" sz="1600" i="1" dirty="0">
                            <a:solidFill>
                              <a:schemeClr val="tx1"/>
                            </a:solidFill>
                            <a:latin typeface="Cambria Math" panose="02040503050406030204" pitchFamily="18" charset="0"/>
                          </a:rPr>
                          <m:t>z</m:t>
                        </m:r>
                      </m:sub>
                    </m:sSub>
                  </m:oMath>
                </a14:m>
                <a:r>
                  <a:rPr lang="zh-CN" altLang="en-US" sz="1600" dirty="0">
                    <a:solidFill>
                      <a:schemeClr val="tx1"/>
                    </a:solidFill>
                  </a:rPr>
                  <a:t>倍：</a:t>
                </a:r>
                <a:endParaRPr lang="en-US" altLang="zh-CN" sz="1600" dirty="0">
                  <a:solidFill>
                    <a:schemeClr val="tx1"/>
                  </a:solidFill>
                </a:endParaRPr>
              </a:p>
              <a:p>
                <a:pPr>
                  <a:lnSpc>
                    <a:spcPct val="140000"/>
                  </a:lnSpc>
                </a:pPr>
                <a14:m>
                  <m:oMathPara xmlns:m="http://schemas.openxmlformats.org/officeDocument/2006/math">
                    <m:oMathParaPr>
                      <m:jc m:val="centerGroup"/>
                    </m:oMathParaPr>
                    <m:oMath xmlns:m="http://schemas.openxmlformats.org/officeDocument/2006/math">
                      <m:sSup>
                        <m:sSupPr>
                          <m:ctrlPr>
                            <a:rPr lang="en-US" altLang="zh-CN" sz="1600" b="1" i="1" dirty="0" smtClean="0">
                              <a:solidFill>
                                <a:schemeClr val="tx1"/>
                              </a:solidFill>
                              <a:latin typeface="Cambria Math" panose="02040503050406030204" pitchFamily="18" charset="0"/>
                            </a:rPr>
                          </m:ctrlPr>
                        </m:sSupPr>
                        <m:e>
                          <m:r>
                            <a:rPr lang="en-US" altLang="zh-CN" sz="1600" b="1" i="1" dirty="0">
                              <a:solidFill>
                                <a:schemeClr val="tx1"/>
                              </a:solidFill>
                              <a:latin typeface="Cambria Math" panose="02040503050406030204" pitchFamily="18" charset="0"/>
                            </a:rPr>
                            <m:t>𝒐</m:t>
                          </m:r>
                        </m:e>
                        <m:sup>
                          <m:r>
                            <a:rPr lang="en-US" altLang="zh-CN" sz="1600" b="1" i="1" dirty="0" smtClean="0">
                              <a:solidFill>
                                <a:schemeClr val="tx1"/>
                              </a:solidFill>
                              <a:latin typeface="Cambria Math" panose="02040503050406030204" pitchFamily="18" charset="0"/>
                            </a:rPr>
                            <m:t>+</m:t>
                          </m:r>
                        </m:sup>
                      </m:sSup>
                      <m:r>
                        <a:rPr lang="en-US" altLang="zh-CN" sz="1600" b="1" i="1" dirty="0" smtClean="0">
                          <a:solidFill>
                            <a:schemeClr val="tx1"/>
                          </a:solidFill>
                          <a:latin typeface="Cambria Math" panose="02040503050406030204" pitchFamily="18" charset="0"/>
                        </a:rPr>
                        <m:t>=</m:t>
                      </m:r>
                      <m:d>
                        <m:dPr>
                          <m:ctrlPr>
                            <a:rPr lang="en-US" altLang="zh-CN" sz="1600" b="1" i="1" dirty="0" smtClean="0">
                              <a:solidFill>
                                <a:schemeClr val="tx1"/>
                              </a:solidFill>
                              <a:latin typeface="Cambria Math" panose="02040503050406030204" pitchFamily="18" charset="0"/>
                            </a:rPr>
                          </m:ctrlPr>
                        </m:dPr>
                        <m:e>
                          <m:sSubSup>
                            <m:sSubSupPr>
                              <m:ctrlPr>
                                <a:rPr lang="en-US" altLang="zh-CN" sz="1600" b="1"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𝑜</m:t>
                              </m:r>
                            </m:e>
                            <m:sub>
                              <m:r>
                                <a:rPr lang="en-US" altLang="zh-CN" sz="1600" i="1" dirty="0">
                                  <a:solidFill>
                                    <a:schemeClr val="tx1"/>
                                  </a:solidFill>
                                  <a:latin typeface="Cambria Math" panose="02040503050406030204" pitchFamily="18" charset="0"/>
                                </a:rPr>
                                <m:t>𝑥</m:t>
                              </m:r>
                            </m:sub>
                            <m:sup>
                              <m:r>
                                <a:rPr lang="en-US" altLang="zh-CN" sz="1600" b="1" i="1" dirty="0" smtClean="0">
                                  <a:solidFill>
                                    <a:schemeClr val="tx1"/>
                                  </a:solidFill>
                                  <a:latin typeface="Cambria Math" panose="02040503050406030204" pitchFamily="18" charset="0"/>
                                </a:rPr>
                                <m:t>+</m:t>
                              </m:r>
                            </m:sup>
                          </m:sSubSup>
                          <m:r>
                            <a:rPr lang="en-US" altLang="zh-CN" sz="1600" b="1" i="1" dirty="0" smtClean="0">
                              <a:solidFill>
                                <a:schemeClr val="tx1"/>
                              </a:solidFill>
                              <a:latin typeface="Cambria Math" panose="02040503050406030204" pitchFamily="18" charset="0"/>
                            </a:rPr>
                            <m:t>,</m:t>
                          </m:r>
                          <m:sSubSup>
                            <m:sSubSupPr>
                              <m:ctrlPr>
                                <a:rPr lang="en-US" altLang="zh-CN" sz="1600" b="1"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𝑜</m:t>
                              </m:r>
                            </m:e>
                            <m:sub>
                              <m:r>
                                <a:rPr lang="en-US" altLang="zh-CN" sz="1600" b="0" i="1" dirty="0" smtClean="0">
                                  <a:solidFill>
                                    <a:schemeClr val="tx1"/>
                                  </a:solidFill>
                                  <a:latin typeface="Cambria Math" panose="02040503050406030204" pitchFamily="18" charset="0"/>
                                </a:rPr>
                                <m:t>𝑦</m:t>
                              </m:r>
                            </m:sub>
                            <m:sup>
                              <m:r>
                                <a:rPr lang="en-US" altLang="zh-CN" sz="1600" b="1" i="1" dirty="0" smtClean="0">
                                  <a:solidFill>
                                    <a:schemeClr val="tx1"/>
                                  </a:solidFill>
                                  <a:latin typeface="Cambria Math" panose="02040503050406030204" pitchFamily="18" charset="0"/>
                                </a:rPr>
                                <m:t>+</m:t>
                              </m:r>
                            </m:sup>
                          </m:sSubSup>
                          <m:r>
                            <a:rPr lang="en-US" altLang="zh-CN" sz="1600" b="1" i="1" dirty="0" smtClean="0">
                              <a:solidFill>
                                <a:schemeClr val="tx1"/>
                              </a:solidFill>
                              <a:latin typeface="Cambria Math" panose="02040503050406030204" pitchFamily="18" charset="0"/>
                            </a:rPr>
                            <m:t>,</m:t>
                          </m:r>
                          <m:sSubSup>
                            <m:sSubSupPr>
                              <m:ctrlPr>
                                <a:rPr lang="en-US" altLang="zh-CN" sz="1600" b="1" i="1" dirty="0" smtClean="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𝑜</m:t>
                              </m:r>
                            </m:e>
                            <m:sub>
                              <m:r>
                                <a:rPr lang="en-US" altLang="zh-CN" sz="1600" b="0" i="1" dirty="0" smtClean="0">
                                  <a:solidFill>
                                    <a:schemeClr val="tx1"/>
                                  </a:solidFill>
                                  <a:latin typeface="Cambria Math" panose="02040503050406030204" pitchFamily="18" charset="0"/>
                                </a:rPr>
                                <m:t>𝑧</m:t>
                              </m:r>
                            </m:sub>
                            <m:sup>
                              <m:r>
                                <a:rPr lang="en-US" altLang="zh-CN" sz="1600" b="1" i="1" dirty="0" smtClean="0">
                                  <a:solidFill>
                                    <a:schemeClr val="tx1"/>
                                  </a:solidFill>
                                  <a:latin typeface="Cambria Math" panose="02040503050406030204" pitchFamily="18" charset="0"/>
                                </a:rPr>
                                <m:t>+</m:t>
                              </m:r>
                            </m:sup>
                          </m:sSubSup>
                        </m:e>
                      </m:d>
                      <m:r>
                        <a:rPr lang="en-US" altLang="zh-CN" sz="1600" b="1" i="1" dirty="0" smtClean="0">
                          <a:solidFill>
                            <a:schemeClr val="tx1"/>
                          </a:solidFill>
                          <a:latin typeface="Cambria Math" panose="02040503050406030204" pitchFamily="18" charset="0"/>
                        </a:rPr>
                        <m:t>,  </m:t>
                      </m:r>
                      <m:sSubSup>
                        <m:sSubSupPr>
                          <m:ctrlPr>
                            <a:rPr lang="en-US" altLang="zh-CN" sz="1600" b="1" i="1" dirty="0" smtClean="0">
                              <a:solidFill>
                                <a:schemeClr val="tx1"/>
                              </a:solidFill>
                              <a:latin typeface="Cambria Math" panose="02040503050406030204" pitchFamily="18" charset="0"/>
                            </a:rPr>
                          </m:ctrlPr>
                        </m:sSubSupPr>
                        <m:e>
                          <m:r>
                            <a:rPr lang="en-US" altLang="zh-CN" sz="1600" b="1" i="1" dirty="0" smtClean="0">
                              <a:solidFill>
                                <a:schemeClr val="tx1"/>
                              </a:solidFill>
                              <a:latin typeface="Cambria Math" panose="02040503050406030204" pitchFamily="18" charset="0"/>
                            </a:rPr>
                            <m:t>𝒐</m:t>
                          </m:r>
                        </m:e>
                        <m:sub>
                          <m:r>
                            <a:rPr lang="en-US" altLang="zh-CN" sz="1600" b="1" i="1" dirty="0" smtClean="0">
                              <a:solidFill>
                                <a:schemeClr val="tx1"/>
                              </a:solidFill>
                              <a:latin typeface="Cambria Math" panose="02040503050406030204" pitchFamily="18" charset="0"/>
                            </a:rPr>
                            <m:t>𝒉</m:t>
                          </m:r>
                          <m:r>
                            <a:rPr lang="en-US" altLang="zh-CN" sz="1600" b="1" i="1" dirty="0">
                              <a:solidFill>
                                <a:schemeClr val="tx1"/>
                              </a:solidFill>
                              <a:latin typeface="Cambria Math" panose="02040503050406030204" pitchFamily="18" charset="0"/>
                            </a:rPr>
                            <m:t>𝒆𝒎𝒊</m:t>
                          </m:r>
                        </m:sub>
                        <m:sup>
                          <m:r>
                            <a:rPr lang="en-US" altLang="zh-CN" sz="1600" b="1" i="1" dirty="0" smtClean="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d>
                        <m:dPr>
                          <m:ctrlPr>
                            <a:rPr lang="en-US" altLang="zh-CN" sz="1600" b="1" i="1" dirty="0" smtClean="0">
                              <a:solidFill>
                                <a:schemeClr val="tx1"/>
                              </a:solidFill>
                              <a:latin typeface="Cambria Math" panose="02040503050406030204" pitchFamily="18" charset="0"/>
                            </a:rPr>
                          </m:ctrlPr>
                        </m:dPr>
                        <m:e>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sSubSup>
                            <m:sSubSupPr>
                              <m:ctrlPr>
                                <a:rPr lang="en-US" altLang="zh-CN" sz="1600" b="0" i="1" dirty="0" smtClean="0">
                                  <a:solidFill>
                                    <a:schemeClr val="tx1"/>
                                  </a:solidFill>
                                  <a:latin typeface="Cambria Math" panose="02040503050406030204" pitchFamily="18" charset="0"/>
                                </a:rPr>
                              </m:ctrlPr>
                            </m:sSubSupPr>
                            <m:e>
                              <m:r>
                                <a:rPr lang="en-US" altLang="zh-CN" sz="1600" b="0" i="1" dirty="0">
                                  <a:solidFill>
                                    <a:schemeClr val="tx1"/>
                                  </a:solidFill>
                                  <a:latin typeface="Cambria Math" panose="02040503050406030204" pitchFamily="18" charset="0"/>
                                </a:rPr>
                                <m:t>𝑜</m:t>
                              </m:r>
                            </m:e>
                            <m:sub>
                              <m:r>
                                <a:rPr lang="en-US" altLang="zh-CN" sz="1600" b="0" i="1" dirty="0" smtClean="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r>
                            <a:rPr lang="en-US" altLang="zh-CN" sz="1600" b="0" i="1" dirty="0" smtClean="0">
                              <a:solidFill>
                                <a:schemeClr val="tx1"/>
                              </a:solidFill>
                              <a:latin typeface="Cambria Math" panose="02040503050406030204" pitchFamily="18" charset="0"/>
                            </a:rPr>
                            <m:t>,</m:t>
                          </m:r>
                          <m:sSubSup>
                            <m:sSubSupPr>
                              <m:ctrlPr>
                                <a:rPr lang="en-US" altLang="zh-CN" sz="1600" b="0" i="1" dirty="0" smtClean="0">
                                  <a:solidFill>
                                    <a:schemeClr val="tx1"/>
                                  </a:solidFill>
                                  <a:latin typeface="Cambria Math" panose="02040503050406030204" pitchFamily="18" charset="0"/>
                                </a:rPr>
                              </m:ctrlPr>
                            </m:sSubSupPr>
                            <m:e>
                              <m:r>
                                <a:rPr lang="en-US" altLang="zh-CN" sz="1600" b="0" i="1" dirty="0" smtClean="0">
                                  <a:solidFill>
                                    <a:schemeClr val="tx1"/>
                                  </a:solidFill>
                                  <a:latin typeface="Cambria Math" panose="02040503050406030204" pitchFamily="18" charset="0"/>
                                </a:rPr>
                                <m:t>𝑜</m:t>
                              </m:r>
                            </m:e>
                            <m:sub>
                              <m:r>
                                <a:rPr lang="en-US" altLang="zh-CN" sz="1600" b="0" i="1" dirty="0" smtClean="0">
                                  <a:solidFill>
                                    <a:schemeClr val="tx1"/>
                                  </a:solidFill>
                                  <a:latin typeface="Cambria Math" panose="02040503050406030204" pitchFamily="18" charset="0"/>
                                </a:rPr>
                                <m:t>𝑦</m:t>
                              </m:r>
                            </m:sub>
                            <m:sup>
                              <m:r>
                                <a:rPr lang="en-US" altLang="zh-CN" sz="1600" b="0" i="1" dirty="0" smtClean="0">
                                  <a:solidFill>
                                    <a:schemeClr val="tx1"/>
                                  </a:solidFill>
                                  <a:latin typeface="Cambria Math" panose="02040503050406030204" pitchFamily="18" charset="0"/>
                                </a:rPr>
                                <m:t>+</m:t>
                              </m:r>
                            </m:sup>
                          </m:sSubSup>
                          <m:r>
                            <a:rPr lang="en-US" altLang="zh-CN" sz="1600" b="0" i="1" dirty="0" smtClean="0">
                              <a:solidFill>
                                <a:schemeClr val="tx1"/>
                              </a:solidFill>
                              <a:latin typeface="Cambria Math" panose="02040503050406030204" pitchFamily="18" charset="0"/>
                            </a:rPr>
                            <m:t>,</m:t>
                          </m:r>
                          <m:sSub>
                            <m:sSubPr>
                              <m:ctrlPr>
                                <a:rPr lang="en-US" altLang="zh-CN" sz="160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sSubSup>
                            <m:sSubSupPr>
                              <m:ctrlPr>
                                <a:rPr lang="en-US" altLang="zh-CN" sz="1600" b="0" i="1" dirty="0" smtClean="0">
                                  <a:solidFill>
                                    <a:schemeClr val="tx1"/>
                                  </a:solidFill>
                                  <a:latin typeface="Cambria Math" panose="02040503050406030204" pitchFamily="18" charset="0"/>
                                </a:rPr>
                              </m:ctrlPr>
                            </m:sSubSupPr>
                            <m:e>
                              <m:r>
                                <a:rPr lang="en-US" altLang="zh-CN" sz="1600" b="0" i="1" dirty="0" smtClean="0">
                                  <a:solidFill>
                                    <a:schemeClr val="tx1"/>
                                  </a:solidFill>
                                  <a:latin typeface="Cambria Math" panose="02040503050406030204" pitchFamily="18" charset="0"/>
                                </a:rPr>
                                <m:t>𝑜</m:t>
                              </m:r>
                            </m:e>
                            <m:sub>
                              <m:r>
                                <a:rPr lang="en-US" altLang="zh-CN" sz="1600" b="0" i="1" dirty="0" smtClean="0">
                                  <a:solidFill>
                                    <a:schemeClr val="tx1"/>
                                  </a:solidFill>
                                  <a:latin typeface="Cambria Math" panose="02040503050406030204" pitchFamily="18" charset="0"/>
                                </a:rPr>
                                <m:t>𝑧</m:t>
                              </m:r>
                            </m:sub>
                            <m:sup>
                              <m:r>
                                <a:rPr lang="en-US" altLang="zh-CN" sz="1600" b="0" i="1" dirty="0" smtClean="0">
                                  <a:solidFill>
                                    <a:schemeClr val="tx1"/>
                                  </a:solidFill>
                                  <a:latin typeface="Cambria Math" panose="02040503050406030204" pitchFamily="18" charset="0"/>
                                </a:rPr>
                                <m:t>+</m:t>
                              </m:r>
                            </m:sup>
                          </m:sSubSup>
                        </m:e>
                      </m:d>
                    </m:oMath>
                  </m:oMathPara>
                </a14:m>
                <a:endParaRPr lang="en-US" altLang="zh-CN" sz="1600" dirty="0">
                  <a:solidFill>
                    <a:schemeClr val="tx1"/>
                  </a:solidFill>
                </a:endParaRPr>
              </a:p>
            </p:txBody>
          </p:sp>
        </mc:Choice>
        <mc:Fallback xmlns="">
          <p:sp>
            <p:nvSpPr>
              <p:cNvPr id="64" name="矩形 63">
                <a:extLst>
                  <a:ext uri="{FF2B5EF4-FFF2-40B4-BE49-F238E27FC236}">
                    <a16:creationId xmlns:a16="http://schemas.microsoft.com/office/drawing/2014/main" id="{104E62D4-42C5-18D2-05E8-6C5FD9CA383F}"/>
                  </a:ext>
                </a:extLst>
              </p:cNvPr>
              <p:cNvSpPr>
                <a:spLocks noRot="1" noChangeAspect="1" noMove="1" noResize="1" noEditPoints="1" noAdjustHandles="1" noChangeArrowheads="1" noChangeShapeType="1" noTextEdit="1"/>
              </p:cNvSpPr>
              <p:nvPr/>
            </p:nvSpPr>
            <p:spPr>
              <a:xfrm>
                <a:off x="478710" y="1144044"/>
                <a:ext cx="6673652" cy="2986232"/>
              </a:xfrm>
              <a:prstGeom prst="rect">
                <a:avLst/>
              </a:prstGeom>
              <a:blipFill>
                <a:blip r:embed="rId3"/>
                <a:stretch>
                  <a:fillRect l="-456"/>
                </a:stretch>
              </a:blipFill>
            </p:spPr>
            <p:txBody>
              <a:bodyPr/>
              <a:lstStyle/>
              <a:p>
                <a:r>
                  <a:rPr lang="zh-CN" altLang="en-US">
                    <a:noFill/>
                  </a:rPr>
                  <a:t> </a:t>
                </a:r>
              </a:p>
            </p:txBody>
          </p:sp>
        </mc:Fallback>
      </mc:AlternateContent>
      <p:sp>
        <p:nvSpPr>
          <p:cNvPr id="2" name="矩形 1">
            <a:extLst>
              <a:ext uri="{FF2B5EF4-FFF2-40B4-BE49-F238E27FC236}">
                <a16:creationId xmlns:a16="http://schemas.microsoft.com/office/drawing/2014/main" id="{6897E331-0CCC-850C-4EFC-2EF23A3671F0}"/>
              </a:ext>
            </a:extLst>
          </p:cNvPr>
          <p:cNvSpPr/>
          <p:nvPr/>
        </p:nvSpPr>
        <p:spPr>
          <a:xfrm>
            <a:off x="7772004" y="1315494"/>
            <a:ext cx="4320195" cy="2986232"/>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8AF87065-D9F4-131F-65AC-AA7724962473}"/>
              </a:ext>
            </a:extLst>
          </p:cNvPr>
          <p:cNvSpPr/>
          <p:nvPr/>
        </p:nvSpPr>
        <p:spPr>
          <a:xfrm>
            <a:off x="7638654" y="1144044"/>
            <a:ext cx="4320195" cy="2986232"/>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dirty="0"/>
          </a:p>
        </p:txBody>
      </p:sp>
      <p:grpSp>
        <p:nvGrpSpPr>
          <p:cNvPr id="6" name="组合 5">
            <a:extLst>
              <a:ext uri="{FF2B5EF4-FFF2-40B4-BE49-F238E27FC236}">
                <a16:creationId xmlns:a16="http://schemas.microsoft.com/office/drawing/2014/main" id="{F069F43B-68AB-BD16-4C16-0F658C316E24}"/>
              </a:ext>
            </a:extLst>
          </p:cNvPr>
          <p:cNvGrpSpPr/>
          <p:nvPr/>
        </p:nvGrpSpPr>
        <p:grpSpPr>
          <a:xfrm>
            <a:off x="7869231" y="1310720"/>
            <a:ext cx="4322769" cy="2757063"/>
            <a:chOff x="7869231" y="1711553"/>
            <a:chExt cx="4322769" cy="2757063"/>
          </a:xfrm>
        </p:grpSpPr>
        <p:grpSp>
          <p:nvGrpSpPr>
            <p:cNvPr id="7" name="组合 6">
              <a:extLst>
                <a:ext uri="{FF2B5EF4-FFF2-40B4-BE49-F238E27FC236}">
                  <a16:creationId xmlns:a16="http://schemas.microsoft.com/office/drawing/2014/main" id="{149D3B2E-08E4-5C7B-5753-CE3290E2CF30}"/>
                </a:ext>
              </a:extLst>
            </p:cNvPr>
            <p:cNvGrpSpPr/>
            <p:nvPr/>
          </p:nvGrpSpPr>
          <p:grpSpPr>
            <a:xfrm>
              <a:off x="8174440" y="1956387"/>
              <a:ext cx="3505629" cy="2091540"/>
              <a:chOff x="7012852" y="1572343"/>
              <a:chExt cx="4052678" cy="2418577"/>
            </a:xfrm>
          </p:grpSpPr>
          <p:sp>
            <p:nvSpPr>
              <p:cNvPr id="19" name="任意多边形: 形状 18">
                <a:extLst>
                  <a:ext uri="{FF2B5EF4-FFF2-40B4-BE49-F238E27FC236}">
                    <a16:creationId xmlns:a16="http://schemas.microsoft.com/office/drawing/2014/main" id="{A75F865F-FDA4-B390-6D8E-6D5AB9971874}"/>
                  </a:ext>
                </a:extLst>
              </p:cNvPr>
              <p:cNvSpPr/>
              <p:nvPr/>
            </p:nvSpPr>
            <p:spPr>
              <a:xfrm>
                <a:off x="9886950" y="3022545"/>
                <a:ext cx="577850" cy="698500"/>
              </a:xfrm>
              <a:custGeom>
                <a:avLst/>
                <a:gdLst>
                  <a:gd name="connsiteX0" fmla="*/ 0 w 552450"/>
                  <a:gd name="connsiteY0" fmla="*/ 0 h 679450"/>
                  <a:gd name="connsiteX1" fmla="*/ 552450 w 552450"/>
                  <a:gd name="connsiteY1" fmla="*/ 679450 h 679450"/>
                  <a:gd name="connsiteX2" fmla="*/ 412750 w 552450"/>
                  <a:gd name="connsiteY2" fmla="*/ 622300 h 679450"/>
                  <a:gd name="connsiteX3" fmla="*/ 323850 w 552450"/>
                  <a:gd name="connsiteY3" fmla="*/ 584200 h 679450"/>
                  <a:gd name="connsiteX4" fmla="*/ 228600 w 552450"/>
                  <a:gd name="connsiteY4" fmla="*/ 530225 h 679450"/>
                  <a:gd name="connsiteX5" fmla="*/ 171450 w 552450"/>
                  <a:gd name="connsiteY5" fmla="*/ 479425 h 679450"/>
                  <a:gd name="connsiteX6" fmla="*/ 127000 w 552450"/>
                  <a:gd name="connsiteY6" fmla="*/ 396875 h 679450"/>
                  <a:gd name="connsiteX7" fmla="*/ 0 w 552450"/>
                  <a:gd name="connsiteY7" fmla="*/ 0 h 679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450" h="679450">
                    <a:moveTo>
                      <a:pt x="0" y="0"/>
                    </a:moveTo>
                    <a:lnTo>
                      <a:pt x="552450" y="679450"/>
                    </a:lnTo>
                    <a:lnTo>
                      <a:pt x="412750" y="622300"/>
                    </a:lnTo>
                    <a:lnTo>
                      <a:pt x="323850" y="584200"/>
                    </a:lnTo>
                    <a:lnTo>
                      <a:pt x="228600" y="530225"/>
                    </a:lnTo>
                    <a:lnTo>
                      <a:pt x="171450" y="479425"/>
                    </a:lnTo>
                    <a:lnTo>
                      <a:pt x="127000" y="3968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任意多边形: 形状 19">
                <a:extLst>
                  <a:ext uri="{FF2B5EF4-FFF2-40B4-BE49-F238E27FC236}">
                    <a16:creationId xmlns:a16="http://schemas.microsoft.com/office/drawing/2014/main" id="{3DD13799-DAD5-2AB9-13AF-A9D6CC1CC638}"/>
                  </a:ext>
                </a:extLst>
              </p:cNvPr>
              <p:cNvSpPr/>
              <p:nvPr/>
            </p:nvSpPr>
            <p:spPr>
              <a:xfrm>
                <a:off x="7962900" y="3219395"/>
                <a:ext cx="596952" cy="733425"/>
              </a:xfrm>
              <a:custGeom>
                <a:avLst/>
                <a:gdLst>
                  <a:gd name="connsiteX0" fmla="*/ 0 w 590550"/>
                  <a:gd name="connsiteY0" fmla="*/ 0 h 733425"/>
                  <a:gd name="connsiteX1" fmla="*/ 590550 w 590550"/>
                  <a:gd name="connsiteY1" fmla="*/ 727075 h 733425"/>
                  <a:gd name="connsiteX2" fmla="*/ 523875 w 590550"/>
                  <a:gd name="connsiteY2" fmla="*/ 733425 h 733425"/>
                  <a:gd name="connsiteX3" fmla="*/ 469900 w 590550"/>
                  <a:gd name="connsiteY3" fmla="*/ 730250 h 733425"/>
                  <a:gd name="connsiteX4" fmla="*/ 400050 w 590550"/>
                  <a:gd name="connsiteY4" fmla="*/ 711200 h 733425"/>
                  <a:gd name="connsiteX5" fmla="*/ 336550 w 590550"/>
                  <a:gd name="connsiteY5" fmla="*/ 638175 h 733425"/>
                  <a:gd name="connsiteX6" fmla="*/ 247650 w 590550"/>
                  <a:gd name="connsiteY6" fmla="*/ 511175 h 733425"/>
                  <a:gd name="connsiteX7" fmla="*/ 0 w 590550"/>
                  <a:gd name="connsiteY7" fmla="*/ 0 h 733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0550" h="733425">
                    <a:moveTo>
                      <a:pt x="0" y="0"/>
                    </a:moveTo>
                    <a:lnTo>
                      <a:pt x="590550" y="727075"/>
                    </a:lnTo>
                    <a:lnTo>
                      <a:pt x="523875" y="733425"/>
                    </a:lnTo>
                    <a:lnTo>
                      <a:pt x="469900" y="730250"/>
                    </a:lnTo>
                    <a:lnTo>
                      <a:pt x="400050" y="711200"/>
                    </a:lnTo>
                    <a:lnTo>
                      <a:pt x="336550" y="638175"/>
                    </a:lnTo>
                    <a:lnTo>
                      <a:pt x="247650" y="511175"/>
                    </a:lnTo>
                    <a:lnTo>
                      <a:pt x="0" y="0"/>
                    </a:lnTo>
                    <a:close/>
                  </a:path>
                </a:pathLst>
              </a:cu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形状 20">
                <a:extLst>
                  <a:ext uri="{FF2B5EF4-FFF2-40B4-BE49-F238E27FC236}">
                    <a16:creationId xmlns:a16="http://schemas.microsoft.com/office/drawing/2014/main" id="{A09842E2-7DDB-1C41-F5BE-961E5D6BD0C0}"/>
                  </a:ext>
                </a:extLst>
              </p:cNvPr>
              <p:cNvSpPr/>
              <p:nvPr/>
            </p:nvSpPr>
            <p:spPr>
              <a:xfrm>
                <a:off x="7609840" y="2948975"/>
                <a:ext cx="3439160" cy="1041945"/>
              </a:xfrm>
              <a:custGeom>
                <a:avLst/>
                <a:gdLst>
                  <a:gd name="connsiteX0" fmla="*/ 0 w 3332480"/>
                  <a:gd name="connsiteY0" fmla="*/ 1041945 h 1041945"/>
                  <a:gd name="connsiteX1" fmla="*/ 279400 w 3332480"/>
                  <a:gd name="connsiteY1" fmla="*/ 218985 h 1041945"/>
                  <a:gd name="connsiteX2" fmla="*/ 868680 w 3332480"/>
                  <a:gd name="connsiteY2" fmla="*/ 1016545 h 1041945"/>
                  <a:gd name="connsiteX3" fmla="*/ 2087880 w 3332480"/>
                  <a:gd name="connsiteY3" fmla="*/ 5625 h 1041945"/>
                  <a:gd name="connsiteX4" fmla="*/ 2494280 w 3332480"/>
                  <a:gd name="connsiteY4" fmla="*/ 620305 h 1041945"/>
                  <a:gd name="connsiteX5" fmla="*/ 3332480 w 3332480"/>
                  <a:gd name="connsiteY5" fmla="*/ 8844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 name="connsiteX0" fmla="*/ 0 w 3439160"/>
                  <a:gd name="connsiteY0" fmla="*/ 1041945 h 1041945"/>
                  <a:gd name="connsiteX1" fmla="*/ 279400 w 3439160"/>
                  <a:gd name="connsiteY1" fmla="*/ 218985 h 1041945"/>
                  <a:gd name="connsiteX2" fmla="*/ 868680 w 3439160"/>
                  <a:gd name="connsiteY2" fmla="*/ 1016545 h 1041945"/>
                  <a:gd name="connsiteX3" fmla="*/ 2087880 w 3439160"/>
                  <a:gd name="connsiteY3" fmla="*/ 5625 h 1041945"/>
                  <a:gd name="connsiteX4" fmla="*/ 2494280 w 3439160"/>
                  <a:gd name="connsiteY4" fmla="*/ 620305 h 1041945"/>
                  <a:gd name="connsiteX5" fmla="*/ 3439160 w 3439160"/>
                  <a:gd name="connsiteY5" fmla="*/ 1036865 h 10419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439160" h="1041945">
                    <a:moveTo>
                      <a:pt x="0" y="1041945"/>
                    </a:moveTo>
                    <a:cubicBezTo>
                      <a:pt x="67310" y="632581"/>
                      <a:pt x="134620" y="223218"/>
                      <a:pt x="279400" y="218985"/>
                    </a:cubicBezTo>
                    <a:cubicBezTo>
                      <a:pt x="424180" y="214752"/>
                      <a:pt x="567267" y="1052105"/>
                      <a:pt x="868680" y="1016545"/>
                    </a:cubicBezTo>
                    <a:cubicBezTo>
                      <a:pt x="1170093" y="980985"/>
                      <a:pt x="1816947" y="71665"/>
                      <a:pt x="2087880" y="5625"/>
                    </a:cubicBezTo>
                    <a:cubicBezTo>
                      <a:pt x="2358813" y="-60415"/>
                      <a:pt x="2286847" y="473832"/>
                      <a:pt x="2494280" y="620305"/>
                    </a:cubicBezTo>
                    <a:cubicBezTo>
                      <a:pt x="2701713" y="766778"/>
                      <a:pt x="3343487" y="826892"/>
                      <a:pt x="3439160" y="1036865"/>
                    </a:cubicBezTo>
                  </a:path>
                </a:pathLst>
              </a:custGeom>
              <a:noFill/>
              <a:ln w="28575">
                <a:solidFill>
                  <a:schemeClr val="accent4">
                    <a:lumMod val="60000"/>
                    <a:lumOff val="4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22" name="直接连接符 21">
                <a:extLst>
                  <a:ext uri="{FF2B5EF4-FFF2-40B4-BE49-F238E27FC236}">
                    <a16:creationId xmlns:a16="http://schemas.microsoft.com/office/drawing/2014/main" id="{E78874EE-4BC9-7BDC-3F33-E6FF5202D829}"/>
                  </a:ext>
                </a:extLst>
              </p:cNvPr>
              <p:cNvCxnSpPr>
                <a:cxnSpLocks/>
                <a:stCxn id="21" idx="0"/>
              </p:cNvCxnSpPr>
              <p:nvPr/>
            </p:nvCxnSpPr>
            <p:spPr>
              <a:xfrm flipH="1" flipV="1">
                <a:off x="7012852" y="3255565"/>
                <a:ext cx="596988" cy="735355"/>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D5BF47EA-A340-FABB-9D00-7B8258EE59D5}"/>
                  </a:ext>
                </a:extLst>
              </p:cNvPr>
              <p:cNvCxnSpPr>
                <a:cxnSpLocks/>
              </p:cNvCxnSpPr>
              <p:nvPr/>
            </p:nvCxnSpPr>
            <p:spPr>
              <a:xfrm flipH="1" flipV="1">
                <a:off x="7609840" y="2780935"/>
                <a:ext cx="950012" cy="1150598"/>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41CFD064-BF29-8D9A-89F4-42FD96E27B87}"/>
                  </a:ext>
                </a:extLst>
              </p:cNvPr>
              <p:cNvCxnSpPr>
                <a:cxnSpLocks/>
              </p:cNvCxnSpPr>
              <p:nvPr/>
            </p:nvCxnSpPr>
            <p:spPr>
              <a:xfrm flipH="1" flipV="1">
                <a:off x="8847134" y="1760557"/>
                <a:ext cx="1595118" cy="1931913"/>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5" name="直接连接符 24">
                <a:extLst>
                  <a:ext uri="{FF2B5EF4-FFF2-40B4-BE49-F238E27FC236}">
                    <a16:creationId xmlns:a16="http://schemas.microsoft.com/office/drawing/2014/main" id="{ACFC8486-E9A5-F133-93BB-DCCD88A2895E}"/>
                  </a:ext>
                </a:extLst>
              </p:cNvPr>
              <p:cNvCxnSpPr>
                <a:cxnSpLocks/>
              </p:cNvCxnSpPr>
              <p:nvPr/>
            </p:nvCxnSpPr>
            <p:spPr>
              <a:xfrm flipV="1">
                <a:off x="7012852" y="1577258"/>
                <a:ext cx="2055740" cy="1678307"/>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D4C31871-79A8-3E19-9B06-D2962004E9C7}"/>
                  </a:ext>
                </a:extLst>
              </p:cNvPr>
              <p:cNvCxnSpPr>
                <a:cxnSpLocks/>
              </p:cNvCxnSpPr>
              <p:nvPr/>
            </p:nvCxnSpPr>
            <p:spPr>
              <a:xfrm flipH="1" flipV="1">
                <a:off x="9068592" y="1572343"/>
                <a:ext cx="1996938" cy="2418577"/>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35548D93-6DC3-DC91-ADB9-4D113EF3D7D0}"/>
                  </a:ext>
                </a:extLst>
              </p:cNvPr>
              <p:cNvCxnSpPr/>
              <p:nvPr/>
            </p:nvCxnSpPr>
            <p:spPr>
              <a:xfrm flipH="1" flipV="1">
                <a:off x="7748072" y="2002651"/>
                <a:ext cx="314960" cy="381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85A39E3B-A7F1-2A99-D007-3830ED40FEC1}"/>
                      </a:ext>
                    </a:extLst>
                  </p:cNvPr>
                  <p:cNvSpPr txBox="1"/>
                  <p:nvPr/>
                </p:nvSpPr>
                <p:spPr>
                  <a:xfrm>
                    <a:off x="7399694" y="1984426"/>
                    <a:ext cx="439977" cy="427081"/>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1" i="1" smtClean="0">
                              <a:solidFill>
                                <a:schemeClr val="tx1"/>
                              </a:solidFill>
                              <a:latin typeface="Cambria Math" panose="02040503050406030204" pitchFamily="18" charset="0"/>
                            </a:rPr>
                            <m:t>𝒐</m:t>
                          </m:r>
                        </m:oMath>
                      </m:oMathPara>
                    </a14:m>
                    <a:endParaRPr lang="zh-CN" altLang="en-US" b="1" dirty="0"/>
                  </a:p>
                </p:txBody>
              </p:sp>
            </mc:Choice>
            <mc:Fallback xmlns="">
              <p:sp>
                <p:nvSpPr>
                  <p:cNvPr id="28" name="文本框 27">
                    <a:extLst>
                      <a:ext uri="{FF2B5EF4-FFF2-40B4-BE49-F238E27FC236}">
                        <a16:creationId xmlns:a16="http://schemas.microsoft.com/office/drawing/2014/main" id="{DCC458BA-6E63-B35A-F431-EF82DCDEFD17}"/>
                      </a:ext>
                    </a:extLst>
                  </p:cNvPr>
                  <p:cNvSpPr txBox="1">
                    <a:spLocks noRot="1" noChangeAspect="1" noMove="1" noResize="1" noEditPoints="1" noAdjustHandles="1" noChangeArrowheads="1" noChangeShapeType="1" noTextEdit="1"/>
                  </p:cNvSpPr>
                  <p:nvPr/>
                </p:nvSpPr>
                <p:spPr>
                  <a:xfrm>
                    <a:off x="7399694" y="1984426"/>
                    <a:ext cx="439977" cy="427081"/>
                  </a:xfrm>
                  <a:prstGeom prst="rect">
                    <a:avLst/>
                  </a:prstGeom>
                  <a:blipFill>
                    <a:blip r:embed="rId4"/>
                    <a:stretch>
                      <a:fillRect/>
                    </a:stretch>
                  </a:blipFill>
                </p:spPr>
                <p:txBody>
                  <a:bodyPr/>
                  <a:lstStyle/>
                  <a:p>
                    <a:r>
                      <a:rPr lang="zh-CN" altLang="en-US">
                        <a:noFill/>
                      </a:rPr>
                      <a:t> </a:t>
                    </a:r>
                  </a:p>
                </p:txBody>
              </p:sp>
            </mc:Fallback>
          </mc:AlternateContent>
          <p:cxnSp>
            <p:nvCxnSpPr>
              <p:cNvPr id="29" name="直接箭头连接符 28">
                <a:extLst>
                  <a:ext uri="{FF2B5EF4-FFF2-40B4-BE49-F238E27FC236}">
                    <a16:creationId xmlns:a16="http://schemas.microsoft.com/office/drawing/2014/main" id="{833C3D68-C2A8-4906-5E30-8D348EB6AB78}"/>
                  </a:ext>
                </a:extLst>
              </p:cNvPr>
              <p:cNvCxnSpPr>
                <a:cxnSpLocks/>
              </p:cNvCxnSpPr>
              <p:nvPr/>
            </p:nvCxnSpPr>
            <p:spPr>
              <a:xfrm flipH="1" flipV="1">
                <a:off x="7330440" y="3381320"/>
                <a:ext cx="376414" cy="102503"/>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007FDFF2-3AC2-1F57-0B9B-E58415D8D0B3}"/>
                      </a:ext>
                    </a:extLst>
                  </p:cNvPr>
                  <p:cNvSpPr txBox="1"/>
                  <p:nvPr/>
                </p:nvSpPr>
                <p:spPr>
                  <a:xfrm>
                    <a:off x="7356905" y="3073543"/>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31" name="文本框 30">
                    <a:extLst>
                      <a:ext uri="{FF2B5EF4-FFF2-40B4-BE49-F238E27FC236}">
                        <a16:creationId xmlns:a16="http://schemas.microsoft.com/office/drawing/2014/main" id="{63885C98-BD43-B3A4-2AB9-907E2E308DA6}"/>
                      </a:ext>
                    </a:extLst>
                  </p:cNvPr>
                  <p:cNvSpPr txBox="1">
                    <a:spLocks noRot="1" noChangeAspect="1" noMove="1" noResize="1" noEditPoints="1" noAdjustHandles="1" noChangeArrowheads="1" noChangeShapeType="1" noTextEdit="1"/>
                  </p:cNvSpPr>
                  <p:nvPr/>
                </p:nvSpPr>
                <p:spPr>
                  <a:xfrm>
                    <a:off x="7356905" y="3073543"/>
                    <a:ext cx="439977" cy="355902"/>
                  </a:xfrm>
                  <a:prstGeom prst="rect">
                    <a:avLst/>
                  </a:prstGeom>
                  <a:blipFill>
                    <a:blip r:embed="rId5"/>
                    <a:stretch>
                      <a:fillRect/>
                    </a:stretch>
                  </a:blipFill>
                </p:spPr>
                <p:txBody>
                  <a:bodyPr/>
                  <a:lstStyle/>
                  <a:p>
                    <a:r>
                      <a:rPr lang="zh-CN" altLang="en-US">
                        <a:noFill/>
                      </a:rPr>
                      <a:t> </a:t>
                    </a:r>
                  </a:p>
                </p:txBody>
              </p:sp>
            </mc:Fallback>
          </mc:AlternateContent>
          <p:cxnSp>
            <p:nvCxnSpPr>
              <p:cNvPr id="36" name="直接箭头连接符 35">
                <a:extLst>
                  <a:ext uri="{FF2B5EF4-FFF2-40B4-BE49-F238E27FC236}">
                    <a16:creationId xmlns:a16="http://schemas.microsoft.com/office/drawing/2014/main" id="{05D973E4-FD04-9539-95B1-27E5FEB1E6FB}"/>
                  </a:ext>
                </a:extLst>
              </p:cNvPr>
              <p:cNvCxnSpPr>
                <a:cxnSpLocks/>
              </p:cNvCxnSpPr>
              <p:nvPr/>
            </p:nvCxnSpPr>
            <p:spPr>
              <a:xfrm flipH="1" flipV="1">
                <a:off x="8895080" y="3162880"/>
                <a:ext cx="261666" cy="269945"/>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B9A9BC71-B234-05F0-E087-E476DF25C025}"/>
                      </a:ext>
                    </a:extLst>
                  </p:cNvPr>
                  <p:cNvSpPr txBox="1"/>
                  <p:nvPr/>
                </p:nvSpPr>
                <p:spPr>
                  <a:xfrm>
                    <a:off x="8921819" y="2940720"/>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38" name="文本框 37">
                    <a:extLst>
                      <a:ext uri="{FF2B5EF4-FFF2-40B4-BE49-F238E27FC236}">
                        <a16:creationId xmlns:a16="http://schemas.microsoft.com/office/drawing/2014/main" id="{2198D2F1-0D85-7D20-6DC8-DD4F5BCA04A4}"/>
                      </a:ext>
                    </a:extLst>
                  </p:cNvPr>
                  <p:cNvSpPr txBox="1">
                    <a:spLocks noRot="1" noChangeAspect="1" noMove="1" noResize="1" noEditPoints="1" noAdjustHandles="1" noChangeArrowheads="1" noChangeShapeType="1" noTextEdit="1"/>
                  </p:cNvSpPr>
                  <p:nvPr/>
                </p:nvSpPr>
                <p:spPr>
                  <a:xfrm>
                    <a:off x="8921819" y="2940720"/>
                    <a:ext cx="439977" cy="355902"/>
                  </a:xfrm>
                  <a:prstGeom prst="rect">
                    <a:avLst/>
                  </a:prstGeom>
                  <a:blipFill>
                    <a:blip r:embed="rId6"/>
                    <a:stretch>
                      <a:fillRect/>
                    </a:stretch>
                  </a:blipFill>
                </p:spPr>
                <p:txBody>
                  <a:bodyPr/>
                  <a:lstStyle/>
                  <a:p>
                    <a:r>
                      <a:rPr lang="zh-CN" altLang="en-US">
                        <a:noFill/>
                      </a:rPr>
                      <a:t> </a:t>
                    </a:r>
                  </a:p>
                </p:txBody>
              </p:sp>
            </mc:Fallback>
          </mc:AlternateContent>
          <p:cxnSp>
            <p:nvCxnSpPr>
              <p:cNvPr id="40" name="直接箭头连接符 39">
                <a:extLst>
                  <a:ext uri="{FF2B5EF4-FFF2-40B4-BE49-F238E27FC236}">
                    <a16:creationId xmlns:a16="http://schemas.microsoft.com/office/drawing/2014/main" id="{0BE8BCC3-5E21-67E1-0948-5075F7F26F5A}"/>
                  </a:ext>
                </a:extLst>
              </p:cNvPr>
              <p:cNvCxnSpPr>
                <a:cxnSpLocks/>
              </p:cNvCxnSpPr>
              <p:nvPr/>
            </p:nvCxnSpPr>
            <p:spPr>
              <a:xfrm flipV="1">
                <a:off x="10639339" y="3395642"/>
                <a:ext cx="90195" cy="380931"/>
              </a:xfrm>
              <a:prstGeom prst="straightConnector1">
                <a:avLst/>
              </a:prstGeom>
              <a:ln w="2857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59661908-50F7-6A1A-86B1-A47864020703}"/>
                      </a:ext>
                    </a:extLst>
                  </p:cNvPr>
                  <p:cNvSpPr txBox="1"/>
                  <p:nvPr/>
                </p:nvSpPr>
                <p:spPr>
                  <a:xfrm>
                    <a:off x="10599935" y="3470335"/>
                    <a:ext cx="439977" cy="35590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400" b="1" i="1" smtClean="0">
                              <a:solidFill>
                                <a:schemeClr val="tx1"/>
                              </a:solidFill>
                              <a:latin typeface="Cambria Math" panose="02040503050406030204" pitchFamily="18" charset="0"/>
                            </a:rPr>
                            <m:t>𝒎</m:t>
                          </m:r>
                        </m:oMath>
                      </m:oMathPara>
                    </a14:m>
                    <a:endParaRPr lang="zh-CN" altLang="en-US" sz="1400" b="1" dirty="0"/>
                  </a:p>
                </p:txBody>
              </p:sp>
            </mc:Choice>
            <mc:Fallback xmlns="">
              <p:sp>
                <p:nvSpPr>
                  <p:cNvPr id="42" name="文本框 41">
                    <a:extLst>
                      <a:ext uri="{FF2B5EF4-FFF2-40B4-BE49-F238E27FC236}">
                        <a16:creationId xmlns:a16="http://schemas.microsoft.com/office/drawing/2014/main" id="{98861FAA-C48D-6C6E-5C67-B3C32FE14270}"/>
                      </a:ext>
                    </a:extLst>
                  </p:cNvPr>
                  <p:cNvSpPr txBox="1">
                    <a:spLocks noRot="1" noChangeAspect="1" noMove="1" noResize="1" noEditPoints="1" noAdjustHandles="1" noChangeArrowheads="1" noChangeShapeType="1" noTextEdit="1"/>
                  </p:cNvSpPr>
                  <p:nvPr/>
                </p:nvSpPr>
                <p:spPr>
                  <a:xfrm>
                    <a:off x="10599935" y="3470335"/>
                    <a:ext cx="439977" cy="355902"/>
                  </a:xfrm>
                  <a:prstGeom prst="rect">
                    <a:avLst/>
                  </a:prstGeom>
                  <a:blipFill>
                    <a:blip r:embed="rId6"/>
                    <a:stretch>
                      <a:fillRect/>
                    </a:stretch>
                  </a:blipFill>
                </p:spPr>
                <p:txBody>
                  <a:bodyPr/>
                  <a:lstStyle/>
                  <a:p>
                    <a:r>
                      <a:rPr lang="zh-CN" altLang="en-US">
                        <a:noFill/>
                      </a:rPr>
                      <a:t> </a:t>
                    </a:r>
                  </a:p>
                </p:txBody>
              </p:sp>
            </mc:Fallback>
          </mc:AlternateContent>
          <p:cxnSp>
            <p:nvCxnSpPr>
              <p:cNvPr id="43" name="直接连接符 42">
                <a:extLst>
                  <a:ext uri="{FF2B5EF4-FFF2-40B4-BE49-F238E27FC236}">
                    <a16:creationId xmlns:a16="http://schemas.microsoft.com/office/drawing/2014/main" id="{14CFB46E-740C-1A7C-0FCF-455D46EED50D}"/>
                  </a:ext>
                </a:extLst>
              </p:cNvPr>
              <p:cNvCxnSpPr>
                <a:cxnSpLocks/>
              </p:cNvCxnSpPr>
              <p:nvPr/>
            </p:nvCxnSpPr>
            <p:spPr>
              <a:xfrm>
                <a:off x="7609840" y="3990920"/>
                <a:ext cx="345569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73311D2-A7A8-90F9-F194-C99066D038A7}"/>
                    </a:ext>
                  </a:extLst>
                </p:cNvPr>
                <p:cNvSpPr txBox="1"/>
                <p:nvPr/>
              </p:nvSpPr>
              <p:spPr>
                <a:xfrm>
                  <a:off x="7869231" y="1711553"/>
                  <a:ext cx="1790893"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𝑝𝑟𝑜𝑗𝑒𝑐𝑡𝑒𝑑</m:t>
                        </m:r>
                        <m:r>
                          <a:rPr lang="en-US" altLang="zh-CN" sz="1600" b="0" i="1" smtClean="0">
                            <a:solidFill>
                              <a:schemeClr val="tx1"/>
                            </a:solidFill>
                            <a:latin typeface="Cambria Math" panose="02040503050406030204" pitchFamily="18" charset="0"/>
                          </a:rPr>
                          <m:t> </m:t>
                        </m:r>
                        <m:r>
                          <a:rPr lang="en-US" altLang="zh-CN" sz="1600" b="0" i="1" smtClean="0">
                            <a:solidFill>
                              <a:schemeClr val="tx1"/>
                            </a:solidFill>
                            <a:latin typeface="Cambria Math" panose="02040503050406030204" pitchFamily="18" charset="0"/>
                          </a:rPr>
                          <m:t>𝑎𝑟𝑒𝑎</m:t>
                        </m:r>
                      </m:oMath>
                    </m:oMathPara>
                  </a14:m>
                  <a:endParaRPr lang="en-US" altLang="zh-CN" sz="1600" b="0" i="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1600" b="0" i="1" smtClean="0">
                            <a:solidFill>
                              <a:schemeClr val="tx1"/>
                            </a:solidFill>
                            <a:latin typeface="Cambria Math" panose="02040503050406030204" pitchFamily="18" charset="0"/>
                          </a:rPr>
                          <m:t>     =</m:t>
                        </m:r>
                        <m:d>
                          <m:dPr>
                            <m:begChr m:val="|"/>
                            <m:endChr m:val="|"/>
                            <m:ctrlPr>
                              <a:rPr lang="en-US" altLang="zh-CN" sz="1600" b="0" i="1" smtClean="0">
                                <a:solidFill>
                                  <a:schemeClr val="tx1"/>
                                </a:solidFill>
                                <a:latin typeface="Cambria Math" panose="02040503050406030204" pitchFamily="18" charset="0"/>
                              </a:rPr>
                            </m:ctrlPr>
                          </m:dPr>
                          <m:e>
                            <m:r>
                              <a:rPr lang="en-US" altLang="zh-CN" sz="1600" b="1" i="1" smtClean="0">
                                <a:latin typeface="Cambria Math" panose="02040503050406030204" pitchFamily="18" charset="0"/>
                              </a:rPr>
                              <m:t>𝒐</m:t>
                            </m:r>
                            <m:r>
                              <a:rPr lang="en-US" altLang="zh-CN" sz="1600" i="1">
                                <a:latin typeface="Cambria Math" panose="02040503050406030204" pitchFamily="18" charset="0"/>
                              </a:rPr>
                              <m:t>⋅</m:t>
                            </m:r>
                            <m:r>
                              <a:rPr lang="en-US" altLang="zh-CN" sz="1600" b="1" i="1" smtClean="0">
                                <a:latin typeface="Cambria Math" panose="02040503050406030204" pitchFamily="18" charset="0"/>
                              </a:rPr>
                              <m:t>𝒈</m:t>
                            </m:r>
                          </m:e>
                        </m:d>
                        <m:r>
                          <a:rPr lang="en-US" altLang="zh-CN" sz="1600" b="0" i="1" smtClean="0">
                            <a:solidFill>
                              <a:schemeClr val="tx1"/>
                            </a:solidFill>
                            <a:latin typeface="Cambria Math" panose="02040503050406030204" pitchFamily="18" charset="0"/>
                          </a:rPr>
                          <m:t> </m:t>
                        </m:r>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𝐴</m:t>
                            </m:r>
                          </m:e>
                          <m:sub>
                            <m:r>
                              <a:rPr lang="en-US" altLang="zh-CN" sz="1600" b="0" i="1" smtClean="0">
                                <a:solidFill>
                                  <a:schemeClr val="tx1"/>
                                </a:solidFill>
                                <a:latin typeface="Cambria Math" panose="02040503050406030204" pitchFamily="18" charset="0"/>
                              </a:rPr>
                              <m:t>𝑀</m:t>
                            </m:r>
                          </m:sub>
                        </m:sSub>
                      </m:oMath>
                    </m:oMathPara>
                  </a14:m>
                  <a:endParaRPr lang="zh-CN" altLang="en-US" sz="1600" dirty="0"/>
                </a:p>
              </p:txBody>
            </p:sp>
          </mc:Choice>
          <mc:Fallback xmlns="">
            <p:sp>
              <p:nvSpPr>
                <p:cNvPr id="8" name="文本框 7">
                  <a:extLst>
                    <a:ext uri="{FF2B5EF4-FFF2-40B4-BE49-F238E27FC236}">
                      <a16:creationId xmlns:a16="http://schemas.microsoft.com/office/drawing/2014/main" id="{A676F0EC-3E78-D4CD-C1ED-4D9A59FC3CCA}"/>
                    </a:ext>
                  </a:extLst>
                </p:cNvPr>
                <p:cNvSpPr txBox="1">
                  <a:spLocks noRot="1" noChangeAspect="1" noMove="1" noResize="1" noEditPoints="1" noAdjustHandles="1" noChangeArrowheads="1" noChangeShapeType="1" noTextEdit="1"/>
                </p:cNvSpPr>
                <p:nvPr/>
              </p:nvSpPr>
              <p:spPr>
                <a:xfrm>
                  <a:off x="7869231" y="1711553"/>
                  <a:ext cx="1790893" cy="584775"/>
                </a:xfrm>
                <a:prstGeom prst="rect">
                  <a:avLst/>
                </a:prstGeom>
                <a:blipFill>
                  <a:blip r:embed="rId7"/>
                  <a:stretch>
                    <a:fillRect b="-208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84744AB9-EAFA-9542-29F8-75CCDFE6EF7F}"/>
                    </a:ext>
                  </a:extLst>
                </p:cNvPr>
                <p:cNvSpPr txBox="1"/>
                <p:nvPr/>
              </p:nvSpPr>
              <p:spPr>
                <a:xfrm>
                  <a:off x="9793292" y="4099284"/>
                  <a:ext cx="178019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smtClean="0">
                            <a:solidFill>
                              <a:schemeClr val="tx1"/>
                            </a:solidFill>
                            <a:latin typeface="Cambria Math" panose="02040503050406030204" pitchFamily="18" charset="0"/>
                          </a:rPr>
                          <m:t>𝑀𝑎𝑐𝑟𝑜</m:t>
                        </m:r>
                        <m:r>
                          <a:rPr lang="en-US" altLang="zh-CN" sz="1800" b="0" i="1" smtClean="0">
                            <a:solidFill>
                              <a:schemeClr val="tx1"/>
                            </a:solidFill>
                            <a:latin typeface="Cambria Math" panose="02040503050406030204" pitchFamily="18" charset="0"/>
                          </a:rPr>
                          <m:t> </m:t>
                        </m:r>
                        <m:r>
                          <a:rPr lang="en-US" altLang="zh-CN" sz="1800" b="0" i="1" smtClean="0">
                            <a:solidFill>
                              <a:schemeClr val="tx1"/>
                            </a:solidFill>
                            <a:latin typeface="Cambria Math" panose="02040503050406030204" pitchFamily="18" charset="0"/>
                          </a:rPr>
                          <m:t>𝑆𝑢𝑟𝑓𝑎𝑐𝑒</m:t>
                        </m:r>
                        <m:r>
                          <a:rPr lang="en-US" altLang="zh-CN" sz="1800" b="0" i="1" smtClean="0">
                            <a:solidFill>
                              <a:schemeClr val="tx1"/>
                            </a:solidFill>
                            <a:latin typeface="Cambria Math" panose="02040503050406030204" pitchFamily="18" charset="0"/>
                          </a:rPr>
                          <m:t>  </m:t>
                        </m:r>
                        <m:sSub>
                          <m:sSubPr>
                            <m:ctrlPr>
                              <a:rPr lang="en-US" altLang="zh-CN" sz="1800" b="0" i="1" smtClean="0">
                                <a:solidFill>
                                  <a:schemeClr val="tx1"/>
                                </a:solidFill>
                                <a:latin typeface="Cambria Math" panose="02040503050406030204" pitchFamily="18" charset="0"/>
                              </a:rPr>
                            </m:ctrlPr>
                          </m:sSubPr>
                          <m:e>
                            <m:r>
                              <a:rPr lang="en-US" altLang="zh-CN" sz="1800" b="0" i="1" smtClean="0">
                                <a:solidFill>
                                  <a:schemeClr val="tx1"/>
                                </a:solidFill>
                                <a:latin typeface="Cambria Math" panose="02040503050406030204" pitchFamily="18" charset="0"/>
                              </a:rPr>
                              <m:t>𝐴</m:t>
                            </m:r>
                          </m:e>
                          <m:sub>
                            <m:r>
                              <a:rPr lang="en-US" altLang="zh-CN" sz="1800" b="0" i="1" smtClean="0">
                                <a:solidFill>
                                  <a:schemeClr val="tx1"/>
                                </a:solidFill>
                                <a:latin typeface="Cambria Math" panose="02040503050406030204" pitchFamily="18" charset="0"/>
                              </a:rPr>
                              <m:t>𝑀</m:t>
                            </m:r>
                          </m:sub>
                        </m:sSub>
                      </m:oMath>
                    </m:oMathPara>
                  </a14:m>
                  <a:endParaRPr lang="zh-CN" altLang="en-US" dirty="0"/>
                </a:p>
              </p:txBody>
            </p:sp>
          </mc:Choice>
          <mc:Fallback xmlns="">
            <p:sp>
              <p:nvSpPr>
                <p:cNvPr id="9" name="文本框 8">
                  <a:extLst>
                    <a:ext uri="{FF2B5EF4-FFF2-40B4-BE49-F238E27FC236}">
                      <a16:creationId xmlns:a16="http://schemas.microsoft.com/office/drawing/2014/main" id="{77755C37-75CB-02A9-B64C-922BA5F821D9}"/>
                    </a:ext>
                  </a:extLst>
                </p:cNvPr>
                <p:cNvSpPr txBox="1">
                  <a:spLocks noRot="1" noChangeAspect="1" noMove="1" noResize="1" noEditPoints="1" noAdjustHandles="1" noChangeArrowheads="1" noChangeShapeType="1" noTextEdit="1"/>
                </p:cNvSpPr>
                <p:nvPr/>
              </p:nvSpPr>
              <p:spPr>
                <a:xfrm>
                  <a:off x="9793292" y="4099284"/>
                  <a:ext cx="1780198" cy="369332"/>
                </a:xfrm>
                <a:prstGeom prst="rect">
                  <a:avLst/>
                </a:prstGeom>
                <a:blipFill>
                  <a:blip r:embed="rId8"/>
                  <a:stretch>
                    <a:fillRect l="-1027" r="-16438" b="-14754"/>
                  </a:stretch>
                </a:blipFill>
              </p:spPr>
              <p:txBody>
                <a:bodyPr/>
                <a:lstStyle/>
                <a:p>
                  <a:r>
                    <a:rPr lang="zh-CN" altLang="en-US">
                      <a:noFill/>
                    </a:rPr>
                    <a:t> </a:t>
                  </a:r>
                </a:p>
              </p:txBody>
            </p:sp>
          </mc:Fallback>
        </mc:AlternateContent>
        <p:cxnSp>
          <p:nvCxnSpPr>
            <p:cNvPr id="10" name="直接连接符 9">
              <a:extLst>
                <a:ext uri="{FF2B5EF4-FFF2-40B4-BE49-F238E27FC236}">
                  <a16:creationId xmlns:a16="http://schemas.microsoft.com/office/drawing/2014/main" id="{C49FDDF1-1E95-10A6-74DA-70A2423B134B}"/>
                </a:ext>
              </a:extLst>
            </p:cNvPr>
            <p:cNvCxnSpPr>
              <a:cxnSpLocks/>
            </p:cNvCxnSpPr>
            <p:nvPr/>
          </p:nvCxnSpPr>
          <p:spPr>
            <a:xfrm flipH="1">
              <a:off x="10375591" y="2695759"/>
              <a:ext cx="191092" cy="160175"/>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0F96D78-C32B-60F1-455A-5D7F84B3ABA1}"/>
                    </a:ext>
                  </a:extLst>
                </p:cNvPr>
                <p:cNvSpPr txBox="1"/>
                <p:nvPr/>
              </p:nvSpPr>
              <p:spPr>
                <a:xfrm>
                  <a:off x="10405475" y="2494705"/>
                  <a:ext cx="1786525" cy="325089"/>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dirty="0">
                                <a:solidFill>
                                  <a:srgbClr val="00B050"/>
                                </a:solidFill>
                                <a:latin typeface="Cambria Math" panose="02040503050406030204" pitchFamily="18" charset="0"/>
                              </a:rPr>
                            </m:ctrlPr>
                          </m:sSubPr>
                          <m:e>
                            <m:r>
                              <a:rPr lang="en-US" altLang="zh-CN" sz="1400" i="1" dirty="0">
                                <a:solidFill>
                                  <a:srgbClr val="00B050"/>
                                </a:solidFill>
                                <a:latin typeface="Cambria Math" panose="02040503050406030204" pitchFamily="18" charset="0"/>
                              </a:rPr>
                              <m:t>𝐴</m:t>
                            </m:r>
                          </m:e>
                          <m:sub>
                            <m:r>
                              <a:rPr lang="en-US" altLang="zh-CN" sz="1400" i="1" dirty="0">
                                <a:solidFill>
                                  <a:srgbClr val="00B050"/>
                                </a:solidFill>
                                <a:latin typeface="Cambria Math" panose="02040503050406030204" pitchFamily="18" charset="0"/>
                              </a:rPr>
                              <m:t>𝑝𝑟𝑜𝑗𝑒𝑐𝑡𝑒𝑑</m:t>
                            </m:r>
                            <m:r>
                              <a:rPr lang="en-US" altLang="zh-CN" sz="1400" i="1" dirty="0">
                                <a:solidFill>
                                  <a:srgbClr val="00B050"/>
                                </a:solidFill>
                                <a:latin typeface="Cambria Math" panose="02040503050406030204" pitchFamily="18" charset="0"/>
                              </a:rPr>
                              <m:t>_</m:t>
                            </m:r>
                            <m:r>
                              <a:rPr lang="en-US" altLang="zh-CN" sz="1400" i="1" dirty="0">
                                <a:solidFill>
                                  <a:srgbClr val="00B050"/>
                                </a:solidFill>
                                <a:latin typeface="Cambria Math" panose="02040503050406030204" pitchFamily="18" charset="0"/>
                              </a:rPr>
                              <m:t>𝑣𝑖𝑠𝑖𝑏𝑙𝑒</m:t>
                            </m:r>
                          </m:sub>
                        </m:sSub>
                      </m:oMath>
                    </m:oMathPara>
                  </a14:m>
                  <a:endParaRPr lang="zh-CN" altLang="en-US" sz="1400" dirty="0">
                    <a:solidFill>
                      <a:srgbClr val="00B050"/>
                    </a:solidFill>
                  </a:endParaRPr>
                </a:p>
              </p:txBody>
            </p:sp>
          </mc:Choice>
          <mc:Fallback xmlns="">
            <p:sp>
              <p:nvSpPr>
                <p:cNvPr id="11" name="文本框 10">
                  <a:extLst>
                    <a:ext uri="{FF2B5EF4-FFF2-40B4-BE49-F238E27FC236}">
                      <a16:creationId xmlns:a16="http://schemas.microsoft.com/office/drawing/2014/main" id="{003B5F69-FCA2-6390-0A8D-119A5842504C}"/>
                    </a:ext>
                  </a:extLst>
                </p:cNvPr>
                <p:cNvSpPr txBox="1">
                  <a:spLocks noRot="1" noChangeAspect="1" noMove="1" noResize="1" noEditPoints="1" noAdjustHandles="1" noChangeArrowheads="1" noChangeShapeType="1" noTextEdit="1"/>
                </p:cNvSpPr>
                <p:nvPr/>
              </p:nvSpPr>
              <p:spPr>
                <a:xfrm>
                  <a:off x="10405475" y="2494705"/>
                  <a:ext cx="1786525" cy="325089"/>
                </a:xfrm>
                <a:prstGeom prst="rect">
                  <a:avLst/>
                </a:prstGeom>
                <a:blipFill>
                  <a:blip r:embed="rId9"/>
                  <a:stretch>
                    <a:fillRect b="-1852"/>
                  </a:stretch>
                </a:blipFill>
              </p:spPr>
              <p:txBody>
                <a:bodyPr/>
                <a:lstStyle/>
                <a:p>
                  <a:r>
                    <a:rPr lang="zh-CN" altLang="en-US">
                      <a:noFill/>
                    </a:rPr>
                    <a:t> </a:t>
                  </a:r>
                </a:p>
              </p:txBody>
            </p:sp>
          </mc:Fallback>
        </mc:AlternateContent>
        <p:cxnSp>
          <p:nvCxnSpPr>
            <p:cNvPr id="12" name="直接箭头连接符 11">
              <a:extLst>
                <a:ext uri="{FF2B5EF4-FFF2-40B4-BE49-F238E27FC236}">
                  <a16:creationId xmlns:a16="http://schemas.microsoft.com/office/drawing/2014/main" id="{B6E0060A-0E6D-1751-316A-6EA882B19BDB}"/>
                </a:ext>
              </a:extLst>
            </p:cNvPr>
            <p:cNvCxnSpPr>
              <a:cxnSpLocks/>
            </p:cNvCxnSpPr>
            <p:nvPr/>
          </p:nvCxnSpPr>
          <p:spPr>
            <a:xfrm flipH="1" flipV="1">
              <a:off x="10600882" y="2973876"/>
              <a:ext cx="709637" cy="859022"/>
            </a:xfrm>
            <a:prstGeom prst="straightConnector1">
              <a:avLst/>
            </a:prstGeom>
            <a:ln w="19050">
              <a:solidFill>
                <a:srgbClr val="FFA40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18D84917-6DE7-8F6F-FC74-AE76C3203010}"/>
                    </a:ext>
                  </a:extLst>
                </p:cNvPr>
                <p:cNvSpPr txBox="1"/>
                <p:nvPr/>
              </p:nvSpPr>
              <p:spPr>
                <a:xfrm>
                  <a:off x="10760268" y="2839095"/>
                  <a:ext cx="1222853"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400" b="0" i="1" dirty="0" smtClean="0">
                                <a:solidFill>
                                  <a:srgbClr val="FFA401"/>
                                </a:solidFill>
                                <a:latin typeface="Cambria Math" panose="02040503050406030204" pitchFamily="18" charset="0"/>
                              </a:rPr>
                            </m:ctrlPr>
                          </m:sSubSupPr>
                          <m:e>
                            <m:r>
                              <a:rPr lang="en-US" altLang="zh-CN" sz="1400" b="0" i="1" dirty="0" smtClean="0">
                                <a:solidFill>
                                  <a:srgbClr val="FFA401"/>
                                </a:solidFill>
                                <a:latin typeface="Cambria Math" panose="02040503050406030204" pitchFamily="18" charset="0"/>
                              </a:rPr>
                              <m:t>𝐿</m:t>
                            </m:r>
                          </m:e>
                          <m:sub>
                            <m:r>
                              <a:rPr lang="en-US" altLang="zh-CN" sz="1400" b="0" i="1" dirty="0" smtClean="0">
                                <a:solidFill>
                                  <a:srgbClr val="FFA401"/>
                                </a:solidFill>
                                <a:latin typeface="Cambria Math" panose="02040503050406030204" pitchFamily="18" charset="0"/>
                              </a:rPr>
                              <m:t>𝑜</m:t>
                            </m:r>
                          </m:sub>
                          <m:sup>
                            <m:r>
                              <a:rPr lang="en-US" altLang="zh-CN" sz="1400" b="1" i="1" dirty="0" smtClean="0">
                                <a:solidFill>
                                  <a:srgbClr val="FFA401"/>
                                </a:solidFill>
                                <a:latin typeface="Cambria Math" panose="02040503050406030204" pitchFamily="18" charset="0"/>
                              </a:rPr>
                              <m:t>𝒎</m:t>
                            </m:r>
                          </m:sup>
                        </m:sSubSup>
                        <m:d>
                          <m:dPr>
                            <m:ctrlPr>
                              <a:rPr lang="en-US" altLang="zh-CN" sz="1400" b="0" i="1" dirty="0" smtClean="0">
                                <a:solidFill>
                                  <a:srgbClr val="FFA401"/>
                                </a:solidFill>
                                <a:latin typeface="Cambria Math" panose="02040503050406030204" pitchFamily="18" charset="0"/>
                              </a:rPr>
                            </m:ctrlPr>
                          </m:dPr>
                          <m:e>
                            <m:r>
                              <a:rPr lang="en-US" altLang="zh-CN" sz="1400" b="1" i="1" dirty="0" smtClean="0">
                                <a:solidFill>
                                  <a:srgbClr val="FFA401"/>
                                </a:solidFill>
                                <a:latin typeface="Cambria Math" panose="02040503050406030204" pitchFamily="18" charset="0"/>
                              </a:rPr>
                              <m:t>𝒐</m:t>
                            </m:r>
                          </m:e>
                        </m:d>
                      </m:oMath>
                    </m:oMathPara>
                  </a14:m>
                  <a:endParaRPr lang="zh-CN" altLang="en-US" sz="1400" dirty="0">
                    <a:solidFill>
                      <a:srgbClr val="FFA401"/>
                    </a:solidFill>
                  </a:endParaRPr>
                </a:p>
              </p:txBody>
            </p:sp>
          </mc:Choice>
          <mc:Fallback xmlns="">
            <p:sp>
              <p:nvSpPr>
                <p:cNvPr id="14" name="文本框 13">
                  <a:extLst>
                    <a:ext uri="{FF2B5EF4-FFF2-40B4-BE49-F238E27FC236}">
                      <a16:creationId xmlns:a16="http://schemas.microsoft.com/office/drawing/2014/main" id="{BF97F1F5-B2E0-EE8C-3290-0D5DB699829D}"/>
                    </a:ext>
                  </a:extLst>
                </p:cNvPr>
                <p:cNvSpPr txBox="1">
                  <a:spLocks noRot="1" noChangeAspect="1" noMove="1" noResize="1" noEditPoints="1" noAdjustHandles="1" noChangeArrowheads="1" noChangeShapeType="1" noTextEdit="1"/>
                </p:cNvSpPr>
                <p:nvPr/>
              </p:nvSpPr>
              <p:spPr>
                <a:xfrm>
                  <a:off x="10760268" y="2839095"/>
                  <a:ext cx="1222853" cy="307777"/>
                </a:xfrm>
                <a:prstGeom prst="rect">
                  <a:avLst/>
                </a:prstGeom>
                <a:blipFill>
                  <a:blip r:embed="rId10"/>
                  <a:stretch>
                    <a:fillRect/>
                  </a:stretch>
                </a:blipFill>
              </p:spPr>
              <p:txBody>
                <a:bodyPr/>
                <a:lstStyle/>
                <a:p>
                  <a:r>
                    <a:rPr lang="zh-CN" altLang="en-US">
                      <a:noFill/>
                    </a:rPr>
                    <a:t> </a:t>
                  </a:r>
                </a:p>
              </p:txBody>
            </p:sp>
          </mc:Fallback>
        </mc:AlternateContent>
        <p:cxnSp>
          <p:nvCxnSpPr>
            <p:cNvPr id="15" name="直接箭头连接符 14">
              <a:extLst>
                <a:ext uri="{FF2B5EF4-FFF2-40B4-BE49-F238E27FC236}">
                  <a16:creationId xmlns:a16="http://schemas.microsoft.com/office/drawing/2014/main" id="{F6F2115E-DB5D-8640-6600-3BC45197CBF1}"/>
                </a:ext>
              </a:extLst>
            </p:cNvPr>
            <p:cNvCxnSpPr>
              <a:cxnSpLocks/>
            </p:cNvCxnSpPr>
            <p:nvPr/>
          </p:nvCxnSpPr>
          <p:spPr>
            <a:xfrm flipH="1" flipV="1">
              <a:off x="10295266" y="2688247"/>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B0F857D6-1B6B-18BC-1FC5-C5521A5AEEB1}"/>
                </a:ext>
              </a:extLst>
            </p:cNvPr>
            <p:cNvCxnSpPr/>
            <p:nvPr/>
          </p:nvCxnSpPr>
          <p:spPr>
            <a:xfrm flipH="1" flipV="1">
              <a:off x="10418989" y="2595881"/>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B817C08B-69A0-9713-5FD9-2F337D9E92E3}"/>
                </a:ext>
              </a:extLst>
            </p:cNvPr>
            <p:cNvCxnSpPr/>
            <p:nvPr/>
          </p:nvCxnSpPr>
          <p:spPr>
            <a:xfrm flipH="1" flipV="1">
              <a:off x="10360325" y="2642611"/>
              <a:ext cx="100998" cy="138472"/>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2ADDF608-A184-99D6-77C7-F121A88EEF6C}"/>
                    </a:ext>
                  </a:extLst>
                </p:cNvPr>
                <p:cNvSpPr txBox="1"/>
                <p:nvPr/>
              </p:nvSpPr>
              <p:spPr>
                <a:xfrm>
                  <a:off x="10295266" y="2242512"/>
                  <a:ext cx="1179012" cy="30777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1400" i="1" dirty="0" smtClean="0">
                                <a:solidFill>
                                  <a:srgbClr val="92D050"/>
                                </a:solidFill>
                                <a:latin typeface="Cambria Math" panose="02040503050406030204" pitchFamily="18" charset="0"/>
                              </a:rPr>
                            </m:ctrlPr>
                          </m:sSubPr>
                          <m:e>
                            <m:r>
                              <m:rPr>
                                <m:sty m:val="p"/>
                              </m:rPr>
                              <a:rPr lang="en-US" altLang="zh-CN" sz="1400" dirty="0">
                                <a:solidFill>
                                  <a:srgbClr val="92D050"/>
                                </a:solidFill>
                                <a:latin typeface="Cambria Math" panose="02040503050406030204" pitchFamily="18" charset="0"/>
                              </a:rPr>
                              <m:t>I</m:t>
                            </m:r>
                          </m:e>
                          <m:sub>
                            <m:r>
                              <m:rPr>
                                <m:sty m:val="p"/>
                              </m:rPr>
                              <a:rPr lang="en-US" altLang="zh-CN" sz="1400" dirty="0">
                                <a:solidFill>
                                  <a:srgbClr val="92D050"/>
                                </a:solidFill>
                                <a:latin typeface="Cambria Math" panose="02040503050406030204" pitchFamily="18" charset="0"/>
                              </a:rPr>
                              <m:t>o</m:t>
                            </m:r>
                          </m:sub>
                        </m:sSub>
                        <m:d>
                          <m:dPr>
                            <m:ctrlPr>
                              <a:rPr lang="en-US" altLang="zh-CN" sz="1400" i="1" dirty="0">
                                <a:solidFill>
                                  <a:srgbClr val="92D050"/>
                                </a:solidFill>
                                <a:latin typeface="Cambria Math" panose="02040503050406030204" pitchFamily="18" charset="0"/>
                              </a:rPr>
                            </m:ctrlPr>
                          </m:dPr>
                          <m:e>
                            <m:r>
                              <a:rPr lang="en-US" altLang="zh-CN" sz="1400" b="1" i="1" dirty="0" smtClean="0">
                                <a:solidFill>
                                  <a:srgbClr val="92D050"/>
                                </a:solidFill>
                                <a:latin typeface="Cambria Math" panose="02040503050406030204" pitchFamily="18" charset="0"/>
                              </a:rPr>
                              <m:t>𝒐</m:t>
                            </m:r>
                            <m:r>
                              <a:rPr lang="en-US" altLang="zh-CN" sz="1400" i="1" dirty="0">
                                <a:solidFill>
                                  <a:srgbClr val="92D050"/>
                                </a:solidFill>
                                <a:latin typeface="Cambria Math" panose="02040503050406030204" pitchFamily="18" charset="0"/>
                              </a:rPr>
                              <m:t>,</m:t>
                            </m:r>
                            <m:r>
                              <a:rPr lang="en-US" altLang="zh-CN" sz="1400" b="1" i="1" dirty="0" smtClean="0">
                                <a:solidFill>
                                  <a:srgbClr val="92D050"/>
                                </a:solidFill>
                                <a:latin typeface="Cambria Math" panose="02040503050406030204" pitchFamily="18" charset="0"/>
                              </a:rPr>
                              <m:t>𝒎</m:t>
                            </m:r>
                          </m:e>
                        </m:d>
                      </m:oMath>
                    </m:oMathPara>
                  </a14:m>
                  <a:endParaRPr lang="zh-CN" altLang="en-US" sz="1400" dirty="0">
                    <a:solidFill>
                      <a:srgbClr val="92D050"/>
                    </a:solidFill>
                  </a:endParaRPr>
                </a:p>
              </p:txBody>
            </p:sp>
          </mc:Choice>
          <mc:Fallback xmlns="">
            <p:sp>
              <p:nvSpPr>
                <p:cNvPr id="18" name="文本框 17">
                  <a:extLst>
                    <a:ext uri="{FF2B5EF4-FFF2-40B4-BE49-F238E27FC236}">
                      <a16:creationId xmlns:a16="http://schemas.microsoft.com/office/drawing/2014/main" id="{14D939C5-2258-0CAE-AD31-8AAB2EABD6C7}"/>
                    </a:ext>
                  </a:extLst>
                </p:cNvPr>
                <p:cNvSpPr txBox="1">
                  <a:spLocks noRot="1" noChangeAspect="1" noMove="1" noResize="1" noEditPoints="1" noAdjustHandles="1" noChangeArrowheads="1" noChangeShapeType="1" noTextEdit="1"/>
                </p:cNvSpPr>
                <p:nvPr/>
              </p:nvSpPr>
              <p:spPr>
                <a:xfrm>
                  <a:off x="10295266" y="2242512"/>
                  <a:ext cx="1179012" cy="307777"/>
                </a:xfrm>
                <a:prstGeom prst="rect">
                  <a:avLst/>
                </a:prstGeom>
                <a:blipFill>
                  <a:blip r:embed="rId11"/>
                  <a:stretch>
                    <a:fillRect/>
                  </a:stretch>
                </a:blipFill>
              </p:spPr>
              <p:txBody>
                <a:bodyPr/>
                <a:lstStyle/>
                <a:p>
                  <a:r>
                    <a:rPr lang="zh-CN" altLang="en-US">
                      <a:noFill/>
                    </a:rPr>
                    <a:t> </a:t>
                  </a:r>
                </a:p>
              </p:txBody>
            </p:sp>
          </mc:Fallback>
        </mc:AlternateContent>
      </p:grpSp>
      <p:pic>
        <p:nvPicPr>
          <p:cNvPr id="32" name="图片 31">
            <a:extLst>
              <a:ext uri="{FF2B5EF4-FFF2-40B4-BE49-F238E27FC236}">
                <a16:creationId xmlns:a16="http://schemas.microsoft.com/office/drawing/2014/main" id="{67457D6A-972C-5989-7C55-38E7DADEDBB3}"/>
              </a:ext>
            </a:extLst>
          </p:cNvPr>
          <p:cNvPicPr>
            <a:picLocks noChangeAspect="1"/>
          </p:cNvPicPr>
          <p:nvPr/>
        </p:nvPicPr>
        <p:blipFill>
          <a:blip r:embed="rId12"/>
          <a:stretch>
            <a:fillRect/>
          </a:stretch>
        </p:blipFill>
        <p:spPr>
          <a:xfrm>
            <a:off x="6302241" y="4438951"/>
            <a:ext cx="4608262" cy="2097500"/>
          </a:xfrm>
          <a:prstGeom prst="rect">
            <a:avLst/>
          </a:prstGeom>
        </p:spPr>
      </p:pic>
      <p:pic>
        <p:nvPicPr>
          <p:cNvPr id="30" name="图片 29">
            <a:extLst>
              <a:ext uri="{FF2B5EF4-FFF2-40B4-BE49-F238E27FC236}">
                <a16:creationId xmlns:a16="http://schemas.microsoft.com/office/drawing/2014/main" id="{EA47E853-D3B6-ED91-18E0-FAB1904EF827}"/>
              </a:ext>
            </a:extLst>
          </p:cNvPr>
          <p:cNvPicPr>
            <a:picLocks noChangeAspect="1"/>
          </p:cNvPicPr>
          <p:nvPr/>
        </p:nvPicPr>
        <p:blipFill>
          <a:blip r:embed="rId13"/>
          <a:stretch>
            <a:fillRect/>
          </a:stretch>
        </p:blipFill>
        <p:spPr>
          <a:xfrm>
            <a:off x="686830" y="4770586"/>
            <a:ext cx="4625678" cy="1434230"/>
          </a:xfrm>
          <a:prstGeom prst="rect">
            <a:avLst/>
          </a:prstGeom>
        </p:spPr>
      </p:pic>
    </p:spTree>
    <p:extLst>
      <p:ext uri="{BB962C8B-B14F-4D97-AF65-F5344CB8AC3E}">
        <p14:creationId xmlns:p14="http://schemas.microsoft.com/office/powerpoint/2010/main" val="352750505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228B-43B8-7EB2-5076-75073221C9E4}"/>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B122594F-0E0F-0C4D-31E2-3189B7175F02}"/>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重要性采样</a:t>
                </a:r>
                <a14:m>
                  <m:oMath xmlns:m="http://schemas.openxmlformats.org/officeDocument/2006/math">
                    <m:sSub>
                      <m:sSubPr>
                        <m:ctrlPr>
                          <a:rPr lang="en-US" altLang="zh-CN" sz="3200" i="1" dirty="0" smtClean="0">
                            <a:solidFill>
                              <a:schemeClr val="tx1"/>
                            </a:solidFill>
                            <a:latin typeface="Cambria Math" panose="02040503050406030204" pitchFamily="18" charset="0"/>
                          </a:rPr>
                        </m:ctrlPr>
                      </m:sSubPr>
                      <m:e>
                        <m:r>
                          <a:rPr lang="en-US" altLang="zh-CN" sz="3200" i="1" dirty="0">
                            <a:solidFill>
                              <a:schemeClr val="tx1"/>
                            </a:solidFill>
                            <a:latin typeface="Cambria Math" panose="02040503050406030204" pitchFamily="18" charset="0"/>
                          </a:rPr>
                          <m:t>𝐷</m:t>
                        </m:r>
                      </m:e>
                      <m:sub>
                        <m:r>
                          <a:rPr lang="en-US" altLang="zh-CN" sz="3200" i="1" dirty="0">
                            <a:solidFill>
                              <a:schemeClr val="tx1"/>
                            </a:solidFill>
                            <a:latin typeface="Cambria Math" panose="02040503050406030204" pitchFamily="18" charset="0"/>
                          </a:rPr>
                          <m:t>𝑣</m:t>
                        </m:r>
                      </m:sub>
                    </m:sSub>
                    <m:d>
                      <m:dPr>
                        <m:ctrlPr>
                          <a:rPr lang="en-US" altLang="zh-CN" sz="3200" i="1" dirty="0">
                            <a:solidFill>
                              <a:schemeClr val="tx1"/>
                            </a:solidFill>
                            <a:latin typeface="Cambria Math" panose="02040503050406030204" pitchFamily="18" charset="0"/>
                          </a:rPr>
                        </m:ctrlPr>
                      </m:dPr>
                      <m:e>
                        <m:r>
                          <a:rPr lang="en-US" altLang="zh-CN" sz="3200" b="1" i="1" dirty="0">
                            <a:solidFill>
                              <a:schemeClr val="tx1"/>
                            </a:solidFill>
                            <a:latin typeface="Cambria Math" panose="02040503050406030204" pitchFamily="18" charset="0"/>
                          </a:rPr>
                          <m:t>𝒐</m:t>
                        </m:r>
                        <m:r>
                          <a:rPr lang="en-US" altLang="zh-CN" sz="3200" b="1" i="1" dirty="0">
                            <a:solidFill>
                              <a:schemeClr val="tx1"/>
                            </a:solidFill>
                            <a:latin typeface="Cambria Math" panose="02040503050406030204" pitchFamily="18" charset="0"/>
                          </a:rPr>
                          <m:t>,</m:t>
                        </m:r>
                        <m:r>
                          <a:rPr lang="en-US" altLang="zh-CN" sz="3200" i="1" dirty="0">
                            <a:solidFill>
                              <a:schemeClr val="tx1"/>
                            </a:solidFill>
                            <a:latin typeface="Cambria Math" panose="02040503050406030204" pitchFamily="18" charset="0"/>
                          </a:rPr>
                          <m:t> </m:t>
                        </m:r>
                        <m:r>
                          <a:rPr lang="en-US" altLang="zh-CN" sz="3200" b="1" i="1" dirty="0">
                            <a:solidFill>
                              <a:schemeClr val="tx1"/>
                            </a:solidFill>
                            <a:latin typeface="Cambria Math" panose="02040503050406030204" pitchFamily="18" charset="0"/>
                          </a:rPr>
                          <m:t>𝒎</m:t>
                        </m:r>
                      </m:e>
                    </m:d>
                  </m:oMath>
                </a14:m>
                <a:endParaRPr lang="en-US" altLang="zh-CN" dirty="0"/>
              </a:p>
            </p:txBody>
          </p:sp>
        </mc:Choice>
        <mc:Fallback xmlns="">
          <p:sp>
            <p:nvSpPr>
              <p:cNvPr id="13" name="标题 2">
                <a:extLst>
                  <a:ext uri="{FF2B5EF4-FFF2-40B4-BE49-F238E27FC236}">
                    <a16:creationId xmlns:a16="http://schemas.microsoft.com/office/drawing/2014/main" id="{B122594F-0E0F-0C4D-31E2-3189B7175F02}"/>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864" b="-7627"/>
                </a:stretch>
              </a:blipFill>
            </p:spPr>
            <p:txBody>
              <a:bodyPr/>
              <a:lstStyle/>
              <a:p>
                <a:r>
                  <a:rPr lang="zh-CN" altLang="en-US">
                    <a:noFill/>
                  </a:rPr>
                  <a:t> </a:t>
                </a:r>
              </a:p>
            </p:txBody>
          </p:sp>
        </mc:Fallback>
      </mc:AlternateContent>
      <p:sp>
        <p:nvSpPr>
          <p:cNvPr id="63" name="矩形 62">
            <a:extLst>
              <a:ext uri="{FF2B5EF4-FFF2-40B4-BE49-F238E27FC236}">
                <a16:creationId xmlns:a16="http://schemas.microsoft.com/office/drawing/2014/main" id="{4DE57EA0-55B7-399E-80B5-FCD450673827}"/>
              </a:ext>
            </a:extLst>
          </p:cNvPr>
          <p:cNvSpPr/>
          <p:nvPr/>
        </p:nvSpPr>
        <p:spPr>
          <a:xfrm>
            <a:off x="631109" y="1315232"/>
            <a:ext cx="7030643" cy="506051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mc:Choice xmlns:a14="http://schemas.microsoft.com/office/drawing/2010/main" Requires="a14">
          <p:sp>
            <p:nvSpPr>
              <p:cNvPr id="64" name="矩形 63">
                <a:extLst>
                  <a:ext uri="{FF2B5EF4-FFF2-40B4-BE49-F238E27FC236}">
                    <a16:creationId xmlns:a16="http://schemas.microsoft.com/office/drawing/2014/main" id="{2E277698-D42D-20EA-7D56-99898D85F19A}"/>
                  </a:ext>
                </a:extLst>
              </p:cNvPr>
              <p:cNvSpPr/>
              <p:nvPr/>
            </p:nvSpPr>
            <p:spPr>
              <a:xfrm>
                <a:off x="478709" y="1144043"/>
                <a:ext cx="7030643" cy="506051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lang="zh-CN" altLang="en-US" sz="1400" dirty="0">
                    <a:solidFill>
                      <a:schemeClr val="tx1"/>
                    </a:solidFill>
                  </a:rPr>
                  <a:t>        可以看到，可见球体表面投影到观察方向后，可以看作是一个半圆（红色）加上一个压扁的半圆（蓝色），这个压扁的半圆是因为进行了投影操作，半圆高度压缩到了原来的</a:t>
                </a:r>
                <a14:m>
                  <m:oMath xmlns:m="http://schemas.openxmlformats.org/officeDocument/2006/math">
                    <m:func>
                      <m:funcPr>
                        <m:ctrlPr>
                          <a:rPr lang="en-US" altLang="zh-CN" sz="1400" b="0" i="1" dirty="0" smtClean="0">
                            <a:solidFill>
                              <a:schemeClr val="tx1"/>
                            </a:solidFill>
                            <a:latin typeface="Cambria Math" panose="02040503050406030204" pitchFamily="18" charset="0"/>
                          </a:rPr>
                        </m:ctrlPr>
                      </m:funcPr>
                      <m:fName>
                        <m:r>
                          <m:rPr>
                            <m:sty m:val="p"/>
                          </m:rPr>
                          <a:rPr lang="en-US" altLang="zh-CN" sz="1400" b="0" i="0" dirty="0" smtClean="0">
                            <a:solidFill>
                              <a:schemeClr val="tx1"/>
                            </a:solidFill>
                            <a:latin typeface="Cambria Math" panose="02040503050406030204" pitchFamily="18" charset="0"/>
                          </a:rPr>
                          <m:t>cos</m:t>
                        </m:r>
                      </m:fName>
                      <m:e>
                        <m:sSubSup>
                          <m:sSubSupPr>
                            <m:ctrlPr>
                              <a:rPr lang="en-US" altLang="zh-CN" sz="1400" b="0" i="1" dirty="0" smtClean="0">
                                <a:solidFill>
                                  <a:schemeClr val="tx1"/>
                                </a:solidFill>
                                <a:latin typeface="Cambria Math" panose="02040503050406030204" pitchFamily="18" charset="0"/>
                              </a:rPr>
                            </m:ctrlPr>
                          </m:sSubSupPr>
                          <m:e>
                            <m:r>
                              <a:rPr lang="en-US" altLang="zh-CN" sz="1400" b="0" i="1" dirty="0" smtClean="0">
                                <a:solidFill>
                                  <a:schemeClr val="tx1"/>
                                </a:solidFill>
                                <a:latin typeface="Cambria Math" panose="02040503050406030204" pitchFamily="18" charset="0"/>
                              </a:rPr>
                              <m:t>𝜃</m:t>
                            </m:r>
                          </m:e>
                          <m:sub>
                            <m:sSub>
                              <m:sSubPr>
                                <m:ctrlPr>
                                  <a:rPr lang="en-US" altLang="zh-CN" sz="1400" b="0" i="1" dirty="0" smtClean="0">
                                    <a:solidFill>
                                      <a:schemeClr val="tx1"/>
                                    </a:solidFill>
                                    <a:latin typeface="Cambria Math" panose="02040503050406030204" pitchFamily="18" charset="0"/>
                                  </a:rPr>
                                </m:ctrlPr>
                              </m:sSubPr>
                              <m:e>
                                <m:r>
                                  <a:rPr lang="en-US" altLang="zh-CN" sz="1400" b="0" i="1" dirty="0" smtClean="0">
                                    <a:solidFill>
                                      <a:schemeClr val="tx1"/>
                                    </a:solidFill>
                                    <a:latin typeface="Cambria Math" panose="02040503050406030204" pitchFamily="18" charset="0"/>
                                  </a:rPr>
                                  <m:t>𝑜</m:t>
                                </m:r>
                              </m:e>
                              <m:sub>
                                <m:r>
                                  <a:rPr lang="en-US" altLang="zh-CN" sz="1400" b="0" i="1" dirty="0" smtClean="0">
                                    <a:solidFill>
                                      <a:schemeClr val="tx1"/>
                                    </a:solidFill>
                                    <a:latin typeface="Cambria Math" panose="02040503050406030204" pitchFamily="18" charset="0"/>
                                  </a:rPr>
                                  <m:t>h𝑒𝑚𝑖</m:t>
                                </m:r>
                              </m:sub>
                            </m:sSub>
                          </m:sub>
                          <m:sup>
                            <m:r>
                              <a:rPr lang="en-US" altLang="zh-CN" sz="1400" b="0" i="1" dirty="0" smtClean="0">
                                <a:solidFill>
                                  <a:schemeClr val="tx1"/>
                                </a:solidFill>
                                <a:latin typeface="Cambria Math" panose="02040503050406030204" pitchFamily="18" charset="0"/>
                              </a:rPr>
                              <m:t>+</m:t>
                            </m:r>
                          </m:sup>
                        </m:sSubSup>
                      </m:e>
                    </m:func>
                  </m:oMath>
                </a14:m>
                <a:r>
                  <a:rPr lang="zh-CN" altLang="en-US" sz="1400" dirty="0">
                    <a:solidFill>
                      <a:schemeClr val="tx1"/>
                    </a:solidFill>
                  </a:rPr>
                  <a:t>倍。</a:t>
                </a:r>
                <a:endParaRPr lang="en-US" altLang="zh-CN" sz="1400" dirty="0">
                  <a:solidFill>
                    <a:schemeClr val="tx1"/>
                  </a:solidFill>
                </a:endParaRPr>
              </a:p>
              <a:p>
                <a:pPr>
                  <a:lnSpc>
                    <a:spcPct val="120000"/>
                  </a:lnSpc>
                </a:pPr>
                <a:r>
                  <a:rPr lang="en-US" altLang="zh-CN" sz="1400" dirty="0">
                    <a:solidFill>
                      <a:schemeClr val="tx1"/>
                    </a:solidFill>
                  </a:rPr>
                  <a:t>        </a:t>
                </a:r>
                <a:r>
                  <a:rPr lang="zh-CN" altLang="en-US" sz="1400" dirty="0">
                    <a:solidFill>
                      <a:schemeClr val="tx1"/>
                    </a:solidFill>
                  </a:rPr>
                  <a:t>最简单的情况，投影面积为一个圆形，</a:t>
                </a:r>
                <a14:m>
                  <m:oMath xmlns:m="http://schemas.openxmlformats.org/officeDocument/2006/math">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x</m:t>
                        </m:r>
                      </m:e>
                      <m:sup>
                        <m:r>
                          <a:rPr lang="en-US" altLang="zh-CN" sz="1400" b="0" i="0" dirty="0" smtClean="0">
                            <a:solidFill>
                              <a:schemeClr val="tx1"/>
                            </a:solidFill>
                            <a:latin typeface="Cambria Math" panose="02040503050406030204" pitchFamily="18" charset="0"/>
                          </a:rPr>
                          <m:t>2</m:t>
                        </m:r>
                      </m:sup>
                    </m:sSup>
                    <m:r>
                      <a:rPr lang="en-US" altLang="zh-CN" sz="1400" b="0" i="0" dirty="0" smtClean="0">
                        <a:solidFill>
                          <a:schemeClr val="tx1"/>
                        </a:solidFill>
                        <a:latin typeface="Cambria Math" panose="02040503050406030204" pitchFamily="18" charset="0"/>
                      </a:rPr>
                      <m:t>+</m:t>
                    </m:r>
                    <m:sSup>
                      <m:sSupPr>
                        <m:ctrlPr>
                          <a:rPr lang="en-US" altLang="zh-CN" sz="1400" b="0" i="1" dirty="0" smtClean="0">
                            <a:solidFill>
                              <a:schemeClr val="tx1"/>
                            </a:solidFill>
                            <a:latin typeface="Cambria Math" panose="02040503050406030204" pitchFamily="18" charset="0"/>
                          </a:rPr>
                        </m:ctrlPr>
                      </m:sSupPr>
                      <m:e>
                        <m:r>
                          <m:rPr>
                            <m:sty m:val="p"/>
                          </m:rPr>
                          <a:rPr lang="en-US" altLang="zh-CN" sz="1400" b="0" i="0" dirty="0" smtClean="0">
                            <a:solidFill>
                              <a:schemeClr val="tx1"/>
                            </a:solidFill>
                            <a:latin typeface="Cambria Math" panose="02040503050406030204" pitchFamily="18" charset="0"/>
                          </a:rPr>
                          <m:t>y</m:t>
                        </m:r>
                      </m:e>
                      <m:sup>
                        <m:r>
                          <a:rPr lang="en-US" altLang="zh-CN" sz="1400" b="0" i="0" dirty="0" smtClean="0">
                            <a:solidFill>
                              <a:schemeClr val="tx1"/>
                            </a:solidFill>
                            <a:latin typeface="Cambria Math" panose="02040503050406030204" pitchFamily="18" charset="0"/>
                          </a:rPr>
                          <m:t>2</m:t>
                        </m:r>
                      </m:sup>
                    </m:sSup>
                    <m:r>
                      <a:rPr lang="en-US" altLang="zh-CN" sz="1400" b="0" i="0" dirty="0" smtClean="0">
                        <a:solidFill>
                          <a:schemeClr val="tx1"/>
                        </a:solidFill>
                        <a:latin typeface="Cambria Math" panose="02040503050406030204" pitchFamily="18" charset="0"/>
                      </a:rPr>
                      <m:t>=1</m:t>
                    </m:r>
                  </m:oMath>
                </a14:m>
                <a:r>
                  <a:rPr lang="zh-CN" altLang="en-US" sz="1400" dirty="0">
                    <a:solidFill>
                      <a:schemeClr val="tx1"/>
                    </a:solidFill>
                  </a:rPr>
                  <a:t>，所以只要均匀采样单位圆就可以了。</a:t>
                </a:r>
                <a:r>
                  <a:rPr lang="en-US" altLang="zh-CN" sz="1400" dirty="0">
                    <a:solidFill>
                      <a:schemeClr val="tx1"/>
                    </a:solidFill>
                  </a:rPr>
                  <a:t> </a:t>
                </a:r>
                <a14:m>
                  <m:oMath xmlns:m="http://schemas.openxmlformats.org/officeDocument/2006/math">
                    <m:r>
                      <m:rPr>
                        <m:sty m:val="p"/>
                      </m:rPr>
                      <a:rPr lang="en-US" altLang="zh-CN" sz="1400" b="0" i="0" dirty="0" smtClean="0">
                        <a:solidFill>
                          <a:schemeClr val="tx1"/>
                        </a:solidFill>
                        <a:latin typeface="Cambria Math" panose="02040503050406030204" pitchFamily="18" charset="0"/>
                      </a:rPr>
                      <m:t>x</m:t>
                    </m:r>
                    <m:r>
                      <a:rPr lang="en-US" altLang="zh-CN" sz="1400" b="0" i="1" dirty="0" smtClean="0">
                        <a:solidFill>
                          <a:schemeClr val="tx1"/>
                        </a:solidFill>
                        <a:latin typeface="Cambria Math" panose="02040503050406030204" pitchFamily="18" charset="0"/>
                      </a:rPr>
                      <m:t>∈</m:t>
                    </m:r>
                    <m:d>
                      <m:dPr>
                        <m:ctrlPr>
                          <a:rPr lang="en-US" altLang="zh-CN" sz="1400" b="0" i="1" dirty="0" smtClean="0">
                            <a:solidFill>
                              <a:schemeClr val="tx1"/>
                            </a:solidFill>
                            <a:latin typeface="Cambria Math" panose="02040503050406030204" pitchFamily="18" charset="0"/>
                          </a:rPr>
                        </m:ctrlPr>
                      </m:dPr>
                      <m:e>
                        <m:r>
                          <a:rPr lang="en-US" altLang="zh-CN" sz="1400" b="0" i="1" dirty="0" smtClean="0">
                            <a:solidFill>
                              <a:schemeClr val="tx1"/>
                            </a:solidFill>
                            <a:latin typeface="Cambria Math" panose="02040503050406030204" pitchFamily="18" charset="0"/>
                          </a:rPr>
                          <m:t>−1,1</m:t>
                        </m:r>
                      </m:e>
                    </m:d>
                  </m:oMath>
                </a14:m>
                <a:r>
                  <a:rPr lang="zh-CN" altLang="en-US" sz="1400" dirty="0">
                    <a:solidFill>
                      <a:schemeClr val="tx1"/>
                    </a:solidFill>
                  </a:rPr>
                  <a:t>，对于给定的</a:t>
                </a:r>
                <a14:m>
                  <m:oMath xmlns:m="http://schemas.openxmlformats.org/officeDocument/2006/math">
                    <m:r>
                      <m:rPr>
                        <m:sty m:val="p"/>
                      </m:rPr>
                      <a:rPr lang="en-US" altLang="zh-CN" sz="1400" dirty="0">
                        <a:solidFill>
                          <a:schemeClr val="tx1"/>
                        </a:solidFill>
                        <a:latin typeface="Cambria Math" panose="02040503050406030204" pitchFamily="18" charset="0"/>
                      </a:rPr>
                      <m:t>x</m:t>
                    </m:r>
                  </m:oMath>
                </a14:m>
                <a:r>
                  <a:rPr lang="zh-CN" altLang="en-US" sz="1400" dirty="0">
                    <a:solidFill>
                      <a:schemeClr val="tx1"/>
                    </a:solidFill>
                  </a:rPr>
                  <a:t>，</a:t>
                </a:r>
                <a:r>
                  <a:rPr lang="en-US" altLang="zh-CN" sz="1400" dirty="0">
                    <a:solidFill>
                      <a:schemeClr val="tx1"/>
                    </a:solidFill>
                  </a:rPr>
                  <a:t> </a:t>
                </a:r>
                <a14:m>
                  <m:oMath xmlns:m="http://schemas.openxmlformats.org/officeDocument/2006/math">
                    <m:r>
                      <a:rPr lang="en-US" altLang="zh-CN" sz="1400" b="0" i="1" smtClean="0">
                        <a:solidFill>
                          <a:schemeClr val="tx1"/>
                        </a:solidFill>
                        <a:latin typeface="Cambria Math" panose="02040503050406030204" pitchFamily="18" charset="0"/>
                      </a:rPr>
                      <m:t>𝑦</m:t>
                    </m:r>
                    <m:r>
                      <a:rPr lang="en-US" altLang="zh-CN" sz="1400" b="0" i="1" smtClean="0">
                        <a:solidFill>
                          <a:schemeClr val="tx1"/>
                        </a:solidFill>
                        <a:latin typeface="Cambria Math" panose="02040503050406030204" pitchFamily="18" charset="0"/>
                      </a:rPr>
                      <m:t>∈</m:t>
                    </m:r>
                    <m:d>
                      <m:dPr>
                        <m:ctrlPr>
                          <a:rPr lang="en-US" altLang="zh-CN" sz="1400" b="0" i="1" smtClean="0">
                            <a:solidFill>
                              <a:schemeClr val="tx1"/>
                            </a:solidFill>
                            <a:latin typeface="Cambria Math" panose="02040503050406030204" pitchFamily="18" charset="0"/>
                          </a:rPr>
                        </m:ctrlPr>
                      </m:dPr>
                      <m:e>
                        <m:r>
                          <a:rPr lang="en-US" altLang="zh-CN" sz="1400" b="0" i="1" smtClean="0">
                            <a:solidFill>
                              <a:schemeClr val="tx1"/>
                            </a:solidFill>
                            <a:latin typeface="Cambria Math" panose="02040503050406030204" pitchFamily="18" charset="0"/>
                          </a:rPr>
                          <m:t>−</m:t>
                        </m:r>
                        <m:r>
                          <a:rPr lang="en-US" altLang="zh-CN" sz="1400" b="0" i="1" smtClean="0">
                            <a:solidFill>
                              <a:schemeClr val="tx1"/>
                            </a:solidFill>
                            <a:latin typeface="Cambria Math" panose="02040503050406030204" pitchFamily="18" charset="0"/>
                          </a:rPr>
                          <m:t>h</m:t>
                        </m:r>
                        <m:r>
                          <a:rPr lang="en-US" altLang="zh-CN" sz="1400" b="0" i="1" smtClean="0">
                            <a:solidFill>
                              <a:schemeClr val="tx1"/>
                            </a:solidFill>
                            <a:latin typeface="Cambria Math" panose="02040503050406030204" pitchFamily="18" charset="0"/>
                          </a:rPr>
                          <m:t>,</m:t>
                        </m:r>
                        <m:r>
                          <a:rPr lang="en-US" altLang="zh-CN" sz="1400" b="0" i="1" smtClean="0">
                            <a:solidFill>
                              <a:schemeClr val="tx1"/>
                            </a:solidFill>
                            <a:latin typeface="Cambria Math" panose="02040503050406030204" pitchFamily="18" charset="0"/>
                          </a:rPr>
                          <m:t>h</m:t>
                        </m:r>
                      </m:e>
                    </m:d>
                    <m:r>
                      <a:rPr lang="en-US" altLang="zh-CN" sz="1400" b="0" i="1" smtClean="0">
                        <a:solidFill>
                          <a:schemeClr val="tx1"/>
                        </a:solidFill>
                        <a:latin typeface="Cambria Math" panose="02040503050406030204" pitchFamily="18" charset="0"/>
                      </a:rPr>
                      <m:t>,  </m:t>
                    </m:r>
                    <m:r>
                      <a:rPr lang="en-US" altLang="zh-CN" sz="1400" b="0" i="1" smtClean="0">
                        <a:solidFill>
                          <a:schemeClr val="tx1"/>
                        </a:solidFill>
                        <a:latin typeface="Cambria Math" panose="02040503050406030204" pitchFamily="18" charset="0"/>
                      </a:rPr>
                      <m:t>h</m:t>
                    </m:r>
                    <m:r>
                      <a:rPr lang="en-US" altLang="zh-CN" sz="1400" b="0" i="1" smtClean="0">
                        <a:solidFill>
                          <a:schemeClr val="tx1"/>
                        </a:solidFill>
                        <a:latin typeface="Cambria Math" panose="02040503050406030204" pitchFamily="18" charset="0"/>
                      </a:rPr>
                      <m:t>=</m:t>
                    </m:r>
                    <m:rad>
                      <m:radPr>
                        <m:degHide m:val="on"/>
                        <m:ctrlPr>
                          <a:rPr lang="en-US" altLang="zh-CN" sz="1400" b="0" i="1" smtClean="0">
                            <a:solidFill>
                              <a:schemeClr val="tx1"/>
                            </a:solidFill>
                            <a:latin typeface="Cambria Math" panose="02040503050406030204" pitchFamily="18" charset="0"/>
                          </a:rPr>
                        </m:ctrlPr>
                      </m:radPr>
                      <m:deg/>
                      <m:e>
                        <m:r>
                          <a:rPr lang="en-US" altLang="zh-CN" sz="1400" b="0" i="1" smtClean="0">
                            <a:solidFill>
                              <a:schemeClr val="tx1"/>
                            </a:solidFill>
                            <a:latin typeface="Cambria Math" panose="02040503050406030204" pitchFamily="18" charset="0"/>
                          </a:rPr>
                          <m:t>1−</m:t>
                        </m:r>
                        <m:sSup>
                          <m:sSupPr>
                            <m:ctrlPr>
                              <a:rPr lang="en-US" altLang="zh-CN" sz="1400" b="0" i="1" smtClean="0">
                                <a:solidFill>
                                  <a:schemeClr val="tx1"/>
                                </a:solidFill>
                                <a:latin typeface="Cambria Math" panose="02040503050406030204" pitchFamily="18" charset="0"/>
                              </a:rPr>
                            </m:ctrlPr>
                          </m:sSupPr>
                          <m:e>
                            <m:r>
                              <a:rPr lang="en-US" altLang="zh-CN" sz="1400" b="0" i="1" smtClean="0">
                                <a:solidFill>
                                  <a:schemeClr val="tx1"/>
                                </a:solidFill>
                                <a:latin typeface="Cambria Math" panose="02040503050406030204" pitchFamily="18" charset="0"/>
                              </a:rPr>
                              <m:t>𝑥</m:t>
                            </m:r>
                          </m:e>
                          <m:sup>
                            <m:r>
                              <a:rPr lang="en-US" altLang="zh-CN" sz="1400" b="0" i="1" smtClean="0">
                                <a:solidFill>
                                  <a:schemeClr val="tx1"/>
                                </a:solidFill>
                                <a:latin typeface="Cambria Math" panose="02040503050406030204" pitchFamily="18" charset="0"/>
                              </a:rPr>
                              <m:t>2</m:t>
                            </m:r>
                          </m:sup>
                        </m:sSup>
                      </m:e>
                    </m:rad>
                  </m:oMath>
                </a14:m>
                <a:r>
                  <a:rPr lang="zh-CN" altLang="en-US" sz="1400" dirty="0">
                    <a:solidFill>
                      <a:schemeClr val="tx1"/>
                    </a:solidFill>
                  </a:rPr>
                  <a:t>。</a:t>
                </a:r>
                <a:endParaRPr lang="en-US" altLang="zh-CN" sz="1400" dirty="0">
                  <a:solidFill>
                    <a:schemeClr val="tx1"/>
                  </a:solidFill>
                </a:endParaRPr>
              </a:p>
              <a:p>
                <a:pPr>
                  <a:lnSpc>
                    <a:spcPct val="120000"/>
                  </a:lnSpc>
                </a:pPr>
                <a:r>
                  <a:rPr lang="en-US" altLang="zh-CN" sz="1400" dirty="0">
                    <a:solidFill>
                      <a:schemeClr val="tx1"/>
                    </a:solidFill>
                  </a:rPr>
                  <a:t>        </a:t>
                </a:r>
                <a:r>
                  <a:rPr lang="zh-CN" altLang="en-US" sz="1400" dirty="0">
                    <a:solidFill>
                      <a:schemeClr val="tx1"/>
                    </a:solidFill>
                  </a:rPr>
                  <a:t>当</a:t>
                </a:r>
                <a14:m>
                  <m:oMath xmlns:m="http://schemas.openxmlformats.org/officeDocument/2006/math">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𝑜</m:t>
                            </m:r>
                          </m:e>
                          <m:sub>
                            <m:r>
                              <a:rPr lang="en-US" altLang="zh-CN" sz="1400" i="1" dirty="0">
                                <a:solidFill>
                                  <a:schemeClr val="tx1"/>
                                </a:solidFill>
                                <a:latin typeface="Cambria Math" panose="02040503050406030204" pitchFamily="18" charset="0"/>
                              </a:rPr>
                              <m:t>h𝑒𝑚𝑖</m:t>
                            </m:r>
                          </m:sub>
                        </m:sSub>
                      </m:sub>
                      <m:sup>
                        <m:r>
                          <a:rPr lang="en-US" altLang="zh-CN" sz="1400" i="1" dirty="0">
                            <a:solidFill>
                              <a:schemeClr val="tx1"/>
                            </a:solidFill>
                            <a:latin typeface="Cambria Math" panose="02040503050406030204" pitchFamily="18" charset="0"/>
                          </a:rPr>
                          <m:t>+</m:t>
                        </m:r>
                      </m:sup>
                    </m:sSubSup>
                  </m:oMath>
                </a14:m>
                <a:r>
                  <a:rPr lang="zh-CN" altLang="en-US" sz="1400" dirty="0">
                    <a:solidFill>
                      <a:schemeClr val="tx1"/>
                    </a:solidFill>
                  </a:rPr>
                  <a:t>开始增加，</a:t>
                </a:r>
                <a:r>
                  <a:rPr lang="en-US" altLang="zh-CN" sz="1400" dirty="0">
                    <a:solidFill>
                      <a:schemeClr val="tx1"/>
                    </a:solidFill>
                  </a:rPr>
                  <a:t> </a:t>
                </a:r>
                <a14:m>
                  <m:oMath xmlns:m="http://schemas.openxmlformats.org/officeDocument/2006/math">
                    <m:r>
                      <m:rPr>
                        <m:sty m:val="p"/>
                      </m:rPr>
                      <a:rPr lang="en-US" altLang="zh-CN" sz="1400" dirty="0">
                        <a:solidFill>
                          <a:schemeClr val="tx1"/>
                        </a:solidFill>
                        <a:latin typeface="Cambria Math" panose="02040503050406030204" pitchFamily="18" charset="0"/>
                      </a:rPr>
                      <m:t>x</m:t>
                    </m:r>
                    <m:r>
                      <a:rPr lang="en-US" altLang="zh-CN" sz="1400" i="1" dirty="0">
                        <a:solidFill>
                          <a:schemeClr val="tx1"/>
                        </a:solidFill>
                        <a:latin typeface="Cambria Math" panose="02040503050406030204" pitchFamily="18" charset="0"/>
                      </a:rPr>
                      <m:t>∈</m:t>
                    </m:r>
                    <m:d>
                      <m:dPr>
                        <m:ctrlPr>
                          <a:rPr lang="en-US" altLang="zh-CN" sz="1400" i="1" dirty="0">
                            <a:solidFill>
                              <a:schemeClr val="tx1"/>
                            </a:solidFill>
                            <a:latin typeface="Cambria Math" panose="02040503050406030204" pitchFamily="18" charset="0"/>
                          </a:rPr>
                        </m:ctrlPr>
                      </m:dPr>
                      <m:e>
                        <m:r>
                          <a:rPr lang="en-US" altLang="zh-CN" sz="1400" i="1" dirty="0">
                            <a:solidFill>
                              <a:schemeClr val="tx1"/>
                            </a:solidFill>
                            <a:latin typeface="Cambria Math" panose="02040503050406030204" pitchFamily="18" charset="0"/>
                          </a:rPr>
                          <m:t>−1,1</m:t>
                        </m:r>
                      </m:e>
                    </m:d>
                  </m:oMath>
                </a14:m>
                <a:r>
                  <a:rPr lang="zh-CN" altLang="en-US" sz="1400" dirty="0">
                    <a:solidFill>
                      <a:schemeClr val="tx1"/>
                    </a:solidFill>
                  </a:rPr>
                  <a:t>，对于给定的</a:t>
                </a:r>
                <a14:m>
                  <m:oMath xmlns:m="http://schemas.openxmlformats.org/officeDocument/2006/math">
                    <m:r>
                      <m:rPr>
                        <m:sty m:val="p"/>
                      </m:rPr>
                      <a:rPr lang="en-US" altLang="zh-CN" sz="1400" dirty="0">
                        <a:solidFill>
                          <a:schemeClr val="tx1"/>
                        </a:solidFill>
                        <a:latin typeface="Cambria Math" panose="02040503050406030204" pitchFamily="18" charset="0"/>
                      </a:rPr>
                      <m:t>x</m:t>
                    </m:r>
                  </m:oMath>
                </a14:m>
                <a:r>
                  <a:rPr lang="zh-CN" altLang="en-US" sz="1400" dirty="0">
                    <a:solidFill>
                      <a:schemeClr val="tx1"/>
                    </a:solidFill>
                  </a:rPr>
                  <a:t>，</a:t>
                </a:r>
                <a:r>
                  <a:rPr lang="en-US" altLang="zh-CN" sz="1400" dirty="0">
                    <a:solidFill>
                      <a:schemeClr val="tx1"/>
                    </a:solidFill>
                  </a:rPr>
                  <a:t> </a:t>
                </a:r>
                <a14:m>
                  <m:oMath xmlns:m="http://schemas.openxmlformats.org/officeDocument/2006/math">
                    <m:r>
                      <a:rPr lang="en-US" altLang="zh-CN" sz="1400" i="1">
                        <a:solidFill>
                          <a:schemeClr val="tx1"/>
                        </a:solidFill>
                        <a:latin typeface="Cambria Math" panose="02040503050406030204" pitchFamily="18" charset="0"/>
                      </a:rPr>
                      <m:t>𝑦</m:t>
                    </m:r>
                    <m:r>
                      <a:rPr lang="en-US" altLang="zh-CN" sz="1400" i="1">
                        <a:solidFill>
                          <a:schemeClr val="tx1"/>
                        </a:solidFill>
                        <a:latin typeface="Cambria Math" panose="02040503050406030204" pitchFamily="18" charset="0"/>
                      </a:rPr>
                      <m:t>∈</m:t>
                    </m:r>
                    <m:d>
                      <m:dPr>
                        <m:ctrlPr>
                          <a:rPr lang="en-US" altLang="zh-CN" sz="1400" i="1">
                            <a:solidFill>
                              <a:schemeClr val="tx1"/>
                            </a:solidFill>
                            <a:latin typeface="Cambria Math" panose="02040503050406030204" pitchFamily="18" charset="0"/>
                          </a:rPr>
                        </m:ctrlPr>
                      </m:dPr>
                      <m:e>
                        <m:r>
                          <a:rPr lang="en-US" altLang="zh-CN" sz="1400" i="1">
                            <a:solidFill>
                              <a:schemeClr val="tx1"/>
                            </a:solidFill>
                            <a:latin typeface="Cambria Math" panose="02040503050406030204" pitchFamily="18" charset="0"/>
                          </a:rPr>
                          <m:t>−</m:t>
                        </m:r>
                        <m:r>
                          <a:rPr lang="en-US" altLang="zh-CN" sz="1400" i="1">
                            <a:solidFill>
                              <a:schemeClr val="tx1"/>
                            </a:solidFill>
                            <a:latin typeface="Cambria Math" panose="02040503050406030204" pitchFamily="18" charset="0"/>
                          </a:rPr>
                          <m:t>h</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𝑜</m:t>
                                    </m:r>
                                  </m:e>
                                  <m:sub>
                                    <m:r>
                                      <a:rPr lang="en-US" altLang="zh-CN" sz="1400" i="1" dirty="0">
                                        <a:solidFill>
                                          <a:schemeClr val="tx1"/>
                                        </a:solidFill>
                                        <a:latin typeface="Cambria Math" panose="02040503050406030204" pitchFamily="18" charset="0"/>
                                      </a:rPr>
                                      <m:t>h𝑒𝑚𝑖</m:t>
                                    </m:r>
                                  </m:sub>
                                </m:sSub>
                              </m:sub>
                              <m:sup>
                                <m:r>
                                  <a:rPr lang="en-US" altLang="zh-CN" sz="1400" i="1" dirty="0">
                                    <a:solidFill>
                                      <a:schemeClr val="tx1"/>
                                    </a:solidFill>
                                    <a:latin typeface="Cambria Math" panose="02040503050406030204" pitchFamily="18" charset="0"/>
                                  </a:rPr>
                                  <m:t>+</m:t>
                                </m:r>
                              </m:sup>
                            </m:sSubSup>
                          </m:e>
                        </m:func>
                        <m:r>
                          <a:rPr lang="en-US" altLang="zh-CN" sz="1400" i="1">
                            <a:solidFill>
                              <a:schemeClr val="tx1"/>
                            </a:solidFill>
                            <a:latin typeface="Cambria Math" panose="02040503050406030204" pitchFamily="18" charset="0"/>
                          </a:rPr>
                          <m:t>,</m:t>
                        </m:r>
                        <m:r>
                          <a:rPr lang="en-US" altLang="zh-CN" sz="1400" i="1">
                            <a:solidFill>
                              <a:schemeClr val="tx1"/>
                            </a:solidFill>
                            <a:latin typeface="Cambria Math" panose="02040503050406030204" pitchFamily="18" charset="0"/>
                          </a:rPr>
                          <m:t>h</m:t>
                        </m:r>
                      </m:e>
                    </m:d>
                  </m:oMath>
                </a14:m>
                <a:r>
                  <a:rPr lang="zh-CN" altLang="en-US" sz="1400" dirty="0">
                    <a:solidFill>
                      <a:schemeClr val="tx1"/>
                    </a:solidFill>
                  </a:rPr>
                  <a:t>，所以我们需要一个等积映射，将</a:t>
                </a:r>
                <a14:m>
                  <m:oMath xmlns:m="http://schemas.openxmlformats.org/officeDocument/2006/math">
                    <m:r>
                      <a:rPr lang="en-US" altLang="zh-CN" sz="1400" i="1">
                        <a:solidFill>
                          <a:schemeClr val="tx1"/>
                        </a:solidFill>
                        <a:latin typeface="Cambria Math" panose="02040503050406030204" pitchFamily="18" charset="0"/>
                      </a:rPr>
                      <m:t>𝑦</m:t>
                    </m:r>
                  </m:oMath>
                </a14:m>
                <a:r>
                  <a:rPr lang="zh-CN" altLang="en-US" sz="1400" dirty="0">
                    <a:solidFill>
                      <a:schemeClr val="tx1"/>
                    </a:solidFill>
                  </a:rPr>
                  <a:t>从</a:t>
                </a:r>
                <a14:m>
                  <m:oMath xmlns:m="http://schemas.openxmlformats.org/officeDocument/2006/math">
                    <m:d>
                      <m:dPr>
                        <m:ctrlPr>
                          <a:rPr lang="en-US" altLang="zh-CN" sz="1400" i="1">
                            <a:solidFill>
                              <a:schemeClr val="tx1"/>
                            </a:solidFill>
                            <a:latin typeface="Cambria Math" panose="02040503050406030204" pitchFamily="18" charset="0"/>
                          </a:rPr>
                        </m:ctrlPr>
                      </m:dPr>
                      <m:e>
                        <m:r>
                          <a:rPr lang="en-US" altLang="zh-CN" sz="1400" i="1">
                            <a:solidFill>
                              <a:schemeClr val="tx1"/>
                            </a:solidFill>
                            <a:latin typeface="Cambria Math" panose="02040503050406030204" pitchFamily="18" charset="0"/>
                          </a:rPr>
                          <m:t>−</m:t>
                        </m:r>
                        <m:r>
                          <a:rPr lang="en-US" altLang="zh-CN" sz="1400" i="1">
                            <a:solidFill>
                              <a:schemeClr val="tx1"/>
                            </a:solidFill>
                            <a:latin typeface="Cambria Math" panose="02040503050406030204" pitchFamily="18" charset="0"/>
                          </a:rPr>
                          <m:t>h</m:t>
                        </m:r>
                        <m:r>
                          <a:rPr lang="en-US" altLang="zh-CN" sz="1400" i="1">
                            <a:solidFill>
                              <a:schemeClr val="tx1"/>
                            </a:solidFill>
                            <a:latin typeface="Cambria Math" panose="02040503050406030204" pitchFamily="18" charset="0"/>
                          </a:rPr>
                          <m:t>,</m:t>
                        </m:r>
                        <m:r>
                          <a:rPr lang="en-US" altLang="zh-CN" sz="1400" i="1">
                            <a:solidFill>
                              <a:schemeClr val="tx1"/>
                            </a:solidFill>
                            <a:latin typeface="Cambria Math" panose="02040503050406030204" pitchFamily="18" charset="0"/>
                          </a:rPr>
                          <m:t>h</m:t>
                        </m:r>
                      </m:e>
                    </m:d>
                  </m:oMath>
                </a14:m>
                <a:r>
                  <a:rPr lang="zh-CN" altLang="en-US" sz="1400" dirty="0">
                    <a:solidFill>
                      <a:schemeClr val="tx1"/>
                    </a:solidFill>
                  </a:rPr>
                  <a:t>映射到</a:t>
                </a:r>
                <a14:m>
                  <m:oMath xmlns:m="http://schemas.openxmlformats.org/officeDocument/2006/math">
                    <m:d>
                      <m:dPr>
                        <m:ctrlPr>
                          <a:rPr lang="en-US" altLang="zh-CN" sz="1400" i="1">
                            <a:solidFill>
                              <a:schemeClr val="tx1"/>
                            </a:solidFill>
                            <a:latin typeface="Cambria Math" panose="02040503050406030204" pitchFamily="18" charset="0"/>
                          </a:rPr>
                        </m:ctrlPr>
                      </m:dPr>
                      <m:e>
                        <m:r>
                          <a:rPr lang="en-US" altLang="zh-CN" sz="1400" i="1">
                            <a:solidFill>
                              <a:schemeClr val="tx1"/>
                            </a:solidFill>
                            <a:latin typeface="Cambria Math" panose="02040503050406030204" pitchFamily="18" charset="0"/>
                          </a:rPr>
                          <m:t>−</m:t>
                        </m:r>
                        <m:r>
                          <a:rPr lang="en-US" altLang="zh-CN" sz="1400" i="1">
                            <a:solidFill>
                              <a:schemeClr val="tx1"/>
                            </a:solidFill>
                            <a:latin typeface="Cambria Math" panose="02040503050406030204" pitchFamily="18" charset="0"/>
                          </a:rPr>
                          <m:t>h</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𝑜</m:t>
                                    </m:r>
                                  </m:e>
                                  <m:sub>
                                    <m:r>
                                      <a:rPr lang="en-US" altLang="zh-CN" sz="1400" i="1" dirty="0">
                                        <a:solidFill>
                                          <a:schemeClr val="tx1"/>
                                        </a:solidFill>
                                        <a:latin typeface="Cambria Math" panose="02040503050406030204" pitchFamily="18" charset="0"/>
                                      </a:rPr>
                                      <m:t>h𝑒𝑚𝑖</m:t>
                                    </m:r>
                                  </m:sub>
                                </m:sSub>
                              </m:sub>
                              <m:sup>
                                <m:r>
                                  <a:rPr lang="en-US" altLang="zh-CN" sz="1400" i="1" dirty="0">
                                    <a:solidFill>
                                      <a:schemeClr val="tx1"/>
                                    </a:solidFill>
                                    <a:latin typeface="Cambria Math" panose="02040503050406030204" pitchFamily="18" charset="0"/>
                                  </a:rPr>
                                  <m:t>+</m:t>
                                </m:r>
                              </m:sup>
                            </m:sSubSup>
                          </m:e>
                        </m:func>
                        <m:r>
                          <a:rPr lang="en-US" altLang="zh-CN" sz="1400" i="1">
                            <a:solidFill>
                              <a:schemeClr val="tx1"/>
                            </a:solidFill>
                            <a:latin typeface="Cambria Math" panose="02040503050406030204" pitchFamily="18" charset="0"/>
                          </a:rPr>
                          <m:t>,</m:t>
                        </m:r>
                        <m:r>
                          <a:rPr lang="en-US" altLang="zh-CN" sz="1400" i="1">
                            <a:solidFill>
                              <a:schemeClr val="tx1"/>
                            </a:solidFill>
                            <a:latin typeface="Cambria Math" panose="02040503050406030204" pitchFamily="18" charset="0"/>
                          </a:rPr>
                          <m:t>h</m:t>
                        </m:r>
                      </m:e>
                    </m:d>
                  </m:oMath>
                </a14:m>
                <a:r>
                  <a:rPr lang="zh-CN" altLang="en-US" sz="1400" dirty="0">
                    <a:solidFill>
                      <a:schemeClr val="tx1"/>
                    </a:solidFill>
                  </a:rPr>
                  <a:t>，很容易可以得到该映射为：</a:t>
                </a:r>
                <a:endParaRPr lang="en-US" altLang="zh-CN" sz="14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sSup>
                        <m:sSupPr>
                          <m:ctrlPr>
                            <a:rPr lang="en-US" altLang="zh-CN" sz="1400" b="0" i="1" dirty="0" smtClean="0">
                              <a:solidFill>
                                <a:schemeClr val="tx1"/>
                              </a:solidFill>
                              <a:latin typeface="Cambria Math" panose="02040503050406030204" pitchFamily="18" charset="0"/>
                            </a:rPr>
                          </m:ctrlPr>
                        </m:sSupPr>
                        <m:e>
                          <m:r>
                            <a:rPr lang="en-US" altLang="zh-CN" sz="1400" b="0" i="1" dirty="0" smtClean="0">
                              <a:solidFill>
                                <a:schemeClr val="tx1"/>
                              </a:solidFill>
                              <a:latin typeface="Cambria Math" panose="02040503050406030204" pitchFamily="18" charset="0"/>
                            </a:rPr>
                            <m:t>𝑦</m:t>
                          </m:r>
                        </m:e>
                        <m:sup>
                          <m:r>
                            <a:rPr lang="en-US" altLang="zh-CN" sz="1400" b="0" i="1" dirty="0" smtClean="0">
                              <a:solidFill>
                                <a:schemeClr val="tx1"/>
                              </a:solidFill>
                              <a:latin typeface="Cambria Math" panose="02040503050406030204" pitchFamily="18" charset="0"/>
                            </a:rPr>
                            <m:t>′</m:t>
                          </m:r>
                        </m:sup>
                      </m:sSup>
                      <m:r>
                        <a:rPr lang="en-US" altLang="zh-CN" sz="1400" b="0" i="0" dirty="0" smtClean="0">
                          <a:solidFill>
                            <a:schemeClr val="tx1"/>
                          </a:solidFill>
                          <a:latin typeface="Cambria Math" panose="02040503050406030204" pitchFamily="18" charset="0"/>
                        </a:rPr>
                        <m:t>=</m:t>
                      </m:r>
                      <m:r>
                        <m:rPr>
                          <m:sty m:val="p"/>
                        </m:rPr>
                        <a:rPr lang="en-US" altLang="zh-CN" sz="1400" b="0" i="0" smtClean="0">
                          <a:solidFill>
                            <a:schemeClr val="tx1"/>
                          </a:solidFill>
                          <a:latin typeface="Cambria Math" panose="02040503050406030204" pitchFamily="18" charset="0"/>
                        </a:rPr>
                        <m:t>T</m:t>
                      </m:r>
                      <m:d>
                        <m:dPr>
                          <m:ctrlPr>
                            <a:rPr lang="en-US" altLang="zh-CN" sz="1400" i="1">
                              <a:solidFill>
                                <a:schemeClr val="tx1"/>
                              </a:solidFill>
                              <a:latin typeface="Cambria Math" panose="02040503050406030204" pitchFamily="18" charset="0"/>
                            </a:rPr>
                          </m:ctrlPr>
                        </m:dPr>
                        <m:e>
                          <m:r>
                            <a:rPr lang="en-US" altLang="zh-CN" sz="1400" b="0" i="1" smtClean="0">
                              <a:solidFill>
                                <a:schemeClr val="tx1"/>
                              </a:solidFill>
                              <a:latin typeface="Cambria Math" panose="02040503050406030204" pitchFamily="18" charset="0"/>
                            </a:rPr>
                            <m:t>𝑥</m:t>
                          </m:r>
                          <m:r>
                            <a:rPr lang="en-US" altLang="zh-CN" sz="1400" b="0" i="1" smtClean="0">
                              <a:solidFill>
                                <a:schemeClr val="tx1"/>
                              </a:solidFill>
                              <a:latin typeface="Cambria Math" panose="02040503050406030204" pitchFamily="18" charset="0"/>
                            </a:rPr>
                            <m:t>,</m:t>
                          </m:r>
                          <m:r>
                            <a:rPr lang="en-US" altLang="zh-CN" sz="1400" b="0" i="1" smtClean="0">
                              <a:solidFill>
                                <a:schemeClr val="tx1"/>
                              </a:solidFill>
                              <a:latin typeface="Cambria Math" panose="02040503050406030204" pitchFamily="18" charset="0"/>
                            </a:rPr>
                            <m:t>𝑦</m:t>
                          </m:r>
                          <m:r>
                            <a:rPr lang="en-US" altLang="zh-CN" sz="1400" b="0" i="1" smtClean="0">
                              <a:solidFill>
                                <a:schemeClr val="tx1"/>
                              </a:solidFill>
                              <a:latin typeface="Cambria Math" panose="02040503050406030204" pitchFamily="18" charset="0"/>
                            </a:rPr>
                            <m:t>,</m:t>
                          </m:r>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sSub>
                                <m:sSubPr>
                                  <m:ctrlPr>
                                    <a:rPr lang="en-US" altLang="zh-CN" sz="1400" b="0" i="1" dirty="0" smtClean="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𝑜</m:t>
                                  </m:r>
                                </m:e>
                                <m:sub>
                                  <m:r>
                                    <a:rPr lang="en-US" altLang="zh-CN" sz="1400" b="0" i="1" dirty="0" smtClean="0">
                                      <a:solidFill>
                                        <a:schemeClr val="tx1"/>
                                      </a:solidFill>
                                      <a:latin typeface="Cambria Math" panose="02040503050406030204" pitchFamily="18" charset="0"/>
                                    </a:rPr>
                                    <m:t>h𝑒𝑚𝑖</m:t>
                                  </m:r>
                                </m:sub>
                              </m:sSub>
                            </m:sub>
                            <m:sup>
                              <m:r>
                                <a:rPr lang="en-US" altLang="zh-CN" sz="1400" i="1" dirty="0">
                                  <a:solidFill>
                                    <a:schemeClr val="tx1"/>
                                  </a:solidFill>
                                  <a:latin typeface="Cambria Math" panose="02040503050406030204" pitchFamily="18" charset="0"/>
                                </a:rPr>
                                <m:t>+</m:t>
                              </m:r>
                            </m:sup>
                          </m:sSubSup>
                        </m:e>
                      </m:d>
                    </m:oMath>
                    <m:oMath xmlns:m="http://schemas.openxmlformats.org/officeDocument/2006/math">
                      <m:r>
                        <a:rPr lang="en-US" altLang="zh-CN" sz="1400" b="0" i="1" smtClean="0">
                          <a:solidFill>
                            <a:schemeClr val="tx1"/>
                          </a:solidFill>
                          <a:latin typeface="Cambria Math" panose="02040503050406030204" pitchFamily="18" charset="0"/>
                        </a:rPr>
                        <m:t>=</m:t>
                      </m:r>
                      <m:d>
                        <m:dPr>
                          <m:ctrlPr>
                            <a:rPr lang="en-US" altLang="zh-CN" sz="1400" b="0" i="1" smtClean="0">
                              <a:solidFill>
                                <a:schemeClr val="tx1"/>
                              </a:solidFill>
                              <a:latin typeface="Cambria Math" panose="02040503050406030204" pitchFamily="18" charset="0"/>
                            </a:rPr>
                          </m:ctrlPr>
                        </m:dPr>
                        <m:e>
                          <m:r>
                            <a:rPr lang="en-US" altLang="zh-CN" sz="1400" b="0" i="1" smtClean="0">
                              <a:solidFill>
                                <a:schemeClr val="tx1"/>
                              </a:solidFill>
                              <a:latin typeface="Cambria Math" panose="02040503050406030204" pitchFamily="18" charset="0"/>
                            </a:rPr>
                            <m:t>𝑦</m:t>
                          </m:r>
                          <m:r>
                            <a:rPr lang="en-US" altLang="zh-CN" sz="1400" b="0" i="1" smtClean="0">
                              <a:solidFill>
                                <a:schemeClr val="tx1"/>
                              </a:solidFill>
                              <a:latin typeface="Cambria Math" panose="02040503050406030204" pitchFamily="18" charset="0"/>
                            </a:rPr>
                            <m:t>−</m:t>
                          </m:r>
                          <m:d>
                            <m:dPr>
                              <m:ctrlPr>
                                <a:rPr lang="en-US" altLang="zh-CN" sz="1400" b="0" i="1" smtClean="0">
                                  <a:solidFill>
                                    <a:schemeClr val="tx1"/>
                                  </a:solidFill>
                                  <a:latin typeface="Cambria Math" panose="02040503050406030204" pitchFamily="18" charset="0"/>
                                </a:rPr>
                              </m:ctrlPr>
                            </m:dPr>
                            <m:e>
                              <m:r>
                                <a:rPr lang="en-US" altLang="zh-CN" sz="1400" b="0" i="1" smtClean="0">
                                  <a:solidFill>
                                    <a:schemeClr val="tx1"/>
                                  </a:solidFill>
                                  <a:latin typeface="Cambria Math" panose="02040503050406030204" pitchFamily="18" charset="0"/>
                                </a:rPr>
                                <m:t>−</m:t>
                              </m:r>
                              <m:r>
                                <a:rPr lang="en-US" altLang="zh-CN" sz="1400" b="0" i="1" smtClean="0">
                                  <a:solidFill>
                                    <a:schemeClr val="tx1"/>
                                  </a:solidFill>
                                  <a:latin typeface="Cambria Math" panose="02040503050406030204" pitchFamily="18" charset="0"/>
                                </a:rPr>
                                <m:t>h</m:t>
                              </m:r>
                            </m:e>
                          </m:d>
                        </m:e>
                      </m:d>
                      <m:r>
                        <a:rPr lang="en-US" altLang="zh-CN" sz="1400" b="0" i="1" smtClean="0">
                          <a:solidFill>
                            <a:schemeClr val="tx1"/>
                          </a:solidFill>
                          <a:latin typeface="Cambria Math" panose="02040503050406030204" pitchFamily="18" charset="0"/>
                        </a:rPr>
                        <m:t>⋅</m:t>
                      </m:r>
                      <m:f>
                        <m:fPr>
                          <m:ctrlPr>
                            <a:rPr lang="en-US" altLang="zh-CN" sz="1400" b="0" i="1" smtClean="0">
                              <a:solidFill>
                                <a:schemeClr val="tx1"/>
                              </a:solidFill>
                              <a:latin typeface="Cambria Math" panose="02040503050406030204" pitchFamily="18" charset="0"/>
                            </a:rPr>
                          </m:ctrlPr>
                        </m:fPr>
                        <m:num>
                          <m:r>
                            <a:rPr lang="en-US" altLang="zh-CN" sz="1400" i="1">
                              <a:solidFill>
                                <a:schemeClr val="tx1"/>
                              </a:solidFill>
                              <a:latin typeface="Cambria Math" panose="02040503050406030204" pitchFamily="18" charset="0"/>
                            </a:rPr>
                            <m:t>1+</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𝑜</m:t>
                                      </m:r>
                                    </m:e>
                                    <m:sub>
                                      <m:r>
                                        <a:rPr lang="en-US" altLang="zh-CN" sz="1400" i="1" dirty="0">
                                          <a:solidFill>
                                            <a:schemeClr val="tx1"/>
                                          </a:solidFill>
                                          <a:latin typeface="Cambria Math" panose="02040503050406030204" pitchFamily="18" charset="0"/>
                                        </a:rPr>
                                        <m:t>h𝑒𝑚𝑖</m:t>
                                      </m:r>
                                    </m:sub>
                                  </m:sSub>
                                </m:sub>
                                <m:sup>
                                  <m:r>
                                    <a:rPr lang="en-US" altLang="zh-CN" sz="1400" i="1" dirty="0">
                                      <a:solidFill>
                                        <a:schemeClr val="tx1"/>
                                      </a:solidFill>
                                      <a:latin typeface="Cambria Math" panose="02040503050406030204" pitchFamily="18" charset="0"/>
                                    </a:rPr>
                                    <m:t>+</m:t>
                                  </m:r>
                                </m:sup>
                              </m:sSubSup>
                            </m:e>
                          </m:func>
                        </m:num>
                        <m:den>
                          <m:r>
                            <a:rPr lang="en-US" altLang="zh-CN" sz="1400" b="0" i="1" smtClean="0">
                              <a:solidFill>
                                <a:schemeClr val="tx1"/>
                              </a:solidFill>
                              <a:latin typeface="Cambria Math" panose="02040503050406030204" pitchFamily="18" charset="0"/>
                            </a:rPr>
                            <m:t>2</m:t>
                          </m:r>
                        </m:den>
                      </m:f>
                      <m:r>
                        <a:rPr lang="en-US" altLang="zh-CN" sz="1400" b="0" i="1" smtClean="0">
                          <a:solidFill>
                            <a:schemeClr val="tx1"/>
                          </a:solidFill>
                          <a:latin typeface="Cambria Math" panose="02040503050406030204" pitchFamily="18" charset="0"/>
                        </a:rPr>
                        <m:t>+</m:t>
                      </m:r>
                      <m:d>
                        <m:dPr>
                          <m:ctrlPr>
                            <a:rPr lang="en-US" altLang="zh-CN" sz="1400" b="0" i="1" smtClean="0">
                              <a:solidFill>
                                <a:schemeClr val="tx1"/>
                              </a:solidFill>
                              <a:latin typeface="Cambria Math" panose="02040503050406030204" pitchFamily="18" charset="0"/>
                            </a:rPr>
                          </m:ctrlPr>
                        </m:dPr>
                        <m:e>
                          <m:r>
                            <a:rPr lang="en-US" altLang="zh-CN" sz="1400" i="1">
                              <a:solidFill>
                                <a:schemeClr val="tx1"/>
                              </a:solidFill>
                              <a:latin typeface="Cambria Math" panose="02040503050406030204" pitchFamily="18" charset="0"/>
                            </a:rPr>
                            <m:t>−</m:t>
                          </m:r>
                          <m:r>
                            <a:rPr lang="en-US" altLang="zh-CN" sz="1400" i="1">
                              <a:solidFill>
                                <a:schemeClr val="tx1"/>
                              </a:solidFill>
                              <a:latin typeface="Cambria Math" panose="02040503050406030204" pitchFamily="18" charset="0"/>
                            </a:rPr>
                            <m:t>h</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𝑜</m:t>
                                      </m:r>
                                    </m:e>
                                    <m:sub>
                                      <m:r>
                                        <a:rPr lang="en-US" altLang="zh-CN" sz="1400" i="1" dirty="0">
                                          <a:solidFill>
                                            <a:schemeClr val="tx1"/>
                                          </a:solidFill>
                                          <a:latin typeface="Cambria Math" panose="02040503050406030204" pitchFamily="18" charset="0"/>
                                        </a:rPr>
                                        <m:t>h𝑒𝑚𝑖</m:t>
                                      </m:r>
                                    </m:sub>
                                  </m:sSub>
                                </m:sub>
                                <m:sup>
                                  <m:r>
                                    <a:rPr lang="en-US" altLang="zh-CN" sz="1400" i="1" dirty="0">
                                      <a:solidFill>
                                        <a:schemeClr val="tx1"/>
                                      </a:solidFill>
                                      <a:latin typeface="Cambria Math" panose="02040503050406030204" pitchFamily="18" charset="0"/>
                                    </a:rPr>
                                    <m:t>+</m:t>
                                  </m:r>
                                </m:sup>
                              </m:sSubSup>
                            </m:e>
                          </m:func>
                        </m:e>
                      </m:d>
                    </m:oMath>
                    <m:oMath xmlns:m="http://schemas.openxmlformats.org/officeDocument/2006/math">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𝑦</m:t>
                      </m:r>
                      <m:r>
                        <a:rPr lang="en-US" altLang="zh-CN" sz="1400" i="1" dirty="0">
                          <a:solidFill>
                            <a:schemeClr val="tx1"/>
                          </a:solidFill>
                          <a:latin typeface="Cambria Math" panose="02040503050406030204" pitchFamily="18" charset="0"/>
                        </a:rPr>
                        <m:t>⋅</m:t>
                      </m:r>
                      <m:f>
                        <m:fPr>
                          <m:ctrlPr>
                            <a:rPr lang="en-US" altLang="zh-CN" sz="1400" i="1">
                              <a:solidFill>
                                <a:schemeClr val="tx1"/>
                              </a:solidFill>
                              <a:latin typeface="Cambria Math" panose="02040503050406030204" pitchFamily="18" charset="0"/>
                            </a:rPr>
                          </m:ctrlPr>
                        </m:fPr>
                        <m:num>
                          <m:r>
                            <a:rPr lang="en-US" altLang="zh-CN" sz="1400" i="1">
                              <a:solidFill>
                                <a:schemeClr val="tx1"/>
                              </a:solidFill>
                              <a:latin typeface="Cambria Math" panose="02040503050406030204" pitchFamily="18" charset="0"/>
                            </a:rPr>
                            <m:t>1+</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𝑜</m:t>
                                      </m:r>
                                    </m:e>
                                    <m:sub>
                                      <m:r>
                                        <a:rPr lang="en-US" altLang="zh-CN" sz="1400" i="1" dirty="0">
                                          <a:solidFill>
                                            <a:schemeClr val="tx1"/>
                                          </a:solidFill>
                                          <a:latin typeface="Cambria Math" panose="02040503050406030204" pitchFamily="18" charset="0"/>
                                        </a:rPr>
                                        <m:t>h𝑒𝑚𝑖</m:t>
                                      </m:r>
                                    </m:sub>
                                  </m:sSub>
                                </m:sub>
                                <m:sup>
                                  <m:r>
                                    <a:rPr lang="en-US" altLang="zh-CN" sz="1400" i="1" dirty="0">
                                      <a:solidFill>
                                        <a:schemeClr val="tx1"/>
                                      </a:solidFill>
                                      <a:latin typeface="Cambria Math" panose="02040503050406030204" pitchFamily="18" charset="0"/>
                                    </a:rPr>
                                    <m:t>+</m:t>
                                  </m:r>
                                </m:sup>
                              </m:sSubSup>
                            </m:e>
                          </m:func>
                        </m:num>
                        <m:den>
                          <m:r>
                            <a:rPr lang="en-US" altLang="zh-CN" sz="1400" i="1">
                              <a:solidFill>
                                <a:schemeClr val="tx1"/>
                              </a:solidFill>
                              <a:latin typeface="Cambria Math" panose="02040503050406030204" pitchFamily="18" charset="0"/>
                            </a:rPr>
                            <m:t>2</m:t>
                          </m:r>
                        </m:den>
                      </m:f>
                      <m:r>
                        <a:rPr lang="en-US" altLang="zh-CN" sz="1400" b="0" i="1" dirty="0"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h</m:t>
                      </m:r>
                      <m:r>
                        <a:rPr lang="en-US" altLang="zh-CN" sz="1400" b="0" i="1" dirty="0" smtClean="0">
                          <a:solidFill>
                            <a:schemeClr val="tx1"/>
                          </a:solidFill>
                          <a:latin typeface="Cambria Math" panose="02040503050406030204" pitchFamily="18" charset="0"/>
                        </a:rPr>
                        <m:t>⋅</m:t>
                      </m:r>
                      <m:f>
                        <m:fPr>
                          <m:ctrlPr>
                            <a:rPr lang="en-US" altLang="zh-CN" sz="1400" i="1">
                              <a:solidFill>
                                <a:schemeClr val="tx1"/>
                              </a:solidFill>
                              <a:latin typeface="Cambria Math" panose="02040503050406030204" pitchFamily="18" charset="0"/>
                            </a:rPr>
                          </m:ctrlPr>
                        </m:fPr>
                        <m:num>
                          <m:r>
                            <a:rPr lang="en-US" altLang="zh-CN" sz="1400" i="1">
                              <a:solidFill>
                                <a:schemeClr val="tx1"/>
                              </a:solidFill>
                              <a:latin typeface="Cambria Math" panose="02040503050406030204" pitchFamily="18" charset="0"/>
                            </a:rPr>
                            <m:t>1</m:t>
                          </m:r>
                          <m:r>
                            <a:rPr lang="en-US" altLang="zh-CN" sz="1400" b="0" i="1" smtClean="0">
                              <a:solidFill>
                                <a:schemeClr val="tx1"/>
                              </a:solidFill>
                              <a:latin typeface="Cambria Math" panose="02040503050406030204" pitchFamily="18" charset="0"/>
                            </a:rPr>
                            <m:t>−</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𝑜</m:t>
                                      </m:r>
                                    </m:e>
                                    <m:sub>
                                      <m:r>
                                        <a:rPr lang="en-US" altLang="zh-CN" sz="1400" i="1" dirty="0">
                                          <a:solidFill>
                                            <a:schemeClr val="tx1"/>
                                          </a:solidFill>
                                          <a:latin typeface="Cambria Math" panose="02040503050406030204" pitchFamily="18" charset="0"/>
                                        </a:rPr>
                                        <m:t>h𝑒𝑚𝑖</m:t>
                                      </m:r>
                                    </m:sub>
                                  </m:sSub>
                                </m:sub>
                                <m:sup>
                                  <m:r>
                                    <a:rPr lang="en-US" altLang="zh-CN" sz="1400" i="1" dirty="0">
                                      <a:solidFill>
                                        <a:schemeClr val="tx1"/>
                                      </a:solidFill>
                                      <a:latin typeface="Cambria Math" panose="02040503050406030204" pitchFamily="18" charset="0"/>
                                    </a:rPr>
                                    <m:t>+</m:t>
                                  </m:r>
                                </m:sup>
                              </m:sSubSup>
                            </m:e>
                          </m:func>
                        </m:num>
                        <m:den>
                          <m:r>
                            <a:rPr lang="en-US" altLang="zh-CN" sz="1400" i="1">
                              <a:solidFill>
                                <a:schemeClr val="tx1"/>
                              </a:solidFill>
                              <a:latin typeface="Cambria Math" panose="02040503050406030204" pitchFamily="18" charset="0"/>
                            </a:rPr>
                            <m:t>2</m:t>
                          </m:r>
                        </m:den>
                      </m:f>
                    </m:oMath>
                    <m:oMath xmlns:m="http://schemas.openxmlformats.org/officeDocument/2006/math">
                      <m:r>
                        <a:rPr lang="en-US" altLang="zh-CN" sz="1400" b="0" i="1" smtClean="0">
                          <a:solidFill>
                            <a:schemeClr val="tx1"/>
                          </a:solidFill>
                          <a:latin typeface="Cambria Math" panose="02040503050406030204" pitchFamily="18" charset="0"/>
                        </a:rPr>
                        <m:t>=</m:t>
                      </m:r>
                      <m:r>
                        <a:rPr lang="en-US" altLang="zh-CN" sz="1400" b="0" i="1" dirty="0" smtClean="0">
                          <a:solidFill>
                            <a:schemeClr val="tx1"/>
                          </a:solidFill>
                          <a:latin typeface="Cambria Math" panose="02040503050406030204" pitchFamily="18" charset="0"/>
                        </a:rPr>
                        <m:t>𝑡𝑦</m:t>
                      </m:r>
                      <m:r>
                        <a:rPr lang="en-US" altLang="zh-CN" sz="1400" b="0" i="1" smtClean="0">
                          <a:solidFill>
                            <a:schemeClr val="tx1"/>
                          </a:solidFill>
                          <a:latin typeface="Cambria Math" panose="02040503050406030204" pitchFamily="18" charset="0"/>
                        </a:rPr>
                        <m:t>+</m:t>
                      </m:r>
                      <m:d>
                        <m:dPr>
                          <m:ctrlPr>
                            <a:rPr lang="en-US" altLang="zh-CN" sz="1400" b="0" i="1" smtClean="0">
                              <a:solidFill>
                                <a:schemeClr val="tx1"/>
                              </a:solidFill>
                              <a:latin typeface="Cambria Math" panose="02040503050406030204" pitchFamily="18" charset="0"/>
                            </a:rPr>
                          </m:ctrlPr>
                        </m:dPr>
                        <m:e>
                          <m:r>
                            <a:rPr lang="en-US" altLang="zh-CN" sz="1400" b="0" i="1" smtClean="0">
                              <a:solidFill>
                                <a:schemeClr val="tx1"/>
                              </a:solidFill>
                              <a:latin typeface="Cambria Math" panose="02040503050406030204" pitchFamily="18" charset="0"/>
                            </a:rPr>
                            <m:t>1−</m:t>
                          </m:r>
                          <m:r>
                            <a:rPr lang="en-US" altLang="zh-CN" sz="1400" b="0" i="1" smtClean="0">
                              <a:solidFill>
                                <a:schemeClr val="tx1"/>
                              </a:solidFill>
                              <a:latin typeface="Cambria Math" panose="02040503050406030204" pitchFamily="18" charset="0"/>
                            </a:rPr>
                            <m:t>𝑡</m:t>
                          </m:r>
                        </m:e>
                      </m:d>
                      <m:r>
                        <a:rPr lang="en-US" altLang="zh-CN" sz="1400" b="0" i="1" smtClean="0">
                          <a:solidFill>
                            <a:schemeClr val="tx1"/>
                          </a:solidFill>
                          <a:latin typeface="Cambria Math" panose="02040503050406030204" pitchFamily="18" charset="0"/>
                        </a:rPr>
                        <m:t>h</m:t>
                      </m:r>
                      <m:r>
                        <a:rPr lang="en-US" altLang="zh-CN" sz="1400" b="0" i="1" smtClean="0">
                          <a:solidFill>
                            <a:schemeClr val="tx1"/>
                          </a:solidFill>
                          <a:latin typeface="Cambria Math" panose="02040503050406030204" pitchFamily="18" charset="0"/>
                        </a:rPr>
                        <m:t>,  </m:t>
                      </m:r>
                      <m:r>
                        <a:rPr lang="en-US" altLang="zh-CN" sz="1400" b="0" i="1" smtClean="0">
                          <a:solidFill>
                            <a:schemeClr val="tx1"/>
                          </a:solidFill>
                          <a:latin typeface="Cambria Math" panose="02040503050406030204" pitchFamily="18" charset="0"/>
                        </a:rPr>
                        <m:t>𝑡</m:t>
                      </m:r>
                      <m:r>
                        <a:rPr lang="en-US" altLang="zh-CN" sz="1400" b="0" i="1" smtClean="0">
                          <a:solidFill>
                            <a:schemeClr val="tx1"/>
                          </a:solidFill>
                          <a:latin typeface="Cambria Math" panose="02040503050406030204" pitchFamily="18" charset="0"/>
                        </a:rPr>
                        <m:t>=</m:t>
                      </m:r>
                      <m:f>
                        <m:fPr>
                          <m:ctrlPr>
                            <a:rPr lang="en-US" altLang="zh-CN" sz="1400" i="1">
                              <a:solidFill>
                                <a:schemeClr val="tx1"/>
                              </a:solidFill>
                              <a:latin typeface="Cambria Math" panose="02040503050406030204" pitchFamily="18" charset="0"/>
                            </a:rPr>
                          </m:ctrlPr>
                        </m:fPr>
                        <m:num>
                          <m:r>
                            <a:rPr lang="en-US" altLang="zh-CN" sz="1400" i="1">
                              <a:solidFill>
                                <a:schemeClr val="tx1"/>
                              </a:solidFill>
                              <a:latin typeface="Cambria Math" panose="02040503050406030204" pitchFamily="18" charset="0"/>
                            </a:rPr>
                            <m:t>1+</m:t>
                          </m:r>
                          <m:func>
                            <m:funcPr>
                              <m:ctrlPr>
                                <a:rPr lang="en-US" altLang="zh-CN" sz="1400" i="1" dirty="0">
                                  <a:solidFill>
                                    <a:schemeClr val="tx1"/>
                                  </a:solidFill>
                                  <a:latin typeface="Cambria Math" panose="02040503050406030204" pitchFamily="18" charset="0"/>
                                </a:rPr>
                              </m:ctrlPr>
                            </m:funcPr>
                            <m:fName>
                              <m:r>
                                <m:rPr>
                                  <m:sty m:val="p"/>
                                </m:rPr>
                                <a:rPr lang="en-US" altLang="zh-CN" sz="1400" dirty="0">
                                  <a:solidFill>
                                    <a:schemeClr val="tx1"/>
                                  </a:solidFill>
                                  <a:latin typeface="Cambria Math" panose="02040503050406030204" pitchFamily="18" charset="0"/>
                                </a:rPr>
                                <m:t>cos</m:t>
                              </m:r>
                            </m:fName>
                            <m:e>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𝑜</m:t>
                                      </m:r>
                                    </m:e>
                                    <m:sub>
                                      <m:r>
                                        <a:rPr lang="en-US" altLang="zh-CN" sz="1400" i="1" dirty="0">
                                          <a:solidFill>
                                            <a:schemeClr val="tx1"/>
                                          </a:solidFill>
                                          <a:latin typeface="Cambria Math" panose="02040503050406030204" pitchFamily="18" charset="0"/>
                                        </a:rPr>
                                        <m:t>h𝑒𝑚𝑖</m:t>
                                      </m:r>
                                    </m:sub>
                                  </m:sSub>
                                </m:sub>
                                <m:sup>
                                  <m:r>
                                    <a:rPr lang="en-US" altLang="zh-CN" sz="1400" i="1" dirty="0">
                                      <a:solidFill>
                                        <a:schemeClr val="tx1"/>
                                      </a:solidFill>
                                      <a:latin typeface="Cambria Math" panose="02040503050406030204" pitchFamily="18" charset="0"/>
                                    </a:rPr>
                                    <m:t>+</m:t>
                                  </m:r>
                                </m:sup>
                              </m:sSubSup>
                            </m:e>
                          </m:func>
                        </m:num>
                        <m:den>
                          <m:r>
                            <a:rPr lang="en-US" altLang="zh-CN" sz="1400" i="1">
                              <a:solidFill>
                                <a:schemeClr val="tx1"/>
                              </a:solidFill>
                              <a:latin typeface="Cambria Math" panose="02040503050406030204" pitchFamily="18" charset="0"/>
                            </a:rPr>
                            <m:t>2</m:t>
                          </m:r>
                        </m:den>
                      </m:f>
                      <m:r>
                        <a:rPr lang="en-US" altLang="zh-CN" sz="1400" b="0" i="1" smtClean="0">
                          <a:solidFill>
                            <a:schemeClr val="tx1"/>
                          </a:solidFill>
                          <a:latin typeface="Cambria Math" panose="02040503050406030204" pitchFamily="18" charset="0"/>
                        </a:rPr>
                        <m:t>,  </m:t>
                      </m:r>
                      <m:r>
                        <a:rPr lang="en-US" altLang="zh-CN" sz="1400" b="0" i="1" smtClean="0">
                          <a:solidFill>
                            <a:schemeClr val="tx1"/>
                          </a:solidFill>
                          <a:latin typeface="Cambria Math" panose="02040503050406030204" pitchFamily="18" charset="0"/>
                        </a:rPr>
                        <m:t>h</m:t>
                      </m:r>
                      <m:r>
                        <a:rPr lang="en-US" altLang="zh-CN" sz="1400" b="0" i="1" smtClean="0">
                          <a:solidFill>
                            <a:schemeClr val="tx1"/>
                          </a:solidFill>
                          <a:latin typeface="Cambria Math" panose="02040503050406030204" pitchFamily="18" charset="0"/>
                        </a:rPr>
                        <m:t>=</m:t>
                      </m:r>
                      <m:rad>
                        <m:radPr>
                          <m:degHide m:val="on"/>
                          <m:ctrlPr>
                            <a:rPr lang="en-US" altLang="zh-CN" sz="1400" i="1">
                              <a:solidFill>
                                <a:schemeClr val="tx1"/>
                              </a:solidFill>
                              <a:latin typeface="Cambria Math" panose="02040503050406030204" pitchFamily="18" charset="0"/>
                            </a:rPr>
                          </m:ctrlPr>
                        </m:radPr>
                        <m:deg/>
                        <m:e>
                          <m:r>
                            <a:rPr lang="en-US" altLang="zh-CN" sz="1400" i="1">
                              <a:solidFill>
                                <a:schemeClr val="tx1"/>
                              </a:solidFill>
                              <a:latin typeface="Cambria Math" panose="02040503050406030204" pitchFamily="18" charset="0"/>
                            </a:rPr>
                            <m:t>1−</m:t>
                          </m:r>
                          <m:sSup>
                            <m:sSupPr>
                              <m:ctrlPr>
                                <a:rPr lang="en-US" altLang="zh-CN" sz="1400" i="1">
                                  <a:solidFill>
                                    <a:schemeClr val="tx1"/>
                                  </a:solidFill>
                                  <a:latin typeface="Cambria Math" panose="02040503050406030204" pitchFamily="18" charset="0"/>
                                </a:rPr>
                              </m:ctrlPr>
                            </m:sSupPr>
                            <m:e>
                              <m:r>
                                <a:rPr lang="en-US" altLang="zh-CN" sz="1400" i="1">
                                  <a:solidFill>
                                    <a:schemeClr val="tx1"/>
                                  </a:solidFill>
                                  <a:latin typeface="Cambria Math" panose="02040503050406030204" pitchFamily="18" charset="0"/>
                                </a:rPr>
                                <m:t>𝑥</m:t>
                              </m:r>
                            </m:e>
                            <m:sup>
                              <m:r>
                                <a:rPr lang="en-US" altLang="zh-CN" sz="1400" i="1">
                                  <a:solidFill>
                                    <a:schemeClr val="tx1"/>
                                  </a:solidFill>
                                  <a:latin typeface="Cambria Math" panose="02040503050406030204" pitchFamily="18" charset="0"/>
                                </a:rPr>
                                <m:t>2</m:t>
                              </m:r>
                            </m:sup>
                          </m:sSup>
                        </m:e>
                      </m:rad>
                    </m:oMath>
                  </m:oMathPara>
                </a14:m>
                <a:endParaRPr lang="en-US" altLang="zh-CN" sz="1400" i="1" dirty="0">
                  <a:solidFill>
                    <a:schemeClr val="tx1"/>
                  </a:solidFill>
                  <a:latin typeface="Cambria Math" panose="02040503050406030204" pitchFamily="18" charset="0"/>
                </a:endParaRPr>
              </a:p>
              <a:p>
                <a:pPr>
                  <a:lnSpc>
                    <a:spcPct val="120000"/>
                  </a:lnSpc>
                </a:pPr>
                <a:r>
                  <a:rPr lang="zh-CN" altLang="en-US" sz="1400" dirty="0">
                    <a:solidFill>
                      <a:schemeClr val="tx1"/>
                    </a:solidFill>
                  </a:rPr>
                  <a:t>        于是，我们就可以先均匀采样单位圆，得到采样点</a:t>
                </a:r>
                <a14:m>
                  <m:oMath xmlns:m="http://schemas.openxmlformats.org/officeDocument/2006/math">
                    <m:r>
                      <a:rPr lang="en-US" altLang="zh-CN" sz="1400" b="1" i="0" smtClean="0">
                        <a:solidFill>
                          <a:schemeClr val="tx1"/>
                        </a:solidFill>
                        <a:latin typeface="Cambria Math" panose="02040503050406030204" pitchFamily="18" charset="0"/>
                      </a:rPr>
                      <m:t>𝐩</m:t>
                    </m:r>
                    <m:r>
                      <a:rPr lang="en-US" altLang="zh-CN" sz="1400" b="0" i="0" smtClean="0">
                        <a:solidFill>
                          <a:schemeClr val="tx1"/>
                        </a:solidFill>
                        <a:latin typeface="Cambria Math" panose="02040503050406030204" pitchFamily="18" charset="0"/>
                      </a:rPr>
                      <m:t>=(</m:t>
                    </m:r>
                    <m:sSub>
                      <m:sSubPr>
                        <m:ctrlPr>
                          <a:rPr lang="en-US" altLang="zh-CN" sz="1400" b="0" i="1" smtClean="0">
                            <a:solidFill>
                              <a:schemeClr val="tx1"/>
                            </a:solidFill>
                            <a:latin typeface="Cambria Math" panose="02040503050406030204" pitchFamily="18" charset="0"/>
                          </a:rPr>
                        </m:ctrlPr>
                      </m:sSubPr>
                      <m:e>
                        <m:r>
                          <m:rPr>
                            <m:sty m:val="p"/>
                          </m:rPr>
                          <a:rPr lang="en-US" altLang="zh-CN" sz="1400" b="0" i="0" smtClean="0">
                            <a:solidFill>
                              <a:schemeClr val="tx1"/>
                            </a:solidFill>
                            <a:latin typeface="Cambria Math" panose="02040503050406030204" pitchFamily="18" charset="0"/>
                          </a:rPr>
                          <m:t>p</m:t>
                        </m:r>
                      </m:e>
                      <m:sub>
                        <m:r>
                          <m:rPr>
                            <m:sty m:val="p"/>
                          </m:rPr>
                          <a:rPr lang="en-US" altLang="zh-CN" sz="1400" b="0" i="0" smtClean="0">
                            <a:solidFill>
                              <a:schemeClr val="tx1"/>
                            </a:solidFill>
                            <a:latin typeface="Cambria Math" panose="02040503050406030204" pitchFamily="18" charset="0"/>
                          </a:rPr>
                          <m:t>x</m:t>
                        </m:r>
                      </m:sub>
                    </m:sSub>
                    <m:r>
                      <a:rPr lang="en-US" altLang="zh-CN" sz="1400" b="0" i="0" smtClean="0">
                        <a:solidFill>
                          <a:schemeClr val="tx1"/>
                        </a:solidFill>
                        <a:latin typeface="Cambria Math" panose="02040503050406030204" pitchFamily="18" charset="0"/>
                      </a:rPr>
                      <m:t>,</m:t>
                    </m:r>
                    <m:sSub>
                      <m:sSubPr>
                        <m:ctrlPr>
                          <a:rPr lang="en-US" altLang="zh-CN" sz="1400" b="0" i="1" smtClean="0">
                            <a:solidFill>
                              <a:schemeClr val="tx1"/>
                            </a:solidFill>
                            <a:latin typeface="Cambria Math" panose="02040503050406030204" pitchFamily="18" charset="0"/>
                          </a:rPr>
                        </m:ctrlPr>
                      </m:sSubPr>
                      <m:e>
                        <m:r>
                          <m:rPr>
                            <m:sty m:val="p"/>
                          </m:rPr>
                          <a:rPr lang="en-US" altLang="zh-CN" sz="1400" b="0" i="0" smtClean="0">
                            <a:solidFill>
                              <a:schemeClr val="tx1"/>
                            </a:solidFill>
                            <a:latin typeface="Cambria Math" panose="02040503050406030204" pitchFamily="18" charset="0"/>
                          </a:rPr>
                          <m:t>p</m:t>
                        </m:r>
                      </m:e>
                      <m:sub>
                        <m:r>
                          <m:rPr>
                            <m:sty m:val="p"/>
                          </m:rPr>
                          <a:rPr lang="en-US" altLang="zh-CN" sz="1400" b="0" i="0" smtClean="0">
                            <a:solidFill>
                              <a:schemeClr val="tx1"/>
                            </a:solidFill>
                            <a:latin typeface="Cambria Math" panose="02040503050406030204" pitchFamily="18" charset="0"/>
                          </a:rPr>
                          <m:t>y</m:t>
                        </m:r>
                      </m:sub>
                    </m:sSub>
                    <m:r>
                      <a:rPr lang="en-US" altLang="zh-CN" sz="1400" b="0" i="0" smtClean="0">
                        <a:solidFill>
                          <a:schemeClr val="tx1"/>
                        </a:solidFill>
                        <a:latin typeface="Cambria Math" panose="02040503050406030204" pitchFamily="18" charset="0"/>
                      </a:rPr>
                      <m:t>)</m:t>
                    </m:r>
                  </m:oMath>
                </a14:m>
                <a:r>
                  <a:rPr lang="zh-CN" altLang="en-US" sz="1400" dirty="0">
                    <a:solidFill>
                      <a:schemeClr val="tx1"/>
                    </a:solidFill>
                  </a:rPr>
                  <a:t>，然后根据拉伸后的观察方向</a:t>
                </a:r>
                <a14:m>
                  <m:oMath xmlns:m="http://schemas.openxmlformats.org/officeDocument/2006/math">
                    <m:sSubSup>
                      <m:sSubSupPr>
                        <m:ctrlPr>
                          <a:rPr lang="en-US" altLang="zh-CN" sz="1400" b="1" i="1" dirty="0" smtClean="0">
                            <a:solidFill>
                              <a:schemeClr val="tx1"/>
                            </a:solidFill>
                            <a:latin typeface="Cambria Math" panose="02040503050406030204" pitchFamily="18" charset="0"/>
                          </a:rPr>
                        </m:ctrlPr>
                      </m:sSubSupPr>
                      <m:e>
                        <m:r>
                          <a:rPr lang="en-US" altLang="zh-CN" sz="1400" b="1" i="1" dirty="0">
                            <a:solidFill>
                              <a:schemeClr val="tx1"/>
                            </a:solidFill>
                            <a:latin typeface="Cambria Math" panose="02040503050406030204" pitchFamily="18" charset="0"/>
                          </a:rPr>
                          <m:t>𝒐</m:t>
                        </m:r>
                      </m:e>
                      <m:sub>
                        <m:r>
                          <a:rPr lang="en-US" altLang="zh-CN" sz="1400" b="1" i="1" dirty="0">
                            <a:solidFill>
                              <a:schemeClr val="tx1"/>
                            </a:solidFill>
                            <a:latin typeface="Cambria Math" panose="02040503050406030204" pitchFamily="18" charset="0"/>
                          </a:rPr>
                          <m:t>𝒉𝒆𝒎𝒊</m:t>
                        </m:r>
                      </m:sub>
                      <m:sup>
                        <m:r>
                          <a:rPr lang="en-US" altLang="zh-CN" sz="1400" b="1" i="1" dirty="0" smtClean="0">
                            <a:solidFill>
                              <a:schemeClr val="tx1"/>
                            </a:solidFill>
                            <a:latin typeface="Cambria Math" panose="02040503050406030204" pitchFamily="18" charset="0"/>
                          </a:rPr>
                          <m:t>+</m:t>
                        </m:r>
                      </m:sup>
                    </m:sSubSup>
                  </m:oMath>
                </a14:m>
                <a:r>
                  <a:rPr lang="zh-CN" altLang="en-US" sz="1400" dirty="0">
                    <a:solidFill>
                      <a:schemeClr val="tx1"/>
                    </a:solidFill>
                  </a:rPr>
                  <a:t>的极角</a:t>
                </a:r>
                <a14:m>
                  <m:oMath xmlns:m="http://schemas.openxmlformats.org/officeDocument/2006/math">
                    <m:sSubSup>
                      <m:sSubSupPr>
                        <m:ctrlPr>
                          <a:rPr lang="en-US" altLang="zh-CN" sz="1400" i="1" dirty="0">
                            <a:solidFill>
                              <a:schemeClr val="tx1"/>
                            </a:solidFill>
                            <a:latin typeface="Cambria Math" panose="02040503050406030204" pitchFamily="18" charset="0"/>
                          </a:rPr>
                        </m:ctrlPr>
                      </m:sSubSupPr>
                      <m:e>
                        <m:r>
                          <a:rPr lang="en-US" altLang="zh-CN" sz="1400" i="1" dirty="0">
                            <a:solidFill>
                              <a:schemeClr val="tx1"/>
                            </a:solidFill>
                            <a:latin typeface="Cambria Math" panose="02040503050406030204" pitchFamily="18" charset="0"/>
                          </a:rPr>
                          <m:t>𝜃</m:t>
                        </m:r>
                      </m:e>
                      <m:sub>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𝑜</m:t>
                            </m:r>
                          </m:e>
                          <m:sub>
                            <m:r>
                              <a:rPr lang="en-US" altLang="zh-CN" sz="1400" i="1" dirty="0">
                                <a:solidFill>
                                  <a:schemeClr val="tx1"/>
                                </a:solidFill>
                                <a:latin typeface="Cambria Math" panose="02040503050406030204" pitchFamily="18" charset="0"/>
                              </a:rPr>
                              <m:t>h𝑒𝑚𝑖</m:t>
                            </m:r>
                          </m:sub>
                        </m:sSub>
                      </m:sub>
                      <m:sup>
                        <m:r>
                          <a:rPr lang="en-US" altLang="zh-CN" sz="1400" i="1" dirty="0">
                            <a:solidFill>
                              <a:schemeClr val="tx1"/>
                            </a:solidFill>
                            <a:latin typeface="Cambria Math" panose="02040503050406030204" pitchFamily="18" charset="0"/>
                          </a:rPr>
                          <m:t>+</m:t>
                        </m:r>
                      </m:sup>
                    </m:sSubSup>
                  </m:oMath>
                </a14:m>
                <a:r>
                  <a:rPr lang="zh-CN" altLang="en-US" sz="1400" dirty="0">
                    <a:solidFill>
                      <a:schemeClr val="tx1"/>
                    </a:solidFill>
                  </a:rPr>
                  <a:t>，等积映射到相应的投影面积（半圆</a:t>
                </a:r>
                <a:r>
                  <a:rPr lang="en-US" altLang="zh-CN" sz="1400" dirty="0">
                    <a:solidFill>
                      <a:schemeClr val="tx1"/>
                    </a:solidFill>
                  </a:rPr>
                  <a:t>+</a:t>
                </a:r>
                <a:r>
                  <a:rPr lang="zh-CN" altLang="en-US" sz="1400" dirty="0">
                    <a:solidFill>
                      <a:schemeClr val="tx1"/>
                    </a:solidFill>
                  </a:rPr>
                  <a:t>被压缩的半圆）里，即</a:t>
                </a:r>
                <a14:m>
                  <m:oMath xmlns:m="http://schemas.openxmlformats.org/officeDocument/2006/math">
                    <m:sSup>
                      <m:sSupPr>
                        <m:ctrlPr>
                          <a:rPr lang="en-US" altLang="zh-CN" sz="1400" b="1" i="1" smtClean="0">
                            <a:solidFill>
                              <a:schemeClr val="tx1"/>
                            </a:solidFill>
                            <a:latin typeface="Cambria Math" panose="02040503050406030204" pitchFamily="18" charset="0"/>
                          </a:rPr>
                        </m:ctrlPr>
                      </m:sSupPr>
                      <m:e>
                        <m:r>
                          <a:rPr lang="en-US" altLang="zh-CN" sz="1400" b="1">
                            <a:solidFill>
                              <a:schemeClr val="tx1"/>
                            </a:solidFill>
                            <a:latin typeface="Cambria Math" panose="02040503050406030204" pitchFamily="18" charset="0"/>
                          </a:rPr>
                          <m:t>𝐩</m:t>
                        </m:r>
                      </m:e>
                      <m:sup>
                        <m:r>
                          <a:rPr lang="en-US" altLang="zh-CN" sz="1400" b="1" i="0" smtClean="0">
                            <a:solidFill>
                              <a:schemeClr val="tx1"/>
                            </a:solidFill>
                            <a:latin typeface="Cambria Math" panose="02040503050406030204" pitchFamily="18" charset="0"/>
                          </a:rPr>
                          <m:t>′</m:t>
                        </m:r>
                      </m:sup>
                    </m:sSup>
                    <m:r>
                      <a:rPr lang="en-US" altLang="zh-CN" sz="1400">
                        <a:solidFill>
                          <a:schemeClr val="tx1"/>
                        </a:solidFill>
                        <a:latin typeface="Cambria Math" panose="02040503050406030204" pitchFamily="18" charset="0"/>
                      </a:rPr>
                      <m:t>=</m:t>
                    </m:r>
                    <m:d>
                      <m:dPr>
                        <m:ctrlPr>
                          <a:rPr lang="en-US" altLang="zh-CN" sz="1400" i="1">
                            <a:solidFill>
                              <a:schemeClr val="tx1"/>
                            </a:solidFill>
                            <a:latin typeface="Cambria Math" panose="02040503050406030204" pitchFamily="18" charset="0"/>
                          </a:rPr>
                        </m:ctrlPr>
                      </m:dPr>
                      <m:e>
                        <m:sSub>
                          <m:sSubPr>
                            <m:ctrlPr>
                              <a:rPr lang="en-US" altLang="zh-CN" sz="1400" i="1">
                                <a:solidFill>
                                  <a:schemeClr val="tx1"/>
                                </a:solidFill>
                                <a:latin typeface="Cambria Math" panose="02040503050406030204" pitchFamily="18" charset="0"/>
                              </a:rPr>
                            </m:ctrlPr>
                          </m:sSubPr>
                          <m:e>
                            <m:r>
                              <m:rPr>
                                <m:sty m:val="p"/>
                              </m:rPr>
                              <a:rPr lang="en-US" altLang="zh-CN" sz="1400">
                                <a:solidFill>
                                  <a:schemeClr val="tx1"/>
                                </a:solidFill>
                                <a:latin typeface="Cambria Math" panose="02040503050406030204" pitchFamily="18" charset="0"/>
                              </a:rPr>
                              <m:t>p</m:t>
                            </m:r>
                          </m:e>
                          <m:sub>
                            <m:r>
                              <m:rPr>
                                <m:sty m:val="p"/>
                              </m:rPr>
                              <a:rPr lang="en-US" altLang="zh-CN" sz="1400">
                                <a:solidFill>
                                  <a:schemeClr val="tx1"/>
                                </a:solidFill>
                                <a:latin typeface="Cambria Math" panose="02040503050406030204" pitchFamily="18" charset="0"/>
                              </a:rPr>
                              <m:t>x</m:t>
                            </m:r>
                          </m:sub>
                        </m:sSub>
                        <m:r>
                          <a:rPr lang="en-US" altLang="zh-CN" sz="1400">
                            <a:solidFill>
                              <a:schemeClr val="tx1"/>
                            </a:solidFill>
                            <a:latin typeface="Cambria Math" panose="02040503050406030204" pitchFamily="18" charset="0"/>
                          </a:rPr>
                          <m:t>,</m:t>
                        </m:r>
                        <m:r>
                          <m:rPr>
                            <m:sty m:val="p"/>
                          </m:rPr>
                          <a:rPr lang="en-US" altLang="zh-CN" sz="1400" b="0" i="0" smtClean="0">
                            <a:solidFill>
                              <a:schemeClr val="tx1"/>
                            </a:solidFill>
                            <a:latin typeface="Cambria Math" panose="02040503050406030204" pitchFamily="18" charset="0"/>
                          </a:rPr>
                          <m:t>T</m:t>
                        </m:r>
                        <m:d>
                          <m:dPr>
                            <m:ctrlPr>
                              <a:rPr lang="en-US" altLang="zh-CN" sz="1400" b="0" i="1" smtClean="0">
                                <a:solidFill>
                                  <a:schemeClr val="tx1"/>
                                </a:solidFill>
                                <a:latin typeface="Cambria Math" panose="02040503050406030204" pitchFamily="18" charset="0"/>
                              </a:rPr>
                            </m:ctrlPr>
                          </m:dPr>
                          <m:e>
                            <m:sSub>
                              <m:sSubPr>
                                <m:ctrlPr>
                                  <a:rPr lang="en-US" altLang="zh-CN" sz="1400" b="0" i="1" smtClean="0">
                                    <a:solidFill>
                                      <a:schemeClr val="tx1"/>
                                    </a:solidFill>
                                    <a:latin typeface="Cambria Math" panose="02040503050406030204" pitchFamily="18" charset="0"/>
                                  </a:rPr>
                                </m:ctrlPr>
                              </m:sSubPr>
                              <m:e>
                                <m:r>
                                  <a:rPr lang="en-US" altLang="zh-CN" sz="1400" b="0" i="1" smtClean="0">
                                    <a:solidFill>
                                      <a:schemeClr val="tx1"/>
                                    </a:solidFill>
                                    <a:latin typeface="Cambria Math" panose="02040503050406030204" pitchFamily="18" charset="0"/>
                                  </a:rPr>
                                  <m:t>𝑝</m:t>
                                </m:r>
                              </m:e>
                              <m:sub>
                                <m:r>
                                  <a:rPr lang="en-US" altLang="zh-CN" sz="1400" b="0" i="1" smtClean="0">
                                    <a:solidFill>
                                      <a:schemeClr val="tx1"/>
                                    </a:solidFill>
                                    <a:latin typeface="Cambria Math" panose="02040503050406030204" pitchFamily="18" charset="0"/>
                                  </a:rPr>
                                  <m:t>𝑥</m:t>
                                </m:r>
                              </m:sub>
                            </m:sSub>
                            <m:r>
                              <a:rPr lang="en-US" altLang="zh-CN" sz="1400" b="0" i="1" smtClean="0">
                                <a:solidFill>
                                  <a:schemeClr val="tx1"/>
                                </a:solidFill>
                                <a:latin typeface="Cambria Math" panose="02040503050406030204" pitchFamily="18" charset="0"/>
                              </a:rPr>
                              <m:t>,</m:t>
                            </m:r>
                            <m:sSub>
                              <m:sSubPr>
                                <m:ctrlPr>
                                  <a:rPr lang="en-US" altLang="zh-CN" sz="1400" i="1">
                                    <a:solidFill>
                                      <a:schemeClr val="tx1"/>
                                    </a:solidFill>
                                    <a:latin typeface="Cambria Math" panose="02040503050406030204" pitchFamily="18" charset="0"/>
                                  </a:rPr>
                                </m:ctrlPr>
                              </m:sSubPr>
                              <m:e>
                                <m:r>
                                  <m:rPr>
                                    <m:sty m:val="p"/>
                                  </m:rPr>
                                  <a:rPr lang="en-US" altLang="zh-CN" sz="1400">
                                    <a:solidFill>
                                      <a:schemeClr val="tx1"/>
                                    </a:solidFill>
                                    <a:latin typeface="Cambria Math" panose="02040503050406030204" pitchFamily="18" charset="0"/>
                                  </a:rPr>
                                  <m:t>p</m:t>
                                </m:r>
                              </m:e>
                              <m:sub>
                                <m:r>
                                  <m:rPr>
                                    <m:sty m:val="p"/>
                                  </m:rPr>
                                  <a:rPr lang="en-US" altLang="zh-CN" sz="1400">
                                    <a:solidFill>
                                      <a:schemeClr val="tx1"/>
                                    </a:solidFill>
                                    <a:latin typeface="Cambria Math" panose="02040503050406030204" pitchFamily="18" charset="0"/>
                                  </a:rPr>
                                  <m:t>y</m:t>
                                </m:r>
                              </m:sub>
                            </m:sSub>
                            <m:r>
                              <a:rPr lang="en-US" altLang="zh-CN" sz="1400" b="0" i="0" smtClean="0">
                                <a:solidFill>
                                  <a:schemeClr val="tx1"/>
                                </a:solidFill>
                                <a:latin typeface="Cambria Math" panose="02040503050406030204" pitchFamily="18" charset="0"/>
                              </a:rPr>
                              <m:t>,</m:t>
                            </m:r>
                            <m:sSubSup>
                              <m:sSubSupPr>
                                <m:ctrlPr>
                                  <a:rPr lang="en-US" altLang="zh-CN" sz="1400" b="0" i="1" smtClean="0">
                                    <a:solidFill>
                                      <a:schemeClr val="tx1"/>
                                    </a:solidFill>
                                    <a:latin typeface="Cambria Math" panose="02040503050406030204" pitchFamily="18" charset="0"/>
                                  </a:rPr>
                                </m:ctrlPr>
                              </m:sSubSupPr>
                              <m:e>
                                <m:r>
                                  <a:rPr lang="en-US" altLang="zh-CN" sz="1400" b="0" i="1" smtClean="0">
                                    <a:solidFill>
                                      <a:schemeClr val="tx1"/>
                                    </a:solidFill>
                                    <a:latin typeface="Cambria Math" panose="02040503050406030204" pitchFamily="18" charset="0"/>
                                  </a:rPr>
                                  <m:t>𝜃</m:t>
                                </m:r>
                              </m:e>
                              <m:sub>
                                <m:sSub>
                                  <m:sSubPr>
                                    <m:ctrlPr>
                                      <a:rPr lang="en-US" altLang="zh-CN" sz="1400" i="1" dirty="0">
                                        <a:solidFill>
                                          <a:schemeClr val="tx1"/>
                                        </a:solidFill>
                                        <a:latin typeface="Cambria Math" panose="02040503050406030204" pitchFamily="18" charset="0"/>
                                      </a:rPr>
                                    </m:ctrlPr>
                                  </m:sSubPr>
                                  <m:e>
                                    <m:r>
                                      <a:rPr lang="en-US" altLang="zh-CN" sz="1400" i="1" dirty="0">
                                        <a:solidFill>
                                          <a:schemeClr val="tx1"/>
                                        </a:solidFill>
                                        <a:latin typeface="Cambria Math" panose="02040503050406030204" pitchFamily="18" charset="0"/>
                                      </a:rPr>
                                      <m:t>𝑜</m:t>
                                    </m:r>
                                  </m:e>
                                  <m:sub>
                                    <m:r>
                                      <a:rPr lang="en-US" altLang="zh-CN" sz="1400" i="1" dirty="0">
                                        <a:solidFill>
                                          <a:schemeClr val="tx1"/>
                                        </a:solidFill>
                                        <a:latin typeface="Cambria Math" panose="02040503050406030204" pitchFamily="18" charset="0"/>
                                      </a:rPr>
                                      <m:t>h𝑒𝑚𝑖</m:t>
                                    </m:r>
                                  </m:sub>
                                </m:sSub>
                              </m:sub>
                              <m:sup>
                                <m:r>
                                  <a:rPr lang="en-US" altLang="zh-CN" sz="1400" b="0" i="1" smtClean="0">
                                    <a:solidFill>
                                      <a:schemeClr val="tx1"/>
                                    </a:solidFill>
                                    <a:latin typeface="Cambria Math" panose="02040503050406030204" pitchFamily="18" charset="0"/>
                                  </a:rPr>
                                  <m:t>+</m:t>
                                </m:r>
                              </m:sup>
                            </m:sSubSup>
                          </m:e>
                        </m:d>
                      </m:e>
                    </m:d>
                  </m:oMath>
                </a14:m>
                <a:r>
                  <a:rPr lang="zh-CN" altLang="en-US" sz="1400" dirty="0">
                    <a:solidFill>
                      <a:schemeClr val="tx1"/>
                    </a:solidFill>
                  </a:rPr>
                  <a:t>。</a:t>
                </a:r>
                <a:endParaRPr lang="en-US" altLang="zh-CN" sz="1400" dirty="0">
                  <a:solidFill>
                    <a:schemeClr val="tx1"/>
                  </a:solidFill>
                </a:endParaRPr>
              </a:p>
            </p:txBody>
          </p:sp>
        </mc:Choice>
        <mc:Fallback>
          <p:sp>
            <p:nvSpPr>
              <p:cNvPr id="64" name="矩形 63">
                <a:extLst>
                  <a:ext uri="{FF2B5EF4-FFF2-40B4-BE49-F238E27FC236}">
                    <a16:creationId xmlns:a16="http://schemas.microsoft.com/office/drawing/2014/main" id="{2E277698-D42D-20EA-7D56-99898D85F19A}"/>
                  </a:ext>
                </a:extLst>
              </p:cNvPr>
              <p:cNvSpPr>
                <a:spLocks noRot="1" noChangeAspect="1" noMove="1" noResize="1" noEditPoints="1" noAdjustHandles="1" noChangeArrowheads="1" noChangeShapeType="1" noTextEdit="1"/>
              </p:cNvSpPr>
              <p:nvPr/>
            </p:nvSpPr>
            <p:spPr>
              <a:xfrm>
                <a:off x="478709" y="1144043"/>
                <a:ext cx="7030643" cy="5060515"/>
              </a:xfrm>
              <a:prstGeom prst="rect">
                <a:avLst/>
              </a:prstGeom>
              <a:blipFill>
                <a:blip r:embed="rId3"/>
                <a:stretch>
                  <a:fillRect l="-173"/>
                </a:stretch>
              </a:blipFill>
            </p:spPr>
            <p:txBody>
              <a:bodyPr/>
              <a:lstStyle/>
              <a:p>
                <a:r>
                  <a:rPr lang="zh-CN" altLang="en-US">
                    <a:noFill/>
                  </a:rPr>
                  <a:t> </a:t>
                </a:r>
              </a:p>
            </p:txBody>
          </p:sp>
        </mc:Fallback>
      </mc:AlternateContent>
      <p:pic>
        <p:nvPicPr>
          <p:cNvPr id="32" name="图片 31">
            <a:extLst>
              <a:ext uri="{FF2B5EF4-FFF2-40B4-BE49-F238E27FC236}">
                <a16:creationId xmlns:a16="http://schemas.microsoft.com/office/drawing/2014/main" id="{59849091-2164-3BEF-5248-9E6DF1D99354}"/>
              </a:ext>
            </a:extLst>
          </p:cNvPr>
          <p:cNvPicPr>
            <a:picLocks noChangeAspect="1"/>
          </p:cNvPicPr>
          <p:nvPr/>
        </p:nvPicPr>
        <p:blipFill>
          <a:blip r:embed="rId4"/>
          <a:srcRect r="49541"/>
          <a:stretch/>
        </p:blipFill>
        <p:spPr>
          <a:xfrm>
            <a:off x="8285675" y="718907"/>
            <a:ext cx="3017983" cy="2722324"/>
          </a:xfrm>
          <a:prstGeom prst="rect">
            <a:avLst/>
          </a:prstGeom>
        </p:spPr>
      </p:pic>
      <p:pic>
        <p:nvPicPr>
          <p:cNvPr id="5" name="图片 4">
            <a:extLst>
              <a:ext uri="{FF2B5EF4-FFF2-40B4-BE49-F238E27FC236}">
                <a16:creationId xmlns:a16="http://schemas.microsoft.com/office/drawing/2014/main" id="{706469BB-BF06-88DB-6A0E-C06EF5E69E17}"/>
              </a:ext>
            </a:extLst>
          </p:cNvPr>
          <p:cNvPicPr>
            <a:picLocks noChangeAspect="1"/>
          </p:cNvPicPr>
          <p:nvPr/>
        </p:nvPicPr>
        <p:blipFill>
          <a:blip r:embed="rId4"/>
          <a:srcRect l="51233"/>
          <a:stretch/>
        </p:blipFill>
        <p:spPr>
          <a:xfrm>
            <a:off x="8386890" y="3674300"/>
            <a:ext cx="2916768" cy="2722324"/>
          </a:xfrm>
          <a:prstGeom prst="rect">
            <a:avLst/>
          </a:prstGeom>
        </p:spPr>
      </p:pic>
    </p:spTree>
    <p:extLst>
      <p:ext uri="{BB962C8B-B14F-4D97-AF65-F5344CB8AC3E}">
        <p14:creationId xmlns:p14="http://schemas.microsoft.com/office/powerpoint/2010/main" val="190317408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6B967F-518D-21CB-C838-7F2EB0F705A0}"/>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06652C0C-8E99-638E-A8CC-E951D1C40776}"/>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重要性采样</a:t>
                </a:r>
                <a14:m>
                  <m:oMath xmlns:m="http://schemas.openxmlformats.org/officeDocument/2006/math">
                    <m:sSub>
                      <m:sSubPr>
                        <m:ctrlPr>
                          <a:rPr lang="en-US" altLang="zh-CN" sz="3200" i="1" dirty="0" smtClean="0">
                            <a:solidFill>
                              <a:schemeClr val="tx1"/>
                            </a:solidFill>
                            <a:latin typeface="Cambria Math" panose="02040503050406030204" pitchFamily="18" charset="0"/>
                          </a:rPr>
                        </m:ctrlPr>
                      </m:sSubPr>
                      <m:e>
                        <m:r>
                          <a:rPr lang="en-US" altLang="zh-CN" sz="3200" i="1" dirty="0">
                            <a:solidFill>
                              <a:schemeClr val="tx1"/>
                            </a:solidFill>
                            <a:latin typeface="Cambria Math" panose="02040503050406030204" pitchFamily="18" charset="0"/>
                          </a:rPr>
                          <m:t>𝐷</m:t>
                        </m:r>
                      </m:e>
                      <m:sub>
                        <m:r>
                          <a:rPr lang="en-US" altLang="zh-CN" sz="3200" i="1" dirty="0">
                            <a:solidFill>
                              <a:schemeClr val="tx1"/>
                            </a:solidFill>
                            <a:latin typeface="Cambria Math" panose="02040503050406030204" pitchFamily="18" charset="0"/>
                          </a:rPr>
                          <m:t>𝑣</m:t>
                        </m:r>
                      </m:sub>
                    </m:sSub>
                    <m:d>
                      <m:dPr>
                        <m:ctrlPr>
                          <a:rPr lang="en-US" altLang="zh-CN" sz="3200" i="1" dirty="0">
                            <a:solidFill>
                              <a:schemeClr val="tx1"/>
                            </a:solidFill>
                            <a:latin typeface="Cambria Math" panose="02040503050406030204" pitchFamily="18" charset="0"/>
                          </a:rPr>
                        </m:ctrlPr>
                      </m:dPr>
                      <m:e>
                        <m:r>
                          <a:rPr lang="en-US" altLang="zh-CN" sz="3200" b="1" i="1" dirty="0">
                            <a:solidFill>
                              <a:schemeClr val="tx1"/>
                            </a:solidFill>
                            <a:latin typeface="Cambria Math" panose="02040503050406030204" pitchFamily="18" charset="0"/>
                          </a:rPr>
                          <m:t>𝒐</m:t>
                        </m:r>
                        <m:r>
                          <a:rPr lang="en-US" altLang="zh-CN" sz="3200" b="1" i="1" dirty="0">
                            <a:solidFill>
                              <a:schemeClr val="tx1"/>
                            </a:solidFill>
                            <a:latin typeface="Cambria Math" panose="02040503050406030204" pitchFamily="18" charset="0"/>
                          </a:rPr>
                          <m:t>,</m:t>
                        </m:r>
                        <m:r>
                          <a:rPr lang="en-US" altLang="zh-CN" sz="3200" i="1" dirty="0">
                            <a:solidFill>
                              <a:schemeClr val="tx1"/>
                            </a:solidFill>
                            <a:latin typeface="Cambria Math" panose="02040503050406030204" pitchFamily="18" charset="0"/>
                          </a:rPr>
                          <m:t> </m:t>
                        </m:r>
                        <m:r>
                          <a:rPr lang="en-US" altLang="zh-CN" sz="3200" b="1" i="1" dirty="0">
                            <a:solidFill>
                              <a:schemeClr val="tx1"/>
                            </a:solidFill>
                            <a:latin typeface="Cambria Math" panose="02040503050406030204" pitchFamily="18" charset="0"/>
                          </a:rPr>
                          <m:t>𝒎</m:t>
                        </m:r>
                      </m:e>
                    </m:d>
                  </m:oMath>
                </a14:m>
                <a:endParaRPr lang="en-US" altLang="zh-CN" dirty="0"/>
              </a:p>
            </p:txBody>
          </p:sp>
        </mc:Choice>
        <mc:Fallback xmlns="">
          <p:sp>
            <p:nvSpPr>
              <p:cNvPr id="13" name="标题 2">
                <a:extLst>
                  <a:ext uri="{FF2B5EF4-FFF2-40B4-BE49-F238E27FC236}">
                    <a16:creationId xmlns:a16="http://schemas.microsoft.com/office/drawing/2014/main" id="{06652C0C-8E99-638E-A8CC-E951D1C40776}"/>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864" b="-7627"/>
                </a:stretch>
              </a:blipFill>
            </p:spPr>
            <p:txBody>
              <a:bodyPr/>
              <a:lstStyle/>
              <a:p>
                <a:r>
                  <a:rPr lang="zh-CN" altLang="en-US">
                    <a:noFill/>
                  </a:rPr>
                  <a:t> </a:t>
                </a:r>
              </a:p>
            </p:txBody>
          </p:sp>
        </mc:Fallback>
      </mc:AlternateContent>
      <p:sp>
        <p:nvSpPr>
          <p:cNvPr id="63" name="矩形 62">
            <a:extLst>
              <a:ext uri="{FF2B5EF4-FFF2-40B4-BE49-F238E27FC236}">
                <a16:creationId xmlns:a16="http://schemas.microsoft.com/office/drawing/2014/main" id="{B104265E-48B5-FAD7-6DA0-6B3D3C6E0DA7}"/>
              </a:ext>
            </a:extLst>
          </p:cNvPr>
          <p:cNvSpPr/>
          <p:nvPr/>
        </p:nvSpPr>
        <p:spPr>
          <a:xfrm>
            <a:off x="631109" y="1315232"/>
            <a:ext cx="7030643" cy="506051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6D4118A2-3B55-A47F-7D58-B1F40F39D09A}"/>
                  </a:ext>
                </a:extLst>
              </p:cNvPr>
              <p:cNvSpPr/>
              <p:nvPr/>
            </p:nvSpPr>
            <p:spPr>
              <a:xfrm>
                <a:off x="503761" y="1150306"/>
                <a:ext cx="7030643" cy="506051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r>
                  <a:rPr lang="zh-CN" altLang="en-US" sz="1600" dirty="0">
                    <a:solidFill>
                      <a:schemeClr val="tx1"/>
                    </a:solidFill>
                  </a:rPr>
                  <a:t>        得到</a:t>
                </a:r>
                <a14:m>
                  <m:oMath xmlns:m="http://schemas.openxmlformats.org/officeDocument/2006/math">
                    <m:sSup>
                      <m:sSupPr>
                        <m:ctrlPr>
                          <a:rPr lang="en-US" altLang="zh-CN" sz="1600" b="1" i="1" smtClean="0">
                            <a:solidFill>
                              <a:schemeClr val="tx1"/>
                            </a:solidFill>
                            <a:latin typeface="Cambria Math" panose="02040503050406030204" pitchFamily="18" charset="0"/>
                          </a:rPr>
                        </m:ctrlPr>
                      </m:sSupPr>
                      <m:e>
                        <m:r>
                          <a:rPr lang="en-US" altLang="zh-CN" sz="1600" b="1">
                            <a:solidFill>
                              <a:schemeClr val="tx1"/>
                            </a:solidFill>
                            <a:latin typeface="Cambria Math" panose="02040503050406030204" pitchFamily="18" charset="0"/>
                          </a:rPr>
                          <m:t>𝐩</m:t>
                        </m:r>
                      </m:e>
                      <m:sup>
                        <m:r>
                          <a:rPr lang="en-US" altLang="zh-CN" sz="1600" b="1" i="0" smtClean="0">
                            <a:solidFill>
                              <a:schemeClr val="tx1"/>
                            </a:solidFill>
                            <a:latin typeface="Cambria Math" panose="02040503050406030204" pitchFamily="18" charset="0"/>
                          </a:rPr>
                          <m:t>′</m:t>
                        </m:r>
                      </m:sup>
                    </m:sSup>
                    <m:r>
                      <a:rPr lang="en-US" altLang="zh-CN" sz="1600">
                        <a:solidFill>
                          <a:schemeClr val="tx1"/>
                        </a:solidFill>
                        <a:latin typeface="Cambria Math" panose="02040503050406030204" pitchFamily="18" charset="0"/>
                      </a:rPr>
                      <m:t>=</m:t>
                    </m:r>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m:rPr>
                                <m:sty m:val="p"/>
                              </m:rPr>
                              <a:rPr lang="en-US" altLang="zh-CN" sz="1600">
                                <a:solidFill>
                                  <a:schemeClr val="tx1"/>
                                </a:solidFill>
                                <a:latin typeface="Cambria Math" panose="02040503050406030204" pitchFamily="18" charset="0"/>
                              </a:rPr>
                              <m:t>p</m:t>
                            </m:r>
                          </m:e>
                          <m:sub>
                            <m:r>
                              <m:rPr>
                                <m:sty m:val="p"/>
                              </m:rPr>
                              <a:rPr lang="en-US" altLang="zh-CN" sz="1600">
                                <a:solidFill>
                                  <a:schemeClr val="tx1"/>
                                </a:solidFill>
                                <a:latin typeface="Cambria Math" panose="02040503050406030204" pitchFamily="18" charset="0"/>
                              </a:rPr>
                              <m:t>x</m:t>
                            </m:r>
                          </m:sub>
                        </m:sSub>
                        <m:r>
                          <a:rPr lang="en-US" altLang="zh-CN" sz="1600">
                            <a:solidFill>
                              <a:schemeClr val="tx1"/>
                            </a:solidFill>
                            <a:latin typeface="Cambria Math" panose="02040503050406030204" pitchFamily="18" charset="0"/>
                          </a:rPr>
                          <m:t>,</m:t>
                        </m:r>
                        <m:r>
                          <m:rPr>
                            <m:sty m:val="p"/>
                          </m:rPr>
                          <a:rPr lang="en-US" altLang="zh-CN" sz="1600" b="0" i="0" smtClean="0">
                            <a:solidFill>
                              <a:schemeClr val="tx1"/>
                            </a:solidFill>
                            <a:latin typeface="Cambria Math" panose="02040503050406030204" pitchFamily="18" charset="0"/>
                          </a:rPr>
                          <m:t>T</m:t>
                        </m:r>
                        <m:d>
                          <m:dPr>
                            <m:ctrlPr>
                              <a:rPr lang="en-US" altLang="zh-CN" sz="1600" b="0" i="1" smtClean="0">
                                <a:solidFill>
                                  <a:schemeClr val="tx1"/>
                                </a:solidFill>
                                <a:latin typeface="Cambria Math" panose="02040503050406030204" pitchFamily="18" charset="0"/>
                              </a:rPr>
                            </m:ctrlPr>
                          </m:dPr>
                          <m:e>
                            <m:sSub>
                              <m:sSubPr>
                                <m:ctrlPr>
                                  <a:rPr lang="en-US" altLang="zh-CN" sz="1600" b="0" i="1" smtClean="0">
                                    <a:solidFill>
                                      <a:schemeClr val="tx1"/>
                                    </a:solidFill>
                                    <a:latin typeface="Cambria Math" panose="02040503050406030204" pitchFamily="18" charset="0"/>
                                  </a:rPr>
                                </m:ctrlPr>
                              </m:sSubPr>
                              <m:e>
                                <m:r>
                                  <a:rPr lang="en-US" altLang="zh-CN" sz="1600" b="0" i="1" smtClean="0">
                                    <a:solidFill>
                                      <a:schemeClr val="tx1"/>
                                    </a:solidFill>
                                    <a:latin typeface="Cambria Math" panose="02040503050406030204" pitchFamily="18" charset="0"/>
                                  </a:rPr>
                                  <m:t>𝑝</m:t>
                                </m:r>
                              </m:e>
                              <m:sub>
                                <m:r>
                                  <a:rPr lang="en-US" altLang="zh-CN" sz="1600" b="0" i="1" smtClean="0">
                                    <a:solidFill>
                                      <a:schemeClr val="tx1"/>
                                    </a:solidFill>
                                    <a:latin typeface="Cambria Math" panose="02040503050406030204" pitchFamily="18" charset="0"/>
                                  </a:rPr>
                                  <m:t>𝑥</m:t>
                                </m:r>
                              </m:sub>
                            </m:sSub>
                            <m:r>
                              <a:rPr lang="en-US" altLang="zh-CN" sz="1600" b="0" i="1" smtClean="0">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m:rPr>
                                    <m:sty m:val="p"/>
                                  </m:rPr>
                                  <a:rPr lang="en-US" altLang="zh-CN" sz="1600">
                                    <a:solidFill>
                                      <a:schemeClr val="tx1"/>
                                    </a:solidFill>
                                    <a:latin typeface="Cambria Math" panose="02040503050406030204" pitchFamily="18" charset="0"/>
                                  </a:rPr>
                                  <m:t>p</m:t>
                                </m:r>
                              </m:e>
                              <m:sub>
                                <m:r>
                                  <m:rPr>
                                    <m:sty m:val="p"/>
                                  </m:rPr>
                                  <a:rPr lang="en-US" altLang="zh-CN" sz="1600">
                                    <a:solidFill>
                                      <a:schemeClr val="tx1"/>
                                    </a:solidFill>
                                    <a:latin typeface="Cambria Math" panose="02040503050406030204" pitchFamily="18" charset="0"/>
                                  </a:rPr>
                                  <m:t>y</m:t>
                                </m:r>
                              </m:sub>
                            </m:sSub>
                            <m:r>
                              <a:rPr lang="en-US" altLang="zh-CN" sz="1600" b="0" i="0" smtClean="0">
                                <a:solidFill>
                                  <a:schemeClr val="tx1"/>
                                </a:solidFill>
                                <a:latin typeface="Cambria Math" panose="02040503050406030204" pitchFamily="18" charset="0"/>
                              </a:rPr>
                              <m:t>,</m:t>
                            </m:r>
                            <m:sSubSup>
                              <m:sSubSupPr>
                                <m:ctrlPr>
                                  <a:rPr lang="en-US" altLang="zh-CN" sz="1600" b="0" i="1" smtClean="0">
                                    <a:solidFill>
                                      <a:schemeClr val="tx1"/>
                                    </a:solidFill>
                                    <a:latin typeface="Cambria Math" panose="02040503050406030204" pitchFamily="18" charset="0"/>
                                  </a:rPr>
                                </m:ctrlPr>
                              </m:sSubSupPr>
                              <m:e>
                                <m:r>
                                  <a:rPr lang="en-US" altLang="zh-CN" sz="1600" b="0" i="1" smtClean="0">
                                    <a:solidFill>
                                      <a:schemeClr val="tx1"/>
                                    </a:solidFill>
                                    <a:latin typeface="Cambria Math" panose="02040503050406030204" pitchFamily="18" charset="0"/>
                                  </a:rPr>
                                  <m:t>𝜃</m:t>
                                </m:r>
                              </m:e>
                              <m:sub>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𝑜</m:t>
                                    </m:r>
                                  </m:e>
                                  <m:sub>
                                    <m:r>
                                      <a:rPr lang="en-US" altLang="zh-CN" sz="1600" i="1" dirty="0">
                                        <a:solidFill>
                                          <a:schemeClr val="tx1"/>
                                        </a:solidFill>
                                        <a:latin typeface="Cambria Math" panose="02040503050406030204" pitchFamily="18" charset="0"/>
                                      </a:rPr>
                                      <m:t>h𝑒𝑚𝑖</m:t>
                                    </m:r>
                                  </m:sub>
                                </m:sSub>
                              </m:sub>
                              <m:sup>
                                <m:r>
                                  <a:rPr lang="en-US" altLang="zh-CN" sz="1600" b="0" i="1" smtClean="0">
                                    <a:solidFill>
                                      <a:schemeClr val="tx1"/>
                                    </a:solidFill>
                                    <a:latin typeface="Cambria Math" panose="02040503050406030204" pitchFamily="18" charset="0"/>
                                  </a:rPr>
                                  <m:t>+</m:t>
                                </m:r>
                              </m:sup>
                            </m:sSubSup>
                          </m:e>
                        </m:d>
                      </m:e>
                    </m:d>
                  </m:oMath>
                </a14:m>
                <a:r>
                  <a:rPr lang="zh-CN" altLang="en-US" sz="1600" dirty="0">
                    <a:solidFill>
                      <a:schemeClr val="tx1"/>
                    </a:solidFill>
                  </a:rPr>
                  <a:t>后，我们需要将其转换为球体上的对应的点的法线方向，具体方法是：以</a:t>
                </a:r>
                <a14:m>
                  <m:oMath xmlns:m="http://schemas.openxmlformats.org/officeDocument/2006/math">
                    <m:sSubSup>
                      <m:sSubSupPr>
                        <m:ctrlPr>
                          <a:rPr lang="en-US" altLang="zh-CN" sz="1600" b="1" i="1" dirty="0">
                            <a:solidFill>
                              <a:schemeClr val="tx1"/>
                            </a:solidFill>
                            <a:latin typeface="Cambria Math" panose="02040503050406030204" pitchFamily="18" charset="0"/>
                          </a:rPr>
                        </m:ctrlPr>
                      </m:sSubSupPr>
                      <m:e>
                        <m:r>
                          <a:rPr lang="en-US" altLang="zh-CN" sz="1600" b="1" i="1" dirty="0">
                            <a:solidFill>
                              <a:schemeClr val="tx1"/>
                            </a:solidFill>
                            <a:latin typeface="Cambria Math" panose="02040503050406030204" pitchFamily="18" charset="0"/>
                          </a:rPr>
                          <m:t>𝒐</m:t>
                        </m:r>
                      </m:e>
                      <m:sub>
                        <m:r>
                          <a:rPr lang="en-US" altLang="zh-CN" sz="1600" b="1" i="1" dirty="0">
                            <a:solidFill>
                              <a:schemeClr val="tx1"/>
                            </a:solidFill>
                            <a:latin typeface="Cambria Math" panose="02040503050406030204" pitchFamily="18" charset="0"/>
                          </a:rPr>
                          <m:t>𝒉𝒆𝒎𝒊</m:t>
                        </m:r>
                      </m:sub>
                      <m:sup>
                        <m:r>
                          <a:rPr lang="en-US" altLang="zh-CN" sz="1600" b="1" i="1" dirty="0">
                            <a:solidFill>
                              <a:schemeClr val="tx1"/>
                            </a:solidFill>
                            <a:latin typeface="Cambria Math" panose="02040503050406030204" pitchFamily="18" charset="0"/>
                          </a:rPr>
                          <m:t>+</m:t>
                        </m:r>
                      </m:sup>
                    </m:sSubSup>
                  </m:oMath>
                </a14:m>
                <a:r>
                  <a:rPr lang="zh-CN" altLang="en-US" sz="1600" dirty="0">
                    <a:solidFill>
                      <a:schemeClr val="tx1"/>
                    </a:solidFill>
                  </a:rPr>
                  <a:t>为局部坐标系</a:t>
                </a:r>
                <a14:m>
                  <m:oMath xmlns:m="http://schemas.openxmlformats.org/officeDocument/2006/math">
                    <m:r>
                      <a:rPr lang="en-US" altLang="zh-CN" sz="1600" b="0" i="1" dirty="0" smtClean="0">
                        <a:solidFill>
                          <a:schemeClr val="tx1"/>
                        </a:solidFill>
                        <a:latin typeface="Cambria Math" panose="02040503050406030204" pitchFamily="18" charset="0"/>
                      </a:rPr>
                      <m:t>𝑦</m:t>
                    </m:r>
                  </m:oMath>
                </a14:m>
                <a:r>
                  <a:rPr lang="zh-CN" altLang="en-US" sz="1600" dirty="0">
                    <a:solidFill>
                      <a:schemeClr val="tx1"/>
                    </a:solidFill>
                  </a:rPr>
                  <a:t>轴，建立局部坐标系（</a:t>
                </a:r>
                <a:r>
                  <a:rPr lang="en-US" altLang="zh-CN" sz="1600" dirty="0">
                    <a:solidFill>
                      <a:schemeClr val="tx1"/>
                    </a:solidFill>
                  </a:rPr>
                  <a:t>Frame</a:t>
                </a:r>
                <a:r>
                  <a:rPr lang="zh-CN" altLang="en-US" sz="1600" dirty="0">
                    <a:solidFill>
                      <a:schemeClr val="tx1"/>
                    </a:solidFill>
                  </a:rPr>
                  <a:t>），在局部坐标系下，</a:t>
                </a:r>
                <a:r>
                  <a:rPr lang="en-US" altLang="zh-CN" sz="1600" b="1" dirty="0">
                    <a:solidFill>
                      <a:schemeClr val="tx1"/>
                    </a:solidFill>
                  </a:rPr>
                  <a:t> </a:t>
                </a:r>
                <a14:m>
                  <m:oMath xmlns:m="http://schemas.openxmlformats.org/officeDocument/2006/math">
                    <m:r>
                      <a:rPr lang="zh-CN" altLang="en-US" sz="1600" b="1" i="1" dirty="0" smtClean="0">
                        <a:solidFill>
                          <a:schemeClr val="tx1"/>
                        </a:solidFill>
                        <a:latin typeface="Cambria Math" panose="02040503050406030204" pitchFamily="18" charset="0"/>
                      </a:rPr>
                      <m:t>点</m:t>
                    </m:r>
                    <m:d>
                      <m:dPr>
                        <m:ctrlPr>
                          <a:rPr lang="en-US" altLang="zh-CN" sz="1600" b="1" i="1" dirty="0" smtClean="0">
                            <a:solidFill>
                              <a:schemeClr val="tx1"/>
                            </a:solidFill>
                            <a:latin typeface="Cambria Math" panose="02040503050406030204" pitchFamily="18" charset="0"/>
                          </a:rPr>
                        </m:ctrlPr>
                      </m:dPr>
                      <m:e>
                        <m:sSubSup>
                          <m:sSubSupPr>
                            <m:ctrlPr>
                              <a:rPr lang="en-US" altLang="zh-CN" sz="1600" i="1" dirty="0" smtClean="0">
                                <a:solidFill>
                                  <a:schemeClr val="tx1"/>
                                </a:solidFill>
                                <a:latin typeface="Cambria Math" panose="02040503050406030204" pitchFamily="18" charset="0"/>
                              </a:rPr>
                            </m:ctrlPr>
                          </m:sSubSupPr>
                          <m:e>
                            <m:r>
                              <a:rPr lang="en-US" altLang="zh-CN" sz="1600" b="0" i="1" dirty="0" smtClean="0">
                                <a:solidFill>
                                  <a:schemeClr val="tx1"/>
                                </a:solidFill>
                                <a:latin typeface="Cambria Math" panose="02040503050406030204" pitchFamily="18" charset="0"/>
                              </a:rPr>
                              <m:t>𝑝</m:t>
                            </m:r>
                          </m:e>
                          <m:sub>
                            <m:r>
                              <a:rPr lang="en-US" altLang="zh-CN" sz="1600" b="0" i="1" dirty="0" smtClean="0">
                                <a:solidFill>
                                  <a:schemeClr val="tx1"/>
                                </a:solidFill>
                                <a:latin typeface="Cambria Math" panose="02040503050406030204" pitchFamily="18" charset="0"/>
                              </a:rPr>
                              <m:t>𝑥</m:t>
                            </m:r>
                          </m:sub>
                          <m:sup>
                            <m:r>
                              <a:rPr lang="en-US" altLang="zh-CN" sz="1600" b="0" i="1" dirty="0" smtClean="0">
                                <a:solidFill>
                                  <a:schemeClr val="tx1"/>
                                </a:solidFill>
                                <a:latin typeface="Cambria Math" panose="02040503050406030204" pitchFamily="18" charset="0"/>
                              </a:rPr>
                              <m:t>′</m:t>
                            </m:r>
                          </m:sup>
                        </m:sSubSup>
                        <m:r>
                          <a:rPr lang="en-US" altLang="zh-CN" sz="1600" b="1" i="1" dirty="0" smtClean="0">
                            <a:solidFill>
                              <a:schemeClr val="tx1"/>
                            </a:solidFill>
                            <a:latin typeface="Cambria Math" panose="02040503050406030204" pitchFamily="18" charset="0"/>
                          </a:rPr>
                          <m:t>,</m:t>
                        </m:r>
                        <m:rad>
                          <m:radPr>
                            <m:degHide m:val="on"/>
                            <m:ctrlPr>
                              <a:rPr lang="en-US" altLang="zh-CN" sz="1600" b="1" i="1" dirty="0" smtClean="0">
                                <a:solidFill>
                                  <a:schemeClr val="tx1"/>
                                </a:solidFill>
                                <a:latin typeface="Cambria Math" panose="02040503050406030204" pitchFamily="18" charset="0"/>
                              </a:rPr>
                            </m:ctrlPr>
                          </m:radPr>
                          <m:deg/>
                          <m:e>
                            <m:r>
                              <a:rPr lang="en-US" altLang="zh-CN" sz="1600" b="0" i="1" dirty="0" smtClean="0">
                                <a:solidFill>
                                  <a:schemeClr val="tx1"/>
                                </a:solidFill>
                                <a:latin typeface="Cambria Math" panose="02040503050406030204" pitchFamily="18" charset="0"/>
                              </a:rPr>
                              <m:t>1</m:t>
                            </m:r>
                            <m:r>
                              <a:rPr lang="en-US" altLang="zh-CN" sz="1600" b="1" i="1" dirty="0" smtClean="0">
                                <a:solidFill>
                                  <a:schemeClr val="tx1"/>
                                </a:solidFill>
                                <a:latin typeface="Cambria Math" panose="02040503050406030204" pitchFamily="18" charset="0"/>
                              </a:rPr>
                              <m:t>−</m:t>
                            </m:r>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𝑝</m:t>
                                    </m:r>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r>
                              <a:rPr lang="en-US" altLang="zh-CN" sz="1600" b="1" i="1" dirty="0" smtClean="0">
                                <a:solidFill>
                                  <a:schemeClr val="tx1"/>
                                </a:solidFill>
                                <a:latin typeface="Cambria Math" panose="02040503050406030204" pitchFamily="18" charset="0"/>
                              </a:rPr>
                              <m:t>−</m:t>
                            </m:r>
                            <m:sSup>
                              <m:sSupPr>
                                <m:ctrlPr>
                                  <a:rPr lang="en-US" altLang="zh-CN" sz="1600" b="0" i="1" dirty="0" smtClean="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𝑝</m:t>
                                    </m:r>
                                  </m:e>
                                  <m:sub>
                                    <m:r>
                                      <a:rPr lang="en-US" altLang="zh-CN" sz="1600" b="0" i="1" dirty="0" smtClean="0">
                                        <a:solidFill>
                                          <a:schemeClr val="tx1"/>
                                        </a:solidFill>
                                        <a:latin typeface="Cambria Math" panose="02040503050406030204" pitchFamily="18" charset="0"/>
                                      </a:rPr>
                                      <m:t>𝑦</m:t>
                                    </m:r>
                                  </m:sub>
                                  <m:sup>
                                    <m:r>
                                      <a:rPr lang="en-US" altLang="zh-CN" sz="1600" i="1" dirty="0">
                                        <a:solidFill>
                                          <a:schemeClr val="tx1"/>
                                        </a:solidFill>
                                        <a:latin typeface="Cambria Math" panose="02040503050406030204" pitchFamily="18" charset="0"/>
                                      </a:rPr>
                                      <m:t>′</m:t>
                                    </m:r>
                                  </m:sup>
                                </m:sSubSup>
                              </m:e>
                              <m:sup>
                                <m:r>
                                  <a:rPr lang="en-US" altLang="zh-CN" sz="1600" b="0" i="1" dirty="0" smtClean="0">
                                    <a:solidFill>
                                      <a:schemeClr val="tx1"/>
                                    </a:solidFill>
                                    <a:latin typeface="Cambria Math" panose="02040503050406030204" pitchFamily="18" charset="0"/>
                                  </a:rPr>
                                  <m:t>2</m:t>
                                </m:r>
                              </m:sup>
                            </m:sSup>
                          </m:e>
                        </m:rad>
                        <m:r>
                          <a:rPr lang="en-US" altLang="zh-CN" sz="1600" b="1" i="1" dirty="0" smtClean="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𝑝</m:t>
                            </m:r>
                          </m:e>
                          <m:sub>
                            <m:r>
                              <a:rPr lang="en-US" altLang="zh-CN" sz="1600" b="0" i="1" dirty="0" smtClean="0">
                                <a:solidFill>
                                  <a:schemeClr val="tx1"/>
                                </a:solidFill>
                                <a:latin typeface="Cambria Math" panose="02040503050406030204" pitchFamily="18" charset="0"/>
                              </a:rPr>
                              <m:t>𝑦</m:t>
                            </m:r>
                          </m:sub>
                          <m:sup>
                            <m:r>
                              <a:rPr lang="en-US" altLang="zh-CN" sz="1600" i="1" dirty="0">
                                <a:solidFill>
                                  <a:schemeClr val="tx1"/>
                                </a:solidFill>
                                <a:latin typeface="Cambria Math" panose="02040503050406030204" pitchFamily="18" charset="0"/>
                              </a:rPr>
                              <m:t>′</m:t>
                            </m:r>
                          </m:sup>
                        </m:sSubSup>
                      </m:e>
                    </m:d>
                  </m:oMath>
                </a14:m>
                <a:r>
                  <a:rPr lang="zh-CN" altLang="en-US" sz="1600" dirty="0">
                    <a:solidFill>
                      <a:schemeClr val="tx1"/>
                    </a:solidFill>
                  </a:rPr>
                  <a:t>即为能投影到</a:t>
                </a:r>
                <a14:m>
                  <m:oMath xmlns:m="http://schemas.openxmlformats.org/officeDocument/2006/math">
                    <m:sSup>
                      <m:sSupPr>
                        <m:ctrlPr>
                          <a:rPr lang="en-US" altLang="zh-CN" sz="1600" b="1" i="1">
                            <a:solidFill>
                              <a:schemeClr val="tx1"/>
                            </a:solidFill>
                            <a:latin typeface="Cambria Math" panose="02040503050406030204" pitchFamily="18" charset="0"/>
                          </a:rPr>
                        </m:ctrlPr>
                      </m:sSupPr>
                      <m:e>
                        <m:r>
                          <a:rPr lang="en-US" altLang="zh-CN" sz="1600" b="1">
                            <a:solidFill>
                              <a:schemeClr val="tx1"/>
                            </a:solidFill>
                            <a:latin typeface="Cambria Math" panose="02040503050406030204" pitchFamily="18" charset="0"/>
                          </a:rPr>
                          <m:t>𝐩</m:t>
                        </m:r>
                      </m:e>
                      <m:sup>
                        <m:r>
                          <a:rPr lang="en-US" altLang="zh-CN" sz="1600" b="1">
                            <a:solidFill>
                              <a:schemeClr val="tx1"/>
                            </a:solidFill>
                            <a:latin typeface="Cambria Math" panose="02040503050406030204" pitchFamily="18" charset="0"/>
                          </a:rPr>
                          <m:t>′</m:t>
                        </m:r>
                      </m:sup>
                    </m:sSup>
                  </m:oMath>
                </a14:m>
                <a:r>
                  <a:rPr lang="zh-CN" altLang="en-US" sz="1600" dirty="0">
                    <a:solidFill>
                      <a:schemeClr val="tx1"/>
                    </a:solidFill>
                  </a:rPr>
                  <a:t>的球体表面上的点，该点的法向量与该点的坐标</a:t>
                </a:r>
                <a:r>
                  <a:rPr lang="en-US" altLang="zh-CN" sz="1600" dirty="0">
                    <a:solidFill>
                      <a:schemeClr val="tx1"/>
                    </a:solidFill>
                  </a:rPr>
                  <a:t>(</a:t>
                </a:r>
                <a:r>
                  <a:rPr lang="zh-CN" altLang="en-US" sz="1600" dirty="0">
                    <a:solidFill>
                      <a:schemeClr val="tx1"/>
                    </a:solidFill>
                  </a:rPr>
                  <a:t>位矢</a:t>
                </a:r>
                <a:r>
                  <a:rPr lang="en-US" altLang="zh-CN" sz="1600" dirty="0">
                    <a:solidFill>
                      <a:schemeClr val="tx1"/>
                    </a:solidFill>
                  </a:rPr>
                  <a:t>)</a:t>
                </a:r>
                <a:r>
                  <a:rPr lang="zh-CN" altLang="en-US" sz="1600" dirty="0">
                    <a:solidFill>
                      <a:schemeClr val="tx1"/>
                    </a:solidFill>
                  </a:rPr>
                  <a:t>一样，而后将这个法向量从局部坐标系转换出来，得到的法向量就是拉伸回球体后，对应采样点的法向量：</a:t>
                </a:r>
                <a:endParaRPr lang="en-US" altLang="zh-CN" sz="16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sSub>
                        <m:sSubPr>
                          <m:ctrlPr>
                            <a:rPr lang="en-US" altLang="zh-CN" sz="1600" b="1" i="1" dirty="0" smtClean="0">
                              <a:solidFill>
                                <a:schemeClr val="tx1"/>
                              </a:solidFill>
                              <a:latin typeface="Cambria Math" panose="02040503050406030204" pitchFamily="18" charset="0"/>
                            </a:rPr>
                          </m:ctrlPr>
                        </m:sSubPr>
                        <m:e>
                          <m:r>
                            <a:rPr lang="en-US" altLang="zh-CN" sz="1600" b="1" i="0" dirty="0" smtClean="0">
                              <a:solidFill>
                                <a:schemeClr val="tx1"/>
                              </a:solidFill>
                              <a:latin typeface="Cambria Math" panose="02040503050406030204" pitchFamily="18" charset="0"/>
                            </a:rPr>
                            <m:t>𝐦</m:t>
                          </m:r>
                        </m:e>
                        <m:sub>
                          <m:r>
                            <a:rPr lang="en-US" altLang="zh-CN" sz="1600" b="1" i="0" dirty="0" smtClean="0">
                              <a:solidFill>
                                <a:schemeClr val="tx1"/>
                              </a:solidFill>
                              <a:latin typeface="Cambria Math" panose="02040503050406030204" pitchFamily="18" charset="0"/>
                            </a:rPr>
                            <m:t>𝐡𝐞𝐦𝐢</m:t>
                          </m:r>
                        </m:sub>
                      </m:sSub>
                      <m:r>
                        <a:rPr lang="en-US" altLang="zh-CN" sz="1600" b="1" i="1" dirty="0" smtClean="0">
                          <a:solidFill>
                            <a:schemeClr val="tx1"/>
                          </a:solidFill>
                          <a:latin typeface="Cambria Math" panose="02040503050406030204" pitchFamily="18" charset="0"/>
                        </a:rPr>
                        <m:t>=</m:t>
                      </m:r>
                      <m:sSup>
                        <m:sSupPr>
                          <m:ctrlPr>
                            <a:rPr lang="en-US" altLang="zh-CN" sz="1600" b="0" i="1" dirty="0" smtClean="0">
                              <a:solidFill>
                                <a:schemeClr val="tx1"/>
                              </a:solidFill>
                              <a:latin typeface="Cambria Math" panose="02040503050406030204" pitchFamily="18" charset="0"/>
                            </a:rPr>
                          </m:ctrlPr>
                        </m:sSupPr>
                        <m:e>
                          <m:r>
                            <a:rPr lang="en-US" altLang="zh-CN" sz="1600" b="0" i="1" dirty="0" smtClean="0">
                              <a:solidFill>
                                <a:schemeClr val="tx1"/>
                              </a:solidFill>
                              <a:latin typeface="Cambria Math" panose="02040503050406030204" pitchFamily="18" charset="0"/>
                            </a:rPr>
                            <m:t>𝐹</m:t>
                          </m:r>
                        </m:e>
                        <m:sup>
                          <m:r>
                            <a:rPr lang="en-US" altLang="zh-CN" sz="1600" b="0" i="1" dirty="0" smtClean="0">
                              <a:solidFill>
                                <a:schemeClr val="tx1"/>
                              </a:solidFill>
                              <a:latin typeface="Cambria Math" panose="02040503050406030204" pitchFamily="18" charset="0"/>
                            </a:rPr>
                            <m:t>−1</m:t>
                          </m:r>
                        </m:sup>
                      </m:sSup>
                      <m:d>
                        <m:dPr>
                          <m:ctrlPr>
                            <a:rPr lang="en-US" altLang="zh-CN" sz="1600" b="1" i="1" dirty="0">
                              <a:solidFill>
                                <a:schemeClr val="tx1"/>
                              </a:solidFill>
                              <a:latin typeface="Cambria Math" panose="02040503050406030204" pitchFamily="18" charset="0"/>
                            </a:rPr>
                          </m:ctrlPr>
                        </m:dPr>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𝑝</m:t>
                              </m:r>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r>
                            <a:rPr lang="en-US" altLang="zh-CN" sz="1600" b="1" i="1" dirty="0">
                              <a:solidFill>
                                <a:schemeClr val="tx1"/>
                              </a:solidFill>
                              <a:latin typeface="Cambria Math" panose="02040503050406030204" pitchFamily="18" charset="0"/>
                            </a:rPr>
                            <m:t>,</m:t>
                          </m:r>
                          <m:rad>
                            <m:radPr>
                              <m:degHide m:val="on"/>
                              <m:ctrlPr>
                                <a:rPr lang="en-US" altLang="zh-CN" sz="1600" b="1" i="1" dirty="0">
                                  <a:solidFill>
                                    <a:schemeClr val="tx1"/>
                                  </a:solidFill>
                                  <a:latin typeface="Cambria Math" panose="02040503050406030204" pitchFamily="18" charset="0"/>
                                </a:rPr>
                              </m:ctrlPr>
                            </m:radPr>
                            <m:deg/>
                            <m:e>
                              <m:r>
                                <a:rPr lang="en-US" altLang="zh-CN" sz="1600" i="1" dirty="0">
                                  <a:solidFill>
                                    <a:schemeClr val="tx1"/>
                                  </a:solidFill>
                                  <a:latin typeface="Cambria Math" panose="02040503050406030204" pitchFamily="18" charset="0"/>
                                </a:rPr>
                                <m:t>1</m:t>
                              </m:r>
                              <m:r>
                                <a:rPr lang="en-US" altLang="zh-CN" sz="1600" b="1"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𝑝</m:t>
                                      </m:r>
                                    </m:e>
                                    <m:sub>
                                      <m:r>
                                        <a:rPr lang="en-US" altLang="zh-CN" sz="1600" i="1" dirty="0">
                                          <a:solidFill>
                                            <a:schemeClr val="tx1"/>
                                          </a:solidFill>
                                          <a:latin typeface="Cambria Math" panose="02040503050406030204" pitchFamily="18" charset="0"/>
                                        </a:rPr>
                                        <m:t>𝑥</m:t>
                                      </m:r>
                                    </m:sub>
                                    <m:sup>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r>
                                <a:rPr lang="en-US" altLang="zh-CN" sz="1600" b="1" i="1" dirty="0">
                                  <a:solidFill>
                                    <a:schemeClr val="tx1"/>
                                  </a:solidFill>
                                  <a:latin typeface="Cambria Math" panose="02040503050406030204" pitchFamily="18" charset="0"/>
                                </a:rPr>
                                <m:t>−</m:t>
                              </m:r>
                              <m:sSup>
                                <m:sSupPr>
                                  <m:ctrlPr>
                                    <a:rPr lang="en-US" altLang="zh-CN" sz="1600" i="1" dirty="0">
                                      <a:solidFill>
                                        <a:schemeClr val="tx1"/>
                                      </a:solidFill>
                                      <a:latin typeface="Cambria Math" panose="02040503050406030204" pitchFamily="18" charset="0"/>
                                    </a:rPr>
                                  </m:ctrlPr>
                                </m:sSupPr>
                                <m:e>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𝑝</m:t>
                                      </m:r>
                                    </m:e>
                                    <m:sub>
                                      <m:r>
                                        <a:rPr lang="en-US" altLang="zh-CN" sz="1600" i="1" dirty="0">
                                          <a:solidFill>
                                            <a:schemeClr val="tx1"/>
                                          </a:solidFill>
                                          <a:latin typeface="Cambria Math" panose="02040503050406030204" pitchFamily="18" charset="0"/>
                                        </a:rPr>
                                        <m:t>𝑦</m:t>
                                      </m:r>
                                    </m:sub>
                                    <m:sup>
                                      <m:r>
                                        <a:rPr lang="en-US" altLang="zh-CN" sz="1600" i="1" dirty="0">
                                          <a:solidFill>
                                            <a:schemeClr val="tx1"/>
                                          </a:solidFill>
                                          <a:latin typeface="Cambria Math" panose="02040503050406030204" pitchFamily="18" charset="0"/>
                                        </a:rPr>
                                        <m:t>′</m:t>
                                      </m:r>
                                    </m:sup>
                                  </m:sSubSup>
                                </m:e>
                                <m:sup>
                                  <m:r>
                                    <a:rPr lang="en-US" altLang="zh-CN" sz="1600" i="1" dirty="0">
                                      <a:solidFill>
                                        <a:schemeClr val="tx1"/>
                                      </a:solidFill>
                                      <a:latin typeface="Cambria Math" panose="02040503050406030204" pitchFamily="18" charset="0"/>
                                    </a:rPr>
                                    <m:t>2</m:t>
                                  </m:r>
                                </m:sup>
                              </m:sSup>
                            </m:e>
                          </m:rad>
                          <m:r>
                            <a:rPr lang="en-US" altLang="zh-CN" sz="1600" b="1" i="1" dirty="0">
                              <a:solidFill>
                                <a:schemeClr val="tx1"/>
                              </a:solidFill>
                              <a:latin typeface="Cambria Math" panose="02040503050406030204" pitchFamily="18" charset="0"/>
                            </a:rPr>
                            <m:t>,</m:t>
                          </m:r>
                          <m:sSubSup>
                            <m:sSubSupPr>
                              <m:ctrlPr>
                                <a:rPr lang="en-US" altLang="zh-CN" sz="1600" i="1" dirty="0">
                                  <a:solidFill>
                                    <a:schemeClr val="tx1"/>
                                  </a:solidFill>
                                  <a:latin typeface="Cambria Math" panose="02040503050406030204" pitchFamily="18" charset="0"/>
                                </a:rPr>
                              </m:ctrlPr>
                            </m:sSubSupPr>
                            <m:e>
                              <m:r>
                                <a:rPr lang="en-US" altLang="zh-CN" sz="1600" i="1" dirty="0">
                                  <a:solidFill>
                                    <a:schemeClr val="tx1"/>
                                  </a:solidFill>
                                  <a:latin typeface="Cambria Math" panose="02040503050406030204" pitchFamily="18" charset="0"/>
                                </a:rPr>
                                <m:t>𝑝</m:t>
                              </m:r>
                            </m:e>
                            <m:sub>
                              <m:r>
                                <a:rPr lang="en-US" altLang="zh-CN" sz="1600" i="1" dirty="0">
                                  <a:solidFill>
                                    <a:schemeClr val="tx1"/>
                                  </a:solidFill>
                                  <a:latin typeface="Cambria Math" panose="02040503050406030204" pitchFamily="18" charset="0"/>
                                </a:rPr>
                                <m:t>𝑦</m:t>
                              </m:r>
                            </m:sub>
                            <m:sup>
                              <m:r>
                                <a:rPr lang="en-US" altLang="zh-CN" sz="1600" i="1" dirty="0">
                                  <a:solidFill>
                                    <a:schemeClr val="tx1"/>
                                  </a:solidFill>
                                  <a:latin typeface="Cambria Math" panose="02040503050406030204" pitchFamily="18" charset="0"/>
                                </a:rPr>
                                <m:t>′</m:t>
                              </m:r>
                            </m:sup>
                          </m:sSubSup>
                        </m:e>
                      </m:d>
                      <m:r>
                        <a:rPr lang="en-US" altLang="zh-CN" sz="1600" b="1" i="1" dirty="0" smtClean="0">
                          <a:solidFill>
                            <a:schemeClr val="tx1"/>
                          </a:solidFill>
                          <a:latin typeface="Cambria Math" panose="02040503050406030204" pitchFamily="18" charset="0"/>
                        </a:rPr>
                        <m:t>,  </m:t>
                      </m:r>
                      <m:r>
                        <m:rPr>
                          <m:sty m:val="p"/>
                        </m:rPr>
                        <a:rPr lang="en-US" altLang="zh-CN" sz="1600" b="1" i="1" dirty="0">
                          <a:solidFill>
                            <a:schemeClr val="tx1"/>
                          </a:solidFill>
                          <a:latin typeface="Cambria Math" panose="02040503050406030204" pitchFamily="18" charset="0"/>
                        </a:rPr>
                        <m:t>F</m:t>
                      </m:r>
                      <m:r>
                        <a:rPr lang="zh-CN" altLang="en-US" sz="1600" b="1" i="1" dirty="0" smtClean="0">
                          <a:solidFill>
                            <a:schemeClr val="tx1"/>
                          </a:solidFill>
                          <a:latin typeface="Cambria Math" panose="02040503050406030204" pitchFamily="18" charset="0"/>
                        </a:rPr>
                        <m:t>：</m:t>
                      </m:r>
                      <m:r>
                        <a:rPr lang="zh-CN" altLang="en-US" sz="1600" i="1" dirty="0" smtClean="0">
                          <a:solidFill>
                            <a:schemeClr val="tx1"/>
                          </a:solidFill>
                          <a:latin typeface="Cambria Math" panose="02040503050406030204" pitchFamily="18" charset="0"/>
                        </a:rPr>
                        <m:t>到局部坐标系</m:t>
                      </m:r>
                      <m:r>
                        <a:rPr lang="zh-CN" altLang="en-US" sz="1600" i="1" dirty="0">
                          <a:solidFill>
                            <a:schemeClr val="tx1"/>
                          </a:solidFill>
                          <a:latin typeface="Cambria Math" panose="02040503050406030204" pitchFamily="18" charset="0"/>
                        </a:rPr>
                        <m:t>的</m:t>
                      </m:r>
                      <m:r>
                        <a:rPr lang="zh-CN" altLang="en-US" sz="1600" i="1" dirty="0" smtClean="0">
                          <a:solidFill>
                            <a:schemeClr val="tx1"/>
                          </a:solidFill>
                          <a:latin typeface="Cambria Math" panose="02040503050406030204" pitchFamily="18" charset="0"/>
                        </a:rPr>
                        <m:t>转换</m:t>
                      </m:r>
                    </m:oMath>
                  </m:oMathPara>
                </a14:m>
                <a:endParaRPr lang="en-US" altLang="zh-CN" sz="1600" dirty="0">
                  <a:solidFill>
                    <a:schemeClr val="tx1"/>
                  </a:solidFill>
                </a:endParaRPr>
              </a:p>
              <a:p>
                <a:pPr>
                  <a:lnSpc>
                    <a:spcPct val="120000"/>
                  </a:lnSpc>
                </a:pPr>
                <a:r>
                  <a:rPr lang="en-US" altLang="zh-CN" sz="1600" dirty="0">
                    <a:solidFill>
                      <a:schemeClr val="tx1"/>
                    </a:solidFill>
                  </a:rPr>
                  <a:t>        </a:t>
                </a:r>
                <a:r>
                  <a:rPr lang="zh-CN" altLang="en-US" sz="1600" dirty="0">
                    <a:solidFill>
                      <a:schemeClr val="tx1"/>
                    </a:solidFill>
                  </a:rPr>
                  <a:t>最后一步就是将球体的法线拉伸到原先椭球体的法线：</a:t>
                </a:r>
                <a:endParaRPr lang="en-US" altLang="zh-CN" sz="16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r>
                        <a:rPr lang="en-US" altLang="zh-CN" sz="1600" b="1" i="1" dirty="0" smtClean="0">
                          <a:solidFill>
                            <a:schemeClr val="tx1"/>
                          </a:solidFill>
                          <a:latin typeface="Cambria Math" panose="02040503050406030204" pitchFamily="18" charset="0"/>
                        </a:rPr>
                        <m:t>𝒎</m:t>
                      </m:r>
                      <m:r>
                        <a:rPr lang="en-US" altLang="zh-CN" sz="1600" b="1" i="1" dirty="0" smtClean="0">
                          <a:solidFill>
                            <a:schemeClr val="tx1"/>
                          </a:solidFill>
                          <a:latin typeface="Cambria Math" panose="02040503050406030204" pitchFamily="18" charset="0"/>
                        </a:rPr>
                        <m:t>=(</m:t>
                      </m:r>
                      <m:sSub>
                        <m:sSubPr>
                          <m:ctrlPr>
                            <a:rPr lang="en-US" altLang="zh-CN" sz="160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sSub>
                        <m:sSubPr>
                          <m:ctrlPr>
                            <a:rPr lang="en-US" altLang="zh-CN" sz="1600" b="0" i="1" dirty="0" smtClean="0">
                              <a:solidFill>
                                <a:schemeClr val="tx1"/>
                              </a:solidFill>
                              <a:latin typeface="Cambria Math" panose="02040503050406030204" pitchFamily="18" charset="0"/>
                            </a:rPr>
                          </m:ctrlPr>
                        </m:sSubPr>
                        <m:e>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𝑚</m:t>
                              </m:r>
                            </m:e>
                            <m:sub>
                              <m:r>
                                <a:rPr lang="en-US" altLang="zh-CN" sz="1600" b="0" i="1" dirty="0" smtClean="0">
                                  <a:solidFill>
                                    <a:schemeClr val="tx1"/>
                                  </a:solidFill>
                                  <a:latin typeface="Cambria Math" panose="02040503050406030204" pitchFamily="18" charset="0"/>
                                </a:rPr>
                                <m:t>h𝑒𝑚𝑖</m:t>
                              </m:r>
                            </m:sub>
                          </m:sSub>
                        </m:e>
                        <m:sub>
                          <m:r>
                            <a:rPr lang="en-US" altLang="zh-CN" sz="1600" b="0" i="1" dirty="0" smtClean="0">
                              <a:solidFill>
                                <a:schemeClr val="tx1"/>
                              </a:solidFill>
                              <a:latin typeface="Cambria Math" panose="02040503050406030204" pitchFamily="18" charset="0"/>
                            </a:rPr>
                            <m:t>𝑥</m:t>
                          </m:r>
                        </m:sub>
                      </m:sSub>
                      <m:r>
                        <a:rPr lang="en-US" altLang="zh-CN" sz="1600" b="0" i="1" dirty="0" smtClean="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sSub>
                            <m:sSubPr>
                              <m:ctrlPr>
                                <a:rPr lang="en-US" altLang="zh-CN" sz="1600" i="1" dirty="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𝑚</m:t>
                              </m:r>
                            </m:e>
                            <m:sub>
                              <m:r>
                                <a:rPr lang="en-US" altLang="zh-CN" sz="1600" i="1" dirty="0">
                                  <a:solidFill>
                                    <a:schemeClr val="tx1"/>
                                  </a:solidFill>
                                  <a:latin typeface="Cambria Math" panose="02040503050406030204" pitchFamily="18" charset="0"/>
                                </a:rPr>
                                <m:t>h𝑒𝑚𝑖</m:t>
                              </m:r>
                            </m:sub>
                          </m:sSub>
                        </m:e>
                        <m:sub>
                          <m:r>
                            <a:rPr lang="en-US" altLang="zh-CN" sz="1600" b="0" i="1" dirty="0" smtClean="0">
                              <a:solidFill>
                                <a:schemeClr val="tx1"/>
                              </a:solidFill>
                              <a:latin typeface="Cambria Math" panose="02040503050406030204" pitchFamily="18" charset="0"/>
                            </a:rPr>
                            <m:t>𝑦</m:t>
                          </m:r>
                        </m:sub>
                      </m:sSub>
                      <m:r>
                        <a:rPr lang="en-US" altLang="zh-CN" sz="1600" b="0" i="1" dirty="0" smtClean="0">
                          <a:solidFill>
                            <a:schemeClr val="tx1"/>
                          </a:solidFill>
                          <a:latin typeface="Cambria Math" panose="02040503050406030204" pitchFamily="18" charset="0"/>
                        </a:rPr>
                        <m:t>,</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sSub>
                        <m:sSubPr>
                          <m:ctrlPr>
                            <a:rPr lang="en-US" altLang="zh-CN" sz="1600" i="1" dirty="0">
                              <a:solidFill>
                                <a:schemeClr val="tx1"/>
                              </a:solidFill>
                              <a:latin typeface="Cambria Math" panose="02040503050406030204" pitchFamily="18" charset="0"/>
                            </a:rPr>
                          </m:ctrlPr>
                        </m:sSubPr>
                        <m:e>
                          <m:sSub>
                            <m:sSubPr>
                              <m:ctrlPr>
                                <a:rPr lang="en-US" altLang="zh-CN" sz="1600" i="1" dirty="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𝑚</m:t>
                              </m:r>
                            </m:e>
                            <m:sub>
                              <m:r>
                                <a:rPr lang="en-US" altLang="zh-CN" sz="1600" i="1" dirty="0">
                                  <a:solidFill>
                                    <a:schemeClr val="tx1"/>
                                  </a:solidFill>
                                  <a:latin typeface="Cambria Math" panose="02040503050406030204" pitchFamily="18" charset="0"/>
                                </a:rPr>
                                <m:t>h𝑒𝑚𝑖</m:t>
                              </m:r>
                            </m:sub>
                          </m:sSub>
                        </m:e>
                        <m:sub>
                          <m:r>
                            <a:rPr lang="en-US" altLang="zh-CN" sz="1600" b="0" i="1" dirty="0" smtClean="0">
                              <a:solidFill>
                                <a:schemeClr val="tx1"/>
                              </a:solidFill>
                              <a:latin typeface="Cambria Math" panose="02040503050406030204" pitchFamily="18" charset="0"/>
                            </a:rPr>
                            <m:t>𝑧</m:t>
                          </m:r>
                        </m:sub>
                      </m:sSub>
                      <m:r>
                        <a:rPr lang="en-US" altLang="zh-CN" sz="1600" b="1" i="1" dirty="0" smtClean="0">
                          <a:solidFill>
                            <a:schemeClr val="tx1"/>
                          </a:solidFill>
                          <a:latin typeface="Cambria Math" panose="02040503050406030204" pitchFamily="18" charset="0"/>
                        </a:rPr>
                        <m:t>)</m:t>
                      </m:r>
                    </m:oMath>
                  </m:oMathPara>
                </a14:m>
                <a:endParaRPr lang="en-US" altLang="zh-CN" sz="1600" dirty="0">
                  <a:solidFill>
                    <a:schemeClr val="tx1"/>
                  </a:solidFill>
                </a:endParaRPr>
              </a:p>
              <a:p>
                <a:pPr>
                  <a:lnSpc>
                    <a:spcPct val="120000"/>
                  </a:lnSpc>
                </a:pPr>
                <a:r>
                  <a:rPr lang="zh-CN" altLang="en-US" sz="1600" dirty="0">
                    <a:solidFill>
                      <a:schemeClr val="tx1"/>
                    </a:solidFill>
                  </a:rPr>
                  <a:t>        注意这里并不是除以</a:t>
                </a:r>
                <a14:m>
                  <m:oMath xmlns:m="http://schemas.openxmlformats.org/officeDocument/2006/math">
                    <m:sSub>
                      <m:sSubPr>
                        <m:ctrlPr>
                          <a:rPr lang="en-US" altLang="zh-CN" sz="160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r>
                      <a:rPr lang="zh-CN" altLang="en-US"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m:rPr>
                            <m:sty m:val="p"/>
                          </m:rPr>
                          <a:rPr lang="en-US" altLang="zh-CN" sz="1600" i="1" dirty="0" smtClean="0">
                            <a:solidFill>
                              <a:schemeClr val="tx1"/>
                            </a:solidFill>
                            <a:latin typeface="Cambria Math" panose="02040503050406030204" pitchFamily="18" charset="0"/>
                          </a:rPr>
                          <m:t>z</m:t>
                        </m:r>
                      </m:sub>
                    </m:sSub>
                  </m:oMath>
                </a14:m>
                <a:r>
                  <a:rPr lang="zh-CN" altLang="en-US" sz="1600" dirty="0">
                    <a:solidFill>
                      <a:schemeClr val="tx1"/>
                    </a:solidFill>
                  </a:rPr>
                  <a:t>，而应该是乘上</a:t>
                </a:r>
                <a14:m>
                  <m:oMath xmlns:m="http://schemas.openxmlformats.org/officeDocument/2006/math">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i="1" dirty="0">
                            <a:solidFill>
                              <a:schemeClr val="tx1"/>
                            </a:solidFill>
                            <a:latin typeface="Cambria Math" panose="02040503050406030204" pitchFamily="18" charset="0"/>
                          </a:rPr>
                          <m:t>𝑥</m:t>
                        </m:r>
                      </m:sub>
                    </m:sSub>
                    <m:r>
                      <a:rPr lang="zh-CN" altLang="en-US" sz="1600" i="1" dirty="0" smtClean="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oMath>
                </a14:m>
                <a:r>
                  <a:rPr lang="zh-CN" altLang="en-US" sz="1600" dirty="0">
                    <a:solidFill>
                      <a:schemeClr val="tx1"/>
                    </a:solidFill>
                  </a:rPr>
                  <a:t>，这是因为向量的拉伸与法线的拉伸是不同的。</a:t>
                </a:r>
                <a:endParaRPr lang="en-US" altLang="zh-CN" sz="1600" dirty="0">
                  <a:solidFill>
                    <a:schemeClr val="tx1"/>
                  </a:solidFill>
                </a:endParaRPr>
              </a:p>
            </p:txBody>
          </p:sp>
        </mc:Choice>
        <mc:Fallback xmlns="">
          <p:sp>
            <p:nvSpPr>
              <p:cNvPr id="64" name="矩形 63">
                <a:extLst>
                  <a:ext uri="{FF2B5EF4-FFF2-40B4-BE49-F238E27FC236}">
                    <a16:creationId xmlns:a16="http://schemas.microsoft.com/office/drawing/2014/main" id="{6D4118A2-3B55-A47F-7D58-B1F40F39D09A}"/>
                  </a:ext>
                </a:extLst>
              </p:cNvPr>
              <p:cNvSpPr>
                <a:spLocks noRot="1" noChangeAspect="1" noMove="1" noResize="1" noEditPoints="1" noAdjustHandles="1" noChangeArrowheads="1" noChangeShapeType="1" noTextEdit="1"/>
              </p:cNvSpPr>
              <p:nvPr/>
            </p:nvSpPr>
            <p:spPr>
              <a:xfrm>
                <a:off x="503761" y="1150306"/>
                <a:ext cx="7030643" cy="5060515"/>
              </a:xfrm>
              <a:prstGeom prst="rect">
                <a:avLst/>
              </a:prstGeom>
              <a:blipFill>
                <a:blip r:embed="rId3"/>
                <a:stretch>
                  <a:fillRect l="-433"/>
                </a:stretch>
              </a:blipFill>
            </p:spPr>
            <p:txBody>
              <a:bodyPr/>
              <a:lstStyle/>
              <a:p>
                <a:r>
                  <a:rPr lang="zh-CN" altLang="en-US">
                    <a:noFill/>
                  </a:rPr>
                  <a:t> </a:t>
                </a:r>
              </a:p>
            </p:txBody>
          </p:sp>
        </mc:Fallback>
      </mc:AlternateContent>
      <p:pic>
        <p:nvPicPr>
          <p:cNvPr id="32" name="图片 31">
            <a:extLst>
              <a:ext uri="{FF2B5EF4-FFF2-40B4-BE49-F238E27FC236}">
                <a16:creationId xmlns:a16="http://schemas.microsoft.com/office/drawing/2014/main" id="{BC990755-C8E6-8574-7BBC-FFCF67F71FF3}"/>
              </a:ext>
            </a:extLst>
          </p:cNvPr>
          <p:cNvPicPr>
            <a:picLocks noChangeAspect="1"/>
          </p:cNvPicPr>
          <p:nvPr/>
        </p:nvPicPr>
        <p:blipFill>
          <a:blip r:embed="rId4"/>
          <a:srcRect r="49541"/>
          <a:stretch/>
        </p:blipFill>
        <p:spPr>
          <a:xfrm>
            <a:off x="8285675" y="718907"/>
            <a:ext cx="3017983" cy="2722324"/>
          </a:xfrm>
          <a:prstGeom prst="rect">
            <a:avLst/>
          </a:prstGeom>
        </p:spPr>
      </p:pic>
      <p:pic>
        <p:nvPicPr>
          <p:cNvPr id="5" name="图片 4">
            <a:extLst>
              <a:ext uri="{FF2B5EF4-FFF2-40B4-BE49-F238E27FC236}">
                <a16:creationId xmlns:a16="http://schemas.microsoft.com/office/drawing/2014/main" id="{4B2F3BCA-8D79-D010-941B-D0C3E4C13680}"/>
              </a:ext>
            </a:extLst>
          </p:cNvPr>
          <p:cNvPicPr>
            <a:picLocks noChangeAspect="1"/>
          </p:cNvPicPr>
          <p:nvPr/>
        </p:nvPicPr>
        <p:blipFill>
          <a:blip r:embed="rId4"/>
          <a:srcRect l="51233"/>
          <a:stretch/>
        </p:blipFill>
        <p:spPr>
          <a:xfrm>
            <a:off x="8386890" y="3674300"/>
            <a:ext cx="2916768" cy="2722324"/>
          </a:xfrm>
          <a:prstGeom prst="rect">
            <a:avLst/>
          </a:prstGeom>
        </p:spPr>
      </p:pic>
    </p:spTree>
    <p:extLst>
      <p:ext uri="{BB962C8B-B14F-4D97-AF65-F5344CB8AC3E}">
        <p14:creationId xmlns:p14="http://schemas.microsoft.com/office/powerpoint/2010/main" val="203753025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2601-9CB9-B90D-A7A2-F76C31BDA053}"/>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标题 2">
                <a:extLst>
                  <a:ext uri="{FF2B5EF4-FFF2-40B4-BE49-F238E27FC236}">
                    <a16:creationId xmlns:a16="http://schemas.microsoft.com/office/drawing/2014/main" id="{242D0E6B-52DF-C713-094A-09CDF5F99FE0}"/>
                  </a:ext>
                </a:extLst>
              </p:cNvPr>
              <p:cNvSpPr txBox="1">
                <a:spLocks/>
              </p:cNvSpPr>
              <p:nvPr/>
            </p:nvSpPr>
            <p:spPr>
              <a:xfrm>
                <a:off x="686830" y="358907"/>
                <a:ext cx="10800080" cy="720000"/>
              </a:xfrm>
              <a:prstGeom prst="rect">
                <a:avLst/>
              </a:prstGeom>
            </p:spPr>
            <p:txBody>
              <a:bodyPr/>
              <a:lstStyle>
                <a:lvl1pPr algn="l" defTabSz="914400" rtl="0" eaLnBrk="1" fontAlgn="auto" latinLnBrk="0" hangingPunct="1">
                  <a:lnSpc>
                    <a:spcPct val="100000"/>
                  </a:lnSpc>
                  <a:spcBef>
                    <a:spcPct val="0"/>
                  </a:spcBef>
                  <a:buNone/>
                  <a:defRPr kumimoji="0" lang="zh-CN" altLang="en-US" sz="3200" b="0" i="0" u="none" strike="noStrike" kern="1200" cap="none" spc="300" normalizeH="0" baseline="0" smtClean="0">
                    <a:ln>
                      <a:noFill/>
                      <a:prstDash val="sysDot"/>
                    </a:ln>
                    <a:solidFill>
                      <a:schemeClr val="tx1">
                        <a:lumMod val="85000"/>
                        <a:lumOff val="15000"/>
                      </a:schemeClr>
                    </a:solidFill>
                    <a:uFillTx/>
                    <a:latin typeface="+mj-lt"/>
                    <a:ea typeface="+mj-lt"/>
                    <a:cs typeface="MiSans Normal" panose="00000500000000000000" charset="-122"/>
                  </a:defRPr>
                </a:lvl1pPr>
              </a:lstStyle>
              <a:p>
                <a:r>
                  <a:rPr lang="zh-CN" altLang="en-US" dirty="0"/>
                  <a:t>重要性采样</a:t>
                </a:r>
                <a14:m>
                  <m:oMath xmlns:m="http://schemas.openxmlformats.org/officeDocument/2006/math">
                    <m:sSub>
                      <m:sSubPr>
                        <m:ctrlPr>
                          <a:rPr lang="en-US" altLang="zh-CN" sz="3200" i="1" dirty="0" smtClean="0">
                            <a:solidFill>
                              <a:schemeClr val="tx1"/>
                            </a:solidFill>
                            <a:latin typeface="Cambria Math" panose="02040503050406030204" pitchFamily="18" charset="0"/>
                          </a:rPr>
                        </m:ctrlPr>
                      </m:sSubPr>
                      <m:e>
                        <m:r>
                          <a:rPr lang="en-US" altLang="zh-CN" sz="3200" i="1" dirty="0">
                            <a:solidFill>
                              <a:schemeClr val="tx1"/>
                            </a:solidFill>
                            <a:latin typeface="Cambria Math" panose="02040503050406030204" pitchFamily="18" charset="0"/>
                          </a:rPr>
                          <m:t>𝐷</m:t>
                        </m:r>
                      </m:e>
                      <m:sub>
                        <m:r>
                          <a:rPr lang="en-US" altLang="zh-CN" sz="3200" i="1" dirty="0">
                            <a:solidFill>
                              <a:schemeClr val="tx1"/>
                            </a:solidFill>
                            <a:latin typeface="Cambria Math" panose="02040503050406030204" pitchFamily="18" charset="0"/>
                          </a:rPr>
                          <m:t>𝑣</m:t>
                        </m:r>
                      </m:sub>
                    </m:sSub>
                    <m:d>
                      <m:dPr>
                        <m:ctrlPr>
                          <a:rPr lang="en-US" altLang="zh-CN" sz="3200" i="1" dirty="0">
                            <a:solidFill>
                              <a:schemeClr val="tx1"/>
                            </a:solidFill>
                            <a:latin typeface="Cambria Math" panose="02040503050406030204" pitchFamily="18" charset="0"/>
                          </a:rPr>
                        </m:ctrlPr>
                      </m:dPr>
                      <m:e>
                        <m:r>
                          <a:rPr lang="en-US" altLang="zh-CN" sz="3200" b="1" i="1" dirty="0">
                            <a:solidFill>
                              <a:schemeClr val="tx1"/>
                            </a:solidFill>
                            <a:latin typeface="Cambria Math" panose="02040503050406030204" pitchFamily="18" charset="0"/>
                          </a:rPr>
                          <m:t>𝒐</m:t>
                        </m:r>
                        <m:r>
                          <a:rPr lang="en-US" altLang="zh-CN" sz="3200" b="1" i="1" dirty="0">
                            <a:solidFill>
                              <a:schemeClr val="tx1"/>
                            </a:solidFill>
                            <a:latin typeface="Cambria Math" panose="02040503050406030204" pitchFamily="18" charset="0"/>
                          </a:rPr>
                          <m:t>,</m:t>
                        </m:r>
                        <m:r>
                          <a:rPr lang="en-US" altLang="zh-CN" sz="3200" i="1" dirty="0">
                            <a:solidFill>
                              <a:schemeClr val="tx1"/>
                            </a:solidFill>
                            <a:latin typeface="Cambria Math" panose="02040503050406030204" pitchFamily="18" charset="0"/>
                          </a:rPr>
                          <m:t> </m:t>
                        </m:r>
                        <m:r>
                          <a:rPr lang="en-US" altLang="zh-CN" sz="3200" b="1" i="1" dirty="0">
                            <a:solidFill>
                              <a:schemeClr val="tx1"/>
                            </a:solidFill>
                            <a:latin typeface="Cambria Math" panose="02040503050406030204" pitchFamily="18" charset="0"/>
                          </a:rPr>
                          <m:t>𝒎</m:t>
                        </m:r>
                      </m:e>
                    </m:d>
                  </m:oMath>
                </a14:m>
                <a:endParaRPr lang="en-US" altLang="zh-CN" dirty="0"/>
              </a:p>
            </p:txBody>
          </p:sp>
        </mc:Choice>
        <mc:Fallback xmlns="">
          <p:sp>
            <p:nvSpPr>
              <p:cNvPr id="13" name="标题 2">
                <a:extLst>
                  <a:ext uri="{FF2B5EF4-FFF2-40B4-BE49-F238E27FC236}">
                    <a16:creationId xmlns:a16="http://schemas.microsoft.com/office/drawing/2014/main" id="{242D0E6B-52DF-C713-094A-09CDF5F99FE0}"/>
                  </a:ext>
                </a:extLst>
              </p:cNvPr>
              <p:cNvSpPr txBox="1">
                <a:spLocks noRot="1" noChangeAspect="1" noMove="1" noResize="1" noEditPoints="1" noAdjustHandles="1" noChangeArrowheads="1" noChangeShapeType="1" noTextEdit="1"/>
              </p:cNvSpPr>
              <p:nvPr/>
            </p:nvSpPr>
            <p:spPr>
              <a:xfrm>
                <a:off x="686830" y="358907"/>
                <a:ext cx="10800080" cy="720000"/>
              </a:xfrm>
              <a:prstGeom prst="rect">
                <a:avLst/>
              </a:prstGeom>
              <a:blipFill>
                <a:blip r:embed="rId2"/>
                <a:stretch>
                  <a:fillRect l="-1468" t="-11864" b="-7627"/>
                </a:stretch>
              </a:blipFill>
            </p:spPr>
            <p:txBody>
              <a:bodyPr/>
              <a:lstStyle/>
              <a:p>
                <a:r>
                  <a:rPr lang="zh-CN" altLang="en-US">
                    <a:noFill/>
                  </a:rPr>
                  <a:t> </a:t>
                </a:r>
              </a:p>
            </p:txBody>
          </p:sp>
        </mc:Fallback>
      </mc:AlternateContent>
      <p:sp>
        <p:nvSpPr>
          <p:cNvPr id="63" name="矩形 62">
            <a:extLst>
              <a:ext uri="{FF2B5EF4-FFF2-40B4-BE49-F238E27FC236}">
                <a16:creationId xmlns:a16="http://schemas.microsoft.com/office/drawing/2014/main" id="{CF2E13E3-F34A-8CC5-A84D-C5E72DE07944}"/>
              </a:ext>
            </a:extLst>
          </p:cNvPr>
          <p:cNvSpPr/>
          <p:nvPr/>
        </p:nvSpPr>
        <p:spPr>
          <a:xfrm>
            <a:off x="631109" y="1315232"/>
            <a:ext cx="7030643" cy="5060515"/>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50000"/>
              </a:lnSpc>
            </a:pPr>
            <a:endParaRPr lang="zh-CN" altLang="en-US" sz="2000" dirty="0">
              <a:solidFill>
                <a:schemeClr val="tx1"/>
              </a:solidFill>
            </a:endParaRPr>
          </a:p>
        </p:txBody>
      </p:sp>
      <mc:AlternateContent xmlns:mc="http://schemas.openxmlformats.org/markup-compatibility/2006" xmlns:a14="http://schemas.microsoft.com/office/drawing/2010/main">
        <mc:Choice Requires="a14">
          <p:sp>
            <p:nvSpPr>
              <p:cNvPr id="64" name="矩形 63">
                <a:extLst>
                  <a:ext uri="{FF2B5EF4-FFF2-40B4-BE49-F238E27FC236}">
                    <a16:creationId xmlns:a16="http://schemas.microsoft.com/office/drawing/2014/main" id="{F54BB533-AD7A-261E-0D77-2A5EB10E75D2}"/>
                  </a:ext>
                </a:extLst>
              </p:cNvPr>
              <p:cNvSpPr/>
              <p:nvPr/>
            </p:nvSpPr>
            <p:spPr>
              <a:xfrm>
                <a:off x="503761" y="1150306"/>
                <a:ext cx="7030643" cy="5060515"/>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20000"/>
                  </a:lnSpc>
                </a:pPr>
                <a14:m>
                  <m:oMathPara xmlns:m="http://schemas.openxmlformats.org/officeDocument/2006/math">
                    <m:oMathParaPr>
                      <m:jc m:val="centerGroup"/>
                    </m:oMathParaPr>
                    <m:oMath xmlns:m="http://schemas.openxmlformats.org/officeDocument/2006/math">
                      <m:r>
                        <a:rPr lang="en-US" altLang="zh-CN" sz="1600" b="1" i="1" dirty="0" smtClean="0">
                          <a:solidFill>
                            <a:schemeClr val="tx1"/>
                          </a:solidFill>
                          <a:latin typeface="Cambria Math" panose="02040503050406030204" pitchFamily="18" charset="0"/>
                        </a:rPr>
                        <m:t>𝒎</m:t>
                      </m:r>
                      <m:r>
                        <a:rPr lang="en-US" altLang="zh-CN" sz="1600" b="1" i="1" dirty="0" smtClean="0">
                          <a:solidFill>
                            <a:schemeClr val="tx1"/>
                          </a:solidFill>
                          <a:latin typeface="Cambria Math" panose="02040503050406030204" pitchFamily="18" charset="0"/>
                        </a:rPr>
                        <m:t>=(</m:t>
                      </m:r>
                      <m:sSub>
                        <m:sSubPr>
                          <m:ctrlPr>
                            <a:rPr lang="en-US" altLang="zh-CN" sz="160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𝑥</m:t>
                          </m:r>
                        </m:sub>
                      </m:sSub>
                      <m:sSub>
                        <m:sSubPr>
                          <m:ctrlPr>
                            <a:rPr lang="en-US" altLang="zh-CN" sz="1600" b="0" i="1" dirty="0" smtClean="0">
                              <a:solidFill>
                                <a:schemeClr val="tx1"/>
                              </a:solidFill>
                              <a:latin typeface="Cambria Math" panose="02040503050406030204" pitchFamily="18" charset="0"/>
                            </a:rPr>
                          </m:ctrlPr>
                        </m:sSubPr>
                        <m:e>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𝑚</m:t>
                              </m:r>
                            </m:e>
                            <m:sub>
                              <m:r>
                                <a:rPr lang="en-US" altLang="zh-CN" sz="1600" b="0" i="1" dirty="0" smtClean="0">
                                  <a:solidFill>
                                    <a:schemeClr val="tx1"/>
                                  </a:solidFill>
                                  <a:latin typeface="Cambria Math" panose="02040503050406030204" pitchFamily="18" charset="0"/>
                                </a:rPr>
                                <m:t>h</m:t>
                              </m:r>
                              <m:r>
                                <a:rPr lang="en-US" altLang="zh-CN" sz="1600" b="0" i="1" dirty="0" smtClean="0">
                                  <a:solidFill>
                                    <a:schemeClr val="tx1"/>
                                  </a:solidFill>
                                  <a:latin typeface="Cambria Math" panose="02040503050406030204" pitchFamily="18" charset="0"/>
                                </a:rPr>
                                <m:t>𝑒𝑚𝑖</m:t>
                              </m:r>
                            </m:sub>
                          </m:sSub>
                        </m:e>
                        <m:sub>
                          <m:r>
                            <a:rPr lang="en-US" altLang="zh-CN" sz="1600" b="0" i="1" dirty="0" smtClean="0">
                              <a:solidFill>
                                <a:schemeClr val="tx1"/>
                              </a:solidFill>
                              <a:latin typeface="Cambria Math" panose="02040503050406030204" pitchFamily="18" charset="0"/>
                            </a:rPr>
                            <m:t>𝑥</m:t>
                          </m:r>
                        </m:sub>
                      </m:sSub>
                      <m:r>
                        <a:rPr lang="en-US" altLang="zh-CN" sz="1600" b="0" i="1" dirty="0" smtClean="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sSub>
                            <m:sSubPr>
                              <m:ctrlPr>
                                <a:rPr lang="en-US" altLang="zh-CN" sz="1600" i="1" dirty="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𝑚</m:t>
                              </m:r>
                            </m:e>
                            <m:sub>
                              <m:r>
                                <a:rPr lang="en-US" altLang="zh-CN" sz="1600" i="1" dirty="0">
                                  <a:solidFill>
                                    <a:schemeClr val="tx1"/>
                                  </a:solidFill>
                                  <a:latin typeface="Cambria Math" panose="02040503050406030204" pitchFamily="18" charset="0"/>
                                </a:rPr>
                                <m:t>h</m:t>
                              </m:r>
                              <m:r>
                                <a:rPr lang="en-US" altLang="zh-CN" sz="1600" i="1" dirty="0">
                                  <a:solidFill>
                                    <a:schemeClr val="tx1"/>
                                  </a:solidFill>
                                  <a:latin typeface="Cambria Math" panose="02040503050406030204" pitchFamily="18" charset="0"/>
                                </a:rPr>
                                <m:t>𝑒𝑚𝑖</m:t>
                              </m:r>
                            </m:sub>
                          </m:sSub>
                        </m:e>
                        <m:sub>
                          <m:r>
                            <a:rPr lang="en-US" altLang="zh-CN" sz="1600" b="0" i="1" dirty="0" smtClean="0">
                              <a:solidFill>
                                <a:schemeClr val="tx1"/>
                              </a:solidFill>
                              <a:latin typeface="Cambria Math" panose="02040503050406030204" pitchFamily="18" charset="0"/>
                            </a:rPr>
                            <m:t>𝑦</m:t>
                          </m:r>
                        </m:sub>
                      </m:sSub>
                      <m:r>
                        <a:rPr lang="en-US" altLang="zh-CN" sz="1600" b="0" i="1" dirty="0" smtClean="0">
                          <a:solidFill>
                            <a:schemeClr val="tx1"/>
                          </a:solidFill>
                          <a:latin typeface="Cambria Math" panose="02040503050406030204" pitchFamily="18" charset="0"/>
                        </a:rPr>
                        <m:t>,</m:t>
                      </m:r>
                      <m:sSub>
                        <m:sSubPr>
                          <m:ctrlPr>
                            <a:rPr lang="en-US" altLang="zh-CN" sz="1600" b="0" i="1" dirty="0" smtClean="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𝛼</m:t>
                          </m:r>
                        </m:e>
                        <m:sub>
                          <m:r>
                            <a:rPr lang="en-US" altLang="zh-CN" sz="1600" b="0" i="1" dirty="0" smtClean="0">
                              <a:solidFill>
                                <a:schemeClr val="tx1"/>
                              </a:solidFill>
                              <a:latin typeface="Cambria Math" panose="02040503050406030204" pitchFamily="18" charset="0"/>
                            </a:rPr>
                            <m:t>𝑧</m:t>
                          </m:r>
                        </m:sub>
                      </m:sSub>
                      <m:sSub>
                        <m:sSubPr>
                          <m:ctrlPr>
                            <a:rPr lang="en-US" altLang="zh-CN" sz="1600" i="1" dirty="0">
                              <a:solidFill>
                                <a:schemeClr val="tx1"/>
                              </a:solidFill>
                              <a:latin typeface="Cambria Math" panose="02040503050406030204" pitchFamily="18" charset="0"/>
                            </a:rPr>
                          </m:ctrlPr>
                        </m:sSubPr>
                        <m:e>
                          <m:sSub>
                            <m:sSubPr>
                              <m:ctrlPr>
                                <a:rPr lang="en-US" altLang="zh-CN" sz="1600" i="1" dirty="0">
                                  <a:solidFill>
                                    <a:schemeClr val="tx1"/>
                                  </a:solidFill>
                                  <a:latin typeface="Cambria Math" panose="02040503050406030204" pitchFamily="18" charset="0"/>
                                </a:rPr>
                              </m:ctrlPr>
                            </m:sSubPr>
                            <m:e>
                              <m:r>
                                <a:rPr lang="en-US" altLang="zh-CN" sz="1600" b="0" i="1" dirty="0" smtClean="0">
                                  <a:solidFill>
                                    <a:schemeClr val="tx1"/>
                                  </a:solidFill>
                                  <a:latin typeface="Cambria Math" panose="02040503050406030204" pitchFamily="18" charset="0"/>
                                </a:rPr>
                                <m:t>𝑚</m:t>
                              </m:r>
                            </m:e>
                            <m:sub>
                              <m:r>
                                <a:rPr lang="en-US" altLang="zh-CN" sz="1600" i="1" dirty="0">
                                  <a:solidFill>
                                    <a:schemeClr val="tx1"/>
                                  </a:solidFill>
                                  <a:latin typeface="Cambria Math" panose="02040503050406030204" pitchFamily="18" charset="0"/>
                                </a:rPr>
                                <m:t>h</m:t>
                              </m:r>
                              <m:r>
                                <a:rPr lang="en-US" altLang="zh-CN" sz="1600" i="1" dirty="0">
                                  <a:solidFill>
                                    <a:schemeClr val="tx1"/>
                                  </a:solidFill>
                                  <a:latin typeface="Cambria Math" panose="02040503050406030204" pitchFamily="18" charset="0"/>
                                </a:rPr>
                                <m:t>𝑒𝑚𝑖</m:t>
                              </m:r>
                            </m:sub>
                          </m:sSub>
                        </m:e>
                        <m:sub>
                          <m:r>
                            <a:rPr lang="en-US" altLang="zh-CN" sz="1600" b="0" i="1" dirty="0" smtClean="0">
                              <a:solidFill>
                                <a:schemeClr val="tx1"/>
                              </a:solidFill>
                              <a:latin typeface="Cambria Math" panose="02040503050406030204" pitchFamily="18" charset="0"/>
                            </a:rPr>
                            <m:t>𝑧</m:t>
                          </m:r>
                        </m:sub>
                      </m:sSub>
                      <m:r>
                        <a:rPr lang="en-US" altLang="zh-CN" sz="1600" b="1" i="1" dirty="0" smtClean="0">
                          <a:solidFill>
                            <a:schemeClr val="tx1"/>
                          </a:solidFill>
                          <a:latin typeface="Cambria Math" panose="02040503050406030204" pitchFamily="18" charset="0"/>
                        </a:rPr>
                        <m:t>)</m:t>
                      </m:r>
                    </m:oMath>
                  </m:oMathPara>
                </a14:m>
                <a:endParaRPr lang="en-US" altLang="zh-CN" sz="1600" dirty="0">
                  <a:solidFill>
                    <a:schemeClr val="tx1"/>
                  </a:solidFill>
                </a:endParaRPr>
              </a:p>
              <a:p>
                <a:pPr>
                  <a:lnSpc>
                    <a:spcPct val="120000"/>
                  </a:lnSpc>
                </a:pPr>
                <a:endParaRPr lang="en-US" altLang="zh-CN" sz="1600" dirty="0">
                  <a:solidFill>
                    <a:schemeClr val="tx1"/>
                  </a:solidFill>
                </a:endParaRPr>
              </a:p>
              <a:p>
                <a:pPr>
                  <a:lnSpc>
                    <a:spcPct val="120000"/>
                  </a:lnSpc>
                </a:pPr>
                <a:r>
                  <a:rPr lang="zh-CN" altLang="en-US" sz="1600" dirty="0">
                    <a:solidFill>
                      <a:schemeClr val="tx1"/>
                    </a:solidFill>
                  </a:rPr>
                  <a:t>        最终得到的椭球上的法线</a:t>
                </a:r>
                <a14:m>
                  <m:oMath xmlns:m="http://schemas.openxmlformats.org/officeDocument/2006/math">
                    <m:r>
                      <a:rPr lang="en-US" altLang="zh-CN" sz="1600" b="1" i="1" dirty="0">
                        <a:solidFill>
                          <a:schemeClr val="tx1"/>
                        </a:solidFill>
                        <a:latin typeface="Cambria Math" panose="02040503050406030204" pitchFamily="18" charset="0"/>
                      </a:rPr>
                      <m:t>𝒎</m:t>
                    </m:r>
                  </m:oMath>
                </a14:m>
                <a:r>
                  <a:rPr lang="zh-CN" altLang="en-US" sz="1600" dirty="0">
                    <a:solidFill>
                      <a:schemeClr val="tx1"/>
                    </a:solidFill>
                  </a:rPr>
                  <a:t>就相当于以</a:t>
                </a:r>
                <a14:m>
                  <m:oMath xmlns:m="http://schemas.openxmlformats.org/officeDocument/2006/math">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𝐷</m:t>
                        </m:r>
                      </m:e>
                      <m:sub>
                        <m:r>
                          <a:rPr lang="en-US" altLang="zh-CN" sz="1600" i="1" dirty="0">
                            <a:solidFill>
                              <a:schemeClr val="tx1"/>
                            </a:solidFill>
                            <a:latin typeface="Cambria Math" panose="02040503050406030204" pitchFamily="18" charset="0"/>
                          </a:rPr>
                          <m:t>𝑣</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b="1"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 </m:t>
                        </m:r>
                        <m:r>
                          <a:rPr lang="en-US" altLang="zh-CN" sz="1600" b="1" i="1" dirty="0">
                            <a:solidFill>
                              <a:schemeClr val="tx1"/>
                            </a:solidFill>
                            <a:latin typeface="Cambria Math" panose="02040503050406030204" pitchFamily="18" charset="0"/>
                          </a:rPr>
                          <m:t>𝒎</m:t>
                        </m:r>
                      </m:e>
                    </m:d>
                  </m:oMath>
                </a14:m>
                <a:r>
                  <a:rPr lang="zh-CN" altLang="en-US" sz="1600" dirty="0">
                    <a:solidFill>
                      <a:schemeClr val="tx1"/>
                    </a:solidFill>
                  </a:rPr>
                  <a:t>为概率密度采样得到的微表面法线方向。下面再根据反射或折射计算出对应的光线方向</a:t>
                </a:r>
                <a14:m>
                  <m:oMath xmlns:m="http://schemas.openxmlformats.org/officeDocument/2006/math">
                    <m:r>
                      <a:rPr lang="en-US" altLang="zh-CN" sz="1600" b="1" i="0" dirty="0" smtClean="0">
                        <a:solidFill>
                          <a:schemeClr val="tx1"/>
                        </a:solidFill>
                        <a:latin typeface="Cambria Math" panose="02040503050406030204" pitchFamily="18" charset="0"/>
                      </a:rPr>
                      <m:t>𝐢</m:t>
                    </m:r>
                  </m:oMath>
                </a14:m>
                <a:r>
                  <a:rPr lang="zh-CN" altLang="en-US" sz="1600" dirty="0">
                    <a:solidFill>
                      <a:schemeClr val="tx1"/>
                    </a:solidFill>
                  </a:rPr>
                  <a:t>即可。</a:t>
                </a:r>
                <a:endParaRPr lang="en-US" altLang="zh-CN" sz="1600" dirty="0">
                  <a:solidFill>
                    <a:schemeClr val="tx1"/>
                  </a:solidFill>
                </a:endParaRPr>
              </a:p>
              <a:p>
                <a:pPr>
                  <a:lnSpc>
                    <a:spcPct val="120000"/>
                  </a:lnSpc>
                </a:pPr>
                <a:endParaRPr lang="en-US" altLang="zh-CN" sz="1600" dirty="0">
                  <a:solidFill>
                    <a:schemeClr val="tx1"/>
                  </a:solidFill>
                </a:endParaRPr>
              </a:p>
              <a:p>
                <a:pPr>
                  <a:lnSpc>
                    <a:spcPct val="120000"/>
                  </a:lnSpc>
                </a:pPr>
                <a:r>
                  <a:rPr lang="zh-CN" altLang="en-US" sz="1600" dirty="0">
                    <a:solidFill>
                      <a:schemeClr val="tx1"/>
                    </a:solidFill>
                  </a:rPr>
                  <a:t>        光线方向</a:t>
                </a:r>
                <a14:m>
                  <m:oMath xmlns:m="http://schemas.openxmlformats.org/officeDocument/2006/math">
                    <m:r>
                      <a:rPr lang="en-US" altLang="zh-CN" sz="1600" b="1" i="0" dirty="0" smtClean="0">
                        <a:solidFill>
                          <a:schemeClr val="tx1"/>
                        </a:solidFill>
                        <a:latin typeface="Cambria Math" panose="02040503050406030204" pitchFamily="18" charset="0"/>
                      </a:rPr>
                      <m:t>𝐢</m:t>
                    </m:r>
                  </m:oMath>
                </a14:m>
                <a:r>
                  <a:rPr lang="zh-CN" altLang="en-US" sz="1600" dirty="0">
                    <a:solidFill>
                      <a:schemeClr val="tx1"/>
                    </a:solidFill>
                  </a:rPr>
                  <a:t>对应的概率密度：</a:t>
                </a:r>
                <a:endParaRPr lang="en-US" altLang="zh-CN" sz="1600" dirty="0">
                  <a:solidFill>
                    <a:schemeClr val="tx1"/>
                  </a:solidFill>
                </a:endParaRPr>
              </a:p>
              <a:p>
                <a:pPr>
                  <a:lnSpc>
                    <a:spcPct val="120000"/>
                  </a:lnSpc>
                </a:pPr>
                <a14:m>
                  <m:oMathPara xmlns:m="http://schemas.openxmlformats.org/officeDocument/2006/math">
                    <m:oMathParaPr>
                      <m:jc m:val="centerGroup"/>
                    </m:oMathParaPr>
                    <m:oMath xmlns:m="http://schemas.openxmlformats.org/officeDocument/2006/math">
                      <m:r>
                        <m:rPr>
                          <m:sty m:val="p"/>
                        </m:rPr>
                        <a:rPr lang="en-US" altLang="zh-CN" sz="1600" i="1" dirty="0">
                          <a:solidFill>
                            <a:schemeClr val="tx1"/>
                          </a:solidFill>
                          <a:latin typeface="Cambria Math" panose="02040503050406030204" pitchFamily="18" charset="0"/>
                        </a:rPr>
                        <m:t>p</m:t>
                      </m:r>
                      <m:d>
                        <m:dPr>
                          <m:ctrlPr>
                            <a:rPr lang="en-US" altLang="zh-CN" sz="1600" b="0" i="1" dirty="0" smtClean="0">
                              <a:solidFill>
                                <a:schemeClr val="tx1"/>
                              </a:solidFill>
                              <a:latin typeface="Cambria Math" panose="02040503050406030204" pitchFamily="18" charset="0"/>
                            </a:rPr>
                          </m:ctrlPr>
                        </m:dPr>
                        <m:e>
                          <m:r>
                            <a:rPr lang="en-US" altLang="zh-CN" sz="1600" b="1" i="1" dirty="0" smtClean="0">
                              <a:solidFill>
                                <a:schemeClr val="tx1"/>
                              </a:solidFill>
                              <a:latin typeface="Cambria Math" panose="02040503050406030204" pitchFamily="18" charset="0"/>
                            </a:rPr>
                            <m:t>𝒊</m:t>
                          </m:r>
                        </m:e>
                      </m:d>
                      <m:r>
                        <a:rPr lang="en-US" altLang="zh-CN" sz="1600" b="1" i="1" dirty="0" smtClean="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𝐷</m:t>
                          </m:r>
                        </m:e>
                        <m:sub>
                          <m:r>
                            <a:rPr lang="en-US" altLang="zh-CN" sz="1600" i="1" dirty="0">
                              <a:solidFill>
                                <a:schemeClr val="tx1"/>
                              </a:solidFill>
                              <a:latin typeface="Cambria Math" panose="02040503050406030204" pitchFamily="18" charset="0"/>
                            </a:rPr>
                            <m:t>𝑣</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b="1"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 </m:t>
                          </m:r>
                          <m:r>
                            <a:rPr lang="en-US" altLang="zh-CN" sz="1600" b="1" i="1" dirty="0">
                              <a:solidFill>
                                <a:schemeClr val="tx1"/>
                              </a:solidFill>
                              <a:latin typeface="Cambria Math" panose="02040503050406030204" pitchFamily="18" charset="0"/>
                            </a:rPr>
                            <m:t>𝒎</m:t>
                          </m:r>
                        </m:e>
                      </m:d>
                      <m:d>
                        <m:dPr>
                          <m:begChr m:val="|"/>
                          <m:endChr m:val="|"/>
                          <m:ctrlPr>
                            <a:rPr lang="en-US" altLang="zh-CN" sz="1600" i="1" dirty="0" smtClean="0">
                              <a:solidFill>
                                <a:schemeClr val="tx1"/>
                              </a:solidFill>
                              <a:latin typeface="Cambria Math" panose="02040503050406030204" pitchFamily="18" charset="0"/>
                            </a:rPr>
                          </m:ctrlPr>
                        </m:dPr>
                        <m:e>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det</m:t>
                              </m:r>
                            </m:fName>
                            <m:e>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num>
                                    <m:den>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𝑖</m:t>
                                          </m:r>
                                        </m:sub>
                                      </m:sSub>
                                    </m:den>
                                  </m:f>
                                  <m:r>
                                    <a:rPr lang="en-US" altLang="zh-CN" sz="1600" i="1" dirty="0">
                                      <a:solidFill>
                                        <a:schemeClr val="tx1"/>
                                      </a:solidFill>
                                      <a:latin typeface="Cambria Math" panose="02040503050406030204" pitchFamily="18" charset="0"/>
                                    </a:rPr>
                                    <m:t> </m:t>
                                  </m:r>
                                </m:e>
                              </m:d>
                            </m:e>
                          </m:func>
                        </m:e>
                      </m:d>
                    </m:oMath>
                  </m:oMathPara>
                </a14:m>
                <a:endParaRPr lang="en-US" altLang="zh-CN" sz="1600" i="1" dirty="0">
                  <a:solidFill>
                    <a:schemeClr val="tx1"/>
                  </a:solidFill>
                  <a:latin typeface="Cambria Math" panose="02040503050406030204" pitchFamily="18" charset="0"/>
                </a:endParaRPr>
              </a:p>
              <a:p>
                <a:pPr>
                  <a:lnSpc>
                    <a:spcPct val="120000"/>
                  </a:lnSpc>
                </a:pPr>
                <a:r>
                  <a:rPr lang="zh-CN" altLang="en-US" sz="1600" dirty="0">
                    <a:solidFill>
                      <a:schemeClr val="tx1"/>
                    </a:solidFill>
                    <a:latin typeface="Cambria Math" panose="02040503050406030204" pitchFamily="18" charset="0"/>
                  </a:rPr>
                  <a:t>反射：</a:t>
                </a:r>
                <a:br>
                  <a:rPr lang="en-US" altLang="zh-CN" sz="1600" i="1" dirty="0">
                    <a:solidFill>
                      <a:schemeClr val="tx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d>
                        <m:dPr>
                          <m:begChr m:val="|"/>
                          <m:endChr m:val="|"/>
                          <m:ctrlPr>
                            <a:rPr lang="en-US" altLang="zh-CN" sz="1600" i="1" dirty="0" smtClean="0">
                              <a:solidFill>
                                <a:schemeClr val="tx1"/>
                              </a:solidFill>
                              <a:latin typeface="Cambria Math" panose="02040503050406030204" pitchFamily="18" charset="0"/>
                            </a:rPr>
                          </m:ctrlPr>
                        </m:dPr>
                        <m:e>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det</m:t>
                              </m:r>
                            </m:fName>
                            <m:e>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num>
                                    <m:den>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𝑖</m:t>
                                          </m:r>
                                        </m:sub>
                                      </m:sSub>
                                    </m:den>
                                  </m:f>
                                  <m:r>
                                    <a:rPr lang="en-US" altLang="zh-CN" sz="1600" i="1" dirty="0">
                                      <a:solidFill>
                                        <a:schemeClr val="tx1"/>
                                      </a:solidFill>
                                      <a:latin typeface="Cambria Math" panose="02040503050406030204" pitchFamily="18" charset="0"/>
                                    </a:rPr>
                                    <m:t> </m:t>
                                  </m:r>
                                </m:e>
                              </m:d>
                            </m:e>
                          </m:func>
                        </m:e>
                      </m:d>
                      <m:r>
                        <a:rPr lang="en-US" altLang="zh-CN" sz="1600" b="0" i="1" dirty="0" smtClean="0">
                          <a:solidFill>
                            <a:schemeClr val="tx1"/>
                          </a:solidFill>
                          <a:latin typeface="Cambria Math" panose="02040503050406030204" pitchFamily="18" charset="0"/>
                        </a:rPr>
                        <m:t>=</m:t>
                      </m:r>
                      <m:f>
                        <m:fPr>
                          <m:ctrlPr>
                            <a:rPr lang="en-US" altLang="zh-CN" sz="1600" i="1">
                              <a:solidFill>
                                <a:schemeClr val="tx1"/>
                              </a:solidFill>
                              <a:latin typeface="Cambria Math" panose="02040503050406030204" pitchFamily="18" charset="0"/>
                            </a:rPr>
                          </m:ctrlPr>
                        </m:fPr>
                        <m:num>
                          <m:r>
                            <a:rPr lang="en-US" altLang="zh-CN" sz="1600" i="1">
                              <a:solidFill>
                                <a:schemeClr val="tx1"/>
                              </a:solidFill>
                              <a:latin typeface="Cambria Math" panose="02040503050406030204" pitchFamily="18" charset="0"/>
                            </a:rPr>
                            <m:t>1</m:t>
                          </m:r>
                        </m:num>
                        <m:den>
                          <m:r>
                            <a:rPr lang="en-US" altLang="zh-CN" sz="1600" i="1">
                              <a:solidFill>
                                <a:schemeClr val="tx1"/>
                              </a:solidFill>
                              <a:latin typeface="Cambria Math" panose="02040503050406030204" pitchFamily="18" charset="0"/>
                            </a:rPr>
                            <m:t>4</m:t>
                          </m:r>
                          <m:r>
                            <a:rPr lang="en-US" altLang="zh-CN" sz="1600" i="1">
                              <a:solidFill>
                                <a:schemeClr val="tx1"/>
                              </a:solidFill>
                              <a:latin typeface="Cambria Math" panose="02040503050406030204" pitchFamily="18" charset="0"/>
                            </a:rPr>
                            <m:t> </m:t>
                          </m:r>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den>
                      </m:f>
                      <m:r>
                        <a:rPr lang="en-US" altLang="zh-CN" sz="1600" b="0" i="1" smtClean="0">
                          <a:solidFill>
                            <a:schemeClr val="tx1"/>
                          </a:solidFill>
                          <a:latin typeface="Cambria Math" panose="02040503050406030204" pitchFamily="18" charset="0"/>
                        </a:rPr>
                        <m:t>,  </m:t>
                      </m:r>
                      <m:r>
                        <m:rPr>
                          <m:sty m:val="p"/>
                        </m:rPr>
                        <a:rPr lang="en-US" altLang="zh-CN" sz="1600" i="1" dirty="0">
                          <a:solidFill>
                            <a:schemeClr val="tx1"/>
                          </a:solidFill>
                          <a:latin typeface="Cambria Math" panose="02040503050406030204" pitchFamily="18" charset="0"/>
                        </a:rPr>
                        <m:t>p</m:t>
                      </m:r>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e>
                      </m:d>
                      <m:r>
                        <a:rPr lang="en-US" altLang="zh-CN" sz="1600" b="1" i="1" dirty="0">
                          <a:solidFill>
                            <a:schemeClr val="tx1"/>
                          </a:solidFill>
                          <a:latin typeface="Cambria Math" panose="02040503050406030204" pitchFamily="18" charset="0"/>
                        </a:rPr>
                        <m:t>=</m:t>
                      </m:r>
                      <m:f>
                        <m:fPr>
                          <m:ctrlPr>
                            <a:rPr lang="en-US" altLang="zh-CN" sz="1600" b="1" i="1" dirty="0" smtClean="0">
                              <a:solidFill>
                                <a:schemeClr val="tx1"/>
                              </a:solidFill>
                              <a:latin typeface="Cambria Math" panose="02040503050406030204" pitchFamily="18" charset="0"/>
                            </a:rPr>
                          </m:ctrlPr>
                        </m:fPr>
                        <m:num>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𝐷</m:t>
                              </m:r>
                            </m:e>
                            <m:sub>
                              <m:r>
                                <a:rPr lang="en-US" altLang="zh-CN" sz="1600" i="1" dirty="0">
                                  <a:solidFill>
                                    <a:schemeClr val="tx1"/>
                                  </a:solidFill>
                                  <a:latin typeface="Cambria Math" panose="02040503050406030204" pitchFamily="18" charset="0"/>
                                </a:rPr>
                                <m:t>𝑣</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b="1"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 </m:t>
                              </m:r>
                              <m:r>
                                <a:rPr lang="en-US" altLang="zh-CN" sz="1600" b="1" i="1" dirty="0">
                                  <a:solidFill>
                                    <a:schemeClr val="tx1"/>
                                  </a:solidFill>
                                  <a:latin typeface="Cambria Math" panose="02040503050406030204" pitchFamily="18" charset="0"/>
                                </a:rPr>
                                <m:t>𝒎</m:t>
                              </m:r>
                            </m:e>
                          </m:d>
                        </m:num>
                        <m:den>
                          <m:r>
                            <a:rPr lang="en-US" altLang="zh-CN" sz="1600" b="0" i="1" dirty="0" smtClean="0">
                              <a:solidFill>
                                <a:schemeClr val="tx1"/>
                              </a:solidFill>
                              <a:latin typeface="Cambria Math" panose="02040503050406030204" pitchFamily="18" charset="0"/>
                            </a:rPr>
                            <m:t>4</m:t>
                          </m:r>
                          <m:r>
                            <a:rPr lang="en-US" altLang="zh-CN" sz="1600" b="0" i="1" dirty="0" smtClean="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𝒐</m:t>
                          </m:r>
                          <m:r>
                            <a:rPr lang="en-US" altLang="zh-CN" sz="1600" b="1" i="1" dirty="0" smtClean="0">
                              <a:solidFill>
                                <a:schemeClr val="tx1"/>
                              </a:solidFill>
                              <a:latin typeface="Cambria Math" panose="02040503050406030204" pitchFamily="18" charset="0"/>
                            </a:rPr>
                            <m:t>⋅</m:t>
                          </m:r>
                          <m:r>
                            <a:rPr lang="en-US" altLang="zh-CN" sz="1600" b="1" i="1" dirty="0" smtClean="0">
                              <a:solidFill>
                                <a:schemeClr val="tx1"/>
                              </a:solidFill>
                              <a:latin typeface="Cambria Math" panose="02040503050406030204" pitchFamily="18" charset="0"/>
                            </a:rPr>
                            <m:t>𝒎</m:t>
                          </m:r>
                          <m:r>
                            <a:rPr lang="en-US" altLang="zh-CN" sz="1600" b="0" i="1" dirty="0" smtClean="0">
                              <a:solidFill>
                                <a:schemeClr val="tx1"/>
                              </a:solidFill>
                              <a:latin typeface="Cambria Math" panose="02040503050406030204" pitchFamily="18" charset="0"/>
                            </a:rPr>
                            <m:t>|</m:t>
                          </m:r>
                        </m:den>
                      </m:f>
                    </m:oMath>
                  </m:oMathPara>
                </a14:m>
                <a:endParaRPr lang="en-US" altLang="zh-CN" sz="1600" dirty="0">
                  <a:solidFill>
                    <a:schemeClr val="tx1"/>
                  </a:solidFill>
                  <a:latin typeface="Cambria Math" panose="02040503050406030204" pitchFamily="18" charset="0"/>
                </a:endParaRPr>
              </a:p>
              <a:p>
                <a:pPr>
                  <a:lnSpc>
                    <a:spcPct val="120000"/>
                  </a:lnSpc>
                </a:pPr>
                <a:r>
                  <a:rPr lang="zh-CN" altLang="en-US" sz="1600" dirty="0">
                    <a:solidFill>
                      <a:schemeClr val="tx1"/>
                    </a:solidFill>
                    <a:latin typeface="Cambria Math" panose="02040503050406030204" pitchFamily="18" charset="0"/>
                  </a:rPr>
                  <a:t>折射：</a:t>
                </a:r>
                <a:br>
                  <a:rPr lang="en-US" altLang="zh-CN" sz="1600" i="1" dirty="0">
                    <a:solidFill>
                      <a:schemeClr val="tx1"/>
                    </a:solidFill>
                    <a:latin typeface="Cambria Math" panose="02040503050406030204" pitchFamily="18" charset="0"/>
                  </a:rPr>
                </a:br>
                <a14:m>
                  <m:oMathPara xmlns:m="http://schemas.openxmlformats.org/officeDocument/2006/math">
                    <m:oMathParaPr>
                      <m:jc m:val="centerGroup"/>
                    </m:oMathParaPr>
                    <m:oMath xmlns:m="http://schemas.openxmlformats.org/officeDocument/2006/math">
                      <m:d>
                        <m:dPr>
                          <m:begChr m:val="|"/>
                          <m:endChr m:val="|"/>
                          <m:ctrlPr>
                            <a:rPr lang="en-US" altLang="zh-CN" sz="1600" i="1" dirty="0">
                              <a:solidFill>
                                <a:schemeClr val="tx1"/>
                              </a:solidFill>
                              <a:latin typeface="Cambria Math" panose="02040503050406030204" pitchFamily="18" charset="0"/>
                            </a:rPr>
                          </m:ctrlPr>
                        </m:dPr>
                        <m:e>
                          <m:func>
                            <m:funcPr>
                              <m:ctrlPr>
                                <a:rPr lang="en-US" altLang="zh-CN" sz="1600" i="1" dirty="0">
                                  <a:solidFill>
                                    <a:schemeClr val="tx1"/>
                                  </a:solidFill>
                                  <a:latin typeface="Cambria Math" panose="02040503050406030204" pitchFamily="18" charset="0"/>
                                </a:rPr>
                              </m:ctrlPr>
                            </m:funcPr>
                            <m:fName>
                              <m:r>
                                <m:rPr>
                                  <m:sty m:val="p"/>
                                </m:rPr>
                                <a:rPr lang="en-US" altLang="zh-CN" sz="1600" dirty="0">
                                  <a:solidFill>
                                    <a:schemeClr val="tx1"/>
                                  </a:solidFill>
                                  <a:latin typeface="Cambria Math" panose="02040503050406030204" pitchFamily="18" charset="0"/>
                                </a:rPr>
                                <m:t>det</m:t>
                              </m:r>
                            </m:fName>
                            <m:e>
                              <m:d>
                                <m:dPr>
                                  <m:ctrlPr>
                                    <a:rPr lang="en-US" altLang="zh-CN" sz="1600" i="1" dirty="0">
                                      <a:solidFill>
                                        <a:schemeClr val="tx1"/>
                                      </a:solidFill>
                                      <a:latin typeface="Cambria Math" panose="02040503050406030204" pitchFamily="18" charset="0"/>
                                    </a:rPr>
                                  </m:ctrlPr>
                                </m:dPr>
                                <m:e>
                                  <m:f>
                                    <m:fPr>
                                      <m:ctrlPr>
                                        <a:rPr lang="en-US" altLang="zh-CN" sz="1600" i="1" dirty="0">
                                          <a:solidFill>
                                            <a:schemeClr val="tx1"/>
                                          </a:solidFill>
                                          <a:latin typeface="Cambria Math" panose="02040503050406030204" pitchFamily="18" charset="0"/>
                                        </a:rPr>
                                      </m:ctrlPr>
                                    </m:fPr>
                                    <m:num>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𝑚</m:t>
                                          </m:r>
                                        </m:sub>
                                      </m:sSub>
                                    </m:num>
                                    <m:den>
                                      <m:r>
                                        <a:rPr lang="en-US" altLang="zh-CN" sz="1600" i="1" dirty="0">
                                          <a:solidFill>
                                            <a:schemeClr val="tx1"/>
                                          </a:solidFill>
                                          <a:latin typeface="Cambria Math" panose="02040503050406030204" pitchFamily="18" charset="0"/>
                                        </a:rPr>
                                        <m:t>𝜕</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𝜔</m:t>
                                          </m:r>
                                        </m:e>
                                        <m:sub>
                                          <m:r>
                                            <a:rPr lang="en-US" altLang="zh-CN" sz="1600" i="1" dirty="0">
                                              <a:solidFill>
                                                <a:schemeClr val="tx1"/>
                                              </a:solidFill>
                                              <a:latin typeface="Cambria Math" panose="02040503050406030204" pitchFamily="18" charset="0"/>
                                            </a:rPr>
                                            <m:t>𝑖</m:t>
                                          </m:r>
                                        </m:sub>
                                      </m:sSub>
                                    </m:den>
                                  </m:f>
                                  <m:r>
                                    <a:rPr lang="en-US" altLang="zh-CN" sz="1600" i="1" dirty="0">
                                      <a:solidFill>
                                        <a:schemeClr val="tx1"/>
                                      </a:solidFill>
                                      <a:latin typeface="Cambria Math" panose="02040503050406030204" pitchFamily="18" charset="0"/>
                                    </a:rPr>
                                    <m:t> </m:t>
                                  </m:r>
                                </m:e>
                              </m:d>
                            </m:e>
                          </m:func>
                        </m:e>
                      </m:d>
                      <m:r>
                        <a:rPr lang="en-US" altLang="zh-CN" sz="1600" i="1">
                          <a:solidFill>
                            <a:schemeClr val="tx1"/>
                          </a:solidFill>
                          <a:latin typeface="Cambria Math" panose="02040503050406030204" pitchFamily="18" charset="0"/>
                        </a:rPr>
                        <m:t>=</m:t>
                      </m:r>
                      <m:f>
                        <m:fPr>
                          <m:ctrlPr>
                            <a:rPr lang="en-US" altLang="zh-CN" sz="1600" i="1">
                              <a:solidFill>
                                <a:schemeClr val="tx1"/>
                              </a:solidFill>
                              <a:latin typeface="Cambria Math" panose="02040503050406030204" pitchFamily="18" charset="0"/>
                            </a:rPr>
                          </m:ctrlPr>
                        </m:fPr>
                        <m:num>
                          <m:sSubSup>
                            <m:sSubSupPr>
                              <m:ctrlPr>
                                <a:rPr lang="en-US" altLang="zh-CN" sz="1600" i="1">
                                  <a:solidFill>
                                    <a:schemeClr val="tx1"/>
                                  </a:solidFill>
                                  <a:latin typeface="Cambria Math" panose="02040503050406030204" pitchFamily="18" charset="0"/>
                                </a:rPr>
                              </m:ctrlPr>
                            </m:sSubSup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up>
                              <m:r>
                                <a:rPr lang="en-US" altLang="zh-CN" sz="1600" i="1">
                                  <a:solidFill>
                                    <a:schemeClr val="tx1"/>
                                  </a:solidFill>
                                  <a:latin typeface="Cambria Math" panose="02040503050406030204" pitchFamily="18" charset="0"/>
                                </a:rPr>
                                <m:t>2</m:t>
                              </m:r>
                            </m:sup>
                          </m:sSubSup>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num>
                        <m:den>
                          <m:sSup>
                            <m:sSupPr>
                              <m:ctrlPr>
                                <a:rPr lang="en-US" altLang="zh-CN" sz="1600" i="1">
                                  <a:solidFill>
                                    <a:schemeClr val="tx1"/>
                                  </a:solidFill>
                                  <a:latin typeface="Cambria Math" panose="02040503050406030204" pitchFamily="18" charset="0"/>
                                </a:rPr>
                              </m:ctrlPr>
                            </m:sSupPr>
                            <m:e>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𝑜</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e>
                              </m:d>
                            </m:e>
                            <m:sup>
                              <m:r>
                                <a:rPr lang="en-US" altLang="zh-CN" sz="1600" i="1">
                                  <a:solidFill>
                                    <a:schemeClr val="tx1"/>
                                  </a:solidFill>
                                  <a:latin typeface="Cambria Math" panose="02040503050406030204" pitchFamily="18" charset="0"/>
                                </a:rPr>
                                <m:t>2</m:t>
                              </m:r>
                            </m:sup>
                          </m:sSup>
                        </m:den>
                      </m:f>
                      <m:r>
                        <a:rPr lang="en-US" altLang="zh-CN" sz="1600" b="0" i="1" smtClean="0">
                          <a:solidFill>
                            <a:schemeClr val="tx1"/>
                          </a:solidFill>
                          <a:latin typeface="Cambria Math" panose="02040503050406030204" pitchFamily="18" charset="0"/>
                        </a:rPr>
                        <m:t>,  </m:t>
                      </m:r>
                      <m:r>
                        <m:rPr>
                          <m:sty m:val="p"/>
                        </m:rPr>
                        <a:rPr lang="en-US" altLang="zh-CN" sz="1600" i="1" dirty="0">
                          <a:solidFill>
                            <a:schemeClr val="tx1"/>
                          </a:solidFill>
                          <a:latin typeface="Cambria Math" panose="02040503050406030204" pitchFamily="18" charset="0"/>
                        </a:rPr>
                        <m:t>p</m:t>
                      </m:r>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𝒊</m:t>
                          </m:r>
                        </m:e>
                      </m:d>
                      <m:r>
                        <a:rPr lang="en-US" altLang="zh-CN" sz="1600" b="1" i="1" dirty="0">
                          <a:solidFill>
                            <a:schemeClr val="tx1"/>
                          </a:solidFill>
                          <a:latin typeface="Cambria Math" panose="02040503050406030204" pitchFamily="18" charset="0"/>
                        </a:rPr>
                        <m:t>=</m:t>
                      </m:r>
                      <m:f>
                        <m:fPr>
                          <m:ctrlPr>
                            <a:rPr lang="en-US" altLang="zh-CN" sz="1600" i="1">
                              <a:solidFill>
                                <a:schemeClr val="tx1"/>
                              </a:solidFill>
                              <a:latin typeface="Cambria Math" panose="02040503050406030204" pitchFamily="18" charset="0"/>
                            </a:rPr>
                          </m:ctrlPr>
                        </m:fPr>
                        <m:num>
                          <m:sSubSup>
                            <m:sSubSupPr>
                              <m:ctrlPr>
                                <a:rPr lang="en-US" altLang="zh-CN" sz="1600" i="1">
                                  <a:solidFill>
                                    <a:schemeClr val="tx1"/>
                                  </a:solidFill>
                                  <a:latin typeface="Cambria Math" panose="02040503050406030204" pitchFamily="18" charset="0"/>
                                </a:rPr>
                              </m:ctrlPr>
                            </m:sSubSup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up>
                              <m:r>
                                <a:rPr lang="en-US" altLang="zh-CN" sz="1600" i="1">
                                  <a:solidFill>
                                    <a:schemeClr val="tx1"/>
                                  </a:solidFill>
                                  <a:latin typeface="Cambria Math" panose="02040503050406030204" pitchFamily="18" charset="0"/>
                                </a:rPr>
                                <m:t>2</m:t>
                              </m:r>
                            </m:sup>
                          </m:sSubSup>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r>
                            <a:rPr lang="en-US" altLang="zh-CN" sz="1600" b="0" i="1" smtClean="0">
                              <a:solidFill>
                                <a:schemeClr val="tx1"/>
                              </a:solidFill>
                              <a:latin typeface="Cambria Math" panose="02040503050406030204" pitchFamily="18" charset="0"/>
                            </a:rPr>
                            <m:t> </m:t>
                          </m:r>
                          <m:sSub>
                            <m:sSubPr>
                              <m:ctrlPr>
                                <a:rPr lang="en-US" altLang="zh-CN" sz="1600" i="1" dirty="0">
                                  <a:solidFill>
                                    <a:schemeClr val="tx1"/>
                                  </a:solidFill>
                                  <a:latin typeface="Cambria Math" panose="02040503050406030204" pitchFamily="18" charset="0"/>
                                </a:rPr>
                              </m:ctrlPr>
                            </m:sSubPr>
                            <m:e>
                              <m:r>
                                <a:rPr lang="en-US" altLang="zh-CN" sz="1600" i="1" dirty="0">
                                  <a:solidFill>
                                    <a:schemeClr val="tx1"/>
                                  </a:solidFill>
                                  <a:latin typeface="Cambria Math" panose="02040503050406030204" pitchFamily="18" charset="0"/>
                                </a:rPr>
                                <m:t>𝐷</m:t>
                              </m:r>
                            </m:e>
                            <m:sub>
                              <m:r>
                                <a:rPr lang="en-US" altLang="zh-CN" sz="1600" i="1" dirty="0">
                                  <a:solidFill>
                                    <a:schemeClr val="tx1"/>
                                  </a:solidFill>
                                  <a:latin typeface="Cambria Math" panose="02040503050406030204" pitchFamily="18" charset="0"/>
                                </a:rPr>
                                <m:t>𝑣</m:t>
                              </m:r>
                            </m:sub>
                          </m:sSub>
                          <m:d>
                            <m:dPr>
                              <m:ctrlPr>
                                <a:rPr lang="en-US" altLang="zh-CN" sz="1600" i="1" dirty="0">
                                  <a:solidFill>
                                    <a:schemeClr val="tx1"/>
                                  </a:solidFill>
                                  <a:latin typeface="Cambria Math" panose="02040503050406030204" pitchFamily="18" charset="0"/>
                                </a:rPr>
                              </m:ctrlPr>
                            </m:dPr>
                            <m:e>
                              <m:r>
                                <a:rPr lang="en-US" altLang="zh-CN" sz="1600" b="1" i="1" dirty="0">
                                  <a:solidFill>
                                    <a:schemeClr val="tx1"/>
                                  </a:solidFill>
                                  <a:latin typeface="Cambria Math" panose="02040503050406030204" pitchFamily="18" charset="0"/>
                                </a:rPr>
                                <m:t>𝒐</m:t>
                              </m:r>
                              <m:r>
                                <a:rPr lang="en-US" altLang="zh-CN" sz="1600" b="1" i="1" dirty="0">
                                  <a:solidFill>
                                    <a:schemeClr val="tx1"/>
                                  </a:solidFill>
                                  <a:latin typeface="Cambria Math" panose="02040503050406030204" pitchFamily="18" charset="0"/>
                                </a:rPr>
                                <m:t>,</m:t>
                              </m:r>
                              <m:r>
                                <a:rPr lang="en-US" altLang="zh-CN" sz="1600" i="1" dirty="0">
                                  <a:solidFill>
                                    <a:schemeClr val="tx1"/>
                                  </a:solidFill>
                                  <a:latin typeface="Cambria Math" panose="02040503050406030204" pitchFamily="18" charset="0"/>
                                </a:rPr>
                                <m:t> </m:t>
                              </m:r>
                              <m:r>
                                <a:rPr lang="en-US" altLang="zh-CN" sz="1600" b="1" i="1" dirty="0">
                                  <a:solidFill>
                                    <a:schemeClr val="tx1"/>
                                  </a:solidFill>
                                  <a:latin typeface="Cambria Math" panose="02040503050406030204" pitchFamily="18" charset="0"/>
                                </a:rPr>
                                <m:t>𝒎</m:t>
                              </m:r>
                            </m:e>
                          </m:d>
                        </m:num>
                        <m:den>
                          <m:sSup>
                            <m:sSupPr>
                              <m:ctrlPr>
                                <a:rPr lang="en-US" altLang="zh-CN" sz="1600" i="1">
                                  <a:solidFill>
                                    <a:schemeClr val="tx1"/>
                                  </a:solidFill>
                                  <a:latin typeface="Cambria Math" panose="02040503050406030204" pitchFamily="18" charset="0"/>
                                </a:rPr>
                              </m:ctrlPr>
                            </m:sSupPr>
                            <m:e>
                              <m:d>
                                <m:dPr>
                                  <m:ctrlPr>
                                    <a:rPr lang="en-US" altLang="zh-CN" sz="1600" i="1">
                                      <a:solidFill>
                                        <a:schemeClr val="tx1"/>
                                      </a:solidFill>
                                      <a:latin typeface="Cambria Math" panose="02040503050406030204" pitchFamily="18" charset="0"/>
                                    </a:rPr>
                                  </m:ctrlPr>
                                </m:dPr>
                                <m:e>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𝑜</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𝒐</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r>
                                    <a:rPr lang="en-US" altLang="zh-CN" sz="1600" i="1">
                                      <a:solidFill>
                                        <a:schemeClr val="tx1"/>
                                      </a:solidFill>
                                      <a:latin typeface="Cambria Math" panose="02040503050406030204" pitchFamily="18" charset="0"/>
                                    </a:rPr>
                                    <m:t>−</m:t>
                                  </m:r>
                                  <m:sSub>
                                    <m:sSubPr>
                                      <m:ctrlPr>
                                        <a:rPr lang="en-US" altLang="zh-CN" sz="1600" i="1">
                                          <a:solidFill>
                                            <a:schemeClr val="tx1"/>
                                          </a:solidFill>
                                          <a:latin typeface="Cambria Math" panose="02040503050406030204" pitchFamily="18" charset="0"/>
                                        </a:rPr>
                                      </m:ctrlPr>
                                    </m:sSubPr>
                                    <m:e>
                                      <m:r>
                                        <a:rPr lang="en-US" altLang="zh-CN" sz="1600" i="1">
                                          <a:solidFill>
                                            <a:schemeClr val="tx1"/>
                                          </a:solidFill>
                                          <a:latin typeface="Cambria Math" panose="02040503050406030204" pitchFamily="18" charset="0"/>
                                        </a:rPr>
                                        <m:t>𝜂</m:t>
                                      </m:r>
                                    </m:e>
                                    <m:sub>
                                      <m:r>
                                        <a:rPr lang="en-US" altLang="zh-CN" sz="1600" i="1">
                                          <a:solidFill>
                                            <a:schemeClr val="tx1"/>
                                          </a:solidFill>
                                          <a:latin typeface="Cambria Math" panose="02040503050406030204" pitchFamily="18" charset="0"/>
                                        </a:rPr>
                                        <m:t>𝑖</m:t>
                                      </m:r>
                                    </m:sub>
                                  </m:sSub>
                                  <m:d>
                                    <m:dPr>
                                      <m:begChr m:val="|"/>
                                      <m:endChr m:val="|"/>
                                      <m:ctrlPr>
                                        <a:rPr lang="en-US" altLang="zh-CN" sz="1600" i="1">
                                          <a:solidFill>
                                            <a:schemeClr val="tx1"/>
                                          </a:solidFill>
                                          <a:latin typeface="Cambria Math" panose="02040503050406030204" pitchFamily="18" charset="0"/>
                                        </a:rPr>
                                      </m:ctrlPr>
                                    </m:dPr>
                                    <m:e>
                                      <m:r>
                                        <a:rPr lang="en-US" altLang="zh-CN" sz="1600" b="1" i="1">
                                          <a:solidFill>
                                            <a:schemeClr val="tx1"/>
                                          </a:solidFill>
                                          <a:latin typeface="Cambria Math" panose="02040503050406030204" pitchFamily="18" charset="0"/>
                                        </a:rPr>
                                        <m:t>𝒊</m:t>
                                      </m:r>
                                      <m:r>
                                        <a:rPr lang="en-US" altLang="zh-CN" sz="1600" i="1">
                                          <a:solidFill>
                                            <a:schemeClr val="tx1"/>
                                          </a:solidFill>
                                          <a:latin typeface="Cambria Math" panose="02040503050406030204" pitchFamily="18" charset="0"/>
                                        </a:rPr>
                                        <m:t>⋅</m:t>
                                      </m:r>
                                      <m:r>
                                        <a:rPr lang="en-US" altLang="zh-CN" sz="1600" b="1" i="1">
                                          <a:solidFill>
                                            <a:schemeClr val="tx1"/>
                                          </a:solidFill>
                                          <a:latin typeface="Cambria Math" panose="02040503050406030204" pitchFamily="18" charset="0"/>
                                        </a:rPr>
                                        <m:t>𝒎</m:t>
                                      </m:r>
                                    </m:e>
                                  </m:d>
                                </m:e>
                              </m:d>
                            </m:e>
                            <m:sup>
                              <m:r>
                                <a:rPr lang="en-US" altLang="zh-CN" sz="1600" i="1">
                                  <a:solidFill>
                                    <a:schemeClr val="tx1"/>
                                  </a:solidFill>
                                  <a:latin typeface="Cambria Math" panose="02040503050406030204" pitchFamily="18" charset="0"/>
                                </a:rPr>
                                <m:t>2</m:t>
                              </m:r>
                            </m:sup>
                          </m:sSup>
                        </m:den>
                      </m:f>
                    </m:oMath>
                  </m:oMathPara>
                </a14:m>
                <a:endParaRPr lang="en-US" altLang="zh-CN" sz="1600" dirty="0">
                  <a:solidFill>
                    <a:schemeClr val="tx1"/>
                  </a:solidFill>
                </a:endParaRPr>
              </a:p>
            </p:txBody>
          </p:sp>
        </mc:Choice>
        <mc:Fallback xmlns="">
          <p:sp>
            <p:nvSpPr>
              <p:cNvPr id="64" name="矩形 63">
                <a:extLst>
                  <a:ext uri="{FF2B5EF4-FFF2-40B4-BE49-F238E27FC236}">
                    <a16:creationId xmlns:a16="http://schemas.microsoft.com/office/drawing/2014/main" id="{F54BB533-AD7A-261E-0D77-2A5EB10E75D2}"/>
                  </a:ext>
                </a:extLst>
              </p:cNvPr>
              <p:cNvSpPr>
                <a:spLocks noRot="1" noChangeAspect="1" noMove="1" noResize="1" noEditPoints="1" noAdjustHandles="1" noChangeArrowheads="1" noChangeShapeType="1" noTextEdit="1"/>
              </p:cNvSpPr>
              <p:nvPr/>
            </p:nvSpPr>
            <p:spPr>
              <a:xfrm>
                <a:off x="503761" y="1150306"/>
                <a:ext cx="7030643" cy="5060515"/>
              </a:xfrm>
              <a:prstGeom prst="rect">
                <a:avLst/>
              </a:prstGeom>
              <a:blipFill>
                <a:blip r:embed="rId3"/>
                <a:stretch>
                  <a:fillRect l="-433"/>
                </a:stretch>
              </a:blipFill>
            </p:spPr>
            <p:txBody>
              <a:bodyPr/>
              <a:lstStyle/>
              <a:p>
                <a:r>
                  <a:rPr lang="zh-CN" altLang="en-US">
                    <a:noFill/>
                  </a:rPr>
                  <a:t> </a:t>
                </a:r>
              </a:p>
            </p:txBody>
          </p:sp>
        </mc:Fallback>
      </mc:AlternateContent>
      <p:pic>
        <p:nvPicPr>
          <p:cNvPr id="32" name="图片 31">
            <a:extLst>
              <a:ext uri="{FF2B5EF4-FFF2-40B4-BE49-F238E27FC236}">
                <a16:creationId xmlns:a16="http://schemas.microsoft.com/office/drawing/2014/main" id="{7B0B9949-0FFC-4A2E-0EBA-D0C25C3256CA}"/>
              </a:ext>
            </a:extLst>
          </p:cNvPr>
          <p:cNvPicPr>
            <a:picLocks noChangeAspect="1"/>
          </p:cNvPicPr>
          <p:nvPr/>
        </p:nvPicPr>
        <p:blipFill>
          <a:blip r:embed="rId4"/>
          <a:srcRect r="49541"/>
          <a:stretch/>
        </p:blipFill>
        <p:spPr>
          <a:xfrm>
            <a:off x="8285675" y="718907"/>
            <a:ext cx="3017983" cy="2722324"/>
          </a:xfrm>
          <a:prstGeom prst="rect">
            <a:avLst/>
          </a:prstGeom>
        </p:spPr>
      </p:pic>
      <p:pic>
        <p:nvPicPr>
          <p:cNvPr id="5" name="图片 4">
            <a:extLst>
              <a:ext uri="{FF2B5EF4-FFF2-40B4-BE49-F238E27FC236}">
                <a16:creationId xmlns:a16="http://schemas.microsoft.com/office/drawing/2014/main" id="{11EF5037-3FDC-B996-DA5A-ABA09BBEFD30}"/>
              </a:ext>
            </a:extLst>
          </p:cNvPr>
          <p:cNvPicPr>
            <a:picLocks noChangeAspect="1"/>
          </p:cNvPicPr>
          <p:nvPr/>
        </p:nvPicPr>
        <p:blipFill>
          <a:blip r:embed="rId4"/>
          <a:srcRect l="51233"/>
          <a:stretch/>
        </p:blipFill>
        <p:spPr>
          <a:xfrm>
            <a:off x="8386890" y="3674300"/>
            <a:ext cx="2916768" cy="2722324"/>
          </a:xfrm>
          <a:prstGeom prst="rect">
            <a:avLst/>
          </a:prstGeom>
        </p:spPr>
      </p:pic>
    </p:spTree>
    <p:extLst>
      <p:ext uri="{BB962C8B-B14F-4D97-AF65-F5344CB8AC3E}">
        <p14:creationId xmlns:p14="http://schemas.microsoft.com/office/powerpoint/2010/main" val="3271710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BB3F42-7887-3AAE-5EFE-689D7E4EBA66}"/>
              </a:ext>
            </a:extLst>
          </p:cNvPr>
          <p:cNvSpPr>
            <a:spLocks noGrp="1"/>
          </p:cNvSpPr>
          <p:nvPr>
            <p:ph type="title" idx="1"/>
          </p:nvPr>
        </p:nvSpPr>
        <p:spPr/>
        <p:txBody>
          <a:bodyPr/>
          <a:lstStyle/>
          <a:p>
            <a:r>
              <a:rPr lang="en-US" altLang="zh-CN" dirty="0"/>
              <a:t>References</a:t>
            </a:r>
            <a:endParaRPr lang="zh-CN" altLang="en-US" dirty="0"/>
          </a:p>
        </p:txBody>
      </p:sp>
      <p:sp>
        <p:nvSpPr>
          <p:cNvPr id="3" name="内容占位符 2">
            <a:extLst>
              <a:ext uri="{FF2B5EF4-FFF2-40B4-BE49-F238E27FC236}">
                <a16:creationId xmlns:a16="http://schemas.microsoft.com/office/drawing/2014/main" id="{8AA2B5BA-574B-80F0-E219-F1F223DF0929}"/>
              </a:ext>
            </a:extLst>
          </p:cNvPr>
          <p:cNvSpPr>
            <a:spLocks noGrp="1"/>
          </p:cNvSpPr>
          <p:nvPr>
            <p:ph idx="3"/>
          </p:nvPr>
        </p:nvSpPr>
        <p:spPr/>
        <p:txBody>
          <a:bodyPr>
            <a:normAutofit/>
          </a:bodyPr>
          <a:lstStyle/>
          <a:p>
            <a:pPr marL="342900" indent="-342900">
              <a:buFont typeface="+mj-lt"/>
              <a:buAutoNum type="arabicPeriod"/>
            </a:pPr>
            <a:r>
              <a:rPr lang="en-US" altLang="zh-CN" dirty="0">
                <a:solidFill>
                  <a:srgbClr val="212529"/>
                </a:solidFill>
                <a:latin typeface="Comic Sans MS" panose="030F0702030302020204" pitchFamily="66" charset="0"/>
              </a:rPr>
              <a:t>Trowbridge, S., and K. P. Reitz. 1975. Average irregularity representation of a rough ray reflection. Journal of the Optical Society of America 65 (5), 531–36.</a:t>
            </a:r>
          </a:p>
          <a:p>
            <a:pPr marL="342900" indent="-342900">
              <a:buFont typeface="+mj-lt"/>
              <a:buAutoNum type="arabicPeriod"/>
            </a:pPr>
            <a:r>
              <a:rPr lang="en-US" altLang="zh-CN" dirty="0">
                <a:solidFill>
                  <a:srgbClr val="212529"/>
                </a:solidFill>
                <a:latin typeface="Comic Sans MS" panose="030F0702030302020204" pitchFamily="66" charset="0"/>
              </a:rPr>
              <a:t>Walter, B., S. Marschner, H. Li, and K. Torrance. 2007. Microfacet models for refraction through rough surfaces. In Rendering Techniques 2007 (Proc. </a:t>
            </a:r>
            <a:r>
              <a:rPr lang="en-US" altLang="zh-CN" dirty="0" err="1">
                <a:solidFill>
                  <a:srgbClr val="212529"/>
                </a:solidFill>
                <a:latin typeface="Comic Sans MS" panose="030F0702030302020204" pitchFamily="66" charset="0"/>
              </a:rPr>
              <a:t>Eurographics</a:t>
            </a:r>
            <a:r>
              <a:rPr lang="en-US" altLang="zh-CN" dirty="0">
                <a:solidFill>
                  <a:srgbClr val="212529"/>
                </a:solidFill>
                <a:latin typeface="Comic Sans MS" panose="030F0702030302020204" pitchFamily="66" charset="0"/>
              </a:rPr>
              <a:t> Symposium on Rendering), 195–206.</a:t>
            </a:r>
          </a:p>
          <a:p>
            <a:pPr marL="342900" indent="-342900">
              <a:buFont typeface="+mj-lt"/>
              <a:buAutoNum type="arabicPeriod"/>
            </a:pPr>
            <a:r>
              <a:rPr lang="en-US" altLang="zh-CN" dirty="0">
                <a:solidFill>
                  <a:srgbClr val="212529"/>
                </a:solidFill>
                <a:latin typeface="Comic Sans MS" panose="030F0702030302020204" pitchFamily="66" charset="0"/>
              </a:rPr>
              <a:t>Smith, B. 1967. Geometrical shadowing of a random rough surface. IEEE Transactions on Antennas and Propagation 15 (5), 668–71.</a:t>
            </a:r>
          </a:p>
          <a:p>
            <a:pPr marL="342900" indent="-342900">
              <a:buFont typeface="+mj-lt"/>
              <a:buAutoNum type="arabicPeriod"/>
            </a:pPr>
            <a:r>
              <a:rPr lang="en-US" altLang="zh-CN" dirty="0">
                <a:solidFill>
                  <a:srgbClr val="212529"/>
                </a:solidFill>
                <a:latin typeface="Comic Sans MS" panose="030F0702030302020204" pitchFamily="66" charset="0"/>
              </a:rPr>
              <a:t>ASHIKMIN, M., PREMOŽE, S., AND SHIRLEY, P. 2000. A microfacet-based </a:t>
            </a:r>
            <a:r>
              <a:rPr lang="en-US" altLang="zh-CN" dirty="0" err="1">
                <a:solidFill>
                  <a:srgbClr val="212529"/>
                </a:solidFill>
                <a:latin typeface="Comic Sans MS" panose="030F0702030302020204" pitchFamily="66" charset="0"/>
              </a:rPr>
              <a:t>brdf</a:t>
            </a:r>
            <a:r>
              <a:rPr lang="en-US" altLang="zh-CN" dirty="0">
                <a:solidFill>
                  <a:srgbClr val="212529"/>
                </a:solidFill>
                <a:latin typeface="Comic Sans MS" panose="030F0702030302020204" pitchFamily="66" charset="0"/>
              </a:rPr>
              <a:t> generator. In Proc. SIGGRAPH ’00, 65–74.</a:t>
            </a:r>
          </a:p>
          <a:p>
            <a:pPr marL="342900" indent="-342900">
              <a:buFont typeface="+mj-lt"/>
              <a:buAutoNum type="arabicPeriod"/>
            </a:pPr>
            <a:r>
              <a:rPr lang="en-US" altLang="zh-CN" dirty="0">
                <a:solidFill>
                  <a:srgbClr val="212529"/>
                </a:solidFill>
                <a:latin typeface="Comic Sans MS" panose="030F0702030302020204" pitchFamily="66" charset="0"/>
              </a:rPr>
              <a:t>Heitz, E. 2014. Understanding the masking-shadowing function in microfacet-based BRDFs. Journal of Computer Graphics Techniques (JCGT) 3 (2), 32–91.</a:t>
            </a:r>
          </a:p>
        </p:txBody>
      </p:sp>
    </p:spTree>
    <p:extLst>
      <p:ext uri="{BB962C8B-B14F-4D97-AF65-F5344CB8AC3E}">
        <p14:creationId xmlns:p14="http://schemas.microsoft.com/office/powerpoint/2010/main" val="94461882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B679B-E67B-0E70-5DAD-79536FDCC4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7F47B2D-1B2B-4439-CBDE-4A62CB0C6867}"/>
              </a:ext>
            </a:extLst>
          </p:cNvPr>
          <p:cNvSpPr>
            <a:spLocks noGrp="1"/>
          </p:cNvSpPr>
          <p:nvPr>
            <p:ph type="title" idx="1"/>
          </p:nvPr>
        </p:nvSpPr>
        <p:spPr/>
        <p:txBody>
          <a:bodyPr/>
          <a:lstStyle/>
          <a:p>
            <a:r>
              <a:rPr lang="en-US" altLang="zh-CN" dirty="0"/>
              <a:t>References</a:t>
            </a:r>
            <a:endParaRPr lang="zh-CN" altLang="en-US" dirty="0"/>
          </a:p>
        </p:txBody>
      </p:sp>
      <p:sp>
        <p:nvSpPr>
          <p:cNvPr id="3" name="内容占位符 2">
            <a:extLst>
              <a:ext uri="{FF2B5EF4-FFF2-40B4-BE49-F238E27FC236}">
                <a16:creationId xmlns:a16="http://schemas.microsoft.com/office/drawing/2014/main" id="{8DB8E9BC-B7F2-0907-9BC2-D275257D1B5B}"/>
              </a:ext>
            </a:extLst>
          </p:cNvPr>
          <p:cNvSpPr>
            <a:spLocks noGrp="1"/>
          </p:cNvSpPr>
          <p:nvPr>
            <p:ph idx="3"/>
          </p:nvPr>
        </p:nvSpPr>
        <p:spPr/>
        <p:txBody>
          <a:bodyPr/>
          <a:lstStyle/>
          <a:p>
            <a:pPr marL="342900" indent="-342900">
              <a:buFont typeface="+mj-lt"/>
              <a:buAutoNum type="arabicPeriod" startAt="6"/>
            </a:pPr>
            <a:r>
              <a:rPr lang="en-US" altLang="zh-CN" dirty="0">
                <a:solidFill>
                  <a:srgbClr val="212529"/>
                </a:solidFill>
                <a:latin typeface="Comic Sans MS" panose="030F0702030302020204" pitchFamily="66" charset="0"/>
              </a:rPr>
              <a:t>VAN GINNEKEN, B., STAVRIDI, M., AND KOENDERINK, J. J. 1998. Diffuse and specular reflectance from rough surfaces. Appl. Opt. 37, 1 (Jan), 130–139.</a:t>
            </a:r>
          </a:p>
          <a:p>
            <a:pPr marL="342900" indent="-342900">
              <a:buFont typeface="+mj-lt"/>
              <a:buAutoNum type="arabicPeriod" startAt="6"/>
            </a:pPr>
            <a:r>
              <a:rPr lang="en-US" altLang="zh-CN" dirty="0">
                <a:solidFill>
                  <a:srgbClr val="212529"/>
                </a:solidFill>
                <a:latin typeface="Comic Sans MS" panose="030F0702030302020204" pitchFamily="66" charset="0"/>
              </a:rPr>
              <a:t>HEITZ, E., BOURLIER, C., AND PINEL, N. 2013. Correlation effect between transmitter and receiver azimuthal directions on the illumination function from a random rough surface. Waves in Random and Complex Media 23, 3, 318–335.</a:t>
            </a:r>
          </a:p>
          <a:p>
            <a:pPr marL="342900" indent="-342900">
              <a:buFont typeface="+mj-lt"/>
              <a:buAutoNum type="arabicPeriod" startAt="6"/>
            </a:pPr>
            <a:r>
              <a:rPr lang="en-US" altLang="zh-CN" dirty="0">
                <a:solidFill>
                  <a:srgbClr val="212529"/>
                </a:solidFill>
                <a:latin typeface="Comic Sans MS" panose="030F0702030302020204" pitchFamily="66" charset="0"/>
              </a:rPr>
              <a:t>Heitz, E. 2018. Sampling the GGX distribution of visible </a:t>
            </a:r>
            <a:r>
              <a:rPr lang="en-US" altLang="zh-CN" dirty="0" err="1">
                <a:solidFill>
                  <a:srgbClr val="212529"/>
                </a:solidFill>
                <a:latin typeface="Comic Sans MS" panose="030F0702030302020204" pitchFamily="66" charset="0"/>
              </a:rPr>
              <a:t>normals</a:t>
            </a:r>
            <a:r>
              <a:rPr lang="en-US" altLang="zh-CN" dirty="0">
                <a:solidFill>
                  <a:srgbClr val="212529"/>
                </a:solidFill>
                <a:latin typeface="Comic Sans MS" panose="030F0702030302020204" pitchFamily="66" charset="0"/>
              </a:rPr>
              <a:t>. Journal of Computer Graphics Techniques (JCGT) 7 (4), 1–13.</a:t>
            </a:r>
          </a:p>
        </p:txBody>
      </p:sp>
    </p:spTree>
    <p:extLst>
      <p:ext uri="{BB962C8B-B14F-4D97-AF65-F5344CB8AC3E}">
        <p14:creationId xmlns:p14="http://schemas.microsoft.com/office/powerpoint/2010/main" val="36782751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RkMDIwMzk2MDA3NTJlMDQ4NWFlNWE0Y2ViMGY0MTMifQ=="/>
</p:tagLst>
</file>

<file path=ppt/tags/tag2.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0*i*1"/>
  <p:tag name="KSO_WM_UNIT_LAYERLEVEL" val="1"/>
  <p:tag name="KSO_WM_TAG_VERSION" val="3.0"/>
  <p:tag name="KSO_WM_UNIT_TYPE" val="i"/>
  <p:tag name="KSO_WM_UNIT_INDEX" val="1"/>
  <p:tag name="KSO_WM_UNIT_CONTENT_GROUP_TYPE" val="titlestyle"/>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0314"/>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0314"/>
</p:tagLst>
</file>

<file path=ppt/tags/tag9.xml><?xml version="1.0" encoding="utf-8"?>
<p:tagLst xmlns:a="http://schemas.openxmlformats.org/drawingml/2006/main" xmlns:r="http://schemas.openxmlformats.org/officeDocument/2006/relationships"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314"/>
  <p:tag name="KSO_WM_SPECIAL_SOURCE" val="bdnull"/>
  <p:tag name="KSO_WM_TEMPLATE_THUMBS_INDEX" val="1、9"/>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Lst>
</file>

<file path=ppt/tags/tag11.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Lst>
</file>

<file path=ppt/tags/tag12.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4"/>
  <p:tag name="KSO_WM_UNIT_ID" val="_1*i*4"/>
  <p:tag name="KSO_WM_UNIT_LAYERLEVEL" val="1"/>
  <p:tag name="KSO_WM_TAG_VERSION" val="3.0"/>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6"/>
  <p:tag name="KSO_WM_UNIT_ID" val="_1*i*6"/>
  <p:tag name="KSO_WM_UNIT_LAYERLEVEL" val="1"/>
  <p:tag name="KSO_WM_TAG_VERSION" val="3.0"/>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7"/>
  <p:tag name="KSO_WM_UNIT_ID" val="_1*i*7"/>
  <p:tag name="KSO_WM_UNIT_LAYERLEVEL" val="1"/>
  <p:tag name="KSO_WM_TAG_VERSION" val="3.0"/>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8"/>
  <p:tag name="KSO_WM_UNIT_ID" val="_1*i*8"/>
  <p:tag name="KSO_WM_UNIT_LAYERLEVEL" val="1"/>
  <p:tag name="KSO_WM_TAG_VERSION" val="3.0"/>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9"/>
  <p:tag name="KSO_WM_UNIT_ID" val="_1*i*9"/>
  <p:tag name="KSO_WM_UNIT_LAYERLEVEL" val="1"/>
  <p:tag name="KSO_WM_TAG_VERSION" val="3.0"/>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CONTENT_GROUP_TYPE" val="contentchip"/>
  <p:tag name="KSO_WM_UNIT_TYPE" val="i"/>
  <p:tag name="KSO_WM_UNIT_INDEX" val="10"/>
  <p:tag name="KSO_WM_UNIT_ID" val="_1*i*10"/>
  <p:tag name="KSO_WM_UNIT_LAYERLEVEL" val="1"/>
  <p:tag name="KSO_WM_TAG_VERSION" val="3.0"/>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TYPE" val="i"/>
  <p:tag name="KSO_WM_UNIT_INDEX" val="11"/>
  <p:tag name="KSO_WM_UNIT_ID" val="_1*i*11"/>
  <p:tag name="KSO_WM_UNIT_LAYERLEVEL" val="1"/>
  <p:tag name="KSO_WM_TAG_VERSION" val="3.0"/>
</p:tagLst>
</file>

<file path=ppt/tags/tag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a*1"/>
  <p:tag name="KSO_WM_UNIT_LAYERLEVEL" val="1"/>
  <p:tag name="KSO_WM_TAG_VERSION" val="3.0"/>
  <p:tag name="KSO_WM_BEAUTIFY_FLAG" val="#wm#"/>
  <p:tag name="KSO_WM_UNIT_CONTENT_GROUP_TYPE" val="contentchip"/>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26.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 name="KSO_WM_UNIT_PRESET_TEXT" val="单击此处编辑母版文本样式&#10;第二级&#10;第三级&#10;第四级&#10;第五级"/>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2*i*1"/>
  <p:tag name="KSO_WM_UNIT_LAYERLEVEL" val="1"/>
  <p:tag name="KSO_WM_TAG_VERSION" val="3.0"/>
  <p:tag name="KSO_WM_UNIT_TYPE" val="i"/>
  <p:tag name="KSO_WM_UNIT_INDEX" val="1"/>
  <p:tag name="KSO_WM_UNIT_CONTENT_GROUP_TYPE" val="titlestyle"/>
</p:tagLst>
</file>

<file path=ppt/tags/tag2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此处添加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2*a*1"/>
  <p:tag name="KSO_WM_UNIT_LAYERLEVEL" val="1"/>
  <p:tag name="KSO_WM_TAG_VERSION" val="3.0"/>
  <p:tag name="KSO_WM_BEAUTIFY_FLAG" val="#wm#"/>
  <p:tag name="KSO_WM_UNIT_CONTENT_GROUP_TYPE" val="titlestyle"/>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3"/>
  <p:tag name="KSO_WM_UNIT_LAYERLEVEL" val="1"/>
  <p:tag name="KSO_WM_TAG_VERSION" val="3.0"/>
  <p:tag name="KSO_WM_UNIT_TYPE" val="i"/>
  <p:tag name="KSO_WM_UNIT_INDEX" val="3"/>
</p:tagLst>
</file>

<file path=ppt/tags/tag34.xml><?xml version="1.0" encoding="utf-8"?>
<p:tagLst xmlns:a="http://schemas.openxmlformats.org/drawingml/2006/main" xmlns:r="http://schemas.openxmlformats.org/officeDocument/2006/relationships" xmlns:p="http://schemas.openxmlformats.org/presentationml/2006/main">
  <p:tag name="KSO_WM_UNIT_ISCONTENTSTITLE" val="1"/>
  <p:tag name="KSO_WM_UNIT_ISNUMDGMTITLE" val="0"/>
  <p:tag name="KSO_WM_UNIT_PRESET_TEXT" val="目录"/>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39.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4*i*2"/>
  <p:tag name="KSO_WM_UNIT_LAYERLEVEL" val="1"/>
  <p:tag name="KSO_WM_TAG_VERSION" val="3.0"/>
  <p:tag name="KSO_WM_UNIT_TYPE" val="i"/>
  <p:tag name="KSO_WM_UNIT_INDEX" val="2"/>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3"/>
  <p:tag name="KSO_WM_UNIT_LAYERLEVEL" val="1"/>
  <p:tag name="KSO_WM_TAG_VERSION" val="3.0"/>
  <p:tag name="KSO_WM_UNIT_TYPE" val="i"/>
  <p:tag name="KSO_WM_UNIT_INDEX" val="3"/>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4"/>
  <p:tag name="KSO_WM_UNIT_LAYERLEVEL" val="1"/>
  <p:tag name="KSO_WM_TAG_VERSION" val="3.0"/>
  <p:tag name="KSO_WM_UNIT_CONTENT_GROUP_TYPE" val="contentchip"/>
  <p:tag name="KSO_WM_UNIT_TYPE" val="i"/>
  <p:tag name="KSO_WM_UNIT_INDEX" val="4"/>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5"/>
  <p:tag name="KSO_WM_UNIT_LAYERLEVEL" val="1"/>
  <p:tag name="KSO_WM_TAG_VERSION" val="3.0"/>
  <p:tag name="KSO_WM_UNIT_TYPE" val="i"/>
  <p:tag name="KSO_WM_UNIT_INDEX" val="5"/>
</p:tagLst>
</file>

<file path=ppt/tags/tag43.xml><?xml version="1.0" encoding="utf-8"?>
<p:tagLst xmlns:a="http://schemas.openxmlformats.org/drawingml/2006/main" xmlns:r="http://schemas.openxmlformats.org/officeDocument/2006/relationships" xmlns:p="http://schemas.openxmlformats.org/presentationml/2006/main">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TYPE" val="e"/>
  <p:tag name="KSO_WM_UNIT_INDEX" val="1"/>
  <p:tag name="KSO_WM_UNIT_ID" val="_4*e*1"/>
  <p:tag name="KSO_WM_UNIT_LAYERLEVEL" val="1"/>
  <p:tag name="KSO_WM_TAG_VERSION" val="3.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4*a*1"/>
  <p:tag name="KSO_WM_UNIT_LAYERLEVEL" val="1"/>
  <p:tag name="KSO_WM_TAG_VERSION" val="3.0"/>
  <p:tag name="KSO_WM_BEAUTIFY_FLAG" val="#wm#"/>
  <p:tag name="KSO_WM_UNIT_CONTENT_GROUP_TYPE" val="contentchip"/>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 name="KSO_WM_UNIT_PRESET_TEXT" val="单击此处编辑母版文本样式&#10;第二级&#10;第三级&#10;第四级&#10;第五级"/>
</p:tagLst>
</file>

<file path=ppt/tags/tag49.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 name="KSO_WM_UNIT_PRESET_TEXT" val="单击此处编辑母版文本样式&#10;第二级&#10;第三级&#10;第四级&#10;第五级"/>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5*i*1"/>
  <p:tag name="KSO_WM_UNIT_LAYERLEVEL" val="1"/>
  <p:tag name="KSO_WM_TAG_VERSION" val="3.0"/>
  <p:tag name="KSO_WM_UNIT_TYPE" val="i"/>
  <p:tag name="KSO_WM_UNIT_INDEX" val="1"/>
  <p:tag name="KSO_WM_UNIT_CONTENT_GROUP_TYPE" val="titlestyle"/>
</p:tagLst>
</file>

<file path=ppt/tags/tag5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5*a*1"/>
  <p:tag name="KSO_WM_UNIT_LAYERLEVEL" val="1"/>
  <p:tag name="KSO_WM_TAG_VERSION" val="3.0"/>
  <p:tag name="KSO_WM_BEAUTIFY_FLAG" val="#wm#"/>
  <p:tag name="KSO_WM_UNIT_CONTENT_GROUP_TYPE" val="titlestyle"/>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 name="KSO_WM_UNIT_PRESET_TEXT" val="单击此处编辑母版文本样式&#10;第二级&#10;第三级&#10;第四级&#10;第五级"/>
</p:tagLst>
</file>

<file path=ppt/tags/tag5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 name="KSO_WM_UNIT_PRESET_TEXT" val="单击此处编辑母版文本样式&#10;第二级&#10;第三级&#10;第四级&#10;第五级"/>
</p:tagLst>
</file>

<file path=ppt/tags/tag5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6*i*1"/>
  <p:tag name="KSO_WM_UNIT_LAYERLEVEL" val="1"/>
  <p:tag name="KSO_WM_TAG_VERSION" val="3.0"/>
  <p:tag name="KSO_WM_UNIT_TYPE" val="i"/>
  <p:tag name="KSO_WM_UNIT_INDEX" val="1"/>
  <p:tag name="KSO_WM_UNIT_CONTENT_GROUP_TYPE" val="titlestyle"/>
</p:tagLst>
</file>

<file path=ppt/tags/tag6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6*a*1"/>
  <p:tag name="KSO_WM_UNIT_LAYERLEVEL" val="1"/>
  <p:tag name="KSO_WM_TAG_VERSION" val="3.0"/>
  <p:tag name="KSO_WM_BEAUTIFY_FLAG" val="#wm#"/>
  <p:tag name="KSO_WM_UNIT_CONTENT_GROUP_TYPE" val="titlestyle"/>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7*i*1"/>
  <p:tag name="KSO_WM_UNIT_LAYERLEVEL" val="1"/>
  <p:tag name="KSO_WM_TAG_VERSION" val="3.0"/>
  <p:tag name="KSO_WM_UNIT_TYPE" val="i"/>
  <p:tag name="KSO_WM_UNIT_INDEX" val="1"/>
  <p:tag name="KSO_WM_UNIT_CONTENT_GROUP_TYPE" val="titlestyle"/>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7*a*1"/>
  <p:tag name="KSO_WM_UNIT_LAYERLEVEL" val="1"/>
  <p:tag name="KSO_WM_TAG_VERSION" val="3.0"/>
  <p:tag name="KSO_WM_BEAUTIFY_FLAG" val="#wm#"/>
  <p:tag name="KSO_WM_UNIT_CONTENT_GROUP_TYPE" val="titlestyle"/>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8*i*1"/>
  <p:tag name="KSO_WM_UNIT_LAYERLEVEL" val="1"/>
  <p:tag name="KSO_WM_TAG_VERSION" val="3.0"/>
  <p:tag name="KSO_WM_UNIT_TYPE" val="i"/>
  <p:tag name="KSO_WM_UNIT_INDEX" val="1"/>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SUBTYPE" val="a"/>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 name="KSO_WM_UNIT_PRESET_TEXT" val="单击此处编辑母版文本样式&#10;第二级&#10;第三级&#10;第四级&#10;第五级"/>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9*i*1"/>
  <p:tag name="KSO_WM_UNIT_LAYERLEVEL" val="1"/>
  <p:tag name="KSO_WM_TAG_VERSION" val="3.0"/>
  <p:tag name="KSO_WM_UNIT_TYPE" val="i"/>
  <p:tag name="KSO_WM_UNIT_INDEX" val="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0*i*1"/>
  <p:tag name="KSO_WM_UNIT_LAYERLEVEL" val="1"/>
  <p:tag name="KSO_WM_TAG_VERSION" val="3.0"/>
  <p:tag name="KSO_WM_UNIT_CONTENT_GROUP_TYPE" val="titlestyle"/>
  <p:tag name="KSO_WM_UNIT_TYPE" val="i"/>
  <p:tag name="KSO_WM_UNIT_INDEX" val="1"/>
</p:tagLst>
</file>

<file path=ppt/tags/tag7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单击选择预设副标题"/>
  <p:tag name="KSO_WM_UNIT_NOCLEAR" val="0"/>
  <p:tag name="KSO_WM_UNIT_VALUE" val="17"/>
  <p:tag name="KSO_WM_UNIT_HIGHLIGHT" val="0"/>
  <p:tag name="KSO_WM_UNIT_COMPATIBLE" val="0"/>
  <p:tag name="KSO_WM_UNIT_DIAGRAM_ISNUMVISUAL" val="0"/>
  <p:tag name="KSO_WM_UNIT_DIAGRAM_ISREFERUNIT" val="0"/>
  <p:tag name="KSO_WM_UNIT_TYPE" val="b"/>
  <p:tag name="KSO_WM_UNIT_INDEX" val="1"/>
  <p:tag name="KSO_WM_UNIT_ID" val="_10*b*1"/>
  <p:tag name="KSO_WM_UNIT_LAYERLEVEL" val="1"/>
  <p:tag name="KSO_WM_TAG_VERSION" val="3.0"/>
  <p:tag name="KSO_WM_BEAUTIFY_FLAG" val="#wm#"/>
  <p:tag name="KSO_WM_UNIT_CONTENT_GROUP_TYPE" val="titlestyle"/>
</p:tagLst>
</file>

<file path=ppt/tags/tag8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正文页-预设标题"/>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0*a*1"/>
  <p:tag name="KSO_WM_UNIT_LAYERLEVEL" val="1"/>
  <p:tag name="KSO_WM_TAG_VERSION" val="3.0"/>
  <p:tag name="KSO_WM_BEAUTIFY_FLAG" val="#wm#"/>
  <p:tag name="KSO_WM_UNIT_CONTENT_GROUP_TYPE" val="titlestyle"/>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UNIT_TYPE" val="i"/>
  <p:tag name="KSO_WM_UNIT_INDEX" val="1"/>
</p:tagLst>
</file>

<file path=ppt/tags/tag85.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86.xml><?xml version="1.0" encoding="utf-8"?>
<p:tagLst xmlns:a="http://schemas.openxmlformats.org/drawingml/2006/main" xmlns:r="http://schemas.openxmlformats.org/officeDocument/2006/relationships"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14"/>
  <p:tag name="KSO_WM_UNIT_TEXT_FILL_FORE_SCHEMECOLOR_INDEX_BRIGHTNESS" val="0"/>
  <p:tag name="KSO_WM_UNIT_TEXT_FILL_FORE_SCHEMECOLOR_INDEX" val="2"/>
  <p:tag name="KSO_WM_UNIT_TEXT_FILL_TYPE" val="1"/>
  <p:tag name="KSO_WM_BEAUTIFY_FLAG" val="#wm#"/>
  <p:tag name="KSO_WM_UNIT_HIGHLIGHT" val="0"/>
  <p:tag name="KSO_WM_UNIT_COMPATIBLE" val="0"/>
  <p:tag name="KSO_WM_UNIT_DIAGRAM_ISNUMVISUAL" val="0"/>
  <p:tag name="KSO_WM_UNIT_DIAGRAM_ISREFERUNIT" val="0"/>
  <p:tag name="KSO_WM_UNIT_ID" val="_11*i*3"/>
  <p:tag name="KSO_WM_UNIT_LAYERLEVEL" val="1"/>
  <p:tag name="KSO_WM_TAG_VERSION" val="3.0"/>
  <p:tag name="KSO_WM_UNIT_TYPE" val="i"/>
  <p:tag name="KSO_WM_UNIT_INDEX" val="3"/>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4"/>
  <p:tag name="KSO_WM_UNIT_LAYERLEVEL" val="1"/>
  <p:tag name="KSO_WM_TAG_VERSION" val="3.0"/>
  <p:tag name="KSO_WM_UNIT_CONTENT_GROUP_TYPE" val="contentchip"/>
  <p:tag name="KSO_WM_UNIT_TYPE" val="i"/>
  <p:tag name="KSO_WM_UNIT_INDEX" val="4"/>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5"/>
  <p:tag name="KSO_WM_UNIT_LAYERLEVEL" val="1"/>
  <p:tag name="KSO_WM_TAG_VERSION" val="3.0"/>
  <p:tag name="KSO_WM_UNIT_TYPE" val="i"/>
  <p:tag name="KSO_WM_UNIT_INDEX" val="5"/>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6"/>
  <p:tag name="KSO_WM_UNIT_LAYERLEVEL" val="1"/>
  <p:tag name="KSO_WM_TAG_VERSION" val="3.0"/>
  <p:tag name="KSO_WM_UNIT_TYPE" val="i"/>
  <p:tag name="KSO_WM_UNIT_INDEX" val="6"/>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7"/>
  <p:tag name="KSO_WM_UNIT_LAYERLEVEL" val="1"/>
  <p:tag name="KSO_WM_TAG_VERSION" val="3.0"/>
  <p:tag name="KSO_WM_UNIT_TYPE" val="i"/>
  <p:tag name="KSO_WM_UNIT_INDEX" val="7"/>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8"/>
  <p:tag name="KSO_WM_UNIT_LAYERLEVEL" val="1"/>
  <p:tag name="KSO_WM_TAG_VERSION" val="3.0"/>
  <p:tag name="KSO_WM_UNIT_CONTENT_GROUP_TYPE" val="contentchip"/>
  <p:tag name="KSO_WM_UNIT_TYPE" val="i"/>
  <p:tag name="KSO_WM_UNIT_INDEX" val="8"/>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9"/>
  <p:tag name="KSO_WM_UNIT_LAYERLEVEL" val="1"/>
  <p:tag name="KSO_WM_TAG_VERSION" val="3.0"/>
  <p:tag name="KSO_WM_UNIT_CONTENT_GROUP_TYPE" val="contentchip"/>
  <p:tag name="KSO_WM_UNIT_TYPE" val="i"/>
  <p:tag name="KSO_WM_UNIT_INDEX" val="9"/>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0"/>
  <p:tag name="KSO_WM_UNIT_LAYERLEVEL" val="1"/>
  <p:tag name="KSO_WM_TAG_VERSION" val="3.0"/>
  <p:tag name="KSO_WM_UNIT_CONTENT_GROUP_TYPE" val="contentchip"/>
  <p:tag name="KSO_WM_UNIT_TYPE" val="i"/>
  <p:tag name="KSO_WM_UNIT_INDEX" val="10"/>
</p:tagLst>
</file>

<file path=ppt/tags/tag9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11"/>
  <p:tag name="KSO_WM_UNIT_LAYERLEVEL" val="1"/>
  <p:tag name="KSO_WM_TAG_VERSION" val="3.0"/>
  <p:tag name="KSO_WM_UNIT_TYPE" val="i"/>
  <p:tag name="KSO_WM_UNIT_INDEX" val="11"/>
</p:tagLst>
</file>

<file path=ppt/tags/tag9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THANK  YOU"/>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_11*a*1"/>
  <p:tag name="KSO_WM_UNIT_LAYERLEVEL" val="1"/>
  <p:tag name="KSO_WM_TAG_VERSION" val="3.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100.xml><?xml version="1.0" encoding="utf-8"?>
<p:tagLst xmlns:a="http://schemas.openxmlformats.org/drawingml/2006/main" xmlns:r="http://schemas.openxmlformats.org/officeDocument/2006/relationships" xmlns:p="http://schemas.openxmlformats.org/presentationml/2006/main">
  <p:tag name="KSO_WM_SLIDE_ID" val="custom20230314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0314"/>
  <p:tag name="KSO_WM_SLIDE_TYPE" val="title"/>
  <p:tag name="KSO_WM_SLIDE_SUBTYPE" val="pureTxt"/>
  <p:tag name="KSO_WM_SLIDE_LAYOUT" val="a_f"/>
  <p:tag name="KSO_WM_SLIDE_LAYOUT_CNT" val="1_1"/>
  <p:tag name="KSO_WM_SPECIAL_SOURCE" val="bdnull"/>
  <p:tag name="KSO_WM_TEMPLATE_THUMBS_INDEX" val="1、9"/>
  <p:tag name="KSO_WM_SLIDE_CONTENT_AREA" val="{&quot;left&quot;:&quot;173.7&quot;,&quot;top&quot;:&quot;78.5&quot;,&quot;width&quot;:&quot;702.55&quot;,&quot;height&quot;:&quot;350.15&quot;}"/>
</p:tagLst>
</file>

<file path=ppt/tags/tag10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30314_1*a*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单击添加文档标题"/>
</p:tagLst>
</file>

<file path=ppt/tags/tag102.xml><?xml version="1.0" encoding="utf-8"?>
<p:tagLst xmlns:a="http://schemas.openxmlformats.org/drawingml/2006/main" xmlns:r="http://schemas.openxmlformats.org/officeDocument/2006/relationships"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custom20230314_1*f*1"/>
  <p:tag name="KSO_WM_TEMPLATE_CATEGORY" val="custom"/>
  <p:tag name="KSO_WM_TEMPLATE_INDEX" val="20230314"/>
  <p:tag name="KSO_WM_UNIT_LAYERLEVEL" val="1"/>
  <p:tag name="KSO_WM_TAG_VERSION" val="3.0"/>
  <p:tag name="KSO_WM_BEAUTIFY_FLAG" val="#wm#"/>
  <p:tag name="KSO_WM_UNIT_CONTENT_GROUP_TYPE" val="contentchip"/>
  <p:tag name="KSO_WM_UNIT_PRESET_TEXT" val="汇报人：WPS"/>
</p:tagLst>
</file>

<file path=ppt/theme/theme1.xml><?xml version="1.0" encoding="utf-8"?>
<a:theme xmlns:a="http://schemas.openxmlformats.org/drawingml/2006/main" name="Office 主题">
  <a:themeElements>
    <a:clrScheme name="自定义 23">
      <a:dk1>
        <a:srgbClr val="000000"/>
      </a:dk1>
      <a:lt1>
        <a:srgbClr val="FFFFFF"/>
      </a:lt1>
      <a:dk2>
        <a:srgbClr val="011163"/>
      </a:dk2>
      <a:lt2>
        <a:srgbClr val="FFFFFF"/>
      </a:lt2>
      <a:accent1>
        <a:srgbClr val="4864FC"/>
      </a:accent1>
      <a:accent2>
        <a:srgbClr val="6C5EDE"/>
      </a:accent2>
      <a:accent3>
        <a:srgbClr val="9059BF"/>
      </a:accent3>
      <a:accent4>
        <a:srgbClr val="B453A1"/>
      </a:accent4>
      <a:accent5>
        <a:srgbClr val="D84E82"/>
      </a:accent5>
      <a:accent6>
        <a:srgbClr val="FC4864"/>
      </a:accent6>
      <a:hlink>
        <a:srgbClr val="0563C1"/>
      </a:hlink>
      <a:folHlink>
        <a:srgbClr val="954D72"/>
      </a:folHlink>
    </a:clrScheme>
    <a:fontScheme name="自定义 18">
      <a:majorFont>
        <a:latin typeface="MiSans Heavy"/>
        <a:ea typeface="MiSans Heavy"/>
        <a:cs typeface=""/>
      </a:majorFont>
      <a:minorFont>
        <a:latin typeface="MiSans Normal"/>
        <a:ea typeface="MiSans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10600</TotalTime>
  <Words>9007</Words>
  <Application>Microsoft Office PowerPoint</Application>
  <PresentationFormat>宽屏</PresentationFormat>
  <Paragraphs>829</Paragraphs>
  <Slides>71</Slides>
  <Notes>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71</vt:i4>
      </vt:variant>
    </vt:vector>
  </HeadingPairs>
  <TitlesOfParts>
    <vt:vector size="80" baseType="lpstr">
      <vt:lpstr>Domine</vt:lpstr>
      <vt:lpstr>MiSans Heavy</vt:lpstr>
      <vt:lpstr>MiSans Normal</vt:lpstr>
      <vt:lpstr>Arial</vt:lpstr>
      <vt:lpstr>Calibri</vt:lpstr>
      <vt:lpstr>Cambria Math</vt:lpstr>
      <vt:lpstr>Comic Sans MS</vt:lpstr>
      <vt:lpstr>Wingdings</vt:lpstr>
      <vt:lpstr>Office 主题</vt:lpstr>
      <vt:lpstr>CPU软渲染 路径追踪渲染器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姚骞深</dc:creator>
  <cp:lastModifiedBy>骞深 姚</cp:lastModifiedBy>
  <cp:revision>680</cp:revision>
  <dcterms:created xsi:type="dcterms:W3CDTF">2023-08-09T12:44:00Z</dcterms:created>
  <dcterms:modified xsi:type="dcterms:W3CDTF">2025-04-13T02:26:48Z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2052-12.1.0.17147</vt:lpwstr>
  </property>
</Properties>
</file>