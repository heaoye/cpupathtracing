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2.xml" ContentType="application/vnd.openxmlformats-officedocument.them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0"/>
  </p:notesMasterIdLst>
  <p:sldIdLst>
    <p:sldId id="257" r:id="rId2"/>
    <p:sldId id="262" r:id="rId3"/>
    <p:sldId id="271" r:id="rId4"/>
    <p:sldId id="270" r:id="rId5"/>
    <p:sldId id="272" r:id="rId6"/>
    <p:sldId id="274" r:id="rId7"/>
    <p:sldId id="275" r:id="rId8"/>
    <p:sldId id="277" r:id="rId9"/>
    <p:sldId id="278" r:id="rId10"/>
    <p:sldId id="279" r:id="rId11"/>
    <p:sldId id="280" r:id="rId12"/>
    <p:sldId id="281" r:id="rId13"/>
    <p:sldId id="282" r:id="rId14"/>
    <p:sldId id="284" r:id="rId15"/>
    <p:sldId id="286" r:id="rId16"/>
    <p:sldId id="293" r:id="rId17"/>
    <p:sldId id="289" r:id="rId18"/>
    <p:sldId id="305" r:id="rId19"/>
    <p:sldId id="306" r:id="rId20"/>
    <p:sldId id="309" r:id="rId21"/>
    <p:sldId id="324" r:id="rId22"/>
    <p:sldId id="288" r:id="rId23"/>
    <p:sldId id="294" r:id="rId24"/>
    <p:sldId id="295" r:id="rId25"/>
    <p:sldId id="296" r:id="rId26"/>
    <p:sldId id="353" r:id="rId27"/>
    <p:sldId id="312" r:id="rId28"/>
    <p:sldId id="341" r:id="rId29"/>
    <p:sldId id="330" r:id="rId30"/>
    <p:sldId id="337" r:id="rId31"/>
    <p:sldId id="336" r:id="rId32"/>
    <p:sldId id="342" r:id="rId33"/>
    <p:sldId id="340" r:id="rId34"/>
    <p:sldId id="339" r:id="rId35"/>
    <p:sldId id="327" r:id="rId36"/>
    <p:sldId id="344" r:id="rId37"/>
    <p:sldId id="345" r:id="rId38"/>
    <p:sldId id="347" r:id="rId39"/>
    <p:sldId id="350" r:id="rId40"/>
    <p:sldId id="351" r:id="rId41"/>
    <p:sldId id="380" r:id="rId42"/>
    <p:sldId id="381" r:id="rId43"/>
    <p:sldId id="383" r:id="rId44"/>
    <p:sldId id="385" r:id="rId45"/>
    <p:sldId id="387" r:id="rId46"/>
    <p:sldId id="388" r:id="rId47"/>
    <p:sldId id="390" r:id="rId48"/>
    <p:sldId id="412" r:id="rId49"/>
    <p:sldId id="363" r:id="rId50"/>
    <p:sldId id="366" r:id="rId51"/>
    <p:sldId id="369" r:id="rId52"/>
    <p:sldId id="371" r:id="rId53"/>
    <p:sldId id="376" r:id="rId54"/>
    <p:sldId id="370" r:id="rId55"/>
    <p:sldId id="391" r:id="rId56"/>
    <p:sldId id="392" r:id="rId57"/>
    <p:sldId id="393" r:id="rId58"/>
    <p:sldId id="405" r:id="rId59"/>
    <p:sldId id="399" r:id="rId60"/>
    <p:sldId id="406" r:id="rId61"/>
    <p:sldId id="402" r:id="rId62"/>
    <p:sldId id="403" r:id="rId63"/>
    <p:sldId id="404" r:id="rId64"/>
    <p:sldId id="408" r:id="rId65"/>
    <p:sldId id="409" r:id="rId66"/>
    <p:sldId id="410" r:id="rId67"/>
    <p:sldId id="413" r:id="rId68"/>
    <p:sldId id="411" r:id="rId69"/>
    <p:sldId id="414" r:id="rId70"/>
    <p:sldId id="417" r:id="rId71"/>
    <p:sldId id="418" r:id="rId72"/>
    <p:sldId id="419" r:id="rId73"/>
    <p:sldId id="420" r:id="rId74"/>
    <p:sldId id="421" r:id="rId75"/>
    <p:sldId id="423" r:id="rId76"/>
    <p:sldId id="424" r:id="rId77"/>
    <p:sldId id="425" r:id="rId78"/>
    <p:sldId id="426" r:id="rId79"/>
    <p:sldId id="433" r:id="rId80"/>
    <p:sldId id="427" r:id="rId81"/>
    <p:sldId id="430" r:id="rId82"/>
    <p:sldId id="428" r:id="rId83"/>
    <p:sldId id="429" r:id="rId84"/>
    <p:sldId id="431" r:id="rId85"/>
    <p:sldId id="445" r:id="rId86"/>
    <p:sldId id="446" r:id="rId87"/>
    <p:sldId id="448" r:id="rId88"/>
    <p:sldId id="449" r:id="rId89"/>
  </p:sldIdLst>
  <p:sldSz cx="12192000" cy="6858000"/>
  <p:notesSz cx="6858000" cy="9144000"/>
  <p:custDataLst>
    <p:tags r:id="rId9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6409"/>
    <a:srgbClr val="163980"/>
    <a:srgbClr val="008000"/>
    <a:srgbClr val="3928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22" autoAdjust="0"/>
    <p:restoredTop sz="94660"/>
  </p:normalViewPr>
  <p:slideViewPr>
    <p:cSldViewPr snapToGrid="0">
      <p:cViewPr varScale="1">
        <p:scale>
          <a:sx n="99" d="100"/>
          <a:sy n="99" d="100"/>
        </p:scale>
        <p:origin x="448"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ommentAuthors" Target="commentAuthor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slideMaster" Target="../slideMasters/slideMaster1.xml"/><Relationship Id="rId2" Type="http://schemas.openxmlformats.org/officeDocument/2006/relationships/tags" Target="../tags/tag11.xml"/><Relationship Id="rId16" Type="http://schemas.openxmlformats.org/officeDocument/2006/relationships/tags" Target="../tags/tag25.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5" Type="http://schemas.openxmlformats.org/officeDocument/2006/relationships/tags" Target="../tags/tag14.xml"/><Relationship Id="rId15" Type="http://schemas.openxmlformats.org/officeDocument/2006/relationships/tags" Target="../tags/tag24.xml"/><Relationship Id="rId10" Type="http://schemas.openxmlformats.org/officeDocument/2006/relationships/tags" Target="../tags/tag19.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slideMaster" Target="../slideMasters/slideMaster1.xml"/><Relationship Id="rId5" Type="http://schemas.openxmlformats.org/officeDocument/2006/relationships/tags" Target="../tags/tag4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s>
</file>

<file path=ppt/slideLayouts/_rels/slideLayout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slideMaster" Target="../slideMasters/slideMaster1.xml"/><Relationship Id="rId4" Type="http://schemas.openxmlformats.org/officeDocument/2006/relationships/tags" Target="../tags/tag58.xml"/><Relationship Id="rId9" Type="http://schemas.openxmlformats.org/officeDocument/2006/relationships/tags" Target="../tags/tag63.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Master" Target="../slideMasters/slideMaster1.xml"/><Relationship Id="rId4"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Master" Target="../slideMasters/slideMaster1.xml"/><Relationship Id="rId5" Type="http://schemas.openxmlformats.org/officeDocument/2006/relationships/tags" Target="../tags/tag77.xml"/><Relationship Id="rId4" Type="http://schemas.openxmlformats.org/officeDocument/2006/relationships/tags" Target="../tags/tag76.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slideMaster" Target="../slideMasters/slideMaster1.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tags" Target="../tags/tag96.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tags" Target="../tags/tag95.xml"/><Relationship Id="rId17" Type="http://schemas.openxmlformats.org/officeDocument/2006/relationships/slideMaster" Target="../slideMasters/slideMaster1.xml"/><Relationship Id="rId2" Type="http://schemas.openxmlformats.org/officeDocument/2006/relationships/tags" Target="../tags/tag85.xml"/><Relationship Id="rId16" Type="http://schemas.openxmlformats.org/officeDocument/2006/relationships/tags" Target="../tags/tag99.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5" Type="http://schemas.openxmlformats.org/officeDocument/2006/relationships/tags" Target="../tags/tag98.xml"/><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tags" Target="../tags/tag9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15" name="任意多边形 14"/>
          <p:cNvSpPr/>
          <p:nvPr>
            <p:custDataLst>
              <p:tags r:id="rId1"/>
            </p:custDataLst>
          </p:nvPr>
        </p:nvSpPr>
        <p:spPr>
          <a:xfrm>
            <a:off x="-14605" y="0"/>
            <a:ext cx="6006465" cy="6858000"/>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2" name="任意多边形 11"/>
          <p:cNvSpPr/>
          <p:nvPr>
            <p:custDataLst>
              <p:tags r:id="rId2"/>
            </p:custDataLst>
          </p:nvPr>
        </p:nvSpPr>
        <p:spPr>
          <a:xfrm rot="16200000">
            <a:off x="-1383662" y="1369058"/>
            <a:ext cx="6857999"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11" name="任意多边形 10"/>
          <p:cNvSpPr/>
          <p:nvPr>
            <p:custDataLst>
              <p:tags r:id="rId3"/>
            </p:custDataLst>
          </p:nvPr>
        </p:nvSpPr>
        <p:spPr>
          <a:xfrm rot="16200000">
            <a:off x="-1331245" y="2313346"/>
            <a:ext cx="4864351" cy="223107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25" name="圆角矩形 24"/>
          <p:cNvSpPr/>
          <p:nvPr>
            <p:custDataLst>
              <p:tags r:id="rId4"/>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cxnSp>
        <p:nvCxnSpPr>
          <p:cNvPr id="10" name="直接连接符 9"/>
          <p:cNvCxnSpPr/>
          <p:nvPr>
            <p:custDataLst>
              <p:tags r:id="rId5"/>
            </p:custDataLst>
          </p:nvPr>
        </p:nvCxnSpPr>
        <p:spPr>
          <a:xfrm>
            <a:off x="11197590" y="300291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6"/>
            </p:custDataLst>
          </p:nvPr>
        </p:nvCxnSpPr>
        <p:spPr>
          <a:xfrm>
            <a:off x="11305540" y="193421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1305540" y="347662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custDataLst>
              <p:tags r:id="rId8"/>
            </p:custDataLst>
          </p:nvPr>
        </p:nvSpPr>
        <p:spPr>
          <a:xfrm>
            <a:off x="10027285" y="4343400"/>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21" name="椭圆 20"/>
          <p:cNvSpPr/>
          <p:nvPr>
            <p:custDataLst>
              <p:tags r:id="rId9"/>
            </p:custDataLst>
          </p:nvPr>
        </p:nvSpPr>
        <p:spPr>
          <a:xfrm>
            <a:off x="10133965" y="4450080"/>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90" name="向下箭头"/>
          <p:cNvSpPr/>
          <p:nvPr>
            <p:custDataLst>
              <p:tags r:id="rId10"/>
            </p:custDataLst>
          </p:nvPr>
        </p:nvSpPr>
        <p:spPr>
          <a:xfrm>
            <a:off x="10238105" y="4542790"/>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4" name="任意多边形 13"/>
          <p:cNvSpPr/>
          <p:nvPr>
            <p:custDataLst>
              <p:tags r:id="rId11"/>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7" name="标题"/>
          <p:cNvSpPr txBox="1">
            <a:spLocks noGrp="1"/>
          </p:cNvSpPr>
          <p:nvPr>
            <p:ph type="title" idx="1" hasCustomPrompt="1"/>
            <p:custDataLst>
              <p:tags r:id="rId12"/>
            </p:custDataLst>
          </p:nvPr>
        </p:nvSpPr>
        <p:spPr>
          <a:xfrm>
            <a:off x="2273300" y="1901190"/>
            <a:ext cx="8413750" cy="170942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zh-CN" altLang="en-US" sz="7200" b="0" i="0" u="none" strike="noStrike" kern="1200" cap="none" spc="0" normalizeH="0" baseline="0" noProof="1" dirty="0">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Black" panose="020B0200000000000000" pitchFamily="34" charset="-122"/>
                <a:sym typeface="+mn-ea"/>
              </a:defRPr>
            </a:lvl1pPr>
          </a:lstStyle>
          <a:p>
            <a:pPr lvl="0" algn="r">
              <a:buClrTx/>
              <a:buSzTx/>
              <a:buFontTx/>
            </a:pPr>
            <a:r>
              <a:rPr dirty="0">
                <a:sym typeface="+mn-ea"/>
              </a:rPr>
              <a:t>单击此处编辑标题</a:t>
            </a:r>
          </a:p>
        </p:txBody>
      </p:sp>
      <p:sp>
        <p:nvSpPr>
          <p:cNvPr id="4" name="日期占位符 3"/>
          <p:cNvSpPr>
            <a:spLocks noGrp="1"/>
          </p:cNvSpPr>
          <p:nvPr>
            <p:ph type="dt" sz="half" idx="10"/>
            <p:custDataLst>
              <p:tags r:id="rId13"/>
            </p:custDataLst>
          </p:nvPr>
        </p:nvSpPr>
        <p:spPr>
          <a:xfrm>
            <a:off x="612000" y="6314400"/>
            <a:ext cx="2700000" cy="316800"/>
          </a:xfrm>
        </p:spPr>
        <p:txBody>
          <a:bodyPr/>
          <a:lstStyle/>
          <a:p>
            <a:fld id="{760FBDFE-C587-4B4C-A407-44438C67B59E}" type="datetimeFigureOut">
              <a:rPr lang="zh-CN" altLang="en-US" smtClean="0"/>
              <a:t>2026/7/21</a:t>
            </a:fld>
            <a:endParaRPr lang="zh-CN" altLang="en-US"/>
          </a:p>
        </p:txBody>
      </p:sp>
      <p:sp>
        <p:nvSpPr>
          <p:cNvPr id="5" name="页脚占位符 4"/>
          <p:cNvSpPr>
            <a:spLocks noGrp="1"/>
          </p:cNvSpPr>
          <p:nvPr>
            <p:ph type="ftr" sz="quarter" idx="11"/>
            <p:custDataLst>
              <p:tags r:id="rId1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5"/>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
        <p:nvSpPr>
          <p:cNvPr id="18" name="署名占位符 10"/>
          <p:cNvSpPr>
            <a:spLocks noGrp="1"/>
          </p:cNvSpPr>
          <p:nvPr>
            <p:ph type="body" sz="quarter" idx="17" hasCustomPrompt="1"/>
            <p:custDataLst>
              <p:tags r:id="rId16"/>
            </p:custDataLst>
          </p:nvPr>
        </p:nvSpPr>
        <p:spPr>
          <a:xfrm>
            <a:off x="2273299" y="4275976"/>
            <a:ext cx="7589519" cy="656600"/>
          </a:xfrm>
        </p:spPr>
        <p:txBody>
          <a:bodyPr wrap="square" anchor="ctr">
            <a:normAutofit/>
          </a:bodyPr>
          <a:lstStyle>
            <a:lvl1pPr marL="0" indent="0" algn="r">
              <a:lnSpc>
                <a:spcPct val="100000"/>
              </a:lnSpc>
              <a:buNone/>
              <a:defRPr sz="2000" b="0">
                <a:solidFill>
                  <a:schemeClr val="tx1"/>
                </a:solidFill>
                <a:latin typeface="Noto Sans SC Black" panose="020B0200000000000000" pitchFamily="34" charset="-122"/>
                <a:ea typeface="Noto Sans SC Black" panose="020B0200000000000000" pitchFamily="34" charset="-122"/>
              </a:defRPr>
            </a:lvl1pPr>
          </a:lstStyle>
          <a:p>
            <a:pPr lvl="0"/>
            <a:r>
              <a:rPr lang="zh-CN" altLang="en-US" dirty="0"/>
              <a:t>署名</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8" name="正文"/>
          <p:cNvSpPr txBox="1">
            <a:spLocks noGrp="1"/>
          </p:cNvSpPr>
          <p:nvPr>
            <p:ph idx="3"/>
            <p:custDataLst>
              <p:tags r:id="rId1"/>
            </p:custDataLst>
          </p:nvPr>
        </p:nvSpPr>
        <p:spPr>
          <a:xfrm>
            <a:off x="695960" y="1245235"/>
            <a:ext cx="10800080" cy="493141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dirty="0">
                <a:sym typeface="+mn-ea"/>
              </a:rPr>
              <a:t>单击此处编辑母版文本样式</a:t>
            </a:r>
          </a:p>
          <a:p>
            <a:pPr lvl="1">
              <a:spcBef>
                <a:spcPts val="1200"/>
              </a:spcBef>
              <a:spcAft>
                <a:spcPts val="0"/>
              </a:spcAft>
            </a:pPr>
            <a:r>
              <a:rPr dirty="0" err="1">
                <a:sym typeface="+mn-ea"/>
              </a:rPr>
              <a:t>第二级</a:t>
            </a:r>
            <a:endParaRPr dirty="0">
              <a:sym typeface="+mn-ea"/>
            </a:endParaRPr>
          </a:p>
          <a:p>
            <a:pPr lvl="2">
              <a:spcBef>
                <a:spcPts val="1200"/>
              </a:spcBef>
              <a:spcAft>
                <a:spcPts val="0"/>
              </a:spcAft>
            </a:pPr>
            <a:r>
              <a:rPr dirty="0" err="1">
                <a:sym typeface="+mn-ea"/>
              </a:rPr>
              <a:t>第三级</a:t>
            </a:r>
            <a:endParaRPr dirty="0">
              <a:sym typeface="+mn-ea"/>
            </a:endParaRPr>
          </a:p>
          <a:p>
            <a:pPr lvl="3">
              <a:spcBef>
                <a:spcPts val="1200"/>
              </a:spcBef>
              <a:spcAft>
                <a:spcPts val="0"/>
              </a:spcAft>
            </a:pPr>
            <a:r>
              <a:rPr dirty="0" err="1">
                <a:sym typeface="+mn-ea"/>
              </a:rPr>
              <a:t>第四级</a:t>
            </a:r>
            <a:endParaRPr dirty="0">
              <a:sym typeface="+mn-ea"/>
            </a:endParaRPr>
          </a:p>
          <a:p>
            <a:pPr lvl="4">
              <a:spcBef>
                <a:spcPts val="1200"/>
              </a:spcBef>
              <a:spcAft>
                <a:spcPts val="0"/>
              </a:spcAft>
            </a:pPr>
            <a:r>
              <a:rPr dirty="0" err="1">
                <a:sym typeface="+mn-ea"/>
              </a:rPr>
              <a:t>第五级</a:t>
            </a:r>
            <a:endParaRPr dirty="0">
              <a:sym typeface="+mn-ea"/>
            </a:endParaRPr>
          </a:p>
        </p:txBody>
      </p:sp>
      <p:sp>
        <p:nvSpPr>
          <p:cNvPr id="14" name="任意多边形 13"/>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7" name="标题"/>
          <p:cNvSpPr>
            <a:spLocks noGrp="1"/>
          </p:cNvSpPr>
          <p:nvPr>
            <p:ph type="title" idx="1"/>
            <p:custDataLst>
              <p:tags r:id="rId3"/>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r>
              <a:rPr dirty="0">
                <a:sym typeface="+mn-ea"/>
              </a:rPr>
              <a:t>单击此处编辑母版标题样式</a:t>
            </a:r>
          </a:p>
        </p:txBody>
      </p:sp>
      <p:sp>
        <p:nvSpPr>
          <p:cNvPr id="4" name="日期占位符 3"/>
          <p:cNvSpPr>
            <a:spLocks noGrp="1"/>
          </p:cNvSpPr>
          <p:nvPr>
            <p:ph type="dt" sz="half" idx="10"/>
            <p:custDataLst>
              <p:tags r:id="rId4"/>
            </p:custDataLst>
          </p:nvPr>
        </p:nvSpPr>
        <p:spPr>
          <a:xfrm>
            <a:off x="694055" y="6314440"/>
            <a:ext cx="2618105" cy="316865"/>
          </a:xfrm>
        </p:spPr>
        <p:txBody>
          <a:bodyPr/>
          <a:lstStyle/>
          <a:p>
            <a:fld id="{760FBDFE-C587-4B4C-A407-44438C67B59E}" type="datetimeFigureOut">
              <a:rPr lang="zh-CN" altLang="en-US" smtClean="0"/>
              <a:t>2026/7/21</a:t>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cxnSp>
        <p:nvCxnSpPr>
          <p:cNvPr id="60" name="直接连接符 59"/>
          <p:cNvCxnSpPr/>
          <p:nvPr>
            <p:custDataLst>
              <p:tags r:id="rId1"/>
            </p:custDataLst>
          </p:nvPr>
        </p:nvCxnSpPr>
        <p:spPr>
          <a:xfrm>
            <a:off x="3509010" y="1475105"/>
            <a:ext cx="0" cy="4572000"/>
          </a:xfrm>
          <a:prstGeom prst="line">
            <a:avLst/>
          </a:prstGeom>
          <a:ln>
            <a:solidFill>
              <a:schemeClr val="bg2">
                <a:lumMod val="50000"/>
                <a:alpha val="2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任意多边形 7"/>
          <p:cNvSpPr/>
          <p:nvPr>
            <p:custDataLst>
              <p:tags r:id="rId2"/>
            </p:custDataLst>
          </p:nvPr>
        </p:nvSpPr>
        <p:spPr>
          <a:xfrm>
            <a:off x="-18415" y="0"/>
            <a:ext cx="2251075" cy="871855"/>
          </a:xfrm>
          <a:custGeom>
            <a:avLst/>
            <a:gdLst/>
            <a:ahLst/>
            <a:cxnLst>
              <a:cxn ang="3">
                <a:pos x="hc" y="t"/>
              </a:cxn>
              <a:cxn ang="cd2">
                <a:pos x="l" y="vc"/>
              </a:cxn>
              <a:cxn ang="cd4">
                <a:pos x="hc" y="b"/>
              </a:cxn>
              <a:cxn ang="0">
                <a:pos x="r" y="vc"/>
              </a:cxn>
            </a:cxnLst>
            <a:rect l="l" t="t" r="r" b="b"/>
            <a:pathLst>
              <a:path w="3545" h="1373">
                <a:moveTo>
                  <a:pt x="0" y="0"/>
                </a:moveTo>
                <a:lnTo>
                  <a:pt x="3545" y="0"/>
                </a:lnTo>
                <a:lnTo>
                  <a:pt x="3545" y="1023"/>
                </a:lnTo>
                <a:cubicBezTo>
                  <a:pt x="3545" y="1217"/>
                  <a:pt x="3389" y="1373"/>
                  <a:pt x="3195" y="1373"/>
                </a:cubicBezTo>
                <a:lnTo>
                  <a:pt x="9" y="1373"/>
                </a:lnTo>
                <a:lnTo>
                  <a:pt x="0" y="137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6" name="标题"/>
          <p:cNvSpPr txBox="1">
            <a:spLocks noGrp="1"/>
          </p:cNvSpPr>
          <p:nvPr>
            <p:ph type="title" idx="1" hasCustomPrompt="1"/>
            <p:custDataLst>
              <p:tags r:id="rId3"/>
            </p:custDataLst>
          </p:nvPr>
        </p:nvSpPr>
        <p:spPr>
          <a:xfrm>
            <a:off x="1166495" y="1793240"/>
            <a:ext cx="1375410" cy="3604895"/>
          </a:xfrm>
          <a:prstGeom prst="rect">
            <a:avLst/>
          </a:prstGeom>
          <a:noFill/>
        </p:spPr>
        <p:txBody>
          <a:bodyPr vert="eaVert"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标题</a:t>
            </a:r>
          </a:p>
        </p:txBody>
      </p:sp>
      <p:sp>
        <p:nvSpPr>
          <p:cNvPr id="3" name="日期占位符 2"/>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t>2026/7/21</a:t>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2" name="椭圆 11"/>
          <p:cNvSpPr/>
          <p:nvPr>
            <p:custDataLst>
              <p:tags r:id="rId1"/>
            </p:custDataLst>
          </p:nvPr>
        </p:nvSpPr>
        <p:spPr>
          <a:xfrm rot="16200000">
            <a:off x="977900" y="1336040"/>
            <a:ext cx="4351020" cy="4351020"/>
          </a:xfrm>
          <a:prstGeom prst="ellipse">
            <a:avLst/>
          </a:prstGeom>
          <a:solidFill>
            <a:schemeClr val="bg2"/>
          </a:solidFill>
          <a:ln>
            <a:noFill/>
          </a:ln>
          <a:effectLst>
            <a:outerShdw blurRad="495300" dist="38100" dir="2700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11" name="椭圆 10"/>
          <p:cNvSpPr/>
          <p:nvPr>
            <p:custDataLst>
              <p:tags r:id="rId2"/>
            </p:custDataLst>
          </p:nvPr>
        </p:nvSpPr>
        <p:spPr>
          <a:xfrm rot="16200000">
            <a:off x="1828800" y="2186940"/>
            <a:ext cx="2649220" cy="2649220"/>
          </a:xfrm>
          <a:prstGeom prst="ellipse">
            <a:avLst/>
          </a:pr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9" name="弧形 8"/>
          <p:cNvSpPr/>
          <p:nvPr>
            <p:custDataLst>
              <p:tags r:id="rId3"/>
            </p:custDataLst>
          </p:nvPr>
        </p:nvSpPr>
        <p:spPr>
          <a:xfrm>
            <a:off x="301625" y="659765"/>
            <a:ext cx="5703570" cy="5703570"/>
          </a:xfrm>
          <a:prstGeom prst="arc">
            <a:avLst>
              <a:gd name="adj1" fmla="val 16200000"/>
              <a:gd name="adj2" fmla="val 5319923"/>
            </a:avLst>
          </a:prstGeom>
          <a:ln>
            <a:solidFill>
              <a:schemeClr val="bg2">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0" name="圆角矩形 9"/>
          <p:cNvSpPr/>
          <p:nvPr>
            <p:custDataLst>
              <p:tags r:id="rId4"/>
            </p:custDataLst>
          </p:nvPr>
        </p:nvSpPr>
        <p:spPr>
          <a:xfrm rot="10800000">
            <a:off x="6876415" y="3851910"/>
            <a:ext cx="2408555" cy="1593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4" name="任意多边形 13"/>
          <p:cNvSpPr/>
          <p:nvPr>
            <p:custDataLst>
              <p:tags r:id="rId5"/>
            </p:custDataLst>
          </p:nvPr>
        </p:nvSpPr>
        <p:spPr>
          <a:xfrm flipV="1">
            <a:off x="8945880" y="0"/>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8" name="节编号"/>
          <p:cNvSpPr txBox="1">
            <a:spLocks noGrp="1"/>
          </p:cNvSpPr>
          <p:nvPr>
            <p:ph type="body" idx="2" hasCustomPrompt="1"/>
            <p:custDataLst>
              <p:tags r:id="rId6"/>
            </p:custDataLst>
          </p:nvPr>
        </p:nvSpPr>
        <p:spPr>
          <a:xfrm>
            <a:off x="1828800" y="3004185"/>
            <a:ext cx="2649220" cy="1208405"/>
          </a:xfrm>
          <a:prstGeom prst="rect">
            <a:avLst/>
          </a:prstGeom>
          <a:noFill/>
        </p:spPr>
        <p:txBody>
          <a:bodyPr wrap="square" lIns="91440" tIns="45720" rIns="91440" bIns="45720" rtlCol="0" anchor="t" anchorCtr="0">
            <a:normAutofit/>
          </a:bodyPr>
          <a:lstStyle>
            <a:lvl1pPr marL="0" marR="0" lvl="0" algn="ctr" defTabSz="914400" rtl="0" eaLnBrk="1" fontAlgn="auto" latinLnBrk="0" hangingPunct="1">
              <a:lnSpc>
                <a:spcPct val="100000"/>
              </a:lnSpc>
              <a:buClrTx/>
              <a:buSzTx/>
              <a:buFontTx/>
              <a:buNone/>
              <a:defRPr kumimoji="0" lang="en-US" altLang="zh-CN" sz="6000" b="0" i="0" u="none" strike="noStrike" kern="1200" cap="none" spc="200" normalizeH="0" baseline="0" noProof="1">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ctr">
              <a:buClrTx/>
              <a:buSzTx/>
              <a:buFontTx/>
            </a:pPr>
            <a:r>
              <a:rPr dirty="0" err="1">
                <a:sym typeface="+mn-ea"/>
              </a:rPr>
              <a:t>节编号</a:t>
            </a:r>
            <a:endParaRPr dirty="0">
              <a:sym typeface="+mn-ea"/>
            </a:endParaRPr>
          </a:p>
        </p:txBody>
      </p:sp>
      <p:sp>
        <p:nvSpPr>
          <p:cNvPr id="7" name="标题"/>
          <p:cNvSpPr txBox="1">
            <a:spLocks noGrp="1"/>
          </p:cNvSpPr>
          <p:nvPr>
            <p:ph type="title" idx="1" hasCustomPrompt="1"/>
            <p:custDataLst>
              <p:tags r:id="rId7"/>
            </p:custDataLst>
          </p:nvPr>
        </p:nvSpPr>
        <p:spPr>
          <a:xfrm>
            <a:off x="6732905" y="2092325"/>
            <a:ext cx="5005070" cy="1684020"/>
          </a:xfrm>
          <a:prstGeom prst="rect">
            <a:avLst/>
          </a:prstGeom>
          <a:noFill/>
        </p:spPr>
        <p:txBody>
          <a:bodyPr wrap="square" lIns="91440" tIns="45720" rIns="91440" bIns="45720" rtlCol="0" anchor="b" anchorCtr="0">
            <a:normAutofit/>
          </a:bodyPr>
          <a:lstStyle>
            <a:lvl1pPr marL="0" marR="0" lvl="0" algn="l" defTabSz="914400" rtl="0" eaLnBrk="1" fontAlgn="auto" latinLnBrk="0" hangingPunct="1">
              <a:lnSpc>
                <a:spcPct val="100000"/>
              </a:lnSpc>
              <a:buClrTx/>
              <a:buSzTx/>
              <a:buFontTx/>
              <a:buNone/>
              <a:defRPr kumimoji="0" lang="zh-CN" altLang="en-US" sz="4800" b="0" i="0" u="none" strike="noStrike" kern="1200" cap="none" spc="200" normalizeH="0" baseline="0" noProof="1">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单击编辑标题</a:t>
            </a:r>
          </a:p>
        </p:txBody>
      </p:sp>
      <p:sp>
        <p:nvSpPr>
          <p:cNvPr id="4" name="日期占位符 3"/>
          <p:cNvSpPr>
            <a:spLocks noGrp="1"/>
          </p:cNvSpPr>
          <p:nvPr>
            <p:ph type="dt" sz="half" idx="10"/>
            <p:custDataLst>
              <p:tags r:id="rId8"/>
            </p:custDataLst>
          </p:nvPr>
        </p:nvSpPr>
        <p:spPr>
          <a:xfrm>
            <a:off x="612000" y="6314400"/>
            <a:ext cx="2700000" cy="316800"/>
          </a:xfrm>
        </p:spPr>
        <p:txBody>
          <a:bodyPr/>
          <a:lstStyle/>
          <a:p>
            <a:fld id="{760FBDFE-C587-4B4C-A407-44438C67B59E}" type="datetimeFigureOut">
              <a:rPr lang="zh-CN" altLang="en-US" smtClean="0"/>
              <a:t>2026/7/21</a:t>
            </a:fld>
            <a:endParaRPr lang="zh-CN" altLang="en-US"/>
          </a:p>
        </p:txBody>
      </p:sp>
      <p:sp>
        <p:nvSpPr>
          <p:cNvPr id="5" name="页脚占位符 4"/>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0"/>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标题和两栏">
    <p:spTree>
      <p:nvGrpSpPr>
        <p:cNvPr id="1" name=""/>
        <p:cNvGrpSpPr/>
        <p:nvPr/>
      </p:nvGrpSpPr>
      <p:grpSpPr>
        <a:xfrm>
          <a:off x="0" y="0"/>
          <a:ext cx="0" cy="0"/>
          <a:chOff x="0" y="0"/>
          <a:chExt cx="0" cy="0"/>
        </a:xfrm>
      </p:grpSpPr>
      <p:sp>
        <p:nvSpPr>
          <p:cNvPr id="10" name="正文"/>
          <p:cNvSpPr txBox="1">
            <a:spLocks noGrp="1"/>
          </p:cNvSpPr>
          <p:nvPr>
            <p:ph idx="4"/>
            <p:custDataLst>
              <p:tags r:id="rId1"/>
            </p:custDataLst>
          </p:nvPr>
        </p:nvSpPr>
        <p:spPr>
          <a:xfrm>
            <a:off x="6400800" y="1245235"/>
            <a:ext cx="5095240" cy="4930775"/>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9" name="正文"/>
          <p:cNvSpPr txBox="1">
            <a:spLocks noGrp="1"/>
          </p:cNvSpPr>
          <p:nvPr>
            <p:ph idx="3"/>
            <p:custDataLst>
              <p:tags r:id="rId2"/>
            </p:custDataLst>
          </p:nvPr>
        </p:nvSpPr>
        <p:spPr>
          <a:xfrm>
            <a:off x="695960" y="1245235"/>
            <a:ext cx="5088890"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800"/>
              </a:spcBef>
              <a:spcAft>
                <a:spcPts val="0"/>
              </a:spcAft>
            </a:pPr>
            <a:r>
              <a:rPr dirty="0">
                <a:sym typeface="+mn-ea"/>
              </a:rPr>
              <a:t>单击此处编辑母版文本样式</a:t>
            </a:r>
          </a:p>
          <a:p>
            <a:pPr lvl="1">
              <a:spcBef>
                <a:spcPts val="1800"/>
              </a:spcBef>
              <a:spcAft>
                <a:spcPts val="0"/>
              </a:spcAft>
            </a:pPr>
            <a:r>
              <a:rPr dirty="0" err="1">
                <a:sym typeface="+mn-ea"/>
              </a:rPr>
              <a:t>第二级</a:t>
            </a:r>
            <a:endParaRPr dirty="0">
              <a:sym typeface="+mn-ea"/>
            </a:endParaRPr>
          </a:p>
          <a:p>
            <a:pPr lvl="2">
              <a:spcBef>
                <a:spcPts val="1800"/>
              </a:spcBef>
              <a:spcAft>
                <a:spcPts val="0"/>
              </a:spcAft>
            </a:pPr>
            <a:r>
              <a:rPr dirty="0" err="1">
                <a:sym typeface="+mn-ea"/>
              </a:rPr>
              <a:t>第三级</a:t>
            </a:r>
            <a:endParaRPr dirty="0">
              <a:sym typeface="+mn-ea"/>
            </a:endParaRPr>
          </a:p>
          <a:p>
            <a:pPr lvl="3">
              <a:spcBef>
                <a:spcPts val="1800"/>
              </a:spcBef>
              <a:spcAft>
                <a:spcPts val="0"/>
              </a:spcAft>
            </a:pPr>
            <a:r>
              <a:rPr dirty="0" err="1">
                <a:sym typeface="+mn-ea"/>
              </a:rPr>
              <a:t>第四级</a:t>
            </a:r>
            <a:endParaRPr dirty="0">
              <a:sym typeface="+mn-ea"/>
            </a:endParaRPr>
          </a:p>
          <a:p>
            <a:pPr lvl="4">
              <a:spcBef>
                <a:spcPts val="1800"/>
              </a:spcBef>
              <a:spcAft>
                <a:spcPts val="0"/>
              </a:spcAft>
            </a:pPr>
            <a:r>
              <a:rPr dirty="0" err="1">
                <a:sym typeface="+mn-ea"/>
              </a:rPr>
              <a:t>第五级</a:t>
            </a:r>
            <a:endParaRPr dirty="0">
              <a:sym typeface="+mn-ea"/>
            </a:endParaRP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8" name="标题"/>
          <p:cNvSpPr>
            <a:spLocks noGrp="1"/>
          </p:cNvSpPr>
          <p:nvPr>
            <p:ph type="title" idx="1"/>
            <p:custDataLst>
              <p:tags r:id="rId4"/>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defRPr>
            </a:lvl1pPr>
          </a:lstStyle>
          <a:p>
            <a:pPr lvl="0"/>
            <a:r>
              <a:rPr dirty="0">
                <a:sym typeface="+mn-ea"/>
              </a:rPr>
              <a:t>单击此处编辑母版标题样式</a:t>
            </a:r>
          </a:p>
        </p:txBody>
      </p:sp>
      <p:sp>
        <p:nvSpPr>
          <p:cNvPr id="5" name="日期占位符 4"/>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t>2026/7/21</a:t>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1"/>
            </p:custDataLst>
          </p:nvPr>
        </p:nvSpPr>
        <p:spPr>
          <a:xfrm>
            <a:off x="6235065" y="1671955"/>
            <a:ext cx="5260975"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4" name="标题"/>
          <p:cNvSpPr txBox="1">
            <a:spLocks noGrp="1"/>
          </p:cNvSpPr>
          <p:nvPr>
            <p:ph type="title" idx="5"/>
            <p:custDataLst>
              <p:tags r:id="rId2"/>
            </p:custDataLst>
          </p:nvPr>
        </p:nvSpPr>
        <p:spPr>
          <a:xfrm>
            <a:off x="6235065" y="1247140"/>
            <a:ext cx="5260975"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defRPr>
            </a:lvl1pPr>
          </a:lstStyle>
          <a:p>
            <a:pPr lvl="0"/>
            <a:r>
              <a:rPr dirty="0">
                <a:sym typeface="+mn-ea"/>
              </a:rPr>
              <a:t>单击此处编辑母版标题样式</a:t>
            </a:r>
          </a:p>
        </p:txBody>
      </p:sp>
      <p:sp>
        <p:nvSpPr>
          <p:cNvPr id="13" name="正文"/>
          <p:cNvSpPr txBox="1">
            <a:spLocks noGrp="1"/>
          </p:cNvSpPr>
          <p:nvPr>
            <p:ph idx="4"/>
            <p:custDataLst>
              <p:tags r:id="rId3"/>
            </p:custDataLst>
          </p:nvPr>
        </p:nvSpPr>
        <p:spPr>
          <a:xfrm>
            <a:off x="695325" y="1671955"/>
            <a:ext cx="5255260"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2" name="标题"/>
          <p:cNvSpPr txBox="1">
            <a:spLocks noGrp="1"/>
          </p:cNvSpPr>
          <p:nvPr>
            <p:ph type="title" idx="3"/>
            <p:custDataLst>
              <p:tags r:id="rId4"/>
            </p:custDataLst>
          </p:nvPr>
        </p:nvSpPr>
        <p:spPr>
          <a:xfrm>
            <a:off x="695325" y="1247140"/>
            <a:ext cx="5255260"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defRPr>
            </a:lvl1pPr>
          </a:lstStyle>
          <a:p>
            <a:pPr lvl="0"/>
            <a:r>
              <a:rPr dirty="0">
                <a:sym typeface="+mn-ea"/>
              </a:rPr>
              <a:t>单击此处编辑母版标题样式</a:t>
            </a:r>
          </a:p>
        </p:txBody>
      </p:sp>
      <p:sp>
        <p:nvSpPr>
          <p:cNvPr id="11" name="任意多边形 10"/>
          <p:cNvSpPr/>
          <p:nvPr userDrawn="1">
            <p:custDataLst>
              <p:tags r:id="rId5"/>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0" name="标题"/>
          <p:cNvSpPr txBox="1">
            <a:spLocks noGrp="1"/>
          </p:cNvSpPr>
          <p:nvPr>
            <p:ph type="title" idx="1"/>
            <p:custDataLst>
              <p:tags r:id="rId6"/>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单击此处编辑母版标题样式</a:t>
            </a:r>
          </a:p>
        </p:txBody>
      </p:sp>
      <p:sp>
        <p:nvSpPr>
          <p:cNvPr id="7" name="日期占位符 6"/>
          <p:cNvSpPr>
            <a:spLocks noGrp="1"/>
          </p:cNvSpPr>
          <p:nvPr>
            <p:ph type="dt" sz="half" idx="10"/>
            <p:custDataLst>
              <p:tags r:id="rId7"/>
            </p:custDataLst>
          </p:nvPr>
        </p:nvSpPr>
        <p:spPr>
          <a:xfrm>
            <a:off x="699135" y="6314440"/>
            <a:ext cx="2613025" cy="316865"/>
          </a:xfrm>
        </p:spPr>
        <p:txBody>
          <a:bodyPr/>
          <a:lstStyle/>
          <a:p>
            <a:fld id="{760FBDFE-C587-4B4C-A407-44438C67B59E}" type="datetimeFigureOut">
              <a:rPr lang="zh-CN" altLang="en-US" smtClean="0"/>
              <a:t>2026/7/21</a:t>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9"/>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7" name="任意多边形 6"/>
          <p:cNvSpPr/>
          <p:nvPr userDrawn="1">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6" name="标题"/>
          <p:cNvSpPr txBox="1">
            <a:spLocks noGrp="1"/>
          </p:cNvSpPr>
          <p:nvPr>
            <p:ph type="title" idx="1"/>
            <p:custDataLst>
              <p:tags r:id="rId2"/>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单击此处编辑母版标题样式</a:t>
            </a:r>
          </a:p>
        </p:txBody>
      </p:sp>
      <p:sp>
        <p:nvSpPr>
          <p:cNvPr id="3" name="日期占位符 2"/>
          <p:cNvSpPr>
            <a:spLocks noGrp="1"/>
          </p:cNvSpPr>
          <p:nvPr>
            <p:ph type="dt" sz="half" idx="10"/>
            <p:custDataLst>
              <p:tags r:id="rId3"/>
            </p:custDataLst>
          </p:nvPr>
        </p:nvSpPr>
        <p:spPr>
          <a:xfrm>
            <a:off x="699135" y="6314440"/>
            <a:ext cx="2613025" cy="316865"/>
          </a:xfrm>
        </p:spPr>
        <p:txBody>
          <a:bodyPr/>
          <a:lstStyle/>
          <a:p>
            <a:fld id="{760FBDFE-C587-4B4C-A407-44438C67B59E}" type="datetimeFigureOut">
              <a:rPr lang="zh-CN" altLang="en-US" smtClean="0"/>
              <a:t>2026/7/21</a:t>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4" name="任意多边形 13"/>
          <p:cNvSpPr/>
          <p:nvPr>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t>2026/7/21</a:t>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仅内容">
    <p:spTree>
      <p:nvGrpSpPr>
        <p:cNvPr id="1" name=""/>
        <p:cNvGrpSpPr/>
        <p:nvPr/>
      </p:nvGrpSpPr>
      <p:grpSpPr>
        <a:xfrm>
          <a:off x="0" y="0"/>
          <a:ext cx="0" cy="0"/>
          <a:chOff x="0" y="0"/>
          <a:chExt cx="0" cy="0"/>
        </a:xfrm>
      </p:grpSpPr>
      <p:sp>
        <p:nvSpPr>
          <p:cNvPr id="7" name="正文"/>
          <p:cNvSpPr txBox="1">
            <a:spLocks noGrp="1"/>
          </p:cNvSpPr>
          <p:nvPr>
            <p:ph idx="2"/>
            <p:custDataLst>
              <p:tags r:id="rId1"/>
            </p:custDataLst>
          </p:nvPr>
        </p:nvSpPr>
        <p:spPr>
          <a:xfrm>
            <a:off x="695960" y="360045"/>
            <a:ext cx="10801985" cy="581787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4" name="任意多边形 13"/>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4" name="日期占位符 3"/>
          <p:cNvSpPr>
            <a:spLocks noGrp="1"/>
          </p:cNvSpPr>
          <p:nvPr>
            <p:ph type="dt" sz="half" idx="10"/>
            <p:custDataLst>
              <p:tags r:id="rId3"/>
            </p:custDataLst>
          </p:nvPr>
        </p:nvSpPr>
        <p:spPr>
          <a:xfrm>
            <a:off x="699135" y="6314440"/>
            <a:ext cx="2613025" cy="316865"/>
          </a:xfrm>
        </p:spPr>
        <p:txBody>
          <a:bodyPr/>
          <a:lstStyle/>
          <a:p>
            <a:fld id="{760FBDFE-C587-4B4C-A407-44438C67B59E}" type="datetimeFigureOut">
              <a:rPr lang="zh-CN" altLang="en-US" smtClean="0"/>
              <a:t>2026/7/21</a:t>
            </a:fld>
            <a:endParaRPr lang="zh-CN" altLang="en-US"/>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reserve="1">
  <p:cSld name="标题和副标题">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7" name="副标题"/>
          <p:cNvSpPr txBox="1">
            <a:spLocks noGrp="1"/>
          </p:cNvSpPr>
          <p:nvPr>
            <p:ph type="body" idx="2" hasCustomPrompt="1"/>
            <p:custDataLst>
              <p:tags r:id="rId2"/>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Noto Sans SC" panose="020B0200000000000000" pitchFamily="34" charset="-122"/>
                <a:ea typeface="Noto Sans SC" panose="020B0200000000000000" pitchFamily="34" charset="-122"/>
                <a:cs typeface="Noto Sans SC" panose="020B0200000000000000" pitchFamily="34" charset="-122"/>
              </a:defRPr>
            </a:lvl1pPr>
          </a:lstStyle>
          <a:p>
            <a:pPr lvl="0" algn="l"/>
            <a:r>
              <a:rPr dirty="0">
                <a:sym typeface="+mn-ea"/>
              </a:rPr>
              <a:t>单击此处编辑母版副标题样式</a:t>
            </a:r>
          </a:p>
        </p:txBody>
      </p:sp>
      <p:sp>
        <p:nvSpPr>
          <p:cNvPr id="6" name="标题"/>
          <p:cNvSpPr txBox="1">
            <a:spLocks noGrp="1"/>
          </p:cNvSpPr>
          <p:nvPr>
            <p:ph type="title" idx="1"/>
            <p:custDataLst>
              <p:tags r:id="rId3"/>
            </p:custDataLst>
          </p:nvPr>
        </p:nvSpPr>
        <p:spPr>
          <a:xfrm>
            <a:off x="695960" y="360000"/>
            <a:ext cx="10800080" cy="720000"/>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单击此处编辑母版标题样式</a:t>
            </a:r>
          </a:p>
        </p:txBody>
      </p:sp>
      <p:sp>
        <p:nvSpPr>
          <p:cNvPr id="3" name="日期占位符 2"/>
          <p:cNvSpPr>
            <a:spLocks noGrp="1"/>
          </p:cNvSpPr>
          <p:nvPr>
            <p:ph type="dt" sz="half" idx="10"/>
            <p:custDataLst>
              <p:tags r:id="rId4"/>
            </p:custDataLst>
          </p:nvPr>
        </p:nvSpPr>
        <p:spPr>
          <a:xfrm>
            <a:off x="694055" y="6314440"/>
            <a:ext cx="2618105" cy="316865"/>
          </a:xfrm>
        </p:spPr>
        <p:txBody>
          <a:bodyPr/>
          <a:lstStyle/>
          <a:p>
            <a:fld id="{760FBDFE-C587-4B4C-A407-44438C67B59E}" type="datetimeFigureOut">
              <a:rPr lang="zh-CN" altLang="en-US" smtClean="0"/>
              <a:t>2026/7/21</a:t>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3" name="任意多边形 22"/>
          <p:cNvSpPr/>
          <p:nvPr userDrawn="1">
            <p:custDataLst>
              <p:tags r:id="rId1"/>
            </p:custDataLst>
          </p:nvPr>
        </p:nvSpPr>
        <p:spPr>
          <a:xfrm>
            <a:off x="-14605" y="-1"/>
            <a:ext cx="6006465" cy="6858001"/>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24" name="任意多边形 23"/>
          <p:cNvSpPr/>
          <p:nvPr userDrawn="1">
            <p:custDataLst>
              <p:tags r:id="rId2"/>
            </p:custDataLst>
          </p:nvPr>
        </p:nvSpPr>
        <p:spPr>
          <a:xfrm rot="16200000">
            <a:off x="-1383664" y="1369058"/>
            <a:ext cx="6858000"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26" name="任意多边形 25"/>
          <p:cNvSpPr/>
          <p:nvPr userDrawn="1">
            <p:custDataLst>
              <p:tags r:id="rId3"/>
            </p:custDataLst>
          </p:nvPr>
        </p:nvSpPr>
        <p:spPr>
          <a:xfrm rot="16200000">
            <a:off x="-1336642" y="2318743"/>
            <a:ext cx="4864351" cy="222027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30" name="圆角矩形 29"/>
          <p:cNvSpPr/>
          <p:nvPr userDrawn="1">
            <p:custDataLst>
              <p:tags r:id="rId4"/>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cxnSp>
        <p:nvCxnSpPr>
          <p:cNvPr id="32" name="直接连接符 31"/>
          <p:cNvCxnSpPr/>
          <p:nvPr userDrawn="1">
            <p:custDataLst>
              <p:tags r:id="rId5"/>
            </p:custDataLst>
          </p:nvPr>
        </p:nvCxnSpPr>
        <p:spPr>
          <a:xfrm>
            <a:off x="11197590" y="298132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custDataLst>
              <p:tags r:id="rId6"/>
            </p:custDataLst>
          </p:nvPr>
        </p:nvCxnSpPr>
        <p:spPr>
          <a:xfrm>
            <a:off x="11305540" y="191262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7"/>
            </p:custDataLst>
          </p:nvPr>
        </p:nvCxnSpPr>
        <p:spPr>
          <a:xfrm>
            <a:off x="11305540" y="345503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7" name="椭圆 36"/>
          <p:cNvSpPr/>
          <p:nvPr userDrawn="1">
            <p:custDataLst>
              <p:tags r:id="rId8"/>
            </p:custDataLst>
          </p:nvPr>
        </p:nvSpPr>
        <p:spPr>
          <a:xfrm>
            <a:off x="10016490" y="4434205"/>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38" name="椭圆 37"/>
          <p:cNvSpPr/>
          <p:nvPr userDrawn="1">
            <p:custDataLst>
              <p:tags r:id="rId9"/>
            </p:custDataLst>
          </p:nvPr>
        </p:nvSpPr>
        <p:spPr>
          <a:xfrm>
            <a:off x="10123170" y="4540885"/>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39" name="向下箭头"/>
          <p:cNvSpPr/>
          <p:nvPr userDrawn="1">
            <p:custDataLst>
              <p:tags r:id="rId10"/>
            </p:custDataLst>
          </p:nvPr>
        </p:nvSpPr>
        <p:spPr>
          <a:xfrm>
            <a:off x="10227310" y="4633595"/>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44" name="任意多边形 43"/>
          <p:cNvSpPr/>
          <p:nvPr userDrawn="1">
            <p:custDataLst>
              <p:tags r:id="rId11"/>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7" name="标题"/>
          <p:cNvSpPr txBox="1">
            <a:spLocks noGrp="1"/>
          </p:cNvSpPr>
          <p:nvPr>
            <p:ph type="title" idx="1" hasCustomPrompt="1"/>
            <p:custDataLst>
              <p:tags r:id="rId12"/>
            </p:custDataLst>
          </p:nvPr>
        </p:nvSpPr>
        <p:spPr>
          <a:xfrm>
            <a:off x="2418715" y="1901190"/>
            <a:ext cx="8250555" cy="170561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en-US" altLang="zh-CN" sz="7200" b="0" i="0" u="none" strike="noStrike" kern="1200" cap="none" spc="0" normalizeH="0" baseline="0" noProof="1">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Black" panose="020B0200000000000000" pitchFamily="34" charset="-122"/>
                <a:sym typeface="+mn-ea"/>
              </a:defRPr>
            </a:lvl1pPr>
          </a:lstStyle>
          <a:p>
            <a:pPr lvl="0" algn="r">
              <a:buClrTx/>
              <a:buSzTx/>
              <a:buFontTx/>
            </a:pPr>
            <a:r>
              <a:rPr dirty="0" err="1">
                <a:sym typeface="+mn-ea"/>
              </a:rPr>
              <a:t>单击此处编辑标题</a:t>
            </a:r>
            <a:endParaRPr dirty="0">
              <a:sym typeface="+mn-ea"/>
            </a:endParaRPr>
          </a:p>
        </p:txBody>
      </p:sp>
      <p:sp>
        <p:nvSpPr>
          <p:cNvPr id="4" name="日期占位符 3"/>
          <p:cNvSpPr>
            <a:spLocks noGrp="1"/>
          </p:cNvSpPr>
          <p:nvPr>
            <p:ph type="dt" sz="half" idx="10"/>
            <p:custDataLst>
              <p:tags r:id="rId13"/>
            </p:custDataLst>
          </p:nvPr>
        </p:nvSpPr>
        <p:spPr>
          <a:xfrm>
            <a:off x="612000" y="6314400"/>
            <a:ext cx="2700000" cy="316800"/>
          </a:xfrm>
        </p:spPr>
        <p:txBody>
          <a:bodyPr/>
          <a:lstStyle/>
          <a:p>
            <a:fld id="{760FBDFE-C587-4B4C-A407-44438C67B59E}" type="datetimeFigureOut">
              <a:rPr lang="zh-CN" altLang="en-US" smtClean="0"/>
              <a:t>2026/7/21</a:t>
            </a:fld>
            <a:endParaRPr lang="zh-CN" altLang="en-US"/>
          </a:p>
        </p:txBody>
      </p:sp>
      <p:sp>
        <p:nvSpPr>
          <p:cNvPr id="5" name="页脚占位符 4"/>
          <p:cNvSpPr>
            <a:spLocks noGrp="1"/>
          </p:cNvSpPr>
          <p:nvPr>
            <p:ph type="ftr" sz="quarter" idx="11"/>
            <p:custDataLst>
              <p:tags r:id="rId1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5"/>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
        <p:nvSpPr>
          <p:cNvPr id="18" name="署名占位符 10"/>
          <p:cNvSpPr>
            <a:spLocks noGrp="1"/>
          </p:cNvSpPr>
          <p:nvPr>
            <p:ph type="body" sz="quarter" idx="17" hasCustomPrompt="1"/>
            <p:custDataLst>
              <p:tags r:id="rId16"/>
            </p:custDataLst>
          </p:nvPr>
        </p:nvSpPr>
        <p:spPr>
          <a:xfrm>
            <a:off x="2418715" y="4375145"/>
            <a:ext cx="7444103" cy="656600"/>
          </a:xfrm>
        </p:spPr>
        <p:txBody>
          <a:bodyPr wrap="square" anchor="ctr">
            <a:normAutofit/>
          </a:bodyPr>
          <a:lstStyle>
            <a:lvl1pPr marL="0" indent="0" algn="r">
              <a:lnSpc>
                <a:spcPct val="100000"/>
              </a:lnSpc>
              <a:buNone/>
              <a:defRPr sz="2000" b="0">
                <a:solidFill>
                  <a:schemeClr val="tx1"/>
                </a:solidFill>
                <a:latin typeface="Noto Sans SC Black" panose="020B0200000000000000" pitchFamily="34" charset="-122"/>
                <a:ea typeface="Noto Sans SC Black" panose="020B0200000000000000" pitchFamily="34" charset="-122"/>
              </a:defRPr>
            </a:lvl1pPr>
          </a:lstStyle>
          <a:p>
            <a:pPr lvl="0"/>
            <a:r>
              <a:rPr lang="zh-CN" altLang="en-US" dirty="0"/>
              <a:t>署名</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多边形 6"/>
          <p:cNvSpPr/>
          <p:nvPr userDrawn="1">
            <p:custDataLst>
              <p:tags r:id="rId14"/>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9" name="日期占位符 8"/>
          <p:cNvSpPr>
            <a:spLocks noGrp="1"/>
          </p:cNvSpPr>
          <p:nvPr>
            <p:ph type="dt" sz="half" idx="10"/>
            <p:custDataLst>
              <p:tags r:id="rId15"/>
            </p:custDataLst>
          </p:nvPr>
        </p:nvSpPr>
        <p:spPr>
          <a:xfrm>
            <a:off x="695960" y="6356350"/>
            <a:ext cx="2743200" cy="365125"/>
          </a:xfrm>
        </p:spPr>
        <p:txBody>
          <a:bodyPr/>
          <a:lstStyle>
            <a:lvl1pPr>
              <a:defRPr>
                <a:latin typeface="Noto Sans SC" panose="020B0200000000000000" pitchFamily="34" charset="-122"/>
                <a:ea typeface="Noto Sans SC" panose="020B0200000000000000" pitchFamily="34" charset="-122"/>
              </a:defRPr>
            </a:lvl1pPr>
          </a:lstStyle>
          <a:p>
            <a:fld id="{760FBDFE-C587-4B4C-A407-44438C67B59E}" type="datetimeFigureOut">
              <a:rPr lang="zh-CN" altLang="en-US" smtClean="0"/>
              <a:pPr/>
              <a:t>2026/7/21</a:t>
            </a:fld>
            <a:endParaRPr lang="zh-CN" altLang="en-US" dirty="0"/>
          </a:p>
        </p:txBody>
      </p:sp>
      <p:sp>
        <p:nvSpPr>
          <p:cNvPr id="10" name="页脚占位符 9"/>
          <p:cNvSpPr>
            <a:spLocks noGrp="1"/>
          </p:cNvSpPr>
          <p:nvPr>
            <p:ph type="ftr" sz="quarter" idx="11"/>
            <p:custDataLst>
              <p:tags r:id="rId16"/>
            </p:custDataLst>
          </p:nvPr>
        </p:nvSpPr>
        <p:spPr>
          <a:xfrm>
            <a:off x="4038600" y="6356350"/>
            <a:ext cx="4114800" cy="365125"/>
          </a:xfrm>
        </p:spPr>
        <p:txBody>
          <a:bodyPr/>
          <a:lstStyle>
            <a:lvl1pPr>
              <a:defRPr>
                <a:latin typeface="Noto Sans SC" panose="020B0200000000000000" pitchFamily="34" charset="-122"/>
                <a:ea typeface="Noto Sans SC" panose="020B0200000000000000" pitchFamily="34" charset="-122"/>
              </a:defRPr>
            </a:lvl1pPr>
          </a:lstStyle>
          <a:p>
            <a:endParaRPr lang="zh-CN" altLang="en-US" dirty="0"/>
          </a:p>
        </p:txBody>
      </p:sp>
      <p:sp>
        <p:nvSpPr>
          <p:cNvPr id="11" name="灯片编号占位符 10"/>
          <p:cNvSpPr>
            <a:spLocks noGrp="1"/>
          </p:cNvSpPr>
          <p:nvPr>
            <p:ph type="sldNum" sz="quarter" idx="12"/>
            <p:custDataLst>
              <p:tags r:id="rId17"/>
            </p:custDataLst>
          </p:nvPr>
        </p:nvSpPr>
        <p:spPr>
          <a:xfrm>
            <a:off x="8753983" y="6356350"/>
            <a:ext cx="2743200" cy="365125"/>
          </a:xfrm>
        </p:spPr>
        <p:txBody>
          <a:bodyPr/>
          <a:lstStyle>
            <a:lvl1pPr>
              <a:defRPr>
                <a:latin typeface="Noto Sans SC" panose="020B0200000000000000" pitchFamily="34" charset="-122"/>
                <a:ea typeface="Noto Sans SC" panose="020B0200000000000000" pitchFamily="34" charset="-122"/>
              </a:defRPr>
            </a:lvl1pPr>
          </a:lstStyle>
          <a:p>
            <a:fld id="{49AE70B2-8BF9-45C0-BB95-33D1B9D3A854}" type="slidenum">
              <a:rPr lang="zh-CN" altLang="en-US" smtClean="0"/>
              <a:pPr/>
              <a:t>‹#›</a:t>
            </a:fld>
            <a:endParaRPr lang="zh-CN" altLang="en-US" dirty="0"/>
          </a:p>
        </p:txBody>
      </p:sp>
      <p:sp>
        <p:nvSpPr>
          <p:cNvPr id="2" name="标题占位符 1"/>
          <p:cNvSpPr>
            <a:spLocks noGrp="1"/>
          </p:cNvSpPr>
          <p:nvPr>
            <p:ph type="title"/>
            <p:custDataLst>
              <p:tags r:id="rId18"/>
            </p:custDataLst>
          </p:nvPr>
        </p:nvSpPr>
        <p:spPr>
          <a:xfrm>
            <a:off x="695960" y="360000"/>
            <a:ext cx="10800000" cy="720000"/>
          </a:xfrm>
          <a:prstGeom prst="rect">
            <a:avLst/>
          </a:prstGeom>
          <a:noFill/>
        </p:spPr>
        <p:txBody>
          <a:bodyPr vert="horz" wrap="square" lIns="0" tIns="0" rIns="0" bIns="0" rtlCol="0" anchor="b" anchorCtr="0">
            <a:normAutofit/>
          </a:bodyPr>
          <a:lstStyle/>
          <a:p>
            <a:pPr marL="0" marR="0" lvl="0">
              <a:buClrTx/>
              <a:buSzTx/>
              <a:buFontTx/>
            </a:pPr>
            <a:r>
              <a:rPr lang="zh-CN" altLang="en-US" dirty="0"/>
              <a:t>单击此处编辑母版标题样式</a:t>
            </a:r>
          </a:p>
        </p:txBody>
      </p:sp>
      <p:sp>
        <p:nvSpPr>
          <p:cNvPr id="3" name="文本占位符 2"/>
          <p:cNvSpPr>
            <a:spLocks noGrp="1"/>
          </p:cNvSpPr>
          <p:nvPr>
            <p:ph type="body" idx="1"/>
            <p:custDataLst>
              <p:tags r:id="rId19"/>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C" panose="020B0200000000000000" pitchFamily="34" charset="-122"/>
              <a:ea typeface="Noto Sans SC" panose="020B0200000000000000" pitchFamily="34" charset="-122"/>
            </a:endParaRPr>
          </a:p>
        </p:txBody>
      </p:sp>
    </p:spTree>
    <p:custDataLst>
      <p:tags r:id="rId13"/>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8.png"/><Relationship Id="rId4" Type="http://schemas.openxmlformats.org/officeDocument/2006/relationships/image" Target="../media/image19.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5.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1.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1.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68.png"/></Relationships>
</file>

<file path=ppt/slides/_rels/slide4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4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1.png"/><Relationship Id="rId7" Type="http://schemas.openxmlformats.org/officeDocument/2006/relationships/image" Target="../media/image88.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2.png"/><Relationship Id="rId9"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5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3.png"/><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94.png"/></Relationships>
</file>

<file path=ppt/slides/_rels/slide5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6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6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66.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6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4" Type="http://schemas.openxmlformats.org/officeDocument/2006/relationships/image" Target="../media/image110.jpeg"/></Relationships>
</file>

<file path=ppt/slides/_rels/slide73.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image" Target="../media/image11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10.jpe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7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135.png"/><Relationship Id="rId2"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s>
</file>

<file path=ppt/slides/_rels/slide8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28.png"/><Relationship Id="rId1" Type="http://schemas.openxmlformats.org/officeDocument/2006/relationships/slideLayout" Target="../slideLayouts/slideLayout2.xml"/><Relationship Id="rId5" Type="http://schemas.openxmlformats.org/officeDocument/2006/relationships/image" Target="../media/image138.png"/><Relationship Id="rId4" Type="http://schemas.openxmlformats.org/officeDocument/2006/relationships/image" Target="../media/image137.png"/></Relationships>
</file>

<file path=ppt/slides/_rels/slide8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标题 7"/>
          <p:cNvSpPr>
            <a:spLocks noGrp="1"/>
          </p:cNvSpPr>
          <p:nvPr>
            <p:ph type="title" idx="1"/>
            <p:custDataLst>
              <p:tags r:id="rId2"/>
            </p:custDataLst>
          </p:nvPr>
        </p:nvSpPr>
        <p:spPr>
          <a:xfrm>
            <a:off x="2273300" y="1108075"/>
            <a:ext cx="8413750" cy="2502535"/>
          </a:xfrm>
        </p:spPr>
        <p:txBody>
          <a:bodyPr>
            <a:normAutofit/>
          </a:bodyPr>
          <a:lstStyle/>
          <a:p>
            <a:r>
              <a:rPr lang="en-US" altLang="zh-CN" dirty="0"/>
              <a:t>CPU</a:t>
            </a:r>
            <a:r>
              <a:rPr dirty="0"/>
              <a:t>软渲染</a:t>
            </a:r>
            <a:br>
              <a:rPr dirty="0"/>
            </a:br>
            <a:r>
              <a:rPr dirty="0"/>
              <a:t>路径追踪渲染器</a:t>
            </a:r>
          </a:p>
        </p:txBody>
      </p:sp>
      <p:sp>
        <p:nvSpPr>
          <p:cNvPr id="5" name="文本占位符 4"/>
          <p:cNvSpPr>
            <a:spLocks noGrp="1"/>
          </p:cNvSpPr>
          <p:nvPr>
            <p:ph type="body" sz="quarter" idx="17"/>
            <p:custDataLst>
              <p:tags r:id="rId3"/>
            </p:custDataLst>
          </p:nvPr>
        </p:nvSpPr>
        <p:spPr>
          <a:xfrm>
            <a:off x="2273299" y="4275976"/>
            <a:ext cx="7589519" cy="656600"/>
          </a:xfrm>
        </p:spPr>
        <p:txBody>
          <a:bodyPr>
            <a:normAutofit/>
          </a:bodyPr>
          <a:lstStyle/>
          <a:p>
            <a:r>
              <a:rPr lang="zh-CN" altLang="en-US" dirty="0"/>
              <a:t>光谱渲染（上）色彩科学</a:t>
            </a:r>
            <a:r>
              <a:rPr lang="en-US" altLang="zh-CN" dirty="0"/>
              <a:t> </a:t>
            </a:r>
            <a:r>
              <a:rPr lang="zh-CN" altLang="en-US" dirty="0"/>
              <a:t>               </a:t>
            </a:r>
            <a:r>
              <a:rPr lang="en-US" altLang="zh-CN" dirty="0"/>
              <a:t>B</a:t>
            </a:r>
            <a:r>
              <a:rPr lang="zh-CN" altLang="en-US" dirty="0"/>
              <a:t>站：</a:t>
            </a:r>
            <a:r>
              <a:rPr lang="en-US" altLang="zh-CN" dirty="0"/>
              <a:t>HeaoYe</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8947903-9C7D-BBF1-3AC3-E4890269C9F0}"/>
              </a:ext>
            </a:extLst>
          </p:cNvPr>
          <p:cNvPicPr>
            <a:picLocks noChangeAspect="1"/>
          </p:cNvPicPr>
          <p:nvPr/>
        </p:nvPicPr>
        <p:blipFill>
          <a:blip r:embed="rId2"/>
          <a:stretch>
            <a:fillRect/>
          </a:stretch>
        </p:blipFill>
        <p:spPr>
          <a:xfrm>
            <a:off x="6561432" y="0"/>
            <a:ext cx="5076396" cy="3203551"/>
          </a:xfrm>
          <a:prstGeom prst="rect">
            <a:avLst/>
          </a:prstGeom>
        </p:spPr>
      </p:pic>
      <p:pic>
        <p:nvPicPr>
          <p:cNvPr id="6" name="图片 5" descr="什麼是高光譜| 五鈴光學股份有限公司">
            <a:extLst>
              <a:ext uri="{FF2B5EF4-FFF2-40B4-BE49-F238E27FC236}">
                <a16:creationId xmlns:a16="http://schemas.microsoft.com/office/drawing/2014/main" id="{A7436C6F-3B5C-28A7-7C37-E3C3AC74C063}"/>
              </a:ext>
            </a:extLst>
          </p:cNvPr>
          <p:cNvPicPr>
            <a:picLocks noChangeAspect="1"/>
          </p:cNvPicPr>
          <p:nvPr/>
        </p:nvPicPr>
        <p:blipFill>
          <a:blip r:embed="rId3"/>
          <a:stretch>
            <a:fillRect/>
          </a:stretch>
        </p:blipFill>
        <p:spPr>
          <a:xfrm>
            <a:off x="4968240" y="3173476"/>
            <a:ext cx="6921500" cy="3123327"/>
          </a:xfrm>
          <a:prstGeom prst="rect">
            <a:avLst/>
          </a:prstGeom>
        </p:spPr>
      </p:pic>
      <p:sp>
        <p:nvSpPr>
          <p:cNvPr id="5" name="标题 4">
            <a:extLst>
              <a:ext uri="{FF2B5EF4-FFF2-40B4-BE49-F238E27FC236}">
                <a16:creationId xmlns:a16="http://schemas.microsoft.com/office/drawing/2014/main" id="{5B8653CF-701C-ED6A-CFB7-798709FEB72B}"/>
              </a:ext>
            </a:extLst>
          </p:cNvPr>
          <p:cNvSpPr>
            <a:spLocks noGrp="1"/>
          </p:cNvSpPr>
          <p:nvPr>
            <p:ph type="title" idx="1"/>
          </p:nvPr>
        </p:nvSpPr>
        <p:spPr/>
        <p:txBody>
          <a:bodyPr/>
          <a:lstStyle/>
          <a:p>
            <a:r>
              <a:rPr lang="zh-CN" altLang="en-US" dirty="0"/>
              <a:t>引言 </a:t>
            </a:r>
            <a:r>
              <a:rPr lang="en-US" altLang="zh-CN" dirty="0"/>
              <a:t>—— </a:t>
            </a:r>
            <a:r>
              <a:rPr lang="zh-CN" altLang="en-US" dirty="0"/>
              <a:t>什么是光谱</a:t>
            </a:r>
          </a:p>
        </p:txBody>
      </p:sp>
      <p:sp>
        <p:nvSpPr>
          <p:cNvPr id="4" name="文本框 3">
            <a:extLst>
              <a:ext uri="{FF2B5EF4-FFF2-40B4-BE49-F238E27FC236}">
                <a16:creationId xmlns:a16="http://schemas.microsoft.com/office/drawing/2014/main" id="{5F0DEDA9-399A-ADF5-5967-9811E152B119}"/>
              </a:ext>
            </a:extLst>
          </p:cNvPr>
          <p:cNvSpPr txBox="1"/>
          <p:nvPr/>
        </p:nvSpPr>
        <p:spPr>
          <a:xfrm>
            <a:off x="389072" y="1977936"/>
            <a:ext cx="3807147" cy="4192943"/>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just">
              <a:lnSpc>
                <a:spcPct val="150000"/>
              </a:lnSpc>
            </a:pPr>
            <a:r>
              <a:rPr lang="zh-CN" altLang="en-US" sz="2000" dirty="0">
                <a:latin typeface="Noto Sans SC" panose="020B0200000000000000" pitchFamily="34" charset="-122"/>
                <a:ea typeface="Noto Sans SC" panose="020B0200000000000000" pitchFamily="34" charset="-122"/>
              </a:rPr>
              <a:t>         光的本质是电磁波，其中人眼一般可以看见波长在</a:t>
            </a:r>
            <a:r>
              <a:rPr lang="en-US" altLang="zh-CN" sz="2000" dirty="0">
                <a:latin typeface="Noto Sans SC" panose="020B0200000000000000" pitchFamily="34" charset="-122"/>
                <a:ea typeface="Noto Sans SC" panose="020B0200000000000000" pitchFamily="34" charset="-122"/>
              </a:rPr>
              <a:t>360nm</a:t>
            </a:r>
            <a:r>
              <a:rPr lang="zh-CN" altLang="en-US" sz="2000" dirty="0">
                <a:latin typeface="Noto Sans SC" panose="020B0200000000000000" pitchFamily="34" charset="-122"/>
                <a:ea typeface="Noto Sans SC" panose="020B0200000000000000" pitchFamily="34" charset="-122"/>
              </a:rPr>
              <a:t>到</a:t>
            </a:r>
            <a:r>
              <a:rPr lang="en-US" altLang="zh-CN" sz="2000" dirty="0">
                <a:latin typeface="Noto Sans SC" panose="020B0200000000000000" pitchFamily="34" charset="-122"/>
                <a:ea typeface="Noto Sans SC" panose="020B0200000000000000" pitchFamily="34" charset="-122"/>
              </a:rPr>
              <a:t>830nm</a:t>
            </a:r>
            <a:r>
              <a:rPr lang="zh-CN" altLang="en-US" sz="2000" dirty="0">
                <a:latin typeface="Noto Sans SC" panose="020B0200000000000000" pitchFamily="34" charset="-122"/>
                <a:ea typeface="Noto Sans SC" panose="020B0200000000000000" pitchFamily="34" charset="-122"/>
              </a:rPr>
              <a:t>的光，这部分也叫可见光，自然界中的每一束光通常都是不同波长光的组合。</a:t>
            </a:r>
            <a:endParaRPr lang="en-US" altLang="zh-CN" sz="2000" dirty="0">
              <a:latin typeface="Noto Sans SC" panose="020B0200000000000000" pitchFamily="34" charset="-122"/>
              <a:ea typeface="Noto Sans SC" panose="020B0200000000000000" pitchFamily="34" charset="-122"/>
            </a:endParaRPr>
          </a:p>
          <a:p>
            <a:pPr algn="just">
              <a:lnSpc>
                <a:spcPct val="150000"/>
              </a:lnSpc>
            </a:pPr>
            <a:endParaRPr lang="en-US" altLang="zh-CN" sz="2000" dirty="0">
              <a:latin typeface="Noto Sans SC" panose="020B0200000000000000" pitchFamily="34" charset="-122"/>
              <a:ea typeface="Noto Sans SC" panose="020B0200000000000000" pitchFamily="34" charset="-122"/>
            </a:endParaRPr>
          </a:p>
          <a:p>
            <a:pPr algn="just">
              <a:lnSpc>
                <a:spcPct val="150000"/>
              </a:lnSpc>
            </a:pPr>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在一束光中，不同波长光的占比决定了他的颜色。我们称这个占比为光谱分布。</a:t>
            </a:r>
          </a:p>
        </p:txBody>
      </p:sp>
    </p:spTree>
    <p:extLst>
      <p:ext uri="{BB962C8B-B14F-4D97-AF65-F5344CB8AC3E}">
        <p14:creationId xmlns:p14="http://schemas.microsoft.com/office/powerpoint/2010/main" val="2383162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B12DF-6593-8343-033E-52940091C71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6DCF172-A4D6-0616-2E20-177B502BDF0F}"/>
              </a:ext>
            </a:extLst>
          </p:cNvPr>
          <p:cNvSpPr>
            <a:spLocks noGrp="1"/>
          </p:cNvSpPr>
          <p:nvPr>
            <p:ph type="title" idx="1"/>
          </p:nvPr>
        </p:nvSpPr>
        <p:spPr/>
        <p:txBody>
          <a:bodyPr/>
          <a:lstStyle/>
          <a:p>
            <a:r>
              <a:rPr lang="zh-CN" altLang="en-US" dirty="0"/>
              <a:t>引言 </a:t>
            </a:r>
            <a:r>
              <a:rPr lang="en-US" altLang="zh-CN" dirty="0"/>
              <a:t>—— </a:t>
            </a:r>
            <a:r>
              <a:rPr lang="zh-CN" altLang="en-US" dirty="0"/>
              <a:t>色散现象</a:t>
            </a:r>
          </a:p>
        </p:txBody>
      </p:sp>
      <p:sp>
        <p:nvSpPr>
          <p:cNvPr id="4" name="文本框 3">
            <a:extLst>
              <a:ext uri="{FF2B5EF4-FFF2-40B4-BE49-F238E27FC236}">
                <a16:creationId xmlns:a16="http://schemas.microsoft.com/office/drawing/2014/main" id="{BAEB6DD2-6359-60BD-9960-D520F1FDC2E4}"/>
              </a:ext>
            </a:extLst>
          </p:cNvPr>
          <p:cNvSpPr txBox="1"/>
          <p:nvPr/>
        </p:nvSpPr>
        <p:spPr>
          <a:xfrm>
            <a:off x="695960" y="1783783"/>
            <a:ext cx="3807147" cy="4192943"/>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just">
              <a:lnSpc>
                <a:spcPct val="150000"/>
              </a:lnSpc>
            </a:pPr>
            <a:r>
              <a:rPr lang="zh-CN" altLang="en-US" sz="2000" dirty="0">
                <a:latin typeface="Noto Sans SC" panose="020B0200000000000000" pitchFamily="34" charset="-122"/>
                <a:ea typeface="Noto Sans SC" panose="020B0200000000000000" pitchFamily="34" charset="-122"/>
              </a:rPr>
              <a:t>         一束又不同波长组成的光，在经过折射后，会被</a:t>
            </a:r>
            <a:r>
              <a:rPr lang="zh-CN" altLang="zh-CN" sz="2000" dirty="0">
                <a:latin typeface="Noto Sans SC" panose="020B0200000000000000" pitchFamily="34" charset="-122"/>
                <a:ea typeface="Noto Sans SC" panose="020B0200000000000000" pitchFamily="34" charset="-122"/>
              </a:rPr>
              <a:t>色散并在空间上分离</a:t>
            </a:r>
            <a:r>
              <a:rPr lang="zh-CN" altLang="en-US" sz="2000" dirty="0">
                <a:latin typeface="Noto Sans SC" panose="020B0200000000000000" pitchFamily="34" charset="-122"/>
                <a:ea typeface="Noto Sans SC" panose="020B0200000000000000" pitchFamily="34" charset="-122"/>
              </a:rPr>
              <a:t>成一条彩虹的光带。</a:t>
            </a:r>
            <a:endParaRPr lang="en-US" altLang="zh-CN" sz="2000" dirty="0">
              <a:latin typeface="Noto Sans SC" panose="020B0200000000000000" pitchFamily="34" charset="-122"/>
              <a:ea typeface="Noto Sans SC" panose="020B0200000000000000" pitchFamily="34" charset="-122"/>
            </a:endParaRPr>
          </a:p>
          <a:p>
            <a:pPr algn="just">
              <a:lnSpc>
                <a:spcPct val="150000"/>
              </a:lnSpc>
            </a:pPr>
            <a:endParaRPr lang="en-US" altLang="zh-CN" sz="2000" dirty="0">
              <a:latin typeface="Noto Sans SC" panose="020B0200000000000000" pitchFamily="34" charset="-122"/>
              <a:ea typeface="Noto Sans SC" panose="020B0200000000000000" pitchFamily="34" charset="-122"/>
            </a:endParaRPr>
          </a:p>
          <a:p>
            <a:pPr algn="just">
              <a:lnSpc>
                <a:spcPct val="150000"/>
              </a:lnSpc>
            </a:pPr>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这是因为同一介质对不同波长的光的折射率是不同的。</a:t>
            </a:r>
            <a:endParaRPr lang="en-US" altLang="zh-CN" sz="2000" dirty="0">
              <a:latin typeface="Noto Sans SC" panose="020B0200000000000000" pitchFamily="34" charset="-122"/>
              <a:ea typeface="Noto Sans SC" panose="020B0200000000000000" pitchFamily="34" charset="-122"/>
            </a:endParaRPr>
          </a:p>
          <a:p>
            <a:pPr algn="just">
              <a:lnSpc>
                <a:spcPct val="150000"/>
              </a:lnSpc>
            </a:pPr>
            <a:endParaRPr lang="en-US" altLang="zh-CN" sz="2000" dirty="0">
              <a:latin typeface="Noto Sans SC" panose="020B0200000000000000" pitchFamily="34" charset="-122"/>
              <a:ea typeface="Noto Sans SC" panose="020B0200000000000000" pitchFamily="34" charset="-122"/>
            </a:endParaRPr>
          </a:p>
          <a:p>
            <a:pPr algn="just">
              <a:lnSpc>
                <a:spcPct val="150000"/>
              </a:lnSpc>
            </a:pPr>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一般情况下，波长越短的光，被折射的越多。</a:t>
            </a:r>
            <a:endParaRPr lang="en-US" altLang="zh-CN" sz="2000" dirty="0">
              <a:latin typeface="Noto Sans SC" panose="020B0200000000000000" pitchFamily="34" charset="-122"/>
              <a:ea typeface="Noto Sans SC" panose="020B0200000000000000" pitchFamily="34" charset="-122"/>
            </a:endParaRPr>
          </a:p>
        </p:txBody>
      </p:sp>
      <p:pic>
        <p:nvPicPr>
          <p:cNvPr id="6" name="图片 5" descr="光的色散- 抖音百科">
            <a:extLst>
              <a:ext uri="{FF2B5EF4-FFF2-40B4-BE49-F238E27FC236}">
                <a16:creationId xmlns:a16="http://schemas.microsoft.com/office/drawing/2014/main" id="{2EF82B73-EA8E-AC73-FD8D-120FD2DDE742}"/>
              </a:ext>
            </a:extLst>
          </p:cNvPr>
          <p:cNvPicPr>
            <a:picLocks noChangeAspect="1"/>
          </p:cNvPicPr>
          <p:nvPr/>
        </p:nvPicPr>
        <p:blipFill>
          <a:blip r:embed="rId2"/>
          <a:stretch>
            <a:fillRect/>
          </a:stretch>
        </p:blipFill>
        <p:spPr>
          <a:xfrm>
            <a:off x="5769279" y="147376"/>
            <a:ext cx="5502972" cy="2971605"/>
          </a:xfrm>
          <a:prstGeom prst="rect">
            <a:avLst/>
          </a:prstGeom>
        </p:spPr>
      </p:pic>
      <p:pic>
        <p:nvPicPr>
          <p:cNvPr id="8" name="图片 7" descr="用三棱镜做光的色散和复合实验_哔哩哔哩_bilibili">
            <a:extLst>
              <a:ext uri="{FF2B5EF4-FFF2-40B4-BE49-F238E27FC236}">
                <a16:creationId xmlns:a16="http://schemas.microsoft.com/office/drawing/2014/main" id="{4DD3C81D-C1BF-D7D5-4F27-9C68C41F2AE5}"/>
              </a:ext>
            </a:extLst>
          </p:cNvPr>
          <p:cNvPicPr>
            <a:picLocks noChangeAspect="1"/>
          </p:cNvPicPr>
          <p:nvPr/>
        </p:nvPicPr>
        <p:blipFill>
          <a:blip r:embed="rId3"/>
          <a:stretch>
            <a:fillRect/>
          </a:stretch>
        </p:blipFill>
        <p:spPr>
          <a:xfrm>
            <a:off x="5602886" y="3268975"/>
            <a:ext cx="5893154" cy="3314899"/>
          </a:xfrm>
          <a:prstGeom prst="rect">
            <a:avLst/>
          </a:prstGeom>
        </p:spPr>
      </p:pic>
    </p:spTree>
    <p:extLst>
      <p:ext uri="{BB962C8B-B14F-4D97-AF65-F5344CB8AC3E}">
        <p14:creationId xmlns:p14="http://schemas.microsoft.com/office/powerpoint/2010/main" val="4068912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B1021-79C4-22A8-2421-35178768AE5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9278A6B-6E96-FE18-145B-1B7F5045E6C4}"/>
              </a:ext>
            </a:extLst>
          </p:cNvPr>
          <p:cNvSpPr>
            <a:spLocks noGrp="1"/>
          </p:cNvSpPr>
          <p:nvPr>
            <p:ph type="title" idx="1"/>
          </p:nvPr>
        </p:nvSpPr>
        <p:spPr/>
        <p:txBody>
          <a:bodyPr/>
          <a:lstStyle/>
          <a:p>
            <a:r>
              <a:rPr lang="zh-CN" altLang="en-US" dirty="0"/>
              <a:t>引言 </a:t>
            </a:r>
            <a:r>
              <a:rPr lang="en-US" altLang="zh-CN" dirty="0"/>
              <a:t>—— </a:t>
            </a:r>
            <a:r>
              <a:rPr lang="zh-CN" altLang="en-US" dirty="0"/>
              <a:t>同色异谱现象</a:t>
            </a:r>
          </a:p>
        </p:txBody>
      </p:sp>
      <p:sp>
        <p:nvSpPr>
          <p:cNvPr id="3" name="文本框 2">
            <a:extLst>
              <a:ext uri="{FF2B5EF4-FFF2-40B4-BE49-F238E27FC236}">
                <a16:creationId xmlns:a16="http://schemas.microsoft.com/office/drawing/2014/main" id="{EFD92047-5899-3C21-EC57-62CA9523A49A}"/>
              </a:ext>
            </a:extLst>
          </p:cNvPr>
          <p:cNvSpPr txBox="1"/>
          <p:nvPr/>
        </p:nvSpPr>
        <p:spPr>
          <a:xfrm>
            <a:off x="608278" y="1381728"/>
            <a:ext cx="3807147" cy="5116272"/>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just">
              <a:lnSpc>
                <a:spcPct val="150000"/>
              </a:lnSpc>
            </a:pPr>
            <a:r>
              <a:rPr lang="zh-CN" altLang="en-US" sz="2000" dirty="0">
                <a:latin typeface="Noto Sans SC" panose="020B0200000000000000" pitchFamily="34" charset="-122"/>
                <a:ea typeface="Noto Sans SC" panose="020B0200000000000000" pitchFamily="34" charset="-122"/>
              </a:rPr>
              <a:t>         在商场里买一身颜色相同的衣服，回到家后发现颜色出现了变化。</a:t>
            </a:r>
            <a:endParaRPr lang="en-US" altLang="zh-CN" sz="2000" dirty="0">
              <a:latin typeface="Noto Sans SC" panose="020B0200000000000000" pitchFamily="34" charset="-122"/>
              <a:ea typeface="Noto Sans SC" panose="020B0200000000000000" pitchFamily="34" charset="-122"/>
            </a:endParaRPr>
          </a:p>
          <a:p>
            <a:pPr algn="just">
              <a:lnSpc>
                <a:spcPct val="150000"/>
              </a:lnSpc>
            </a:pPr>
            <a:endParaRPr lang="en-US" altLang="zh-CN" sz="2000" dirty="0">
              <a:latin typeface="Noto Sans SC" panose="020B0200000000000000" pitchFamily="34" charset="-122"/>
              <a:ea typeface="Noto Sans SC" panose="020B0200000000000000" pitchFamily="34" charset="-122"/>
            </a:endParaRPr>
          </a:p>
          <a:p>
            <a:pPr algn="just">
              <a:lnSpc>
                <a:spcPct val="150000"/>
              </a:lnSpc>
            </a:pPr>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这是因为，不同的反射光谱，在一种光源中，可能呈现相同的颜色，但在另一种光源中，却能表现出不同的颜色。</a:t>
            </a:r>
            <a:endParaRPr lang="en-US" altLang="zh-CN" sz="2000" dirty="0">
              <a:latin typeface="Noto Sans SC" panose="020B0200000000000000" pitchFamily="34" charset="-122"/>
              <a:ea typeface="Noto Sans SC" panose="020B0200000000000000" pitchFamily="34" charset="-122"/>
            </a:endParaRPr>
          </a:p>
          <a:p>
            <a:pPr algn="just">
              <a:lnSpc>
                <a:spcPct val="150000"/>
              </a:lnSpc>
            </a:pPr>
            <a:endParaRPr lang="en-US" altLang="zh-CN" sz="2000" dirty="0">
              <a:latin typeface="Noto Sans SC" panose="020B0200000000000000" pitchFamily="34" charset="-122"/>
              <a:ea typeface="Noto Sans SC" panose="020B0200000000000000" pitchFamily="34" charset="-122"/>
            </a:endParaRPr>
          </a:p>
          <a:p>
            <a:pPr algn="just">
              <a:lnSpc>
                <a:spcPct val="150000"/>
              </a:lnSpc>
            </a:pPr>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单纯的</a:t>
            </a:r>
            <a:r>
              <a:rPr lang="en-US" altLang="zh-CN" sz="2000" dirty="0">
                <a:latin typeface="Noto Sans SC" panose="020B0200000000000000" pitchFamily="34" charset="-122"/>
                <a:ea typeface="Noto Sans SC" panose="020B0200000000000000" pitchFamily="34" charset="-122"/>
              </a:rPr>
              <a:t>RGB</a:t>
            </a:r>
            <a:r>
              <a:rPr lang="zh-CN" altLang="en-US" sz="2000" dirty="0">
                <a:latin typeface="Noto Sans SC" panose="020B0200000000000000" pitchFamily="34" charset="-122"/>
                <a:ea typeface="Noto Sans SC" panose="020B0200000000000000" pitchFamily="34" charset="-122"/>
              </a:rPr>
              <a:t>颜色无法表示真实的物理世界。</a:t>
            </a:r>
          </a:p>
        </p:txBody>
      </p:sp>
      <p:pic>
        <p:nvPicPr>
          <p:cNvPr id="6" name="图片 5">
            <a:extLst>
              <a:ext uri="{FF2B5EF4-FFF2-40B4-BE49-F238E27FC236}">
                <a16:creationId xmlns:a16="http://schemas.microsoft.com/office/drawing/2014/main" id="{5532AAFD-6A9F-96D7-B748-8229440633B8}"/>
              </a:ext>
            </a:extLst>
          </p:cNvPr>
          <p:cNvPicPr>
            <a:picLocks noChangeAspect="1"/>
          </p:cNvPicPr>
          <p:nvPr/>
        </p:nvPicPr>
        <p:blipFill>
          <a:blip r:embed="rId2"/>
          <a:stretch>
            <a:fillRect/>
          </a:stretch>
        </p:blipFill>
        <p:spPr>
          <a:xfrm>
            <a:off x="5029200" y="1237259"/>
            <a:ext cx="6212256" cy="2309535"/>
          </a:xfrm>
          <a:prstGeom prst="rect">
            <a:avLst/>
          </a:prstGeom>
        </p:spPr>
      </p:pic>
      <p:pic>
        <p:nvPicPr>
          <p:cNvPr id="8" name="图片 7">
            <a:extLst>
              <a:ext uri="{FF2B5EF4-FFF2-40B4-BE49-F238E27FC236}">
                <a16:creationId xmlns:a16="http://schemas.microsoft.com/office/drawing/2014/main" id="{DB8E104E-F372-26BC-CA10-F66B12BA8807}"/>
              </a:ext>
            </a:extLst>
          </p:cNvPr>
          <p:cNvPicPr>
            <a:picLocks noChangeAspect="1"/>
          </p:cNvPicPr>
          <p:nvPr/>
        </p:nvPicPr>
        <p:blipFill>
          <a:blip r:embed="rId3"/>
          <a:stretch>
            <a:fillRect/>
          </a:stretch>
        </p:blipFill>
        <p:spPr>
          <a:xfrm>
            <a:off x="5487362" y="3704053"/>
            <a:ext cx="5517884" cy="2928019"/>
          </a:xfrm>
          <a:prstGeom prst="rect">
            <a:avLst/>
          </a:prstGeom>
        </p:spPr>
      </p:pic>
    </p:spTree>
    <p:extLst>
      <p:ext uri="{BB962C8B-B14F-4D97-AF65-F5344CB8AC3E}">
        <p14:creationId xmlns:p14="http://schemas.microsoft.com/office/powerpoint/2010/main" val="2173284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D9DCF-206D-A633-C8AD-0D38D802C42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CDBA980-2AF2-8D25-19BD-85B52FD80990}"/>
              </a:ext>
            </a:extLst>
          </p:cNvPr>
          <p:cNvSpPr>
            <a:spLocks noGrp="1"/>
          </p:cNvSpPr>
          <p:nvPr>
            <p:ph type="title" idx="1"/>
          </p:nvPr>
        </p:nvSpPr>
        <p:spPr/>
        <p:txBody>
          <a:bodyPr/>
          <a:lstStyle/>
          <a:p>
            <a:r>
              <a:rPr lang="en-US" altLang="zh-CN" dirty="0"/>
              <a:t>RGB vs </a:t>
            </a:r>
            <a:r>
              <a:rPr lang="zh-CN" altLang="en-US" dirty="0"/>
              <a:t>光谱</a:t>
            </a:r>
          </a:p>
        </p:txBody>
      </p:sp>
      <p:pic>
        <p:nvPicPr>
          <p:cNvPr id="9" name="图片 8">
            <a:extLst>
              <a:ext uri="{FF2B5EF4-FFF2-40B4-BE49-F238E27FC236}">
                <a16:creationId xmlns:a16="http://schemas.microsoft.com/office/drawing/2014/main" id="{45045741-6BFA-4656-2B89-AA61063F2965}"/>
              </a:ext>
            </a:extLst>
          </p:cNvPr>
          <p:cNvPicPr>
            <a:picLocks noChangeAspect="1"/>
          </p:cNvPicPr>
          <p:nvPr/>
        </p:nvPicPr>
        <p:blipFill>
          <a:blip r:embed="rId2"/>
          <a:stretch>
            <a:fillRect/>
          </a:stretch>
        </p:blipFill>
        <p:spPr>
          <a:xfrm>
            <a:off x="6002577" y="3111312"/>
            <a:ext cx="5890644" cy="3276975"/>
          </a:xfrm>
          <a:prstGeom prst="rect">
            <a:avLst/>
          </a:prstGeom>
        </p:spPr>
      </p:pic>
      <p:sp>
        <p:nvSpPr>
          <p:cNvPr id="11" name="文本框 10">
            <a:extLst>
              <a:ext uri="{FF2B5EF4-FFF2-40B4-BE49-F238E27FC236}">
                <a16:creationId xmlns:a16="http://schemas.microsoft.com/office/drawing/2014/main" id="{B35FB455-4E74-8A5B-30C6-841BDF34DBB2}"/>
              </a:ext>
            </a:extLst>
          </p:cNvPr>
          <p:cNvSpPr txBox="1"/>
          <p:nvPr/>
        </p:nvSpPr>
        <p:spPr>
          <a:xfrm>
            <a:off x="414123" y="1674002"/>
            <a:ext cx="5372901" cy="3875356"/>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just">
              <a:lnSpc>
                <a:spcPct val="150000"/>
              </a:lnSpc>
            </a:pPr>
            <a:r>
              <a:rPr lang="zh-CN" altLang="en-US" sz="2000" b="1" dirty="0">
                <a:latin typeface="Noto Sans SC" panose="020B0200000000000000" pitchFamily="34" charset="-122"/>
                <a:ea typeface="Noto Sans SC" panose="020B0200000000000000" pitchFamily="34" charset="-122"/>
              </a:rPr>
              <a:t>先前的代码实现：</a:t>
            </a:r>
            <a:endParaRPr lang="en-US" altLang="zh-CN" sz="2000" b="1" dirty="0">
              <a:latin typeface="Noto Sans SC" panose="020B0200000000000000" pitchFamily="34" charset="-122"/>
              <a:ea typeface="Noto Sans SC" panose="020B0200000000000000" pitchFamily="34" charset="-122"/>
            </a:endParaRPr>
          </a:p>
          <a:p>
            <a:pPr algn="just">
              <a:lnSpc>
                <a:spcPct val="150000"/>
              </a:lnSpc>
            </a:pPr>
            <a:endParaRPr lang="en-US" altLang="zh-CN" sz="2000" b="1" dirty="0">
              <a:latin typeface="Noto Sans SC" panose="020B0200000000000000" pitchFamily="34" charset="-122"/>
              <a:ea typeface="Noto Sans SC" panose="020B0200000000000000" pitchFamily="34" charset="-122"/>
            </a:endParaRPr>
          </a:p>
          <a:p>
            <a:pPr algn="just">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光源：物理线性空间下用红绿蓝三个分量的</a:t>
            </a:r>
            <a:endParaRPr lang="en-US" altLang="zh-CN" dirty="0">
              <a:latin typeface="Noto Sans SC" panose="020B0200000000000000" pitchFamily="34" charset="-122"/>
              <a:ea typeface="Noto Sans SC" panose="020B0200000000000000" pitchFamily="34" charset="-122"/>
            </a:endParaRPr>
          </a:p>
          <a:p>
            <a:pPr algn="just">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光照强度表示。</a:t>
            </a:r>
            <a:endParaRPr lang="en-US" altLang="zh-CN" dirty="0">
              <a:latin typeface="Noto Sans SC" panose="020B0200000000000000" pitchFamily="34" charset="-122"/>
              <a:ea typeface="Noto Sans SC" panose="020B0200000000000000" pitchFamily="34" charset="-122"/>
            </a:endParaRPr>
          </a:p>
          <a:p>
            <a:pPr algn="just">
              <a:lnSpc>
                <a:spcPct val="150000"/>
              </a:lnSpc>
            </a:pPr>
            <a:endParaRPr lang="en-US" altLang="zh-CN" dirty="0">
              <a:latin typeface="Noto Sans SC" panose="020B0200000000000000" pitchFamily="34" charset="-122"/>
              <a:ea typeface="Noto Sans SC" panose="020B0200000000000000" pitchFamily="34" charset="-122"/>
            </a:endParaRPr>
          </a:p>
          <a:p>
            <a:pPr algn="just">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物体表面：用红绿蓝三个分量的反照率表示。</a:t>
            </a:r>
            <a:endParaRPr lang="en-US" altLang="zh-CN" dirty="0">
              <a:latin typeface="Noto Sans SC" panose="020B0200000000000000" pitchFamily="34" charset="-122"/>
              <a:ea typeface="Noto Sans SC" panose="020B0200000000000000" pitchFamily="34" charset="-122"/>
            </a:endParaRPr>
          </a:p>
          <a:p>
            <a:pPr algn="just">
              <a:lnSpc>
                <a:spcPct val="150000"/>
              </a:lnSpc>
            </a:pPr>
            <a:endParaRPr lang="en-US" altLang="zh-CN" dirty="0">
              <a:latin typeface="Noto Sans SC" panose="020B0200000000000000" pitchFamily="34" charset="-122"/>
              <a:ea typeface="Noto Sans SC" panose="020B0200000000000000" pitchFamily="34" charset="-122"/>
            </a:endParaRPr>
          </a:p>
          <a:p>
            <a:pPr algn="just">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存储：对物理光照强度进行</a:t>
            </a:r>
            <a:r>
              <a:rPr lang="en-US" altLang="zh-CN" dirty="0">
                <a:latin typeface="Noto Sans SC" panose="020B0200000000000000" pitchFamily="34" charset="-122"/>
                <a:ea typeface="Noto Sans SC" panose="020B0200000000000000" pitchFamily="34" charset="-122"/>
              </a:rPr>
              <a:t>gamma</a:t>
            </a:r>
            <a:r>
              <a:rPr lang="zh-CN" altLang="en-US" dirty="0">
                <a:latin typeface="Noto Sans SC" panose="020B0200000000000000" pitchFamily="34" charset="-122"/>
                <a:ea typeface="Noto Sans SC" panose="020B0200000000000000" pitchFamily="34" charset="-122"/>
              </a:rPr>
              <a:t>矫正，</a:t>
            </a:r>
            <a:endParaRPr lang="en-US" altLang="zh-CN" dirty="0">
              <a:latin typeface="Noto Sans SC" panose="020B0200000000000000" pitchFamily="34" charset="-122"/>
              <a:ea typeface="Noto Sans SC" panose="020B0200000000000000" pitchFamily="34" charset="-122"/>
            </a:endParaRPr>
          </a:p>
          <a:p>
            <a:pPr algn="just">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得到</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颜色。</a:t>
            </a:r>
            <a:endParaRPr lang="en-US" altLang="zh-CN" dirty="0">
              <a:latin typeface="Noto Sans SC" panose="020B0200000000000000" pitchFamily="34" charset="-122"/>
              <a:ea typeface="Noto Sans SC" panose="020B0200000000000000" pitchFamily="34" charset="-122"/>
            </a:endParaRPr>
          </a:p>
        </p:txBody>
      </p:sp>
      <p:pic>
        <p:nvPicPr>
          <p:cNvPr id="2" name="图片 1" descr="瞭解DTG打印機的RGB與CMYK">
            <a:extLst>
              <a:ext uri="{FF2B5EF4-FFF2-40B4-BE49-F238E27FC236}">
                <a16:creationId xmlns:a16="http://schemas.microsoft.com/office/drawing/2014/main" id="{63165401-64E4-FD09-599A-CF324982453D}"/>
              </a:ext>
            </a:extLst>
          </p:cNvPr>
          <p:cNvPicPr>
            <a:picLocks noChangeAspect="1"/>
          </p:cNvPicPr>
          <p:nvPr/>
        </p:nvPicPr>
        <p:blipFill>
          <a:blip r:embed="rId3"/>
          <a:stretch>
            <a:fillRect/>
          </a:stretch>
        </p:blipFill>
        <p:spPr>
          <a:xfrm>
            <a:off x="7153275" y="360000"/>
            <a:ext cx="3035415" cy="2566987"/>
          </a:xfrm>
          <a:prstGeom prst="rect">
            <a:avLst/>
          </a:prstGeom>
        </p:spPr>
      </p:pic>
    </p:spTree>
    <p:extLst>
      <p:ext uri="{BB962C8B-B14F-4D97-AF65-F5344CB8AC3E}">
        <p14:creationId xmlns:p14="http://schemas.microsoft.com/office/powerpoint/2010/main" val="252284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5340A-9418-0282-C4AE-990E8AEF68D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A47F9AD-5E34-50E7-8D66-53733F03B6AC}"/>
              </a:ext>
            </a:extLst>
          </p:cNvPr>
          <p:cNvSpPr>
            <a:spLocks noGrp="1"/>
          </p:cNvSpPr>
          <p:nvPr>
            <p:ph type="title" idx="1"/>
          </p:nvPr>
        </p:nvSpPr>
        <p:spPr/>
        <p:txBody>
          <a:bodyPr/>
          <a:lstStyle/>
          <a:p>
            <a:r>
              <a:rPr lang="en-US" altLang="zh-CN" dirty="0"/>
              <a:t>RGB vs </a:t>
            </a:r>
            <a:r>
              <a:rPr lang="zh-CN" altLang="en-US" dirty="0"/>
              <a:t>光谱</a:t>
            </a:r>
          </a:p>
        </p:txBody>
      </p:sp>
      <p:pic>
        <p:nvPicPr>
          <p:cNvPr id="3" name="图片 2">
            <a:extLst>
              <a:ext uri="{FF2B5EF4-FFF2-40B4-BE49-F238E27FC236}">
                <a16:creationId xmlns:a16="http://schemas.microsoft.com/office/drawing/2014/main" id="{93B90AA7-D42C-625F-B70E-C0474276077E}"/>
              </a:ext>
            </a:extLst>
          </p:cNvPr>
          <p:cNvPicPr>
            <a:picLocks noChangeAspect="1"/>
          </p:cNvPicPr>
          <p:nvPr/>
        </p:nvPicPr>
        <p:blipFill>
          <a:blip r:embed="rId2"/>
          <a:stretch>
            <a:fillRect/>
          </a:stretch>
        </p:blipFill>
        <p:spPr>
          <a:xfrm>
            <a:off x="7026027" y="3275106"/>
            <a:ext cx="5163204" cy="2824107"/>
          </a:xfrm>
          <a:prstGeom prst="rect">
            <a:avLst/>
          </a:prstGeom>
        </p:spPr>
      </p:pic>
      <p:sp>
        <p:nvSpPr>
          <p:cNvPr id="11" name="文本框 10">
            <a:extLst>
              <a:ext uri="{FF2B5EF4-FFF2-40B4-BE49-F238E27FC236}">
                <a16:creationId xmlns:a16="http://schemas.microsoft.com/office/drawing/2014/main" id="{CBA57A3E-44C9-7835-D726-B62F68691D4C}"/>
              </a:ext>
            </a:extLst>
          </p:cNvPr>
          <p:cNvSpPr txBox="1"/>
          <p:nvPr/>
        </p:nvSpPr>
        <p:spPr>
          <a:xfrm>
            <a:off x="414122" y="1674002"/>
            <a:ext cx="7116978" cy="4290855"/>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zh-CN" altLang="en-US" sz="2000" b="1" dirty="0">
                <a:latin typeface="Noto Sans SC" panose="020B0200000000000000" pitchFamily="34" charset="-122"/>
                <a:ea typeface="Noto Sans SC" panose="020B0200000000000000" pitchFamily="34" charset="-122"/>
              </a:rPr>
              <a:t>光谱的表示方法：</a:t>
            </a:r>
            <a:endParaRPr lang="en-US" altLang="zh-CN" sz="2000" b="1" dirty="0">
              <a:latin typeface="Noto Sans SC" panose="020B0200000000000000" pitchFamily="34" charset="-122"/>
              <a:ea typeface="Noto Sans SC" panose="020B0200000000000000" pitchFamily="34" charset="-122"/>
            </a:endParaRPr>
          </a:p>
          <a:p>
            <a:pPr>
              <a:lnSpc>
                <a:spcPct val="150000"/>
              </a:lnSpc>
            </a:pPr>
            <a:endParaRPr lang="en-US" altLang="zh-CN" sz="2000"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光源：</a:t>
            </a:r>
            <a:r>
              <a:rPr lang="en-US" altLang="zh-CN" dirty="0">
                <a:latin typeface="Noto Sans SC" panose="020B0200000000000000" pitchFamily="34" charset="-122"/>
                <a:ea typeface="Noto Sans SC" panose="020B0200000000000000" pitchFamily="34" charset="-122"/>
              </a:rPr>
              <a:t>L(λ)</a:t>
            </a:r>
            <a:r>
              <a:rPr lang="zh-CN" altLang="en-US" dirty="0">
                <a:latin typeface="Noto Sans SC" panose="020B0200000000000000" pitchFamily="34" charset="-122"/>
                <a:ea typeface="Noto Sans SC" panose="020B0200000000000000" pitchFamily="34" charset="-122"/>
              </a:rPr>
              <a:t>，一个和</a:t>
            </a:r>
            <a:r>
              <a:rPr lang="en-US" altLang="zh-CN" dirty="0">
                <a:latin typeface="Noto Sans SC" panose="020B0200000000000000" pitchFamily="34" charset="-122"/>
                <a:ea typeface="Noto Sans SC" panose="020B0200000000000000" pitchFamily="34" charset="-122"/>
              </a:rPr>
              <a:t>λ</a:t>
            </a:r>
            <a:r>
              <a:rPr lang="zh-CN" altLang="en-US" dirty="0">
                <a:latin typeface="Noto Sans SC" panose="020B0200000000000000" pitchFamily="34" charset="-122"/>
                <a:ea typeface="Noto Sans SC" panose="020B0200000000000000" pitchFamily="34" charset="-122"/>
              </a:rPr>
              <a:t>有关的函数，用来表示一束光在</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不同波长上的</a:t>
            </a:r>
            <a:r>
              <a:rPr lang="en-US" altLang="zh-CN" dirty="0">
                <a:latin typeface="Noto Sans SC" panose="020B0200000000000000" pitchFamily="34" charset="-122"/>
                <a:ea typeface="Noto Sans SC" panose="020B0200000000000000" pitchFamily="34" charset="-122"/>
              </a:rPr>
              <a:t>Radiance</a:t>
            </a:r>
            <a:r>
              <a:rPr lang="zh-CN" altLang="en-US" dirty="0">
                <a:latin typeface="Noto Sans SC" panose="020B0200000000000000" pitchFamily="34" charset="-122"/>
                <a:ea typeface="Noto Sans SC" panose="020B0200000000000000" pitchFamily="34" charset="-122"/>
              </a:rPr>
              <a:t>，单位一般是</a:t>
            </a:r>
            <a:r>
              <a:rPr lang="en-US" altLang="zh-CN" dirty="0">
                <a:latin typeface="Noto Sans SC" panose="020B0200000000000000" pitchFamily="34" charset="-122"/>
                <a:ea typeface="Noto Sans SC" panose="020B0200000000000000" pitchFamily="34" charset="-122"/>
              </a:rPr>
              <a:t>W/(m²·sr·nm)</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nSpc>
                <a:spcPct val="150000"/>
              </a:lnSpc>
            </a:pP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物体表面：</a:t>
            </a:r>
            <a:r>
              <a:rPr lang="en-US" altLang="zh-CN" dirty="0">
                <a:latin typeface="Noto Sans SC" panose="020B0200000000000000" pitchFamily="34" charset="-122"/>
                <a:ea typeface="Noto Sans SC" panose="020B0200000000000000" pitchFamily="34" charset="-122"/>
              </a:rPr>
              <a:t> R(λ)</a:t>
            </a:r>
            <a:r>
              <a:rPr lang="zh-CN" altLang="en-US" dirty="0">
                <a:latin typeface="Noto Sans SC" panose="020B0200000000000000" pitchFamily="34" charset="-122"/>
                <a:ea typeface="Noto Sans SC" panose="020B0200000000000000" pitchFamily="34" charset="-122"/>
              </a:rPr>
              <a:t> ，一个和</a:t>
            </a:r>
            <a:r>
              <a:rPr lang="en-US" altLang="zh-CN" dirty="0">
                <a:latin typeface="Noto Sans SC" panose="020B0200000000000000" pitchFamily="34" charset="-122"/>
                <a:ea typeface="Noto Sans SC" panose="020B0200000000000000" pitchFamily="34" charset="-122"/>
              </a:rPr>
              <a:t>λ</a:t>
            </a:r>
            <a:r>
              <a:rPr lang="zh-CN" altLang="en-US" dirty="0">
                <a:latin typeface="Noto Sans SC" panose="020B0200000000000000" pitchFamily="34" charset="-122"/>
                <a:ea typeface="Noto Sans SC" panose="020B0200000000000000" pitchFamily="34" charset="-122"/>
              </a:rPr>
              <a:t>有关的函数，用来表示物</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体表面对不同波长光的反照率，无量纲。</a:t>
            </a:r>
            <a:endParaRPr lang="en-US" altLang="zh-CN" dirty="0">
              <a:latin typeface="Noto Sans SC" panose="020B0200000000000000" pitchFamily="34" charset="-122"/>
              <a:ea typeface="Noto Sans SC" panose="020B0200000000000000" pitchFamily="34" charset="-122"/>
            </a:endParaRPr>
          </a:p>
          <a:p>
            <a:pPr>
              <a:lnSpc>
                <a:spcPct val="150000"/>
              </a:lnSpc>
            </a:pP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存储：对最终打入胶片像素的</a:t>
            </a:r>
            <a:r>
              <a:rPr lang="en-US" altLang="zh-CN" dirty="0">
                <a:latin typeface="Noto Sans SC" panose="020B0200000000000000" pitchFamily="34" charset="-122"/>
                <a:ea typeface="Noto Sans SC" panose="020B0200000000000000" pitchFamily="34" charset="-122"/>
              </a:rPr>
              <a:t>L(λ)</a:t>
            </a:r>
            <a:r>
              <a:rPr lang="zh-CN" altLang="en-US" dirty="0">
                <a:latin typeface="Noto Sans SC" panose="020B0200000000000000" pitchFamily="34" charset="-122"/>
                <a:ea typeface="Noto Sans SC" panose="020B0200000000000000" pitchFamily="34" charset="-122"/>
              </a:rPr>
              <a:t>进行一系列转换，得到指定色</a:t>
            </a:r>
            <a:endParaRPr lang="en-US" altLang="zh-CN" dirty="0">
              <a:latin typeface="Noto Sans SC" panose="020B0200000000000000" pitchFamily="34" charset="-122"/>
              <a:ea typeface="Noto Sans SC" panose="020B0200000000000000" pitchFamily="34" charset="-122"/>
            </a:endParaRPr>
          </a:p>
          <a:p>
            <a:pPr>
              <a:lnSpc>
                <a:spcPct val="150000"/>
              </a:lnSpc>
            </a:pPr>
            <a:r>
              <a:rPr lang="zh-CN" altLang="en-US" dirty="0">
                <a:latin typeface="Noto Sans SC" panose="020B0200000000000000" pitchFamily="34" charset="-122"/>
                <a:ea typeface="Noto Sans SC" panose="020B0200000000000000" pitchFamily="34" charset="-122"/>
              </a:rPr>
              <a:t>                 彩空间下的</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颜色，通过传递函数变换后再进行存储。</a:t>
            </a:r>
            <a:endParaRPr lang="en-US" altLang="zh-CN" dirty="0">
              <a:latin typeface="Noto Sans SC" panose="020B0200000000000000" pitchFamily="34" charset="-122"/>
              <a:ea typeface="Noto Sans SC" panose="020B0200000000000000" pitchFamily="34" charset="-122"/>
            </a:endParaRPr>
          </a:p>
        </p:txBody>
      </p:sp>
      <p:pic>
        <p:nvPicPr>
          <p:cNvPr id="6" name="图片 5">
            <a:extLst>
              <a:ext uri="{FF2B5EF4-FFF2-40B4-BE49-F238E27FC236}">
                <a16:creationId xmlns:a16="http://schemas.microsoft.com/office/drawing/2014/main" id="{6750824A-77BE-6EA4-676F-B9C1A794B30C}"/>
              </a:ext>
            </a:extLst>
          </p:cNvPr>
          <p:cNvPicPr>
            <a:picLocks noChangeAspect="1"/>
          </p:cNvPicPr>
          <p:nvPr/>
        </p:nvPicPr>
        <p:blipFill>
          <a:blip r:embed="rId3"/>
          <a:stretch>
            <a:fillRect/>
          </a:stretch>
        </p:blipFill>
        <p:spPr>
          <a:xfrm>
            <a:off x="7365304" y="360000"/>
            <a:ext cx="4832598" cy="2946551"/>
          </a:xfrm>
          <a:prstGeom prst="rect">
            <a:avLst/>
          </a:prstGeom>
        </p:spPr>
      </p:pic>
      <p:sp>
        <p:nvSpPr>
          <p:cNvPr id="7" name="文本框 6">
            <a:extLst>
              <a:ext uri="{FF2B5EF4-FFF2-40B4-BE49-F238E27FC236}">
                <a16:creationId xmlns:a16="http://schemas.microsoft.com/office/drawing/2014/main" id="{62A63DC4-B154-A692-36A9-564C1C2EB0B8}"/>
              </a:ext>
            </a:extLst>
          </p:cNvPr>
          <p:cNvSpPr txBox="1"/>
          <p:nvPr/>
        </p:nvSpPr>
        <p:spPr>
          <a:xfrm>
            <a:off x="9048650" y="6099213"/>
            <a:ext cx="1415772" cy="307777"/>
          </a:xfrm>
          <a:prstGeom prst="rect">
            <a:avLst/>
          </a:prstGeom>
          <a:noFill/>
        </p:spPr>
        <p:txBody>
          <a:bodyPr wrap="none" rtlCol="0">
            <a:spAutoFit/>
          </a:bodyPr>
          <a:lstStyle/>
          <a:p>
            <a:r>
              <a:rPr lang="zh-CN" altLang="en-US" sz="1400" dirty="0">
                <a:latin typeface="Noto Sans SC" panose="020B0200000000000000" pitchFamily="34" charset="-122"/>
                <a:ea typeface="Noto Sans SC" panose="020B0200000000000000" pitchFamily="34" charset="-122"/>
              </a:rPr>
              <a:t>柠檬表面的</a:t>
            </a:r>
            <a:r>
              <a:rPr lang="en-US" altLang="zh-CN" sz="1400" dirty="0">
                <a:latin typeface="Noto Sans SC" panose="020B0200000000000000" pitchFamily="34" charset="-122"/>
                <a:ea typeface="Noto Sans SC" panose="020B0200000000000000" pitchFamily="34" charset="-122"/>
              </a:rPr>
              <a:t>R(λ)</a:t>
            </a:r>
            <a:endParaRPr lang="zh-CN" altLang="en-US" sz="1400" dirty="0">
              <a:latin typeface="Noto Sans SC" panose="020B0200000000000000" pitchFamily="34" charset="-122"/>
              <a:ea typeface="Noto Sans SC" panose="020B0200000000000000" pitchFamily="34" charset="-122"/>
            </a:endParaRPr>
          </a:p>
        </p:txBody>
      </p:sp>
      <p:sp>
        <p:nvSpPr>
          <p:cNvPr id="10" name="文本框 9">
            <a:extLst>
              <a:ext uri="{FF2B5EF4-FFF2-40B4-BE49-F238E27FC236}">
                <a16:creationId xmlns:a16="http://schemas.microsoft.com/office/drawing/2014/main" id="{93545916-1A01-DBF6-4A6B-7358BDBB46FF}"/>
              </a:ext>
            </a:extLst>
          </p:cNvPr>
          <p:cNvSpPr txBox="1"/>
          <p:nvPr/>
        </p:nvSpPr>
        <p:spPr>
          <a:xfrm>
            <a:off x="8912615" y="3121223"/>
            <a:ext cx="1737976" cy="307777"/>
          </a:xfrm>
          <a:prstGeom prst="rect">
            <a:avLst/>
          </a:prstGeom>
          <a:noFill/>
        </p:spPr>
        <p:txBody>
          <a:bodyPr wrap="none" rtlCol="0">
            <a:spAutoFit/>
          </a:bodyPr>
          <a:lstStyle/>
          <a:p>
            <a:r>
              <a:rPr lang="zh-CN" altLang="en-US" sz="1400" dirty="0">
                <a:latin typeface="Noto Sans SC" panose="020B0200000000000000" pitchFamily="34" charset="-122"/>
                <a:ea typeface="Noto Sans SC" panose="020B0200000000000000" pitchFamily="34" charset="-122"/>
              </a:rPr>
              <a:t>标准</a:t>
            </a:r>
            <a:r>
              <a:rPr lang="en-US" altLang="zh-CN" sz="1400" dirty="0">
                <a:latin typeface="Noto Sans SC" panose="020B0200000000000000" pitchFamily="34" charset="-122"/>
                <a:ea typeface="Noto Sans SC" panose="020B0200000000000000" pitchFamily="34" charset="-122"/>
              </a:rPr>
              <a:t>D65</a:t>
            </a:r>
            <a:r>
              <a:rPr lang="zh-CN" altLang="en-US" sz="1400" dirty="0">
                <a:latin typeface="Noto Sans SC" panose="020B0200000000000000" pitchFamily="34" charset="-122"/>
                <a:ea typeface="Noto Sans SC" panose="020B0200000000000000" pitchFamily="34" charset="-122"/>
              </a:rPr>
              <a:t>光源的</a:t>
            </a:r>
            <a:r>
              <a:rPr lang="en-US" altLang="zh-CN" sz="1400" dirty="0">
                <a:latin typeface="Noto Sans SC" panose="020B0200000000000000" pitchFamily="34" charset="-122"/>
                <a:ea typeface="Noto Sans SC" panose="020B0200000000000000" pitchFamily="34" charset="-122"/>
              </a:rPr>
              <a:t>L(λ)</a:t>
            </a:r>
            <a:endParaRPr lang="zh-CN" altLang="en-US" sz="1400"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4103307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4B8E1-6B1E-6C85-3250-21D892F0C61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717A187-43D4-7AF0-64FC-64A014EEC6B7}"/>
              </a:ext>
            </a:extLst>
          </p:cNvPr>
          <p:cNvSpPr>
            <a:spLocks noGrp="1"/>
          </p:cNvSpPr>
          <p:nvPr>
            <p:ph type="title" idx="1"/>
          </p:nvPr>
        </p:nvSpPr>
        <p:spPr/>
        <p:txBody>
          <a:bodyPr/>
          <a:lstStyle/>
          <a:p>
            <a:r>
              <a:rPr lang="zh-CN" altLang="en-US" dirty="0"/>
              <a:t>黑体辐射</a:t>
            </a:r>
          </a:p>
        </p:txBody>
      </p:sp>
      <p:sp>
        <p:nvSpPr>
          <p:cNvPr id="4" name="文本框 3">
            <a:extLst>
              <a:ext uri="{FF2B5EF4-FFF2-40B4-BE49-F238E27FC236}">
                <a16:creationId xmlns:a16="http://schemas.microsoft.com/office/drawing/2014/main" id="{0686AC4E-B0F9-4DAE-BF49-C0A747C1B51B}"/>
              </a:ext>
            </a:extLst>
          </p:cNvPr>
          <p:cNvSpPr txBox="1"/>
          <p:nvPr/>
        </p:nvSpPr>
        <p:spPr>
          <a:xfrm>
            <a:off x="695959" y="1644774"/>
            <a:ext cx="5660999" cy="4654608"/>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zh-CN" altLang="en-US" sz="2000" b="1" dirty="0">
                <a:latin typeface="Noto Sans SC" panose="020B0200000000000000" pitchFamily="34" charset="-122"/>
                <a:ea typeface="Noto Sans SC" panose="020B0200000000000000" pitchFamily="34" charset="-122"/>
              </a:rPr>
              <a:t>黑体：</a:t>
            </a:r>
            <a:endParaRPr lang="en-US" altLang="zh-CN" sz="2000" b="1" dirty="0">
              <a:latin typeface="Noto Sans SC" panose="020B0200000000000000" pitchFamily="34" charset="-122"/>
              <a:ea typeface="Noto Sans SC" panose="020B0200000000000000" pitchFamily="34" charset="-122"/>
            </a:endParaRPr>
          </a:p>
          <a:p>
            <a:pPr>
              <a:lnSpc>
                <a:spcPct val="150000"/>
              </a:lnSpc>
            </a:pPr>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黑体会吸收所有入射的能量。</a:t>
            </a:r>
            <a:endParaRPr lang="en-US" altLang="zh-CN" sz="2000" dirty="0">
              <a:latin typeface="Noto Sans SC" panose="020B0200000000000000" pitchFamily="34" charset="-122"/>
              <a:ea typeface="Noto Sans SC" panose="020B0200000000000000" pitchFamily="34" charset="-122"/>
            </a:endParaRPr>
          </a:p>
          <a:p>
            <a:pPr>
              <a:lnSpc>
                <a:spcPct val="150000"/>
              </a:lnSpc>
            </a:pPr>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如果加热黑体，黑体会向外发出辐射。</a:t>
            </a:r>
            <a:endParaRPr lang="en-US" altLang="zh-CN" sz="2000" dirty="0">
              <a:latin typeface="Noto Sans SC" panose="020B0200000000000000" pitchFamily="34" charset="-122"/>
              <a:ea typeface="Noto Sans SC" panose="020B0200000000000000" pitchFamily="34" charset="-122"/>
            </a:endParaRPr>
          </a:p>
          <a:p>
            <a:pPr>
              <a:lnSpc>
                <a:spcPct val="150000"/>
              </a:lnSpc>
            </a:pPr>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发射</a:t>
            </a:r>
            <a:r>
              <a:rPr lang="en-US" altLang="zh-CN" sz="2000" dirty="0">
                <a:latin typeface="Noto Sans SC" panose="020B0200000000000000" pitchFamily="34" charset="-122"/>
                <a:ea typeface="Noto Sans SC" panose="020B0200000000000000" pitchFamily="34" charset="-122"/>
              </a:rPr>
              <a:t>emission</a:t>
            </a:r>
            <a:r>
              <a:rPr lang="zh-CN" altLang="en-US" sz="2000" dirty="0">
                <a:latin typeface="Noto Sans SC" panose="020B0200000000000000" pitchFamily="34" charset="-122"/>
                <a:ea typeface="Noto Sans SC" panose="020B0200000000000000" pitchFamily="34" charset="-122"/>
              </a:rPr>
              <a:t>是吸收</a:t>
            </a:r>
            <a:r>
              <a:rPr lang="zh-CN" altLang="zh-CN" dirty="0">
                <a:latin typeface="Noto Sans SC" panose="020B0200000000000000" pitchFamily="34" charset="-122"/>
                <a:ea typeface="Noto Sans SC" panose="020B0200000000000000" pitchFamily="34" charset="-122"/>
              </a:rPr>
              <a:t>absorb</a:t>
            </a:r>
            <a:r>
              <a:rPr lang="zh-CN" altLang="en-US" dirty="0">
                <a:latin typeface="Noto Sans SC" panose="020B0200000000000000" pitchFamily="34" charset="-122"/>
                <a:ea typeface="Noto Sans SC" panose="020B0200000000000000" pitchFamily="34" charset="-122"/>
              </a:rPr>
              <a:t>的逆过程，</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吸收率越大，加热时向外的发射率越大。</a:t>
            </a:r>
            <a:endParaRPr lang="en-US" altLang="zh-CN" sz="2400" dirty="0">
              <a:latin typeface="Noto Sans SC" panose="020B0200000000000000" pitchFamily="34" charset="-122"/>
              <a:ea typeface="Noto Sans SC" panose="020B0200000000000000" pitchFamily="34" charset="-122"/>
            </a:endParaRPr>
          </a:p>
          <a:p>
            <a:pPr>
              <a:lnSpc>
                <a:spcPct val="150000"/>
              </a:lnSpc>
            </a:pPr>
            <a:endParaRPr lang="en-US" altLang="zh-CN" sz="2000" dirty="0">
              <a:latin typeface="Noto Sans SC" panose="020B0200000000000000" pitchFamily="34" charset="-122"/>
              <a:ea typeface="Noto Sans SC" panose="020B0200000000000000" pitchFamily="34" charset="-122"/>
            </a:endParaRPr>
          </a:p>
          <a:p>
            <a:pPr>
              <a:lnSpc>
                <a:spcPct val="150000"/>
              </a:lnSpc>
            </a:pPr>
            <a:r>
              <a:rPr lang="zh-CN" altLang="en-US" sz="2000" dirty="0">
                <a:latin typeface="Noto Sans SC" panose="020B0200000000000000" pitchFamily="34" charset="-122"/>
                <a:ea typeface="Noto Sans SC" panose="020B0200000000000000" pitchFamily="34" charset="-122"/>
              </a:rPr>
              <a:t>         烧红的铁也会发出辐射，但是由于</a:t>
            </a:r>
            <a:r>
              <a:rPr lang="zh-CN" altLang="zh-CN" sz="2000" dirty="0">
                <a:latin typeface="Noto Sans SC" panose="020B0200000000000000" pitchFamily="34" charset="-122"/>
                <a:ea typeface="Noto Sans SC" panose="020B0200000000000000" pitchFamily="34" charset="-122"/>
              </a:rPr>
              <a:t>铁不是理想黑体。对于近似不透光的物体，同一波长上的反射率越高，吸收率和热辐射发射率通常越低。因此，烧红的铁并不会发出完美的黑体辐射</a:t>
            </a:r>
            <a:r>
              <a:rPr lang="zh-CN" altLang="en-US" sz="2000" dirty="0">
                <a:latin typeface="Noto Sans SC" panose="020B0200000000000000" pitchFamily="34" charset="-122"/>
                <a:ea typeface="Noto Sans SC" panose="020B0200000000000000" pitchFamily="34" charset="-122"/>
              </a:rPr>
              <a:t>。</a:t>
            </a:r>
            <a:endParaRPr lang="en-US" altLang="zh-CN" sz="2000" dirty="0">
              <a:latin typeface="Noto Sans SC" panose="020B0200000000000000" pitchFamily="34" charset="-122"/>
              <a:ea typeface="Noto Sans SC" panose="020B0200000000000000" pitchFamily="34" charset="-122"/>
            </a:endParaRPr>
          </a:p>
        </p:txBody>
      </p:sp>
      <p:pic>
        <p:nvPicPr>
          <p:cNvPr id="16" name="图片 15" descr="太阳温度高达6000℃，为什么没有烤化地球？-虎嗅网">
            <a:extLst>
              <a:ext uri="{FF2B5EF4-FFF2-40B4-BE49-F238E27FC236}">
                <a16:creationId xmlns:a16="http://schemas.microsoft.com/office/drawing/2014/main" id="{F7C320CF-EC85-FBB8-46FF-EB65A23E2F5E}"/>
              </a:ext>
            </a:extLst>
          </p:cNvPr>
          <p:cNvPicPr>
            <a:picLocks noChangeAspect="1"/>
          </p:cNvPicPr>
          <p:nvPr/>
        </p:nvPicPr>
        <p:blipFill>
          <a:blip r:embed="rId2"/>
          <a:stretch>
            <a:fillRect/>
          </a:stretch>
        </p:blipFill>
        <p:spPr>
          <a:xfrm>
            <a:off x="5194490" y="50349"/>
            <a:ext cx="6940360" cy="2223084"/>
          </a:xfrm>
          <a:prstGeom prst="rect">
            <a:avLst/>
          </a:prstGeom>
        </p:spPr>
      </p:pic>
      <p:pic>
        <p:nvPicPr>
          <p:cNvPr id="19" name="图片 18">
            <a:extLst>
              <a:ext uri="{FF2B5EF4-FFF2-40B4-BE49-F238E27FC236}">
                <a16:creationId xmlns:a16="http://schemas.microsoft.com/office/drawing/2014/main" id="{C2140B21-4E31-5F75-793C-02A234F0CFD0}"/>
              </a:ext>
            </a:extLst>
          </p:cNvPr>
          <p:cNvPicPr>
            <a:picLocks noChangeAspect="1"/>
          </p:cNvPicPr>
          <p:nvPr/>
        </p:nvPicPr>
        <p:blipFill>
          <a:blip r:embed="rId3"/>
          <a:stretch>
            <a:fillRect/>
          </a:stretch>
        </p:blipFill>
        <p:spPr>
          <a:xfrm>
            <a:off x="7493822" y="3314628"/>
            <a:ext cx="3505380" cy="2794144"/>
          </a:xfrm>
          <a:prstGeom prst="rect">
            <a:avLst/>
          </a:prstGeom>
        </p:spPr>
      </p:pic>
    </p:spTree>
    <p:extLst>
      <p:ext uri="{BB962C8B-B14F-4D97-AF65-F5344CB8AC3E}">
        <p14:creationId xmlns:p14="http://schemas.microsoft.com/office/powerpoint/2010/main" val="3814715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2F1B5-5FD0-A42A-7110-56BF6AFB24E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6071D4B-070A-FFA5-C98B-C7DEFEBC65F2}"/>
              </a:ext>
            </a:extLst>
          </p:cNvPr>
          <p:cNvSpPr>
            <a:spLocks noGrp="1"/>
          </p:cNvSpPr>
          <p:nvPr>
            <p:ph type="title" idx="1"/>
          </p:nvPr>
        </p:nvSpPr>
        <p:spPr/>
        <p:txBody>
          <a:bodyPr/>
          <a:lstStyle/>
          <a:p>
            <a:r>
              <a:rPr lang="zh-CN" altLang="en-US" dirty="0"/>
              <a:t>黑体辐射</a:t>
            </a:r>
          </a:p>
        </p:txBody>
      </p:sp>
      <p:sp>
        <p:nvSpPr>
          <p:cNvPr id="4" name="文本框 3">
            <a:extLst>
              <a:ext uri="{FF2B5EF4-FFF2-40B4-BE49-F238E27FC236}">
                <a16:creationId xmlns:a16="http://schemas.microsoft.com/office/drawing/2014/main" id="{A74577F0-C00B-1769-5E82-B3961433C232}"/>
              </a:ext>
            </a:extLst>
          </p:cNvPr>
          <p:cNvSpPr txBox="1"/>
          <p:nvPr/>
        </p:nvSpPr>
        <p:spPr>
          <a:xfrm>
            <a:off x="695959" y="1644774"/>
            <a:ext cx="5660999" cy="499624"/>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zh-CN" altLang="en-US" sz="2000" b="1" dirty="0">
                <a:latin typeface="Noto Sans SC" panose="020B0200000000000000" pitchFamily="34" charset="-122"/>
                <a:ea typeface="Noto Sans SC" panose="020B0200000000000000" pitchFamily="34" charset="-122"/>
              </a:rPr>
              <a:t>黑体辐射公式：</a:t>
            </a:r>
            <a:endParaRPr lang="en-US" altLang="zh-CN" sz="2000" dirty="0">
              <a:latin typeface="Noto Sans SC" panose="020B0200000000000000" pitchFamily="34" charset="-122"/>
              <a:ea typeface="Noto Sans SC" panose="020B0200000000000000" pitchFamily="34" charset="-122"/>
            </a:endParaRPr>
          </a:p>
        </p:txBody>
      </p:sp>
      <p:pic>
        <p:nvPicPr>
          <p:cNvPr id="3" name="图片 2">
            <a:extLst>
              <a:ext uri="{FF2B5EF4-FFF2-40B4-BE49-F238E27FC236}">
                <a16:creationId xmlns:a16="http://schemas.microsoft.com/office/drawing/2014/main" id="{84A0C3F1-000A-5533-5742-F7D3C8C6F6D0}"/>
              </a:ext>
            </a:extLst>
          </p:cNvPr>
          <p:cNvPicPr>
            <a:picLocks noChangeAspect="1"/>
          </p:cNvPicPr>
          <p:nvPr/>
        </p:nvPicPr>
        <p:blipFill>
          <a:blip r:embed="rId2"/>
          <a:stretch>
            <a:fillRect/>
          </a:stretch>
        </p:blipFill>
        <p:spPr>
          <a:xfrm>
            <a:off x="2444667" y="1390324"/>
            <a:ext cx="4614340" cy="1203347"/>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2CE951B-863C-D210-A18F-60EFEF0EEDC8}"/>
                  </a:ext>
                </a:extLst>
              </p:cNvPr>
              <p:cNvSpPr txBox="1"/>
              <p:nvPr/>
            </p:nvSpPr>
            <p:spPr>
              <a:xfrm>
                <a:off x="467220" y="2929204"/>
                <a:ext cx="5438280" cy="2807628"/>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lnSpc>
                    <a:spcPct val="150000"/>
                  </a:lnSpc>
                </a:pPr>
                <a14:m>
                  <m:oMathPara xmlns:m="http://schemas.openxmlformats.org/officeDocument/2006/math">
                    <m:oMathParaPr>
                      <m:jc m:val="left"/>
                    </m:oMathParaPr>
                    <m:oMath xmlns:m="http://schemas.openxmlformats.org/officeDocument/2006/math">
                      <m:r>
                        <a:rPr lang="en-US" altLang="zh-CN" sz="2000" b="0" i="1" dirty="0" smtClean="0">
                          <a:latin typeface="Cambria Math" panose="02040503050406030204" pitchFamily="18" charset="0"/>
                        </a:rPr>
                        <m:t>𝜆</m:t>
                      </m:r>
                      <m:r>
                        <a:rPr lang="zh-CN" altLang="en-US" sz="2000" i="1" dirty="0">
                          <a:latin typeface="Cambria Math" panose="02040503050406030204" pitchFamily="18" charset="0"/>
                        </a:rPr>
                        <m:t>：</m:t>
                      </m:r>
                      <m:r>
                        <a:rPr lang="zh-CN" altLang="en-US" sz="2000" i="1" dirty="0" smtClean="0">
                          <a:latin typeface="Cambria Math" panose="02040503050406030204" pitchFamily="18" charset="0"/>
                        </a:rPr>
                        <m:t>波长</m:t>
                      </m:r>
                    </m:oMath>
                  </m:oMathPara>
                </a14:m>
                <a:endParaRPr lang="en-US" altLang="zh-CN" sz="2000" i="1" dirty="0">
                  <a:latin typeface="Cambria Math" panose="02040503050406030204" pitchFamily="18" charset="0"/>
                  <a:ea typeface="Noto Sans SC" panose="020B0200000000000000" pitchFamily="34" charset="-122"/>
                </a:endParaRPr>
              </a:p>
              <a:p>
                <a:pPr algn="ctr">
                  <a:lnSpc>
                    <a:spcPct val="150000"/>
                  </a:lnSpc>
                </a:pPr>
                <a14:m>
                  <m:oMathPara xmlns:m="http://schemas.openxmlformats.org/officeDocument/2006/math">
                    <m:oMathParaPr>
                      <m:jc m:val="left"/>
                    </m:oMathParaPr>
                    <m:oMath xmlns:m="http://schemas.openxmlformats.org/officeDocument/2006/math">
                      <m:r>
                        <a:rPr lang="en-US" altLang="zh-CN" sz="2000" b="0" i="1" dirty="0" smtClean="0">
                          <a:latin typeface="Cambria Math" panose="02040503050406030204" pitchFamily="18" charset="0"/>
                        </a:rPr>
                        <m:t>𝑇</m:t>
                      </m:r>
                      <m:r>
                        <a:rPr lang="zh-CN" altLang="en-US" sz="2000" i="1" dirty="0">
                          <a:latin typeface="Cambria Math" panose="02040503050406030204" pitchFamily="18" charset="0"/>
                        </a:rPr>
                        <m:t>：</m:t>
                      </m:r>
                      <m:r>
                        <a:rPr lang="zh-CN" altLang="en-US" sz="2000" i="1" dirty="0" smtClean="0">
                          <a:latin typeface="Cambria Math" panose="02040503050406030204" pitchFamily="18" charset="0"/>
                        </a:rPr>
                        <m:t>开氏温度</m:t>
                      </m:r>
                    </m:oMath>
                  </m:oMathPara>
                </a14:m>
                <a:endParaRPr lang="en-US" altLang="zh-CN" sz="2000" i="1" dirty="0">
                  <a:latin typeface="Cambria Math" panose="02040503050406030204" pitchFamily="18" charset="0"/>
                  <a:ea typeface="Noto Sans SC" panose="020B0200000000000000" pitchFamily="34" charset="-122"/>
                </a:endParaRPr>
              </a:p>
              <a:p>
                <a:pPr algn="ctr">
                  <a:lnSpc>
                    <a:spcPct val="150000"/>
                  </a:lnSpc>
                </a:pPr>
                <a14:m>
                  <m:oMathPara xmlns:m="http://schemas.openxmlformats.org/officeDocument/2006/math">
                    <m:oMathParaPr>
                      <m:jc m:val="left"/>
                    </m:oMathParaPr>
                    <m:oMath xmlns:m="http://schemas.openxmlformats.org/officeDocument/2006/math">
                      <m:r>
                        <a:rPr lang="en-US" altLang="zh-CN" sz="2000" b="0" i="1" dirty="0" smtClean="0">
                          <a:latin typeface="Cambria Math" panose="02040503050406030204" pitchFamily="18" charset="0"/>
                        </a:rPr>
                        <m:t>𝑐</m:t>
                      </m:r>
                      <m:r>
                        <a:rPr lang="en-US" altLang="zh-CN" sz="2000" b="0" i="1" dirty="0" smtClean="0">
                          <a:latin typeface="Cambria Math" panose="02040503050406030204" pitchFamily="18" charset="0"/>
                        </a:rPr>
                        <m:t> </m:t>
                      </m:r>
                      <m:r>
                        <a:rPr lang="en-US" altLang="zh-CN" sz="2000" b="0" i="1" dirty="0" smtClean="0">
                          <a:latin typeface="Cambria Math" panose="02040503050406030204" pitchFamily="18" charset="0"/>
                        </a:rPr>
                        <m:t>光速：</m:t>
                      </m:r>
                      <m:r>
                        <a:rPr lang="en-US" altLang="zh-CN" sz="2000" b="0" i="1" dirty="0" smtClean="0">
                          <a:latin typeface="Cambria Math" panose="02040503050406030204" pitchFamily="18" charset="0"/>
                        </a:rPr>
                        <m:t>299792458</m:t>
                      </m:r>
                      <m:r>
                        <a:rPr lang="en-US" altLang="zh-CN" sz="2000" b="0" i="1" dirty="0" smtClean="0">
                          <a:latin typeface="Cambria Math" panose="02040503050406030204" pitchFamily="18" charset="0"/>
                        </a:rPr>
                        <m:t>𝑚</m:t>
                      </m:r>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rPr>
                        <m:t>𝑠</m:t>
                      </m:r>
                    </m:oMath>
                  </m:oMathPara>
                </a14:m>
                <a:endParaRPr lang="en-US" altLang="zh-CN" sz="2000" b="0" i="1" dirty="0">
                  <a:latin typeface="Cambria Math" panose="02040503050406030204" pitchFamily="18" charset="0"/>
                  <a:ea typeface="Noto Sans SC" panose="020B0200000000000000" pitchFamily="34" charset="-122"/>
                </a:endParaRPr>
              </a:p>
              <a:p>
                <a:pPr algn="ctr">
                  <a:lnSpc>
                    <a:spcPct val="150000"/>
                  </a:lnSpc>
                </a:pPr>
                <a14:m>
                  <m:oMathPara xmlns:m="http://schemas.openxmlformats.org/officeDocument/2006/math">
                    <m:oMathParaPr>
                      <m:jc m:val="left"/>
                    </m:oMathParaPr>
                    <m:oMath xmlns:m="http://schemas.openxmlformats.org/officeDocument/2006/math">
                      <m:r>
                        <a:rPr lang="en-US" altLang="zh-CN" sz="2000" b="0" i="1" dirty="0" smtClean="0">
                          <a:latin typeface="Cambria Math" panose="02040503050406030204" pitchFamily="18" charset="0"/>
                        </a:rPr>
                        <m:t>h</m:t>
                      </m:r>
                      <m:r>
                        <a:rPr lang="en-US" altLang="zh-CN" sz="2000" b="0" i="1" dirty="0" smtClean="0">
                          <a:latin typeface="Cambria Math" panose="02040503050406030204" pitchFamily="18" charset="0"/>
                        </a:rPr>
                        <m:t> </m:t>
                      </m:r>
                      <m:r>
                        <a:rPr lang="en-US" altLang="zh-CN" sz="2000" b="0" i="1" dirty="0" smtClean="0">
                          <a:latin typeface="Cambria Math" panose="02040503050406030204" pitchFamily="18" charset="0"/>
                        </a:rPr>
                        <m:t>普朗克常数：</m:t>
                      </m:r>
                      <m:r>
                        <a:rPr lang="en-US" altLang="zh-CN" sz="2000" b="0" i="1" dirty="0" smtClean="0">
                          <a:latin typeface="Cambria Math" panose="02040503050406030204" pitchFamily="18" charset="0"/>
                        </a:rPr>
                        <m:t>6.62606957×</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10</m:t>
                          </m:r>
                        </m:e>
                        <m:sup>
                          <m:r>
                            <a:rPr lang="en-US" altLang="zh-CN" sz="2000" b="0" i="1" dirty="0" smtClean="0">
                              <a:latin typeface="Cambria Math" panose="02040503050406030204" pitchFamily="18" charset="0"/>
                            </a:rPr>
                            <m:t>−34</m:t>
                          </m:r>
                        </m:sup>
                      </m:sSup>
                      <m:r>
                        <a:rPr lang="en-US" altLang="zh-CN" sz="2000" b="0" i="1" dirty="0" smtClean="0">
                          <a:latin typeface="Cambria Math" panose="02040503050406030204" pitchFamily="18" charset="0"/>
                        </a:rPr>
                        <m:t> </m:t>
                      </m:r>
                      <m:r>
                        <a:rPr lang="en-US" altLang="zh-CN" sz="2000" b="0" i="1" dirty="0" smtClean="0">
                          <a:latin typeface="Cambria Math" panose="02040503050406030204" pitchFamily="18" charset="0"/>
                        </a:rPr>
                        <m:t>𝐽𝑠</m:t>
                      </m:r>
                    </m:oMath>
                  </m:oMathPara>
                </a14:m>
                <a:endParaRPr lang="en-US" altLang="zh-CN" sz="2000" b="0" i="1" dirty="0">
                  <a:latin typeface="Cambria Math" panose="02040503050406030204" pitchFamily="18" charset="0"/>
                  <a:ea typeface="Noto Sans SC" panose="020B0200000000000000" pitchFamily="34" charset="-122"/>
                </a:endParaRPr>
              </a:p>
              <a:p>
                <a:pPr algn="ctr">
                  <a:lnSpc>
                    <a:spcPct val="150000"/>
                  </a:lnSpc>
                </a:pPr>
                <a14:m>
                  <m:oMathPara xmlns:m="http://schemas.openxmlformats.org/officeDocument/2006/math">
                    <m:oMathParaPr>
                      <m:jc m:val="left"/>
                    </m:oMathParaPr>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𝑘</m:t>
                          </m:r>
                        </m:e>
                        <m:sub>
                          <m:r>
                            <a:rPr lang="en-US" altLang="zh-CN" sz="2000" b="0" i="1" dirty="0" smtClean="0">
                              <a:latin typeface="Cambria Math" panose="02040503050406030204" pitchFamily="18" charset="0"/>
                            </a:rPr>
                            <m:t>𝑏</m:t>
                          </m:r>
                        </m:sub>
                      </m:sSub>
                      <m:r>
                        <a:rPr lang="en-US" altLang="zh-CN" sz="2000" b="0" i="1" dirty="0" smtClean="0">
                          <a:latin typeface="Cambria Math" panose="02040503050406030204" pitchFamily="18" charset="0"/>
                        </a:rPr>
                        <m:t> </m:t>
                      </m:r>
                      <m:r>
                        <a:rPr lang="zh-CN" altLang="en-US" sz="2000" b="0" i="1" dirty="0" smtClean="0">
                          <a:latin typeface="Cambria Math" panose="02040503050406030204" pitchFamily="18" charset="0"/>
                        </a:rPr>
                        <m:t>玻尔兹曼</m:t>
                      </m:r>
                      <m:r>
                        <a:rPr lang="zh-CN" altLang="en-US" sz="2000" b="0" i="1" dirty="0">
                          <a:latin typeface="Cambria Math" panose="02040503050406030204" pitchFamily="18" charset="0"/>
                        </a:rPr>
                        <m:t>常数</m:t>
                      </m:r>
                      <m:r>
                        <a:rPr lang="zh-CN" altLang="en-US" sz="2000" i="1" dirty="0" smtClean="0">
                          <a:latin typeface="Cambria Math" panose="02040503050406030204" pitchFamily="18" charset="0"/>
                        </a:rPr>
                        <m:t>：</m:t>
                      </m:r>
                      <m:r>
                        <a:rPr lang="en-US" altLang="zh-CN" sz="2000" b="0" i="1" dirty="0" smtClean="0">
                          <a:latin typeface="Cambria Math" panose="02040503050406030204" pitchFamily="18" charset="0"/>
                        </a:rPr>
                        <m:t>1.3806488×</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10</m:t>
                          </m:r>
                        </m:e>
                        <m:sup>
                          <m:r>
                            <a:rPr lang="en-US" altLang="zh-CN" sz="2000" b="0" i="1" dirty="0" smtClean="0">
                              <a:latin typeface="Cambria Math" panose="02040503050406030204" pitchFamily="18" charset="0"/>
                            </a:rPr>
                            <m:t>−23</m:t>
                          </m:r>
                        </m:sup>
                      </m:sSup>
                      <m:f>
                        <m:fPr>
                          <m:ctrlPr>
                            <a:rPr lang="en-US" altLang="zh-CN" sz="2000" b="0" i="1" dirty="0" smtClean="0">
                              <a:latin typeface="Cambria Math" panose="02040503050406030204" pitchFamily="18" charset="0"/>
                            </a:rPr>
                          </m:ctrlPr>
                        </m:fPr>
                        <m:num>
                          <m:r>
                            <a:rPr lang="en-US" altLang="zh-CN" sz="2000" b="0" i="1" dirty="0" smtClean="0">
                              <a:latin typeface="Cambria Math" panose="02040503050406030204" pitchFamily="18" charset="0"/>
                            </a:rPr>
                            <m:t>𝐽</m:t>
                          </m:r>
                        </m:num>
                        <m:den>
                          <m:r>
                            <a:rPr lang="en-US" altLang="zh-CN" sz="2000" b="0" i="1" dirty="0" smtClean="0">
                              <a:latin typeface="Cambria Math" panose="02040503050406030204" pitchFamily="18" charset="0"/>
                            </a:rPr>
                            <m:t>𝐾</m:t>
                          </m:r>
                        </m:den>
                      </m:f>
                    </m:oMath>
                  </m:oMathPara>
                </a14:m>
                <a:endParaRPr lang="en-US" altLang="zh-CN" sz="2000" b="0" i="1" dirty="0">
                  <a:latin typeface="Cambria Math" panose="02040503050406030204" pitchFamily="18" charset="0"/>
                  <a:ea typeface="Noto Sans SC" panose="020B0200000000000000" pitchFamily="34" charset="-122"/>
                </a:endParaRPr>
              </a:p>
            </p:txBody>
          </p:sp>
        </mc:Choice>
        <mc:Fallback xmlns="">
          <p:sp>
            <p:nvSpPr>
              <p:cNvPr id="7" name="文本框 6">
                <a:extLst>
                  <a:ext uri="{FF2B5EF4-FFF2-40B4-BE49-F238E27FC236}">
                    <a16:creationId xmlns:a16="http://schemas.microsoft.com/office/drawing/2014/main" id="{32CE951B-863C-D210-A18F-60EFEF0EEDC8}"/>
                  </a:ext>
                </a:extLst>
              </p:cNvPr>
              <p:cNvSpPr txBox="1">
                <a:spLocks noRot="1" noChangeAspect="1" noMove="1" noResize="1" noEditPoints="1" noAdjustHandles="1" noChangeArrowheads="1" noChangeShapeType="1" noTextEdit="1"/>
              </p:cNvSpPr>
              <p:nvPr/>
            </p:nvSpPr>
            <p:spPr>
              <a:xfrm>
                <a:off x="467220" y="2929204"/>
                <a:ext cx="5438280" cy="2807628"/>
              </a:xfrm>
              <a:prstGeom prst="rect">
                <a:avLst/>
              </a:prstGeom>
              <a:blipFill>
                <a:blip r:embed="rId3"/>
                <a:stretch>
                  <a:fillRect/>
                </a:stretch>
              </a:blipFill>
              <a:ln w="57150">
                <a:noFill/>
              </a:ln>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25B605DE-CAE2-9690-50C3-5A849D46631F}"/>
              </a:ext>
            </a:extLst>
          </p:cNvPr>
          <p:cNvPicPr>
            <a:picLocks noChangeAspect="1"/>
          </p:cNvPicPr>
          <p:nvPr/>
        </p:nvPicPr>
        <p:blipFill>
          <a:blip r:embed="rId4"/>
          <a:stretch>
            <a:fillRect/>
          </a:stretch>
        </p:blipFill>
        <p:spPr>
          <a:xfrm>
            <a:off x="6217275" y="794710"/>
            <a:ext cx="5888276" cy="2699376"/>
          </a:xfrm>
          <a:prstGeom prst="rect">
            <a:avLst/>
          </a:prstGeom>
        </p:spPr>
      </p:pic>
      <p:pic>
        <p:nvPicPr>
          <p:cNvPr id="11" name="图片 10" descr="太阳温度高达6000℃，为什么没有烤化地球？-虎嗅网">
            <a:extLst>
              <a:ext uri="{FF2B5EF4-FFF2-40B4-BE49-F238E27FC236}">
                <a16:creationId xmlns:a16="http://schemas.microsoft.com/office/drawing/2014/main" id="{A907B7E9-2EDA-89BF-BAB2-2AA1C5569717}"/>
              </a:ext>
            </a:extLst>
          </p:cNvPr>
          <p:cNvPicPr>
            <a:picLocks noChangeAspect="1"/>
          </p:cNvPicPr>
          <p:nvPr/>
        </p:nvPicPr>
        <p:blipFill>
          <a:blip r:embed="rId5"/>
          <a:stretch>
            <a:fillRect/>
          </a:stretch>
        </p:blipFill>
        <p:spPr>
          <a:xfrm>
            <a:off x="5296825" y="3882370"/>
            <a:ext cx="6808726" cy="2180920"/>
          </a:xfrm>
          <a:prstGeom prst="rect">
            <a:avLst/>
          </a:prstGeom>
        </p:spPr>
      </p:pic>
    </p:spTree>
    <p:extLst>
      <p:ext uri="{BB962C8B-B14F-4D97-AF65-F5344CB8AC3E}">
        <p14:creationId xmlns:p14="http://schemas.microsoft.com/office/powerpoint/2010/main" val="467539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72A22-BF14-0E44-7353-63EE12D4D6A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B04172B-404A-B021-694B-C9DC1C418633}"/>
              </a:ext>
            </a:extLst>
          </p:cNvPr>
          <p:cNvSpPr>
            <a:spLocks noGrp="1"/>
          </p:cNvSpPr>
          <p:nvPr>
            <p:ph type="title" idx="1"/>
          </p:nvPr>
        </p:nvSpPr>
        <p:spPr/>
        <p:txBody>
          <a:bodyPr/>
          <a:lstStyle/>
          <a:p>
            <a:r>
              <a:rPr lang="zh-CN" altLang="en-US" dirty="0"/>
              <a:t>光谱分布在计算机中的表示</a:t>
            </a:r>
          </a:p>
        </p:txBody>
      </p:sp>
      <p:sp>
        <p:nvSpPr>
          <p:cNvPr id="11" name="文本框 10">
            <a:extLst>
              <a:ext uri="{FF2B5EF4-FFF2-40B4-BE49-F238E27FC236}">
                <a16:creationId xmlns:a16="http://schemas.microsoft.com/office/drawing/2014/main" id="{7D45A3C1-1164-47D3-E633-73D4B60EAA85}"/>
              </a:ext>
            </a:extLst>
          </p:cNvPr>
          <p:cNvSpPr txBox="1"/>
          <p:nvPr/>
        </p:nvSpPr>
        <p:spPr>
          <a:xfrm>
            <a:off x="1134371" y="1425751"/>
            <a:ext cx="10990823" cy="581057"/>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2400" b="1" dirty="0">
                <a:latin typeface="Noto Sans SC" panose="020B0200000000000000" pitchFamily="34" charset="-122"/>
                <a:ea typeface="Noto Sans SC" panose="020B0200000000000000" pitchFamily="34" charset="-122"/>
              </a:rPr>
              <a:t>Constant Spectrum</a:t>
            </a:r>
          </a:p>
        </p:txBody>
      </p:sp>
      <p:grpSp>
        <p:nvGrpSpPr>
          <p:cNvPr id="130" name="组合 129">
            <a:extLst>
              <a:ext uri="{FF2B5EF4-FFF2-40B4-BE49-F238E27FC236}">
                <a16:creationId xmlns:a16="http://schemas.microsoft.com/office/drawing/2014/main" id="{3DC55488-C0BD-DAFF-408F-4EA06497DFFC}"/>
              </a:ext>
            </a:extLst>
          </p:cNvPr>
          <p:cNvGrpSpPr/>
          <p:nvPr/>
        </p:nvGrpSpPr>
        <p:grpSpPr>
          <a:xfrm>
            <a:off x="7184873" y="3219189"/>
            <a:ext cx="4520359" cy="1811436"/>
            <a:chOff x="7184873" y="3219189"/>
            <a:chExt cx="4520359" cy="1811436"/>
          </a:xfrm>
        </p:grpSpPr>
        <p:cxnSp>
          <p:nvCxnSpPr>
            <p:cNvPr id="117" name="直接连接符 116">
              <a:extLst>
                <a:ext uri="{FF2B5EF4-FFF2-40B4-BE49-F238E27FC236}">
                  <a16:creationId xmlns:a16="http://schemas.microsoft.com/office/drawing/2014/main" id="{5EBF1FCF-4F94-DE3F-6AF1-3C3CB313BEEF}"/>
                </a:ext>
              </a:extLst>
            </p:cNvPr>
            <p:cNvCxnSpPr>
              <a:cxnSpLocks/>
            </p:cNvCxnSpPr>
            <p:nvPr/>
          </p:nvCxnSpPr>
          <p:spPr>
            <a:xfrm>
              <a:off x="7377830" y="3219189"/>
              <a:ext cx="3951962" cy="0"/>
            </a:xfrm>
            <a:prstGeom prst="line">
              <a:avLst/>
            </a:prstGeom>
            <a:ln w="28575">
              <a:solidFill>
                <a:srgbClr val="163980"/>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0435CB31-8B98-D1F0-5586-919898C8EC5D}"/>
                </a:ext>
              </a:extLst>
            </p:cNvPr>
            <p:cNvCxnSpPr>
              <a:cxnSpLocks/>
            </p:cNvCxnSpPr>
            <p:nvPr/>
          </p:nvCxnSpPr>
          <p:spPr>
            <a:xfrm flipH="1" flipV="1">
              <a:off x="11329604" y="3219189"/>
              <a:ext cx="188" cy="1534438"/>
            </a:xfrm>
            <a:prstGeom prst="line">
              <a:avLst/>
            </a:prstGeom>
            <a:ln w="28575">
              <a:solidFill>
                <a:srgbClr val="92D050"/>
              </a:solidFill>
              <a:prstDash val="dash"/>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64A2BE48-C508-53D1-9576-F40836952B22}"/>
                </a:ext>
              </a:extLst>
            </p:cNvPr>
            <p:cNvCxnSpPr>
              <a:cxnSpLocks/>
            </p:cNvCxnSpPr>
            <p:nvPr/>
          </p:nvCxnSpPr>
          <p:spPr>
            <a:xfrm flipV="1">
              <a:off x="7377642" y="3219189"/>
              <a:ext cx="0" cy="1534438"/>
            </a:xfrm>
            <a:prstGeom prst="line">
              <a:avLst/>
            </a:prstGeom>
            <a:ln w="28575">
              <a:solidFill>
                <a:srgbClr val="92D05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7" name="文本框 126">
                  <a:extLst>
                    <a:ext uri="{FF2B5EF4-FFF2-40B4-BE49-F238E27FC236}">
                      <a16:creationId xmlns:a16="http://schemas.microsoft.com/office/drawing/2014/main" id="{8C750AA3-55FB-27E4-F44D-3B07A66DC813}"/>
                    </a:ext>
                  </a:extLst>
                </p:cNvPr>
                <p:cNvSpPr txBox="1"/>
                <p:nvPr/>
              </p:nvSpPr>
              <p:spPr>
                <a:xfrm>
                  <a:off x="11269215" y="4753626"/>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830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27" name="文本框 126">
                  <a:extLst>
                    <a:ext uri="{FF2B5EF4-FFF2-40B4-BE49-F238E27FC236}">
                      <a16:creationId xmlns:a16="http://schemas.microsoft.com/office/drawing/2014/main" id="{8C750AA3-55FB-27E4-F44D-3B07A66DC813}"/>
                    </a:ext>
                  </a:extLst>
                </p:cNvPr>
                <p:cNvSpPr txBox="1">
                  <a:spLocks noRot="1" noChangeAspect="1" noMove="1" noResize="1" noEditPoints="1" noAdjustHandles="1" noChangeArrowheads="1" noChangeShapeType="1" noTextEdit="1"/>
                </p:cNvSpPr>
                <p:nvPr/>
              </p:nvSpPr>
              <p:spPr>
                <a:xfrm>
                  <a:off x="11269215" y="4753626"/>
                  <a:ext cx="436017" cy="276999"/>
                </a:xfrm>
                <a:prstGeom prst="rect">
                  <a:avLst/>
                </a:prstGeom>
                <a:blipFill>
                  <a:blip r:embed="rId2"/>
                  <a:stretch>
                    <a:fillRect l="-14085" t="-28889" r="-39437" b="-5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051A1ECA-04C6-0A78-5C50-E585E2CE7831}"/>
                    </a:ext>
                  </a:extLst>
                </p:cNvPr>
                <p:cNvSpPr txBox="1"/>
                <p:nvPr/>
              </p:nvSpPr>
              <p:spPr>
                <a:xfrm>
                  <a:off x="7184873" y="4753626"/>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360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29" name="文本框 128">
                  <a:extLst>
                    <a:ext uri="{FF2B5EF4-FFF2-40B4-BE49-F238E27FC236}">
                      <a16:creationId xmlns:a16="http://schemas.microsoft.com/office/drawing/2014/main" id="{051A1ECA-04C6-0A78-5C50-E585E2CE7831}"/>
                    </a:ext>
                  </a:extLst>
                </p:cNvPr>
                <p:cNvSpPr txBox="1">
                  <a:spLocks noRot="1" noChangeAspect="1" noMove="1" noResize="1" noEditPoints="1" noAdjustHandles="1" noChangeArrowheads="1" noChangeShapeType="1" noTextEdit="1"/>
                </p:cNvSpPr>
                <p:nvPr/>
              </p:nvSpPr>
              <p:spPr>
                <a:xfrm>
                  <a:off x="7184873" y="4753626"/>
                  <a:ext cx="436017" cy="276999"/>
                </a:xfrm>
                <a:prstGeom prst="rect">
                  <a:avLst/>
                </a:prstGeom>
                <a:blipFill>
                  <a:blip r:embed="rId3"/>
                  <a:stretch>
                    <a:fillRect l="-14085" t="-28889" r="-39437" b="-51111"/>
                  </a:stretch>
                </a:blipFill>
              </p:spPr>
              <p:txBody>
                <a:bodyPr/>
                <a:lstStyle/>
                <a:p>
                  <a:r>
                    <a:rPr lang="zh-CN" altLang="en-US">
                      <a:noFill/>
                    </a:rPr>
                    <a:t> </a:t>
                  </a:r>
                </a:p>
              </p:txBody>
            </p:sp>
          </mc:Fallback>
        </mc:AlternateContent>
      </p:grpSp>
      <p:grpSp>
        <p:nvGrpSpPr>
          <p:cNvPr id="115" name="组合 114">
            <a:extLst>
              <a:ext uri="{FF2B5EF4-FFF2-40B4-BE49-F238E27FC236}">
                <a16:creationId xmlns:a16="http://schemas.microsoft.com/office/drawing/2014/main" id="{695C3B95-20F5-8E9B-DAAF-8C3C3E36FE23}"/>
              </a:ext>
            </a:extLst>
          </p:cNvPr>
          <p:cNvGrpSpPr/>
          <p:nvPr/>
        </p:nvGrpSpPr>
        <p:grpSpPr>
          <a:xfrm>
            <a:off x="7008312" y="1797485"/>
            <a:ext cx="4878888" cy="3635396"/>
            <a:chOff x="7008312" y="1797485"/>
            <a:chExt cx="4878888" cy="3635396"/>
          </a:xfrm>
        </p:grpSpPr>
        <p:cxnSp>
          <p:nvCxnSpPr>
            <p:cNvPr id="75" name="直接箭头连接符 74">
              <a:extLst>
                <a:ext uri="{FF2B5EF4-FFF2-40B4-BE49-F238E27FC236}">
                  <a16:creationId xmlns:a16="http://schemas.microsoft.com/office/drawing/2014/main" id="{89671404-D052-8E21-C55E-57AE60FBB826}"/>
                </a:ext>
              </a:extLst>
            </p:cNvPr>
            <p:cNvCxnSpPr>
              <a:cxnSpLocks/>
            </p:cNvCxnSpPr>
            <p:nvPr/>
          </p:nvCxnSpPr>
          <p:spPr>
            <a:xfrm flipV="1">
              <a:off x="7121047" y="1797485"/>
              <a:ext cx="0" cy="30814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EE86AA19-AEB9-AB7F-3E20-740C040EBC3A}"/>
                </a:ext>
              </a:extLst>
            </p:cNvPr>
            <p:cNvCxnSpPr>
              <a:cxnSpLocks/>
            </p:cNvCxnSpPr>
            <p:nvPr/>
          </p:nvCxnSpPr>
          <p:spPr>
            <a:xfrm>
              <a:off x="7008312" y="4753627"/>
              <a:ext cx="487888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78DEFA2D-7632-4C64-366D-66B828EE41F5}"/>
                </a:ext>
              </a:extLst>
            </p:cNvPr>
            <p:cNvCxnSpPr>
              <a:cxnSpLocks/>
            </p:cNvCxnSpPr>
            <p:nvPr/>
          </p:nvCxnSpPr>
          <p:spPr>
            <a:xfrm>
              <a:off x="8017934"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AF34C6AE-9372-E9DF-F609-CA72FE95FDE7}"/>
                </a:ext>
              </a:extLst>
            </p:cNvPr>
            <p:cNvCxnSpPr>
              <a:cxnSpLocks/>
            </p:cNvCxnSpPr>
            <p:nvPr/>
          </p:nvCxnSpPr>
          <p:spPr>
            <a:xfrm>
              <a:off x="8775172"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D593FB43-51EC-0DA6-E608-A855D1EE2D67}"/>
                </a:ext>
              </a:extLst>
            </p:cNvPr>
            <p:cNvCxnSpPr>
              <a:cxnSpLocks/>
            </p:cNvCxnSpPr>
            <p:nvPr/>
          </p:nvCxnSpPr>
          <p:spPr>
            <a:xfrm>
              <a:off x="9532939"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AFB7BDD-DF81-9CA6-7C09-6FB033EA94A5}"/>
                </a:ext>
              </a:extLst>
            </p:cNvPr>
            <p:cNvCxnSpPr>
              <a:cxnSpLocks/>
            </p:cNvCxnSpPr>
            <p:nvPr/>
          </p:nvCxnSpPr>
          <p:spPr>
            <a:xfrm>
              <a:off x="10290177"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352D36B4-BEBD-E472-10B1-15AD200B773B}"/>
                </a:ext>
              </a:extLst>
            </p:cNvPr>
            <p:cNvCxnSpPr>
              <a:cxnSpLocks/>
            </p:cNvCxnSpPr>
            <p:nvPr/>
          </p:nvCxnSpPr>
          <p:spPr>
            <a:xfrm>
              <a:off x="11047415"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文本框 104">
                  <a:extLst>
                    <a:ext uri="{FF2B5EF4-FFF2-40B4-BE49-F238E27FC236}">
                      <a16:creationId xmlns:a16="http://schemas.microsoft.com/office/drawing/2014/main" id="{74CC104A-DDB4-07B0-54B7-0B322DCEA7EB}"/>
                    </a:ext>
                  </a:extLst>
                </p:cNvPr>
                <p:cNvSpPr txBox="1"/>
                <p:nvPr/>
              </p:nvSpPr>
              <p:spPr>
                <a:xfrm>
                  <a:off x="7790581" y="4878884"/>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400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05" name="文本框 104">
                  <a:extLst>
                    <a:ext uri="{FF2B5EF4-FFF2-40B4-BE49-F238E27FC236}">
                      <a16:creationId xmlns:a16="http://schemas.microsoft.com/office/drawing/2014/main" id="{74CC104A-DDB4-07B0-54B7-0B322DCEA7EB}"/>
                    </a:ext>
                  </a:extLst>
                </p:cNvPr>
                <p:cNvSpPr txBox="1">
                  <a:spLocks noRot="1" noChangeAspect="1" noMove="1" noResize="1" noEditPoints="1" noAdjustHandles="1" noChangeArrowheads="1" noChangeShapeType="1" noTextEdit="1"/>
                </p:cNvSpPr>
                <p:nvPr/>
              </p:nvSpPr>
              <p:spPr>
                <a:xfrm>
                  <a:off x="7790581" y="4878884"/>
                  <a:ext cx="436017" cy="276999"/>
                </a:xfrm>
                <a:prstGeom prst="rect">
                  <a:avLst/>
                </a:prstGeom>
                <a:blipFill>
                  <a:blip r:embed="rId4"/>
                  <a:stretch>
                    <a:fillRect l="-13889" t="-28261" r="-375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D295CC16-C726-E254-4208-471AC07787ED}"/>
                    </a:ext>
                  </a:extLst>
                </p:cNvPr>
                <p:cNvSpPr txBox="1"/>
                <p:nvPr/>
              </p:nvSpPr>
              <p:spPr>
                <a:xfrm>
                  <a:off x="8548347" y="4878884"/>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5</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07" name="文本框 106">
                  <a:extLst>
                    <a:ext uri="{FF2B5EF4-FFF2-40B4-BE49-F238E27FC236}">
                      <a16:creationId xmlns:a16="http://schemas.microsoft.com/office/drawing/2014/main" id="{D295CC16-C726-E254-4208-471AC07787ED}"/>
                    </a:ext>
                  </a:extLst>
                </p:cNvPr>
                <p:cNvSpPr txBox="1">
                  <a:spLocks noRot="1" noChangeAspect="1" noMove="1" noResize="1" noEditPoints="1" noAdjustHandles="1" noChangeArrowheads="1" noChangeShapeType="1" noTextEdit="1"/>
                </p:cNvSpPr>
                <p:nvPr/>
              </p:nvSpPr>
              <p:spPr>
                <a:xfrm>
                  <a:off x="8548347" y="4878884"/>
                  <a:ext cx="436017" cy="276999"/>
                </a:xfrm>
                <a:prstGeom prst="rect">
                  <a:avLst/>
                </a:prstGeom>
                <a:blipFill>
                  <a:blip r:embed="rId5"/>
                  <a:stretch>
                    <a:fillRect l="-13889" t="-28261" r="-3888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9" name="文本框 108">
                  <a:extLst>
                    <a:ext uri="{FF2B5EF4-FFF2-40B4-BE49-F238E27FC236}">
                      <a16:creationId xmlns:a16="http://schemas.microsoft.com/office/drawing/2014/main" id="{09922D35-872C-4816-3EFB-23D07CF15FF8}"/>
                    </a:ext>
                  </a:extLst>
                </p:cNvPr>
                <p:cNvSpPr txBox="1"/>
                <p:nvPr/>
              </p:nvSpPr>
              <p:spPr>
                <a:xfrm>
                  <a:off x="9306113"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6</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09" name="文本框 108">
                  <a:extLst>
                    <a:ext uri="{FF2B5EF4-FFF2-40B4-BE49-F238E27FC236}">
                      <a16:creationId xmlns:a16="http://schemas.microsoft.com/office/drawing/2014/main" id="{09922D35-872C-4816-3EFB-23D07CF15FF8}"/>
                    </a:ext>
                  </a:extLst>
                </p:cNvPr>
                <p:cNvSpPr txBox="1">
                  <a:spLocks noRot="1" noChangeAspect="1" noMove="1" noResize="1" noEditPoints="1" noAdjustHandles="1" noChangeArrowheads="1" noChangeShapeType="1" noTextEdit="1"/>
                </p:cNvSpPr>
                <p:nvPr/>
              </p:nvSpPr>
              <p:spPr>
                <a:xfrm>
                  <a:off x="9306113" y="4878883"/>
                  <a:ext cx="436017" cy="276999"/>
                </a:xfrm>
                <a:prstGeom prst="rect">
                  <a:avLst/>
                </a:prstGeom>
                <a:blipFill>
                  <a:blip r:embed="rId6"/>
                  <a:stretch>
                    <a:fillRect l="-14085" t="-28261" r="-394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92C173CA-BF33-4342-A831-EBA539674150}"/>
                    </a:ext>
                  </a:extLst>
                </p:cNvPr>
                <p:cNvSpPr txBox="1"/>
                <p:nvPr/>
              </p:nvSpPr>
              <p:spPr>
                <a:xfrm>
                  <a:off x="10063879"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7</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11" name="文本框 110">
                  <a:extLst>
                    <a:ext uri="{FF2B5EF4-FFF2-40B4-BE49-F238E27FC236}">
                      <a16:creationId xmlns:a16="http://schemas.microsoft.com/office/drawing/2014/main" id="{92C173CA-BF33-4342-A831-EBA539674150}"/>
                    </a:ext>
                  </a:extLst>
                </p:cNvPr>
                <p:cNvSpPr txBox="1">
                  <a:spLocks noRot="1" noChangeAspect="1" noMove="1" noResize="1" noEditPoints="1" noAdjustHandles="1" noChangeArrowheads="1" noChangeShapeType="1" noTextEdit="1"/>
                </p:cNvSpPr>
                <p:nvPr/>
              </p:nvSpPr>
              <p:spPr>
                <a:xfrm>
                  <a:off x="10063879" y="4878883"/>
                  <a:ext cx="436017" cy="276999"/>
                </a:xfrm>
                <a:prstGeom prst="rect">
                  <a:avLst/>
                </a:prstGeom>
                <a:blipFill>
                  <a:blip r:embed="rId7"/>
                  <a:stretch>
                    <a:fillRect l="-14085" t="-28261" r="-394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文本框 112">
                  <a:extLst>
                    <a:ext uri="{FF2B5EF4-FFF2-40B4-BE49-F238E27FC236}">
                      <a16:creationId xmlns:a16="http://schemas.microsoft.com/office/drawing/2014/main" id="{11846830-A3EC-1B75-5679-4B4CB334E472}"/>
                    </a:ext>
                  </a:extLst>
                </p:cNvPr>
                <p:cNvSpPr txBox="1"/>
                <p:nvPr/>
              </p:nvSpPr>
              <p:spPr>
                <a:xfrm>
                  <a:off x="10820590"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8</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13" name="文本框 112">
                  <a:extLst>
                    <a:ext uri="{FF2B5EF4-FFF2-40B4-BE49-F238E27FC236}">
                      <a16:creationId xmlns:a16="http://schemas.microsoft.com/office/drawing/2014/main" id="{11846830-A3EC-1B75-5679-4B4CB334E472}"/>
                    </a:ext>
                  </a:extLst>
                </p:cNvPr>
                <p:cNvSpPr txBox="1">
                  <a:spLocks noRot="1" noChangeAspect="1" noMove="1" noResize="1" noEditPoints="1" noAdjustHandles="1" noChangeArrowheads="1" noChangeShapeType="1" noTextEdit="1"/>
                </p:cNvSpPr>
                <p:nvPr/>
              </p:nvSpPr>
              <p:spPr>
                <a:xfrm>
                  <a:off x="10820590" y="4878883"/>
                  <a:ext cx="436017" cy="276999"/>
                </a:xfrm>
                <a:prstGeom prst="rect">
                  <a:avLst/>
                </a:prstGeom>
                <a:blipFill>
                  <a:blip r:embed="rId8"/>
                  <a:stretch>
                    <a:fillRect l="-12500" t="-28261" r="-3888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文本框 113">
                  <a:extLst>
                    <a:ext uri="{FF2B5EF4-FFF2-40B4-BE49-F238E27FC236}">
                      <a16:creationId xmlns:a16="http://schemas.microsoft.com/office/drawing/2014/main" id="{8DDC3F30-4EA7-892D-0A4E-7FAFFEE72B63}"/>
                    </a:ext>
                  </a:extLst>
                </p:cNvPr>
                <p:cNvSpPr txBox="1"/>
                <p:nvPr/>
              </p:nvSpPr>
              <p:spPr>
                <a:xfrm>
                  <a:off x="9436372" y="5155882"/>
                  <a:ext cx="175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𝜆</m:t>
                        </m:r>
                      </m:oMath>
                    </m:oMathPara>
                  </a14:m>
                  <a:endParaRPr lang="en-US" altLang="zh-CN" b="0" dirty="0">
                    <a:latin typeface="Noto Sans SC" panose="020B0200000000000000" pitchFamily="34" charset="-122"/>
                    <a:ea typeface="Noto Sans SC" panose="020B0200000000000000" pitchFamily="34" charset="-122"/>
                  </a:endParaRPr>
                </a:p>
              </p:txBody>
            </p:sp>
          </mc:Choice>
          <mc:Fallback xmlns="">
            <p:sp>
              <p:nvSpPr>
                <p:cNvPr id="114" name="文本框 113">
                  <a:extLst>
                    <a:ext uri="{FF2B5EF4-FFF2-40B4-BE49-F238E27FC236}">
                      <a16:creationId xmlns:a16="http://schemas.microsoft.com/office/drawing/2014/main" id="{8DDC3F30-4EA7-892D-0A4E-7FAFFEE72B63}"/>
                    </a:ext>
                  </a:extLst>
                </p:cNvPr>
                <p:cNvSpPr txBox="1">
                  <a:spLocks noRot="1" noChangeAspect="1" noMove="1" noResize="1" noEditPoints="1" noAdjustHandles="1" noChangeArrowheads="1" noChangeShapeType="1" noTextEdit="1"/>
                </p:cNvSpPr>
                <p:nvPr/>
              </p:nvSpPr>
              <p:spPr>
                <a:xfrm>
                  <a:off x="9436372" y="5155882"/>
                  <a:ext cx="175497" cy="276999"/>
                </a:xfrm>
                <a:prstGeom prst="rect">
                  <a:avLst/>
                </a:prstGeom>
                <a:blipFill>
                  <a:blip r:embed="rId9"/>
                  <a:stretch>
                    <a:fillRect l="-34483" t="-28889" r="-93103" b="-51111"/>
                  </a:stretch>
                </a:blipFill>
              </p:spPr>
              <p:txBody>
                <a:bodyPr/>
                <a:lstStyle/>
                <a:p>
                  <a:r>
                    <a:rPr lang="zh-CN" altLang="en-US">
                      <a:noFill/>
                    </a:rPr>
                    <a:t> </a:t>
                  </a:r>
                </a:p>
              </p:txBody>
            </p:sp>
          </mc:Fallback>
        </mc:AlternateContent>
      </p:grpSp>
      <p:sp>
        <p:nvSpPr>
          <p:cNvPr id="131" name="文本框 130">
            <a:extLst>
              <a:ext uri="{FF2B5EF4-FFF2-40B4-BE49-F238E27FC236}">
                <a16:creationId xmlns:a16="http://schemas.microsoft.com/office/drawing/2014/main" id="{DC22EE93-4308-F565-1F82-3B262E06BFCA}"/>
              </a:ext>
            </a:extLst>
          </p:cNvPr>
          <p:cNvSpPr txBox="1"/>
          <p:nvPr/>
        </p:nvSpPr>
        <p:spPr>
          <a:xfrm>
            <a:off x="842135" y="2584450"/>
            <a:ext cx="5507149" cy="400110"/>
          </a:xfrm>
          <a:prstGeom prst="rect">
            <a:avLst/>
          </a:prstGeom>
          <a:noFill/>
        </p:spPr>
        <p:txBody>
          <a:bodyPr wrap="square" rtlCol="0">
            <a:spAutoFit/>
          </a:bodyPr>
          <a:lstStyle/>
          <a:p>
            <a:r>
              <a:rPr lang="zh-CN" altLang="en-US" sz="2000" dirty="0">
                <a:latin typeface="Noto Sans SC" panose="020B0200000000000000" pitchFamily="34" charset="-122"/>
                <a:ea typeface="Noto Sans SC" panose="020B0200000000000000" pitchFamily="34" charset="-122"/>
              </a:rPr>
              <a:t>在一定波长范围内，光谱分布的值都是常数。</a:t>
            </a:r>
          </a:p>
        </p:txBody>
      </p:sp>
      <p:pic>
        <p:nvPicPr>
          <p:cNvPr id="137" name="图片 136">
            <a:extLst>
              <a:ext uri="{FF2B5EF4-FFF2-40B4-BE49-F238E27FC236}">
                <a16:creationId xmlns:a16="http://schemas.microsoft.com/office/drawing/2014/main" id="{394E0352-498D-B332-BD4A-0ACE614A923D}"/>
              </a:ext>
            </a:extLst>
          </p:cNvPr>
          <p:cNvPicPr>
            <a:picLocks noChangeAspect="1"/>
          </p:cNvPicPr>
          <p:nvPr/>
        </p:nvPicPr>
        <p:blipFill>
          <a:blip r:embed="rId10"/>
          <a:stretch>
            <a:fillRect/>
          </a:stretch>
        </p:blipFill>
        <p:spPr>
          <a:xfrm>
            <a:off x="973309" y="3814753"/>
            <a:ext cx="5161744" cy="2198695"/>
          </a:xfrm>
          <a:prstGeom prst="rect">
            <a:avLst/>
          </a:prstGeom>
        </p:spPr>
      </p:pic>
    </p:spTree>
    <p:extLst>
      <p:ext uri="{BB962C8B-B14F-4D97-AF65-F5344CB8AC3E}">
        <p14:creationId xmlns:p14="http://schemas.microsoft.com/office/powerpoint/2010/main" val="2885245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72228-08FC-09F1-C901-2DC2AECB22D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61C4BA4-7637-E81E-E53D-5DABD0FABA7D}"/>
              </a:ext>
            </a:extLst>
          </p:cNvPr>
          <p:cNvSpPr>
            <a:spLocks noGrp="1"/>
          </p:cNvSpPr>
          <p:nvPr>
            <p:ph type="title" idx="1"/>
          </p:nvPr>
        </p:nvSpPr>
        <p:spPr/>
        <p:txBody>
          <a:bodyPr/>
          <a:lstStyle/>
          <a:p>
            <a:r>
              <a:rPr lang="zh-CN" altLang="en-US" dirty="0"/>
              <a:t>光谱分布在计算机中的表示</a:t>
            </a:r>
          </a:p>
        </p:txBody>
      </p:sp>
      <p:sp>
        <p:nvSpPr>
          <p:cNvPr id="11" name="文本框 10">
            <a:extLst>
              <a:ext uri="{FF2B5EF4-FFF2-40B4-BE49-F238E27FC236}">
                <a16:creationId xmlns:a16="http://schemas.microsoft.com/office/drawing/2014/main" id="{51D3008B-AAEF-E279-FF03-84DA0034563D}"/>
              </a:ext>
            </a:extLst>
          </p:cNvPr>
          <p:cNvSpPr txBox="1"/>
          <p:nvPr/>
        </p:nvSpPr>
        <p:spPr>
          <a:xfrm>
            <a:off x="1134371" y="1425751"/>
            <a:ext cx="10990823" cy="581057"/>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2400" b="1" dirty="0">
                <a:latin typeface="Noto Sans SC" panose="020B0200000000000000" pitchFamily="34" charset="-122"/>
                <a:ea typeface="Noto Sans SC" panose="020B0200000000000000" pitchFamily="34" charset="-122"/>
              </a:rPr>
              <a:t>Densely Sampled Spectrum</a:t>
            </a:r>
          </a:p>
        </p:txBody>
      </p:sp>
      <p:grpSp>
        <p:nvGrpSpPr>
          <p:cNvPr id="78" name="组合 77">
            <a:extLst>
              <a:ext uri="{FF2B5EF4-FFF2-40B4-BE49-F238E27FC236}">
                <a16:creationId xmlns:a16="http://schemas.microsoft.com/office/drawing/2014/main" id="{6BFA9502-E04A-7891-12A5-3FB9098E6085}"/>
              </a:ext>
            </a:extLst>
          </p:cNvPr>
          <p:cNvGrpSpPr/>
          <p:nvPr/>
        </p:nvGrpSpPr>
        <p:grpSpPr>
          <a:xfrm>
            <a:off x="7081588" y="2059365"/>
            <a:ext cx="4336093" cy="2679865"/>
            <a:chOff x="7081588" y="2059365"/>
            <a:chExt cx="4336093" cy="2679865"/>
          </a:xfrm>
        </p:grpSpPr>
        <p:pic>
          <p:nvPicPr>
            <p:cNvPr id="3" name="图片 2">
              <a:extLst>
                <a:ext uri="{FF2B5EF4-FFF2-40B4-BE49-F238E27FC236}">
                  <a16:creationId xmlns:a16="http://schemas.microsoft.com/office/drawing/2014/main" id="{6EE2D385-D455-0420-E0F0-5AE95D82E4CD}"/>
                </a:ext>
              </a:extLst>
            </p:cNvPr>
            <p:cNvPicPr>
              <a:picLocks noChangeAspect="1"/>
            </p:cNvPicPr>
            <p:nvPr/>
          </p:nvPicPr>
          <p:blipFill>
            <a:blip r:embed="rId2"/>
            <a:srcRect l="15703" t="9454" r="15925" b="21681"/>
            <a:stretch>
              <a:fillRect/>
            </a:stretch>
          </p:blipFill>
          <p:spPr>
            <a:xfrm>
              <a:off x="7081588" y="2059365"/>
              <a:ext cx="4336093" cy="2662900"/>
            </a:xfrm>
            <a:prstGeom prst="rect">
              <a:avLst/>
            </a:prstGeom>
          </p:spPr>
        </p:pic>
        <p:cxnSp>
          <p:nvCxnSpPr>
            <p:cNvPr id="48" name="直接连接符 47">
              <a:extLst>
                <a:ext uri="{FF2B5EF4-FFF2-40B4-BE49-F238E27FC236}">
                  <a16:creationId xmlns:a16="http://schemas.microsoft.com/office/drawing/2014/main" id="{1DAAF167-1774-9523-6EE9-18397490BCBE}"/>
                </a:ext>
              </a:extLst>
            </p:cNvPr>
            <p:cNvCxnSpPr/>
            <p:nvPr/>
          </p:nvCxnSpPr>
          <p:spPr>
            <a:xfrm flipV="1">
              <a:off x="7268435" y="4388502"/>
              <a:ext cx="0" cy="350728"/>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5FC52641-68E9-DFA4-E07E-A4E9DD4CB0C9}"/>
                </a:ext>
              </a:extLst>
            </p:cNvPr>
            <p:cNvCxnSpPr>
              <a:cxnSpLocks/>
            </p:cNvCxnSpPr>
            <p:nvPr/>
          </p:nvCxnSpPr>
          <p:spPr>
            <a:xfrm flipV="1">
              <a:off x="7420835" y="3907989"/>
              <a:ext cx="0" cy="83124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02888CF-E52E-D6EF-FF7D-137BADA546C6}"/>
                </a:ext>
              </a:extLst>
            </p:cNvPr>
            <p:cNvCxnSpPr>
              <a:cxnSpLocks/>
            </p:cNvCxnSpPr>
            <p:nvPr/>
          </p:nvCxnSpPr>
          <p:spPr>
            <a:xfrm flipV="1">
              <a:off x="7573235" y="3742889"/>
              <a:ext cx="0" cy="99634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9D8E2AC-1863-3B25-38A4-1E5D2ADD11DE}"/>
                </a:ext>
              </a:extLst>
            </p:cNvPr>
            <p:cNvCxnSpPr>
              <a:cxnSpLocks/>
            </p:cNvCxnSpPr>
            <p:nvPr/>
          </p:nvCxnSpPr>
          <p:spPr>
            <a:xfrm flipV="1">
              <a:off x="7725635" y="3606364"/>
              <a:ext cx="0" cy="11328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C1F1C751-A1FC-485B-D4F4-07F8B8240116}"/>
                </a:ext>
              </a:extLst>
            </p:cNvPr>
            <p:cNvCxnSpPr>
              <a:cxnSpLocks/>
            </p:cNvCxnSpPr>
            <p:nvPr/>
          </p:nvCxnSpPr>
          <p:spPr>
            <a:xfrm flipV="1">
              <a:off x="7878035" y="3453964"/>
              <a:ext cx="0" cy="12852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85764DBA-B5AB-3125-6F1D-4EADACB706DA}"/>
                </a:ext>
              </a:extLst>
            </p:cNvPr>
            <p:cNvCxnSpPr>
              <a:cxnSpLocks/>
            </p:cNvCxnSpPr>
            <p:nvPr/>
          </p:nvCxnSpPr>
          <p:spPr>
            <a:xfrm flipV="1">
              <a:off x="8030435" y="2704664"/>
              <a:ext cx="0" cy="20345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442C63E-E95E-4B4A-6BDA-482E3C37A70F}"/>
                </a:ext>
              </a:extLst>
            </p:cNvPr>
            <p:cNvCxnSpPr>
              <a:cxnSpLocks/>
            </p:cNvCxnSpPr>
            <p:nvPr/>
          </p:nvCxnSpPr>
          <p:spPr>
            <a:xfrm flipV="1">
              <a:off x="8182835" y="2815789"/>
              <a:ext cx="0" cy="192344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3E8472D8-37C5-8A12-7F4F-F6422E0B88EE}"/>
                </a:ext>
              </a:extLst>
            </p:cNvPr>
            <p:cNvCxnSpPr>
              <a:cxnSpLocks/>
            </p:cNvCxnSpPr>
            <p:nvPr/>
          </p:nvCxnSpPr>
          <p:spPr>
            <a:xfrm flipV="1">
              <a:off x="8335235" y="2222064"/>
              <a:ext cx="0" cy="25171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F392E008-06BF-625F-EDBA-C56D3D8BC608}"/>
                </a:ext>
              </a:extLst>
            </p:cNvPr>
            <p:cNvCxnSpPr>
              <a:cxnSpLocks/>
            </p:cNvCxnSpPr>
            <p:nvPr/>
          </p:nvCxnSpPr>
          <p:spPr>
            <a:xfrm flipV="1">
              <a:off x="8487635" y="2199839"/>
              <a:ext cx="0" cy="253939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C36AD9D8-74B8-3028-C529-AFDFB8D0EF85}"/>
                </a:ext>
              </a:extLst>
            </p:cNvPr>
            <p:cNvCxnSpPr>
              <a:cxnSpLocks/>
            </p:cNvCxnSpPr>
            <p:nvPr/>
          </p:nvCxnSpPr>
          <p:spPr>
            <a:xfrm flipV="1">
              <a:off x="8640035" y="2301439"/>
              <a:ext cx="0" cy="243779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AB99C7D-9179-06DF-8376-96F7D23CFF8D}"/>
                </a:ext>
              </a:extLst>
            </p:cNvPr>
            <p:cNvCxnSpPr>
              <a:cxnSpLocks/>
            </p:cNvCxnSpPr>
            <p:nvPr/>
          </p:nvCxnSpPr>
          <p:spPr>
            <a:xfrm flipV="1">
              <a:off x="8792435" y="2336364"/>
              <a:ext cx="0" cy="24028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14E1A8C-8164-E106-AB5D-99D076F9AD81}"/>
                </a:ext>
              </a:extLst>
            </p:cNvPr>
            <p:cNvCxnSpPr>
              <a:cxnSpLocks/>
            </p:cNvCxnSpPr>
            <p:nvPr/>
          </p:nvCxnSpPr>
          <p:spPr>
            <a:xfrm flipV="1">
              <a:off x="8944835" y="2390339"/>
              <a:ext cx="0" cy="234889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696DB185-7A4A-4E0D-3BA2-92ED7686FFE2}"/>
                </a:ext>
              </a:extLst>
            </p:cNvPr>
            <p:cNvCxnSpPr>
              <a:cxnSpLocks/>
            </p:cNvCxnSpPr>
            <p:nvPr/>
          </p:nvCxnSpPr>
          <p:spPr>
            <a:xfrm flipV="1">
              <a:off x="9097235" y="2425264"/>
              <a:ext cx="0" cy="23139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7307D5FE-6468-797A-6DA5-4981A41396B5}"/>
                </a:ext>
              </a:extLst>
            </p:cNvPr>
            <p:cNvCxnSpPr>
              <a:cxnSpLocks/>
            </p:cNvCxnSpPr>
            <p:nvPr/>
          </p:nvCxnSpPr>
          <p:spPr>
            <a:xfrm flipV="1">
              <a:off x="9249635" y="2571314"/>
              <a:ext cx="0" cy="216791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A71B5E9-EF09-6244-C48C-50948D14E6E7}"/>
                </a:ext>
              </a:extLst>
            </p:cNvPr>
            <p:cNvCxnSpPr>
              <a:cxnSpLocks/>
            </p:cNvCxnSpPr>
            <p:nvPr/>
          </p:nvCxnSpPr>
          <p:spPr>
            <a:xfrm flipV="1">
              <a:off x="9402035" y="2657039"/>
              <a:ext cx="0" cy="208219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1CD96EB5-38FB-FAD0-3D9A-F96BEA443C56}"/>
                </a:ext>
              </a:extLst>
            </p:cNvPr>
            <p:cNvCxnSpPr>
              <a:cxnSpLocks/>
            </p:cNvCxnSpPr>
            <p:nvPr/>
          </p:nvCxnSpPr>
          <p:spPr>
            <a:xfrm flipV="1">
              <a:off x="9554435" y="2749114"/>
              <a:ext cx="0" cy="199011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D9A739D-0647-BD1A-4AEA-95DCF5BD49CD}"/>
                </a:ext>
              </a:extLst>
            </p:cNvPr>
            <p:cNvCxnSpPr>
              <a:cxnSpLocks/>
            </p:cNvCxnSpPr>
            <p:nvPr/>
          </p:nvCxnSpPr>
          <p:spPr>
            <a:xfrm flipV="1">
              <a:off x="9706835" y="2815789"/>
              <a:ext cx="0" cy="192344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C8DF6-DDDF-48F7-1E97-AA11EB524A59}"/>
                </a:ext>
              </a:extLst>
            </p:cNvPr>
            <p:cNvCxnSpPr>
              <a:cxnSpLocks/>
            </p:cNvCxnSpPr>
            <p:nvPr/>
          </p:nvCxnSpPr>
          <p:spPr>
            <a:xfrm flipV="1">
              <a:off x="9859235" y="2901514"/>
              <a:ext cx="0" cy="183771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84F6DEAD-DFB3-9F03-2F54-A373C743586A}"/>
                </a:ext>
              </a:extLst>
            </p:cNvPr>
            <p:cNvCxnSpPr>
              <a:cxnSpLocks/>
            </p:cNvCxnSpPr>
            <p:nvPr/>
          </p:nvCxnSpPr>
          <p:spPr>
            <a:xfrm flipV="1">
              <a:off x="10011635" y="2971364"/>
              <a:ext cx="0" cy="17678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51EA3C0C-B0FF-AE5E-87CF-9B19C7DDADE1}"/>
                </a:ext>
              </a:extLst>
            </p:cNvPr>
            <p:cNvCxnSpPr>
              <a:cxnSpLocks/>
            </p:cNvCxnSpPr>
            <p:nvPr/>
          </p:nvCxnSpPr>
          <p:spPr>
            <a:xfrm flipV="1">
              <a:off x="10164035" y="2999939"/>
              <a:ext cx="0" cy="173929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9D6FC87-0815-77BE-4DFA-6D86CBEBD9C4}"/>
                </a:ext>
              </a:extLst>
            </p:cNvPr>
            <p:cNvCxnSpPr>
              <a:cxnSpLocks/>
            </p:cNvCxnSpPr>
            <p:nvPr/>
          </p:nvCxnSpPr>
          <p:spPr>
            <a:xfrm flipV="1">
              <a:off x="10316435" y="3187264"/>
              <a:ext cx="0" cy="15519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7C02F022-DBAE-08B3-9FA2-F9A1D5A1ACF7}"/>
                </a:ext>
              </a:extLst>
            </p:cNvPr>
            <p:cNvCxnSpPr>
              <a:cxnSpLocks/>
            </p:cNvCxnSpPr>
            <p:nvPr/>
          </p:nvCxnSpPr>
          <p:spPr>
            <a:xfrm flipV="1">
              <a:off x="10468835" y="3244414"/>
              <a:ext cx="0" cy="149481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CAF7162F-78A6-E0A3-E2A3-C2B1DADDF23F}"/>
                </a:ext>
              </a:extLst>
            </p:cNvPr>
            <p:cNvCxnSpPr>
              <a:cxnSpLocks/>
            </p:cNvCxnSpPr>
            <p:nvPr/>
          </p:nvCxnSpPr>
          <p:spPr>
            <a:xfrm flipV="1">
              <a:off x="10621235" y="3187264"/>
              <a:ext cx="0" cy="15519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260F67B7-5E63-B741-67CF-6E109B70520E}"/>
                </a:ext>
              </a:extLst>
            </p:cNvPr>
            <p:cNvCxnSpPr>
              <a:cxnSpLocks/>
            </p:cNvCxnSpPr>
            <p:nvPr/>
          </p:nvCxnSpPr>
          <p:spPr>
            <a:xfrm flipV="1">
              <a:off x="10773635" y="3507939"/>
              <a:ext cx="0" cy="123129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23DDB52-2FB8-2F84-DB8D-E6C2EB445E0E}"/>
                </a:ext>
              </a:extLst>
            </p:cNvPr>
            <p:cNvCxnSpPr>
              <a:cxnSpLocks/>
            </p:cNvCxnSpPr>
            <p:nvPr/>
          </p:nvCxnSpPr>
          <p:spPr>
            <a:xfrm flipV="1">
              <a:off x="10926035" y="3298389"/>
              <a:ext cx="0" cy="144084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176D3FB-A4CC-FB00-85D0-DC1DC4FCB599}"/>
                </a:ext>
              </a:extLst>
            </p:cNvPr>
            <p:cNvCxnSpPr>
              <a:cxnSpLocks/>
            </p:cNvCxnSpPr>
            <p:nvPr/>
          </p:nvCxnSpPr>
          <p:spPr>
            <a:xfrm flipV="1">
              <a:off x="11078435" y="3333314"/>
              <a:ext cx="0" cy="140591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9D5FFAE7-6C59-C84A-9C1A-4C399C6020DF}"/>
                </a:ext>
              </a:extLst>
            </p:cNvPr>
            <p:cNvCxnSpPr>
              <a:cxnSpLocks/>
            </p:cNvCxnSpPr>
            <p:nvPr/>
          </p:nvCxnSpPr>
          <p:spPr>
            <a:xfrm flipV="1">
              <a:off x="11230835" y="3584139"/>
              <a:ext cx="0" cy="115509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222E3ADD-01C6-351B-5721-E56DF84B4C55}"/>
                </a:ext>
              </a:extLst>
            </p:cNvPr>
            <p:cNvCxnSpPr>
              <a:cxnSpLocks/>
            </p:cNvCxnSpPr>
            <p:nvPr/>
          </p:nvCxnSpPr>
          <p:spPr>
            <a:xfrm flipV="1">
              <a:off x="11383235" y="3428564"/>
              <a:ext cx="0" cy="13106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009E8751-F008-A96D-9D8E-4E682EBC5B9F}"/>
              </a:ext>
            </a:extLst>
          </p:cNvPr>
          <p:cNvGrpSpPr/>
          <p:nvPr/>
        </p:nvGrpSpPr>
        <p:grpSpPr>
          <a:xfrm>
            <a:off x="7008312" y="1797485"/>
            <a:ext cx="4878888" cy="3635396"/>
            <a:chOff x="7008312" y="1797485"/>
            <a:chExt cx="4878888" cy="3635396"/>
          </a:xfrm>
        </p:grpSpPr>
        <p:cxnSp>
          <p:nvCxnSpPr>
            <p:cNvPr id="6" name="直接箭头连接符 5">
              <a:extLst>
                <a:ext uri="{FF2B5EF4-FFF2-40B4-BE49-F238E27FC236}">
                  <a16:creationId xmlns:a16="http://schemas.microsoft.com/office/drawing/2014/main" id="{8D0EE389-5CB7-97E9-BC22-CA676390E6F9}"/>
                </a:ext>
              </a:extLst>
            </p:cNvPr>
            <p:cNvCxnSpPr>
              <a:cxnSpLocks/>
            </p:cNvCxnSpPr>
            <p:nvPr/>
          </p:nvCxnSpPr>
          <p:spPr>
            <a:xfrm flipV="1">
              <a:off x="7121047" y="1797485"/>
              <a:ext cx="0" cy="30814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15C4F1B6-CEBC-9D63-2763-E29EF7708138}"/>
                </a:ext>
              </a:extLst>
            </p:cNvPr>
            <p:cNvCxnSpPr>
              <a:cxnSpLocks/>
            </p:cNvCxnSpPr>
            <p:nvPr/>
          </p:nvCxnSpPr>
          <p:spPr>
            <a:xfrm>
              <a:off x="7008312" y="4753627"/>
              <a:ext cx="487888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A0B010AE-1F8A-738A-328D-E5DEB71DB87A}"/>
                </a:ext>
              </a:extLst>
            </p:cNvPr>
            <p:cNvCxnSpPr>
              <a:cxnSpLocks/>
            </p:cNvCxnSpPr>
            <p:nvPr/>
          </p:nvCxnSpPr>
          <p:spPr>
            <a:xfrm>
              <a:off x="8017934"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C4858A28-00C0-9037-5F64-B93C5D32F88F}"/>
                </a:ext>
              </a:extLst>
            </p:cNvPr>
            <p:cNvCxnSpPr>
              <a:cxnSpLocks/>
            </p:cNvCxnSpPr>
            <p:nvPr/>
          </p:nvCxnSpPr>
          <p:spPr>
            <a:xfrm>
              <a:off x="8775172"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8C5A7F5-0E08-787A-63C6-5F5013C47B91}"/>
                </a:ext>
              </a:extLst>
            </p:cNvPr>
            <p:cNvCxnSpPr>
              <a:cxnSpLocks/>
            </p:cNvCxnSpPr>
            <p:nvPr/>
          </p:nvCxnSpPr>
          <p:spPr>
            <a:xfrm>
              <a:off x="9532939"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1C041E27-276A-6F60-B02C-28B5278CB305}"/>
                </a:ext>
              </a:extLst>
            </p:cNvPr>
            <p:cNvCxnSpPr>
              <a:cxnSpLocks/>
            </p:cNvCxnSpPr>
            <p:nvPr/>
          </p:nvCxnSpPr>
          <p:spPr>
            <a:xfrm>
              <a:off x="10290177"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69E7B3C-953B-EAE9-B3EE-97E0C163B14D}"/>
                </a:ext>
              </a:extLst>
            </p:cNvPr>
            <p:cNvCxnSpPr>
              <a:cxnSpLocks/>
            </p:cNvCxnSpPr>
            <p:nvPr/>
          </p:nvCxnSpPr>
          <p:spPr>
            <a:xfrm>
              <a:off x="11047415"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3611E0C-1989-B0C9-5515-F04341E9B063}"/>
                    </a:ext>
                  </a:extLst>
                </p:cNvPr>
                <p:cNvSpPr txBox="1"/>
                <p:nvPr/>
              </p:nvSpPr>
              <p:spPr>
                <a:xfrm>
                  <a:off x="7790581" y="4878884"/>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400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5" name="文本框 14">
                  <a:extLst>
                    <a:ext uri="{FF2B5EF4-FFF2-40B4-BE49-F238E27FC236}">
                      <a16:creationId xmlns:a16="http://schemas.microsoft.com/office/drawing/2014/main" id="{D3611E0C-1989-B0C9-5515-F04341E9B063}"/>
                    </a:ext>
                  </a:extLst>
                </p:cNvPr>
                <p:cNvSpPr txBox="1">
                  <a:spLocks noRot="1" noChangeAspect="1" noMove="1" noResize="1" noEditPoints="1" noAdjustHandles="1" noChangeArrowheads="1" noChangeShapeType="1" noTextEdit="1"/>
                </p:cNvSpPr>
                <p:nvPr/>
              </p:nvSpPr>
              <p:spPr>
                <a:xfrm>
                  <a:off x="7790581" y="4878884"/>
                  <a:ext cx="436017" cy="276999"/>
                </a:xfrm>
                <a:prstGeom prst="rect">
                  <a:avLst/>
                </a:prstGeom>
                <a:blipFill>
                  <a:blip r:embed="rId3"/>
                  <a:stretch>
                    <a:fillRect l="-13889" t="-28261" r="-375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6161240-544E-DA3B-87A2-705980FD72F6}"/>
                    </a:ext>
                  </a:extLst>
                </p:cNvPr>
                <p:cNvSpPr txBox="1"/>
                <p:nvPr/>
              </p:nvSpPr>
              <p:spPr>
                <a:xfrm>
                  <a:off x="8548347" y="4878884"/>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5</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6" name="文本框 15">
                  <a:extLst>
                    <a:ext uri="{FF2B5EF4-FFF2-40B4-BE49-F238E27FC236}">
                      <a16:creationId xmlns:a16="http://schemas.microsoft.com/office/drawing/2014/main" id="{E6161240-544E-DA3B-87A2-705980FD72F6}"/>
                    </a:ext>
                  </a:extLst>
                </p:cNvPr>
                <p:cNvSpPr txBox="1">
                  <a:spLocks noRot="1" noChangeAspect="1" noMove="1" noResize="1" noEditPoints="1" noAdjustHandles="1" noChangeArrowheads="1" noChangeShapeType="1" noTextEdit="1"/>
                </p:cNvSpPr>
                <p:nvPr/>
              </p:nvSpPr>
              <p:spPr>
                <a:xfrm>
                  <a:off x="8548347" y="4878884"/>
                  <a:ext cx="436017" cy="276999"/>
                </a:xfrm>
                <a:prstGeom prst="rect">
                  <a:avLst/>
                </a:prstGeom>
                <a:blipFill>
                  <a:blip r:embed="rId4"/>
                  <a:stretch>
                    <a:fillRect l="-13889" t="-28261" r="-3888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FA67046-583D-F9DA-98EE-1D5B42A3BA95}"/>
                    </a:ext>
                  </a:extLst>
                </p:cNvPr>
                <p:cNvSpPr txBox="1"/>
                <p:nvPr/>
              </p:nvSpPr>
              <p:spPr>
                <a:xfrm>
                  <a:off x="9306113"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6</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7" name="文本框 16">
                  <a:extLst>
                    <a:ext uri="{FF2B5EF4-FFF2-40B4-BE49-F238E27FC236}">
                      <a16:creationId xmlns:a16="http://schemas.microsoft.com/office/drawing/2014/main" id="{8FA67046-583D-F9DA-98EE-1D5B42A3BA95}"/>
                    </a:ext>
                  </a:extLst>
                </p:cNvPr>
                <p:cNvSpPr txBox="1">
                  <a:spLocks noRot="1" noChangeAspect="1" noMove="1" noResize="1" noEditPoints="1" noAdjustHandles="1" noChangeArrowheads="1" noChangeShapeType="1" noTextEdit="1"/>
                </p:cNvSpPr>
                <p:nvPr/>
              </p:nvSpPr>
              <p:spPr>
                <a:xfrm>
                  <a:off x="9306113" y="4878883"/>
                  <a:ext cx="436017" cy="276999"/>
                </a:xfrm>
                <a:prstGeom prst="rect">
                  <a:avLst/>
                </a:prstGeom>
                <a:blipFill>
                  <a:blip r:embed="rId5"/>
                  <a:stretch>
                    <a:fillRect l="-14085" t="-28261" r="-394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1517DDD-BD88-01EA-0A54-62DFE17ED83F}"/>
                    </a:ext>
                  </a:extLst>
                </p:cNvPr>
                <p:cNvSpPr txBox="1"/>
                <p:nvPr/>
              </p:nvSpPr>
              <p:spPr>
                <a:xfrm>
                  <a:off x="10063879"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7</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8" name="文本框 17">
                  <a:extLst>
                    <a:ext uri="{FF2B5EF4-FFF2-40B4-BE49-F238E27FC236}">
                      <a16:creationId xmlns:a16="http://schemas.microsoft.com/office/drawing/2014/main" id="{F1517DDD-BD88-01EA-0A54-62DFE17ED83F}"/>
                    </a:ext>
                  </a:extLst>
                </p:cNvPr>
                <p:cNvSpPr txBox="1">
                  <a:spLocks noRot="1" noChangeAspect="1" noMove="1" noResize="1" noEditPoints="1" noAdjustHandles="1" noChangeArrowheads="1" noChangeShapeType="1" noTextEdit="1"/>
                </p:cNvSpPr>
                <p:nvPr/>
              </p:nvSpPr>
              <p:spPr>
                <a:xfrm>
                  <a:off x="10063879" y="4878883"/>
                  <a:ext cx="436017" cy="276999"/>
                </a:xfrm>
                <a:prstGeom prst="rect">
                  <a:avLst/>
                </a:prstGeom>
                <a:blipFill>
                  <a:blip r:embed="rId6"/>
                  <a:stretch>
                    <a:fillRect l="-14085" t="-28261" r="-394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D409E2C0-AECB-7EA3-7DF9-E47599B8DCEB}"/>
                    </a:ext>
                  </a:extLst>
                </p:cNvPr>
                <p:cNvSpPr txBox="1"/>
                <p:nvPr/>
              </p:nvSpPr>
              <p:spPr>
                <a:xfrm>
                  <a:off x="10820590"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8</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25" name="文本框 24">
                  <a:extLst>
                    <a:ext uri="{FF2B5EF4-FFF2-40B4-BE49-F238E27FC236}">
                      <a16:creationId xmlns:a16="http://schemas.microsoft.com/office/drawing/2014/main" id="{D409E2C0-AECB-7EA3-7DF9-E47599B8DCEB}"/>
                    </a:ext>
                  </a:extLst>
                </p:cNvPr>
                <p:cNvSpPr txBox="1">
                  <a:spLocks noRot="1" noChangeAspect="1" noMove="1" noResize="1" noEditPoints="1" noAdjustHandles="1" noChangeArrowheads="1" noChangeShapeType="1" noTextEdit="1"/>
                </p:cNvSpPr>
                <p:nvPr/>
              </p:nvSpPr>
              <p:spPr>
                <a:xfrm>
                  <a:off x="10820590" y="4878883"/>
                  <a:ext cx="436017" cy="276999"/>
                </a:xfrm>
                <a:prstGeom prst="rect">
                  <a:avLst/>
                </a:prstGeom>
                <a:blipFill>
                  <a:blip r:embed="rId7"/>
                  <a:stretch>
                    <a:fillRect l="-12500" t="-28261" r="-3888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FF1BB052-459B-9CB0-ED15-BB70620F03EA}"/>
                    </a:ext>
                  </a:extLst>
                </p:cNvPr>
                <p:cNvSpPr txBox="1"/>
                <p:nvPr/>
              </p:nvSpPr>
              <p:spPr>
                <a:xfrm>
                  <a:off x="9436372" y="5155882"/>
                  <a:ext cx="175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𝜆</m:t>
                        </m:r>
                      </m:oMath>
                    </m:oMathPara>
                  </a14:m>
                  <a:endParaRPr lang="en-US" altLang="zh-CN" b="0" dirty="0">
                    <a:latin typeface="Noto Sans SC" panose="020B0200000000000000" pitchFamily="34" charset="-122"/>
                    <a:ea typeface="Noto Sans SC" panose="020B0200000000000000" pitchFamily="34" charset="-122"/>
                  </a:endParaRPr>
                </a:p>
              </p:txBody>
            </p:sp>
          </mc:Choice>
          <mc:Fallback xmlns="">
            <p:sp>
              <p:nvSpPr>
                <p:cNvPr id="47" name="文本框 46">
                  <a:extLst>
                    <a:ext uri="{FF2B5EF4-FFF2-40B4-BE49-F238E27FC236}">
                      <a16:creationId xmlns:a16="http://schemas.microsoft.com/office/drawing/2014/main" id="{FF1BB052-459B-9CB0-ED15-BB70620F03EA}"/>
                    </a:ext>
                  </a:extLst>
                </p:cNvPr>
                <p:cNvSpPr txBox="1">
                  <a:spLocks noRot="1" noChangeAspect="1" noMove="1" noResize="1" noEditPoints="1" noAdjustHandles="1" noChangeArrowheads="1" noChangeShapeType="1" noTextEdit="1"/>
                </p:cNvSpPr>
                <p:nvPr/>
              </p:nvSpPr>
              <p:spPr>
                <a:xfrm>
                  <a:off x="9436372" y="5155882"/>
                  <a:ext cx="175497" cy="276999"/>
                </a:xfrm>
                <a:prstGeom prst="rect">
                  <a:avLst/>
                </a:prstGeom>
                <a:blipFill>
                  <a:blip r:embed="rId8"/>
                  <a:stretch>
                    <a:fillRect l="-34483" t="-28889" r="-93103" b="-51111"/>
                  </a:stretch>
                </a:blipFill>
              </p:spPr>
              <p:txBody>
                <a:bodyPr/>
                <a:lstStyle/>
                <a:p>
                  <a:r>
                    <a:rPr lang="zh-CN" altLang="en-US">
                      <a:noFill/>
                    </a:rPr>
                    <a:t> </a:t>
                  </a:r>
                </a:p>
              </p:txBody>
            </p:sp>
          </mc:Fallback>
        </mc:AlternateContent>
      </p:grpSp>
      <p:sp>
        <p:nvSpPr>
          <p:cNvPr id="80" name="文本框 79">
            <a:extLst>
              <a:ext uri="{FF2B5EF4-FFF2-40B4-BE49-F238E27FC236}">
                <a16:creationId xmlns:a16="http://schemas.microsoft.com/office/drawing/2014/main" id="{6236D212-90C3-3E3C-3D69-7D8FEBFBCBA2}"/>
              </a:ext>
            </a:extLst>
          </p:cNvPr>
          <p:cNvSpPr txBox="1"/>
          <p:nvPr/>
        </p:nvSpPr>
        <p:spPr>
          <a:xfrm>
            <a:off x="842135" y="2584450"/>
            <a:ext cx="5253865" cy="707886"/>
          </a:xfrm>
          <a:prstGeom prst="rect">
            <a:avLst/>
          </a:prstGeom>
          <a:noFill/>
        </p:spPr>
        <p:txBody>
          <a:bodyPr wrap="square" rtlCol="0">
            <a:spAutoFit/>
          </a:bodyPr>
          <a:lstStyle/>
          <a:p>
            <a:r>
              <a:rPr lang="zh-CN" altLang="en-US" sz="2000" dirty="0">
                <a:latin typeface="Noto Sans SC" panose="020B0200000000000000" pitchFamily="34" charset="-122"/>
                <a:ea typeface="Noto Sans SC" panose="020B0200000000000000" pitchFamily="34" charset="-122"/>
              </a:rPr>
              <a:t>         每隔</a:t>
            </a:r>
            <a:r>
              <a:rPr lang="en-US" altLang="zh-CN" sz="2000" dirty="0">
                <a:latin typeface="Noto Sans SC" panose="020B0200000000000000" pitchFamily="34" charset="-122"/>
                <a:ea typeface="Noto Sans SC" panose="020B0200000000000000" pitchFamily="34" charset="-122"/>
              </a:rPr>
              <a:t>1nm</a:t>
            </a:r>
            <a:r>
              <a:rPr lang="zh-CN" altLang="en-US" sz="2000" dirty="0">
                <a:latin typeface="Noto Sans SC" panose="020B0200000000000000" pitchFamily="34" charset="-122"/>
                <a:ea typeface="Noto Sans SC" panose="020B0200000000000000" pitchFamily="34" charset="-122"/>
              </a:rPr>
              <a:t>，对光谱进行采样，用一系列密集的采样点，表示出一条光谱。</a:t>
            </a:r>
          </a:p>
        </p:txBody>
      </p:sp>
      <p:pic>
        <p:nvPicPr>
          <p:cNvPr id="90" name="图片 89">
            <a:extLst>
              <a:ext uri="{FF2B5EF4-FFF2-40B4-BE49-F238E27FC236}">
                <a16:creationId xmlns:a16="http://schemas.microsoft.com/office/drawing/2014/main" id="{2A7AEEF4-EA52-F6B5-CB46-7CEBB98995EA}"/>
              </a:ext>
            </a:extLst>
          </p:cNvPr>
          <p:cNvPicPr>
            <a:picLocks noChangeAspect="1"/>
          </p:cNvPicPr>
          <p:nvPr/>
        </p:nvPicPr>
        <p:blipFill>
          <a:blip r:embed="rId9"/>
          <a:stretch>
            <a:fillRect/>
          </a:stretch>
        </p:blipFill>
        <p:spPr>
          <a:xfrm>
            <a:off x="1370727" y="3742889"/>
            <a:ext cx="4465797" cy="2375771"/>
          </a:xfrm>
          <a:prstGeom prst="rect">
            <a:avLst/>
          </a:prstGeom>
        </p:spPr>
      </p:pic>
    </p:spTree>
    <p:extLst>
      <p:ext uri="{BB962C8B-B14F-4D97-AF65-F5344CB8AC3E}">
        <p14:creationId xmlns:p14="http://schemas.microsoft.com/office/powerpoint/2010/main" val="1999848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689F6-872A-8B12-485D-27D13934D4C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B3C374C-7CF2-361D-D9BF-51538496A7A0}"/>
              </a:ext>
            </a:extLst>
          </p:cNvPr>
          <p:cNvSpPr>
            <a:spLocks noGrp="1"/>
          </p:cNvSpPr>
          <p:nvPr>
            <p:ph type="title" idx="1"/>
          </p:nvPr>
        </p:nvSpPr>
        <p:spPr/>
        <p:txBody>
          <a:bodyPr/>
          <a:lstStyle/>
          <a:p>
            <a:r>
              <a:rPr lang="zh-CN" altLang="en-US" dirty="0"/>
              <a:t>光谱分布在计算机中的表示</a:t>
            </a:r>
          </a:p>
        </p:txBody>
      </p:sp>
      <p:sp>
        <p:nvSpPr>
          <p:cNvPr id="11" name="文本框 10">
            <a:extLst>
              <a:ext uri="{FF2B5EF4-FFF2-40B4-BE49-F238E27FC236}">
                <a16:creationId xmlns:a16="http://schemas.microsoft.com/office/drawing/2014/main" id="{0FF3EEF9-7AD2-C49C-B96F-421EB3D2AE13}"/>
              </a:ext>
            </a:extLst>
          </p:cNvPr>
          <p:cNvSpPr txBox="1"/>
          <p:nvPr/>
        </p:nvSpPr>
        <p:spPr>
          <a:xfrm>
            <a:off x="1134371" y="1425751"/>
            <a:ext cx="10990823" cy="581057"/>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2400" b="1" dirty="0">
                <a:latin typeface="Noto Sans SC" panose="020B0200000000000000" pitchFamily="34" charset="-122"/>
                <a:ea typeface="Noto Sans SC" panose="020B0200000000000000" pitchFamily="34" charset="-122"/>
              </a:rPr>
              <a:t>Piecewise Linear Spectrum</a:t>
            </a:r>
          </a:p>
        </p:txBody>
      </p:sp>
      <p:cxnSp>
        <p:nvCxnSpPr>
          <p:cNvPr id="48" name="直接连接符 47">
            <a:extLst>
              <a:ext uri="{FF2B5EF4-FFF2-40B4-BE49-F238E27FC236}">
                <a16:creationId xmlns:a16="http://schemas.microsoft.com/office/drawing/2014/main" id="{7D9FF0A3-9BB2-F7BA-AF78-466C5C92B003}"/>
              </a:ext>
            </a:extLst>
          </p:cNvPr>
          <p:cNvCxnSpPr/>
          <p:nvPr/>
        </p:nvCxnSpPr>
        <p:spPr>
          <a:xfrm flipV="1">
            <a:off x="7268435" y="4388502"/>
            <a:ext cx="0" cy="350728"/>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0A877C25-B1F8-33D9-1C10-FC2CC14531BF}"/>
              </a:ext>
            </a:extLst>
          </p:cNvPr>
          <p:cNvCxnSpPr>
            <a:cxnSpLocks/>
          </p:cNvCxnSpPr>
          <p:nvPr/>
        </p:nvCxnSpPr>
        <p:spPr>
          <a:xfrm flipV="1">
            <a:off x="7878035" y="3769360"/>
            <a:ext cx="0" cy="969870"/>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DDEA0C84-F3F7-1855-820E-5C228679913A}"/>
              </a:ext>
            </a:extLst>
          </p:cNvPr>
          <p:cNvCxnSpPr>
            <a:cxnSpLocks/>
          </p:cNvCxnSpPr>
          <p:nvPr/>
        </p:nvCxnSpPr>
        <p:spPr>
          <a:xfrm flipH="1" flipV="1">
            <a:off x="8487634" y="2199838"/>
            <a:ext cx="1" cy="2539392"/>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733C8D8-FD7B-0508-98AC-48F9585F1D58}"/>
              </a:ext>
            </a:extLst>
          </p:cNvPr>
          <p:cNvCxnSpPr>
            <a:cxnSpLocks/>
          </p:cNvCxnSpPr>
          <p:nvPr/>
        </p:nvCxnSpPr>
        <p:spPr>
          <a:xfrm flipV="1">
            <a:off x="9097235" y="2425264"/>
            <a:ext cx="0" cy="231396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7BDB293A-DE75-8999-77FD-E82F5F6E9AE9}"/>
              </a:ext>
            </a:extLst>
          </p:cNvPr>
          <p:cNvCxnSpPr>
            <a:cxnSpLocks/>
          </p:cNvCxnSpPr>
          <p:nvPr/>
        </p:nvCxnSpPr>
        <p:spPr>
          <a:xfrm flipV="1">
            <a:off x="9706835" y="3183484"/>
            <a:ext cx="0" cy="1555746"/>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5875487C-FFBF-3EDC-4590-F5342C85EBAB}"/>
              </a:ext>
            </a:extLst>
          </p:cNvPr>
          <p:cNvCxnSpPr>
            <a:cxnSpLocks/>
          </p:cNvCxnSpPr>
          <p:nvPr/>
        </p:nvCxnSpPr>
        <p:spPr>
          <a:xfrm flipH="1" flipV="1">
            <a:off x="10316417" y="2906485"/>
            <a:ext cx="18" cy="1832745"/>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8D30544D-C105-7BFE-7670-DBC63D853562}"/>
              </a:ext>
            </a:extLst>
          </p:cNvPr>
          <p:cNvCxnSpPr>
            <a:cxnSpLocks/>
          </p:cNvCxnSpPr>
          <p:nvPr/>
        </p:nvCxnSpPr>
        <p:spPr>
          <a:xfrm flipV="1">
            <a:off x="10926035" y="3298389"/>
            <a:ext cx="0" cy="1440841"/>
          </a:xfrm>
          <a:prstGeom prst="line">
            <a:avLst/>
          </a:prstGeom>
          <a:ln w="28575">
            <a:solidFill>
              <a:srgbClr val="92D050"/>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a:extLst>
              <a:ext uri="{FF2B5EF4-FFF2-40B4-BE49-F238E27FC236}">
                <a16:creationId xmlns:a16="http://schemas.microsoft.com/office/drawing/2014/main" id="{87783A8E-9638-0633-D75E-C067C6EEC594}"/>
              </a:ext>
            </a:extLst>
          </p:cNvPr>
          <p:cNvGrpSpPr/>
          <p:nvPr/>
        </p:nvGrpSpPr>
        <p:grpSpPr>
          <a:xfrm>
            <a:off x="7008312" y="1797485"/>
            <a:ext cx="4878888" cy="3635396"/>
            <a:chOff x="7008312" y="1797485"/>
            <a:chExt cx="4878888" cy="3635396"/>
          </a:xfrm>
        </p:grpSpPr>
        <p:cxnSp>
          <p:nvCxnSpPr>
            <p:cNvPr id="6" name="直接箭头连接符 5">
              <a:extLst>
                <a:ext uri="{FF2B5EF4-FFF2-40B4-BE49-F238E27FC236}">
                  <a16:creationId xmlns:a16="http://schemas.microsoft.com/office/drawing/2014/main" id="{2A0EDD43-4184-AE92-CF50-FB2B7AC95EB5}"/>
                </a:ext>
              </a:extLst>
            </p:cNvPr>
            <p:cNvCxnSpPr>
              <a:cxnSpLocks/>
            </p:cNvCxnSpPr>
            <p:nvPr/>
          </p:nvCxnSpPr>
          <p:spPr>
            <a:xfrm flipV="1">
              <a:off x="7121047" y="1797485"/>
              <a:ext cx="0" cy="30814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CDD958A2-F942-74E3-E1E0-5E119CDF177F}"/>
                </a:ext>
              </a:extLst>
            </p:cNvPr>
            <p:cNvCxnSpPr>
              <a:cxnSpLocks/>
            </p:cNvCxnSpPr>
            <p:nvPr/>
          </p:nvCxnSpPr>
          <p:spPr>
            <a:xfrm>
              <a:off x="7008312" y="4753627"/>
              <a:ext cx="487888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AA6F01E2-884A-595A-D02C-55350B1EFB0C}"/>
                </a:ext>
              </a:extLst>
            </p:cNvPr>
            <p:cNvCxnSpPr>
              <a:cxnSpLocks/>
            </p:cNvCxnSpPr>
            <p:nvPr/>
          </p:nvCxnSpPr>
          <p:spPr>
            <a:xfrm>
              <a:off x="8017934"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E413694-A59F-D6FF-D0B5-705CC0142528}"/>
                </a:ext>
              </a:extLst>
            </p:cNvPr>
            <p:cNvCxnSpPr>
              <a:cxnSpLocks/>
            </p:cNvCxnSpPr>
            <p:nvPr/>
          </p:nvCxnSpPr>
          <p:spPr>
            <a:xfrm>
              <a:off x="8775172"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5315848-5988-8D58-5E14-1C35C58ED587}"/>
                </a:ext>
              </a:extLst>
            </p:cNvPr>
            <p:cNvCxnSpPr>
              <a:cxnSpLocks/>
            </p:cNvCxnSpPr>
            <p:nvPr/>
          </p:nvCxnSpPr>
          <p:spPr>
            <a:xfrm>
              <a:off x="9532939"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AE4E721-A5BB-9A5C-6CD2-CEB3E10F6B09}"/>
                </a:ext>
              </a:extLst>
            </p:cNvPr>
            <p:cNvCxnSpPr>
              <a:cxnSpLocks/>
            </p:cNvCxnSpPr>
            <p:nvPr/>
          </p:nvCxnSpPr>
          <p:spPr>
            <a:xfrm>
              <a:off x="10290177"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9E633CA-4C89-8219-67AC-6F5C48F216AA}"/>
                </a:ext>
              </a:extLst>
            </p:cNvPr>
            <p:cNvCxnSpPr>
              <a:cxnSpLocks/>
            </p:cNvCxnSpPr>
            <p:nvPr/>
          </p:nvCxnSpPr>
          <p:spPr>
            <a:xfrm>
              <a:off x="11047415"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250DE13-B5A3-82C9-8DAB-5523D1BEDCCC}"/>
                    </a:ext>
                  </a:extLst>
                </p:cNvPr>
                <p:cNvSpPr txBox="1"/>
                <p:nvPr/>
              </p:nvSpPr>
              <p:spPr>
                <a:xfrm>
                  <a:off x="7790581" y="4878884"/>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400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5" name="文本框 14">
                  <a:extLst>
                    <a:ext uri="{FF2B5EF4-FFF2-40B4-BE49-F238E27FC236}">
                      <a16:creationId xmlns:a16="http://schemas.microsoft.com/office/drawing/2014/main" id="{B250DE13-B5A3-82C9-8DAB-5523D1BEDCCC}"/>
                    </a:ext>
                  </a:extLst>
                </p:cNvPr>
                <p:cNvSpPr txBox="1">
                  <a:spLocks noRot="1" noChangeAspect="1" noMove="1" noResize="1" noEditPoints="1" noAdjustHandles="1" noChangeArrowheads="1" noChangeShapeType="1" noTextEdit="1"/>
                </p:cNvSpPr>
                <p:nvPr/>
              </p:nvSpPr>
              <p:spPr>
                <a:xfrm>
                  <a:off x="7790581" y="4878884"/>
                  <a:ext cx="436017" cy="276999"/>
                </a:xfrm>
                <a:prstGeom prst="rect">
                  <a:avLst/>
                </a:prstGeom>
                <a:blipFill>
                  <a:blip r:embed="rId2"/>
                  <a:stretch>
                    <a:fillRect l="-13889" t="-28261" r="-375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0F60FFC-9F42-DA09-ABDF-D6508A0DCCBA}"/>
                    </a:ext>
                  </a:extLst>
                </p:cNvPr>
                <p:cNvSpPr txBox="1"/>
                <p:nvPr/>
              </p:nvSpPr>
              <p:spPr>
                <a:xfrm>
                  <a:off x="8548347" y="4878884"/>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5</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6" name="文本框 15">
                  <a:extLst>
                    <a:ext uri="{FF2B5EF4-FFF2-40B4-BE49-F238E27FC236}">
                      <a16:creationId xmlns:a16="http://schemas.microsoft.com/office/drawing/2014/main" id="{90F60FFC-9F42-DA09-ABDF-D6508A0DCCBA}"/>
                    </a:ext>
                  </a:extLst>
                </p:cNvPr>
                <p:cNvSpPr txBox="1">
                  <a:spLocks noRot="1" noChangeAspect="1" noMove="1" noResize="1" noEditPoints="1" noAdjustHandles="1" noChangeArrowheads="1" noChangeShapeType="1" noTextEdit="1"/>
                </p:cNvSpPr>
                <p:nvPr/>
              </p:nvSpPr>
              <p:spPr>
                <a:xfrm>
                  <a:off x="8548347" y="4878884"/>
                  <a:ext cx="436017" cy="276999"/>
                </a:xfrm>
                <a:prstGeom prst="rect">
                  <a:avLst/>
                </a:prstGeom>
                <a:blipFill>
                  <a:blip r:embed="rId3"/>
                  <a:stretch>
                    <a:fillRect l="-13889" t="-28261" r="-3888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6BD141D-B108-167B-B603-B58819D14E6D}"/>
                    </a:ext>
                  </a:extLst>
                </p:cNvPr>
                <p:cNvSpPr txBox="1"/>
                <p:nvPr/>
              </p:nvSpPr>
              <p:spPr>
                <a:xfrm>
                  <a:off x="9306113"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6</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7" name="文本框 16">
                  <a:extLst>
                    <a:ext uri="{FF2B5EF4-FFF2-40B4-BE49-F238E27FC236}">
                      <a16:creationId xmlns:a16="http://schemas.microsoft.com/office/drawing/2014/main" id="{26BD141D-B108-167B-B603-B58819D14E6D}"/>
                    </a:ext>
                  </a:extLst>
                </p:cNvPr>
                <p:cNvSpPr txBox="1">
                  <a:spLocks noRot="1" noChangeAspect="1" noMove="1" noResize="1" noEditPoints="1" noAdjustHandles="1" noChangeArrowheads="1" noChangeShapeType="1" noTextEdit="1"/>
                </p:cNvSpPr>
                <p:nvPr/>
              </p:nvSpPr>
              <p:spPr>
                <a:xfrm>
                  <a:off x="9306113" y="4878883"/>
                  <a:ext cx="436017" cy="276999"/>
                </a:xfrm>
                <a:prstGeom prst="rect">
                  <a:avLst/>
                </a:prstGeom>
                <a:blipFill>
                  <a:blip r:embed="rId4"/>
                  <a:stretch>
                    <a:fillRect l="-14085" t="-28261" r="-394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8062F85-21A8-9EC3-00A0-446663102F6E}"/>
                    </a:ext>
                  </a:extLst>
                </p:cNvPr>
                <p:cNvSpPr txBox="1"/>
                <p:nvPr/>
              </p:nvSpPr>
              <p:spPr>
                <a:xfrm>
                  <a:off x="10063879"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7</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8" name="文本框 17">
                  <a:extLst>
                    <a:ext uri="{FF2B5EF4-FFF2-40B4-BE49-F238E27FC236}">
                      <a16:creationId xmlns:a16="http://schemas.microsoft.com/office/drawing/2014/main" id="{78062F85-21A8-9EC3-00A0-446663102F6E}"/>
                    </a:ext>
                  </a:extLst>
                </p:cNvPr>
                <p:cNvSpPr txBox="1">
                  <a:spLocks noRot="1" noChangeAspect="1" noMove="1" noResize="1" noEditPoints="1" noAdjustHandles="1" noChangeArrowheads="1" noChangeShapeType="1" noTextEdit="1"/>
                </p:cNvSpPr>
                <p:nvPr/>
              </p:nvSpPr>
              <p:spPr>
                <a:xfrm>
                  <a:off x="10063879" y="4878883"/>
                  <a:ext cx="436017" cy="276999"/>
                </a:xfrm>
                <a:prstGeom prst="rect">
                  <a:avLst/>
                </a:prstGeom>
                <a:blipFill>
                  <a:blip r:embed="rId5"/>
                  <a:stretch>
                    <a:fillRect l="-14085" t="-28261" r="-394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4A06441-B11A-9410-36D2-72479B4E8991}"/>
                    </a:ext>
                  </a:extLst>
                </p:cNvPr>
                <p:cNvSpPr txBox="1"/>
                <p:nvPr/>
              </p:nvSpPr>
              <p:spPr>
                <a:xfrm>
                  <a:off x="10820590"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8</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25" name="文本框 24">
                  <a:extLst>
                    <a:ext uri="{FF2B5EF4-FFF2-40B4-BE49-F238E27FC236}">
                      <a16:creationId xmlns:a16="http://schemas.microsoft.com/office/drawing/2014/main" id="{54A06441-B11A-9410-36D2-72479B4E8991}"/>
                    </a:ext>
                  </a:extLst>
                </p:cNvPr>
                <p:cNvSpPr txBox="1">
                  <a:spLocks noRot="1" noChangeAspect="1" noMove="1" noResize="1" noEditPoints="1" noAdjustHandles="1" noChangeArrowheads="1" noChangeShapeType="1" noTextEdit="1"/>
                </p:cNvSpPr>
                <p:nvPr/>
              </p:nvSpPr>
              <p:spPr>
                <a:xfrm>
                  <a:off x="10820590" y="4878883"/>
                  <a:ext cx="436017" cy="276999"/>
                </a:xfrm>
                <a:prstGeom prst="rect">
                  <a:avLst/>
                </a:prstGeom>
                <a:blipFill>
                  <a:blip r:embed="rId6"/>
                  <a:stretch>
                    <a:fillRect l="-12500" t="-28261" r="-3888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09FBF4E6-7D6D-6656-5BF9-FEFFAF7F55C6}"/>
                    </a:ext>
                  </a:extLst>
                </p:cNvPr>
                <p:cNvSpPr txBox="1"/>
                <p:nvPr/>
              </p:nvSpPr>
              <p:spPr>
                <a:xfrm>
                  <a:off x="9436372" y="5155882"/>
                  <a:ext cx="175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𝜆</m:t>
                        </m:r>
                      </m:oMath>
                    </m:oMathPara>
                  </a14:m>
                  <a:endParaRPr lang="en-US" altLang="zh-CN" b="0" dirty="0">
                    <a:latin typeface="Noto Sans SC" panose="020B0200000000000000" pitchFamily="34" charset="-122"/>
                    <a:ea typeface="Noto Sans SC" panose="020B0200000000000000" pitchFamily="34" charset="-122"/>
                  </a:endParaRPr>
                </a:p>
              </p:txBody>
            </p:sp>
          </mc:Choice>
          <mc:Fallback xmlns="">
            <p:sp>
              <p:nvSpPr>
                <p:cNvPr id="47" name="文本框 46">
                  <a:extLst>
                    <a:ext uri="{FF2B5EF4-FFF2-40B4-BE49-F238E27FC236}">
                      <a16:creationId xmlns:a16="http://schemas.microsoft.com/office/drawing/2014/main" id="{09FBF4E6-7D6D-6656-5BF9-FEFFAF7F55C6}"/>
                    </a:ext>
                  </a:extLst>
                </p:cNvPr>
                <p:cNvSpPr txBox="1">
                  <a:spLocks noRot="1" noChangeAspect="1" noMove="1" noResize="1" noEditPoints="1" noAdjustHandles="1" noChangeArrowheads="1" noChangeShapeType="1" noTextEdit="1"/>
                </p:cNvSpPr>
                <p:nvPr/>
              </p:nvSpPr>
              <p:spPr>
                <a:xfrm>
                  <a:off x="9436372" y="5155882"/>
                  <a:ext cx="175497" cy="276999"/>
                </a:xfrm>
                <a:prstGeom prst="rect">
                  <a:avLst/>
                </a:prstGeom>
                <a:blipFill>
                  <a:blip r:embed="rId7"/>
                  <a:stretch>
                    <a:fillRect l="-34483" t="-28889" r="-93103" b="-51111"/>
                  </a:stretch>
                </a:blipFill>
              </p:spPr>
              <p:txBody>
                <a:bodyPr/>
                <a:lstStyle/>
                <a:p>
                  <a:r>
                    <a:rPr lang="zh-CN" altLang="en-US">
                      <a:noFill/>
                    </a:rPr>
                    <a:t> </a:t>
                  </a:r>
                </a:p>
              </p:txBody>
            </p:sp>
          </mc:Fallback>
        </mc:AlternateContent>
      </p:grpSp>
      <p:sp>
        <p:nvSpPr>
          <p:cNvPr id="80" name="文本框 79">
            <a:extLst>
              <a:ext uri="{FF2B5EF4-FFF2-40B4-BE49-F238E27FC236}">
                <a16:creationId xmlns:a16="http://schemas.microsoft.com/office/drawing/2014/main" id="{EC50730C-5E89-660B-0CAC-0D3C7F14A01E}"/>
              </a:ext>
            </a:extLst>
          </p:cNvPr>
          <p:cNvSpPr txBox="1"/>
          <p:nvPr/>
        </p:nvSpPr>
        <p:spPr>
          <a:xfrm>
            <a:off x="842135" y="2584450"/>
            <a:ext cx="5253865" cy="707886"/>
          </a:xfrm>
          <a:prstGeom prst="rect">
            <a:avLst/>
          </a:prstGeom>
          <a:noFill/>
        </p:spPr>
        <p:txBody>
          <a:bodyPr wrap="square" rtlCol="0">
            <a:spAutoFit/>
          </a:bodyPr>
          <a:lstStyle/>
          <a:p>
            <a:r>
              <a:rPr lang="zh-CN" altLang="en-US" sz="2000" dirty="0">
                <a:latin typeface="Noto Sans SC" panose="020B0200000000000000" pitchFamily="34" charset="-122"/>
                <a:ea typeface="Noto Sans SC" panose="020B0200000000000000" pitchFamily="34" charset="-122"/>
              </a:rPr>
              <a:t>         使用一组稀疏的采样点，中间通过线性插值，表示一条光谱。</a:t>
            </a:r>
          </a:p>
        </p:txBody>
      </p:sp>
      <p:cxnSp>
        <p:nvCxnSpPr>
          <p:cNvPr id="7" name="直接连接符 6">
            <a:extLst>
              <a:ext uri="{FF2B5EF4-FFF2-40B4-BE49-F238E27FC236}">
                <a16:creationId xmlns:a16="http://schemas.microsoft.com/office/drawing/2014/main" id="{11FEA2FC-9FD0-4494-2B04-3262FCEB982B}"/>
              </a:ext>
            </a:extLst>
          </p:cNvPr>
          <p:cNvCxnSpPr>
            <a:cxnSpLocks/>
          </p:cNvCxnSpPr>
          <p:nvPr/>
        </p:nvCxnSpPr>
        <p:spPr>
          <a:xfrm flipV="1">
            <a:off x="7268435" y="3769360"/>
            <a:ext cx="609599" cy="619142"/>
          </a:xfrm>
          <a:prstGeom prst="line">
            <a:avLst/>
          </a:prstGeom>
          <a:ln w="28575">
            <a:solidFill>
              <a:srgbClr val="16398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F946287-0A4A-B291-FAAD-72F1E87C8E14}"/>
              </a:ext>
            </a:extLst>
          </p:cNvPr>
          <p:cNvCxnSpPr>
            <a:cxnSpLocks/>
          </p:cNvCxnSpPr>
          <p:nvPr/>
        </p:nvCxnSpPr>
        <p:spPr>
          <a:xfrm flipV="1">
            <a:off x="7878034" y="2199838"/>
            <a:ext cx="609600" cy="1569521"/>
          </a:xfrm>
          <a:prstGeom prst="line">
            <a:avLst/>
          </a:prstGeom>
          <a:ln w="28575">
            <a:solidFill>
              <a:srgbClr val="16398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6736706-91CC-EAD5-4535-013D7648A25B}"/>
              </a:ext>
            </a:extLst>
          </p:cNvPr>
          <p:cNvCxnSpPr>
            <a:cxnSpLocks/>
          </p:cNvCxnSpPr>
          <p:nvPr/>
        </p:nvCxnSpPr>
        <p:spPr>
          <a:xfrm>
            <a:off x="8487635" y="2199838"/>
            <a:ext cx="609598" cy="225425"/>
          </a:xfrm>
          <a:prstGeom prst="line">
            <a:avLst/>
          </a:prstGeom>
          <a:ln w="28575">
            <a:solidFill>
              <a:srgbClr val="16398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16C8238F-AC18-1AAD-0C37-7641C963A563}"/>
              </a:ext>
            </a:extLst>
          </p:cNvPr>
          <p:cNvCxnSpPr>
            <a:cxnSpLocks/>
          </p:cNvCxnSpPr>
          <p:nvPr/>
        </p:nvCxnSpPr>
        <p:spPr>
          <a:xfrm>
            <a:off x="9097234" y="2426077"/>
            <a:ext cx="609595" cy="757406"/>
          </a:xfrm>
          <a:prstGeom prst="line">
            <a:avLst/>
          </a:prstGeom>
          <a:ln w="28575">
            <a:solidFill>
              <a:srgbClr val="16398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D5B21EF-EC7A-D172-C1E7-BD981D7BF846}"/>
              </a:ext>
            </a:extLst>
          </p:cNvPr>
          <p:cNvCxnSpPr>
            <a:cxnSpLocks/>
          </p:cNvCxnSpPr>
          <p:nvPr/>
        </p:nvCxnSpPr>
        <p:spPr>
          <a:xfrm flipV="1">
            <a:off x="9706824" y="2906484"/>
            <a:ext cx="609579" cy="275110"/>
          </a:xfrm>
          <a:prstGeom prst="line">
            <a:avLst/>
          </a:prstGeom>
          <a:ln w="28575">
            <a:solidFill>
              <a:srgbClr val="163980"/>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1130734F-4657-2585-1E7E-A229D8237C6E}"/>
              </a:ext>
            </a:extLst>
          </p:cNvPr>
          <p:cNvCxnSpPr>
            <a:cxnSpLocks/>
          </p:cNvCxnSpPr>
          <p:nvPr/>
        </p:nvCxnSpPr>
        <p:spPr>
          <a:xfrm>
            <a:off x="10316410" y="2906484"/>
            <a:ext cx="609618" cy="391904"/>
          </a:xfrm>
          <a:prstGeom prst="line">
            <a:avLst/>
          </a:prstGeom>
          <a:ln w="28575">
            <a:solidFill>
              <a:srgbClr val="163980"/>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0C2E51F4-CC59-4242-4878-4D1C6CE0855B}"/>
              </a:ext>
            </a:extLst>
          </p:cNvPr>
          <p:cNvPicPr>
            <a:picLocks noChangeAspect="1"/>
          </p:cNvPicPr>
          <p:nvPr/>
        </p:nvPicPr>
        <p:blipFill>
          <a:blip r:embed="rId8"/>
          <a:stretch>
            <a:fillRect/>
          </a:stretch>
        </p:blipFill>
        <p:spPr>
          <a:xfrm>
            <a:off x="1114747" y="3627748"/>
            <a:ext cx="4374772" cy="2779267"/>
          </a:xfrm>
          <a:prstGeom prst="rect">
            <a:avLst/>
          </a:prstGeom>
        </p:spPr>
      </p:pic>
    </p:spTree>
    <p:extLst>
      <p:ext uri="{BB962C8B-B14F-4D97-AF65-F5344CB8AC3E}">
        <p14:creationId xmlns:p14="http://schemas.microsoft.com/office/powerpoint/2010/main" val="1166923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0788A-E2CE-FB3D-78D2-363A630601A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F426F32-E0D3-7DCD-75DD-09D82C71110E}"/>
              </a:ext>
            </a:extLst>
          </p:cNvPr>
          <p:cNvSpPr>
            <a:spLocks noGrp="1"/>
          </p:cNvSpPr>
          <p:nvPr>
            <p:ph type="title" idx="1"/>
          </p:nvPr>
        </p:nvSpPr>
        <p:spPr/>
        <p:txBody>
          <a:bodyPr/>
          <a:lstStyle/>
          <a:p>
            <a:r>
              <a:rPr lang="zh-CN" altLang="en-US" dirty="0"/>
              <a:t>光谱分布在计算机中的表示</a:t>
            </a:r>
          </a:p>
        </p:txBody>
      </p:sp>
      <p:sp>
        <p:nvSpPr>
          <p:cNvPr id="11" name="文本框 10">
            <a:extLst>
              <a:ext uri="{FF2B5EF4-FFF2-40B4-BE49-F238E27FC236}">
                <a16:creationId xmlns:a16="http://schemas.microsoft.com/office/drawing/2014/main" id="{1314260E-6417-7CDA-6140-50381E345065}"/>
              </a:ext>
            </a:extLst>
          </p:cNvPr>
          <p:cNvSpPr txBox="1"/>
          <p:nvPr/>
        </p:nvSpPr>
        <p:spPr>
          <a:xfrm>
            <a:off x="1134371" y="1425751"/>
            <a:ext cx="10990823" cy="581057"/>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sz="2400" b="1" dirty="0">
                <a:latin typeface="Noto Sans SC" panose="020B0200000000000000" pitchFamily="34" charset="-122"/>
                <a:ea typeface="Noto Sans SC" panose="020B0200000000000000" pitchFamily="34" charset="-122"/>
              </a:rPr>
              <a:t>Analytic Spectrum</a:t>
            </a:r>
          </a:p>
        </p:txBody>
      </p:sp>
      <p:pic>
        <p:nvPicPr>
          <p:cNvPr id="22" name="图片 21">
            <a:extLst>
              <a:ext uri="{FF2B5EF4-FFF2-40B4-BE49-F238E27FC236}">
                <a16:creationId xmlns:a16="http://schemas.microsoft.com/office/drawing/2014/main" id="{60D7C68C-8FF6-10FC-0BE0-43FC45D13E71}"/>
              </a:ext>
            </a:extLst>
          </p:cNvPr>
          <p:cNvPicPr>
            <a:picLocks noChangeAspect="1"/>
          </p:cNvPicPr>
          <p:nvPr/>
        </p:nvPicPr>
        <p:blipFill>
          <a:blip r:embed="rId2"/>
          <a:srcRect l="15879" t="7727" r="31254" b="22014"/>
          <a:stretch>
            <a:fillRect/>
          </a:stretch>
        </p:blipFill>
        <p:spPr>
          <a:xfrm>
            <a:off x="7121048" y="2514598"/>
            <a:ext cx="4766151" cy="2239028"/>
          </a:xfrm>
          <a:prstGeom prst="rect">
            <a:avLst/>
          </a:prstGeom>
        </p:spPr>
      </p:pic>
      <p:grpSp>
        <p:nvGrpSpPr>
          <p:cNvPr id="4" name="组合 3">
            <a:extLst>
              <a:ext uri="{FF2B5EF4-FFF2-40B4-BE49-F238E27FC236}">
                <a16:creationId xmlns:a16="http://schemas.microsoft.com/office/drawing/2014/main" id="{4023C99E-0140-DEB2-BB74-28FD226B2478}"/>
              </a:ext>
            </a:extLst>
          </p:cNvPr>
          <p:cNvGrpSpPr/>
          <p:nvPr/>
        </p:nvGrpSpPr>
        <p:grpSpPr>
          <a:xfrm>
            <a:off x="7008312" y="1797485"/>
            <a:ext cx="4878888" cy="3635396"/>
            <a:chOff x="7008312" y="1797485"/>
            <a:chExt cx="4878888" cy="3635396"/>
          </a:xfrm>
        </p:grpSpPr>
        <p:cxnSp>
          <p:nvCxnSpPr>
            <p:cNvPr id="6" name="直接箭头连接符 5">
              <a:extLst>
                <a:ext uri="{FF2B5EF4-FFF2-40B4-BE49-F238E27FC236}">
                  <a16:creationId xmlns:a16="http://schemas.microsoft.com/office/drawing/2014/main" id="{804186FB-494D-B2D4-855C-D0B0C2DC0C59}"/>
                </a:ext>
              </a:extLst>
            </p:cNvPr>
            <p:cNvCxnSpPr>
              <a:cxnSpLocks/>
            </p:cNvCxnSpPr>
            <p:nvPr/>
          </p:nvCxnSpPr>
          <p:spPr>
            <a:xfrm flipV="1">
              <a:off x="7121047" y="1797485"/>
              <a:ext cx="0" cy="30814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2C29290C-0628-439A-FD81-CAAD30995768}"/>
                </a:ext>
              </a:extLst>
            </p:cNvPr>
            <p:cNvCxnSpPr>
              <a:cxnSpLocks/>
            </p:cNvCxnSpPr>
            <p:nvPr/>
          </p:nvCxnSpPr>
          <p:spPr>
            <a:xfrm>
              <a:off x="7008312" y="4753627"/>
              <a:ext cx="487888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84C13BB-76C8-4027-5F1B-890714E0339D}"/>
                </a:ext>
              </a:extLst>
            </p:cNvPr>
            <p:cNvCxnSpPr>
              <a:cxnSpLocks/>
            </p:cNvCxnSpPr>
            <p:nvPr/>
          </p:nvCxnSpPr>
          <p:spPr>
            <a:xfrm>
              <a:off x="8017934"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AFA020C-7BE5-FC30-8BAE-33173F0C52D6}"/>
                </a:ext>
              </a:extLst>
            </p:cNvPr>
            <p:cNvCxnSpPr>
              <a:cxnSpLocks/>
            </p:cNvCxnSpPr>
            <p:nvPr/>
          </p:nvCxnSpPr>
          <p:spPr>
            <a:xfrm>
              <a:off x="8775172"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24DB7C1-4435-6305-5E2D-30DC15D684CA}"/>
                </a:ext>
              </a:extLst>
            </p:cNvPr>
            <p:cNvCxnSpPr>
              <a:cxnSpLocks/>
            </p:cNvCxnSpPr>
            <p:nvPr/>
          </p:nvCxnSpPr>
          <p:spPr>
            <a:xfrm>
              <a:off x="9532939"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7B43BEB-CC04-60AD-85D9-613D368DFFB4}"/>
                </a:ext>
              </a:extLst>
            </p:cNvPr>
            <p:cNvCxnSpPr>
              <a:cxnSpLocks/>
            </p:cNvCxnSpPr>
            <p:nvPr/>
          </p:nvCxnSpPr>
          <p:spPr>
            <a:xfrm>
              <a:off x="10290177"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12825EF-9469-F318-9123-9873DD0086C7}"/>
                </a:ext>
              </a:extLst>
            </p:cNvPr>
            <p:cNvCxnSpPr>
              <a:cxnSpLocks/>
            </p:cNvCxnSpPr>
            <p:nvPr/>
          </p:nvCxnSpPr>
          <p:spPr>
            <a:xfrm>
              <a:off x="11047415" y="4753627"/>
              <a:ext cx="0" cy="125257"/>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7E1D139-58CA-7B90-5939-B4E7C770916A}"/>
                    </a:ext>
                  </a:extLst>
                </p:cNvPr>
                <p:cNvSpPr txBox="1"/>
                <p:nvPr/>
              </p:nvSpPr>
              <p:spPr>
                <a:xfrm>
                  <a:off x="7790581" y="4878884"/>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400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5" name="文本框 14">
                  <a:extLst>
                    <a:ext uri="{FF2B5EF4-FFF2-40B4-BE49-F238E27FC236}">
                      <a16:creationId xmlns:a16="http://schemas.microsoft.com/office/drawing/2014/main" id="{37E1D139-58CA-7B90-5939-B4E7C770916A}"/>
                    </a:ext>
                  </a:extLst>
                </p:cNvPr>
                <p:cNvSpPr txBox="1">
                  <a:spLocks noRot="1" noChangeAspect="1" noMove="1" noResize="1" noEditPoints="1" noAdjustHandles="1" noChangeArrowheads="1" noChangeShapeType="1" noTextEdit="1"/>
                </p:cNvSpPr>
                <p:nvPr/>
              </p:nvSpPr>
              <p:spPr>
                <a:xfrm>
                  <a:off x="7790581" y="4878884"/>
                  <a:ext cx="436017" cy="276999"/>
                </a:xfrm>
                <a:prstGeom prst="rect">
                  <a:avLst/>
                </a:prstGeom>
                <a:blipFill>
                  <a:blip r:embed="rId3"/>
                  <a:stretch>
                    <a:fillRect l="-13889" t="-28261" r="-375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C6BE35A-928A-ABD2-011E-DDCFB944D16C}"/>
                    </a:ext>
                  </a:extLst>
                </p:cNvPr>
                <p:cNvSpPr txBox="1"/>
                <p:nvPr/>
              </p:nvSpPr>
              <p:spPr>
                <a:xfrm>
                  <a:off x="8548347" y="4878884"/>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5</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6" name="文本框 15">
                  <a:extLst>
                    <a:ext uri="{FF2B5EF4-FFF2-40B4-BE49-F238E27FC236}">
                      <a16:creationId xmlns:a16="http://schemas.microsoft.com/office/drawing/2014/main" id="{7C6BE35A-928A-ABD2-011E-DDCFB944D16C}"/>
                    </a:ext>
                  </a:extLst>
                </p:cNvPr>
                <p:cNvSpPr txBox="1">
                  <a:spLocks noRot="1" noChangeAspect="1" noMove="1" noResize="1" noEditPoints="1" noAdjustHandles="1" noChangeArrowheads="1" noChangeShapeType="1" noTextEdit="1"/>
                </p:cNvSpPr>
                <p:nvPr/>
              </p:nvSpPr>
              <p:spPr>
                <a:xfrm>
                  <a:off x="8548347" y="4878884"/>
                  <a:ext cx="436017" cy="276999"/>
                </a:xfrm>
                <a:prstGeom prst="rect">
                  <a:avLst/>
                </a:prstGeom>
                <a:blipFill>
                  <a:blip r:embed="rId4"/>
                  <a:stretch>
                    <a:fillRect l="-13889" t="-28261" r="-3888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E0A1C62-9EFE-D277-A6F0-29270B4A5F5A}"/>
                    </a:ext>
                  </a:extLst>
                </p:cNvPr>
                <p:cNvSpPr txBox="1"/>
                <p:nvPr/>
              </p:nvSpPr>
              <p:spPr>
                <a:xfrm>
                  <a:off x="9306113"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6</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7" name="文本框 16">
                  <a:extLst>
                    <a:ext uri="{FF2B5EF4-FFF2-40B4-BE49-F238E27FC236}">
                      <a16:creationId xmlns:a16="http://schemas.microsoft.com/office/drawing/2014/main" id="{1E0A1C62-9EFE-D277-A6F0-29270B4A5F5A}"/>
                    </a:ext>
                  </a:extLst>
                </p:cNvPr>
                <p:cNvSpPr txBox="1">
                  <a:spLocks noRot="1" noChangeAspect="1" noMove="1" noResize="1" noEditPoints="1" noAdjustHandles="1" noChangeArrowheads="1" noChangeShapeType="1" noTextEdit="1"/>
                </p:cNvSpPr>
                <p:nvPr/>
              </p:nvSpPr>
              <p:spPr>
                <a:xfrm>
                  <a:off x="9306113" y="4878883"/>
                  <a:ext cx="436017" cy="276999"/>
                </a:xfrm>
                <a:prstGeom prst="rect">
                  <a:avLst/>
                </a:prstGeom>
                <a:blipFill>
                  <a:blip r:embed="rId5"/>
                  <a:stretch>
                    <a:fillRect l="-14085" t="-28261" r="-394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2DA6A7D-5F99-1141-C107-B4ED765AEE69}"/>
                    </a:ext>
                  </a:extLst>
                </p:cNvPr>
                <p:cNvSpPr txBox="1"/>
                <p:nvPr/>
              </p:nvSpPr>
              <p:spPr>
                <a:xfrm>
                  <a:off x="10063879"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7</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18" name="文本框 17">
                  <a:extLst>
                    <a:ext uri="{FF2B5EF4-FFF2-40B4-BE49-F238E27FC236}">
                      <a16:creationId xmlns:a16="http://schemas.microsoft.com/office/drawing/2014/main" id="{F2DA6A7D-5F99-1141-C107-B4ED765AEE69}"/>
                    </a:ext>
                  </a:extLst>
                </p:cNvPr>
                <p:cNvSpPr txBox="1">
                  <a:spLocks noRot="1" noChangeAspect="1" noMove="1" noResize="1" noEditPoints="1" noAdjustHandles="1" noChangeArrowheads="1" noChangeShapeType="1" noTextEdit="1"/>
                </p:cNvSpPr>
                <p:nvPr/>
              </p:nvSpPr>
              <p:spPr>
                <a:xfrm>
                  <a:off x="10063879" y="4878883"/>
                  <a:ext cx="436017" cy="276999"/>
                </a:xfrm>
                <a:prstGeom prst="rect">
                  <a:avLst/>
                </a:prstGeom>
                <a:blipFill>
                  <a:blip r:embed="rId6"/>
                  <a:stretch>
                    <a:fillRect l="-14085" t="-28261" r="-3943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DF0132F5-57FE-6261-8B10-61C1064F0C71}"/>
                    </a:ext>
                  </a:extLst>
                </p:cNvPr>
                <p:cNvSpPr txBox="1"/>
                <p:nvPr/>
              </p:nvSpPr>
              <p:spPr>
                <a:xfrm>
                  <a:off x="10820590" y="4878883"/>
                  <a:ext cx="4360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8</m:t>
                        </m:r>
                        <m:r>
                          <a:rPr lang="en-US" altLang="zh-CN" b="0" i="1" smtClean="0">
                            <a:latin typeface="Cambria Math" panose="02040503050406030204" pitchFamily="18" charset="0"/>
                          </a:rPr>
                          <m:t>00</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25" name="文本框 24">
                  <a:extLst>
                    <a:ext uri="{FF2B5EF4-FFF2-40B4-BE49-F238E27FC236}">
                      <a16:creationId xmlns:a16="http://schemas.microsoft.com/office/drawing/2014/main" id="{DF0132F5-57FE-6261-8B10-61C1064F0C71}"/>
                    </a:ext>
                  </a:extLst>
                </p:cNvPr>
                <p:cNvSpPr txBox="1">
                  <a:spLocks noRot="1" noChangeAspect="1" noMove="1" noResize="1" noEditPoints="1" noAdjustHandles="1" noChangeArrowheads="1" noChangeShapeType="1" noTextEdit="1"/>
                </p:cNvSpPr>
                <p:nvPr/>
              </p:nvSpPr>
              <p:spPr>
                <a:xfrm>
                  <a:off x="10820590" y="4878883"/>
                  <a:ext cx="436017" cy="276999"/>
                </a:xfrm>
                <a:prstGeom prst="rect">
                  <a:avLst/>
                </a:prstGeom>
                <a:blipFill>
                  <a:blip r:embed="rId7"/>
                  <a:stretch>
                    <a:fillRect l="-12500" t="-28261" r="-3888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B4A16CD1-C240-389E-2680-E53DC95BC711}"/>
                    </a:ext>
                  </a:extLst>
                </p:cNvPr>
                <p:cNvSpPr txBox="1"/>
                <p:nvPr/>
              </p:nvSpPr>
              <p:spPr>
                <a:xfrm>
                  <a:off x="9436372" y="5155882"/>
                  <a:ext cx="175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𝜆</m:t>
                        </m:r>
                      </m:oMath>
                    </m:oMathPara>
                  </a14:m>
                  <a:endParaRPr lang="en-US" altLang="zh-CN" b="0" dirty="0">
                    <a:latin typeface="Noto Sans SC" panose="020B0200000000000000" pitchFamily="34" charset="-122"/>
                    <a:ea typeface="Noto Sans SC" panose="020B0200000000000000" pitchFamily="34" charset="-122"/>
                  </a:endParaRPr>
                </a:p>
              </p:txBody>
            </p:sp>
          </mc:Choice>
          <mc:Fallback xmlns="">
            <p:sp>
              <p:nvSpPr>
                <p:cNvPr id="47" name="文本框 46">
                  <a:extLst>
                    <a:ext uri="{FF2B5EF4-FFF2-40B4-BE49-F238E27FC236}">
                      <a16:creationId xmlns:a16="http://schemas.microsoft.com/office/drawing/2014/main" id="{B4A16CD1-C240-389E-2680-E53DC95BC711}"/>
                    </a:ext>
                  </a:extLst>
                </p:cNvPr>
                <p:cNvSpPr txBox="1">
                  <a:spLocks noRot="1" noChangeAspect="1" noMove="1" noResize="1" noEditPoints="1" noAdjustHandles="1" noChangeArrowheads="1" noChangeShapeType="1" noTextEdit="1"/>
                </p:cNvSpPr>
                <p:nvPr/>
              </p:nvSpPr>
              <p:spPr>
                <a:xfrm>
                  <a:off x="9436372" y="5155882"/>
                  <a:ext cx="175497" cy="276999"/>
                </a:xfrm>
                <a:prstGeom prst="rect">
                  <a:avLst/>
                </a:prstGeom>
                <a:blipFill>
                  <a:blip r:embed="rId8"/>
                  <a:stretch>
                    <a:fillRect l="-34483" t="-28889" r="-93103" b="-51111"/>
                  </a:stretch>
                </a:blipFill>
              </p:spPr>
              <p:txBody>
                <a:bodyPr/>
                <a:lstStyle/>
                <a:p>
                  <a:r>
                    <a:rPr lang="zh-CN" altLang="en-US">
                      <a:noFill/>
                    </a:rPr>
                    <a:t> </a:t>
                  </a:r>
                </a:p>
              </p:txBody>
            </p:sp>
          </mc:Fallback>
        </mc:AlternateContent>
      </p:grpSp>
      <p:sp>
        <p:nvSpPr>
          <p:cNvPr id="80" name="文本框 79">
            <a:extLst>
              <a:ext uri="{FF2B5EF4-FFF2-40B4-BE49-F238E27FC236}">
                <a16:creationId xmlns:a16="http://schemas.microsoft.com/office/drawing/2014/main" id="{10B4A2C1-1930-0F80-4C9F-9A4E3D11D590}"/>
              </a:ext>
            </a:extLst>
          </p:cNvPr>
          <p:cNvSpPr txBox="1"/>
          <p:nvPr/>
        </p:nvSpPr>
        <p:spPr>
          <a:xfrm>
            <a:off x="842135" y="2584450"/>
            <a:ext cx="5253865" cy="707886"/>
          </a:xfrm>
          <a:prstGeom prst="rect">
            <a:avLst/>
          </a:prstGeom>
          <a:noFill/>
        </p:spPr>
        <p:txBody>
          <a:bodyPr wrap="square" rtlCol="0">
            <a:spAutoFit/>
          </a:bodyPr>
          <a:lstStyle/>
          <a:p>
            <a:r>
              <a:rPr lang="zh-CN" altLang="en-US" sz="2000" dirty="0">
                <a:latin typeface="Noto Sans SC" panose="020B0200000000000000" pitchFamily="34" charset="-122"/>
                <a:ea typeface="Noto Sans SC" panose="020B0200000000000000" pitchFamily="34" charset="-122"/>
              </a:rPr>
              <a:t>         使用数学函数，直接表示每个波长上对应的值。</a:t>
            </a:r>
          </a:p>
        </p:txBody>
      </p:sp>
      <p:pic>
        <p:nvPicPr>
          <p:cNvPr id="3" name="图片 2">
            <a:extLst>
              <a:ext uri="{FF2B5EF4-FFF2-40B4-BE49-F238E27FC236}">
                <a16:creationId xmlns:a16="http://schemas.microsoft.com/office/drawing/2014/main" id="{7CBCFF67-D2C7-5DBB-FF7C-F6A446F5ED4A}"/>
              </a:ext>
            </a:extLst>
          </p:cNvPr>
          <p:cNvPicPr>
            <a:picLocks noChangeAspect="1"/>
          </p:cNvPicPr>
          <p:nvPr/>
        </p:nvPicPr>
        <p:blipFill>
          <a:blip r:embed="rId9"/>
          <a:stretch>
            <a:fillRect/>
          </a:stretch>
        </p:blipFill>
        <p:spPr>
          <a:xfrm>
            <a:off x="1104659" y="4142986"/>
            <a:ext cx="5073278" cy="1775213"/>
          </a:xfrm>
          <a:prstGeom prst="rect">
            <a:avLst/>
          </a:prstGeom>
        </p:spPr>
      </p:pic>
      <p:pic>
        <p:nvPicPr>
          <p:cNvPr id="26" name="图片 25">
            <a:extLst>
              <a:ext uri="{FF2B5EF4-FFF2-40B4-BE49-F238E27FC236}">
                <a16:creationId xmlns:a16="http://schemas.microsoft.com/office/drawing/2014/main" id="{CC482AA6-DF1D-4CDC-1305-5146DCB573CB}"/>
              </a:ext>
            </a:extLst>
          </p:cNvPr>
          <p:cNvPicPr>
            <a:picLocks noChangeAspect="1"/>
          </p:cNvPicPr>
          <p:nvPr/>
        </p:nvPicPr>
        <p:blipFill>
          <a:blip r:embed="rId2"/>
          <a:srcRect l="73714" t="36733" r="3709" b="26803"/>
          <a:stretch>
            <a:fillRect/>
          </a:stretch>
        </p:blipFill>
        <p:spPr>
          <a:xfrm>
            <a:off x="10505019" y="1289921"/>
            <a:ext cx="1450497" cy="1162050"/>
          </a:xfrm>
          <a:prstGeom prst="rect">
            <a:avLst/>
          </a:prstGeom>
        </p:spPr>
      </p:pic>
      <p:pic>
        <p:nvPicPr>
          <p:cNvPr id="30" name="图片 29">
            <a:extLst>
              <a:ext uri="{FF2B5EF4-FFF2-40B4-BE49-F238E27FC236}">
                <a16:creationId xmlns:a16="http://schemas.microsoft.com/office/drawing/2014/main" id="{907F06C7-EEE0-0DC3-E388-513EB4CD5BB3}"/>
              </a:ext>
            </a:extLst>
          </p:cNvPr>
          <p:cNvPicPr>
            <a:picLocks noChangeAspect="1"/>
          </p:cNvPicPr>
          <p:nvPr/>
        </p:nvPicPr>
        <p:blipFill>
          <a:blip r:embed="rId10"/>
          <a:stretch>
            <a:fillRect/>
          </a:stretch>
        </p:blipFill>
        <p:spPr>
          <a:xfrm>
            <a:off x="7889512" y="5568079"/>
            <a:ext cx="3479979" cy="977950"/>
          </a:xfrm>
          <a:prstGeom prst="rect">
            <a:avLst/>
          </a:prstGeom>
        </p:spPr>
      </p:pic>
    </p:spTree>
    <p:extLst>
      <p:ext uri="{BB962C8B-B14F-4D97-AF65-F5344CB8AC3E}">
        <p14:creationId xmlns:p14="http://schemas.microsoft.com/office/powerpoint/2010/main" val="792455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F708-E554-C1A3-09F4-15FB2F99F43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7132E34-B66A-233E-7155-D2BD3351E305}"/>
              </a:ext>
            </a:extLst>
          </p:cNvPr>
          <p:cNvSpPr>
            <a:spLocks noGrp="1"/>
          </p:cNvSpPr>
          <p:nvPr>
            <p:ph type="title" idx="1"/>
          </p:nvPr>
        </p:nvSpPr>
        <p:spPr/>
        <p:txBody>
          <a:bodyPr/>
          <a:lstStyle/>
          <a:p>
            <a:r>
              <a:rPr lang="zh-CN" altLang="en-US" dirty="0"/>
              <a:t>光谱如何参与渲染</a:t>
            </a:r>
          </a:p>
        </p:txBody>
      </p:sp>
      <p:pic>
        <p:nvPicPr>
          <p:cNvPr id="7" name="图片 6">
            <a:extLst>
              <a:ext uri="{FF2B5EF4-FFF2-40B4-BE49-F238E27FC236}">
                <a16:creationId xmlns:a16="http://schemas.microsoft.com/office/drawing/2014/main" id="{D99EE0D2-E7CF-27F5-D0A6-AE9A65769B76}"/>
              </a:ext>
            </a:extLst>
          </p:cNvPr>
          <p:cNvPicPr>
            <a:picLocks noChangeAspect="1"/>
          </p:cNvPicPr>
          <p:nvPr/>
        </p:nvPicPr>
        <p:blipFill>
          <a:blip r:embed="rId2"/>
          <a:stretch>
            <a:fillRect/>
          </a:stretch>
        </p:blipFill>
        <p:spPr>
          <a:xfrm>
            <a:off x="7162800" y="0"/>
            <a:ext cx="5029200" cy="2828440"/>
          </a:xfrm>
          <a:prstGeom prst="rect">
            <a:avLst/>
          </a:prstGeom>
        </p:spPr>
      </p:pic>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A8AA7A9-5973-1602-94A9-C776D5C19314}"/>
                  </a:ext>
                </a:extLst>
              </p:cNvPr>
              <p:cNvSpPr txBox="1"/>
              <p:nvPr/>
            </p:nvSpPr>
            <p:spPr>
              <a:xfrm>
                <a:off x="614045" y="2005349"/>
                <a:ext cx="7207250" cy="16702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ea typeface="Cambria Math" panose="02040503050406030204" pitchFamily="18" charset="0"/>
                        </a:rPr>
                        <m:t>𝑓</m:t>
                      </m:r>
                      <m:d>
                        <m:dPr>
                          <m:ctrlPr>
                            <a:rPr lang="zh-CN" altLang="en-US" sz="2000" b="0" i="1" smtClean="0">
                              <a:latin typeface="Cambria Math" panose="02040503050406030204" pitchFamily="18" charset="0"/>
                            </a:rPr>
                          </m:ctrlPr>
                        </m:dPr>
                        <m:e>
                          <m:sSub>
                            <m:sSubPr>
                              <m:ctrlPr>
                                <a:rPr lang="zh-CN" altLang="en-US" sz="2000" b="0" i="1" smtClean="0">
                                  <a:latin typeface="Cambria Math" panose="02040503050406030204" pitchFamily="18" charset="0"/>
                                </a:rPr>
                              </m:ctrlPr>
                            </m:sSubPr>
                            <m:e>
                              <m:r>
                                <a:rPr lang="zh-CN" altLang="en-US" sz="2000" b="0" i="1" smtClean="0">
                                  <a:latin typeface="Cambria Math" panose="02040503050406030204" pitchFamily="18" charset="0"/>
                                </a:rPr>
                                <m:t>𝜔</m:t>
                              </m:r>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b="0" i="1" smtClean="0">
                                  <a:latin typeface="Cambria Math" panose="02040503050406030204" pitchFamily="18" charset="0"/>
                                </a:rPr>
                              </m:ctrlPr>
                            </m:sSubPr>
                            <m:e>
                              <m:r>
                                <a:rPr lang="zh-CN" altLang="en-US" sz="2000" b="0" i="1" smtClean="0">
                                  <a:latin typeface="Cambria Math" panose="02040503050406030204" pitchFamily="18" charset="0"/>
                                </a:rPr>
                                <m:t>𝜔</m:t>
                              </m:r>
                            </m:e>
                            <m:sub>
                              <m:r>
                                <a:rPr lang="en-US" altLang="zh-CN" sz="2000" b="0" i="1" smtClean="0">
                                  <a:latin typeface="Cambria Math" panose="02040503050406030204" pitchFamily="18" charset="0"/>
                                  <a:ea typeface="Cambria Math" panose="02040503050406030204" pitchFamily="18" charset="0"/>
                                </a:rPr>
                                <m:t>𝑜</m:t>
                              </m:r>
                            </m:sub>
                          </m:sSub>
                        </m:e>
                      </m:d>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𝐿</m:t>
                              </m:r>
                            </m:e>
                            <m:sub>
                              <m:r>
                                <a:rPr lang="en-US" altLang="zh-CN" sz="2000" b="0" i="1" smtClean="0">
                                  <a:latin typeface="Cambria Math" panose="02040503050406030204" pitchFamily="18" charset="0"/>
                                  <a:ea typeface="Cambria Math" panose="02040503050406030204" pitchFamily="18" charset="0"/>
                                </a:rPr>
                                <m:t>𝑜</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b="0" i="1" smtClean="0">
                              <a:latin typeface="Cambria Math" panose="02040503050406030204" pitchFamily="18" charset="0"/>
                              <a:ea typeface="Cambria Math" panose="02040503050406030204" pitchFamily="18" charset="0"/>
                            </a:rPr>
                            <m:t>)</m:t>
                          </m:r>
                        </m:num>
                        <m:den>
                          <m:r>
                            <a:rPr lang="en-US" altLang="zh-CN" sz="2000" b="0" i="1" smtClean="0">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𝐸</m:t>
                              </m:r>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den>
                      </m:f>
                      <m:r>
                        <a:rPr lang="en-US" altLang="zh-CN" sz="2000" b="0" i="1"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𝑑</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num>
                        <m:den>
                          <m:r>
                            <a:rPr lang="en-US" altLang="zh-CN" sz="2000" i="1">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𝐿</m:t>
                              </m:r>
                            </m:e>
                            <m:sub>
                              <m:r>
                                <a:rPr lang="en-US" altLang="zh-CN" sz="2000" i="1" smtClean="0">
                                  <a:latin typeface="Cambria Math" panose="02040503050406030204" pitchFamily="18" charset="0"/>
                                  <a:ea typeface="Cambria Math" panose="02040503050406030204" pitchFamily="18" charset="0"/>
                                </a:rPr>
                                <m:t>𝑖</m:t>
                              </m:r>
                            </m:sub>
                          </m:sSub>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e>
                          </m:d>
                          <m:r>
                            <a:rPr lang="en-US" altLang="zh-CN" sz="2000" b="0" i="1" smtClean="0">
                              <a:latin typeface="Cambria Math" panose="02040503050406030204" pitchFamily="18" charset="0"/>
                              <a:ea typeface="Cambria Math" panose="02040503050406030204" pitchFamily="18" charset="0"/>
                            </a:rPr>
                            <m:t>𝑐𝑜𝑠</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𝜃</m:t>
                              </m:r>
                            </m:e>
                            <m:sub>
                              <m:r>
                                <a:rPr lang="en-US" altLang="zh-CN" sz="2000" i="1">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𝑑</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den>
                      </m:f>
                    </m:oMath>
                  </m:oMathPara>
                </a14:m>
                <a:endParaRPr lang="en-US" altLang="zh-CN" sz="2000" i="1" dirty="0">
                  <a:latin typeface="Cambria Math" panose="02040503050406030204" pitchFamily="18" charset="0"/>
                  <a:ea typeface="Cambria Math" panose="02040503050406030204" pitchFamily="18" charset="0"/>
                </a:endParaRPr>
              </a:p>
              <a:p>
                <a:endParaRPr lang="en-US" altLang="zh-CN"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𝑜</m:t>
                          </m:r>
                        </m:sub>
                      </m:sSub>
                      <m:d>
                        <m:dPr>
                          <m:ctrlPr>
                            <a:rPr lang="en-US" altLang="zh-CN" sz="2000" i="1">
                              <a:latin typeface="Cambria Math" panose="02040503050406030204" pitchFamily="18" charset="0"/>
                              <a:ea typeface="Cambria Math" panose="02040503050406030204" pitchFamily="18" charset="0"/>
                            </a:rPr>
                          </m:ctrlPr>
                        </m:d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𝑝</m:t>
                              </m:r>
                              <m:r>
                                <a:rPr lang="en-US" altLang="zh-CN" sz="2000" i="1">
                                  <a:latin typeface="Cambria Math" panose="02040503050406030204" pitchFamily="18" charset="0"/>
                                  <a:ea typeface="Cambria Math" panose="02040503050406030204" pitchFamily="18" charset="0"/>
                                </a:rPr>
                                <m:t>,</m:t>
                              </m:r>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e>
                      </m:d>
                      <m:r>
                        <a:rPr lang="en-US" altLang="zh-CN" sz="2000" i="1">
                          <a:latin typeface="Cambria Math" panose="02040503050406030204" pitchFamily="18" charset="0"/>
                          <a:ea typeface="Cambria Math" panose="02040503050406030204" pitchFamily="18" charset="0"/>
                        </a:rPr>
                        <m:t>=</m:t>
                      </m:r>
                      <m:sSub>
                        <m:sSubPr>
                          <m:ctrlPr>
                            <a:rPr lang="en-US" altLang="zh-CN" sz="2000" i="1">
                              <a:solidFill>
                                <a:schemeClr val="accent3"/>
                              </a:solidFill>
                              <a:latin typeface="Cambria Math" panose="02040503050406030204" pitchFamily="18" charset="0"/>
                              <a:ea typeface="Cambria Math" panose="02040503050406030204" pitchFamily="18" charset="0"/>
                            </a:rPr>
                          </m:ctrlPr>
                        </m:sSubPr>
                        <m:e>
                          <m:r>
                            <a:rPr lang="en-US" altLang="zh-CN" sz="2000" i="1">
                              <a:solidFill>
                                <a:schemeClr val="accent3"/>
                              </a:solidFill>
                              <a:latin typeface="Cambria Math" panose="02040503050406030204" pitchFamily="18" charset="0"/>
                              <a:ea typeface="Cambria Math" panose="02040503050406030204" pitchFamily="18" charset="0"/>
                            </a:rPr>
                            <m:t>𝐿</m:t>
                          </m:r>
                        </m:e>
                        <m:sub>
                          <m:r>
                            <a:rPr lang="en-US" altLang="zh-CN" sz="2000" i="1">
                              <a:solidFill>
                                <a:schemeClr val="accent3"/>
                              </a:solidFill>
                              <a:latin typeface="Cambria Math" panose="02040503050406030204" pitchFamily="18" charset="0"/>
                              <a:ea typeface="Cambria Math" panose="02040503050406030204" pitchFamily="18" charset="0"/>
                            </a:rPr>
                            <m:t>𝑒</m:t>
                          </m:r>
                        </m:sub>
                      </m:sSub>
                      <m:d>
                        <m:dPr>
                          <m:ctrlPr>
                            <a:rPr lang="en-US" altLang="zh-CN" sz="2000" i="1">
                              <a:solidFill>
                                <a:schemeClr val="accent3"/>
                              </a:solidFill>
                              <a:latin typeface="Cambria Math" panose="02040503050406030204" pitchFamily="18" charset="0"/>
                              <a:ea typeface="Cambria Math" panose="02040503050406030204" pitchFamily="18" charset="0"/>
                            </a:rPr>
                          </m:ctrlPr>
                        </m:dPr>
                        <m:e>
                          <m:r>
                            <a:rPr lang="en-US" altLang="zh-CN" sz="2000" i="1">
                              <a:solidFill>
                                <a:schemeClr val="accent3"/>
                              </a:solidFill>
                              <a:latin typeface="Cambria Math" panose="02040503050406030204" pitchFamily="18" charset="0"/>
                              <a:ea typeface="Cambria Math" panose="02040503050406030204" pitchFamily="18" charset="0"/>
                            </a:rPr>
                            <m:t>𝑝</m:t>
                          </m:r>
                          <m:r>
                            <a:rPr lang="en-US" altLang="zh-CN" sz="2000" i="1">
                              <a:solidFill>
                                <a:schemeClr val="accent3"/>
                              </a:solidFill>
                              <a:latin typeface="Cambria Math" panose="02040503050406030204" pitchFamily="18" charset="0"/>
                              <a:ea typeface="Cambria Math" panose="02040503050406030204" pitchFamily="18" charset="0"/>
                            </a:rPr>
                            <m:t>,</m:t>
                          </m:r>
                          <m:sSub>
                            <m:sSubPr>
                              <m:ctrlPr>
                                <a:rPr lang="zh-CN" altLang="en-US" sz="2000" i="1">
                                  <a:solidFill>
                                    <a:schemeClr val="accent3"/>
                                  </a:solidFill>
                                  <a:latin typeface="Cambria Math" panose="02040503050406030204" pitchFamily="18" charset="0"/>
                                </a:rPr>
                              </m:ctrlPr>
                            </m:sSubPr>
                            <m:e>
                              <m:r>
                                <a:rPr lang="zh-CN" altLang="en-US" sz="2000" i="1">
                                  <a:solidFill>
                                    <a:schemeClr val="accent3"/>
                                  </a:solidFill>
                                  <a:latin typeface="Cambria Math" panose="02040503050406030204" pitchFamily="18" charset="0"/>
                                </a:rPr>
                                <m:t>𝜔</m:t>
                              </m:r>
                            </m:e>
                            <m:sub>
                              <m:r>
                                <a:rPr lang="en-US" altLang="zh-CN" sz="2000" i="1">
                                  <a:solidFill>
                                    <a:schemeClr val="accent3"/>
                                  </a:solidFill>
                                  <a:latin typeface="Cambria Math" panose="02040503050406030204" pitchFamily="18" charset="0"/>
                                  <a:ea typeface="Cambria Math" panose="02040503050406030204" pitchFamily="18" charset="0"/>
                                </a:rPr>
                                <m:t>𝑜</m:t>
                              </m:r>
                            </m:sub>
                          </m:sSub>
                        </m:e>
                      </m:d>
                      <m:r>
                        <a:rPr lang="en-US" altLang="zh-CN" sz="2000" i="1">
                          <a:latin typeface="Cambria Math" panose="02040503050406030204" pitchFamily="18" charset="0"/>
                          <a:ea typeface="Cambria Math" panose="02040503050406030204" pitchFamily="18" charset="0"/>
                        </a:rPr>
                        <m:t>+</m:t>
                      </m:r>
                      <m:nary>
                        <m:naryPr>
                          <m:ctrlPr>
                            <a:rPr lang="en-US" altLang="zh-CN" sz="2000" i="1">
                              <a:latin typeface="Cambria Math" panose="02040503050406030204" pitchFamily="18" charset="0"/>
                              <a:ea typeface="Cambria Math" panose="02040503050406030204" pitchFamily="18" charset="0"/>
                            </a:rPr>
                          </m:ctrlPr>
                        </m:naryPr>
                        <m:sub>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𝐻</m:t>
                              </m:r>
                            </m:e>
                            <m:sup>
                              <m:r>
                                <a:rPr lang="en-US" altLang="zh-CN" sz="2000" i="1">
                                  <a:latin typeface="Cambria Math" panose="02040503050406030204" pitchFamily="18" charset="0"/>
                                  <a:ea typeface="Cambria Math" panose="02040503050406030204" pitchFamily="18" charset="0"/>
                                </a:rPr>
                                <m:t>2</m:t>
                              </m:r>
                            </m:sup>
                          </m:sSup>
                        </m:sub>
                        <m:sup>
                          <m:r>
                            <a:rPr lang="en-US" altLang="zh-CN" sz="2000" i="1">
                              <a:latin typeface="Cambria Math" panose="02040503050406030204" pitchFamily="18" charset="0"/>
                              <a:ea typeface="Cambria Math" panose="02040503050406030204" pitchFamily="18" charset="0"/>
                            </a:rPr>
                            <m:t> </m:t>
                          </m:r>
                        </m:sup>
                        <m:e>
                          <m:r>
                            <a:rPr lang="en-US" altLang="zh-CN" sz="2000" i="1">
                              <a:latin typeface="Cambria Math" panose="02040503050406030204" pitchFamily="18" charset="0"/>
                              <a:ea typeface="Cambria Math" panose="02040503050406030204" pitchFamily="18" charset="0"/>
                            </a:rPr>
                            <m:t>𝑓</m:t>
                          </m:r>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e>
                          </m:d>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𝑖</m:t>
                              </m:r>
                            </m:sub>
                          </m:sSub>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𝑝</m:t>
                              </m:r>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e>
                          </m:d>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𝑛</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𝑑</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e>
                      </m:nary>
                    </m:oMath>
                  </m:oMathPara>
                </a14:m>
                <a:endParaRPr lang="en-US" altLang="zh-CN" sz="2000" i="1" dirty="0">
                  <a:latin typeface="Cambria Math" panose="02040503050406030204" pitchFamily="18" charset="0"/>
                  <a:ea typeface="Cambria Math" panose="02040503050406030204" pitchFamily="18" charset="0"/>
                </a:endParaRPr>
              </a:p>
            </p:txBody>
          </p:sp>
        </mc:Choice>
        <mc:Fallback xmlns="">
          <p:sp>
            <p:nvSpPr>
              <p:cNvPr id="20" name="文本框 19">
                <a:extLst>
                  <a:ext uri="{FF2B5EF4-FFF2-40B4-BE49-F238E27FC236}">
                    <a16:creationId xmlns:a16="http://schemas.microsoft.com/office/drawing/2014/main" id="{AA8AA7A9-5973-1602-94A9-C776D5C19314}"/>
                  </a:ext>
                </a:extLst>
              </p:cNvPr>
              <p:cNvSpPr txBox="1">
                <a:spLocks noRot="1" noChangeAspect="1" noMove="1" noResize="1" noEditPoints="1" noAdjustHandles="1" noChangeArrowheads="1" noChangeShapeType="1" noTextEdit="1"/>
              </p:cNvSpPr>
              <p:nvPr/>
            </p:nvSpPr>
            <p:spPr>
              <a:xfrm>
                <a:off x="614045" y="2005349"/>
                <a:ext cx="7207250" cy="1670265"/>
              </a:xfrm>
              <a:prstGeom prst="rect">
                <a:avLst/>
              </a:prstGeom>
              <a:blipFill>
                <a:blip r:embed="rId3"/>
                <a:stretch>
                  <a:fillRect/>
                </a:stretch>
              </a:blipFill>
            </p:spPr>
            <p:txBody>
              <a:bodyPr/>
              <a:lstStyle/>
              <a:p>
                <a:r>
                  <a:rPr lang="zh-CN" altLang="en-US">
                    <a:noFill/>
                  </a:rPr>
                  <a:t> </a:t>
                </a:r>
              </a:p>
            </p:txBody>
          </p:sp>
        </mc:Fallback>
      </mc:AlternateContent>
      <p:pic>
        <p:nvPicPr>
          <p:cNvPr id="27" name="图片 26">
            <a:extLst>
              <a:ext uri="{FF2B5EF4-FFF2-40B4-BE49-F238E27FC236}">
                <a16:creationId xmlns:a16="http://schemas.microsoft.com/office/drawing/2014/main" id="{B98B4B4E-507E-BA6E-2127-D6415CF5F2A9}"/>
              </a:ext>
            </a:extLst>
          </p:cNvPr>
          <p:cNvPicPr>
            <a:picLocks noChangeAspect="1"/>
          </p:cNvPicPr>
          <p:nvPr/>
        </p:nvPicPr>
        <p:blipFill>
          <a:blip r:embed="rId4"/>
          <a:stretch>
            <a:fillRect/>
          </a:stretch>
        </p:blipFill>
        <p:spPr>
          <a:xfrm>
            <a:off x="4193862" y="4225912"/>
            <a:ext cx="3627433" cy="1735517"/>
          </a:xfrm>
          <a:prstGeom prst="rect">
            <a:avLst/>
          </a:prstGeom>
        </p:spPr>
      </p:pic>
      <p:pic>
        <p:nvPicPr>
          <p:cNvPr id="29" name="图片 28">
            <a:extLst>
              <a:ext uri="{FF2B5EF4-FFF2-40B4-BE49-F238E27FC236}">
                <a16:creationId xmlns:a16="http://schemas.microsoft.com/office/drawing/2014/main" id="{33758A64-107E-905A-A2FB-D4CAA6A368F2}"/>
              </a:ext>
            </a:extLst>
          </p:cNvPr>
          <p:cNvPicPr>
            <a:picLocks noChangeAspect="1"/>
          </p:cNvPicPr>
          <p:nvPr/>
        </p:nvPicPr>
        <p:blipFill>
          <a:blip r:embed="rId5"/>
          <a:srcRect t="8102"/>
          <a:stretch>
            <a:fillRect/>
          </a:stretch>
        </p:blipFill>
        <p:spPr>
          <a:xfrm>
            <a:off x="8140700" y="2477993"/>
            <a:ext cx="3401456" cy="2186296"/>
          </a:xfrm>
          <a:prstGeom prst="rect">
            <a:avLst/>
          </a:prstGeom>
        </p:spPr>
      </p:pic>
      <p:pic>
        <p:nvPicPr>
          <p:cNvPr id="32" name="图片 31">
            <a:extLst>
              <a:ext uri="{FF2B5EF4-FFF2-40B4-BE49-F238E27FC236}">
                <a16:creationId xmlns:a16="http://schemas.microsoft.com/office/drawing/2014/main" id="{B2758D44-EB9B-5B90-7AD7-D4854A58AAB9}"/>
              </a:ext>
            </a:extLst>
          </p:cNvPr>
          <p:cNvPicPr>
            <a:picLocks noChangeAspect="1"/>
          </p:cNvPicPr>
          <p:nvPr/>
        </p:nvPicPr>
        <p:blipFill>
          <a:blip r:embed="rId6"/>
          <a:stretch>
            <a:fillRect/>
          </a:stretch>
        </p:blipFill>
        <p:spPr>
          <a:xfrm>
            <a:off x="315199" y="4225913"/>
            <a:ext cx="3587750" cy="1735517"/>
          </a:xfrm>
          <a:prstGeom prst="rect">
            <a:avLst/>
          </a:prstGeom>
        </p:spPr>
      </p:pic>
      <p:pic>
        <p:nvPicPr>
          <p:cNvPr id="34" name="图片 33">
            <a:extLst>
              <a:ext uri="{FF2B5EF4-FFF2-40B4-BE49-F238E27FC236}">
                <a16:creationId xmlns:a16="http://schemas.microsoft.com/office/drawing/2014/main" id="{CDCCC5B1-33E4-8C91-CE96-4699E377236A}"/>
              </a:ext>
            </a:extLst>
          </p:cNvPr>
          <p:cNvPicPr>
            <a:picLocks noChangeAspect="1"/>
          </p:cNvPicPr>
          <p:nvPr/>
        </p:nvPicPr>
        <p:blipFill>
          <a:blip r:embed="rId7"/>
          <a:stretch>
            <a:fillRect/>
          </a:stretch>
        </p:blipFill>
        <p:spPr>
          <a:xfrm>
            <a:off x="8140700" y="4772342"/>
            <a:ext cx="3519806" cy="2015808"/>
          </a:xfrm>
          <a:prstGeom prst="rect">
            <a:avLst/>
          </a:prstGeom>
        </p:spPr>
      </p:pic>
    </p:spTree>
    <p:extLst>
      <p:ext uri="{BB962C8B-B14F-4D97-AF65-F5344CB8AC3E}">
        <p14:creationId xmlns:p14="http://schemas.microsoft.com/office/powerpoint/2010/main" val="2153565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026A3-7A99-CE5A-7AB4-9934EB9B8B7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FB56FF8-6EE8-F027-F315-6D3DE030FDAA}"/>
              </a:ext>
            </a:extLst>
          </p:cNvPr>
          <p:cNvSpPr>
            <a:spLocks noGrp="1"/>
          </p:cNvSpPr>
          <p:nvPr>
            <p:ph type="title" idx="1"/>
          </p:nvPr>
        </p:nvSpPr>
        <p:spPr/>
        <p:txBody>
          <a:bodyPr/>
          <a:lstStyle/>
          <a:p>
            <a:r>
              <a:rPr lang="zh-CN" altLang="en-US" dirty="0"/>
              <a:t>光谱如何参与渲染</a:t>
            </a:r>
          </a:p>
        </p:txBody>
      </p:sp>
      <p:pic>
        <p:nvPicPr>
          <p:cNvPr id="7" name="图片 6">
            <a:extLst>
              <a:ext uri="{FF2B5EF4-FFF2-40B4-BE49-F238E27FC236}">
                <a16:creationId xmlns:a16="http://schemas.microsoft.com/office/drawing/2014/main" id="{C03EFF0C-1D23-ED93-3B3A-406FBE8CFAC0}"/>
              </a:ext>
            </a:extLst>
          </p:cNvPr>
          <p:cNvPicPr>
            <a:picLocks noChangeAspect="1"/>
          </p:cNvPicPr>
          <p:nvPr/>
        </p:nvPicPr>
        <p:blipFill>
          <a:blip r:embed="rId2"/>
          <a:stretch>
            <a:fillRect/>
          </a:stretch>
        </p:blipFill>
        <p:spPr>
          <a:xfrm>
            <a:off x="7162800" y="0"/>
            <a:ext cx="5029200" cy="2828440"/>
          </a:xfrm>
          <a:prstGeom prst="rect">
            <a:avLst/>
          </a:prstGeom>
        </p:spPr>
      </p:pic>
      <p:pic>
        <p:nvPicPr>
          <p:cNvPr id="12" name="图片 11">
            <a:extLst>
              <a:ext uri="{FF2B5EF4-FFF2-40B4-BE49-F238E27FC236}">
                <a16:creationId xmlns:a16="http://schemas.microsoft.com/office/drawing/2014/main" id="{0C80C291-FD88-9016-E757-A3EF0C11BB28}"/>
              </a:ext>
            </a:extLst>
          </p:cNvPr>
          <p:cNvPicPr>
            <a:picLocks noChangeAspect="1"/>
          </p:cNvPicPr>
          <p:nvPr/>
        </p:nvPicPr>
        <p:blipFill>
          <a:blip r:embed="rId3"/>
          <a:stretch>
            <a:fillRect/>
          </a:stretch>
        </p:blipFill>
        <p:spPr>
          <a:xfrm>
            <a:off x="7801563" y="4519958"/>
            <a:ext cx="3684986" cy="2246824"/>
          </a:xfrm>
          <a:prstGeom prst="rect">
            <a:avLst/>
          </a:prstGeom>
        </p:spPr>
      </p:pic>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B8D1950-43EC-AAFD-4B08-1245BC2FA503}"/>
                  </a:ext>
                </a:extLst>
              </p:cNvPr>
              <p:cNvSpPr txBox="1"/>
              <p:nvPr/>
            </p:nvSpPr>
            <p:spPr>
              <a:xfrm>
                <a:off x="677511" y="1886023"/>
                <a:ext cx="7207250" cy="16702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ea typeface="Cambria Math" panose="02040503050406030204" pitchFamily="18" charset="0"/>
                        </a:rPr>
                        <m:t>𝑓</m:t>
                      </m:r>
                      <m:d>
                        <m:dPr>
                          <m:ctrlPr>
                            <a:rPr lang="zh-CN" altLang="en-US" sz="2000" b="0" i="1" smtClean="0">
                              <a:latin typeface="Cambria Math" panose="02040503050406030204" pitchFamily="18" charset="0"/>
                            </a:rPr>
                          </m:ctrlPr>
                        </m:dPr>
                        <m:e>
                          <m:sSub>
                            <m:sSubPr>
                              <m:ctrlPr>
                                <a:rPr lang="zh-CN" altLang="en-US" sz="2000" b="0" i="1" smtClean="0">
                                  <a:latin typeface="Cambria Math" panose="02040503050406030204" pitchFamily="18" charset="0"/>
                                </a:rPr>
                              </m:ctrlPr>
                            </m:sSubPr>
                            <m:e>
                              <m:r>
                                <a:rPr lang="zh-CN" altLang="en-US" sz="2000" b="0" i="1" smtClean="0">
                                  <a:latin typeface="Cambria Math" panose="02040503050406030204" pitchFamily="18" charset="0"/>
                                </a:rPr>
                                <m:t>𝜔</m:t>
                              </m:r>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b="0" i="1" smtClean="0">
                                  <a:latin typeface="Cambria Math" panose="02040503050406030204" pitchFamily="18" charset="0"/>
                                </a:rPr>
                              </m:ctrlPr>
                            </m:sSubPr>
                            <m:e>
                              <m:r>
                                <a:rPr lang="zh-CN" altLang="en-US" sz="2000" b="0" i="1" smtClean="0">
                                  <a:latin typeface="Cambria Math" panose="02040503050406030204" pitchFamily="18" charset="0"/>
                                </a:rPr>
                                <m:t>𝜔</m:t>
                              </m:r>
                            </m:e>
                            <m:sub>
                              <m:r>
                                <a:rPr lang="en-US" altLang="zh-CN" sz="2000" b="0" i="1" smtClean="0">
                                  <a:latin typeface="Cambria Math" panose="02040503050406030204" pitchFamily="18" charset="0"/>
                                  <a:ea typeface="Cambria Math" panose="02040503050406030204" pitchFamily="18" charset="0"/>
                                </a:rPr>
                                <m:t>𝑜</m:t>
                              </m:r>
                            </m:sub>
                          </m:sSub>
                        </m:e>
                      </m:d>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𝐿</m:t>
                              </m:r>
                            </m:e>
                            <m:sub>
                              <m:r>
                                <a:rPr lang="en-US" altLang="zh-CN" sz="2000" b="0" i="1" smtClean="0">
                                  <a:latin typeface="Cambria Math" panose="02040503050406030204" pitchFamily="18" charset="0"/>
                                  <a:ea typeface="Cambria Math" panose="02040503050406030204" pitchFamily="18" charset="0"/>
                                </a:rPr>
                                <m:t>𝑜</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b="0" i="1" smtClean="0">
                              <a:latin typeface="Cambria Math" panose="02040503050406030204" pitchFamily="18" charset="0"/>
                              <a:ea typeface="Cambria Math" panose="02040503050406030204" pitchFamily="18" charset="0"/>
                            </a:rPr>
                            <m:t>)</m:t>
                          </m:r>
                        </m:num>
                        <m:den>
                          <m:r>
                            <a:rPr lang="en-US" altLang="zh-CN" sz="2000" b="0" i="1" smtClean="0">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𝐸</m:t>
                              </m:r>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den>
                      </m:f>
                      <m:r>
                        <a:rPr lang="en-US" altLang="zh-CN" sz="2000" b="0" i="1"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𝑑</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num>
                        <m:den>
                          <m:r>
                            <a:rPr lang="en-US" altLang="zh-CN" sz="2000" i="1">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𝐿</m:t>
                              </m:r>
                            </m:e>
                            <m:sub>
                              <m:r>
                                <a:rPr lang="en-US" altLang="zh-CN" sz="2000" i="1" smtClean="0">
                                  <a:latin typeface="Cambria Math" panose="02040503050406030204" pitchFamily="18" charset="0"/>
                                  <a:ea typeface="Cambria Math" panose="02040503050406030204" pitchFamily="18" charset="0"/>
                                </a:rPr>
                                <m:t>𝑖</m:t>
                              </m:r>
                            </m:sub>
                          </m:sSub>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e>
                          </m:d>
                          <m:r>
                            <a:rPr lang="en-US" altLang="zh-CN" sz="2000" b="0" i="1" smtClean="0">
                              <a:latin typeface="Cambria Math" panose="02040503050406030204" pitchFamily="18" charset="0"/>
                              <a:ea typeface="Cambria Math" panose="02040503050406030204" pitchFamily="18" charset="0"/>
                            </a:rPr>
                            <m:t>𝑐𝑜𝑠</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𝜃</m:t>
                              </m:r>
                            </m:e>
                            <m:sub>
                              <m:r>
                                <a:rPr lang="en-US" altLang="zh-CN" sz="2000" i="1">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𝑑</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den>
                      </m:f>
                    </m:oMath>
                  </m:oMathPara>
                </a14:m>
                <a:endParaRPr lang="en-US" altLang="zh-CN" sz="2000" i="1" dirty="0">
                  <a:latin typeface="Cambria Math" panose="02040503050406030204" pitchFamily="18" charset="0"/>
                  <a:ea typeface="Cambria Math" panose="02040503050406030204" pitchFamily="18" charset="0"/>
                </a:endParaRPr>
              </a:p>
              <a:p>
                <a:endParaRPr lang="en-US" altLang="zh-CN"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𝑜</m:t>
                          </m:r>
                        </m:sub>
                      </m:sSub>
                      <m:d>
                        <m:dPr>
                          <m:ctrlPr>
                            <a:rPr lang="en-US" altLang="zh-CN" sz="2000" i="1">
                              <a:latin typeface="Cambria Math" panose="02040503050406030204" pitchFamily="18" charset="0"/>
                              <a:ea typeface="Cambria Math" panose="02040503050406030204" pitchFamily="18" charset="0"/>
                            </a:rPr>
                          </m:ctrlPr>
                        </m:d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𝑝</m:t>
                              </m:r>
                              <m:r>
                                <a:rPr lang="en-US" altLang="zh-CN" sz="2000" i="1">
                                  <a:latin typeface="Cambria Math" panose="02040503050406030204" pitchFamily="18" charset="0"/>
                                  <a:ea typeface="Cambria Math" panose="02040503050406030204" pitchFamily="18" charset="0"/>
                                </a:rPr>
                                <m:t>,</m:t>
                              </m:r>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e>
                      </m:d>
                      <m:r>
                        <a:rPr lang="en-US" altLang="zh-CN" sz="2000" i="1">
                          <a:latin typeface="Cambria Math" panose="02040503050406030204" pitchFamily="18" charset="0"/>
                          <a:ea typeface="Cambria Math" panose="02040503050406030204" pitchFamily="18" charset="0"/>
                        </a:rPr>
                        <m:t>=</m:t>
                      </m:r>
                      <m:sSub>
                        <m:sSubPr>
                          <m:ctrlPr>
                            <a:rPr lang="en-US" altLang="zh-CN" sz="2000" i="1">
                              <a:solidFill>
                                <a:schemeClr val="accent3"/>
                              </a:solidFill>
                              <a:latin typeface="Cambria Math" panose="02040503050406030204" pitchFamily="18" charset="0"/>
                              <a:ea typeface="Cambria Math" panose="02040503050406030204" pitchFamily="18" charset="0"/>
                            </a:rPr>
                          </m:ctrlPr>
                        </m:sSubPr>
                        <m:e>
                          <m:r>
                            <a:rPr lang="en-US" altLang="zh-CN" sz="2000" i="1">
                              <a:solidFill>
                                <a:schemeClr val="accent3"/>
                              </a:solidFill>
                              <a:latin typeface="Cambria Math" panose="02040503050406030204" pitchFamily="18" charset="0"/>
                              <a:ea typeface="Cambria Math" panose="02040503050406030204" pitchFamily="18" charset="0"/>
                            </a:rPr>
                            <m:t>𝐿</m:t>
                          </m:r>
                        </m:e>
                        <m:sub>
                          <m:r>
                            <a:rPr lang="en-US" altLang="zh-CN" sz="2000" i="1">
                              <a:solidFill>
                                <a:schemeClr val="accent3"/>
                              </a:solidFill>
                              <a:latin typeface="Cambria Math" panose="02040503050406030204" pitchFamily="18" charset="0"/>
                              <a:ea typeface="Cambria Math" panose="02040503050406030204" pitchFamily="18" charset="0"/>
                            </a:rPr>
                            <m:t>𝑒</m:t>
                          </m:r>
                        </m:sub>
                      </m:sSub>
                      <m:d>
                        <m:dPr>
                          <m:ctrlPr>
                            <a:rPr lang="en-US" altLang="zh-CN" sz="2000" i="1">
                              <a:solidFill>
                                <a:schemeClr val="accent3"/>
                              </a:solidFill>
                              <a:latin typeface="Cambria Math" panose="02040503050406030204" pitchFamily="18" charset="0"/>
                              <a:ea typeface="Cambria Math" panose="02040503050406030204" pitchFamily="18" charset="0"/>
                            </a:rPr>
                          </m:ctrlPr>
                        </m:dPr>
                        <m:e>
                          <m:r>
                            <a:rPr lang="en-US" altLang="zh-CN" sz="2000" i="1">
                              <a:solidFill>
                                <a:schemeClr val="accent3"/>
                              </a:solidFill>
                              <a:latin typeface="Cambria Math" panose="02040503050406030204" pitchFamily="18" charset="0"/>
                              <a:ea typeface="Cambria Math" panose="02040503050406030204" pitchFamily="18" charset="0"/>
                            </a:rPr>
                            <m:t>𝑝</m:t>
                          </m:r>
                          <m:r>
                            <a:rPr lang="en-US" altLang="zh-CN" sz="2000" i="1">
                              <a:solidFill>
                                <a:schemeClr val="accent3"/>
                              </a:solidFill>
                              <a:latin typeface="Cambria Math" panose="02040503050406030204" pitchFamily="18" charset="0"/>
                              <a:ea typeface="Cambria Math" panose="02040503050406030204" pitchFamily="18" charset="0"/>
                            </a:rPr>
                            <m:t>,</m:t>
                          </m:r>
                          <m:sSub>
                            <m:sSubPr>
                              <m:ctrlPr>
                                <a:rPr lang="zh-CN" altLang="en-US" sz="2000" i="1">
                                  <a:solidFill>
                                    <a:schemeClr val="accent3"/>
                                  </a:solidFill>
                                  <a:latin typeface="Cambria Math" panose="02040503050406030204" pitchFamily="18" charset="0"/>
                                </a:rPr>
                              </m:ctrlPr>
                            </m:sSubPr>
                            <m:e>
                              <m:r>
                                <a:rPr lang="zh-CN" altLang="en-US" sz="2000" i="1">
                                  <a:solidFill>
                                    <a:schemeClr val="accent3"/>
                                  </a:solidFill>
                                  <a:latin typeface="Cambria Math" panose="02040503050406030204" pitchFamily="18" charset="0"/>
                                </a:rPr>
                                <m:t>𝜔</m:t>
                              </m:r>
                            </m:e>
                            <m:sub>
                              <m:r>
                                <a:rPr lang="en-US" altLang="zh-CN" sz="2000" i="1">
                                  <a:solidFill>
                                    <a:schemeClr val="accent3"/>
                                  </a:solidFill>
                                  <a:latin typeface="Cambria Math" panose="02040503050406030204" pitchFamily="18" charset="0"/>
                                  <a:ea typeface="Cambria Math" panose="02040503050406030204" pitchFamily="18" charset="0"/>
                                </a:rPr>
                                <m:t>𝑜</m:t>
                              </m:r>
                            </m:sub>
                          </m:sSub>
                        </m:e>
                      </m:d>
                      <m:r>
                        <a:rPr lang="en-US" altLang="zh-CN" sz="2000" i="1">
                          <a:latin typeface="Cambria Math" panose="02040503050406030204" pitchFamily="18" charset="0"/>
                          <a:ea typeface="Cambria Math" panose="02040503050406030204" pitchFamily="18" charset="0"/>
                        </a:rPr>
                        <m:t>+</m:t>
                      </m:r>
                      <m:nary>
                        <m:naryPr>
                          <m:ctrlPr>
                            <a:rPr lang="en-US" altLang="zh-CN" sz="2000" i="1">
                              <a:latin typeface="Cambria Math" panose="02040503050406030204" pitchFamily="18" charset="0"/>
                              <a:ea typeface="Cambria Math" panose="02040503050406030204" pitchFamily="18" charset="0"/>
                            </a:rPr>
                          </m:ctrlPr>
                        </m:naryPr>
                        <m:sub>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𝐻</m:t>
                              </m:r>
                            </m:e>
                            <m:sup>
                              <m:r>
                                <a:rPr lang="en-US" altLang="zh-CN" sz="2000" i="1">
                                  <a:latin typeface="Cambria Math" panose="02040503050406030204" pitchFamily="18" charset="0"/>
                                  <a:ea typeface="Cambria Math" panose="02040503050406030204" pitchFamily="18" charset="0"/>
                                </a:rPr>
                                <m:t>2</m:t>
                              </m:r>
                            </m:sup>
                          </m:sSup>
                        </m:sub>
                        <m:sup>
                          <m:r>
                            <a:rPr lang="en-US" altLang="zh-CN" sz="2000" i="1">
                              <a:latin typeface="Cambria Math" panose="02040503050406030204" pitchFamily="18" charset="0"/>
                              <a:ea typeface="Cambria Math" panose="02040503050406030204" pitchFamily="18" charset="0"/>
                            </a:rPr>
                            <m:t> </m:t>
                          </m:r>
                        </m:sup>
                        <m:e>
                          <m:r>
                            <a:rPr lang="en-US" altLang="zh-CN" sz="2000" i="1">
                              <a:latin typeface="Cambria Math" panose="02040503050406030204" pitchFamily="18" charset="0"/>
                              <a:ea typeface="Cambria Math" panose="02040503050406030204" pitchFamily="18" charset="0"/>
                            </a:rPr>
                            <m:t>𝑓</m:t>
                          </m:r>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e>
                          </m:d>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𝑖</m:t>
                              </m:r>
                            </m:sub>
                          </m:sSub>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𝑝</m:t>
                              </m:r>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e>
                          </m:d>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𝑛</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𝑑</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e>
                      </m:nary>
                    </m:oMath>
                  </m:oMathPara>
                </a14:m>
                <a:endParaRPr lang="en-US" altLang="zh-CN" sz="2000" i="1" dirty="0">
                  <a:latin typeface="Cambria Math" panose="02040503050406030204" pitchFamily="18" charset="0"/>
                  <a:ea typeface="Cambria Math" panose="02040503050406030204" pitchFamily="18" charset="0"/>
                </a:endParaRPr>
              </a:p>
            </p:txBody>
          </p:sp>
        </mc:Choice>
        <mc:Fallback xmlns="">
          <p:sp>
            <p:nvSpPr>
              <p:cNvPr id="20" name="文本框 19">
                <a:extLst>
                  <a:ext uri="{FF2B5EF4-FFF2-40B4-BE49-F238E27FC236}">
                    <a16:creationId xmlns:a16="http://schemas.microsoft.com/office/drawing/2014/main" id="{DB8D1950-43EC-AAFD-4B08-1245BC2FA503}"/>
                  </a:ext>
                </a:extLst>
              </p:cNvPr>
              <p:cNvSpPr txBox="1">
                <a:spLocks noRot="1" noChangeAspect="1" noMove="1" noResize="1" noEditPoints="1" noAdjustHandles="1" noChangeArrowheads="1" noChangeShapeType="1" noTextEdit="1"/>
              </p:cNvSpPr>
              <p:nvPr/>
            </p:nvSpPr>
            <p:spPr>
              <a:xfrm>
                <a:off x="677511" y="1886023"/>
                <a:ext cx="7207250" cy="167026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D8D115A-CEAA-1E65-571E-3B40304F60BA}"/>
                  </a:ext>
                </a:extLst>
              </p:cNvPr>
              <p:cNvSpPr txBox="1"/>
              <p:nvPr/>
            </p:nvSpPr>
            <p:spPr>
              <a:xfrm>
                <a:off x="614045" y="4519958"/>
                <a:ext cx="7945755" cy="16702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ea typeface="Cambria Math" panose="02040503050406030204" pitchFamily="18" charset="0"/>
                        </a:rPr>
                        <m:t>𝑓</m:t>
                      </m:r>
                      <m:d>
                        <m:dPr>
                          <m:ctrlPr>
                            <a:rPr lang="zh-CN" altLang="en-US" sz="2000" b="0" i="1" smtClean="0">
                              <a:latin typeface="Cambria Math" panose="02040503050406030204" pitchFamily="18" charset="0"/>
                            </a:rPr>
                          </m:ctrlPr>
                        </m:dPr>
                        <m:e>
                          <m:sSub>
                            <m:sSubPr>
                              <m:ctrlPr>
                                <a:rPr lang="zh-CN" altLang="en-US" sz="2000" b="0" i="1" smtClean="0">
                                  <a:latin typeface="Cambria Math" panose="02040503050406030204" pitchFamily="18" charset="0"/>
                                </a:rPr>
                              </m:ctrlPr>
                            </m:sSubPr>
                            <m:e>
                              <m:r>
                                <a:rPr lang="zh-CN" altLang="en-US" sz="2000" b="0" i="1" smtClean="0">
                                  <a:latin typeface="Cambria Math" panose="02040503050406030204" pitchFamily="18" charset="0"/>
                                </a:rPr>
                                <m:t>𝜔</m:t>
                              </m:r>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b="0" i="1" smtClean="0">
                                  <a:latin typeface="Cambria Math" panose="02040503050406030204" pitchFamily="18" charset="0"/>
                                </a:rPr>
                              </m:ctrlPr>
                            </m:sSubPr>
                            <m:e>
                              <m:r>
                                <a:rPr lang="zh-CN" altLang="en-US" sz="2000" b="0" i="1" smtClean="0">
                                  <a:latin typeface="Cambria Math" panose="02040503050406030204" pitchFamily="18" charset="0"/>
                                </a:rPr>
                                <m:t>𝜔</m:t>
                              </m:r>
                            </m:e>
                            <m:sub>
                              <m:r>
                                <a:rPr lang="en-US" altLang="zh-CN" sz="2000" b="0" i="1" smtClean="0">
                                  <a:latin typeface="Cambria Math" panose="02040503050406030204" pitchFamily="18" charset="0"/>
                                  <a:ea typeface="Cambria Math" panose="02040503050406030204" pitchFamily="18" charset="0"/>
                                </a:rPr>
                                <m:t>𝑜</m:t>
                              </m:r>
                            </m:sub>
                          </m:sSub>
                          <m:r>
                            <a:rPr lang="en-US" altLang="zh-CN" sz="2000" b="0" i="1" smtClean="0">
                              <a:latin typeface="Cambria Math" panose="02040503050406030204" pitchFamily="18" charset="0"/>
                              <a:ea typeface="Cambria Math" panose="02040503050406030204" pitchFamily="18" charset="0"/>
                            </a:rPr>
                            <m:t>,</m:t>
                          </m:r>
                          <m:r>
                            <a:rPr lang="en-US" altLang="zh-CN" sz="2000" b="0" i="1" smtClean="0">
                              <a:solidFill>
                                <a:srgbClr val="FF0000"/>
                              </a:solidFill>
                              <a:latin typeface="Cambria Math" panose="02040503050406030204" pitchFamily="18" charset="0"/>
                              <a:ea typeface="Cambria Math" panose="02040503050406030204" pitchFamily="18" charset="0"/>
                            </a:rPr>
                            <m:t>𝜆</m:t>
                          </m:r>
                        </m:e>
                      </m:d>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𝐿</m:t>
                              </m:r>
                            </m:e>
                            <m:sub>
                              <m:r>
                                <a:rPr lang="en-US" altLang="zh-CN" sz="2000" b="0" i="1" smtClean="0">
                                  <a:latin typeface="Cambria Math" panose="02040503050406030204" pitchFamily="18" charset="0"/>
                                  <a:ea typeface="Cambria Math" panose="02040503050406030204" pitchFamily="18" charset="0"/>
                                </a:rPr>
                                <m:t>𝑜</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b="0" i="1" smtClean="0">
                              <a:latin typeface="Cambria Math" panose="02040503050406030204" pitchFamily="18" charset="0"/>
                              <a:ea typeface="Cambria Math" panose="02040503050406030204" pitchFamily="18" charset="0"/>
                            </a:rPr>
                            <m:t>,</m:t>
                          </m:r>
                          <m:r>
                            <a:rPr lang="en-US" altLang="zh-CN" sz="2000" b="0" i="1" smtClean="0">
                              <a:solidFill>
                                <a:srgbClr val="FF0000"/>
                              </a:solidFill>
                              <a:latin typeface="Cambria Math" panose="02040503050406030204" pitchFamily="18" charset="0"/>
                              <a:ea typeface="Cambria Math" panose="02040503050406030204" pitchFamily="18" charset="0"/>
                            </a:rPr>
                            <m:t>𝜆</m:t>
                          </m:r>
                          <m:r>
                            <a:rPr lang="en-US" altLang="zh-CN" sz="2000" b="0" i="1" smtClean="0">
                              <a:latin typeface="Cambria Math" panose="02040503050406030204" pitchFamily="18" charset="0"/>
                              <a:ea typeface="Cambria Math" panose="02040503050406030204" pitchFamily="18" charset="0"/>
                            </a:rPr>
                            <m:t>)</m:t>
                          </m:r>
                        </m:num>
                        <m:den>
                          <m:r>
                            <a:rPr lang="en-US" altLang="zh-CN" sz="2000" b="0" i="1" smtClean="0">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𝐸</m:t>
                              </m:r>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r>
                            <a:rPr lang="en-US" altLang="zh-CN" sz="2000" b="0" i="1" smtClean="0">
                              <a:latin typeface="Cambria Math" panose="02040503050406030204" pitchFamily="18" charset="0"/>
                              <a:ea typeface="Cambria Math" panose="02040503050406030204" pitchFamily="18" charset="0"/>
                            </a:rPr>
                            <m:t>)</m:t>
                          </m:r>
                        </m:den>
                      </m:f>
                      <m:r>
                        <a:rPr lang="en-US" altLang="zh-CN" sz="2000" b="0" i="1"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𝑑</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r>
                            <a:rPr lang="en-US" altLang="zh-CN" sz="2000" i="1">
                              <a:latin typeface="Cambria Math" panose="02040503050406030204" pitchFamily="18" charset="0"/>
                              <a:ea typeface="Cambria Math" panose="02040503050406030204" pitchFamily="18" charset="0"/>
                            </a:rPr>
                            <m:t>)</m:t>
                          </m:r>
                        </m:num>
                        <m:den>
                          <m:r>
                            <a:rPr lang="en-US" altLang="zh-CN" sz="2000" i="1">
                              <a:latin typeface="Cambria Math" panose="02040503050406030204" pitchFamily="18" charset="0"/>
                              <a:ea typeface="Cambria Math" panose="02040503050406030204" pitchFamily="18" charset="0"/>
                            </a:rPr>
                            <m:t>𝑑</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𝐿</m:t>
                              </m:r>
                            </m:e>
                            <m:sub>
                              <m:r>
                                <a:rPr lang="en-US" altLang="zh-CN" sz="2000" i="1" smtClean="0">
                                  <a:latin typeface="Cambria Math" panose="02040503050406030204" pitchFamily="18" charset="0"/>
                                  <a:ea typeface="Cambria Math" panose="02040503050406030204" pitchFamily="18" charset="0"/>
                                </a:rPr>
                                <m:t>𝑖</m:t>
                              </m:r>
                            </m:sub>
                          </m:sSub>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e>
                          </m:d>
                          <m:r>
                            <a:rPr lang="en-US" altLang="zh-CN" sz="2000" b="0" i="1" smtClean="0">
                              <a:latin typeface="Cambria Math" panose="02040503050406030204" pitchFamily="18" charset="0"/>
                              <a:ea typeface="Cambria Math" panose="02040503050406030204" pitchFamily="18" charset="0"/>
                            </a:rPr>
                            <m:t>𝑐𝑜𝑠</m:t>
                          </m:r>
                          <m:sSub>
                            <m:sSubPr>
                              <m:ctrlPr>
                                <a:rPr lang="zh-CN" altLang="en-US" sz="2000" i="1" smtClean="0">
                                  <a:latin typeface="Cambria Math" panose="02040503050406030204" pitchFamily="18" charset="0"/>
                                </a:rPr>
                              </m:ctrlPr>
                            </m:sSubPr>
                            <m:e>
                              <m:r>
                                <a:rPr lang="zh-CN" altLang="en-US" sz="2000" i="1" smtClean="0">
                                  <a:latin typeface="Cambria Math" panose="02040503050406030204" pitchFamily="18" charset="0"/>
                                </a:rPr>
                                <m:t>𝜃</m:t>
                              </m:r>
                            </m:e>
                            <m:sub>
                              <m:r>
                                <a:rPr lang="en-US" altLang="zh-CN" sz="2000" i="1">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𝑑</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den>
                      </m:f>
                    </m:oMath>
                  </m:oMathPara>
                </a14:m>
                <a:endParaRPr lang="en-US" altLang="zh-CN" sz="2000" i="1" dirty="0">
                  <a:latin typeface="Cambria Math" panose="02040503050406030204" pitchFamily="18" charset="0"/>
                  <a:ea typeface="Cambria Math" panose="02040503050406030204" pitchFamily="18" charset="0"/>
                </a:endParaRPr>
              </a:p>
              <a:p>
                <a:endParaRPr lang="en-US" altLang="zh-CN"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𝑜</m:t>
                          </m:r>
                        </m:sub>
                      </m:sSub>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𝑝</m:t>
                          </m:r>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e>
                      </m:d>
                      <m:r>
                        <a:rPr lang="en-US" altLang="zh-CN" sz="2000" i="1">
                          <a:latin typeface="Cambria Math" panose="02040503050406030204" pitchFamily="18" charset="0"/>
                          <a:ea typeface="Cambria Math" panose="02040503050406030204" pitchFamily="18" charset="0"/>
                        </a:rPr>
                        <m:t>=</m:t>
                      </m:r>
                      <m:sSub>
                        <m:sSubPr>
                          <m:ctrlPr>
                            <a:rPr lang="en-US" altLang="zh-CN" sz="2000" i="1">
                              <a:solidFill>
                                <a:schemeClr val="accent3"/>
                              </a:solidFill>
                              <a:latin typeface="Cambria Math" panose="02040503050406030204" pitchFamily="18" charset="0"/>
                              <a:ea typeface="Cambria Math" panose="02040503050406030204" pitchFamily="18" charset="0"/>
                            </a:rPr>
                          </m:ctrlPr>
                        </m:sSubPr>
                        <m:e>
                          <m:r>
                            <a:rPr lang="en-US" altLang="zh-CN" sz="2000" i="1">
                              <a:solidFill>
                                <a:schemeClr val="accent3"/>
                              </a:solidFill>
                              <a:latin typeface="Cambria Math" panose="02040503050406030204" pitchFamily="18" charset="0"/>
                              <a:ea typeface="Cambria Math" panose="02040503050406030204" pitchFamily="18" charset="0"/>
                            </a:rPr>
                            <m:t>𝐿</m:t>
                          </m:r>
                        </m:e>
                        <m:sub>
                          <m:r>
                            <a:rPr lang="en-US" altLang="zh-CN" sz="2000" i="1">
                              <a:solidFill>
                                <a:schemeClr val="accent3"/>
                              </a:solidFill>
                              <a:latin typeface="Cambria Math" panose="02040503050406030204" pitchFamily="18" charset="0"/>
                              <a:ea typeface="Cambria Math" panose="02040503050406030204" pitchFamily="18" charset="0"/>
                            </a:rPr>
                            <m:t>𝑒</m:t>
                          </m:r>
                        </m:sub>
                      </m:sSub>
                      <m:d>
                        <m:dPr>
                          <m:ctrlPr>
                            <a:rPr lang="en-US" altLang="zh-CN" sz="2000" i="1">
                              <a:solidFill>
                                <a:schemeClr val="accent3"/>
                              </a:solidFill>
                              <a:latin typeface="Cambria Math" panose="02040503050406030204" pitchFamily="18" charset="0"/>
                              <a:ea typeface="Cambria Math" panose="02040503050406030204" pitchFamily="18" charset="0"/>
                            </a:rPr>
                          </m:ctrlPr>
                        </m:dPr>
                        <m:e>
                          <m:r>
                            <a:rPr lang="en-US" altLang="zh-CN" sz="2000" i="1">
                              <a:solidFill>
                                <a:schemeClr val="accent3"/>
                              </a:solidFill>
                              <a:latin typeface="Cambria Math" panose="02040503050406030204" pitchFamily="18" charset="0"/>
                              <a:ea typeface="Cambria Math" panose="02040503050406030204" pitchFamily="18" charset="0"/>
                            </a:rPr>
                            <m:t>𝑝</m:t>
                          </m:r>
                          <m:r>
                            <a:rPr lang="en-US" altLang="zh-CN" sz="2000" i="1">
                              <a:solidFill>
                                <a:schemeClr val="accent3"/>
                              </a:solidFill>
                              <a:latin typeface="Cambria Math" panose="02040503050406030204" pitchFamily="18" charset="0"/>
                              <a:ea typeface="Cambria Math" panose="02040503050406030204" pitchFamily="18" charset="0"/>
                            </a:rPr>
                            <m:t>,</m:t>
                          </m:r>
                          <m:sSub>
                            <m:sSubPr>
                              <m:ctrlPr>
                                <a:rPr lang="zh-CN" altLang="en-US" sz="2000" i="1">
                                  <a:solidFill>
                                    <a:schemeClr val="accent3"/>
                                  </a:solidFill>
                                  <a:latin typeface="Cambria Math" panose="02040503050406030204" pitchFamily="18" charset="0"/>
                                </a:rPr>
                              </m:ctrlPr>
                            </m:sSubPr>
                            <m:e>
                              <m:r>
                                <a:rPr lang="zh-CN" altLang="en-US" sz="2000" i="1">
                                  <a:solidFill>
                                    <a:schemeClr val="accent3"/>
                                  </a:solidFill>
                                  <a:latin typeface="Cambria Math" panose="02040503050406030204" pitchFamily="18" charset="0"/>
                                </a:rPr>
                                <m:t>𝜔</m:t>
                              </m:r>
                            </m:e>
                            <m:sub>
                              <m:r>
                                <a:rPr lang="en-US" altLang="zh-CN" sz="2000" i="1">
                                  <a:solidFill>
                                    <a:schemeClr val="accent3"/>
                                  </a:solidFill>
                                  <a:latin typeface="Cambria Math" panose="02040503050406030204" pitchFamily="18" charset="0"/>
                                  <a:ea typeface="Cambria Math" panose="02040503050406030204" pitchFamily="18" charset="0"/>
                                </a:rPr>
                                <m:t>𝑜</m:t>
                              </m:r>
                            </m:sub>
                          </m:sSub>
                          <m:r>
                            <a:rPr lang="en-US" altLang="zh-CN" sz="2000" i="1">
                              <a:solidFill>
                                <a:schemeClr val="accent3"/>
                              </a:solidFill>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e>
                      </m:d>
                      <m:r>
                        <a:rPr lang="en-US" altLang="zh-CN" sz="2000" i="1">
                          <a:latin typeface="Cambria Math" panose="02040503050406030204" pitchFamily="18" charset="0"/>
                          <a:ea typeface="Cambria Math" panose="02040503050406030204" pitchFamily="18" charset="0"/>
                        </a:rPr>
                        <m:t>+</m:t>
                      </m:r>
                      <m:nary>
                        <m:naryPr>
                          <m:ctrlPr>
                            <a:rPr lang="en-US" altLang="zh-CN" sz="2000" i="1">
                              <a:latin typeface="Cambria Math" panose="02040503050406030204" pitchFamily="18" charset="0"/>
                              <a:ea typeface="Cambria Math" panose="02040503050406030204" pitchFamily="18" charset="0"/>
                            </a:rPr>
                          </m:ctrlPr>
                        </m:naryPr>
                        <m:sub>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𝐻</m:t>
                              </m:r>
                            </m:e>
                            <m:sup>
                              <m:r>
                                <a:rPr lang="en-US" altLang="zh-CN" sz="2000" i="1">
                                  <a:latin typeface="Cambria Math" panose="02040503050406030204" pitchFamily="18" charset="0"/>
                                  <a:ea typeface="Cambria Math" panose="02040503050406030204" pitchFamily="18" charset="0"/>
                                </a:rPr>
                                <m:t>2</m:t>
                              </m:r>
                            </m:sup>
                          </m:sSup>
                        </m:sub>
                        <m:sup>
                          <m:r>
                            <a:rPr lang="en-US" altLang="zh-CN" sz="2000" i="1">
                              <a:latin typeface="Cambria Math" panose="02040503050406030204" pitchFamily="18" charset="0"/>
                              <a:ea typeface="Cambria Math" panose="02040503050406030204" pitchFamily="18" charset="0"/>
                            </a:rPr>
                            <m:t> </m:t>
                          </m:r>
                        </m:sup>
                        <m:e>
                          <m:r>
                            <a:rPr lang="en-US" altLang="zh-CN" sz="2000" i="1">
                              <a:latin typeface="Cambria Math" panose="02040503050406030204" pitchFamily="18" charset="0"/>
                              <a:ea typeface="Cambria Math" panose="02040503050406030204" pitchFamily="18" charset="0"/>
                            </a:rPr>
                            <m:t>𝑓</m:t>
                          </m:r>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e>
                          </m:d>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𝑖</m:t>
                              </m:r>
                            </m:sub>
                          </m:sSub>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𝑝</m:t>
                              </m:r>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e>
                          </m:d>
                          <m:r>
                            <a:rPr lang="en-US" altLang="zh-CN" sz="2000" i="1">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𝑛</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𝑑</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𝑖</m:t>
                              </m:r>
                            </m:sub>
                          </m:sSub>
                        </m:e>
                      </m:nary>
                    </m:oMath>
                  </m:oMathPara>
                </a14:m>
                <a:endParaRPr lang="en-US" altLang="zh-CN" sz="2000" i="1" dirty="0">
                  <a:latin typeface="Cambria Math" panose="02040503050406030204" pitchFamily="18" charset="0"/>
                  <a:ea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AD8D115A-CEAA-1E65-571E-3B40304F60BA}"/>
                  </a:ext>
                </a:extLst>
              </p:cNvPr>
              <p:cNvSpPr txBox="1">
                <a:spLocks noRot="1" noChangeAspect="1" noMove="1" noResize="1" noEditPoints="1" noAdjustHandles="1" noChangeArrowheads="1" noChangeShapeType="1" noTextEdit="1"/>
              </p:cNvSpPr>
              <p:nvPr/>
            </p:nvSpPr>
            <p:spPr>
              <a:xfrm>
                <a:off x="614045" y="4519958"/>
                <a:ext cx="7945755" cy="1670265"/>
              </a:xfrm>
              <a:prstGeom prst="rect">
                <a:avLst/>
              </a:prstGeom>
              <a:blipFill>
                <a:blip r:embed="rId5"/>
                <a:stretch>
                  <a:fillRect/>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9E64DAC9-C4F2-00D9-60C5-4CCFCFE3A079}"/>
              </a:ext>
            </a:extLst>
          </p:cNvPr>
          <p:cNvPicPr>
            <a:picLocks noChangeAspect="1"/>
          </p:cNvPicPr>
          <p:nvPr/>
        </p:nvPicPr>
        <p:blipFill>
          <a:blip r:embed="rId6"/>
          <a:stretch>
            <a:fillRect/>
          </a:stretch>
        </p:blipFill>
        <p:spPr>
          <a:xfrm>
            <a:off x="7993380" y="2476497"/>
            <a:ext cx="3368040" cy="1629236"/>
          </a:xfrm>
          <a:prstGeom prst="rect">
            <a:avLst/>
          </a:prstGeom>
        </p:spPr>
      </p:pic>
      <p:sp>
        <p:nvSpPr>
          <p:cNvPr id="9" name="文本框 8">
            <a:extLst>
              <a:ext uri="{FF2B5EF4-FFF2-40B4-BE49-F238E27FC236}">
                <a16:creationId xmlns:a16="http://schemas.microsoft.com/office/drawing/2014/main" id="{214488D0-9A82-FC95-E009-123DF1816702}"/>
              </a:ext>
            </a:extLst>
          </p:cNvPr>
          <p:cNvSpPr txBox="1"/>
          <p:nvPr/>
        </p:nvSpPr>
        <p:spPr>
          <a:xfrm>
            <a:off x="7868251" y="4152337"/>
            <a:ext cx="3618298" cy="369332"/>
          </a:xfrm>
          <a:prstGeom prst="rect">
            <a:avLst/>
          </a:prstGeom>
          <a:noFill/>
        </p:spPr>
        <p:txBody>
          <a:bodyPr wrap="none" rtlCol="0">
            <a:spAutoFit/>
          </a:bodyPr>
          <a:lstStyle/>
          <a:p>
            <a:r>
              <a:rPr lang="en-US" altLang="zh-CN" dirty="0">
                <a:latin typeface="Noto Sans SC" panose="020B0200000000000000" pitchFamily="34" charset="-122"/>
                <a:ea typeface="Noto Sans SC" panose="020B0200000000000000" pitchFamily="34" charset="-122"/>
              </a:rPr>
              <a:t>R</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100nit</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G</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80nit</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B</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70nit</a:t>
            </a:r>
          </a:p>
        </p:txBody>
      </p:sp>
    </p:spTree>
    <p:extLst>
      <p:ext uri="{BB962C8B-B14F-4D97-AF65-F5344CB8AC3E}">
        <p14:creationId xmlns:p14="http://schemas.microsoft.com/office/powerpoint/2010/main" val="4107555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65F67-BA7F-5E5B-6B02-FF515A9806A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8D0B2B5-31D8-B9E4-918D-63EF20A5E39E}"/>
              </a:ext>
            </a:extLst>
          </p:cNvPr>
          <p:cNvSpPr>
            <a:spLocks noGrp="1"/>
          </p:cNvSpPr>
          <p:nvPr>
            <p:ph type="title" idx="1"/>
          </p:nvPr>
        </p:nvSpPr>
        <p:spPr/>
        <p:txBody>
          <a:bodyPr/>
          <a:lstStyle/>
          <a:p>
            <a:r>
              <a:rPr lang="zh-CN" altLang="en-US" dirty="0"/>
              <a:t>光谱如何参与渲染</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39F5F65-75FE-75BB-F081-8EF402167699}"/>
                  </a:ext>
                </a:extLst>
              </p:cNvPr>
              <p:cNvSpPr txBox="1"/>
              <p:nvPr/>
            </p:nvSpPr>
            <p:spPr>
              <a:xfrm>
                <a:off x="4789586" y="2043962"/>
                <a:ext cx="7583805" cy="1591398"/>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1900" b="0" i="1" smtClean="0">
                          <a:latin typeface="Cambria Math" panose="02040503050406030204" pitchFamily="18" charset="0"/>
                          <a:ea typeface="Cambria Math" panose="02040503050406030204" pitchFamily="18" charset="0"/>
                        </a:rPr>
                        <m:t>𝑓</m:t>
                      </m:r>
                      <m:d>
                        <m:dPr>
                          <m:ctrlPr>
                            <a:rPr lang="zh-CN" altLang="en-US" sz="1900" b="0" i="1" smtClean="0">
                              <a:latin typeface="Cambria Math" panose="02040503050406030204" pitchFamily="18" charset="0"/>
                            </a:rPr>
                          </m:ctrlPr>
                        </m:dPr>
                        <m:e>
                          <m:sSub>
                            <m:sSubPr>
                              <m:ctrlPr>
                                <a:rPr lang="zh-CN" altLang="en-US" sz="1900" b="0" i="1" smtClean="0">
                                  <a:latin typeface="Cambria Math" panose="02040503050406030204" pitchFamily="18" charset="0"/>
                                </a:rPr>
                              </m:ctrlPr>
                            </m:sSubPr>
                            <m:e>
                              <m:r>
                                <a:rPr lang="zh-CN" altLang="en-US" sz="1900" b="0" i="1" smtClean="0">
                                  <a:latin typeface="Cambria Math" panose="02040503050406030204" pitchFamily="18" charset="0"/>
                                </a:rPr>
                                <m:t>𝜔</m:t>
                              </m:r>
                            </m:e>
                            <m:sub>
                              <m:r>
                                <a:rPr lang="en-US" altLang="zh-CN" sz="1900" b="0" i="1" smtClean="0">
                                  <a:latin typeface="Cambria Math" panose="02040503050406030204" pitchFamily="18" charset="0"/>
                                  <a:ea typeface="Cambria Math" panose="02040503050406030204" pitchFamily="18" charset="0"/>
                                </a:rPr>
                                <m:t>𝑖</m:t>
                              </m:r>
                            </m:sub>
                          </m:sSub>
                          <m:r>
                            <a:rPr lang="en-US" altLang="zh-CN" sz="1900" b="0" i="1" smtClean="0">
                              <a:latin typeface="Cambria Math" panose="02040503050406030204" pitchFamily="18" charset="0"/>
                              <a:ea typeface="Cambria Math" panose="02040503050406030204" pitchFamily="18" charset="0"/>
                            </a:rPr>
                            <m:t>→</m:t>
                          </m:r>
                          <m:sSub>
                            <m:sSubPr>
                              <m:ctrlPr>
                                <a:rPr lang="zh-CN" altLang="en-US" sz="1900" b="0" i="1" smtClean="0">
                                  <a:latin typeface="Cambria Math" panose="02040503050406030204" pitchFamily="18" charset="0"/>
                                </a:rPr>
                              </m:ctrlPr>
                            </m:sSubPr>
                            <m:e>
                              <m:r>
                                <a:rPr lang="zh-CN" altLang="en-US" sz="1900" b="0" i="1" smtClean="0">
                                  <a:latin typeface="Cambria Math" panose="02040503050406030204" pitchFamily="18" charset="0"/>
                                </a:rPr>
                                <m:t>𝜔</m:t>
                              </m:r>
                            </m:e>
                            <m:sub>
                              <m:r>
                                <a:rPr lang="en-US" altLang="zh-CN" sz="1900" b="0" i="1" smtClean="0">
                                  <a:latin typeface="Cambria Math" panose="02040503050406030204" pitchFamily="18" charset="0"/>
                                  <a:ea typeface="Cambria Math" panose="02040503050406030204" pitchFamily="18" charset="0"/>
                                </a:rPr>
                                <m:t>𝑜</m:t>
                              </m:r>
                            </m:sub>
                          </m:sSub>
                          <m:r>
                            <a:rPr lang="en-US" altLang="zh-CN" sz="1900" b="0" i="1" smtClean="0">
                              <a:latin typeface="Cambria Math" panose="02040503050406030204" pitchFamily="18" charset="0"/>
                              <a:ea typeface="Cambria Math" panose="02040503050406030204" pitchFamily="18" charset="0"/>
                            </a:rPr>
                            <m:t>,</m:t>
                          </m:r>
                          <m:r>
                            <a:rPr lang="en-US" altLang="zh-CN" sz="1900" b="0" i="1" smtClean="0">
                              <a:solidFill>
                                <a:srgbClr val="FF0000"/>
                              </a:solidFill>
                              <a:latin typeface="Cambria Math" panose="02040503050406030204" pitchFamily="18" charset="0"/>
                              <a:ea typeface="Cambria Math" panose="02040503050406030204" pitchFamily="18" charset="0"/>
                            </a:rPr>
                            <m:t>𝜆</m:t>
                          </m:r>
                        </m:e>
                      </m:d>
                      <m:r>
                        <a:rPr lang="en-US" altLang="zh-CN" sz="1900" b="0" i="1" smtClean="0">
                          <a:latin typeface="Cambria Math" panose="02040503050406030204" pitchFamily="18" charset="0"/>
                          <a:ea typeface="Cambria Math" panose="02040503050406030204" pitchFamily="18" charset="0"/>
                        </a:rPr>
                        <m:t>=</m:t>
                      </m:r>
                      <m:f>
                        <m:fPr>
                          <m:ctrlPr>
                            <a:rPr lang="en-US" altLang="zh-CN" sz="1900" b="0" i="1" smtClean="0">
                              <a:latin typeface="Cambria Math" panose="02040503050406030204" pitchFamily="18" charset="0"/>
                              <a:ea typeface="Cambria Math" panose="02040503050406030204" pitchFamily="18" charset="0"/>
                            </a:rPr>
                          </m:ctrlPr>
                        </m:fPr>
                        <m:num>
                          <m:r>
                            <a:rPr lang="en-US" altLang="zh-CN" sz="1900" b="0" i="1" smtClean="0">
                              <a:latin typeface="Cambria Math" panose="02040503050406030204" pitchFamily="18" charset="0"/>
                              <a:ea typeface="Cambria Math" panose="02040503050406030204" pitchFamily="18" charset="0"/>
                            </a:rPr>
                            <m:t>𝑑</m:t>
                          </m:r>
                          <m:sSub>
                            <m:sSubPr>
                              <m:ctrlPr>
                                <a:rPr lang="en-US" altLang="zh-CN" sz="1900" b="0" i="1" smtClean="0">
                                  <a:latin typeface="Cambria Math" panose="02040503050406030204" pitchFamily="18" charset="0"/>
                                  <a:ea typeface="Cambria Math" panose="02040503050406030204" pitchFamily="18" charset="0"/>
                                </a:rPr>
                              </m:ctrlPr>
                            </m:sSubPr>
                            <m:e>
                              <m:r>
                                <a:rPr lang="en-US" altLang="zh-CN" sz="1900" b="0" i="1" smtClean="0">
                                  <a:latin typeface="Cambria Math" panose="02040503050406030204" pitchFamily="18" charset="0"/>
                                  <a:ea typeface="Cambria Math" panose="02040503050406030204" pitchFamily="18" charset="0"/>
                                </a:rPr>
                                <m:t>𝐿</m:t>
                              </m:r>
                            </m:e>
                            <m:sub>
                              <m:r>
                                <a:rPr lang="en-US" altLang="zh-CN" sz="1900" b="0" i="1" smtClean="0">
                                  <a:latin typeface="Cambria Math" panose="02040503050406030204" pitchFamily="18" charset="0"/>
                                  <a:ea typeface="Cambria Math" panose="02040503050406030204" pitchFamily="18" charset="0"/>
                                </a:rPr>
                                <m:t>𝑜</m:t>
                              </m:r>
                            </m:sub>
                          </m:sSub>
                          <m:r>
                            <a:rPr lang="en-US" altLang="zh-CN" sz="1900" b="0" i="1" smtClean="0">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𝑜</m:t>
                              </m:r>
                            </m:sub>
                          </m:sSub>
                          <m:r>
                            <a:rPr lang="en-US" altLang="zh-CN" sz="1900" b="0" i="1" smtClean="0">
                              <a:latin typeface="Cambria Math" panose="02040503050406030204" pitchFamily="18" charset="0"/>
                              <a:ea typeface="Cambria Math" panose="02040503050406030204" pitchFamily="18" charset="0"/>
                            </a:rPr>
                            <m:t>,</m:t>
                          </m:r>
                          <m:r>
                            <a:rPr lang="en-US" altLang="zh-CN" sz="1900" b="0" i="1" smtClean="0">
                              <a:solidFill>
                                <a:srgbClr val="FF0000"/>
                              </a:solidFill>
                              <a:latin typeface="Cambria Math" panose="02040503050406030204" pitchFamily="18" charset="0"/>
                              <a:ea typeface="Cambria Math" panose="02040503050406030204" pitchFamily="18" charset="0"/>
                            </a:rPr>
                            <m:t>𝜆</m:t>
                          </m:r>
                          <m:r>
                            <a:rPr lang="en-US" altLang="zh-CN" sz="1900" b="0" i="1" smtClean="0">
                              <a:latin typeface="Cambria Math" panose="02040503050406030204" pitchFamily="18" charset="0"/>
                              <a:ea typeface="Cambria Math" panose="02040503050406030204" pitchFamily="18" charset="0"/>
                            </a:rPr>
                            <m:t>)</m:t>
                          </m:r>
                        </m:num>
                        <m:den>
                          <m:r>
                            <a:rPr lang="en-US" altLang="zh-CN" sz="1900" b="0" i="1" smtClean="0">
                              <a:latin typeface="Cambria Math" panose="02040503050406030204" pitchFamily="18" charset="0"/>
                              <a:ea typeface="Cambria Math" panose="02040503050406030204" pitchFamily="18" charset="0"/>
                            </a:rPr>
                            <m:t>𝑑</m:t>
                          </m:r>
                          <m:sSub>
                            <m:sSubPr>
                              <m:ctrlPr>
                                <a:rPr lang="en-US" altLang="zh-CN" sz="1900" b="0" i="1" smtClean="0">
                                  <a:latin typeface="Cambria Math" panose="02040503050406030204" pitchFamily="18" charset="0"/>
                                  <a:ea typeface="Cambria Math" panose="02040503050406030204" pitchFamily="18" charset="0"/>
                                </a:rPr>
                              </m:ctrlPr>
                            </m:sSubPr>
                            <m:e>
                              <m:r>
                                <a:rPr lang="en-US" altLang="zh-CN" sz="1900" b="0" i="1" smtClean="0">
                                  <a:latin typeface="Cambria Math" panose="02040503050406030204" pitchFamily="18" charset="0"/>
                                  <a:ea typeface="Cambria Math" panose="02040503050406030204" pitchFamily="18" charset="0"/>
                                </a:rPr>
                                <m:t>𝐸</m:t>
                              </m:r>
                            </m:e>
                            <m:sub>
                              <m:r>
                                <a:rPr lang="en-US" altLang="zh-CN" sz="1900" b="0" i="1" smtClean="0">
                                  <a:latin typeface="Cambria Math" panose="02040503050406030204" pitchFamily="18" charset="0"/>
                                  <a:ea typeface="Cambria Math" panose="02040503050406030204" pitchFamily="18" charset="0"/>
                                </a:rPr>
                                <m:t>𝑖</m:t>
                              </m:r>
                            </m:sub>
                          </m:sSub>
                          <m:r>
                            <a:rPr lang="en-US" altLang="zh-CN" sz="1900" b="0" i="1" smtClean="0">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r>
                            <a:rPr lang="en-US" altLang="zh-CN" sz="1900" b="0" i="1" smtClean="0">
                              <a:latin typeface="Cambria Math" panose="02040503050406030204" pitchFamily="18" charset="0"/>
                              <a:ea typeface="Cambria Math" panose="02040503050406030204" pitchFamily="18" charset="0"/>
                            </a:rPr>
                            <m:t>)</m:t>
                          </m:r>
                        </m:den>
                      </m:f>
                      <m:r>
                        <a:rPr lang="en-US" altLang="zh-CN" sz="1900" b="0" i="1" smtClean="0">
                          <a:latin typeface="Cambria Math" panose="02040503050406030204" pitchFamily="18" charset="0"/>
                          <a:ea typeface="Cambria Math" panose="02040503050406030204" pitchFamily="18" charset="0"/>
                        </a:rPr>
                        <m:t>=</m:t>
                      </m:r>
                      <m:f>
                        <m:fPr>
                          <m:ctrlPr>
                            <a:rPr lang="en-US" altLang="zh-CN" sz="1900" i="1">
                              <a:latin typeface="Cambria Math" panose="02040503050406030204" pitchFamily="18" charset="0"/>
                              <a:ea typeface="Cambria Math" panose="02040503050406030204" pitchFamily="18" charset="0"/>
                            </a:rPr>
                          </m:ctrlPr>
                        </m:fPr>
                        <m:num>
                          <m:r>
                            <a:rPr lang="en-US" altLang="zh-CN" sz="1900" i="1">
                              <a:latin typeface="Cambria Math" panose="02040503050406030204" pitchFamily="18" charset="0"/>
                              <a:ea typeface="Cambria Math" panose="02040503050406030204" pitchFamily="18" charset="0"/>
                            </a:rPr>
                            <m:t>𝑑</m:t>
                          </m:r>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𝐿</m:t>
                              </m:r>
                            </m:e>
                            <m:sub>
                              <m:r>
                                <a:rPr lang="en-US" altLang="zh-CN" sz="1900" i="1">
                                  <a:latin typeface="Cambria Math" panose="02040503050406030204" pitchFamily="18" charset="0"/>
                                  <a:ea typeface="Cambria Math" panose="02040503050406030204" pitchFamily="18" charset="0"/>
                                </a:rPr>
                                <m:t>𝑜</m:t>
                              </m:r>
                            </m:sub>
                          </m:sSub>
                          <m:r>
                            <a:rPr lang="en-US" altLang="zh-CN" sz="1900" i="1">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𝑜</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r>
                            <a:rPr lang="en-US" altLang="zh-CN" sz="1900" i="1">
                              <a:latin typeface="Cambria Math" panose="02040503050406030204" pitchFamily="18" charset="0"/>
                              <a:ea typeface="Cambria Math" panose="02040503050406030204" pitchFamily="18" charset="0"/>
                            </a:rPr>
                            <m:t>)</m:t>
                          </m:r>
                        </m:num>
                        <m:den>
                          <m:r>
                            <a:rPr lang="en-US" altLang="zh-CN" sz="1900" i="1">
                              <a:latin typeface="Cambria Math" panose="02040503050406030204" pitchFamily="18" charset="0"/>
                              <a:ea typeface="Cambria Math" panose="02040503050406030204" pitchFamily="18" charset="0"/>
                            </a:rPr>
                            <m:t>𝑑</m:t>
                          </m:r>
                          <m:sSub>
                            <m:sSubPr>
                              <m:ctrlPr>
                                <a:rPr lang="en-US" altLang="zh-CN" sz="1900" b="0" i="1" smtClean="0">
                                  <a:latin typeface="Cambria Math" panose="02040503050406030204" pitchFamily="18" charset="0"/>
                                  <a:ea typeface="Cambria Math" panose="02040503050406030204" pitchFamily="18" charset="0"/>
                                </a:rPr>
                              </m:ctrlPr>
                            </m:sSubPr>
                            <m:e>
                              <m:r>
                                <a:rPr lang="en-US" altLang="zh-CN" sz="1900" b="0" i="1" smtClean="0">
                                  <a:latin typeface="Cambria Math" panose="02040503050406030204" pitchFamily="18" charset="0"/>
                                  <a:ea typeface="Cambria Math" panose="02040503050406030204" pitchFamily="18" charset="0"/>
                                </a:rPr>
                                <m:t>𝐿</m:t>
                              </m:r>
                            </m:e>
                            <m:sub>
                              <m:r>
                                <a:rPr lang="en-US" altLang="zh-CN" sz="1900" i="1" smtClean="0">
                                  <a:latin typeface="Cambria Math" panose="02040503050406030204" pitchFamily="18" charset="0"/>
                                  <a:ea typeface="Cambria Math" panose="02040503050406030204" pitchFamily="18" charset="0"/>
                                </a:rPr>
                                <m:t>𝑖</m:t>
                              </m:r>
                            </m:sub>
                          </m:sSub>
                          <m:d>
                            <m:dPr>
                              <m:ctrlPr>
                                <a:rPr lang="zh-CN" altLang="en-US" sz="1900" i="1">
                                  <a:latin typeface="Cambria Math" panose="02040503050406030204" pitchFamily="18" charset="0"/>
                                </a:rPr>
                              </m:ctrlPr>
                            </m:dPr>
                            <m:e>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r>
                            <a:rPr lang="en-US" altLang="zh-CN" sz="1900" b="0" i="1" smtClean="0">
                              <a:latin typeface="Cambria Math" panose="02040503050406030204" pitchFamily="18" charset="0"/>
                              <a:ea typeface="Cambria Math" panose="02040503050406030204" pitchFamily="18" charset="0"/>
                            </a:rPr>
                            <m:t>𝑐𝑜𝑠</m:t>
                          </m:r>
                          <m:sSub>
                            <m:sSubPr>
                              <m:ctrlPr>
                                <a:rPr lang="zh-CN" altLang="en-US" sz="1900" i="1" smtClean="0">
                                  <a:latin typeface="Cambria Math" panose="02040503050406030204" pitchFamily="18" charset="0"/>
                                </a:rPr>
                              </m:ctrlPr>
                            </m:sSubPr>
                            <m:e>
                              <m:r>
                                <a:rPr lang="zh-CN" altLang="en-US" sz="1900" i="1" smtClean="0">
                                  <a:latin typeface="Cambria Math" panose="02040503050406030204" pitchFamily="18" charset="0"/>
                                </a:rPr>
                                <m:t>𝜃</m:t>
                              </m:r>
                            </m:e>
                            <m:sub>
                              <m:r>
                                <a:rPr lang="en-US" altLang="zh-CN" sz="1900" i="1">
                                  <a:latin typeface="Cambria Math" panose="02040503050406030204" pitchFamily="18" charset="0"/>
                                  <a:ea typeface="Cambria Math" panose="02040503050406030204" pitchFamily="18" charset="0"/>
                                </a:rPr>
                                <m:t>𝑖</m:t>
                              </m:r>
                            </m:sub>
                          </m:sSub>
                          <m:r>
                            <a:rPr lang="en-US" altLang="zh-CN" sz="1900" b="0" i="1" smtClean="0">
                              <a:latin typeface="Cambria Math" panose="02040503050406030204" pitchFamily="18" charset="0"/>
                              <a:ea typeface="Cambria Math" panose="02040503050406030204" pitchFamily="18" charset="0"/>
                            </a:rPr>
                            <m:t>𝑑</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den>
                      </m:f>
                    </m:oMath>
                  </m:oMathPara>
                </a14:m>
                <a:endParaRPr lang="en-US" altLang="zh-CN" sz="1900" i="1" dirty="0">
                  <a:latin typeface="Cambria Math" panose="02040503050406030204" pitchFamily="18" charset="0"/>
                  <a:ea typeface="Cambria Math" panose="02040503050406030204" pitchFamily="18" charset="0"/>
                </a:endParaRPr>
              </a:p>
              <a:p>
                <a:endParaRPr lang="en-US" altLang="zh-CN" sz="19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xmlns:m="http://schemas.openxmlformats.org/officeDocument/2006/math">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𝐿</m:t>
                          </m:r>
                        </m:e>
                        <m:sub>
                          <m:r>
                            <a:rPr lang="en-US" altLang="zh-CN" sz="1900" i="1">
                              <a:latin typeface="Cambria Math" panose="02040503050406030204" pitchFamily="18" charset="0"/>
                              <a:ea typeface="Cambria Math" panose="02040503050406030204" pitchFamily="18" charset="0"/>
                            </a:rPr>
                            <m:t>𝑜</m:t>
                          </m:r>
                        </m:sub>
                      </m:sSub>
                      <m:d>
                        <m:dPr>
                          <m:ctrlPr>
                            <a:rPr lang="en-US" altLang="zh-CN" sz="1900" i="1">
                              <a:latin typeface="Cambria Math" panose="02040503050406030204" pitchFamily="18" charset="0"/>
                              <a:ea typeface="Cambria Math" panose="02040503050406030204" pitchFamily="18" charset="0"/>
                            </a:rPr>
                          </m:ctrlPr>
                        </m:dPr>
                        <m:e>
                          <m:r>
                            <a:rPr lang="en-US" altLang="zh-CN" sz="1900" i="1">
                              <a:latin typeface="Cambria Math" panose="02040503050406030204" pitchFamily="18" charset="0"/>
                              <a:ea typeface="Cambria Math" panose="02040503050406030204" pitchFamily="18" charset="0"/>
                            </a:rPr>
                            <m:t>𝑝</m:t>
                          </m:r>
                          <m:r>
                            <a:rPr lang="en-US" altLang="zh-CN" sz="1900" b="0" i="1" smtClean="0">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𝑜</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r>
                        <a:rPr lang="en-US" altLang="zh-CN" sz="1900" i="1">
                          <a:latin typeface="Cambria Math" panose="02040503050406030204" pitchFamily="18" charset="0"/>
                          <a:ea typeface="Cambria Math" panose="02040503050406030204" pitchFamily="18" charset="0"/>
                        </a:rPr>
                        <m:t>=</m:t>
                      </m:r>
                      <m:sSub>
                        <m:sSubPr>
                          <m:ctrlPr>
                            <a:rPr lang="en-US" altLang="zh-CN" sz="1900" i="1">
                              <a:solidFill>
                                <a:schemeClr val="accent3"/>
                              </a:solidFill>
                              <a:latin typeface="Cambria Math" panose="02040503050406030204" pitchFamily="18" charset="0"/>
                              <a:ea typeface="Cambria Math" panose="02040503050406030204" pitchFamily="18" charset="0"/>
                            </a:rPr>
                          </m:ctrlPr>
                        </m:sSubPr>
                        <m:e>
                          <m:r>
                            <a:rPr lang="en-US" altLang="zh-CN" sz="1900" i="1">
                              <a:solidFill>
                                <a:schemeClr val="accent3"/>
                              </a:solidFill>
                              <a:latin typeface="Cambria Math" panose="02040503050406030204" pitchFamily="18" charset="0"/>
                              <a:ea typeface="Cambria Math" panose="02040503050406030204" pitchFamily="18" charset="0"/>
                            </a:rPr>
                            <m:t>𝐿</m:t>
                          </m:r>
                        </m:e>
                        <m:sub>
                          <m:r>
                            <a:rPr lang="en-US" altLang="zh-CN" sz="1900" i="1">
                              <a:solidFill>
                                <a:schemeClr val="accent3"/>
                              </a:solidFill>
                              <a:latin typeface="Cambria Math" panose="02040503050406030204" pitchFamily="18" charset="0"/>
                              <a:ea typeface="Cambria Math" panose="02040503050406030204" pitchFamily="18" charset="0"/>
                            </a:rPr>
                            <m:t>𝑒</m:t>
                          </m:r>
                        </m:sub>
                      </m:sSub>
                      <m:d>
                        <m:dPr>
                          <m:ctrlPr>
                            <a:rPr lang="en-US" altLang="zh-CN" sz="1900" i="1">
                              <a:solidFill>
                                <a:schemeClr val="accent3"/>
                              </a:solidFill>
                              <a:latin typeface="Cambria Math" panose="02040503050406030204" pitchFamily="18" charset="0"/>
                              <a:ea typeface="Cambria Math" panose="02040503050406030204" pitchFamily="18" charset="0"/>
                            </a:rPr>
                          </m:ctrlPr>
                        </m:dPr>
                        <m:e>
                          <m:r>
                            <a:rPr lang="en-US" altLang="zh-CN" sz="1900" i="1">
                              <a:solidFill>
                                <a:schemeClr val="accent3"/>
                              </a:solidFill>
                              <a:latin typeface="Cambria Math" panose="02040503050406030204" pitchFamily="18" charset="0"/>
                              <a:ea typeface="Cambria Math" panose="02040503050406030204" pitchFamily="18" charset="0"/>
                            </a:rPr>
                            <m:t>𝑝</m:t>
                          </m:r>
                          <m:r>
                            <a:rPr lang="en-US" altLang="zh-CN" sz="1900" i="1">
                              <a:solidFill>
                                <a:schemeClr val="accent3"/>
                              </a:solidFill>
                              <a:latin typeface="Cambria Math" panose="02040503050406030204" pitchFamily="18" charset="0"/>
                              <a:ea typeface="Cambria Math" panose="02040503050406030204" pitchFamily="18" charset="0"/>
                            </a:rPr>
                            <m:t>,</m:t>
                          </m:r>
                          <m:sSub>
                            <m:sSubPr>
                              <m:ctrlPr>
                                <a:rPr lang="zh-CN" altLang="en-US" sz="1900" i="1">
                                  <a:solidFill>
                                    <a:schemeClr val="accent3"/>
                                  </a:solidFill>
                                  <a:latin typeface="Cambria Math" panose="02040503050406030204" pitchFamily="18" charset="0"/>
                                </a:rPr>
                              </m:ctrlPr>
                            </m:sSubPr>
                            <m:e>
                              <m:r>
                                <a:rPr lang="zh-CN" altLang="en-US" sz="1900" i="1">
                                  <a:solidFill>
                                    <a:schemeClr val="accent3"/>
                                  </a:solidFill>
                                  <a:latin typeface="Cambria Math" panose="02040503050406030204" pitchFamily="18" charset="0"/>
                                </a:rPr>
                                <m:t>𝜔</m:t>
                              </m:r>
                            </m:e>
                            <m:sub>
                              <m:r>
                                <a:rPr lang="en-US" altLang="zh-CN" sz="1900" i="1">
                                  <a:solidFill>
                                    <a:schemeClr val="accent3"/>
                                  </a:solidFill>
                                  <a:latin typeface="Cambria Math" panose="02040503050406030204" pitchFamily="18" charset="0"/>
                                  <a:ea typeface="Cambria Math" panose="02040503050406030204" pitchFamily="18" charset="0"/>
                                </a:rPr>
                                <m:t>𝑜</m:t>
                              </m:r>
                            </m:sub>
                          </m:sSub>
                          <m:r>
                            <a:rPr lang="en-US" altLang="zh-CN" sz="1900" i="1">
                              <a:solidFill>
                                <a:schemeClr val="accent3"/>
                              </a:solidFill>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r>
                        <a:rPr lang="en-US" altLang="zh-CN" sz="1900" i="1">
                          <a:latin typeface="Cambria Math" panose="02040503050406030204" pitchFamily="18" charset="0"/>
                          <a:ea typeface="Cambria Math" panose="02040503050406030204" pitchFamily="18" charset="0"/>
                        </a:rPr>
                        <m:t>+</m:t>
                      </m:r>
                      <m:nary>
                        <m:naryPr>
                          <m:ctrlPr>
                            <a:rPr lang="en-US" altLang="zh-CN" sz="1900" i="1">
                              <a:latin typeface="Cambria Math" panose="02040503050406030204" pitchFamily="18" charset="0"/>
                              <a:ea typeface="Cambria Math" panose="02040503050406030204" pitchFamily="18" charset="0"/>
                            </a:rPr>
                          </m:ctrlPr>
                        </m:naryPr>
                        <m:sub>
                          <m:sSup>
                            <m:sSupPr>
                              <m:ctrlPr>
                                <a:rPr lang="en-US" altLang="zh-CN" sz="1900" i="1">
                                  <a:latin typeface="Cambria Math" panose="02040503050406030204" pitchFamily="18" charset="0"/>
                                  <a:ea typeface="Cambria Math" panose="02040503050406030204" pitchFamily="18" charset="0"/>
                                </a:rPr>
                              </m:ctrlPr>
                            </m:sSupPr>
                            <m:e>
                              <m:r>
                                <a:rPr lang="en-US" altLang="zh-CN" sz="1900" i="1">
                                  <a:latin typeface="Cambria Math" panose="02040503050406030204" pitchFamily="18" charset="0"/>
                                  <a:ea typeface="Cambria Math" panose="02040503050406030204" pitchFamily="18" charset="0"/>
                                </a:rPr>
                                <m:t>𝐻</m:t>
                              </m:r>
                            </m:e>
                            <m:sup>
                              <m:r>
                                <a:rPr lang="en-US" altLang="zh-CN" sz="1900" i="1">
                                  <a:latin typeface="Cambria Math" panose="02040503050406030204" pitchFamily="18" charset="0"/>
                                  <a:ea typeface="Cambria Math" panose="02040503050406030204" pitchFamily="18" charset="0"/>
                                </a:rPr>
                                <m:t>2</m:t>
                              </m:r>
                            </m:sup>
                          </m:sSup>
                        </m:sub>
                        <m:sup>
                          <m:r>
                            <a:rPr lang="en-US" altLang="zh-CN" sz="1900" i="1">
                              <a:latin typeface="Cambria Math" panose="02040503050406030204" pitchFamily="18" charset="0"/>
                              <a:ea typeface="Cambria Math" panose="02040503050406030204" pitchFamily="18" charset="0"/>
                            </a:rPr>
                            <m:t> </m:t>
                          </m:r>
                        </m:sup>
                        <m:e>
                          <m:r>
                            <a:rPr lang="en-US" altLang="zh-CN" sz="1900" i="1">
                              <a:latin typeface="Cambria Math" panose="02040503050406030204" pitchFamily="18" charset="0"/>
                              <a:ea typeface="Cambria Math" panose="02040503050406030204" pitchFamily="18" charset="0"/>
                            </a:rPr>
                            <m:t>𝑓</m:t>
                          </m:r>
                          <m:d>
                            <m:dPr>
                              <m:ctrlPr>
                                <a:rPr lang="zh-CN" altLang="en-US" sz="1900" i="1">
                                  <a:latin typeface="Cambria Math" panose="02040503050406030204" pitchFamily="18" charset="0"/>
                                </a:rPr>
                              </m:ctrlPr>
                            </m:dPr>
                            <m:e>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𝑜</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𝐿</m:t>
                              </m:r>
                            </m:e>
                            <m:sub>
                              <m:r>
                                <a:rPr lang="en-US" altLang="zh-CN" sz="1900" i="1">
                                  <a:latin typeface="Cambria Math" panose="02040503050406030204" pitchFamily="18" charset="0"/>
                                  <a:ea typeface="Cambria Math" panose="02040503050406030204" pitchFamily="18" charset="0"/>
                                </a:rPr>
                                <m:t>𝑖</m:t>
                              </m:r>
                            </m:sub>
                          </m:sSub>
                          <m:d>
                            <m:dPr>
                              <m:ctrlPr>
                                <a:rPr lang="en-US" altLang="zh-CN" sz="1900" i="1">
                                  <a:latin typeface="Cambria Math" panose="02040503050406030204" pitchFamily="18" charset="0"/>
                                  <a:ea typeface="Cambria Math" panose="02040503050406030204" pitchFamily="18" charset="0"/>
                                </a:rPr>
                              </m:ctrlPr>
                            </m:dPr>
                            <m:e>
                              <m:r>
                                <a:rPr lang="en-US" altLang="zh-CN" sz="1900" i="1">
                                  <a:latin typeface="Cambria Math" panose="02040503050406030204" pitchFamily="18" charset="0"/>
                                  <a:ea typeface="Cambria Math" panose="02040503050406030204" pitchFamily="18" charset="0"/>
                                </a:rPr>
                                <m:t>𝑝</m:t>
                              </m:r>
                              <m:r>
                                <a:rPr lang="en-US" altLang="zh-CN" sz="1900" i="1">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r>
                            <a:rPr lang="en-US" altLang="zh-CN" sz="1900" i="1">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𝑛</m:t>
                          </m:r>
                          <m:r>
                            <a:rPr lang="en-US" altLang="zh-CN" sz="1900" i="1">
                              <a:latin typeface="Cambria Math" panose="02040503050406030204" pitchFamily="18" charset="0"/>
                              <a:ea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𝑑</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e>
                      </m:nary>
                    </m:oMath>
                  </m:oMathPara>
                </a14:m>
                <a:endParaRPr lang="en-US" altLang="zh-CN" sz="1900" i="1" dirty="0">
                  <a:latin typeface="Cambria Math" panose="02040503050406030204" pitchFamily="18" charset="0"/>
                  <a:ea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139F5F65-75FE-75BB-F081-8EF402167699}"/>
                  </a:ext>
                </a:extLst>
              </p:cNvPr>
              <p:cNvSpPr txBox="1">
                <a:spLocks noRot="1" noChangeAspect="1" noMove="1" noResize="1" noEditPoints="1" noAdjustHandles="1" noChangeArrowheads="1" noChangeShapeType="1" noTextEdit="1"/>
              </p:cNvSpPr>
              <p:nvPr/>
            </p:nvSpPr>
            <p:spPr>
              <a:xfrm>
                <a:off x="4789586" y="2043962"/>
                <a:ext cx="7583805" cy="1591398"/>
              </a:xfrm>
              <a:prstGeom prst="rect">
                <a:avLst/>
              </a:prstGeom>
              <a:blipFill>
                <a:blip r:embed="rId2"/>
                <a:stretch>
                  <a:fillRect/>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64553E7-50D7-2B59-EA5B-77862ACE3755}"/>
              </a:ext>
            </a:extLst>
          </p:cNvPr>
          <p:cNvPicPr>
            <a:picLocks noChangeAspect="1"/>
          </p:cNvPicPr>
          <p:nvPr/>
        </p:nvPicPr>
        <p:blipFill>
          <a:blip r:embed="rId3"/>
          <a:stretch>
            <a:fillRect/>
          </a:stretch>
        </p:blipFill>
        <p:spPr>
          <a:xfrm>
            <a:off x="440335" y="1555750"/>
            <a:ext cx="4461439" cy="2555085"/>
          </a:xfrm>
          <a:prstGeom prst="rect">
            <a:avLst/>
          </a:prstGeom>
        </p:spPr>
      </p:pic>
      <p:sp>
        <p:nvSpPr>
          <p:cNvPr id="6" name="文本框 5">
            <a:extLst>
              <a:ext uri="{FF2B5EF4-FFF2-40B4-BE49-F238E27FC236}">
                <a16:creationId xmlns:a16="http://schemas.microsoft.com/office/drawing/2014/main" id="{3E700C49-BD40-04D8-5DB1-270679BC7843}"/>
              </a:ext>
            </a:extLst>
          </p:cNvPr>
          <p:cNvSpPr txBox="1"/>
          <p:nvPr/>
        </p:nvSpPr>
        <p:spPr>
          <a:xfrm>
            <a:off x="1384300" y="4534108"/>
            <a:ext cx="3264163" cy="461665"/>
          </a:xfrm>
          <a:prstGeom prst="rect">
            <a:avLst/>
          </a:prstGeom>
          <a:noFill/>
        </p:spPr>
        <p:txBody>
          <a:bodyPr wrap="square" rtlCol="0">
            <a:spAutoFit/>
          </a:bodyPr>
          <a:lstStyle/>
          <a:p>
            <a:r>
              <a:rPr lang="zh-CN" altLang="en-US" sz="2400" dirty="0">
                <a:latin typeface="Noto Sans SC" panose="020B0200000000000000" pitchFamily="34" charset="-122"/>
                <a:ea typeface="Noto Sans SC" panose="020B0200000000000000" pitchFamily="34" charset="-122"/>
              </a:rPr>
              <a:t>胶片</a:t>
            </a:r>
            <a:r>
              <a:rPr lang="en-US" altLang="zh-CN" sz="2400" dirty="0">
                <a:latin typeface="Noto Sans SC" panose="020B0200000000000000" pitchFamily="34" charset="-122"/>
                <a:ea typeface="Noto Sans SC" panose="020B0200000000000000" pitchFamily="34" charset="-122"/>
              </a:rPr>
              <a:t>Film</a:t>
            </a:r>
            <a:r>
              <a:rPr lang="zh-CN" altLang="en-US" sz="2400" dirty="0">
                <a:latin typeface="Noto Sans SC" panose="020B0200000000000000" pitchFamily="34" charset="-122"/>
                <a:ea typeface="Noto Sans SC" panose="020B0200000000000000" pitchFamily="34" charset="-122"/>
              </a:rPr>
              <a:t>接收</a:t>
            </a:r>
            <a:r>
              <a:rPr lang="en-US" altLang="zh-CN" sz="2400" dirty="0">
                <a:latin typeface="Noto Sans SC" panose="020B0200000000000000" pitchFamily="34" charset="-122"/>
                <a:ea typeface="Noto Sans SC" panose="020B0200000000000000" pitchFamily="34" charset="-122"/>
              </a:rPr>
              <a:t>RGB</a:t>
            </a:r>
            <a:r>
              <a:rPr lang="zh-CN" altLang="en-US" sz="2400" dirty="0">
                <a:latin typeface="Noto Sans SC" panose="020B0200000000000000" pitchFamily="34" charset="-122"/>
                <a:ea typeface="Noto Sans SC" panose="020B0200000000000000" pitchFamily="34" charset="-122"/>
              </a:rPr>
              <a:t>光线</a:t>
            </a:r>
          </a:p>
        </p:txBody>
      </p:sp>
      <p:sp>
        <p:nvSpPr>
          <p:cNvPr id="11" name="文本框 10">
            <a:extLst>
              <a:ext uri="{FF2B5EF4-FFF2-40B4-BE49-F238E27FC236}">
                <a16:creationId xmlns:a16="http://schemas.microsoft.com/office/drawing/2014/main" id="{8EC72D80-A425-89C3-E025-76ECD07E33CD}"/>
              </a:ext>
            </a:extLst>
          </p:cNvPr>
          <p:cNvSpPr txBox="1"/>
          <p:nvPr/>
        </p:nvSpPr>
        <p:spPr>
          <a:xfrm>
            <a:off x="7569200" y="4534108"/>
            <a:ext cx="2646878" cy="461665"/>
          </a:xfrm>
          <a:prstGeom prst="rect">
            <a:avLst/>
          </a:prstGeom>
          <a:noFill/>
        </p:spPr>
        <p:txBody>
          <a:bodyPr wrap="square" rtlCol="0">
            <a:spAutoFit/>
          </a:bodyPr>
          <a:lstStyle/>
          <a:p>
            <a:r>
              <a:rPr lang="zh-CN" altLang="en-US" sz="2400" dirty="0">
                <a:latin typeface="Noto Sans SC" panose="020B0200000000000000" pitchFamily="34" charset="-122"/>
                <a:ea typeface="Noto Sans SC" panose="020B0200000000000000" pitchFamily="34" charset="-122"/>
              </a:rPr>
              <a:t>胶片</a:t>
            </a:r>
            <a:r>
              <a:rPr lang="en-US" altLang="zh-CN" sz="2400" dirty="0">
                <a:latin typeface="Noto Sans SC" panose="020B0200000000000000" pitchFamily="34" charset="-122"/>
                <a:ea typeface="Noto Sans SC" panose="020B0200000000000000" pitchFamily="34" charset="-122"/>
              </a:rPr>
              <a:t>Film</a:t>
            </a:r>
            <a:r>
              <a:rPr lang="zh-CN" altLang="en-US" sz="2400" dirty="0">
                <a:latin typeface="Noto Sans SC" panose="020B0200000000000000" pitchFamily="34" charset="-122"/>
                <a:ea typeface="Noto Sans SC" panose="020B0200000000000000" pitchFamily="34" charset="-122"/>
              </a:rPr>
              <a:t>接收光谱</a:t>
            </a:r>
          </a:p>
        </p:txBody>
      </p:sp>
      <p:sp>
        <p:nvSpPr>
          <p:cNvPr id="13" name="箭头: 右 12">
            <a:extLst>
              <a:ext uri="{FF2B5EF4-FFF2-40B4-BE49-F238E27FC236}">
                <a16:creationId xmlns:a16="http://schemas.microsoft.com/office/drawing/2014/main" id="{FB1FBB7B-E052-F977-69E6-77E8D428AD27}"/>
              </a:ext>
            </a:extLst>
          </p:cNvPr>
          <p:cNvSpPr/>
          <p:nvPr/>
        </p:nvSpPr>
        <p:spPr>
          <a:xfrm>
            <a:off x="5341275" y="4534108"/>
            <a:ext cx="1535113"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EEEAB04-EEDA-20A7-3C78-C05959D52434}"/>
                  </a:ext>
                </a:extLst>
              </p:cNvPr>
              <p:cNvSpPr txBox="1"/>
              <p:nvPr/>
            </p:nvSpPr>
            <p:spPr>
              <a:xfrm>
                <a:off x="6876388" y="5328188"/>
                <a:ext cx="403250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𝑜</m:t>
                          </m:r>
                        </m:sub>
                      </m:sSub>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𝑝</m:t>
                          </m:r>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e>
                      </m:d>
                      <m:r>
                        <a:rPr lang="en-US" altLang="zh-CN" sz="2000" b="0" i="1" smtClean="0">
                          <a:solidFill>
                            <a:schemeClr val="tx1"/>
                          </a:solidFill>
                          <a:latin typeface="Cambria Math" panose="02040503050406030204" pitchFamily="18" charset="0"/>
                          <a:ea typeface="Cambria Math" panose="02040503050406030204" pitchFamily="18" charset="0"/>
                        </a:rPr>
                        <m:t>,  </m:t>
                      </m:r>
                      <m:r>
                        <a:rPr lang="en-US" altLang="zh-CN" sz="2000" b="0" i="1" smtClean="0">
                          <a:solidFill>
                            <a:schemeClr val="tx1"/>
                          </a:solidFill>
                          <a:latin typeface="Cambria Math" panose="02040503050406030204" pitchFamily="18" charset="0"/>
                          <a:ea typeface="Cambria Math" panose="02040503050406030204" pitchFamily="18" charset="0"/>
                        </a:rPr>
                        <m:t>𝜆</m:t>
                      </m:r>
                      <m:r>
                        <a:rPr lang="en-US" altLang="zh-CN" sz="2000" b="0" i="1" smtClean="0">
                          <a:solidFill>
                            <a:schemeClr val="tx1"/>
                          </a:solidFill>
                          <a:latin typeface="Cambria Math" panose="02040503050406030204" pitchFamily="18" charset="0"/>
                          <a:ea typeface="Cambria Math" panose="02040503050406030204" pitchFamily="18" charset="0"/>
                        </a:rPr>
                        <m:t>∈[360, 830]</m:t>
                      </m:r>
                    </m:oMath>
                  </m:oMathPara>
                </a14:m>
                <a:endParaRPr lang="zh-CN" altLang="en-US" i="1" dirty="0">
                  <a:latin typeface="Cambria Math" panose="02040503050406030204" pitchFamily="18" charset="0"/>
                  <a:ea typeface="Noto Sans SC" panose="020B0200000000000000" pitchFamily="34" charset="-122"/>
                </a:endParaRPr>
              </a:p>
            </p:txBody>
          </p:sp>
        </mc:Choice>
        <mc:Fallback xmlns="">
          <p:sp>
            <p:nvSpPr>
              <p:cNvPr id="15" name="文本框 14">
                <a:extLst>
                  <a:ext uri="{FF2B5EF4-FFF2-40B4-BE49-F238E27FC236}">
                    <a16:creationId xmlns:a16="http://schemas.microsoft.com/office/drawing/2014/main" id="{DEEEAB04-EEDA-20A7-3C78-C05959D52434}"/>
                  </a:ext>
                </a:extLst>
              </p:cNvPr>
              <p:cNvSpPr txBox="1">
                <a:spLocks noRot="1" noChangeAspect="1" noMove="1" noResize="1" noEditPoints="1" noAdjustHandles="1" noChangeArrowheads="1" noChangeShapeType="1" noTextEdit="1"/>
              </p:cNvSpPr>
              <p:nvPr/>
            </p:nvSpPr>
            <p:spPr>
              <a:xfrm>
                <a:off x="6876388" y="5328188"/>
                <a:ext cx="4032502" cy="400110"/>
              </a:xfrm>
              <a:prstGeom prst="rect">
                <a:avLst/>
              </a:prstGeom>
              <a:blipFill>
                <a:blip r:embed="rId4"/>
                <a:stretch>
                  <a:fillRect t="-7576"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1B954DD-B161-8DD9-8115-8C910C8B0140}"/>
                  </a:ext>
                </a:extLst>
              </p:cNvPr>
              <p:cNvSpPr txBox="1"/>
              <p:nvPr/>
            </p:nvSpPr>
            <p:spPr>
              <a:xfrm>
                <a:off x="527312" y="5318394"/>
                <a:ext cx="497813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a:solidFill>
                                <a:schemeClr val="tx1"/>
                              </a:solidFill>
                              <a:latin typeface="Cambria Math" panose="02040503050406030204" pitchFamily="18" charset="0"/>
                              <a:ea typeface="Cambria Math" panose="02040503050406030204" pitchFamily="18" charset="0"/>
                            </a:rPr>
                          </m:ctrlPr>
                        </m:sSubPr>
                        <m:e>
                          <m:r>
                            <a:rPr lang="en-US" altLang="zh-CN" sz="2000" i="1">
                              <a:solidFill>
                                <a:schemeClr val="tx1"/>
                              </a:solidFill>
                              <a:latin typeface="Cambria Math" panose="02040503050406030204" pitchFamily="18" charset="0"/>
                              <a:ea typeface="Cambria Math" panose="02040503050406030204" pitchFamily="18" charset="0"/>
                            </a:rPr>
                            <m:t>𝐿</m:t>
                          </m:r>
                        </m:e>
                        <m:sub>
                          <m:r>
                            <a:rPr lang="en-US" altLang="zh-CN" sz="2000" i="1">
                              <a:solidFill>
                                <a:schemeClr val="tx1"/>
                              </a:solidFill>
                              <a:latin typeface="Cambria Math" panose="02040503050406030204" pitchFamily="18" charset="0"/>
                              <a:ea typeface="Cambria Math" panose="02040503050406030204" pitchFamily="18" charset="0"/>
                            </a:rPr>
                            <m:t>𝑜</m:t>
                          </m:r>
                        </m:sub>
                      </m:sSub>
                      <m:sSub>
                        <m:sSubPr>
                          <m:ctrlPr>
                            <a:rPr lang="en-US" altLang="zh-CN" sz="2000" i="1">
                              <a:solidFill>
                                <a:schemeClr val="tx1"/>
                              </a:solidFill>
                              <a:latin typeface="Cambria Math" panose="02040503050406030204" pitchFamily="18" charset="0"/>
                              <a:ea typeface="Cambria Math" panose="02040503050406030204" pitchFamily="18" charset="0"/>
                            </a:rPr>
                          </m:ctrlPr>
                        </m:sSubPr>
                        <m:e>
                          <m:d>
                            <m:dPr>
                              <m:ctrlPr>
                                <a:rPr lang="en-US" altLang="zh-CN" sz="2000" i="1">
                                  <a:solidFill>
                                    <a:schemeClr val="tx1"/>
                                  </a:solidFill>
                                  <a:latin typeface="Cambria Math" panose="02040503050406030204" pitchFamily="18" charset="0"/>
                                  <a:ea typeface="Cambria Math" panose="02040503050406030204" pitchFamily="18" charset="0"/>
                                </a:rPr>
                              </m:ctrlPr>
                            </m:dPr>
                            <m:e>
                              <m:r>
                                <a:rPr lang="en-US" altLang="zh-CN" sz="2000" i="1">
                                  <a:solidFill>
                                    <a:schemeClr val="tx1"/>
                                  </a:solidFill>
                                  <a:latin typeface="Cambria Math" panose="02040503050406030204" pitchFamily="18" charset="0"/>
                                  <a:ea typeface="Cambria Math" panose="02040503050406030204" pitchFamily="18" charset="0"/>
                                </a:rPr>
                                <m:t>𝑝</m:t>
                              </m:r>
                              <m:r>
                                <a:rPr lang="en-US" altLang="zh-CN" sz="2000" i="1">
                                  <a:solidFill>
                                    <a:schemeClr val="tx1"/>
                                  </a:solidFill>
                                  <a:latin typeface="Cambria Math" panose="02040503050406030204" pitchFamily="18" charset="0"/>
                                  <a:ea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ea typeface="Cambria Math" panose="02040503050406030204" pitchFamily="18" charset="0"/>
                                    </a:rPr>
                                    <m:t>𝑜</m:t>
                                  </m:r>
                                </m:sub>
                              </m:sSub>
                            </m:e>
                          </m:d>
                        </m:e>
                        <m:sub>
                          <m:r>
                            <a:rPr lang="en-US" altLang="zh-CN" sz="2000" b="1" i="1" smtClean="0">
                              <a:solidFill>
                                <a:srgbClr val="FF0000"/>
                              </a:solidFill>
                              <a:latin typeface="Cambria Math" panose="02040503050406030204" pitchFamily="18" charset="0"/>
                              <a:ea typeface="Cambria Math" panose="02040503050406030204" pitchFamily="18" charset="0"/>
                            </a:rPr>
                            <m:t>𝑹</m:t>
                          </m:r>
                        </m:sub>
                      </m:sSub>
                      <m:r>
                        <a:rPr lang="en-US" altLang="zh-CN" sz="2000" b="0" i="1" smtClean="0">
                          <a:solidFill>
                            <a:schemeClr val="tx1"/>
                          </a:solidFill>
                          <a:latin typeface="Cambria Math" panose="02040503050406030204" pitchFamily="18" charset="0"/>
                          <a:ea typeface="Cambria Math" panose="02040503050406030204" pitchFamily="18" charset="0"/>
                        </a:rPr>
                        <m:t>,  </m:t>
                      </m:r>
                      <m:sSub>
                        <m:sSubPr>
                          <m:ctrlPr>
                            <a:rPr lang="en-US" altLang="zh-CN" sz="2000" i="1">
                              <a:solidFill>
                                <a:schemeClr val="tx1"/>
                              </a:solidFill>
                              <a:latin typeface="Cambria Math" panose="02040503050406030204" pitchFamily="18" charset="0"/>
                              <a:ea typeface="Cambria Math" panose="02040503050406030204" pitchFamily="18" charset="0"/>
                            </a:rPr>
                          </m:ctrlPr>
                        </m:sSubPr>
                        <m:e>
                          <m:r>
                            <a:rPr lang="en-US" altLang="zh-CN" sz="2000" i="1">
                              <a:solidFill>
                                <a:schemeClr val="tx1"/>
                              </a:solidFill>
                              <a:latin typeface="Cambria Math" panose="02040503050406030204" pitchFamily="18" charset="0"/>
                              <a:ea typeface="Cambria Math" panose="02040503050406030204" pitchFamily="18" charset="0"/>
                            </a:rPr>
                            <m:t>𝐿</m:t>
                          </m:r>
                        </m:e>
                        <m:sub>
                          <m:r>
                            <a:rPr lang="en-US" altLang="zh-CN" sz="2000" i="1">
                              <a:solidFill>
                                <a:schemeClr val="tx1"/>
                              </a:solidFill>
                              <a:latin typeface="Cambria Math" panose="02040503050406030204" pitchFamily="18" charset="0"/>
                              <a:ea typeface="Cambria Math" panose="02040503050406030204" pitchFamily="18" charset="0"/>
                            </a:rPr>
                            <m:t>𝑜</m:t>
                          </m:r>
                        </m:sub>
                      </m:sSub>
                      <m:sSub>
                        <m:sSubPr>
                          <m:ctrlPr>
                            <a:rPr lang="en-US" altLang="zh-CN" sz="2000" i="1">
                              <a:solidFill>
                                <a:schemeClr val="tx1"/>
                              </a:solidFill>
                              <a:latin typeface="Cambria Math" panose="02040503050406030204" pitchFamily="18" charset="0"/>
                              <a:ea typeface="Cambria Math" panose="02040503050406030204" pitchFamily="18" charset="0"/>
                            </a:rPr>
                          </m:ctrlPr>
                        </m:sSubPr>
                        <m:e>
                          <m:d>
                            <m:dPr>
                              <m:ctrlPr>
                                <a:rPr lang="en-US" altLang="zh-CN" sz="2000" i="1">
                                  <a:solidFill>
                                    <a:schemeClr val="tx1"/>
                                  </a:solidFill>
                                  <a:latin typeface="Cambria Math" panose="02040503050406030204" pitchFamily="18" charset="0"/>
                                  <a:ea typeface="Cambria Math" panose="02040503050406030204" pitchFamily="18" charset="0"/>
                                </a:rPr>
                              </m:ctrlPr>
                            </m:dPr>
                            <m:e>
                              <m:r>
                                <a:rPr lang="en-US" altLang="zh-CN" sz="2000" i="1">
                                  <a:solidFill>
                                    <a:schemeClr val="tx1"/>
                                  </a:solidFill>
                                  <a:latin typeface="Cambria Math" panose="02040503050406030204" pitchFamily="18" charset="0"/>
                                  <a:ea typeface="Cambria Math" panose="02040503050406030204" pitchFamily="18" charset="0"/>
                                </a:rPr>
                                <m:t>𝑝</m:t>
                              </m:r>
                              <m:r>
                                <a:rPr lang="en-US" altLang="zh-CN" sz="2000" i="1">
                                  <a:solidFill>
                                    <a:schemeClr val="tx1"/>
                                  </a:solidFill>
                                  <a:latin typeface="Cambria Math" panose="02040503050406030204" pitchFamily="18" charset="0"/>
                                  <a:ea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ea typeface="Cambria Math" panose="02040503050406030204" pitchFamily="18" charset="0"/>
                                    </a:rPr>
                                    <m:t>𝑜</m:t>
                                  </m:r>
                                </m:sub>
                              </m:sSub>
                            </m:e>
                          </m:d>
                        </m:e>
                        <m:sub>
                          <m:r>
                            <a:rPr lang="en-US" altLang="zh-CN" sz="2000" b="1" i="1" smtClean="0">
                              <a:solidFill>
                                <a:srgbClr val="00B050"/>
                              </a:solidFill>
                              <a:latin typeface="Cambria Math" panose="02040503050406030204" pitchFamily="18" charset="0"/>
                              <a:ea typeface="Cambria Math" panose="02040503050406030204" pitchFamily="18" charset="0"/>
                            </a:rPr>
                            <m:t>𝑮</m:t>
                          </m:r>
                        </m:sub>
                      </m:sSub>
                      <m:r>
                        <a:rPr lang="en-US" altLang="zh-CN" sz="2000" b="0" i="1" smtClean="0">
                          <a:solidFill>
                            <a:schemeClr val="tx1"/>
                          </a:solidFill>
                          <a:latin typeface="Cambria Math" panose="02040503050406030204" pitchFamily="18" charset="0"/>
                          <a:ea typeface="Cambria Math" panose="02040503050406030204" pitchFamily="18" charset="0"/>
                        </a:rPr>
                        <m:t>,  </m:t>
                      </m:r>
                      <m:sSub>
                        <m:sSubPr>
                          <m:ctrlPr>
                            <a:rPr lang="en-US" altLang="zh-CN" sz="2000" i="1">
                              <a:solidFill>
                                <a:schemeClr val="tx1"/>
                              </a:solidFill>
                              <a:latin typeface="Cambria Math" panose="02040503050406030204" pitchFamily="18" charset="0"/>
                              <a:ea typeface="Cambria Math" panose="02040503050406030204" pitchFamily="18" charset="0"/>
                            </a:rPr>
                          </m:ctrlPr>
                        </m:sSubPr>
                        <m:e>
                          <m:r>
                            <a:rPr lang="en-US" altLang="zh-CN" sz="2000" i="1">
                              <a:solidFill>
                                <a:schemeClr val="tx1"/>
                              </a:solidFill>
                              <a:latin typeface="Cambria Math" panose="02040503050406030204" pitchFamily="18" charset="0"/>
                              <a:ea typeface="Cambria Math" panose="02040503050406030204" pitchFamily="18" charset="0"/>
                            </a:rPr>
                            <m:t>𝐿</m:t>
                          </m:r>
                        </m:e>
                        <m:sub>
                          <m:r>
                            <a:rPr lang="en-US" altLang="zh-CN" sz="2000" i="1">
                              <a:solidFill>
                                <a:schemeClr val="tx1"/>
                              </a:solidFill>
                              <a:latin typeface="Cambria Math" panose="02040503050406030204" pitchFamily="18" charset="0"/>
                              <a:ea typeface="Cambria Math" panose="02040503050406030204" pitchFamily="18" charset="0"/>
                            </a:rPr>
                            <m:t>𝑜</m:t>
                          </m:r>
                        </m:sub>
                      </m:sSub>
                      <m:sSub>
                        <m:sSubPr>
                          <m:ctrlPr>
                            <a:rPr lang="en-US" altLang="zh-CN" sz="2000" i="1">
                              <a:solidFill>
                                <a:schemeClr val="tx1"/>
                              </a:solidFill>
                              <a:latin typeface="Cambria Math" panose="02040503050406030204" pitchFamily="18" charset="0"/>
                              <a:ea typeface="Cambria Math" panose="02040503050406030204" pitchFamily="18" charset="0"/>
                            </a:rPr>
                          </m:ctrlPr>
                        </m:sSubPr>
                        <m:e>
                          <m:d>
                            <m:dPr>
                              <m:ctrlPr>
                                <a:rPr lang="en-US" altLang="zh-CN" sz="2000" i="1">
                                  <a:solidFill>
                                    <a:schemeClr val="tx1"/>
                                  </a:solidFill>
                                  <a:latin typeface="Cambria Math" panose="02040503050406030204" pitchFamily="18" charset="0"/>
                                  <a:ea typeface="Cambria Math" panose="02040503050406030204" pitchFamily="18" charset="0"/>
                                </a:rPr>
                              </m:ctrlPr>
                            </m:dPr>
                            <m:e>
                              <m:r>
                                <a:rPr lang="en-US" altLang="zh-CN" sz="2000" i="1">
                                  <a:solidFill>
                                    <a:schemeClr val="tx1"/>
                                  </a:solidFill>
                                  <a:latin typeface="Cambria Math" panose="02040503050406030204" pitchFamily="18" charset="0"/>
                                  <a:ea typeface="Cambria Math" panose="02040503050406030204" pitchFamily="18" charset="0"/>
                                </a:rPr>
                                <m:t>𝑝</m:t>
                              </m:r>
                              <m:r>
                                <a:rPr lang="en-US" altLang="zh-CN" sz="2000" i="1">
                                  <a:solidFill>
                                    <a:schemeClr val="tx1"/>
                                  </a:solidFill>
                                  <a:latin typeface="Cambria Math" panose="02040503050406030204" pitchFamily="18" charset="0"/>
                                  <a:ea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ea typeface="Cambria Math" panose="02040503050406030204" pitchFamily="18" charset="0"/>
                                    </a:rPr>
                                    <m:t>𝑜</m:t>
                                  </m:r>
                                </m:sub>
                              </m:sSub>
                            </m:e>
                          </m:d>
                        </m:e>
                        <m:sub>
                          <m:r>
                            <a:rPr lang="en-US" altLang="zh-CN" sz="2000" b="1" i="1" smtClean="0">
                              <a:solidFill>
                                <a:schemeClr val="accent1">
                                  <a:lumMod val="75000"/>
                                </a:schemeClr>
                              </a:solidFill>
                              <a:latin typeface="Cambria Math" panose="02040503050406030204" pitchFamily="18" charset="0"/>
                              <a:ea typeface="Cambria Math" panose="02040503050406030204" pitchFamily="18" charset="0"/>
                            </a:rPr>
                            <m:t>𝑩</m:t>
                          </m:r>
                        </m:sub>
                      </m:sSub>
                    </m:oMath>
                  </m:oMathPara>
                </a14:m>
                <a:endParaRPr lang="zh-CN" altLang="en-US" sz="1800" i="1" dirty="0">
                  <a:solidFill>
                    <a:schemeClr val="tx1"/>
                  </a:solidFill>
                  <a:latin typeface="Cambria Math" panose="02040503050406030204" pitchFamily="18" charset="0"/>
                  <a:ea typeface="Noto Sans SC" panose="020B0200000000000000" pitchFamily="34" charset="-122"/>
                </a:endParaRPr>
              </a:p>
            </p:txBody>
          </p:sp>
        </mc:Choice>
        <mc:Fallback xmlns="">
          <p:sp>
            <p:nvSpPr>
              <p:cNvPr id="17" name="文本框 16">
                <a:extLst>
                  <a:ext uri="{FF2B5EF4-FFF2-40B4-BE49-F238E27FC236}">
                    <a16:creationId xmlns:a16="http://schemas.microsoft.com/office/drawing/2014/main" id="{91B954DD-B161-8DD9-8115-8C910C8B0140}"/>
                  </a:ext>
                </a:extLst>
              </p:cNvPr>
              <p:cNvSpPr txBox="1">
                <a:spLocks noRot="1" noChangeAspect="1" noMove="1" noResize="1" noEditPoints="1" noAdjustHandles="1" noChangeArrowheads="1" noChangeShapeType="1" noTextEdit="1"/>
              </p:cNvSpPr>
              <p:nvPr/>
            </p:nvSpPr>
            <p:spPr>
              <a:xfrm>
                <a:off x="527312" y="5318394"/>
                <a:ext cx="4978138" cy="400110"/>
              </a:xfrm>
              <a:prstGeom prst="rect">
                <a:avLst/>
              </a:prstGeom>
              <a:blipFill>
                <a:blip r:embed="rId5"/>
                <a:stretch>
                  <a:fillRect t="-7576" b="-25758"/>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D47C6716-ECE6-0580-CD50-37F6981A7C8F}"/>
              </a:ext>
            </a:extLst>
          </p:cNvPr>
          <p:cNvSpPr txBox="1"/>
          <p:nvPr/>
        </p:nvSpPr>
        <p:spPr>
          <a:xfrm>
            <a:off x="600588" y="5912803"/>
            <a:ext cx="10990823" cy="581057"/>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lnSpc>
                <a:spcPct val="150000"/>
              </a:lnSpc>
            </a:pPr>
            <a:r>
              <a:rPr lang="zh-CN" altLang="en-US" sz="2400" b="1" dirty="0">
                <a:latin typeface="Noto Sans SC" panose="020B0200000000000000" pitchFamily="34" charset="-122"/>
                <a:ea typeface="Noto Sans SC" panose="020B0200000000000000" pitchFamily="34" charset="-122"/>
              </a:rPr>
              <a:t>胶片</a:t>
            </a:r>
            <a:r>
              <a:rPr lang="en-US" altLang="zh-CN" sz="2400" b="1" dirty="0">
                <a:latin typeface="Noto Sans SC" panose="020B0200000000000000" pitchFamily="34" charset="-122"/>
                <a:ea typeface="Noto Sans SC" panose="020B0200000000000000" pitchFamily="34" charset="-122"/>
              </a:rPr>
              <a:t>Film </a:t>
            </a:r>
            <a:r>
              <a:rPr lang="zh-CN" altLang="en-US" sz="2400" b="1" dirty="0">
                <a:latin typeface="Noto Sans SC" panose="020B0200000000000000" pitchFamily="34" charset="-122"/>
                <a:ea typeface="Noto Sans SC" panose="020B0200000000000000" pitchFamily="34" charset="-122"/>
              </a:rPr>
              <a:t>接收到光谱后，怎么转换成颜色？</a:t>
            </a:r>
            <a:endParaRPr lang="en-US" altLang="zh-CN" sz="24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102605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454B7-44CF-FC9F-4F78-3668120734E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F751145-4609-10EE-B029-447A24A08E31}"/>
              </a:ext>
            </a:extLst>
          </p:cNvPr>
          <p:cNvSpPr>
            <a:spLocks noGrp="1"/>
          </p:cNvSpPr>
          <p:nvPr>
            <p:ph type="title" idx="1"/>
          </p:nvPr>
        </p:nvSpPr>
        <p:spPr/>
        <p:txBody>
          <a:bodyPr/>
          <a:lstStyle/>
          <a:p>
            <a:r>
              <a:rPr lang="zh-CN" altLang="en-US" dirty="0"/>
              <a:t>色彩科学 </a:t>
            </a:r>
            <a:r>
              <a:rPr lang="en-US" altLang="zh-CN" dirty="0"/>
              <a:t>—— </a:t>
            </a:r>
            <a:r>
              <a:rPr lang="zh-CN" altLang="en-US" dirty="0"/>
              <a:t>前置知识</a:t>
            </a:r>
          </a:p>
        </p:txBody>
      </p:sp>
      <p:pic>
        <p:nvPicPr>
          <p:cNvPr id="2" name="图片 1" descr="感光的视锥细胞和视杆细胞，都负责什么工作？ - 知乎">
            <a:extLst>
              <a:ext uri="{FF2B5EF4-FFF2-40B4-BE49-F238E27FC236}">
                <a16:creationId xmlns:a16="http://schemas.microsoft.com/office/drawing/2014/main" id="{0AE0AA63-A228-2584-47C2-BFE189CC21D7}"/>
              </a:ext>
            </a:extLst>
          </p:cNvPr>
          <p:cNvPicPr>
            <a:picLocks noChangeAspect="1"/>
          </p:cNvPicPr>
          <p:nvPr/>
        </p:nvPicPr>
        <p:blipFill>
          <a:blip r:embed="rId2"/>
          <a:stretch>
            <a:fillRect/>
          </a:stretch>
        </p:blipFill>
        <p:spPr>
          <a:xfrm>
            <a:off x="7313621" y="1403350"/>
            <a:ext cx="4575157" cy="5143499"/>
          </a:xfrm>
          <a:prstGeom prst="rect">
            <a:avLst/>
          </a:prstGeom>
        </p:spPr>
      </p:pic>
      <p:sp>
        <p:nvSpPr>
          <p:cNvPr id="4" name="文本框 3">
            <a:extLst>
              <a:ext uri="{FF2B5EF4-FFF2-40B4-BE49-F238E27FC236}">
                <a16:creationId xmlns:a16="http://schemas.microsoft.com/office/drawing/2014/main" id="{BE14E1C3-E6C1-1FBD-86A2-0D83F18F77A9}"/>
              </a:ext>
            </a:extLst>
          </p:cNvPr>
          <p:cNvSpPr txBox="1"/>
          <p:nvPr/>
        </p:nvSpPr>
        <p:spPr>
          <a:xfrm>
            <a:off x="842135" y="1928385"/>
            <a:ext cx="5253865" cy="4093428"/>
          </a:xfrm>
          <a:prstGeom prst="rect">
            <a:avLst/>
          </a:prstGeom>
          <a:noFill/>
        </p:spPr>
        <p:txBody>
          <a:bodyPr wrap="square" rtlCol="0">
            <a:spAutoFit/>
          </a:bodyPr>
          <a:lstStyle/>
          <a:p>
            <a:pPr algn="just"/>
            <a:r>
              <a:rPr lang="zh-CN" altLang="en-US" sz="2000" dirty="0">
                <a:latin typeface="Noto Sans SC" panose="020B0200000000000000" pitchFamily="34" charset="-122"/>
                <a:ea typeface="Noto Sans SC" panose="020B0200000000000000" pitchFamily="34" charset="-122"/>
              </a:rPr>
              <a:t>         人眼的上的</a:t>
            </a:r>
            <a:r>
              <a:rPr lang="zh-CN" altLang="en-US" sz="2000" b="1" dirty="0">
                <a:latin typeface="Noto Sans SC" panose="020B0200000000000000" pitchFamily="34" charset="-122"/>
                <a:ea typeface="Noto Sans SC" panose="020B0200000000000000" pitchFamily="34" charset="-122"/>
              </a:rPr>
              <a:t>感光细胞</a:t>
            </a:r>
            <a:r>
              <a:rPr lang="zh-CN" altLang="en-US" sz="2000" dirty="0">
                <a:latin typeface="Noto Sans SC" panose="020B0200000000000000" pitchFamily="34" charset="-122"/>
                <a:ea typeface="Noto Sans SC" panose="020B0200000000000000" pitchFamily="34" charset="-122"/>
              </a:rPr>
              <a:t>负责感受光线，细胞中的感光蛋白吸收光子后，经过复杂的生物化学通路，最终转化为电信号，传导给大脑。</a:t>
            </a:r>
            <a:endParaRPr lang="en-US" altLang="zh-CN" sz="2000" dirty="0">
              <a:latin typeface="Noto Sans SC" panose="020B0200000000000000" pitchFamily="34" charset="-122"/>
              <a:ea typeface="Noto Sans SC" panose="020B0200000000000000" pitchFamily="34" charset="-122"/>
            </a:endParaRPr>
          </a:p>
          <a:p>
            <a:pPr algn="just"/>
            <a:r>
              <a:rPr lang="zh-CN" altLang="en-US" sz="2000" dirty="0">
                <a:latin typeface="Noto Sans SC" panose="020B0200000000000000" pitchFamily="34" charset="-122"/>
                <a:ea typeface="Noto Sans SC" panose="020B0200000000000000" pitchFamily="34" charset="-122"/>
              </a:rPr>
              <a:t>         感光细胞主要有</a:t>
            </a:r>
            <a:r>
              <a:rPr lang="zh-CN" altLang="en-US" sz="2000" b="1" dirty="0">
                <a:latin typeface="Noto Sans SC" panose="020B0200000000000000" pitchFamily="34" charset="-122"/>
                <a:ea typeface="Noto Sans SC" panose="020B0200000000000000" pitchFamily="34" charset="-122"/>
              </a:rPr>
              <a:t>视杆细胞</a:t>
            </a:r>
            <a:r>
              <a:rPr lang="zh-CN" altLang="en-US" sz="2000" dirty="0">
                <a:latin typeface="Noto Sans SC" panose="020B0200000000000000" pitchFamily="34" charset="-122"/>
                <a:ea typeface="Noto Sans SC" panose="020B0200000000000000" pitchFamily="34" charset="-122"/>
              </a:rPr>
              <a:t>和</a:t>
            </a:r>
            <a:r>
              <a:rPr lang="zh-CN" altLang="en-US" sz="2000" b="1" dirty="0">
                <a:latin typeface="Noto Sans SC" panose="020B0200000000000000" pitchFamily="34" charset="-122"/>
                <a:ea typeface="Noto Sans SC" panose="020B0200000000000000" pitchFamily="34" charset="-122"/>
              </a:rPr>
              <a:t>视锥细胞</a:t>
            </a:r>
            <a:r>
              <a:rPr lang="zh-CN" altLang="en-US" sz="2000" dirty="0">
                <a:latin typeface="Noto Sans SC" panose="020B0200000000000000" pitchFamily="34" charset="-122"/>
                <a:ea typeface="Noto Sans SC" panose="020B0200000000000000" pitchFamily="34" charset="-122"/>
              </a:rPr>
              <a:t>。人的视网膜中约有</a:t>
            </a:r>
            <a:r>
              <a:rPr lang="en-US" altLang="zh-CN" sz="2000" dirty="0">
                <a:latin typeface="Noto Sans SC" panose="020B0200000000000000" pitchFamily="34" charset="-122"/>
                <a:ea typeface="Noto Sans SC" panose="020B0200000000000000" pitchFamily="34" charset="-122"/>
              </a:rPr>
              <a:t>1.2</a:t>
            </a:r>
            <a:r>
              <a:rPr lang="zh-CN" altLang="en-US" sz="2000" dirty="0">
                <a:latin typeface="Noto Sans SC" panose="020B0200000000000000" pitchFamily="34" charset="-122"/>
                <a:ea typeface="Noto Sans SC" panose="020B0200000000000000" pitchFamily="34" charset="-122"/>
              </a:rPr>
              <a:t>亿个视杆细胞和</a:t>
            </a:r>
            <a:r>
              <a:rPr lang="en-US" altLang="zh-CN" sz="2000" dirty="0">
                <a:latin typeface="Noto Sans SC" panose="020B0200000000000000" pitchFamily="34" charset="-122"/>
                <a:ea typeface="Noto Sans SC" panose="020B0200000000000000" pitchFamily="34" charset="-122"/>
              </a:rPr>
              <a:t>600</a:t>
            </a:r>
            <a:r>
              <a:rPr lang="zh-CN" altLang="en-US" sz="2000" dirty="0">
                <a:latin typeface="Noto Sans SC" panose="020B0200000000000000" pitchFamily="34" charset="-122"/>
                <a:ea typeface="Noto Sans SC" panose="020B0200000000000000" pitchFamily="34" charset="-122"/>
              </a:rPr>
              <a:t>万个视锥细胞。</a:t>
            </a:r>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视杆</a:t>
            </a:r>
            <a:r>
              <a:rPr lang="zh-CN" altLang="en-US" sz="2000" dirty="0">
                <a:latin typeface="Noto Sans SC" panose="020B0200000000000000" pitchFamily="34" charset="-122"/>
                <a:ea typeface="Noto Sans SC" panose="020B0200000000000000" pitchFamily="34" charset="-122"/>
              </a:rPr>
              <a:t>细胞极为敏感，可以被单个光子触发，但不能分辨颜色，分布在人眼的周边视野，主要负责</a:t>
            </a:r>
            <a:r>
              <a:rPr lang="zh-CN" altLang="en-US" sz="2000" b="1" dirty="0">
                <a:latin typeface="Noto Sans SC" panose="020B0200000000000000" pitchFamily="34" charset="-122"/>
                <a:ea typeface="Noto Sans SC" panose="020B0200000000000000" pitchFamily="34" charset="-122"/>
              </a:rPr>
              <a:t>夜间视力</a:t>
            </a:r>
            <a:r>
              <a:rPr lang="zh-CN" altLang="en-US" sz="2000" dirty="0">
                <a:latin typeface="Noto Sans SC" panose="020B0200000000000000" pitchFamily="34" charset="-122"/>
                <a:ea typeface="Noto Sans SC" panose="020B0200000000000000" pitchFamily="34" charset="-122"/>
              </a:rPr>
              <a:t>。</a:t>
            </a:r>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视锥</a:t>
            </a:r>
            <a:r>
              <a:rPr lang="zh-CN" altLang="en-US" sz="2000" dirty="0">
                <a:latin typeface="Noto Sans SC" panose="020B0200000000000000" pitchFamily="34" charset="-122"/>
                <a:ea typeface="Noto Sans SC" panose="020B0200000000000000" pitchFamily="34" charset="-122"/>
              </a:rPr>
              <a:t>细胞则需要更多的光子才能产生电信号，可以分辨颜色，分布在人颜色中心视野，主要负责</a:t>
            </a:r>
            <a:r>
              <a:rPr lang="zh-CN" altLang="en-US" sz="2000" b="1" dirty="0">
                <a:latin typeface="Noto Sans SC" panose="020B0200000000000000" pitchFamily="34" charset="-122"/>
                <a:ea typeface="Noto Sans SC" panose="020B0200000000000000" pitchFamily="34" charset="-122"/>
              </a:rPr>
              <a:t>日间视力</a:t>
            </a:r>
            <a:r>
              <a:rPr lang="zh-CN" altLang="en-US" sz="2000" dirty="0">
                <a:latin typeface="Noto Sans SC" panose="020B0200000000000000" pitchFamily="34" charset="-122"/>
                <a:ea typeface="Noto Sans SC" panose="020B0200000000000000" pitchFamily="34" charset="-122"/>
              </a:rPr>
              <a:t>。</a:t>
            </a:r>
            <a:endParaRPr lang="en-US" altLang="zh-CN" sz="2000" dirty="0">
              <a:latin typeface="Noto Sans SC" panose="020B0200000000000000" pitchFamily="34" charset="-122"/>
              <a:ea typeface="Noto Sans SC" panose="020B0200000000000000" pitchFamily="34" charset="-122"/>
            </a:endParaRPr>
          </a:p>
        </p:txBody>
      </p:sp>
      <p:sp>
        <p:nvSpPr>
          <p:cNvPr id="6" name="文本框 5">
            <a:extLst>
              <a:ext uri="{FF2B5EF4-FFF2-40B4-BE49-F238E27FC236}">
                <a16:creationId xmlns:a16="http://schemas.microsoft.com/office/drawing/2014/main" id="{5C170E14-6578-BF56-3A63-10142F718B2A}"/>
              </a:ext>
            </a:extLst>
          </p:cNvPr>
          <p:cNvSpPr txBox="1"/>
          <p:nvPr/>
        </p:nvSpPr>
        <p:spPr>
          <a:xfrm>
            <a:off x="457201" y="1405676"/>
            <a:ext cx="6100174"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人眼是如何感受颜色的？</a:t>
            </a:r>
          </a:p>
        </p:txBody>
      </p:sp>
    </p:spTree>
    <p:extLst>
      <p:ext uri="{BB962C8B-B14F-4D97-AF65-F5344CB8AC3E}">
        <p14:creationId xmlns:p14="http://schemas.microsoft.com/office/powerpoint/2010/main" val="1636137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DCB8-CFA1-6B0A-DEB8-8E11BF64611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53B735F-E982-6711-FFD8-85CE1AECCE46}"/>
              </a:ext>
            </a:extLst>
          </p:cNvPr>
          <p:cNvSpPr>
            <a:spLocks noGrp="1"/>
          </p:cNvSpPr>
          <p:nvPr>
            <p:ph type="title" idx="1"/>
          </p:nvPr>
        </p:nvSpPr>
        <p:spPr/>
        <p:txBody>
          <a:bodyPr/>
          <a:lstStyle/>
          <a:p>
            <a:r>
              <a:rPr lang="zh-CN" altLang="en-US" dirty="0"/>
              <a:t>色彩科学 </a:t>
            </a:r>
            <a:r>
              <a:rPr lang="en-US" altLang="zh-CN" dirty="0"/>
              <a:t>—— </a:t>
            </a:r>
            <a:r>
              <a:rPr lang="zh-CN" altLang="en-US" dirty="0"/>
              <a:t>前置知识</a:t>
            </a:r>
          </a:p>
        </p:txBody>
      </p:sp>
      <p:sp>
        <p:nvSpPr>
          <p:cNvPr id="4" name="文本框 3">
            <a:extLst>
              <a:ext uri="{FF2B5EF4-FFF2-40B4-BE49-F238E27FC236}">
                <a16:creationId xmlns:a16="http://schemas.microsoft.com/office/drawing/2014/main" id="{03470FF0-7CCF-D07C-5A85-3E5F4880108B}"/>
              </a:ext>
            </a:extLst>
          </p:cNvPr>
          <p:cNvSpPr txBox="1"/>
          <p:nvPr/>
        </p:nvSpPr>
        <p:spPr>
          <a:xfrm>
            <a:off x="695960" y="2019993"/>
            <a:ext cx="5196125" cy="3170099"/>
          </a:xfrm>
          <a:prstGeom prst="rect">
            <a:avLst/>
          </a:prstGeom>
          <a:noFill/>
        </p:spPr>
        <p:txBody>
          <a:bodyPr wrap="square" rtlCol="0">
            <a:spAutoFit/>
          </a:bodyPr>
          <a:lstStyle/>
          <a:p>
            <a:pPr algn="just"/>
            <a:r>
              <a:rPr lang="zh-CN" altLang="en-US" sz="2000" dirty="0">
                <a:latin typeface="Noto Sans SC" panose="020B0200000000000000" pitchFamily="34" charset="-122"/>
                <a:ea typeface="Noto Sans SC" panose="020B0200000000000000" pitchFamily="34" charset="-122"/>
              </a:rPr>
              <a:t>         主要负责日间视力的</a:t>
            </a:r>
            <a:r>
              <a:rPr lang="zh-CN" altLang="en-US" sz="2000" b="1" dirty="0">
                <a:latin typeface="Noto Sans SC" panose="020B0200000000000000" pitchFamily="34" charset="-122"/>
                <a:ea typeface="Noto Sans SC" panose="020B0200000000000000" pitchFamily="34" charset="-122"/>
              </a:rPr>
              <a:t>视锥</a:t>
            </a:r>
            <a:r>
              <a:rPr lang="zh-CN" altLang="en-US" sz="2000" dirty="0">
                <a:latin typeface="Noto Sans SC" panose="020B0200000000000000" pitchFamily="34" charset="-122"/>
                <a:ea typeface="Noto Sans SC" panose="020B0200000000000000" pitchFamily="34" charset="-122"/>
              </a:rPr>
              <a:t>细胞又分为很多种。其中人体上共有</a:t>
            </a:r>
            <a:r>
              <a:rPr lang="zh-CN" altLang="en-US" sz="2000" b="1" dirty="0">
                <a:latin typeface="Noto Sans SC" panose="020B0200000000000000" pitchFamily="34" charset="-122"/>
                <a:ea typeface="Noto Sans SC" panose="020B0200000000000000" pitchFamily="34" charset="-122"/>
              </a:rPr>
              <a:t>三种</a:t>
            </a:r>
            <a:r>
              <a:rPr lang="zh-CN" altLang="en-US" sz="2000" dirty="0">
                <a:latin typeface="Noto Sans SC" panose="020B0200000000000000" pitchFamily="34" charset="-122"/>
                <a:ea typeface="Noto Sans SC" panose="020B0200000000000000" pitchFamily="34" charset="-122"/>
              </a:rPr>
              <a:t>类型的视锥细胞。</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三种类型的视锥细胞大致分别对短、中、长波长的光有反应，因此他们分别称为：</a:t>
            </a:r>
            <a:r>
              <a:rPr lang="en-US" altLang="zh-CN" sz="2000" b="1" dirty="0">
                <a:latin typeface="Noto Sans SC" panose="020B0200000000000000" pitchFamily="34" charset="-122"/>
                <a:ea typeface="Noto Sans SC" panose="020B0200000000000000" pitchFamily="34" charset="-122"/>
              </a:rPr>
              <a:t>S-</a:t>
            </a:r>
            <a:r>
              <a:rPr lang="zh-CN" altLang="en-US" sz="2000" b="1" dirty="0">
                <a:latin typeface="Noto Sans SC" panose="020B0200000000000000" pitchFamily="34" charset="-122"/>
                <a:ea typeface="Noto Sans SC" panose="020B0200000000000000" pitchFamily="34" charset="-122"/>
              </a:rPr>
              <a:t>锥</a:t>
            </a:r>
            <a:r>
              <a:rPr lang="zh-CN" altLang="en-US" sz="2000" dirty="0">
                <a:latin typeface="Noto Sans SC" panose="020B0200000000000000" pitchFamily="34" charset="-122"/>
                <a:ea typeface="Noto Sans SC" panose="020B0200000000000000" pitchFamily="34" charset="-122"/>
              </a:rPr>
              <a:t>、</a:t>
            </a:r>
            <a:r>
              <a:rPr lang="en-US" altLang="zh-CN" sz="2000" b="1" dirty="0">
                <a:latin typeface="Noto Sans SC" panose="020B0200000000000000" pitchFamily="34" charset="-122"/>
                <a:ea typeface="Noto Sans SC" panose="020B0200000000000000" pitchFamily="34" charset="-122"/>
              </a:rPr>
              <a:t>M-</a:t>
            </a:r>
            <a:r>
              <a:rPr lang="zh-CN" altLang="en-US" sz="2000" b="1" dirty="0">
                <a:latin typeface="Noto Sans SC" panose="020B0200000000000000" pitchFamily="34" charset="-122"/>
                <a:ea typeface="Noto Sans SC" panose="020B0200000000000000" pitchFamily="34" charset="-122"/>
              </a:rPr>
              <a:t>锥</a:t>
            </a:r>
            <a:r>
              <a:rPr lang="zh-CN" altLang="en-US" sz="2000" dirty="0">
                <a:latin typeface="Noto Sans SC" panose="020B0200000000000000" pitchFamily="34" charset="-122"/>
                <a:ea typeface="Noto Sans SC" panose="020B0200000000000000" pitchFamily="34" charset="-122"/>
              </a:rPr>
              <a:t>、</a:t>
            </a:r>
            <a:r>
              <a:rPr lang="en-US" altLang="zh-CN" sz="2000" b="1" dirty="0">
                <a:latin typeface="Noto Sans SC" panose="020B0200000000000000" pitchFamily="34" charset="-122"/>
                <a:ea typeface="Noto Sans SC" panose="020B0200000000000000" pitchFamily="34" charset="-122"/>
              </a:rPr>
              <a:t>L-</a:t>
            </a:r>
            <a:r>
              <a:rPr lang="zh-CN" altLang="en-US" sz="2000" b="1" dirty="0">
                <a:latin typeface="Noto Sans SC" panose="020B0200000000000000" pitchFamily="34" charset="-122"/>
                <a:ea typeface="Noto Sans SC" panose="020B0200000000000000" pitchFamily="34" charset="-122"/>
              </a:rPr>
              <a:t>锥</a:t>
            </a:r>
            <a:r>
              <a:rPr lang="zh-CN" altLang="en-US" sz="2000" dirty="0">
                <a:latin typeface="Noto Sans SC" panose="020B0200000000000000" pitchFamily="34" charset="-122"/>
                <a:ea typeface="Noto Sans SC" panose="020B0200000000000000" pitchFamily="34" charset="-122"/>
              </a:rPr>
              <a:t>。</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大脑通过三种视锥细胞感受到并转换出的电信号，感受到了颜色。</a:t>
            </a:r>
            <a:endParaRPr lang="en-US" altLang="zh-CN" sz="2000" dirty="0">
              <a:latin typeface="Noto Sans SC" panose="020B0200000000000000" pitchFamily="34" charset="-122"/>
              <a:ea typeface="Noto Sans SC" panose="020B0200000000000000" pitchFamily="34" charset="-122"/>
            </a:endParaRPr>
          </a:p>
        </p:txBody>
      </p:sp>
      <p:pic>
        <p:nvPicPr>
          <p:cNvPr id="3" name="图片 2">
            <a:extLst>
              <a:ext uri="{FF2B5EF4-FFF2-40B4-BE49-F238E27FC236}">
                <a16:creationId xmlns:a16="http://schemas.microsoft.com/office/drawing/2014/main" id="{122883ED-A2EC-914D-48EC-CA87CD983474}"/>
              </a:ext>
            </a:extLst>
          </p:cNvPr>
          <p:cNvPicPr>
            <a:picLocks noChangeAspect="1"/>
          </p:cNvPicPr>
          <p:nvPr/>
        </p:nvPicPr>
        <p:blipFill>
          <a:blip r:embed="rId2"/>
          <a:stretch>
            <a:fillRect/>
          </a:stretch>
        </p:blipFill>
        <p:spPr>
          <a:xfrm>
            <a:off x="6902450" y="2019993"/>
            <a:ext cx="4762500" cy="3000375"/>
          </a:xfrm>
          <a:prstGeom prst="rect">
            <a:avLst/>
          </a:prstGeom>
        </p:spPr>
      </p:pic>
      <p:sp>
        <p:nvSpPr>
          <p:cNvPr id="6" name="文本框 5">
            <a:extLst>
              <a:ext uri="{FF2B5EF4-FFF2-40B4-BE49-F238E27FC236}">
                <a16:creationId xmlns:a16="http://schemas.microsoft.com/office/drawing/2014/main" id="{80F9AEA9-1F20-967A-DB1B-9309651C325F}"/>
              </a:ext>
            </a:extLst>
          </p:cNvPr>
          <p:cNvSpPr txBox="1"/>
          <p:nvPr/>
        </p:nvSpPr>
        <p:spPr>
          <a:xfrm>
            <a:off x="457201" y="1405676"/>
            <a:ext cx="6100174"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人眼是如何感受颜色的？</a:t>
            </a:r>
          </a:p>
        </p:txBody>
      </p:sp>
    </p:spTree>
    <p:extLst>
      <p:ext uri="{BB962C8B-B14F-4D97-AF65-F5344CB8AC3E}">
        <p14:creationId xmlns:p14="http://schemas.microsoft.com/office/powerpoint/2010/main" val="2146929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7D964-7E6E-D51E-1F75-F33C36D67B6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C60E34F-450B-1330-16A0-2407569A170F}"/>
              </a:ext>
            </a:extLst>
          </p:cNvPr>
          <p:cNvSpPr>
            <a:spLocks noGrp="1"/>
          </p:cNvSpPr>
          <p:nvPr>
            <p:ph type="title" idx="1"/>
          </p:nvPr>
        </p:nvSpPr>
        <p:spPr/>
        <p:txBody>
          <a:bodyPr/>
          <a:lstStyle/>
          <a:p>
            <a:r>
              <a:rPr lang="zh-CN" altLang="en-US" dirty="0"/>
              <a:t>色彩科学 </a:t>
            </a:r>
            <a:r>
              <a:rPr lang="en-US" altLang="zh-CN" dirty="0"/>
              <a:t>—— </a:t>
            </a:r>
            <a:r>
              <a:rPr lang="zh-CN" altLang="en-US" dirty="0"/>
              <a:t>前置知识</a:t>
            </a:r>
          </a:p>
        </p:txBody>
      </p:sp>
      <p:sp>
        <p:nvSpPr>
          <p:cNvPr id="6" name="文本框 5">
            <a:extLst>
              <a:ext uri="{FF2B5EF4-FFF2-40B4-BE49-F238E27FC236}">
                <a16:creationId xmlns:a16="http://schemas.microsoft.com/office/drawing/2014/main" id="{944DA7FB-06C4-C78B-7AC5-A9A26F6167E3}"/>
              </a:ext>
            </a:extLst>
          </p:cNvPr>
          <p:cNvSpPr txBox="1"/>
          <p:nvPr/>
        </p:nvSpPr>
        <p:spPr>
          <a:xfrm>
            <a:off x="457201" y="1405676"/>
            <a:ext cx="6100174"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物理能量与光度量</a:t>
            </a:r>
          </a:p>
        </p:txBody>
      </p:sp>
      <p:sp>
        <p:nvSpPr>
          <p:cNvPr id="9" name="文本框 8">
            <a:extLst>
              <a:ext uri="{FF2B5EF4-FFF2-40B4-BE49-F238E27FC236}">
                <a16:creationId xmlns:a16="http://schemas.microsoft.com/office/drawing/2014/main" id="{200BA246-1E6C-50B1-9B7B-80C31477BC14}"/>
              </a:ext>
            </a:extLst>
          </p:cNvPr>
          <p:cNvSpPr txBox="1"/>
          <p:nvPr/>
        </p:nvSpPr>
        <p:spPr>
          <a:xfrm>
            <a:off x="695960" y="2413924"/>
            <a:ext cx="8893479" cy="1200329"/>
          </a:xfrm>
          <a:prstGeom prst="rect">
            <a:avLst/>
          </a:prstGeom>
          <a:noFill/>
        </p:spPr>
        <p:txBody>
          <a:bodyPr wrap="square" rtlCol="0">
            <a:spAutoFit/>
          </a:bodyPr>
          <a:lstStyle/>
          <a:p>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C88F05C4-7323-6829-B73A-D7A033A40B05}"/>
                  </a:ext>
                </a:extLst>
              </p:cNvPr>
              <p:cNvGraphicFramePr>
                <a:graphicFrameLocks noGrp="1"/>
              </p:cNvGraphicFramePr>
              <p:nvPr>
                <p:extLst>
                  <p:ext uri="{D42A27DB-BD31-4B8C-83A1-F6EECF244321}">
                    <p14:modId xmlns:p14="http://schemas.microsoft.com/office/powerpoint/2010/main" val="4074966702"/>
                  </p:ext>
                </p:extLst>
              </p:nvPr>
            </p:nvGraphicFramePr>
            <p:xfrm>
              <a:off x="208244" y="1805786"/>
              <a:ext cx="11775511" cy="4150360"/>
            </p:xfrm>
            <a:graphic>
              <a:graphicData uri="http://schemas.openxmlformats.org/drawingml/2006/table">
                <a:tbl>
                  <a:tblPr firstRow="1" bandRow="1">
                    <a:tableStyleId>{5C22544A-7EE6-4342-B048-85BDC9FD1C3A}</a:tableStyleId>
                  </a:tblPr>
                  <a:tblGrid>
                    <a:gridCol w="2301770">
                      <a:extLst>
                        <a:ext uri="{9D8B030D-6E8A-4147-A177-3AD203B41FA5}">
                          <a16:colId xmlns:a16="http://schemas.microsoft.com/office/drawing/2014/main" val="492112646"/>
                        </a:ext>
                      </a:extLst>
                    </a:gridCol>
                    <a:gridCol w="5506644">
                      <a:extLst>
                        <a:ext uri="{9D8B030D-6E8A-4147-A177-3AD203B41FA5}">
                          <a16:colId xmlns:a16="http://schemas.microsoft.com/office/drawing/2014/main" val="2263870027"/>
                        </a:ext>
                      </a:extLst>
                    </a:gridCol>
                    <a:gridCol w="2314802">
                      <a:extLst>
                        <a:ext uri="{9D8B030D-6E8A-4147-A177-3AD203B41FA5}">
                          <a16:colId xmlns:a16="http://schemas.microsoft.com/office/drawing/2014/main" val="4035952159"/>
                        </a:ext>
                      </a:extLst>
                    </a:gridCol>
                    <a:gridCol w="1652295">
                      <a:extLst>
                        <a:ext uri="{9D8B030D-6E8A-4147-A177-3AD203B41FA5}">
                          <a16:colId xmlns:a16="http://schemas.microsoft.com/office/drawing/2014/main" val="526956734"/>
                        </a:ext>
                      </a:extLst>
                    </a:gridCol>
                  </a:tblGrid>
                  <a:tr h="370840">
                    <a:tc>
                      <a:txBody>
                        <a:bodyPr/>
                        <a:lstStyle/>
                        <a:p>
                          <a:pPr algn="ctr"/>
                          <a:r>
                            <a:rPr lang="zh-CN" altLang="en-US" sz="1800" dirty="0">
                              <a:latin typeface="Noto Sans SC" panose="020B0200000000000000" pitchFamily="34" charset="-122"/>
                              <a:ea typeface="Noto Sans SC" panose="020B0200000000000000" pitchFamily="34" charset="-122"/>
                            </a:rPr>
                            <a:t>物理名称</a:t>
                          </a:r>
                        </a:p>
                      </a:txBody>
                      <a:tcPr anchor="ctr"/>
                    </a:tc>
                    <a:tc>
                      <a:txBody>
                        <a:bodyPr/>
                        <a:lstStyle/>
                        <a:p>
                          <a:pPr algn="ctr"/>
                          <a:r>
                            <a:rPr lang="zh-CN" altLang="en-US" sz="1800" dirty="0">
                              <a:latin typeface="Noto Sans SC" panose="020B0200000000000000" pitchFamily="34" charset="-122"/>
                              <a:ea typeface="Noto Sans SC" panose="020B0200000000000000" pitchFamily="34" charset="-122"/>
                            </a:rPr>
                            <a:t>物理能量</a:t>
                          </a:r>
                        </a:p>
                      </a:txBody>
                      <a:tcPr anchor="ctr"/>
                    </a:tc>
                    <a:tc>
                      <a:txBody>
                        <a:bodyPr/>
                        <a:lstStyle/>
                        <a:p>
                          <a:pPr algn="ctr"/>
                          <a:r>
                            <a:rPr lang="zh-CN" altLang="en-US" sz="1800" dirty="0">
                              <a:latin typeface="Noto Sans SC" panose="020B0200000000000000" pitchFamily="34" charset="-122"/>
                              <a:ea typeface="Noto Sans SC" panose="020B0200000000000000" pitchFamily="34" charset="-122"/>
                            </a:rPr>
                            <a:t>光度量名称</a:t>
                          </a:r>
                        </a:p>
                      </a:txBody>
                      <a:tcPr anchor="ctr"/>
                    </a:tc>
                    <a:tc>
                      <a:txBody>
                        <a:bodyPr/>
                        <a:lstStyle/>
                        <a:p>
                          <a:pPr algn="ctr"/>
                          <a:r>
                            <a:rPr lang="zh-CN" altLang="en-US" sz="1800" dirty="0">
                              <a:latin typeface="Noto Sans SC" panose="020B0200000000000000" pitchFamily="34" charset="-122"/>
                              <a:ea typeface="Noto Sans SC" panose="020B0200000000000000" pitchFamily="34" charset="-122"/>
                            </a:rPr>
                            <a:t>光度量</a:t>
                          </a:r>
                        </a:p>
                      </a:txBody>
                      <a:tcPr anchor="ctr"/>
                    </a:tc>
                    <a:extLst>
                      <a:ext uri="{0D108BD9-81ED-4DB2-BD59-A6C34878D82A}">
                        <a16:rowId xmlns:a16="http://schemas.microsoft.com/office/drawing/2014/main" val="190682530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辐射能量</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Radiant Energy</a:t>
                          </a:r>
                        </a:p>
                      </a:txBody>
                      <a:tcPr anchor="ctr"/>
                    </a:tc>
                    <a:tc>
                      <a:txBody>
                        <a:bodyPr/>
                        <a:lstStyle/>
                        <a:p>
                          <a:pPr algn="ctr"/>
                          <a14:m>
                            <m:oMath xmlns:m="http://schemas.openxmlformats.org/officeDocument/2006/math">
                              <m:r>
                                <a:rPr lang="en-US" altLang="zh-CN" sz="1600" b="0" i="1" dirty="0" smtClean="0">
                                  <a:latin typeface="Cambria Math" panose="02040503050406030204" pitchFamily="18" charset="0"/>
                                </a:rPr>
                                <m:t>𝐽</m:t>
                              </m:r>
                            </m:oMath>
                          </a14:m>
                          <a:r>
                            <a:rPr lang="zh-CN" altLang="en-US" sz="1600" dirty="0"/>
                            <a:t> 焦耳</a:t>
                          </a:r>
                        </a:p>
                      </a:txBody>
                      <a:tcPr anchor="ctr"/>
                    </a:tc>
                    <a:tc>
                      <a:txBody>
                        <a:bodyPr/>
                        <a:lstStyle/>
                        <a:p>
                          <a:pPr algn="ctr"/>
                          <a:endParaRPr lang="zh-CN" altLang="en-US" sz="12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c>
                      <a:txBody>
                        <a:bodyPr/>
                        <a:lstStyle/>
                        <a:p>
                          <a:pPr algn="ctr"/>
                          <a:r>
                            <a:rPr lang="en-US" altLang="zh-CN" sz="1400" dirty="0">
                              <a:latin typeface="Noto Sans SC" panose="020B0200000000000000" pitchFamily="34" charset="-122"/>
                              <a:ea typeface="Noto Sans SC" panose="020B0200000000000000" pitchFamily="34" charset="-122"/>
                            </a:rPr>
                            <a:t> </a:t>
                          </a:r>
                          <a:endParaRPr lang="zh-CN" altLang="en-US" sz="1400" dirty="0"/>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262148291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辐射通量</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Radiant Flux</a:t>
                          </a:r>
                        </a:p>
                      </a:txBody>
                      <a:tcPr anchor="ctr"/>
                    </a:tc>
                    <a:tc>
                      <a:txBody>
                        <a:bodyPr/>
                        <a:lstStyle/>
                        <a:p>
                          <a:pPr algn="ctr"/>
                          <a14:m>
                            <m:oMath xmlns:m="http://schemas.openxmlformats.org/officeDocument/2006/math">
                              <m:r>
                                <a:rPr lang="en-US" altLang="zh-CN" sz="1600" i="1" dirty="0" smtClean="0">
                                  <a:latin typeface="Cambria Math" panose="02040503050406030204" pitchFamily="18" charset="0"/>
                                </a:rPr>
                                <m:t>𝑊</m:t>
                              </m:r>
                            </m:oMath>
                          </a14:m>
                          <a:r>
                            <a:rPr lang="zh-CN" altLang="en-US" sz="1600" dirty="0"/>
                            <a:t> 瓦特</a:t>
                          </a:r>
                        </a:p>
                      </a:txBody>
                      <a:tcPr anchor="ctr"/>
                    </a:tc>
                    <a:tc>
                      <a:txBody>
                        <a:bodyPr/>
                        <a:lstStyle/>
                        <a:p>
                          <a:pPr algn="ctr"/>
                          <a:r>
                            <a:rPr lang="zh-CN" altLang="en-US" sz="1200" dirty="0">
                              <a:latin typeface="Noto Sans SC" panose="020B0200000000000000" pitchFamily="34" charset="-122"/>
                              <a:ea typeface="Noto Sans SC" panose="020B0200000000000000" pitchFamily="34" charset="-122"/>
                            </a:rPr>
                            <a:t>光通量</a:t>
                          </a:r>
                          <a:endParaRPr lang="en-US" altLang="zh-CN" sz="1200" dirty="0"/>
                        </a:p>
                        <a:p>
                          <a:pPr algn="ctr"/>
                          <a:r>
                            <a:rPr lang="en-US" altLang="zh-CN" sz="1200" dirty="0"/>
                            <a:t>L</a:t>
                          </a:r>
                          <a:r>
                            <a:rPr lang="zh-CN" altLang="zh-CN" sz="1200" dirty="0"/>
                            <a:t>uminous </a:t>
                          </a:r>
                          <a:r>
                            <a:rPr lang="en-US" altLang="zh-CN" sz="1200" dirty="0"/>
                            <a:t>F</a:t>
                          </a:r>
                          <a:r>
                            <a:rPr lang="zh-CN" altLang="zh-CN" sz="1200" dirty="0"/>
                            <a:t>lux</a:t>
                          </a:r>
                          <a:endParaRPr lang="zh-CN" altLang="en-US" sz="1200" dirty="0"/>
                        </a:p>
                      </a:txBody>
                      <a:tcPr anchor="ctr"/>
                    </a:tc>
                    <a:tc>
                      <a:txBody>
                        <a:bodyPr/>
                        <a:lstStyle/>
                        <a:p>
                          <a:pPr algn="ctr"/>
                          <a14:m>
                            <m:oMath xmlns:m="http://schemas.openxmlformats.org/officeDocument/2006/math">
                              <m:r>
                                <m:rPr>
                                  <m:sty m:val="p"/>
                                </m:rPr>
                                <a:rPr lang="en-US" altLang="zh-CN" sz="1400" i="1" smtClean="0">
                                  <a:latin typeface="Cambria Math" panose="02040503050406030204" pitchFamily="18" charset="0"/>
                                </a:rPr>
                                <m:t>lm</m:t>
                              </m:r>
                            </m:oMath>
                          </a14:m>
                          <a:r>
                            <a:rPr lang="en-US" altLang="zh-CN" sz="1400" dirty="0"/>
                            <a:t> </a:t>
                          </a:r>
                          <a:r>
                            <a:rPr lang="zh-CN" altLang="en-US" sz="1400" dirty="0"/>
                            <a:t>流明</a:t>
                          </a:r>
                        </a:p>
                      </a:txBody>
                      <a:tcPr anchor="ctr"/>
                    </a:tc>
                    <a:extLst>
                      <a:ext uri="{0D108BD9-81ED-4DB2-BD59-A6C34878D82A}">
                        <a16:rowId xmlns:a16="http://schemas.microsoft.com/office/drawing/2014/main" val="167486688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辐射强度 </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dirty="0"/>
                            <a:t>Radiant </a:t>
                          </a:r>
                          <a:r>
                            <a:rPr lang="en-US" altLang="zh-CN" sz="1200" dirty="0"/>
                            <a:t>Intensity</a:t>
                          </a:r>
                        </a:p>
                      </a:txBody>
                      <a:tcPr anchor="ctr"/>
                    </a:tc>
                    <a:tc>
                      <a:txBody>
                        <a:bodyPr/>
                        <a:lstStyle/>
                        <a:p>
                          <a:pPr algn="ctr"/>
                          <a14:m>
                            <m:oMath xmlns:m="http://schemas.openxmlformats.org/officeDocument/2006/math">
                              <m:r>
                                <a:rPr lang="en-US" altLang="zh-CN" sz="1600" i="1" dirty="0" smtClean="0">
                                  <a:latin typeface="Cambria Math" panose="02040503050406030204" pitchFamily="18" charset="0"/>
                                </a:rPr>
                                <m:t>𝑊</m:t>
                              </m:r>
                              <m:r>
                                <a:rPr lang="en-US" altLang="zh-CN" sz="1600" i="1" dirty="0" smtClean="0">
                                  <a:latin typeface="Cambria Math" panose="02040503050406030204" pitchFamily="18" charset="0"/>
                                </a:rPr>
                                <m:t>/</m:t>
                              </m:r>
                              <m:r>
                                <a:rPr lang="en-US" altLang="zh-CN" sz="1600" b="0" i="1" dirty="0" smtClean="0">
                                  <a:latin typeface="Cambria Math" panose="02040503050406030204" pitchFamily="18" charset="0"/>
                                </a:rPr>
                                <m:t>𝑠𝑟</m:t>
                              </m:r>
                            </m:oMath>
                          </a14:m>
                          <a:r>
                            <a:rPr lang="zh-CN" altLang="en-US" sz="1600" dirty="0"/>
                            <a:t> 每立体角的通量</a:t>
                          </a:r>
                        </a:p>
                      </a:txBody>
                      <a:tcPr anchor="ctr"/>
                    </a:tc>
                    <a:tc>
                      <a:txBody>
                        <a:bodyPr/>
                        <a:lstStyle/>
                        <a:p>
                          <a:pPr algn="ctr"/>
                          <a:r>
                            <a:rPr lang="zh-CN" altLang="en-US" sz="1200" dirty="0">
                              <a:latin typeface="Noto Sans SC" panose="020B0200000000000000" pitchFamily="34" charset="-122"/>
                              <a:ea typeface="Noto Sans SC" panose="020B0200000000000000" pitchFamily="34" charset="-122"/>
                            </a:rPr>
                            <a:t>发光强度</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L</a:t>
                          </a:r>
                          <a:r>
                            <a:rPr lang="zh-CN" altLang="zh-CN" sz="1200" dirty="0"/>
                            <a:t>uminous </a:t>
                          </a:r>
                          <a:r>
                            <a:rPr lang="en-US" altLang="zh-CN" sz="1200" dirty="0"/>
                            <a:t>Intensity</a:t>
                          </a:r>
                          <a:endParaRPr lang="zh-CN" altLang="en-US" sz="1200" dirty="0"/>
                        </a:p>
                      </a:txBody>
                      <a:tcPr anchor="ctr"/>
                    </a:tc>
                    <a:tc>
                      <a:txBody>
                        <a:bodyPr/>
                        <a:lstStyle/>
                        <a:p>
                          <a:pPr algn="ctr"/>
                          <a14:m>
                            <m:oMath xmlns:m="http://schemas.openxmlformats.org/officeDocument/2006/math">
                              <m:r>
                                <a:rPr lang="en-US" altLang="zh-CN" sz="1400" b="0" i="1" smtClean="0">
                                  <a:latin typeface="Cambria Math" panose="02040503050406030204" pitchFamily="18" charset="0"/>
                                </a:rPr>
                                <m:t>𝑙𝑚</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𝑠𝑟</m:t>
                              </m:r>
                            </m:oMath>
                          </a14:m>
                          <a:r>
                            <a:rPr lang="zh-CN" altLang="en-US" sz="1400" dirty="0"/>
                            <a:t>；</a:t>
                          </a:r>
                          <a14:m>
                            <m:oMath xmlns:m="http://schemas.openxmlformats.org/officeDocument/2006/math">
                              <m:r>
                                <a:rPr lang="en-US" altLang="zh-CN" sz="1400" b="0" i="1" dirty="0" smtClean="0">
                                  <a:latin typeface="Cambria Math" panose="02040503050406030204" pitchFamily="18" charset="0"/>
                                </a:rPr>
                                <m:t>𝑐𝑑</m:t>
                              </m:r>
                            </m:oMath>
                          </a14:m>
                          <a:r>
                            <a:rPr lang="en-US" altLang="zh-CN" sz="1400" dirty="0"/>
                            <a:t> </a:t>
                          </a:r>
                          <a:r>
                            <a:rPr lang="zh-CN" altLang="en-US" sz="1400" dirty="0"/>
                            <a:t>坎德拉</a:t>
                          </a:r>
                        </a:p>
                      </a:txBody>
                      <a:tcPr anchor="ctr"/>
                    </a:tc>
                    <a:extLst>
                      <a:ext uri="{0D108BD9-81ED-4DB2-BD59-A6C34878D82A}">
                        <a16:rowId xmlns:a16="http://schemas.microsoft.com/office/drawing/2014/main" val="25846711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光谱强度</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Spectral Intensity</a:t>
                          </a:r>
                        </a:p>
                      </a:txBody>
                      <a:tcPr anchor="ctr"/>
                    </a:tc>
                    <a:tc>
                      <a:txBody>
                        <a:bodyPr/>
                        <a:lstStyle/>
                        <a:p>
                          <a:pPr algn="ctr"/>
                          <a14:m>
                            <m:oMath xmlns:m="http://schemas.openxmlformats.org/officeDocument/2006/math">
                              <m:r>
                                <a:rPr lang="en-US" altLang="zh-CN" sz="1600" i="1" dirty="0" smtClean="0">
                                  <a:latin typeface="Cambria Math" panose="02040503050406030204" pitchFamily="18" charset="0"/>
                                </a:rPr>
                                <m:t>𝑊</m:t>
                              </m:r>
                              <m:r>
                                <a:rPr lang="en-US" altLang="zh-CN" sz="1600" i="1" dirty="0" smtClean="0">
                                  <a:latin typeface="Cambria Math" panose="02040503050406030204" pitchFamily="18" charset="0"/>
                                </a:rPr>
                                <m:t>/(</m:t>
                              </m:r>
                              <m:r>
                                <a:rPr lang="en-US" altLang="zh-CN" sz="1600" b="0" i="1" dirty="0" smtClean="0">
                                  <a:latin typeface="Cambria Math" panose="02040503050406030204" pitchFamily="18" charset="0"/>
                                </a:rPr>
                                <m:t>𝑠𝑟</m:t>
                              </m:r>
                              <m:r>
                                <a:rPr lang="en-US" altLang="zh-CN" sz="1600" b="0" i="1" dirty="0" smtClean="0">
                                  <a:latin typeface="Cambria Math" panose="02040503050406030204" pitchFamily="18" charset="0"/>
                                  <a:ea typeface="Cambria Math" panose="02040503050406030204" pitchFamily="18" charset="0"/>
                                </a:rPr>
                                <m:t>∙</m:t>
                              </m:r>
                              <m:r>
                                <m:rPr>
                                  <m:sty m:val="p"/>
                                </m:rPr>
                                <a:rPr lang="en-US" altLang="zh-CN" sz="1600" b="0" i="1" dirty="0" smtClean="0">
                                  <a:latin typeface="Cambria Math" panose="02040503050406030204" pitchFamily="18" charset="0"/>
                                  <a:ea typeface="Cambria Math" panose="02040503050406030204" pitchFamily="18" charset="0"/>
                                </a:rPr>
                                <m:t>n</m:t>
                              </m:r>
                              <m:r>
                                <a:rPr lang="en-US" altLang="zh-CN" sz="1600" b="0" i="1" dirty="0" smtClean="0">
                                  <a:latin typeface="Cambria Math" panose="02040503050406030204" pitchFamily="18" charset="0"/>
                                  <a:ea typeface="Cambria Math" panose="02040503050406030204" pitchFamily="18" charset="0"/>
                                </a:rPr>
                                <m:t>𝑚</m:t>
                              </m:r>
                              <m:r>
                                <a:rPr lang="en-US" altLang="zh-CN" sz="1600" b="0" i="1" dirty="0" smtClean="0">
                                  <a:latin typeface="Cambria Math" panose="02040503050406030204" pitchFamily="18" charset="0"/>
                                  <a:ea typeface="Cambria Math" panose="02040503050406030204" pitchFamily="18" charset="0"/>
                                </a:rPr>
                                <m:t>)</m:t>
                              </m:r>
                            </m:oMath>
                          </a14:m>
                          <a:r>
                            <a:rPr lang="zh-CN" altLang="en-US" sz="1600" dirty="0"/>
                            <a:t> 每波长每立体角的通量</a:t>
                          </a:r>
                        </a:p>
                      </a:txBody>
                      <a:tcPr anchor="ctr"/>
                    </a:tc>
                    <a:tc>
                      <a:txBody>
                        <a:bodyPr/>
                        <a:lstStyle/>
                        <a:p>
                          <a:pPr algn="ctr"/>
                          <a:endParaRPr lang="zh-CN" altLang="en-US" sz="12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c>
                      <a:txBody>
                        <a:bodyPr/>
                        <a:lstStyle/>
                        <a:p>
                          <a:pPr algn="ctr"/>
                          <a:endParaRPr lang="zh-CN" altLang="en-US" sz="14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138610723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辐照度</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Irradiance</a:t>
                          </a:r>
                        </a:p>
                      </a:txBody>
                      <a:tcPr anchor="ctr"/>
                    </a:tc>
                    <a:tc>
                      <a:txBody>
                        <a:bodyPr/>
                        <a:lstStyle/>
                        <a:p>
                          <a:pPr algn="ctr"/>
                          <a14:m>
                            <m:oMath xmlns:m="http://schemas.openxmlformats.org/officeDocument/2006/math">
                              <m:r>
                                <a:rPr lang="en-US" altLang="zh-CN" sz="1600" i="1" dirty="0" smtClean="0">
                                  <a:latin typeface="Cambria Math" panose="02040503050406030204" pitchFamily="18" charset="0"/>
                                </a:rPr>
                                <m:t>𝑊</m:t>
                              </m:r>
                              <m:r>
                                <a:rPr lang="en-US" altLang="zh-CN" sz="1600" i="1" dirty="0" smtClean="0">
                                  <a:latin typeface="Cambria Math" panose="02040503050406030204" pitchFamily="18" charset="0"/>
                                </a:rPr>
                                <m:t>/</m:t>
                              </m:r>
                              <m:sSup>
                                <m:sSupPr>
                                  <m:ctrlPr>
                                    <a:rPr lang="en-US" altLang="zh-CN" sz="1600" b="0" i="1" dirty="0" smtClean="0">
                                      <a:latin typeface="Cambria Math" panose="02040503050406030204" pitchFamily="18" charset="0"/>
                                      <a:ea typeface="Cambria Math" panose="02040503050406030204" pitchFamily="18" charset="0"/>
                                    </a:rPr>
                                  </m:ctrlPr>
                                </m:sSupPr>
                                <m:e>
                                  <m:r>
                                    <a:rPr lang="en-US" altLang="zh-CN" sz="1600" b="0" i="1" dirty="0" smtClean="0">
                                      <a:latin typeface="Cambria Math" panose="02040503050406030204" pitchFamily="18" charset="0"/>
                                      <a:ea typeface="Cambria Math" panose="02040503050406030204" pitchFamily="18" charset="0"/>
                                    </a:rPr>
                                    <m:t>𝑚</m:t>
                                  </m:r>
                                </m:e>
                                <m:sup>
                                  <m:r>
                                    <a:rPr lang="en-US" altLang="zh-CN" sz="1600" b="0" i="1" dirty="0" smtClean="0">
                                      <a:latin typeface="Cambria Math" panose="02040503050406030204" pitchFamily="18" charset="0"/>
                                      <a:ea typeface="Cambria Math" panose="02040503050406030204" pitchFamily="18" charset="0"/>
                                    </a:rPr>
                                    <m:t>2</m:t>
                                  </m:r>
                                </m:sup>
                              </m:sSup>
                            </m:oMath>
                          </a14:m>
                          <a:r>
                            <a:rPr lang="zh-CN" altLang="en-US" sz="1600" dirty="0"/>
                            <a:t> 每平方米的通量</a:t>
                          </a:r>
                        </a:p>
                      </a:txBody>
                      <a:tcPr anchor="ctr"/>
                    </a:tc>
                    <a:tc>
                      <a:txBody>
                        <a:bodyPr/>
                        <a:lstStyle/>
                        <a:p>
                          <a:pPr algn="ctr"/>
                          <a:r>
                            <a:rPr lang="zh-CN" altLang="en-US" sz="1200" dirty="0">
                              <a:latin typeface="Noto Sans SC" panose="020B0200000000000000" pitchFamily="34" charset="-122"/>
                              <a:ea typeface="Noto Sans SC" panose="020B0200000000000000" pitchFamily="34" charset="-122"/>
                            </a:rPr>
                            <a:t>光照度</a:t>
                          </a:r>
                          <a:endParaRPr lang="en-US" altLang="zh-CN" sz="1200" dirty="0"/>
                        </a:p>
                        <a:p>
                          <a:pPr algn="ctr"/>
                          <a:r>
                            <a:rPr lang="en-US" altLang="zh-CN" sz="1200" dirty="0"/>
                            <a:t>I</a:t>
                          </a:r>
                          <a:r>
                            <a:rPr lang="zh-CN" altLang="zh-CN" sz="1200" dirty="0"/>
                            <a:t>lluminance</a:t>
                          </a:r>
                          <a:endParaRPr lang="zh-CN" altLang="en-US" sz="1200" dirty="0"/>
                        </a:p>
                      </a:txBody>
                      <a:tcPr anchor="ctr"/>
                    </a:tc>
                    <a:tc>
                      <a:txBody>
                        <a:bodyPr/>
                        <a:lstStyle/>
                        <a:p>
                          <a:pPr algn="ctr"/>
                          <a14:m>
                            <m:oMath xmlns:m="http://schemas.openxmlformats.org/officeDocument/2006/math">
                              <m:r>
                                <a:rPr lang="en-US" altLang="zh-CN" sz="1400" b="0" i="1" smtClean="0">
                                  <a:latin typeface="Cambria Math" panose="02040503050406030204" pitchFamily="18" charset="0"/>
                                </a:rPr>
                                <m:t>𝑙𝑚</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𝑚</m:t>
                                  </m:r>
                                </m:e>
                                <m:sup>
                                  <m:r>
                                    <a:rPr lang="en-US" altLang="zh-CN" sz="1400" b="0" i="1" smtClean="0">
                                      <a:latin typeface="Cambria Math" panose="02040503050406030204" pitchFamily="18" charset="0"/>
                                    </a:rPr>
                                    <m:t>2</m:t>
                                  </m:r>
                                </m:sup>
                              </m:sSup>
                            </m:oMath>
                          </a14:m>
                          <a:r>
                            <a:rPr lang="zh-CN" altLang="en-US" sz="1400" dirty="0"/>
                            <a:t>；</a:t>
                          </a:r>
                          <a14:m>
                            <m:oMath xmlns:m="http://schemas.openxmlformats.org/officeDocument/2006/math">
                              <m:r>
                                <a:rPr lang="en-US" altLang="zh-CN" sz="1400" b="0" i="1" dirty="0" smtClean="0">
                                  <a:latin typeface="Cambria Math" panose="02040503050406030204" pitchFamily="18" charset="0"/>
                                </a:rPr>
                                <m:t>𝑙𝑢𝑥</m:t>
                              </m:r>
                            </m:oMath>
                          </a14:m>
                          <a:r>
                            <a:rPr lang="en-US" altLang="zh-CN" sz="1400" dirty="0"/>
                            <a:t> </a:t>
                          </a:r>
                          <a:r>
                            <a:rPr lang="zh-CN" altLang="en-US" sz="1400" dirty="0"/>
                            <a:t>勒克斯</a:t>
                          </a:r>
                        </a:p>
                      </a:txBody>
                      <a:tcPr anchor="ctr"/>
                    </a:tc>
                    <a:extLst>
                      <a:ext uri="{0D108BD9-81ED-4DB2-BD59-A6C34878D82A}">
                        <a16:rowId xmlns:a16="http://schemas.microsoft.com/office/drawing/2014/main" val="29253712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光谱辐照度</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Spectral Irradiance</a:t>
                          </a:r>
                        </a:p>
                      </a:txBody>
                      <a:tcPr anchor="ctr"/>
                    </a:tc>
                    <a:tc>
                      <a:txBody>
                        <a:bodyPr/>
                        <a:lstStyle/>
                        <a:p>
                          <a:pPr algn="ctr"/>
                          <a14:m>
                            <m:oMath xmlns:m="http://schemas.openxmlformats.org/officeDocument/2006/math">
                              <m:r>
                                <a:rPr lang="en-US" altLang="zh-CN" sz="1600" i="1" dirty="0" smtClean="0">
                                  <a:latin typeface="Cambria Math" panose="02040503050406030204" pitchFamily="18" charset="0"/>
                                </a:rPr>
                                <m:t>𝑊</m:t>
                              </m:r>
                              <m:r>
                                <a:rPr lang="en-US" altLang="zh-CN" sz="1600" i="1" dirty="0" smtClean="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𝑚</m:t>
                                  </m:r>
                                </m:e>
                                <m:sup>
                                  <m:r>
                                    <a:rPr lang="en-US" altLang="zh-CN" sz="1600" b="0" i="1" dirty="0" smtClean="0">
                                      <a:latin typeface="Cambria Math" panose="02040503050406030204" pitchFamily="18" charset="0"/>
                                    </a:rPr>
                                    <m:t>2</m:t>
                                  </m:r>
                                </m:sup>
                              </m:sSup>
                              <m:r>
                                <a:rPr lang="en-US" altLang="zh-CN" sz="1600" b="0"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𝑛𝑚</m:t>
                              </m:r>
                              <m:r>
                                <a:rPr lang="en-US" altLang="zh-CN" sz="1600" b="0" i="1" dirty="0" smtClean="0">
                                  <a:latin typeface="Cambria Math" panose="02040503050406030204" pitchFamily="18" charset="0"/>
                                  <a:ea typeface="Cambria Math" panose="02040503050406030204" pitchFamily="18" charset="0"/>
                                </a:rPr>
                                <m:t>)</m:t>
                              </m:r>
                            </m:oMath>
                          </a14:m>
                          <a:r>
                            <a:rPr lang="zh-CN" altLang="en-US" sz="1600" dirty="0"/>
                            <a:t> 每波长每平方米的通量</a:t>
                          </a:r>
                        </a:p>
                      </a:txBody>
                      <a:tcPr anchor="ctr"/>
                    </a:tc>
                    <a:tc>
                      <a:txBody>
                        <a:bodyPr/>
                        <a:lstStyle/>
                        <a:p>
                          <a:pPr algn="ctr"/>
                          <a:endParaRPr lang="zh-CN" altLang="en-US" sz="12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c>
                      <a:txBody>
                        <a:bodyPr/>
                        <a:lstStyle/>
                        <a:p>
                          <a:pPr algn="ctr"/>
                          <a:endParaRPr lang="zh-CN" altLang="en-US" sz="14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135724496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辐射率</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Radiance</a:t>
                          </a:r>
                        </a:p>
                      </a:txBody>
                      <a:tcPr anchor="ctr"/>
                    </a:tc>
                    <a:tc>
                      <a:txBody>
                        <a:bodyPr/>
                        <a:lstStyle/>
                        <a:p>
                          <a:pPr algn="ctr"/>
                          <a14:m>
                            <m:oMath xmlns:m="http://schemas.openxmlformats.org/officeDocument/2006/math">
                              <m:r>
                                <a:rPr lang="en-US" altLang="zh-CN" sz="1600" i="1" dirty="0" smtClean="0">
                                  <a:latin typeface="Cambria Math" panose="02040503050406030204" pitchFamily="18" charset="0"/>
                                </a:rPr>
                                <m:t>𝑊</m:t>
                              </m:r>
                              <m:r>
                                <a:rPr lang="en-US" altLang="zh-CN" sz="1600" i="1" dirty="0" smtClean="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𝑚</m:t>
                                  </m:r>
                                </m:e>
                                <m:sup>
                                  <m:r>
                                    <a:rPr lang="en-US" altLang="zh-CN" sz="1600" b="0" i="1" dirty="0" smtClean="0">
                                      <a:latin typeface="Cambria Math" panose="02040503050406030204" pitchFamily="18" charset="0"/>
                                    </a:rPr>
                                    <m:t>2</m:t>
                                  </m:r>
                                </m:sup>
                              </m:sSup>
                              <m:r>
                                <a:rPr lang="en-US" altLang="zh-CN" sz="1600" b="0"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𝑠𝑟</m:t>
                              </m:r>
                              <m:r>
                                <a:rPr lang="en-US" altLang="zh-CN" sz="1600" b="0" i="1" dirty="0" smtClean="0">
                                  <a:latin typeface="Cambria Math" panose="02040503050406030204" pitchFamily="18" charset="0"/>
                                  <a:ea typeface="Cambria Math" panose="02040503050406030204" pitchFamily="18" charset="0"/>
                                </a:rPr>
                                <m:t>)</m:t>
                              </m:r>
                            </m:oMath>
                          </a14:m>
                          <a:r>
                            <a:rPr lang="zh-CN" altLang="en-US" sz="1600" dirty="0"/>
                            <a:t> 每单位投影面积每立体角的通量</a:t>
                          </a:r>
                        </a:p>
                      </a:txBody>
                      <a:tcPr anchor="ctr"/>
                    </a:tc>
                    <a:tc>
                      <a:txBody>
                        <a:bodyPr/>
                        <a:lstStyle/>
                        <a:p>
                          <a:pPr algn="ctr"/>
                          <a:r>
                            <a:rPr lang="zh-CN" altLang="en-US" sz="1200" dirty="0">
                              <a:latin typeface="Noto Sans SC" panose="020B0200000000000000" pitchFamily="34" charset="-122"/>
                              <a:ea typeface="Noto Sans SC" panose="020B0200000000000000" pitchFamily="34" charset="-122"/>
                            </a:rPr>
                            <a:t>光亮度</a:t>
                          </a:r>
                          <a:endParaRPr lang="en-US" altLang="zh-CN" sz="1200" dirty="0"/>
                        </a:p>
                        <a:p>
                          <a:pPr algn="ctr"/>
                          <a:r>
                            <a:rPr lang="en-US" altLang="zh-CN" sz="1200" dirty="0"/>
                            <a:t>L</a:t>
                          </a:r>
                          <a:r>
                            <a:rPr lang="zh-CN" altLang="zh-CN" sz="1200" dirty="0"/>
                            <a:t>uminance</a:t>
                          </a:r>
                          <a:endParaRPr lang="en-US" altLang="zh-CN" sz="1200" dirty="0"/>
                        </a:p>
                      </a:txBody>
                      <a:tcPr anchor="ctr"/>
                    </a:tc>
                    <a:tc>
                      <a:txBody>
                        <a:bodyPr/>
                        <a:lstStyle/>
                        <a:p>
                          <a:pPr algn="ctr"/>
                          <a14:m>
                            <m:oMath xmlns:m="http://schemas.openxmlformats.org/officeDocument/2006/math">
                              <m:r>
                                <a:rPr lang="en-US" altLang="zh-CN" sz="1400" b="0" i="1" smtClean="0">
                                  <a:latin typeface="Cambria Math" panose="02040503050406030204" pitchFamily="18" charset="0"/>
                                </a:rPr>
                                <m:t>𝑙𝑚</m:t>
                              </m:r>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𝑚</m:t>
                                  </m:r>
                                </m:e>
                                <m:sup>
                                  <m:r>
                                    <a:rPr lang="en-US" altLang="zh-CN" sz="1400" b="0" i="1" smtClean="0">
                                      <a:latin typeface="Cambria Math" panose="02040503050406030204" pitchFamily="18" charset="0"/>
                                    </a:rPr>
                                    <m:t>2</m:t>
                                  </m:r>
                                </m:sup>
                              </m:sSup>
                              <m:r>
                                <a:rPr lang="en-US" altLang="zh-CN" sz="1400" b="0" i="1" dirty="0" smtClean="0">
                                  <a:latin typeface="Cambria Math" panose="02040503050406030204" pitchFamily="18" charset="0"/>
                                  <a:ea typeface="Cambria Math" panose="02040503050406030204" pitchFamily="18" charset="0"/>
                                </a:rPr>
                                <m:t>∙</m:t>
                              </m:r>
                              <m:r>
                                <a:rPr lang="en-US" altLang="zh-CN" sz="1400" b="0" i="1" dirty="0" smtClean="0">
                                  <a:latin typeface="Cambria Math" panose="02040503050406030204" pitchFamily="18" charset="0"/>
                                  <a:ea typeface="Cambria Math" panose="02040503050406030204" pitchFamily="18" charset="0"/>
                                </a:rPr>
                                <m:t>𝑠𝑟</m:t>
                              </m:r>
                              <m:r>
                                <a:rPr lang="en-US" altLang="zh-CN" sz="1400" b="0" i="1" smtClean="0">
                                  <a:latin typeface="Cambria Math" panose="02040503050406030204" pitchFamily="18" charset="0"/>
                                </a:rPr>
                                <m:t>)</m:t>
                              </m:r>
                            </m:oMath>
                          </a14:m>
                          <a:r>
                            <a:rPr lang="zh-CN" altLang="en-US" sz="1400" dirty="0"/>
                            <a:t>；</a:t>
                          </a:r>
                          <a14:m>
                            <m:oMath xmlns:m="http://schemas.openxmlformats.org/officeDocument/2006/math">
                              <m:r>
                                <m:rPr>
                                  <m:sty m:val="p"/>
                                </m:rPr>
                                <a:rPr lang="en-US" altLang="zh-CN" sz="1400" b="0" i="1" dirty="0" smtClean="0">
                                  <a:latin typeface="Cambria Math" panose="02040503050406030204" pitchFamily="18" charset="0"/>
                                </a:rPr>
                                <m:t>nit</m:t>
                              </m:r>
                            </m:oMath>
                          </a14:m>
                          <a:r>
                            <a:rPr lang="zh-CN" altLang="en-US" sz="1400" dirty="0"/>
                            <a:t> 尼特</a:t>
                          </a:r>
                        </a:p>
                      </a:txBody>
                      <a:tcPr anchor="ctr"/>
                    </a:tc>
                    <a:extLst>
                      <a:ext uri="{0D108BD9-81ED-4DB2-BD59-A6C34878D82A}">
                        <a16:rowId xmlns:a16="http://schemas.microsoft.com/office/drawing/2014/main" val="1210954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光谱辐射率</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Spectral Radiance</a:t>
                          </a:r>
                          <a:endParaRPr lang="zh-CN" altLang="en-US" sz="1200" dirty="0"/>
                        </a:p>
                      </a:txBody>
                      <a:tcPr anchor="ctr"/>
                    </a:tc>
                    <a:tc>
                      <a:txBody>
                        <a:bodyPr/>
                        <a:lstStyle/>
                        <a:p>
                          <a:pPr algn="ctr"/>
                          <a14:m>
                            <m:oMath xmlns:m="http://schemas.openxmlformats.org/officeDocument/2006/math">
                              <m:r>
                                <a:rPr lang="en-US" altLang="zh-CN" sz="1600" i="1" dirty="0" smtClean="0">
                                  <a:latin typeface="Cambria Math" panose="02040503050406030204" pitchFamily="18" charset="0"/>
                                </a:rPr>
                                <m:t>𝑊</m:t>
                              </m:r>
                              <m:r>
                                <a:rPr lang="en-US" altLang="zh-CN" sz="1600" i="1" dirty="0" smtClean="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𝑚</m:t>
                                  </m:r>
                                </m:e>
                                <m:sup>
                                  <m:r>
                                    <a:rPr lang="en-US" altLang="zh-CN" sz="1600" b="0" i="1" dirty="0" smtClean="0">
                                      <a:latin typeface="Cambria Math" panose="02040503050406030204" pitchFamily="18" charset="0"/>
                                    </a:rPr>
                                    <m:t>2</m:t>
                                  </m:r>
                                </m:sup>
                              </m:sSup>
                              <m:r>
                                <a:rPr lang="en-US" altLang="zh-CN" sz="1600" b="0"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𝑠𝑟</m:t>
                              </m:r>
                              <m:r>
                                <a:rPr lang="en-US" altLang="zh-CN" sz="1600" b="0"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𝑛𝑚</m:t>
                              </m:r>
                              <m:r>
                                <a:rPr lang="en-US" altLang="zh-CN" sz="1600" b="0" i="1" dirty="0" smtClean="0">
                                  <a:latin typeface="Cambria Math" panose="02040503050406030204" pitchFamily="18" charset="0"/>
                                  <a:ea typeface="Cambria Math" panose="02040503050406030204" pitchFamily="18" charset="0"/>
                                </a:rPr>
                                <m:t>)</m:t>
                              </m:r>
                            </m:oMath>
                          </a14:m>
                          <a:r>
                            <a:rPr lang="zh-CN" altLang="en-US" sz="1600" dirty="0"/>
                            <a:t> 每波长每单位投影面积每立体角的通量</a:t>
                          </a:r>
                        </a:p>
                      </a:txBody>
                      <a:tcPr anchor="ctr"/>
                    </a:tc>
                    <a:tc>
                      <a:txBody>
                        <a:bodyPr/>
                        <a:lstStyle/>
                        <a:p>
                          <a:pPr algn="ctr"/>
                          <a:endParaRPr lang="zh-CN" altLang="en-US" sz="12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c>
                      <a:txBody>
                        <a:bodyPr/>
                        <a:lstStyle/>
                        <a:p>
                          <a:pPr algn="ctr"/>
                          <a:endParaRPr lang="zh-CN" altLang="en-US" sz="14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1049061296"/>
                      </a:ext>
                    </a:extLst>
                  </a:tr>
                </a:tbl>
              </a:graphicData>
            </a:graphic>
          </p:graphicFrame>
        </mc:Choice>
        <mc:Fallback xmlns="">
          <p:graphicFrame>
            <p:nvGraphicFramePr>
              <p:cNvPr id="2" name="表格 1">
                <a:extLst>
                  <a:ext uri="{FF2B5EF4-FFF2-40B4-BE49-F238E27FC236}">
                    <a16:creationId xmlns:a16="http://schemas.microsoft.com/office/drawing/2014/main" id="{C88F05C4-7323-6829-B73A-D7A033A40B05}"/>
                  </a:ext>
                </a:extLst>
              </p:cNvPr>
              <p:cNvGraphicFramePr>
                <a:graphicFrameLocks noGrp="1"/>
              </p:cNvGraphicFramePr>
              <p:nvPr>
                <p:extLst>
                  <p:ext uri="{D42A27DB-BD31-4B8C-83A1-F6EECF244321}">
                    <p14:modId xmlns:p14="http://schemas.microsoft.com/office/powerpoint/2010/main" val="4074966702"/>
                  </p:ext>
                </p:extLst>
              </p:nvPr>
            </p:nvGraphicFramePr>
            <p:xfrm>
              <a:off x="208244" y="1805786"/>
              <a:ext cx="11775511" cy="4150360"/>
            </p:xfrm>
            <a:graphic>
              <a:graphicData uri="http://schemas.openxmlformats.org/drawingml/2006/table">
                <a:tbl>
                  <a:tblPr firstRow="1" bandRow="1">
                    <a:tableStyleId>{5C22544A-7EE6-4342-B048-85BDC9FD1C3A}</a:tableStyleId>
                  </a:tblPr>
                  <a:tblGrid>
                    <a:gridCol w="2301770">
                      <a:extLst>
                        <a:ext uri="{9D8B030D-6E8A-4147-A177-3AD203B41FA5}">
                          <a16:colId xmlns:a16="http://schemas.microsoft.com/office/drawing/2014/main" val="492112646"/>
                        </a:ext>
                      </a:extLst>
                    </a:gridCol>
                    <a:gridCol w="5506644">
                      <a:extLst>
                        <a:ext uri="{9D8B030D-6E8A-4147-A177-3AD203B41FA5}">
                          <a16:colId xmlns:a16="http://schemas.microsoft.com/office/drawing/2014/main" val="2263870027"/>
                        </a:ext>
                      </a:extLst>
                    </a:gridCol>
                    <a:gridCol w="2314802">
                      <a:extLst>
                        <a:ext uri="{9D8B030D-6E8A-4147-A177-3AD203B41FA5}">
                          <a16:colId xmlns:a16="http://schemas.microsoft.com/office/drawing/2014/main" val="4035952159"/>
                        </a:ext>
                      </a:extLst>
                    </a:gridCol>
                    <a:gridCol w="1652295">
                      <a:extLst>
                        <a:ext uri="{9D8B030D-6E8A-4147-A177-3AD203B41FA5}">
                          <a16:colId xmlns:a16="http://schemas.microsoft.com/office/drawing/2014/main" val="526956734"/>
                        </a:ext>
                      </a:extLst>
                    </a:gridCol>
                  </a:tblGrid>
                  <a:tr h="370840">
                    <a:tc>
                      <a:txBody>
                        <a:bodyPr/>
                        <a:lstStyle/>
                        <a:p>
                          <a:pPr algn="ctr"/>
                          <a:r>
                            <a:rPr lang="zh-CN" altLang="en-US" sz="1800" dirty="0">
                              <a:latin typeface="Noto Sans SC" panose="020B0200000000000000" pitchFamily="34" charset="-122"/>
                              <a:ea typeface="Noto Sans SC" panose="020B0200000000000000" pitchFamily="34" charset="-122"/>
                            </a:rPr>
                            <a:t>物理名称</a:t>
                          </a:r>
                        </a:p>
                      </a:txBody>
                      <a:tcPr anchor="ctr"/>
                    </a:tc>
                    <a:tc>
                      <a:txBody>
                        <a:bodyPr/>
                        <a:lstStyle/>
                        <a:p>
                          <a:pPr algn="ctr"/>
                          <a:r>
                            <a:rPr lang="zh-CN" altLang="en-US" sz="1800" dirty="0">
                              <a:latin typeface="Noto Sans SC" panose="020B0200000000000000" pitchFamily="34" charset="-122"/>
                              <a:ea typeface="Noto Sans SC" panose="020B0200000000000000" pitchFamily="34" charset="-122"/>
                            </a:rPr>
                            <a:t>物理能量</a:t>
                          </a:r>
                        </a:p>
                      </a:txBody>
                      <a:tcPr anchor="ctr"/>
                    </a:tc>
                    <a:tc>
                      <a:txBody>
                        <a:bodyPr/>
                        <a:lstStyle/>
                        <a:p>
                          <a:pPr algn="ctr"/>
                          <a:r>
                            <a:rPr lang="zh-CN" altLang="en-US" sz="1800" dirty="0">
                              <a:latin typeface="Noto Sans SC" panose="020B0200000000000000" pitchFamily="34" charset="-122"/>
                              <a:ea typeface="Noto Sans SC" panose="020B0200000000000000" pitchFamily="34" charset="-122"/>
                            </a:rPr>
                            <a:t>光度量名称</a:t>
                          </a:r>
                        </a:p>
                      </a:txBody>
                      <a:tcPr anchor="ctr"/>
                    </a:tc>
                    <a:tc>
                      <a:txBody>
                        <a:bodyPr/>
                        <a:lstStyle/>
                        <a:p>
                          <a:pPr algn="ctr"/>
                          <a:r>
                            <a:rPr lang="zh-CN" altLang="en-US" sz="1800" dirty="0">
                              <a:latin typeface="Noto Sans SC" panose="020B0200000000000000" pitchFamily="34" charset="-122"/>
                              <a:ea typeface="Noto Sans SC" panose="020B0200000000000000" pitchFamily="34" charset="-122"/>
                            </a:rPr>
                            <a:t>光度量</a:t>
                          </a:r>
                        </a:p>
                      </a:txBody>
                      <a:tcPr anchor="ctr"/>
                    </a:tc>
                    <a:extLst>
                      <a:ext uri="{0D108BD9-81ED-4DB2-BD59-A6C34878D82A}">
                        <a16:rowId xmlns:a16="http://schemas.microsoft.com/office/drawing/2014/main" val="1906825309"/>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辐射能量</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Radiant Energy</a:t>
                          </a:r>
                        </a:p>
                      </a:txBody>
                      <a:tcPr anchor="ctr"/>
                    </a:tc>
                    <a:tc>
                      <a:txBody>
                        <a:bodyPr/>
                        <a:lstStyle/>
                        <a:p>
                          <a:endParaRPr lang="zh-CN"/>
                        </a:p>
                      </a:txBody>
                      <a:tcPr anchor="ctr">
                        <a:blipFill>
                          <a:blip r:embed="rId2"/>
                          <a:stretch>
                            <a:fillRect l="-41971" t="-88000" r="-72647" b="-737333"/>
                          </a:stretch>
                        </a:blipFill>
                      </a:tcPr>
                    </a:tc>
                    <a:tc>
                      <a:txBody>
                        <a:bodyPr/>
                        <a:lstStyle/>
                        <a:p>
                          <a:pPr algn="ctr"/>
                          <a:endParaRPr lang="zh-CN" altLang="en-US" sz="12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c>
                      <a:txBody>
                        <a:bodyPr/>
                        <a:lstStyle/>
                        <a:p>
                          <a:pPr algn="ctr"/>
                          <a:r>
                            <a:rPr lang="en-US" altLang="zh-CN" sz="1400" dirty="0">
                              <a:latin typeface="Noto Sans SC" panose="020B0200000000000000" pitchFamily="34" charset="-122"/>
                              <a:ea typeface="Noto Sans SC" panose="020B0200000000000000" pitchFamily="34" charset="-122"/>
                            </a:rPr>
                            <a:t> </a:t>
                          </a:r>
                          <a:endParaRPr lang="zh-CN" altLang="en-US" sz="1400" dirty="0"/>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262148291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辐射通量</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Radiant Flux</a:t>
                          </a:r>
                        </a:p>
                      </a:txBody>
                      <a:tcPr anchor="ctr"/>
                    </a:tc>
                    <a:tc>
                      <a:txBody>
                        <a:bodyPr/>
                        <a:lstStyle/>
                        <a:p>
                          <a:endParaRPr lang="zh-CN"/>
                        </a:p>
                      </a:txBody>
                      <a:tcPr anchor="ctr">
                        <a:blipFill>
                          <a:blip r:embed="rId2"/>
                          <a:stretch>
                            <a:fillRect l="-41971" t="-188000" r="-72647" b="-637333"/>
                          </a:stretch>
                        </a:blipFill>
                      </a:tcPr>
                    </a:tc>
                    <a:tc>
                      <a:txBody>
                        <a:bodyPr/>
                        <a:lstStyle/>
                        <a:p>
                          <a:pPr algn="ctr"/>
                          <a:r>
                            <a:rPr lang="zh-CN" altLang="en-US" sz="1200" dirty="0">
                              <a:latin typeface="Noto Sans SC" panose="020B0200000000000000" pitchFamily="34" charset="-122"/>
                              <a:ea typeface="Noto Sans SC" panose="020B0200000000000000" pitchFamily="34" charset="-122"/>
                            </a:rPr>
                            <a:t>光通量</a:t>
                          </a:r>
                          <a:endParaRPr lang="en-US" altLang="zh-CN" sz="1200" dirty="0"/>
                        </a:p>
                        <a:p>
                          <a:pPr algn="ctr"/>
                          <a:r>
                            <a:rPr lang="en-US" altLang="zh-CN" sz="1200" dirty="0"/>
                            <a:t>L</a:t>
                          </a:r>
                          <a:r>
                            <a:rPr lang="zh-CN" altLang="zh-CN" sz="1200" dirty="0"/>
                            <a:t>uminous </a:t>
                          </a:r>
                          <a:r>
                            <a:rPr lang="en-US" altLang="zh-CN" sz="1200" dirty="0"/>
                            <a:t>F</a:t>
                          </a:r>
                          <a:r>
                            <a:rPr lang="zh-CN" altLang="zh-CN" sz="1200" dirty="0"/>
                            <a:t>lux</a:t>
                          </a:r>
                          <a:endParaRPr lang="zh-CN" altLang="en-US" sz="1200" dirty="0"/>
                        </a:p>
                      </a:txBody>
                      <a:tcPr anchor="ctr"/>
                    </a:tc>
                    <a:tc>
                      <a:txBody>
                        <a:bodyPr/>
                        <a:lstStyle/>
                        <a:p>
                          <a:endParaRPr lang="zh-CN"/>
                        </a:p>
                      </a:txBody>
                      <a:tcPr anchor="ctr">
                        <a:blipFill>
                          <a:blip r:embed="rId2"/>
                          <a:stretch>
                            <a:fillRect l="-613284" t="-188000" r="-1845" b="-637333"/>
                          </a:stretch>
                        </a:blipFill>
                      </a:tcPr>
                    </a:tc>
                    <a:extLst>
                      <a:ext uri="{0D108BD9-81ED-4DB2-BD59-A6C34878D82A}">
                        <a16:rowId xmlns:a16="http://schemas.microsoft.com/office/drawing/2014/main" val="1674866889"/>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辐射强度 </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dirty="0"/>
                            <a:t>Radiant </a:t>
                          </a:r>
                          <a:r>
                            <a:rPr lang="en-US" altLang="zh-CN" sz="1200" dirty="0"/>
                            <a:t>Intensity</a:t>
                          </a:r>
                        </a:p>
                      </a:txBody>
                      <a:tcPr anchor="ctr"/>
                    </a:tc>
                    <a:tc>
                      <a:txBody>
                        <a:bodyPr/>
                        <a:lstStyle/>
                        <a:p>
                          <a:endParaRPr lang="zh-CN"/>
                        </a:p>
                      </a:txBody>
                      <a:tcPr anchor="ctr">
                        <a:blipFill>
                          <a:blip r:embed="rId2"/>
                          <a:stretch>
                            <a:fillRect l="-41971" t="-288000" r="-72647" b="-537333"/>
                          </a:stretch>
                        </a:blipFill>
                      </a:tcPr>
                    </a:tc>
                    <a:tc>
                      <a:txBody>
                        <a:bodyPr/>
                        <a:lstStyle/>
                        <a:p>
                          <a:pPr algn="ctr"/>
                          <a:r>
                            <a:rPr lang="zh-CN" altLang="en-US" sz="1200" dirty="0">
                              <a:latin typeface="Noto Sans SC" panose="020B0200000000000000" pitchFamily="34" charset="-122"/>
                              <a:ea typeface="Noto Sans SC" panose="020B0200000000000000" pitchFamily="34" charset="-122"/>
                            </a:rPr>
                            <a:t>发光强度</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L</a:t>
                          </a:r>
                          <a:r>
                            <a:rPr lang="zh-CN" altLang="zh-CN" sz="1200" dirty="0"/>
                            <a:t>uminous </a:t>
                          </a:r>
                          <a:r>
                            <a:rPr lang="en-US" altLang="zh-CN" sz="1200" dirty="0"/>
                            <a:t>Intensity</a:t>
                          </a:r>
                          <a:endParaRPr lang="zh-CN" altLang="en-US" sz="1200" dirty="0"/>
                        </a:p>
                      </a:txBody>
                      <a:tcPr anchor="ctr"/>
                    </a:tc>
                    <a:tc>
                      <a:txBody>
                        <a:bodyPr/>
                        <a:lstStyle/>
                        <a:p>
                          <a:endParaRPr lang="zh-CN"/>
                        </a:p>
                      </a:txBody>
                      <a:tcPr anchor="ctr">
                        <a:blipFill>
                          <a:blip r:embed="rId2"/>
                          <a:stretch>
                            <a:fillRect l="-613284" t="-288000" r="-1845" b="-537333"/>
                          </a:stretch>
                        </a:blipFill>
                      </a:tcPr>
                    </a:tc>
                    <a:extLst>
                      <a:ext uri="{0D108BD9-81ED-4DB2-BD59-A6C34878D82A}">
                        <a16:rowId xmlns:a16="http://schemas.microsoft.com/office/drawing/2014/main" val="258467112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光谱强度</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Spectral Intensity</a:t>
                          </a:r>
                        </a:p>
                      </a:txBody>
                      <a:tcPr anchor="ctr"/>
                    </a:tc>
                    <a:tc>
                      <a:txBody>
                        <a:bodyPr/>
                        <a:lstStyle/>
                        <a:p>
                          <a:endParaRPr lang="zh-CN"/>
                        </a:p>
                      </a:txBody>
                      <a:tcPr anchor="ctr">
                        <a:blipFill>
                          <a:blip r:embed="rId2"/>
                          <a:stretch>
                            <a:fillRect l="-41971" t="-388000" r="-72647" b="-437333"/>
                          </a:stretch>
                        </a:blipFill>
                      </a:tcPr>
                    </a:tc>
                    <a:tc>
                      <a:txBody>
                        <a:bodyPr/>
                        <a:lstStyle/>
                        <a:p>
                          <a:pPr algn="ctr"/>
                          <a:endParaRPr lang="zh-CN" altLang="en-US" sz="12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c>
                      <a:txBody>
                        <a:bodyPr/>
                        <a:lstStyle/>
                        <a:p>
                          <a:pPr algn="ctr"/>
                          <a:endParaRPr lang="zh-CN" altLang="en-US" sz="14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1386107235"/>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辐照度</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Irradiance</a:t>
                          </a:r>
                        </a:p>
                      </a:txBody>
                      <a:tcPr anchor="ctr"/>
                    </a:tc>
                    <a:tc>
                      <a:txBody>
                        <a:bodyPr/>
                        <a:lstStyle/>
                        <a:p>
                          <a:endParaRPr lang="zh-CN"/>
                        </a:p>
                      </a:txBody>
                      <a:tcPr anchor="ctr">
                        <a:blipFill>
                          <a:blip r:embed="rId2"/>
                          <a:stretch>
                            <a:fillRect l="-41971" t="-425581" r="-72647" b="-281395"/>
                          </a:stretch>
                        </a:blipFill>
                      </a:tcPr>
                    </a:tc>
                    <a:tc>
                      <a:txBody>
                        <a:bodyPr/>
                        <a:lstStyle/>
                        <a:p>
                          <a:pPr algn="ctr"/>
                          <a:r>
                            <a:rPr lang="zh-CN" altLang="en-US" sz="1200" dirty="0">
                              <a:latin typeface="Noto Sans SC" panose="020B0200000000000000" pitchFamily="34" charset="-122"/>
                              <a:ea typeface="Noto Sans SC" panose="020B0200000000000000" pitchFamily="34" charset="-122"/>
                            </a:rPr>
                            <a:t>光照度</a:t>
                          </a:r>
                          <a:endParaRPr lang="en-US" altLang="zh-CN" sz="1200" dirty="0"/>
                        </a:p>
                        <a:p>
                          <a:pPr algn="ctr"/>
                          <a:r>
                            <a:rPr lang="en-US" altLang="zh-CN" sz="1200" dirty="0"/>
                            <a:t>I</a:t>
                          </a:r>
                          <a:r>
                            <a:rPr lang="zh-CN" altLang="zh-CN" sz="1200" dirty="0"/>
                            <a:t>lluminance</a:t>
                          </a:r>
                          <a:endParaRPr lang="zh-CN" altLang="en-US" sz="1200" dirty="0"/>
                        </a:p>
                      </a:txBody>
                      <a:tcPr anchor="ctr"/>
                    </a:tc>
                    <a:tc>
                      <a:txBody>
                        <a:bodyPr/>
                        <a:lstStyle/>
                        <a:p>
                          <a:endParaRPr lang="zh-CN"/>
                        </a:p>
                      </a:txBody>
                      <a:tcPr anchor="ctr">
                        <a:blipFill>
                          <a:blip r:embed="rId2"/>
                          <a:stretch>
                            <a:fillRect l="-613284" t="-425581" r="-1845" b="-281395"/>
                          </a:stretch>
                        </a:blipFill>
                      </a:tcPr>
                    </a:tc>
                    <a:extLst>
                      <a:ext uri="{0D108BD9-81ED-4DB2-BD59-A6C34878D82A}">
                        <a16:rowId xmlns:a16="http://schemas.microsoft.com/office/drawing/2014/main" val="292537129"/>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光谱辐照度</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Spectral Irradiance</a:t>
                          </a:r>
                        </a:p>
                      </a:txBody>
                      <a:tcPr anchor="ctr"/>
                    </a:tc>
                    <a:tc>
                      <a:txBody>
                        <a:bodyPr/>
                        <a:lstStyle/>
                        <a:p>
                          <a:endParaRPr lang="zh-CN"/>
                        </a:p>
                      </a:txBody>
                      <a:tcPr anchor="ctr">
                        <a:blipFill>
                          <a:blip r:embed="rId2"/>
                          <a:stretch>
                            <a:fillRect l="-41971" t="-602667" r="-72647" b="-222667"/>
                          </a:stretch>
                        </a:blipFill>
                      </a:tcPr>
                    </a:tc>
                    <a:tc>
                      <a:txBody>
                        <a:bodyPr/>
                        <a:lstStyle/>
                        <a:p>
                          <a:pPr algn="ctr"/>
                          <a:endParaRPr lang="zh-CN" altLang="en-US" sz="12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c>
                      <a:txBody>
                        <a:bodyPr/>
                        <a:lstStyle/>
                        <a:p>
                          <a:pPr algn="ctr"/>
                          <a:endParaRPr lang="zh-CN" altLang="en-US" sz="14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1357244966"/>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辐射率</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Radiance</a:t>
                          </a:r>
                        </a:p>
                      </a:txBody>
                      <a:tcPr anchor="ctr"/>
                    </a:tc>
                    <a:tc>
                      <a:txBody>
                        <a:bodyPr/>
                        <a:lstStyle/>
                        <a:p>
                          <a:endParaRPr lang="zh-CN"/>
                        </a:p>
                      </a:txBody>
                      <a:tcPr anchor="ctr">
                        <a:blipFill>
                          <a:blip r:embed="rId2"/>
                          <a:stretch>
                            <a:fillRect l="-41971" t="-620000" r="-72647" b="-96471"/>
                          </a:stretch>
                        </a:blipFill>
                      </a:tcPr>
                    </a:tc>
                    <a:tc>
                      <a:txBody>
                        <a:bodyPr/>
                        <a:lstStyle/>
                        <a:p>
                          <a:pPr algn="ctr"/>
                          <a:r>
                            <a:rPr lang="zh-CN" altLang="en-US" sz="1200" dirty="0">
                              <a:latin typeface="Noto Sans SC" panose="020B0200000000000000" pitchFamily="34" charset="-122"/>
                              <a:ea typeface="Noto Sans SC" panose="020B0200000000000000" pitchFamily="34" charset="-122"/>
                            </a:rPr>
                            <a:t>光亮度</a:t>
                          </a:r>
                          <a:endParaRPr lang="en-US" altLang="zh-CN" sz="1200" dirty="0"/>
                        </a:p>
                        <a:p>
                          <a:pPr algn="ctr"/>
                          <a:r>
                            <a:rPr lang="en-US" altLang="zh-CN" sz="1200" dirty="0"/>
                            <a:t>L</a:t>
                          </a:r>
                          <a:r>
                            <a:rPr lang="zh-CN" altLang="zh-CN" sz="1200" dirty="0"/>
                            <a:t>uminance</a:t>
                          </a:r>
                          <a:endParaRPr lang="en-US" altLang="zh-CN" sz="1200" dirty="0"/>
                        </a:p>
                      </a:txBody>
                      <a:tcPr anchor="ctr"/>
                    </a:tc>
                    <a:tc>
                      <a:txBody>
                        <a:bodyPr/>
                        <a:lstStyle/>
                        <a:p>
                          <a:endParaRPr lang="zh-CN"/>
                        </a:p>
                      </a:txBody>
                      <a:tcPr anchor="ctr">
                        <a:blipFill>
                          <a:blip r:embed="rId2"/>
                          <a:stretch>
                            <a:fillRect l="-613284" t="-620000" r="-1845" b="-96471"/>
                          </a:stretch>
                        </a:blipFill>
                      </a:tcPr>
                    </a:tc>
                    <a:extLst>
                      <a:ext uri="{0D108BD9-81ED-4DB2-BD59-A6C34878D82A}">
                        <a16:rowId xmlns:a16="http://schemas.microsoft.com/office/drawing/2014/main" val="1210954001"/>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latin typeface="Noto Sans SC" panose="020B0200000000000000" pitchFamily="34" charset="-122"/>
                              <a:ea typeface="Noto Sans SC" panose="020B0200000000000000" pitchFamily="34" charset="-122"/>
                            </a:rPr>
                            <a:t>光谱辐射率</a:t>
                          </a:r>
                          <a:endParaRPr lang="en-US" altLang="zh-CN" sz="12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Spectral Radiance</a:t>
                          </a:r>
                          <a:endParaRPr lang="zh-CN" altLang="en-US" sz="1200" dirty="0"/>
                        </a:p>
                      </a:txBody>
                      <a:tcPr anchor="ctr"/>
                    </a:tc>
                    <a:tc>
                      <a:txBody>
                        <a:bodyPr/>
                        <a:lstStyle/>
                        <a:p>
                          <a:endParaRPr lang="zh-CN"/>
                        </a:p>
                      </a:txBody>
                      <a:tcPr anchor="ctr">
                        <a:blipFill>
                          <a:blip r:embed="rId2"/>
                          <a:stretch>
                            <a:fillRect l="-41971" t="-816000" r="-72647" b="-9333"/>
                          </a:stretch>
                        </a:blipFill>
                      </a:tcPr>
                    </a:tc>
                    <a:tc>
                      <a:txBody>
                        <a:bodyPr/>
                        <a:lstStyle/>
                        <a:p>
                          <a:pPr algn="ctr"/>
                          <a:endParaRPr lang="zh-CN" altLang="en-US" sz="12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c>
                      <a:txBody>
                        <a:bodyPr/>
                        <a:lstStyle/>
                        <a:p>
                          <a:pPr algn="ctr"/>
                          <a:endParaRPr lang="zh-CN" altLang="en-US" sz="1400" dirty="0">
                            <a:latin typeface="Noto Sans SC" panose="020B0200000000000000" pitchFamily="34" charset="-122"/>
                            <a:ea typeface="Noto Sans SC" panose="020B0200000000000000" pitchFamily="34" charset="-122"/>
                          </a:endParaRPr>
                        </a:p>
                      </a:txBody>
                      <a:tcPr anchor="ctr">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1049061296"/>
                      </a:ext>
                    </a:extLst>
                  </a:tr>
                </a:tbl>
              </a:graphicData>
            </a:graphic>
          </p:graphicFrame>
        </mc:Fallback>
      </mc:AlternateContent>
      <p:sp>
        <p:nvSpPr>
          <p:cNvPr id="4" name="文本框 3">
            <a:extLst>
              <a:ext uri="{FF2B5EF4-FFF2-40B4-BE49-F238E27FC236}">
                <a16:creationId xmlns:a16="http://schemas.microsoft.com/office/drawing/2014/main" id="{C4E14BD2-8E01-6FBE-C64A-63C739CA9D5F}"/>
              </a:ext>
            </a:extLst>
          </p:cNvPr>
          <p:cNvSpPr txBox="1"/>
          <p:nvPr/>
        </p:nvSpPr>
        <p:spPr>
          <a:xfrm>
            <a:off x="3829832" y="5960834"/>
            <a:ext cx="4532334" cy="707886"/>
          </a:xfrm>
          <a:prstGeom prst="rect">
            <a:avLst/>
          </a:prstGeom>
          <a:noFill/>
        </p:spPr>
        <p:txBody>
          <a:bodyPr wrap="square">
            <a:spAutoFit/>
          </a:bodyPr>
          <a:lstStyle/>
          <a:p>
            <a:pPr algn="ctr"/>
            <a:r>
              <a:rPr lang="zh-CN" altLang="en-US" sz="2000" b="1" dirty="0">
                <a:latin typeface="Noto Sans SC" panose="020B0200000000000000" pitchFamily="34" charset="-122"/>
                <a:ea typeface="Noto Sans SC" panose="020B0200000000000000" pitchFamily="34" charset="-122"/>
              </a:rPr>
              <a:t>为什么有两套不同的单位？</a:t>
            </a:r>
            <a:endParaRPr lang="en-US" altLang="zh-CN" sz="2000" b="1" dirty="0">
              <a:latin typeface="Noto Sans SC" panose="020B0200000000000000" pitchFamily="34" charset="-122"/>
              <a:ea typeface="Noto Sans SC" panose="020B0200000000000000" pitchFamily="34" charset="-122"/>
            </a:endParaRPr>
          </a:p>
          <a:p>
            <a:pPr algn="ctr"/>
            <a:r>
              <a:rPr lang="zh-CN" altLang="en-US" sz="2000" b="1" dirty="0">
                <a:latin typeface="Noto Sans SC" panose="020B0200000000000000" pitchFamily="34" charset="-122"/>
                <a:ea typeface="Noto Sans SC" panose="020B0200000000000000" pitchFamily="34" charset="-122"/>
              </a:rPr>
              <a:t>为什么光度量没有每波长的概念？</a:t>
            </a:r>
          </a:p>
        </p:txBody>
      </p:sp>
    </p:spTree>
    <p:extLst>
      <p:ext uri="{BB962C8B-B14F-4D97-AF65-F5344CB8AC3E}">
        <p14:creationId xmlns:p14="http://schemas.microsoft.com/office/powerpoint/2010/main" val="3176933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0F1B4-7639-2680-2B75-B314F998BD2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6F14D8A-BAE7-C79D-40FE-29A8AD3E54A6}"/>
              </a:ext>
            </a:extLst>
          </p:cNvPr>
          <p:cNvSpPr>
            <a:spLocks noGrp="1"/>
          </p:cNvSpPr>
          <p:nvPr>
            <p:ph type="title" idx="1"/>
          </p:nvPr>
        </p:nvSpPr>
        <p:spPr/>
        <p:txBody>
          <a:bodyPr/>
          <a:lstStyle/>
          <a:p>
            <a:r>
              <a:rPr lang="zh-CN" altLang="en-US" dirty="0"/>
              <a:t>色彩科学 </a:t>
            </a:r>
            <a:r>
              <a:rPr lang="en-US" altLang="zh-CN" dirty="0"/>
              <a:t>—— </a:t>
            </a:r>
            <a:r>
              <a:rPr lang="zh-CN" altLang="en-US" dirty="0"/>
              <a:t>前置知识</a:t>
            </a:r>
          </a:p>
        </p:txBody>
      </p:sp>
      <p:sp>
        <p:nvSpPr>
          <p:cNvPr id="6" name="文本框 5">
            <a:extLst>
              <a:ext uri="{FF2B5EF4-FFF2-40B4-BE49-F238E27FC236}">
                <a16:creationId xmlns:a16="http://schemas.microsoft.com/office/drawing/2014/main" id="{386A3E8E-E705-B452-04E8-5A5E9234FDD1}"/>
              </a:ext>
            </a:extLst>
          </p:cNvPr>
          <p:cNvSpPr txBox="1"/>
          <p:nvPr/>
        </p:nvSpPr>
        <p:spPr>
          <a:xfrm>
            <a:off x="457201" y="1405676"/>
            <a:ext cx="6100174"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为什么有两套不同的单位？</a:t>
            </a:r>
            <a:endParaRPr lang="en-US" altLang="zh-CN" sz="2000" b="1" dirty="0">
              <a:latin typeface="Noto Sans SC" panose="020B0200000000000000" pitchFamily="34" charset="-122"/>
              <a:ea typeface="Noto Sans SC" panose="020B0200000000000000" pitchFamily="34" charset="-122"/>
            </a:endParaRPr>
          </a:p>
        </p:txBody>
      </p:sp>
      <p:sp>
        <p:nvSpPr>
          <p:cNvPr id="9" name="文本框 8">
            <a:extLst>
              <a:ext uri="{FF2B5EF4-FFF2-40B4-BE49-F238E27FC236}">
                <a16:creationId xmlns:a16="http://schemas.microsoft.com/office/drawing/2014/main" id="{A9AED8DA-845F-2328-D43E-F853D2BFDF3C}"/>
              </a:ext>
            </a:extLst>
          </p:cNvPr>
          <p:cNvSpPr txBox="1"/>
          <p:nvPr/>
        </p:nvSpPr>
        <p:spPr>
          <a:xfrm>
            <a:off x="633330" y="2237933"/>
            <a:ext cx="4107772" cy="3693319"/>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人眼对物理能量相同但是波长不同的光，感官上的明度是不同的。</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早年由于技术限制，不能直接测量光的物理能量，而且当时的人们还不了解感官明度与物理能量的关系。</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于是两条学科线路各自独立发展。一条线路用物理能量的单位发展辐射度量学，另一条路用光度量发展光度学。</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随着科技的进步，科学家们才渐渐将两个学科的单位统一起来。</a:t>
            </a:r>
            <a:endParaRPr lang="en-US" altLang="zh-CN"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B5FE3C9-85AE-7326-B1A6-34C6B78B48B4}"/>
                  </a:ext>
                </a:extLst>
              </p:cNvPr>
              <p:cNvSpPr txBox="1"/>
              <p:nvPr/>
            </p:nvSpPr>
            <p:spPr>
              <a:xfrm>
                <a:off x="5291482" y="1345828"/>
                <a:ext cx="6664612" cy="5357749"/>
              </a:xfrm>
              <a:prstGeom prst="rect">
                <a:avLst/>
              </a:prstGeom>
              <a:noFill/>
            </p:spPr>
            <p:txBody>
              <a:bodyPr wrap="square">
                <a:spAutoFit/>
              </a:bodyPr>
              <a:lstStyle/>
              <a:p>
                <a:pPr algn="just"/>
                <a:r>
                  <a:rPr lang="en-US" altLang="zh-CN" sz="1800" dirty="0">
                    <a:latin typeface="Noto Sans SC" panose="020B0200000000000000" pitchFamily="34" charset="-122"/>
                    <a:ea typeface="Noto Sans SC" panose="020B0200000000000000" pitchFamily="34" charset="-122"/>
                  </a:rPr>
                  <a:t>         18</a:t>
                </a:r>
                <a:r>
                  <a:rPr lang="zh-CN" altLang="en-US" sz="1800" dirty="0">
                    <a:latin typeface="Noto Sans SC" panose="020B0200000000000000" pitchFamily="34" charset="-122"/>
                    <a:ea typeface="Noto Sans SC" panose="020B0200000000000000" pitchFamily="34" charset="-122"/>
                  </a:rPr>
                  <a:t>、</a:t>
                </a:r>
                <a:r>
                  <a:rPr lang="en-US" altLang="zh-CN" sz="1800" dirty="0">
                    <a:latin typeface="Noto Sans SC" panose="020B0200000000000000" pitchFamily="34" charset="-122"/>
                    <a:ea typeface="Noto Sans SC" panose="020B0200000000000000" pitchFamily="34" charset="-122"/>
                  </a:rPr>
                  <a:t>19</a:t>
                </a:r>
                <a:r>
                  <a:rPr lang="zh-CN" altLang="en-US" sz="1800" dirty="0">
                    <a:latin typeface="Noto Sans SC" panose="020B0200000000000000" pitchFamily="34" charset="-122"/>
                    <a:ea typeface="Noto Sans SC" panose="020B0200000000000000" pitchFamily="34" charset="-122"/>
                  </a:rPr>
                  <a:t>世纪，人们规定</a:t>
                </a:r>
                <a:r>
                  <a:rPr lang="zh-CN" altLang="en-US" dirty="0">
                    <a:latin typeface="Noto Sans SC" panose="020B0200000000000000" pitchFamily="34" charset="-122"/>
                    <a:ea typeface="Noto Sans SC" panose="020B0200000000000000" pitchFamily="34" charset="-122"/>
                  </a:rPr>
                  <a:t>一根</a:t>
                </a:r>
                <a:r>
                  <a:rPr lang="zh-CN" altLang="en-US" sz="1800"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标准蜡烛</a:t>
                </a:r>
                <a:r>
                  <a:rPr lang="zh-CN" altLang="en-US" sz="1800" dirty="0">
                    <a:latin typeface="Noto Sans SC" panose="020B0200000000000000" pitchFamily="34" charset="-122"/>
                    <a:ea typeface="Noto Sans SC" panose="020B0200000000000000" pitchFamily="34" charset="-122"/>
                  </a:rPr>
                  <a:t>”燃烧时的亮度为 </a:t>
                </a:r>
                <a:r>
                  <a:rPr lang="en-US" altLang="zh-CN" sz="1800" dirty="0">
                    <a:latin typeface="Noto Sans SC" panose="020B0200000000000000" pitchFamily="34" charset="-122"/>
                    <a:ea typeface="Noto Sans SC" panose="020B0200000000000000" pitchFamily="34" charset="-122"/>
                  </a:rPr>
                  <a:t>1</a:t>
                </a:r>
                <a:r>
                  <a:rPr lang="zh-CN" altLang="en-US" sz="1800" dirty="0">
                    <a:latin typeface="Noto Sans SC" panose="020B0200000000000000" pitchFamily="34" charset="-122"/>
                    <a:ea typeface="Noto Sans SC" panose="020B0200000000000000" pitchFamily="34" charset="-122"/>
                  </a:rPr>
                  <a:t>烛光</a:t>
                </a:r>
                <a:r>
                  <a:rPr lang="en-US" altLang="zh-CN" sz="1800" dirty="0">
                    <a:latin typeface="Noto Sans SC" panose="020B0200000000000000" pitchFamily="34" charset="-122"/>
                    <a:ea typeface="Noto Sans SC" panose="020B0200000000000000" pitchFamily="34" charset="-122"/>
                  </a:rPr>
                  <a:t>(1 candle)</a:t>
                </a:r>
                <a:r>
                  <a:rPr lang="zh-CN" altLang="en-US" sz="1800" dirty="0">
                    <a:latin typeface="Noto Sans SC" panose="020B0200000000000000" pitchFamily="34" charset="-122"/>
                    <a:ea typeface="Noto Sans SC" panose="020B0200000000000000" pitchFamily="34" charset="-122"/>
                  </a:rPr>
                  <a:t>。</a:t>
                </a:r>
                <a:endParaRPr lang="en-US" altLang="zh-CN" sz="1800" dirty="0">
                  <a:latin typeface="Noto Sans SC" panose="020B0200000000000000" pitchFamily="34" charset="-122"/>
                  <a:ea typeface="Noto Sans SC" panose="020B0200000000000000" pitchFamily="34" charset="-122"/>
                </a:endParaRPr>
              </a:p>
              <a:p>
                <a:pPr algn="just"/>
                <a:endParaRPr lang="en-US" altLang="zh-CN" sz="1800" dirty="0">
                  <a:latin typeface="Noto Sans SC" panose="020B0200000000000000" pitchFamily="34" charset="-122"/>
                  <a:ea typeface="Noto Sans SC" panose="020B0200000000000000" pitchFamily="34" charset="-122"/>
                </a:endParaRPr>
              </a:p>
              <a:p>
                <a:pPr algn="just"/>
                <a:r>
                  <a:rPr lang="en-US" altLang="zh-CN" sz="1800"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        </a:t>
                </a:r>
                <a:r>
                  <a:rPr lang="en-US" altLang="zh-CN" sz="1800" dirty="0">
                    <a:latin typeface="Noto Sans SC" panose="020B0200000000000000" pitchFamily="34" charset="-122"/>
                    <a:ea typeface="Noto Sans SC" panose="020B0200000000000000" pitchFamily="34" charset="-122"/>
                  </a:rPr>
                  <a:t>194</a:t>
                </a:r>
                <a:r>
                  <a:rPr lang="en-US" altLang="zh-CN" dirty="0">
                    <a:latin typeface="Noto Sans SC" panose="020B0200000000000000" pitchFamily="34" charset="-122"/>
                    <a:ea typeface="Noto Sans SC" panose="020B0200000000000000" pitchFamily="34" charset="-122"/>
                  </a:rPr>
                  <a:t>6</a:t>
                </a:r>
                <a:r>
                  <a:rPr lang="zh-CN" altLang="en-US" sz="1800" dirty="0">
                    <a:latin typeface="Noto Sans SC" panose="020B0200000000000000" pitchFamily="34" charset="-122"/>
                    <a:ea typeface="Noto Sans SC" panose="020B0200000000000000" pitchFamily="34" charset="-122"/>
                  </a:rPr>
                  <a:t>年，</a:t>
                </a:r>
                <a:r>
                  <a:rPr lang="zh-CN" altLang="zh-CN" dirty="0">
                    <a:latin typeface="Noto Sans SC" panose="020B0200000000000000" pitchFamily="34" charset="-122"/>
                    <a:ea typeface="Noto Sans SC" panose="020B0200000000000000" pitchFamily="34" charset="-122"/>
                  </a:rPr>
                  <a:t>国际计量委员会</a:t>
                </a:r>
                <a:r>
                  <a:rPr lang="zh-CN" altLang="en-US" dirty="0">
                    <a:latin typeface="Noto Sans SC" panose="020B0200000000000000" pitchFamily="34" charset="-122"/>
                    <a:ea typeface="Noto Sans SC" panose="020B0200000000000000" pitchFamily="34" charset="-122"/>
                  </a:rPr>
                  <a:t>正式颁布</a:t>
                </a:r>
                <a:r>
                  <a:rPr lang="zh-CN" altLang="en-US" sz="1800" dirty="0">
                    <a:latin typeface="Noto Sans SC" panose="020B0200000000000000" pitchFamily="34" charset="-122"/>
                    <a:ea typeface="Noto Sans SC" panose="020B0200000000000000" pitchFamily="34" charset="-122"/>
                  </a:rPr>
                  <a:t>了“新烛光 </a:t>
                </a:r>
                <a:r>
                  <a:rPr lang="en-US" altLang="zh-CN" sz="1800" dirty="0">
                    <a:latin typeface="Noto Sans SC" panose="020B0200000000000000" pitchFamily="34" charset="-122"/>
                    <a:ea typeface="Noto Sans SC" panose="020B0200000000000000" pitchFamily="34" charset="-122"/>
                  </a:rPr>
                  <a:t>new candle</a:t>
                </a:r>
                <a:r>
                  <a:rPr lang="zh-CN" altLang="en-US" sz="1800" dirty="0">
                    <a:latin typeface="Noto Sans SC" panose="020B0200000000000000" pitchFamily="34" charset="-122"/>
                    <a:ea typeface="Noto Sans SC" panose="020B0200000000000000" pitchFamily="34" charset="-122"/>
                  </a:rPr>
                  <a:t>”的单位，在铂凝固温度下，亮度为每平方厘米</a:t>
                </a:r>
                <a:r>
                  <a:rPr lang="en-US" altLang="zh-CN" sz="1800" dirty="0">
                    <a:latin typeface="Noto Sans SC" panose="020B0200000000000000" pitchFamily="34" charset="-122"/>
                    <a:ea typeface="Noto Sans SC" panose="020B0200000000000000" pitchFamily="34" charset="-122"/>
                  </a:rPr>
                  <a:t>60new candle</a:t>
                </a:r>
                <a:r>
                  <a:rPr lang="zh-CN" altLang="en-US" sz="1800" dirty="0">
                    <a:latin typeface="Noto Sans SC" panose="020B0200000000000000" pitchFamily="34" charset="-122"/>
                    <a:ea typeface="Noto Sans SC" panose="020B0200000000000000" pitchFamily="34" charset="-122"/>
                  </a:rPr>
                  <a:t>。</a:t>
                </a:r>
                <a:endParaRPr lang="en-US" altLang="zh-CN" sz="1800" dirty="0">
                  <a:latin typeface="Noto Sans SC" panose="020B0200000000000000" pitchFamily="34" charset="-122"/>
                  <a:ea typeface="Noto Sans SC" panose="020B0200000000000000" pitchFamily="34" charset="-122"/>
                </a:endParaRPr>
              </a:p>
              <a:p>
                <a:pPr algn="just"/>
                <a:endParaRPr lang="en-US" altLang="zh-CN" sz="180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1948</a:t>
                </a:r>
                <a:r>
                  <a:rPr lang="zh-CN" altLang="en-US" dirty="0">
                    <a:latin typeface="Noto Sans SC" panose="020B0200000000000000" pitchFamily="34" charset="-122"/>
                    <a:ea typeface="Noto Sans SC" panose="020B0200000000000000" pitchFamily="34" charset="-122"/>
                  </a:rPr>
                  <a:t>年，</a:t>
                </a:r>
                <a:r>
                  <a:rPr lang="zh-CN" altLang="zh-CN" dirty="0">
                    <a:latin typeface="Noto Sans SC" panose="020B0200000000000000" pitchFamily="34" charset="-122"/>
                    <a:ea typeface="Noto Sans SC" panose="020B0200000000000000" pitchFamily="34" charset="-122"/>
                  </a:rPr>
                  <a:t>第九届全球计量大会</a:t>
                </a:r>
                <a:r>
                  <a:rPr lang="zh-CN" altLang="en-US" dirty="0">
                    <a:latin typeface="Noto Sans SC" panose="020B0200000000000000" pitchFamily="34" charset="-122"/>
                    <a:ea typeface="Noto Sans SC" panose="020B0200000000000000" pitchFamily="34" charset="-122"/>
                  </a:rPr>
                  <a:t>采用了</a:t>
                </a:r>
                <a:r>
                  <a:rPr lang="en-US" altLang="zh-CN" dirty="0">
                    <a:latin typeface="Noto Sans SC" panose="020B0200000000000000" pitchFamily="34" charset="-122"/>
                    <a:ea typeface="Noto Sans SC" panose="020B0200000000000000" pitchFamily="34" charset="-122"/>
                  </a:rPr>
                  <a:t>new candle</a:t>
                </a:r>
                <a:r>
                  <a:rPr lang="zh-CN" altLang="en-US" dirty="0">
                    <a:latin typeface="Noto Sans SC" panose="020B0200000000000000" pitchFamily="34" charset="-122"/>
                    <a:ea typeface="Noto Sans SC" panose="020B0200000000000000" pitchFamily="34" charset="-122"/>
                  </a:rPr>
                  <a:t>单位，并将其命名为了“坎德拉；</a:t>
                </a:r>
                <a:r>
                  <a:rPr lang="en-US" altLang="zh-CN" dirty="0">
                    <a:latin typeface="Noto Sans SC" panose="020B0200000000000000" pitchFamily="34" charset="-122"/>
                    <a:ea typeface="Noto Sans SC" panose="020B0200000000000000" pitchFamily="34" charset="-122"/>
                  </a:rPr>
                  <a:t>candela</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cd</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sz="1800"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1954</a:t>
                </a:r>
                <a:r>
                  <a:rPr lang="zh-CN" altLang="en-US" dirty="0">
                    <a:latin typeface="Noto Sans SC" panose="020B0200000000000000" pitchFamily="34" charset="-122"/>
                    <a:ea typeface="Noto Sans SC" panose="020B0200000000000000" pitchFamily="34" charset="-122"/>
                  </a:rPr>
                  <a:t>年，</a:t>
                </a:r>
                <a:r>
                  <a:rPr lang="zh-CN" altLang="zh-CN" dirty="0">
                    <a:latin typeface="Noto Sans SC" panose="020B0200000000000000" pitchFamily="34" charset="-122"/>
                    <a:ea typeface="Noto Sans SC" panose="020B0200000000000000" pitchFamily="34" charset="-122"/>
                  </a:rPr>
                  <a:t>坎德拉</a:t>
                </a:r>
                <a:r>
                  <a:rPr lang="en-US" altLang="zh-CN" dirty="0">
                    <a:latin typeface="Noto Sans SC" panose="020B0200000000000000" pitchFamily="34" charset="-122"/>
                    <a:ea typeface="Noto Sans SC" panose="020B0200000000000000" pitchFamily="34" charset="-122"/>
                  </a:rPr>
                  <a:t>candela</a:t>
                </a:r>
                <a:r>
                  <a:rPr lang="zh-CN" altLang="zh-CN" dirty="0">
                    <a:latin typeface="Noto Sans SC" panose="020B0200000000000000" pitchFamily="34" charset="-122"/>
                    <a:ea typeface="Noto Sans SC" panose="020B0200000000000000" pitchFamily="34" charset="-122"/>
                  </a:rPr>
                  <a:t>被第10届国际计量大会正式确立为基本单位</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sz="1800" dirty="0">
                    <a:latin typeface="Noto Sans SC" panose="020B0200000000000000" pitchFamily="34" charset="-122"/>
                    <a:ea typeface="Noto Sans SC" panose="020B0200000000000000" pitchFamily="34" charset="-122"/>
                  </a:rPr>
                  <a:t>         1979</a:t>
                </a:r>
                <a:r>
                  <a:rPr lang="zh-CN" altLang="en-US" sz="1800" dirty="0">
                    <a:latin typeface="Noto Sans SC" panose="020B0200000000000000" pitchFamily="34" charset="-122"/>
                    <a:ea typeface="Noto Sans SC" panose="020B0200000000000000" pitchFamily="34" charset="-122"/>
                  </a:rPr>
                  <a:t>年，随着技术的发展，</a:t>
                </a:r>
                <a:r>
                  <a:rPr lang="zh-CN" altLang="zh-CN" dirty="0">
                    <a:latin typeface="Noto Sans SC" panose="020B0200000000000000" pitchFamily="34" charset="-122"/>
                    <a:ea typeface="Noto Sans SC" panose="020B0200000000000000" pitchFamily="34" charset="-122"/>
                  </a:rPr>
                  <a:t>第16届国际计量大会</a:t>
                </a:r>
                <a:r>
                  <a:rPr lang="zh-CN" altLang="en-US" dirty="0">
                    <a:latin typeface="Noto Sans SC" panose="020B0200000000000000" pitchFamily="34" charset="-122"/>
                    <a:ea typeface="Noto Sans SC" panose="020B0200000000000000" pitchFamily="34" charset="-122"/>
                  </a:rPr>
                  <a:t>规定：频率为</a:t>
                </a:r>
                <a14:m>
                  <m:oMath xmlns:m="http://schemas.openxmlformats.org/officeDocument/2006/math">
                    <m:r>
                      <a:rPr lang="en-US" altLang="zh-CN" b="0" i="1" smtClean="0">
                        <a:latin typeface="Cambria Math" panose="02040503050406030204" pitchFamily="18" charset="0"/>
                      </a:rPr>
                      <m:t>540×</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12</m:t>
                        </m:r>
                      </m:sup>
                    </m:sSup>
                    <m:r>
                      <m:rPr>
                        <m:sty m:val="p"/>
                      </m:rPr>
                      <a:rPr lang="en-US" altLang="zh-CN" i="1">
                        <a:latin typeface="Cambria Math" panose="02040503050406030204" pitchFamily="18" charset="0"/>
                      </a:rPr>
                      <m:t>Hz</m:t>
                    </m:r>
                  </m:oMath>
                </a14:m>
                <a:r>
                  <a:rPr lang="zh-CN" altLang="en-US" sz="1800" dirty="0">
                    <a:latin typeface="Noto Sans SC" panose="020B0200000000000000" pitchFamily="34" charset="-122"/>
                    <a:ea typeface="Noto Sans SC" panose="020B0200000000000000" pitchFamily="34" charset="-122"/>
                  </a:rPr>
                  <a:t>的单色光，辐射强度</a:t>
                </a:r>
                <a:r>
                  <a:rPr lang="en-US" altLang="zh-CN" dirty="0">
                    <a:latin typeface="Noto Sans SC" panose="020B0200000000000000" pitchFamily="34" charset="-122"/>
                    <a:ea typeface="Noto Sans SC" panose="020B0200000000000000" pitchFamily="34" charset="-122"/>
                  </a:rPr>
                  <a:t>Radiant Intensity</a:t>
                </a:r>
                <a:r>
                  <a:rPr lang="zh-CN" altLang="en-US" dirty="0">
                    <a:latin typeface="Noto Sans SC" panose="020B0200000000000000" pitchFamily="34" charset="-122"/>
                    <a:ea typeface="Noto Sans SC" panose="020B0200000000000000" pitchFamily="34" charset="-122"/>
                  </a:rPr>
                  <a:t>为</a:t>
                </a:r>
                <a14:m>
                  <m:oMath xmlns:m="http://schemas.openxmlformats.org/officeDocument/2006/math">
                    <m:r>
                      <a:rPr lang="en-US" altLang="zh-CN" b="0" i="0" dirty="0" smtClean="0">
                        <a:latin typeface="Cambria Math" panose="02040503050406030204" pitchFamily="18" charset="0"/>
                      </a:rPr>
                      <m:t>1</m:t>
                    </m:r>
                    <m:r>
                      <a:rPr lang="en-US" altLang="zh-CN" i="1" dirty="0">
                        <a:latin typeface="Cambria Math" panose="02040503050406030204" pitchFamily="18" charset="0"/>
                      </a:rPr>
                      <m:t>𝑊</m:t>
                    </m:r>
                    <m:r>
                      <a:rPr lang="en-US" altLang="zh-CN" i="1" dirty="0">
                        <a:latin typeface="Cambria Math" panose="02040503050406030204" pitchFamily="18" charset="0"/>
                      </a:rPr>
                      <m:t>/</m:t>
                    </m:r>
                    <m:r>
                      <a:rPr lang="en-US" altLang="zh-CN" i="1" dirty="0">
                        <a:latin typeface="Cambria Math" panose="02040503050406030204" pitchFamily="18" charset="0"/>
                      </a:rPr>
                      <m:t>𝑠𝑟</m:t>
                    </m:r>
                  </m:oMath>
                </a14:m>
                <a:r>
                  <a:rPr lang="zh-CN" altLang="en-US" sz="1800" dirty="0">
                    <a:latin typeface="Noto Sans SC" panose="020B0200000000000000" pitchFamily="34" charset="-122"/>
                    <a:ea typeface="Noto Sans SC" panose="020B0200000000000000" pitchFamily="34" charset="-122"/>
                  </a:rPr>
                  <a:t>时，对应</a:t>
                </a:r>
                <a14:m>
                  <m:oMath xmlns:m="http://schemas.openxmlformats.org/officeDocument/2006/math">
                    <m:r>
                      <a:rPr lang="en-US" altLang="zh-CN" sz="1800" b="0" i="1" smtClean="0">
                        <a:latin typeface="Cambria Math" panose="02040503050406030204" pitchFamily="18" charset="0"/>
                      </a:rPr>
                      <m:t>683 </m:t>
                    </m:r>
                    <m:r>
                      <m:rPr>
                        <m:sty m:val="p"/>
                      </m:rPr>
                      <a:rPr lang="en-US" altLang="zh-CN" i="1">
                        <a:latin typeface="Cambria Math" panose="02040503050406030204" pitchFamily="18" charset="0"/>
                      </a:rPr>
                      <m:t>can</m:t>
                    </m:r>
                    <m:r>
                      <a:rPr lang="en-US" altLang="zh-CN" b="0" i="1" smtClean="0">
                        <a:latin typeface="Cambria Math" panose="02040503050406030204" pitchFamily="18" charset="0"/>
                      </a:rPr>
                      <m:t>𝑑𝑒𝑙𝑎</m:t>
                    </m:r>
                    <m:r>
                      <a:rPr lang="en-US" altLang="zh-CN" b="0" i="1" smtClean="0">
                        <a:latin typeface="Cambria Math" panose="02040503050406030204" pitchFamily="18" charset="0"/>
                      </a:rPr>
                      <m:t> (683 </m:t>
                    </m:r>
                    <m:r>
                      <a:rPr lang="en-US" altLang="zh-CN" b="0" i="1" smtClean="0">
                        <a:latin typeface="Cambria Math" panose="02040503050406030204" pitchFamily="18" charset="0"/>
                      </a:rPr>
                      <m:t>𝑙𝑚</m:t>
                    </m:r>
                    <m:r>
                      <a:rPr lang="en-US" altLang="zh-CN" b="0" i="1" smtClean="0">
                        <a:latin typeface="Cambria Math" panose="02040503050406030204" pitchFamily="18" charset="0"/>
                      </a:rPr>
                      <m:t>/</m:t>
                    </m:r>
                    <m:r>
                      <a:rPr lang="en-US" altLang="zh-CN" b="0" i="1" smtClean="0">
                        <a:latin typeface="Cambria Math" panose="02040503050406030204" pitchFamily="18" charset="0"/>
                      </a:rPr>
                      <m:t>𝑠𝑟</m:t>
                    </m:r>
                    <m:r>
                      <a:rPr lang="en-US" altLang="zh-CN" b="0" i="1" smtClean="0">
                        <a:latin typeface="Cambria Math" panose="02040503050406030204" pitchFamily="18" charset="0"/>
                      </a:rPr>
                      <m:t>)</m:t>
                    </m:r>
                  </m:oMath>
                </a14:m>
                <a:r>
                  <a:rPr lang="zh-CN" altLang="en-US" sz="1800" dirty="0">
                    <a:latin typeface="Noto Sans SC" panose="020B0200000000000000" pitchFamily="34" charset="-122"/>
                    <a:ea typeface="Noto Sans SC" panose="020B0200000000000000" pitchFamily="34" charset="-122"/>
                  </a:rPr>
                  <a:t>。</a:t>
                </a:r>
                <a:endParaRPr lang="en-US" altLang="zh-CN" sz="1800" dirty="0">
                  <a:latin typeface="Noto Sans SC" panose="020B0200000000000000" pitchFamily="34" charset="-122"/>
                  <a:ea typeface="Noto Sans SC" panose="020B0200000000000000" pitchFamily="34" charset="-122"/>
                </a:endParaRPr>
              </a:p>
              <a:p>
                <a:pPr algn="just"/>
                <a:endParaRPr lang="en-US" altLang="zh-CN" sz="180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2018</a:t>
                </a:r>
                <a:r>
                  <a:rPr lang="zh-CN" altLang="en-US" dirty="0">
                    <a:latin typeface="Noto Sans SC" panose="020B0200000000000000" pitchFamily="34" charset="-122"/>
                    <a:ea typeface="Noto Sans SC" panose="020B0200000000000000" pitchFamily="34" charset="-122"/>
                  </a:rPr>
                  <a:t>年，</a:t>
                </a:r>
                <a:r>
                  <a:rPr lang="zh-CN" altLang="zh-CN" dirty="0">
                    <a:latin typeface="Noto Sans SC" panose="020B0200000000000000" pitchFamily="34" charset="-122"/>
                    <a:ea typeface="Noto Sans SC" panose="020B0200000000000000" pitchFamily="34" charset="-122"/>
                  </a:rPr>
                  <a:t>第26届国际计量大会</a:t>
                </a:r>
                <a:r>
                  <a:rPr lang="zh-CN" altLang="en-US" dirty="0">
                    <a:latin typeface="Noto Sans SC" panose="020B0200000000000000" pitchFamily="34" charset="-122"/>
                    <a:ea typeface="Noto Sans SC" panose="020B0200000000000000" pitchFamily="34" charset="-122"/>
                  </a:rPr>
                  <a:t>定义了：</a:t>
                </a:r>
                <a14:m>
                  <m:oMath xmlns:m="http://schemas.openxmlformats.org/officeDocument/2006/math">
                    <m:r>
                      <m:rPr>
                        <m:nor/>
                      </m:rPr>
                      <a:rPr lang="zh-CN" altLang="en-US" i="0">
                        <a:latin typeface="Noto Sans SC" panose="020B0200000000000000" pitchFamily="34" charset="-122"/>
                        <a:ea typeface="Noto Sans SC" panose="020B0200000000000000" pitchFamily="34" charset="-122"/>
                      </a:rPr>
                      <m:t>光视效能常数</m:t>
                    </m:r>
                    <m:r>
                      <m:rPr>
                        <m:nor/>
                      </m:rPr>
                      <a:rPr lang="en-US" altLang="zh-CN" b="0" i="0" smtClean="0">
                        <a:latin typeface="Noto Sans SC" panose="020B0200000000000000" pitchFamily="34" charset="-122"/>
                        <a:ea typeface="Noto Sans SC" panose="020B0200000000000000" pitchFamily="34" charset="-122"/>
                      </a:rPr>
                      <m:t> </m:t>
                    </m:r>
                    <m:sSub>
                      <m:sSubPr>
                        <m:ctrlPr>
                          <a:rPr lang="en-US" altLang="zh-CN" b="0" i="1" smtClean="0">
                            <a:latin typeface="Cambria Math" panose="02040503050406030204" pitchFamily="18" charset="0"/>
                            <a:ea typeface="Noto Sans SC" panose="020B0200000000000000" pitchFamily="34" charset="-122"/>
                          </a:rPr>
                        </m:ctrlPr>
                      </m:sSubPr>
                      <m:e>
                        <m:r>
                          <m:rPr>
                            <m:nor/>
                          </m:rPr>
                          <a:rPr lang="en-US" altLang="zh-CN" b="0" i="0" smtClean="0">
                            <a:latin typeface="Noto Sans SC" panose="020B0200000000000000" pitchFamily="34" charset="-122"/>
                            <a:ea typeface="Noto Sans SC" panose="020B0200000000000000" pitchFamily="34" charset="-122"/>
                          </a:rPr>
                          <m:t>K</m:t>
                        </m:r>
                      </m:e>
                      <m:sub>
                        <m:r>
                          <a:rPr lang="en-US" altLang="zh-CN" b="0" i="1" smtClean="0">
                            <a:latin typeface="Cambria Math" panose="02040503050406030204" pitchFamily="18" charset="0"/>
                          </a:rPr>
                          <m:t>𝑐𝑑</m:t>
                        </m:r>
                      </m:sub>
                    </m:sSub>
                    <m:r>
                      <a:rPr lang="en-US" altLang="zh-CN" b="0" i="1" smtClean="0">
                        <a:latin typeface="Cambria Math" panose="02040503050406030204" pitchFamily="18" charset="0"/>
                      </a:rPr>
                      <m:t>=683 </m:t>
                    </m:r>
                    <m:r>
                      <a:rPr lang="en-US" altLang="zh-CN" b="0" i="1" smtClean="0">
                        <a:latin typeface="Cambria Math" panose="02040503050406030204" pitchFamily="18" charset="0"/>
                      </a:rPr>
                      <m:t>𝑙𝑚</m:t>
                    </m:r>
                    <m:r>
                      <a:rPr lang="en-US" altLang="zh-CN" b="0" i="1" smtClean="0">
                        <a:latin typeface="Cambria Math" panose="02040503050406030204" pitchFamily="18" charset="0"/>
                      </a:rPr>
                      <m:t>/</m:t>
                    </m:r>
                    <m:r>
                      <a:rPr lang="en-US" altLang="zh-CN" b="0" i="1" smtClean="0">
                        <a:latin typeface="Cambria Math" panose="02040503050406030204" pitchFamily="18" charset="0"/>
                      </a:rPr>
                      <m:t>𝑊</m:t>
                    </m:r>
                  </m:oMath>
                </a14:m>
                <a:endParaRPr lang="en-US" altLang="zh-CN" sz="1800" dirty="0">
                  <a:latin typeface="Noto Sans SC" panose="020B0200000000000000" pitchFamily="34" charset="-122"/>
                  <a:ea typeface="Noto Sans SC" panose="020B0200000000000000" pitchFamily="34" charset="-122"/>
                </a:endParaRPr>
              </a:p>
            </p:txBody>
          </p:sp>
        </mc:Choice>
        <mc:Fallback xmlns="">
          <p:sp>
            <p:nvSpPr>
              <p:cNvPr id="7" name="文本框 6">
                <a:extLst>
                  <a:ext uri="{FF2B5EF4-FFF2-40B4-BE49-F238E27FC236}">
                    <a16:creationId xmlns:a16="http://schemas.microsoft.com/office/drawing/2014/main" id="{2B5FE3C9-85AE-7326-B1A6-34C6B78B48B4}"/>
                  </a:ext>
                </a:extLst>
              </p:cNvPr>
              <p:cNvSpPr txBox="1">
                <a:spLocks noRot="1" noChangeAspect="1" noMove="1" noResize="1" noEditPoints="1" noAdjustHandles="1" noChangeArrowheads="1" noChangeShapeType="1" noTextEdit="1"/>
              </p:cNvSpPr>
              <p:nvPr/>
            </p:nvSpPr>
            <p:spPr>
              <a:xfrm>
                <a:off x="5291482" y="1345828"/>
                <a:ext cx="6664612" cy="5357749"/>
              </a:xfrm>
              <a:prstGeom prst="rect">
                <a:avLst/>
              </a:prstGeom>
              <a:blipFill>
                <a:blip r:embed="rId2"/>
                <a:stretch>
                  <a:fillRect l="-732" t="-683" r="-1555" b="-7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39756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7DA4C-6F7C-7380-FE67-E07ADC967CE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6CCCA5D-9270-C6F1-3CE4-79483EA61D81}"/>
              </a:ext>
            </a:extLst>
          </p:cNvPr>
          <p:cNvSpPr>
            <a:spLocks noGrp="1"/>
          </p:cNvSpPr>
          <p:nvPr>
            <p:ph type="title" idx="1"/>
          </p:nvPr>
        </p:nvSpPr>
        <p:spPr/>
        <p:txBody>
          <a:bodyPr/>
          <a:lstStyle/>
          <a:p>
            <a:r>
              <a:rPr lang="zh-CN" altLang="en-US" dirty="0"/>
              <a:t>色彩科学 </a:t>
            </a:r>
            <a:r>
              <a:rPr lang="en-US" altLang="zh-CN" dirty="0"/>
              <a:t>—— </a:t>
            </a:r>
            <a:r>
              <a:rPr lang="zh-CN" altLang="en-US" dirty="0"/>
              <a:t>前置知识</a:t>
            </a:r>
          </a:p>
        </p:txBody>
      </p:sp>
      <p:sp>
        <p:nvSpPr>
          <p:cNvPr id="6" name="文本框 5">
            <a:extLst>
              <a:ext uri="{FF2B5EF4-FFF2-40B4-BE49-F238E27FC236}">
                <a16:creationId xmlns:a16="http://schemas.microsoft.com/office/drawing/2014/main" id="{355DEA07-B71D-29AB-2B9D-A18A862781AB}"/>
              </a:ext>
            </a:extLst>
          </p:cNvPr>
          <p:cNvSpPr txBox="1"/>
          <p:nvPr/>
        </p:nvSpPr>
        <p:spPr>
          <a:xfrm>
            <a:off x="457201" y="1405676"/>
            <a:ext cx="6100174" cy="400110"/>
          </a:xfrm>
          <a:prstGeom prst="rect">
            <a:avLst/>
          </a:prstGeom>
          <a:noFill/>
        </p:spPr>
        <p:txBody>
          <a:bodyPr wrap="square">
            <a:spAutoFit/>
          </a:bodyPr>
          <a:lstStyle/>
          <a:p>
            <a:pPr algn="just"/>
            <a:r>
              <a:rPr lang="zh-CN" altLang="en-US" sz="2000" b="1" dirty="0">
                <a:latin typeface="Noto Sans SC" panose="020B0200000000000000" pitchFamily="34" charset="-122"/>
                <a:ea typeface="Noto Sans SC" panose="020B0200000000000000" pitchFamily="34" charset="-122"/>
              </a:rPr>
              <a:t>为什么光度量没有每波长的概念？</a:t>
            </a:r>
          </a:p>
        </p:txBody>
      </p:sp>
      <p:sp>
        <p:nvSpPr>
          <p:cNvPr id="9" name="文本框 8">
            <a:extLst>
              <a:ext uri="{FF2B5EF4-FFF2-40B4-BE49-F238E27FC236}">
                <a16:creationId xmlns:a16="http://schemas.microsoft.com/office/drawing/2014/main" id="{81B866B6-9CA9-F14E-6A7F-1C8E5D9850B6}"/>
              </a:ext>
            </a:extLst>
          </p:cNvPr>
          <p:cNvSpPr txBox="1"/>
          <p:nvPr/>
        </p:nvSpPr>
        <p:spPr>
          <a:xfrm>
            <a:off x="575375" y="2034270"/>
            <a:ext cx="4107772" cy="646331"/>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人眼对物理能量相同但是波长不同的光，感官上的明度是不同的。</a:t>
            </a:r>
            <a:endParaRPr lang="en-US" altLang="zh-CN"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3960080-EA6F-E92A-FF8D-4F760BA92943}"/>
                  </a:ext>
                </a:extLst>
              </p:cNvPr>
              <p:cNvSpPr txBox="1"/>
              <p:nvPr/>
            </p:nvSpPr>
            <p:spPr>
              <a:xfrm>
                <a:off x="5291482" y="1345828"/>
                <a:ext cx="6664612" cy="1763303"/>
              </a:xfrm>
              <a:prstGeom prst="rect">
                <a:avLst/>
              </a:prstGeom>
              <a:noFill/>
            </p:spPr>
            <p:txBody>
              <a:bodyPr wrap="square">
                <a:spAutoFit/>
              </a:bodyPr>
              <a:lstStyle/>
              <a:p>
                <a:pPr algn="just"/>
                <a:r>
                  <a:rPr lang="en-US" altLang="zh-CN" sz="1800" dirty="0">
                    <a:latin typeface="Noto Sans SC" panose="020B0200000000000000" pitchFamily="34" charset="-122"/>
                    <a:ea typeface="Noto Sans SC" panose="020B0200000000000000" pitchFamily="34" charset="-122"/>
                  </a:rPr>
                  <a:t>         1979</a:t>
                </a:r>
                <a:r>
                  <a:rPr lang="zh-CN" altLang="en-US" sz="1800" dirty="0">
                    <a:latin typeface="Noto Sans SC" panose="020B0200000000000000" pitchFamily="34" charset="-122"/>
                    <a:ea typeface="Noto Sans SC" panose="020B0200000000000000" pitchFamily="34" charset="-122"/>
                  </a:rPr>
                  <a:t>年，随着技术的发展，</a:t>
                </a:r>
                <a:r>
                  <a:rPr lang="zh-CN" altLang="zh-CN" dirty="0">
                    <a:latin typeface="Noto Sans SC" panose="020B0200000000000000" pitchFamily="34" charset="-122"/>
                    <a:ea typeface="Noto Sans SC" panose="020B0200000000000000" pitchFamily="34" charset="-122"/>
                  </a:rPr>
                  <a:t>第16届国际计量大会</a:t>
                </a:r>
                <a:r>
                  <a:rPr lang="zh-CN" altLang="en-US" dirty="0">
                    <a:latin typeface="Noto Sans SC" panose="020B0200000000000000" pitchFamily="34" charset="-122"/>
                    <a:ea typeface="Noto Sans SC" panose="020B0200000000000000" pitchFamily="34" charset="-122"/>
                  </a:rPr>
                  <a:t>规定：</a:t>
                </a:r>
                <a:r>
                  <a:rPr lang="zh-CN" altLang="en-US" b="1" dirty="0">
                    <a:latin typeface="Noto Sans SC" panose="020B0200000000000000" pitchFamily="34" charset="-122"/>
                    <a:ea typeface="Noto Sans SC" panose="020B0200000000000000" pitchFamily="34" charset="-122"/>
                  </a:rPr>
                  <a:t>频率为</a:t>
                </a:r>
                <a14:m>
                  <m:oMath xmlns:m="http://schemas.openxmlformats.org/officeDocument/2006/math">
                    <m:r>
                      <a:rPr lang="en-US" altLang="zh-CN" b="1" i="1" smtClean="0">
                        <a:latin typeface="Cambria Math" panose="02040503050406030204" pitchFamily="18" charset="0"/>
                      </a:rPr>
                      <m:t>𝟓𝟒𝟎</m:t>
                    </m:r>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𝟏𝟎</m:t>
                        </m:r>
                      </m:e>
                      <m:sup>
                        <m:r>
                          <a:rPr lang="en-US" altLang="zh-CN" b="1" i="1" smtClean="0">
                            <a:latin typeface="Cambria Math" panose="02040503050406030204" pitchFamily="18" charset="0"/>
                          </a:rPr>
                          <m:t>𝟏𝟐</m:t>
                        </m:r>
                      </m:sup>
                    </m:sSup>
                    <m:r>
                      <a:rPr lang="en-US" altLang="zh-CN" b="1" i="1">
                        <a:latin typeface="Cambria Math" panose="02040503050406030204" pitchFamily="18" charset="0"/>
                      </a:rPr>
                      <m:t>𝑯𝒛</m:t>
                    </m:r>
                  </m:oMath>
                </a14:m>
                <a:r>
                  <a:rPr lang="zh-CN" altLang="en-US" sz="1800" b="1" dirty="0">
                    <a:latin typeface="Noto Sans SC" panose="020B0200000000000000" pitchFamily="34" charset="-122"/>
                    <a:ea typeface="Noto Sans SC" panose="020B0200000000000000" pitchFamily="34" charset="-122"/>
                  </a:rPr>
                  <a:t>的单色光</a:t>
                </a:r>
                <a:r>
                  <a:rPr lang="zh-CN" altLang="en-US" sz="1800" dirty="0">
                    <a:latin typeface="Noto Sans SC" panose="020B0200000000000000" pitchFamily="34" charset="-122"/>
                    <a:ea typeface="Noto Sans SC" panose="020B0200000000000000" pitchFamily="34" charset="-122"/>
                  </a:rPr>
                  <a:t>，辐射强度</a:t>
                </a:r>
                <a:r>
                  <a:rPr lang="en-US" altLang="zh-CN" dirty="0">
                    <a:latin typeface="Noto Sans SC" panose="020B0200000000000000" pitchFamily="34" charset="-122"/>
                    <a:ea typeface="Noto Sans SC" panose="020B0200000000000000" pitchFamily="34" charset="-122"/>
                  </a:rPr>
                  <a:t>Radiant Intensity</a:t>
                </a:r>
                <a:r>
                  <a:rPr lang="zh-CN" altLang="en-US" dirty="0">
                    <a:latin typeface="Noto Sans SC" panose="020B0200000000000000" pitchFamily="34" charset="-122"/>
                    <a:ea typeface="Noto Sans SC" panose="020B0200000000000000" pitchFamily="34" charset="-122"/>
                  </a:rPr>
                  <a:t>为</a:t>
                </a:r>
                <a14:m>
                  <m:oMath xmlns:m="http://schemas.openxmlformats.org/officeDocument/2006/math">
                    <m:r>
                      <a:rPr lang="en-US" altLang="zh-CN" b="0" i="0" dirty="0" smtClean="0">
                        <a:latin typeface="Cambria Math" panose="02040503050406030204" pitchFamily="18" charset="0"/>
                      </a:rPr>
                      <m:t>1</m:t>
                    </m:r>
                    <m:r>
                      <a:rPr lang="en-US" altLang="zh-CN" i="1" dirty="0">
                        <a:latin typeface="Cambria Math" panose="02040503050406030204" pitchFamily="18" charset="0"/>
                      </a:rPr>
                      <m:t>𝑊</m:t>
                    </m:r>
                    <m:r>
                      <a:rPr lang="en-US" altLang="zh-CN" i="1" dirty="0">
                        <a:latin typeface="Cambria Math" panose="02040503050406030204" pitchFamily="18" charset="0"/>
                      </a:rPr>
                      <m:t>/</m:t>
                    </m:r>
                    <m:r>
                      <a:rPr lang="en-US" altLang="zh-CN" i="1" dirty="0">
                        <a:latin typeface="Cambria Math" panose="02040503050406030204" pitchFamily="18" charset="0"/>
                      </a:rPr>
                      <m:t>𝑠𝑟</m:t>
                    </m:r>
                  </m:oMath>
                </a14:m>
                <a:r>
                  <a:rPr lang="zh-CN" altLang="en-US" sz="1800" dirty="0">
                    <a:latin typeface="Noto Sans SC" panose="020B0200000000000000" pitchFamily="34" charset="-122"/>
                    <a:ea typeface="Noto Sans SC" panose="020B0200000000000000" pitchFamily="34" charset="-122"/>
                  </a:rPr>
                  <a:t>时，对应</a:t>
                </a:r>
                <a14:m>
                  <m:oMath xmlns:m="http://schemas.openxmlformats.org/officeDocument/2006/math">
                    <m:r>
                      <a:rPr lang="en-US" altLang="zh-CN" sz="1800" b="0" i="1" smtClean="0">
                        <a:latin typeface="Cambria Math" panose="02040503050406030204" pitchFamily="18" charset="0"/>
                      </a:rPr>
                      <m:t>683 </m:t>
                    </m:r>
                    <m:r>
                      <m:rPr>
                        <m:sty m:val="p"/>
                      </m:rPr>
                      <a:rPr lang="en-US" altLang="zh-CN" i="1">
                        <a:latin typeface="Cambria Math" panose="02040503050406030204" pitchFamily="18" charset="0"/>
                      </a:rPr>
                      <m:t>can</m:t>
                    </m:r>
                    <m:r>
                      <a:rPr lang="en-US" altLang="zh-CN" b="0" i="1" smtClean="0">
                        <a:latin typeface="Cambria Math" panose="02040503050406030204" pitchFamily="18" charset="0"/>
                      </a:rPr>
                      <m:t>𝑑𝑒𝑙𝑎</m:t>
                    </m:r>
                    <m:r>
                      <a:rPr lang="en-US" altLang="zh-CN" b="0" i="1" smtClean="0">
                        <a:latin typeface="Cambria Math" panose="02040503050406030204" pitchFamily="18" charset="0"/>
                      </a:rPr>
                      <m:t> (683 </m:t>
                    </m:r>
                    <m:r>
                      <a:rPr lang="en-US" altLang="zh-CN" b="0" i="1" smtClean="0">
                        <a:latin typeface="Cambria Math" panose="02040503050406030204" pitchFamily="18" charset="0"/>
                      </a:rPr>
                      <m:t>𝑙𝑚</m:t>
                    </m:r>
                    <m:r>
                      <a:rPr lang="en-US" altLang="zh-CN" b="0" i="1" smtClean="0">
                        <a:latin typeface="Cambria Math" panose="02040503050406030204" pitchFamily="18" charset="0"/>
                      </a:rPr>
                      <m:t>/</m:t>
                    </m:r>
                    <m:r>
                      <a:rPr lang="en-US" altLang="zh-CN" b="0" i="1" smtClean="0">
                        <a:latin typeface="Cambria Math" panose="02040503050406030204" pitchFamily="18" charset="0"/>
                      </a:rPr>
                      <m:t>𝑠𝑟</m:t>
                    </m:r>
                    <m:r>
                      <a:rPr lang="en-US" altLang="zh-CN" b="0" i="1" smtClean="0">
                        <a:latin typeface="Cambria Math" panose="02040503050406030204" pitchFamily="18" charset="0"/>
                      </a:rPr>
                      <m:t>)</m:t>
                    </m:r>
                  </m:oMath>
                </a14:m>
                <a:r>
                  <a:rPr lang="zh-CN" altLang="en-US" sz="1800"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2018</a:t>
                </a:r>
                <a:r>
                  <a:rPr lang="zh-CN" altLang="en-US" dirty="0">
                    <a:latin typeface="Noto Sans SC" panose="020B0200000000000000" pitchFamily="34" charset="-122"/>
                    <a:ea typeface="Noto Sans SC" panose="020B0200000000000000" pitchFamily="34" charset="-122"/>
                  </a:rPr>
                  <a:t>年，</a:t>
                </a:r>
                <a:r>
                  <a:rPr lang="zh-CN" altLang="zh-CN" dirty="0">
                    <a:latin typeface="Noto Sans SC" panose="020B0200000000000000" pitchFamily="34" charset="-122"/>
                    <a:ea typeface="Noto Sans SC" panose="020B0200000000000000" pitchFamily="34" charset="-122"/>
                  </a:rPr>
                  <a:t>第26届国际计量大会</a:t>
                </a:r>
                <a:r>
                  <a:rPr lang="zh-CN" altLang="en-US" dirty="0">
                    <a:latin typeface="Noto Sans SC" panose="020B0200000000000000" pitchFamily="34" charset="-122"/>
                    <a:ea typeface="Noto Sans SC" panose="020B0200000000000000" pitchFamily="34" charset="-122"/>
                  </a:rPr>
                  <a:t>定义了</a:t>
                </a:r>
                <a:r>
                  <a:rPr lang="en-US" altLang="zh-CN" dirty="0">
                    <a:latin typeface="Noto Sans SC" panose="020B0200000000000000" pitchFamily="34" charset="-122"/>
                    <a:ea typeface="Noto Sans SC" panose="020B0200000000000000" pitchFamily="34" charset="-122"/>
                  </a:rPr>
                  <a:t>:</a:t>
                </a:r>
              </a:p>
              <a:p>
                <a:pPr algn="just"/>
                <a14:m>
                  <m:oMathPara xmlns:m="http://schemas.openxmlformats.org/officeDocument/2006/math">
                    <m:oMathParaPr>
                      <m:jc m:val="centerGroup"/>
                    </m:oMathParaPr>
                    <m:oMath xmlns:m="http://schemas.openxmlformats.org/officeDocument/2006/math">
                      <m:r>
                        <m:rPr>
                          <m:nor/>
                        </m:rPr>
                        <a:rPr lang="zh-CN" altLang="en-US" i="0">
                          <a:latin typeface="Noto Sans SC" panose="020B0200000000000000" pitchFamily="34" charset="-122"/>
                          <a:ea typeface="Noto Sans SC" panose="020B0200000000000000" pitchFamily="34" charset="-122"/>
                        </a:rPr>
                        <m:t>光视效能常数</m:t>
                      </m:r>
                      <m:r>
                        <m:rPr>
                          <m:nor/>
                        </m:rPr>
                        <a:rPr lang="en-US" altLang="zh-CN" i="0">
                          <a:latin typeface="Noto Sans SC" panose="020B0200000000000000" pitchFamily="34" charset="-122"/>
                          <a:ea typeface="Noto Sans SC" panose="020B0200000000000000" pitchFamily="34" charset="-122"/>
                        </a:rPr>
                        <m:t> </m:t>
                      </m:r>
                      <m:sSub>
                        <m:sSubPr>
                          <m:ctrlPr>
                            <a:rPr lang="en-US" altLang="zh-CN" i="1">
                              <a:latin typeface="Cambria Math" panose="02040503050406030204" pitchFamily="18" charset="0"/>
                              <a:ea typeface="Noto Sans SC" panose="020B0200000000000000" pitchFamily="34" charset="-122"/>
                            </a:rPr>
                          </m:ctrlPr>
                        </m:sSubPr>
                        <m:e>
                          <m:r>
                            <m:rPr>
                              <m:nor/>
                            </m:rPr>
                            <a:rPr lang="en-US" altLang="zh-CN" i="0">
                              <a:latin typeface="Noto Sans SC" panose="020B0200000000000000" pitchFamily="34" charset="-122"/>
                              <a:ea typeface="Noto Sans SC" panose="020B0200000000000000" pitchFamily="34" charset="-122"/>
                            </a:rPr>
                            <m:t>K</m:t>
                          </m:r>
                        </m:e>
                        <m:sub>
                          <m:r>
                            <a:rPr lang="en-US" altLang="zh-CN" i="1">
                              <a:latin typeface="Cambria Math" panose="02040503050406030204" pitchFamily="18" charset="0"/>
                            </a:rPr>
                            <m:t>𝑐𝑑</m:t>
                          </m:r>
                        </m:sub>
                      </m:sSub>
                      <m:r>
                        <a:rPr lang="en-US" altLang="zh-CN" i="1">
                          <a:latin typeface="Cambria Math" panose="02040503050406030204" pitchFamily="18" charset="0"/>
                        </a:rPr>
                        <m:t>=683 </m:t>
                      </m:r>
                      <m:r>
                        <a:rPr lang="en-US" altLang="zh-CN" i="1">
                          <a:latin typeface="Cambria Math" panose="02040503050406030204" pitchFamily="18" charset="0"/>
                        </a:rPr>
                        <m:t>𝑙𝑚</m:t>
                      </m:r>
                      <m:r>
                        <a:rPr lang="en-US" altLang="zh-CN" i="1">
                          <a:latin typeface="Cambria Math" panose="02040503050406030204" pitchFamily="18" charset="0"/>
                        </a:rPr>
                        <m:t>/</m:t>
                      </m:r>
                      <m:r>
                        <a:rPr lang="en-US" altLang="zh-CN" i="1">
                          <a:latin typeface="Cambria Math" panose="02040503050406030204" pitchFamily="18" charset="0"/>
                        </a:rPr>
                        <m:t>𝑊</m:t>
                      </m:r>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7" name="文本框 6">
                <a:extLst>
                  <a:ext uri="{FF2B5EF4-FFF2-40B4-BE49-F238E27FC236}">
                    <a16:creationId xmlns:a16="http://schemas.microsoft.com/office/drawing/2014/main" id="{33960080-EA6F-E92A-FF8D-4F760BA92943}"/>
                  </a:ext>
                </a:extLst>
              </p:cNvPr>
              <p:cNvSpPr txBox="1">
                <a:spLocks noRot="1" noChangeAspect="1" noMove="1" noResize="1" noEditPoints="1" noAdjustHandles="1" noChangeArrowheads="1" noChangeShapeType="1" noTextEdit="1"/>
              </p:cNvSpPr>
              <p:nvPr/>
            </p:nvSpPr>
            <p:spPr>
              <a:xfrm>
                <a:off x="5291482" y="1345828"/>
                <a:ext cx="6664612" cy="1763303"/>
              </a:xfrm>
              <a:prstGeom prst="rect">
                <a:avLst/>
              </a:prstGeom>
              <a:blipFill>
                <a:blip r:embed="rId2"/>
                <a:stretch>
                  <a:fillRect l="-732" t="-2076" r="-732" b="-48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31646C1-1C0F-2043-5FB2-FFA71337570C}"/>
                  </a:ext>
                </a:extLst>
              </p:cNvPr>
              <p:cNvSpPr txBox="1"/>
              <p:nvPr/>
            </p:nvSpPr>
            <p:spPr>
              <a:xfrm>
                <a:off x="575375" y="2855965"/>
                <a:ext cx="4107772" cy="2314544"/>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a:t>
                </a:r>
                <a:r>
                  <a:rPr lang="en-US" altLang="zh-CN" dirty="0">
                    <a:latin typeface="Noto Sans SC" panose="020B0200000000000000" pitchFamily="34" charset="-122"/>
                    <a:ea typeface="Noto Sans SC" panose="020B0200000000000000" pitchFamily="34" charset="-122"/>
                  </a:rPr>
                  <a:t>1924</a:t>
                </a:r>
                <a:r>
                  <a:rPr lang="zh-CN" altLang="en-US" dirty="0">
                    <a:latin typeface="Noto Sans SC" panose="020B0200000000000000" pitchFamily="34" charset="-122"/>
                    <a:ea typeface="Noto Sans SC" panose="020B0200000000000000" pitchFamily="34" charset="-122"/>
                  </a:rPr>
                  <a:t>年，国际照明委员会通过对前人实验数据的总结，定义了视见函数</a:t>
                </a:r>
                <a14:m>
                  <m:oMath xmlns:m="http://schemas.openxmlformats.org/officeDocument/2006/math">
                    <m:r>
                      <m:rPr>
                        <m:sty m:val="p"/>
                      </m:rPr>
                      <a:rPr lang="en-US" altLang="zh-CN" i="1" dirty="0">
                        <a:latin typeface="Cambria Math" panose="02040503050406030204" pitchFamily="18" charset="0"/>
                      </a:rPr>
                      <m:t>V</m:t>
                    </m:r>
                    <m:r>
                      <a:rPr lang="en-US" altLang="zh-CN" i="1" dirty="0">
                        <a:latin typeface="Cambria Math" panose="02040503050406030204" pitchFamily="18" charset="0"/>
                      </a:rPr>
                      <m:t>(</m:t>
                    </m:r>
                    <m:r>
                      <a:rPr lang="en-US" altLang="zh-CN" i="1" dirty="0">
                        <a:latin typeface="Cambria Math" panose="02040503050406030204" pitchFamily="18" charset="0"/>
                      </a:rPr>
                      <m:t>𝜆</m:t>
                    </m:r>
                    <m:r>
                      <a:rPr lang="en-US" altLang="zh-CN" i="1" dirty="0">
                        <a:latin typeface="Cambria Math" panose="02040503050406030204" pitchFamily="18" charset="0"/>
                      </a:rPr>
                      <m:t>)</m:t>
                    </m:r>
                  </m:oMath>
                </a14:m>
                <a:r>
                  <a:rPr lang="zh-CN" altLang="en-US" dirty="0">
                    <a:latin typeface="Noto Sans SC" panose="020B0200000000000000" pitchFamily="34" charset="-122"/>
                    <a:ea typeface="Noto Sans SC" panose="020B0200000000000000" pitchFamily="34" charset="-122"/>
                  </a:rPr>
                  <a:t>，其函数值范围是</a:t>
                </a:r>
                <a:r>
                  <a:rPr lang="en-US" altLang="zh-CN" dirty="0">
                    <a:latin typeface="Noto Sans SC" panose="020B0200000000000000" pitchFamily="34" charset="-122"/>
                    <a:ea typeface="Noto Sans SC" panose="020B0200000000000000" pitchFamily="34" charset="-122"/>
                  </a:rPr>
                  <a:t>0-1</a:t>
                </a:r>
                <a:r>
                  <a:rPr lang="zh-CN" altLang="en-US" dirty="0">
                    <a:latin typeface="Noto Sans SC" panose="020B0200000000000000" pitchFamily="34" charset="-122"/>
                    <a:ea typeface="Noto Sans SC" panose="020B0200000000000000" pitchFamily="34" charset="-122"/>
                  </a:rPr>
                  <a:t>，对应人眼对不同波长光亮度的敏感程度，其中</a:t>
                </a:r>
                <a:r>
                  <a:rPr lang="en-US" altLang="zh-CN" dirty="0">
                    <a:latin typeface="Noto Sans SC" panose="020B0200000000000000" pitchFamily="34" charset="-122"/>
                    <a:ea typeface="Noto Sans SC" panose="020B0200000000000000" pitchFamily="34" charset="-122"/>
                  </a:rPr>
                  <a:t>555nm</a:t>
                </a:r>
                <a:r>
                  <a:rPr lang="zh-CN" altLang="en-US" dirty="0">
                    <a:latin typeface="Noto Sans SC" panose="020B0200000000000000" pitchFamily="34" charset="-122"/>
                    <a:ea typeface="Noto Sans SC" panose="020B0200000000000000" pitchFamily="34" charset="-122"/>
                  </a:rPr>
                  <a:t>处对应函数最大值，也就是人眼对</a:t>
                </a:r>
                <a:r>
                  <a:rPr lang="en-US" altLang="zh-CN" dirty="0">
                    <a:latin typeface="Noto Sans SC" panose="020B0200000000000000" pitchFamily="34" charset="-122"/>
                    <a:ea typeface="Noto Sans SC" panose="020B0200000000000000" pitchFamily="34" charset="-122"/>
                  </a:rPr>
                  <a:t>555nm</a:t>
                </a:r>
                <a:r>
                  <a:rPr lang="zh-CN" altLang="en-US" dirty="0">
                    <a:latin typeface="Noto Sans SC" panose="020B0200000000000000" pitchFamily="34" charset="-122"/>
                    <a:ea typeface="Noto Sans SC" panose="020B0200000000000000" pitchFamily="34" charset="-122"/>
                  </a:rPr>
                  <a:t>波长光最敏感，这也而就是“</a:t>
                </a:r>
                <a:r>
                  <a:rPr lang="zh-CN" altLang="en-US" b="1" dirty="0">
                    <a:latin typeface="Noto Sans SC" panose="020B0200000000000000" pitchFamily="34" charset="-122"/>
                    <a:ea typeface="Noto Sans SC" panose="020B0200000000000000" pitchFamily="34" charset="-122"/>
                  </a:rPr>
                  <a:t>频率为</a:t>
                </a:r>
                <a14:m>
                  <m:oMath xmlns:m="http://schemas.openxmlformats.org/officeDocument/2006/math">
                    <m:r>
                      <a:rPr lang="en-US" altLang="zh-CN" b="1" i="1">
                        <a:latin typeface="Cambria Math" panose="02040503050406030204" pitchFamily="18" charset="0"/>
                      </a:rPr>
                      <m:t>𝟓𝟒𝟎</m:t>
                    </m:r>
                    <m:r>
                      <a:rPr lang="en-US" altLang="zh-CN" b="1" i="1">
                        <a:latin typeface="Cambria Math" panose="02040503050406030204" pitchFamily="18" charset="0"/>
                      </a:rPr>
                      <m:t>×</m:t>
                    </m:r>
                    <m:sSup>
                      <m:sSupPr>
                        <m:ctrlPr>
                          <a:rPr lang="en-US" altLang="zh-CN" b="1" i="1">
                            <a:latin typeface="Cambria Math" panose="02040503050406030204" pitchFamily="18" charset="0"/>
                          </a:rPr>
                        </m:ctrlPr>
                      </m:sSupPr>
                      <m:e>
                        <m:r>
                          <a:rPr lang="en-US" altLang="zh-CN" b="1" i="1">
                            <a:latin typeface="Cambria Math" panose="02040503050406030204" pitchFamily="18" charset="0"/>
                          </a:rPr>
                          <m:t>𝟏𝟎</m:t>
                        </m:r>
                      </m:e>
                      <m:sup>
                        <m:r>
                          <a:rPr lang="en-US" altLang="zh-CN" b="1" i="1">
                            <a:latin typeface="Cambria Math" panose="02040503050406030204" pitchFamily="18" charset="0"/>
                          </a:rPr>
                          <m:t>𝟏𝟐</m:t>
                        </m:r>
                      </m:sup>
                    </m:sSup>
                    <m:r>
                      <a:rPr lang="en-US" altLang="zh-CN" b="1" i="1">
                        <a:latin typeface="Cambria Math" panose="02040503050406030204" pitchFamily="18" charset="0"/>
                      </a:rPr>
                      <m:t>𝑯𝒛</m:t>
                    </m:r>
                  </m:oMath>
                </a14:m>
                <a:r>
                  <a:rPr lang="zh-CN" altLang="en-US" b="1" dirty="0">
                    <a:latin typeface="Noto Sans SC" panose="020B0200000000000000" pitchFamily="34" charset="-122"/>
                    <a:ea typeface="Noto Sans SC" panose="020B0200000000000000" pitchFamily="34" charset="-122"/>
                  </a:rPr>
                  <a:t>的单色光</a:t>
                </a:r>
                <a:r>
                  <a:rPr lang="zh-CN" altLang="en-US" dirty="0">
                    <a:latin typeface="Noto Sans SC" panose="020B0200000000000000" pitchFamily="34" charset="-122"/>
                    <a:ea typeface="Noto Sans SC" panose="020B0200000000000000" pitchFamily="34" charset="-122"/>
                  </a:rPr>
                  <a:t>”的由来。</a:t>
                </a:r>
                <a:endParaRPr lang="en-US" altLang="zh-CN" dirty="0">
                  <a:latin typeface="Noto Sans SC" panose="020B0200000000000000" pitchFamily="34" charset="-122"/>
                  <a:ea typeface="Noto Sans SC" panose="020B0200000000000000" pitchFamily="34" charset="-122"/>
                </a:endParaRPr>
              </a:p>
            </p:txBody>
          </p:sp>
        </mc:Choice>
        <mc:Fallback xmlns="">
          <p:sp>
            <p:nvSpPr>
              <p:cNvPr id="3" name="文本框 2">
                <a:extLst>
                  <a:ext uri="{FF2B5EF4-FFF2-40B4-BE49-F238E27FC236}">
                    <a16:creationId xmlns:a16="http://schemas.microsoft.com/office/drawing/2014/main" id="{831646C1-1C0F-2043-5FB2-FFA71337570C}"/>
                  </a:ext>
                </a:extLst>
              </p:cNvPr>
              <p:cNvSpPr txBox="1">
                <a:spLocks noRot="1" noChangeAspect="1" noMove="1" noResize="1" noEditPoints="1" noAdjustHandles="1" noChangeArrowheads="1" noChangeShapeType="1" noTextEdit="1"/>
              </p:cNvSpPr>
              <p:nvPr/>
            </p:nvSpPr>
            <p:spPr>
              <a:xfrm>
                <a:off x="575375" y="2855965"/>
                <a:ext cx="4107772" cy="2314544"/>
              </a:xfrm>
              <a:prstGeom prst="rect">
                <a:avLst/>
              </a:prstGeom>
              <a:blipFill>
                <a:blip r:embed="rId3"/>
                <a:stretch>
                  <a:fillRect l="-1187" t="-1316" r="-1335" b="-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314CC3C-BFDE-195D-906E-D48FF0B8E592}"/>
                  </a:ext>
                </a:extLst>
              </p:cNvPr>
              <p:cNvSpPr txBox="1"/>
              <p:nvPr/>
            </p:nvSpPr>
            <p:spPr>
              <a:xfrm>
                <a:off x="5198301" y="3242375"/>
                <a:ext cx="6222304" cy="169931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zh-CN" altLang="en-US" i="1" smtClean="0">
                          <a:latin typeface="Cambria Math" panose="02040503050406030204" pitchFamily="18" charset="0"/>
                        </a:rPr>
                        <m:t>从</m:t>
                      </m:r>
                      <m:r>
                        <a:rPr lang="en-US" altLang="zh-CN" b="0" i="1" smtClean="0">
                          <a:latin typeface="Cambria Math" panose="02040503050406030204" pitchFamily="18" charset="0"/>
                        </a:rPr>
                        <m:t>𝑆𝑝𝑒𝑐𝑡𝑟𝑎𝑙</m:t>
                      </m:r>
                      <m:r>
                        <a:rPr lang="en-US" altLang="zh-CN" b="0" i="1" smtClean="0">
                          <a:latin typeface="Cambria Math" panose="02040503050406030204" pitchFamily="18" charset="0"/>
                        </a:rPr>
                        <m:t> </m:t>
                      </m:r>
                      <m:r>
                        <a:rPr lang="en-US" altLang="zh-CN" b="0" i="1" smtClean="0">
                          <a:latin typeface="Cambria Math" panose="02040503050406030204" pitchFamily="18" charset="0"/>
                        </a:rPr>
                        <m:t>𝐼𝑛𝑡𝑒𝑛𝑠𝑖𝑡𝑦</m:t>
                      </m:r>
                      <m:r>
                        <a:rPr lang="zh-CN" altLang="en-US" i="1">
                          <a:latin typeface="Cambria Math" panose="02040503050406030204" pitchFamily="18" charset="0"/>
                        </a:rPr>
                        <m:t>计算</m:t>
                      </m:r>
                      <m:r>
                        <a:rPr lang="zh-CN" altLang="en-US" i="1" smtClean="0">
                          <a:latin typeface="Cambria Math" panose="02040503050406030204" pitchFamily="18" charset="0"/>
                        </a:rPr>
                        <m:t>亮度</m:t>
                      </m:r>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𝑐𝑑</m:t>
                          </m:r>
                        </m:sub>
                      </m:sSub>
                      <m:nary>
                        <m:naryPr>
                          <m:subHide m:val="on"/>
                          <m:supHide m:val="on"/>
                          <m:ctrlPr>
                            <a:rPr lang="en-US" altLang="zh-CN" b="0" i="1" smtClean="0">
                              <a:latin typeface="Cambria Math" panose="02040503050406030204" pitchFamily="18" charset="0"/>
                            </a:rPr>
                          </m:ctrlPr>
                        </m:naryPr>
                        <m:sub/>
                        <m:sup/>
                        <m:e>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r>
                            <a:rPr lang="en-US" altLang="zh-CN" b="0" i="1" smtClean="0">
                              <a:latin typeface="Cambria Math" panose="02040503050406030204" pitchFamily="18" charset="0"/>
                            </a:rPr>
                            <m:t>𝐼</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r>
                            <a:rPr lang="en-US" altLang="zh-CN" b="0" i="1" smtClean="0">
                              <a:latin typeface="Cambria Math" panose="02040503050406030204" pitchFamily="18" charset="0"/>
                            </a:rPr>
                            <m:t>𝑑</m:t>
                          </m:r>
                          <m:r>
                            <a:rPr lang="en-US" altLang="zh-CN" b="0" i="1" smtClean="0">
                              <a:latin typeface="Cambria Math" panose="02040503050406030204" pitchFamily="18" charset="0"/>
                            </a:rPr>
                            <m:t>𝜆</m:t>
                          </m:r>
                        </m:e>
                      </m:nary>
                      <m:r>
                        <a:rPr lang="en-US" altLang="zh-CN" b="0" i="1" smtClean="0">
                          <a:latin typeface="Cambria Math" panose="02040503050406030204" pitchFamily="18" charset="0"/>
                        </a:rPr>
                        <m:t>=</m:t>
                      </m:r>
                      <m:r>
                        <a:rPr lang="en-US" altLang="zh-CN" b="0" i="1" smtClean="0">
                          <a:latin typeface="Cambria Math" panose="02040503050406030204" pitchFamily="18" charset="0"/>
                        </a:rPr>
                        <m:t>𝑐𝑎𝑛𝑑𝑒𝑙𝑎</m:t>
                      </m:r>
                    </m:oMath>
                  </m:oMathPara>
                </a14:m>
                <a:endParaRPr lang="en-US" altLang="zh-CN" b="0"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left"/>
                    </m:oMathParaPr>
                    <m:oMath xmlns:m="http://schemas.openxmlformats.org/officeDocument/2006/math">
                      <m:r>
                        <a:rPr lang="zh-CN" altLang="en-US" i="1">
                          <a:latin typeface="Cambria Math" panose="02040503050406030204" pitchFamily="18" charset="0"/>
                        </a:rPr>
                        <m:t>从</m:t>
                      </m:r>
                      <m:r>
                        <a:rPr lang="en-US" altLang="zh-CN" i="1">
                          <a:latin typeface="Cambria Math" panose="02040503050406030204" pitchFamily="18" charset="0"/>
                        </a:rPr>
                        <m:t>𝑆𝑝𝑒𝑐𝑡𝑟𝑎𝑙</m:t>
                      </m:r>
                      <m:r>
                        <a:rPr lang="en-US" altLang="zh-CN" i="1">
                          <a:latin typeface="Cambria Math" panose="02040503050406030204" pitchFamily="18" charset="0"/>
                        </a:rPr>
                        <m:t> </m:t>
                      </m:r>
                      <m:r>
                        <a:rPr lang="en-US" altLang="zh-CN" i="1">
                          <a:latin typeface="Cambria Math" panose="02040503050406030204" pitchFamily="18" charset="0"/>
                        </a:rPr>
                        <m:t>𝐼𝑟𝑟𝑎𝑑𝑖𝑎𝑛𝑐𝑒</m:t>
                      </m:r>
                      <m:r>
                        <a:rPr lang="zh-CN" altLang="en-US" i="1">
                          <a:latin typeface="Cambria Math" panose="02040503050406030204" pitchFamily="18" charset="0"/>
                        </a:rPr>
                        <m:t>计算亮度：</m:t>
                      </m:r>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𝑐𝑑</m:t>
                          </m:r>
                        </m:sub>
                      </m:sSub>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m:rPr>
                              <m:sty m:val="p"/>
                            </m:rPr>
                            <a:rPr lang="en-US" altLang="zh-CN" i="1" smtClean="0">
                              <a:latin typeface="Cambria Math" panose="02040503050406030204" pitchFamily="18" charset="0"/>
                            </a:rPr>
                            <m:t>E</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𝑑</m:t>
                          </m:r>
                          <m:r>
                            <a:rPr lang="en-US" altLang="zh-CN" i="1">
                              <a:latin typeface="Cambria Math" panose="02040503050406030204" pitchFamily="18" charset="0"/>
                            </a:rPr>
                            <m:t>𝜆</m:t>
                          </m:r>
                        </m:e>
                      </m:nary>
                      <m:r>
                        <a:rPr lang="en-US" altLang="zh-CN" b="0" i="1" smtClean="0">
                          <a:latin typeface="Cambria Math" panose="02040503050406030204" pitchFamily="18" charset="0"/>
                        </a:rPr>
                        <m:t>=</m:t>
                      </m:r>
                      <m:r>
                        <a:rPr lang="en-US" altLang="zh-CN" b="0" i="1" smtClean="0">
                          <a:latin typeface="Cambria Math" panose="02040503050406030204" pitchFamily="18" charset="0"/>
                        </a:rPr>
                        <m:t>𝑙𝑢𝑥</m:t>
                      </m:r>
                    </m:oMath>
                  </m:oMathPara>
                </a14:m>
                <a:endParaRPr lang="zh-CN" altLang="en-US"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left"/>
                    </m:oMathParaPr>
                    <m:oMath xmlns:m="http://schemas.openxmlformats.org/officeDocument/2006/math">
                      <m:r>
                        <a:rPr lang="zh-CN" altLang="en-US" i="1">
                          <a:latin typeface="Cambria Math" panose="02040503050406030204" pitchFamily="18" charset="0"/>
                        </a:rPr>
                        <m:t>从</m:t>
                      </m:r>
                      <m:r>
                        <a:rPr lang="en-US" altLang="zh-CN" i="1">
                          <a:latin typeface="Cambria Math" panose="02040503050406030204" pitchFamily="18" charset="0"/>
                        </a:rPr>
                        <m:t>𝑆𝑝𝑒𝑐𝑡𝑟𝑎𝑙</m:t>
                      </m:r>
                      <m:r>
                        <a:rPr lang="en-US" altLang="zh-CN" i="1">
                          <a:latin typeface="Cambria Math" panose="02040503050406030204" pitchFamily="18" charset="0"/>
                        </a:rPr>
                        <m:t> </m:t>
                      </m:r>
                      <m:r>
                        <a:rPr lang="en-US" altLang="zh-CN" b="0" i="1" smtClean="0">
                          <a:latin typeface="Cambria Math" panose="02040503050406030204" pitchFamily="18" charset="0"/>
                        </a:rPr>
                        <m:t>𝑅𝑎𝑑𝑖𝑎𝑛𝑐𝑒</m:t>
                      </m:r>
                      <m:r>
                        <a:rPr lang="zh-CN" altLang="en-US" i="1">
                          <a:latin typeface="Cambria Math" panose="02040503050406030204" pitchFamily="18" charset="0"/>
                        </a:rPr>
                        <m:t>计算亮度：</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𝑐𝑑</m:t>
                          </m:r>
                        </m:sub>
                      </m:sSub>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𝑑</m:t>
                          </m:r>
                          <m:r>
                            <a:rPr lang="en-US" altLang="zh-CN" i="1">
                              <a:latin typeface="Cambria Math" panose="02040503050406030204" pitchFamily="18" charset="0"/>
                            </a:rPr>
                            <m:t>𝜆</m:t>
                          </m:r>
                        </m:e>
                      </m:nary>
                      <m:r>
                        <a:rPr lang="en-US" altLang="zh-CN" b="0" i="1" smtClean="0">
                          <a:latin typeface="Cambria Math" panose="02040503050406030204" pitchFamily="18" charset="0"/>
                        </a:rPr>
                        <m:t>=</m:t>
                      </m:r>
                      <m:r>
                        <a:rPr lang="en-US" altLang="zh-CN" b="0" i="1" smtClean="0">
                          <a:latin typeface="Cambria Math" panose="02040503050406030204" pitchFamily="18" charset="0"/>
                        </a:rPr>
                        <m:t>𝑛𝑖𝑡</m:t>
                      </m:r>
                    </m:oMath>
                  </m:oMathPara>
                </a14:m>
                <a:endParaRPr lang="en-US" altLang="zh-CN" b="0" i="1" dirty="0">
                  <a:latin typeface="Cambria Math" panose="02040503050406030204" pitchFamily="18" charset="0"/>
                  <a:ea typeface="Noto Sans SC" panose="020B0200000000000000" pitchFamily="34" charset="-122"/>
                </a:endParaRPr>
              </a:p>
            </p:txBody>
          </p:sp>
        </mc:Choice>
        <mc:Fallback xmlns="">
          <p:sp>
            <p:nvSpPr>
              <p:cNvPr id="4" name="文本框 3">
                <a:extLst>
                  <a:ext uri="{FF2B5EF4-FFF2-40B4-BE49-F238E27FC236}">
                    <a16:creationId xmlns:a16="http://schemas.microsoft.com/office/drawing/2014/main" id="{3314CC3C-BFDE-195D-906E-D48FF0B8E592}"/>
                  </a:ext>
                </a:extLst>
              </p:cNvPr>
              <p:cNvSpPr txBox="1">
                <a:spLocks noRot="1" noChangeAspect="1" noMove="1" noResize="1" noEditPoints="1" noAdjustHandles="1" noChangeArrowheads="1" noChangeShapeType="1" noTextEdit="1"/>
              </p:cNvSpPr>
              <p:nvPr/>
            </p:nvSpPr>
            <p:spPr>
              <a:xfrm>
                <a:off x="5198301" y="3242375"/>
                <a:ext cx="6222304" cy="1699311"/>
              </a:xfrm>
              <a:prstGeom prst="rect">
                <a:avLst/>
              </a:prstGeom>
              <a:blipFill>
                <a:blip r:embed="rId4"/>
                <a:stretch>
                  <a:fillRect r="-392"/>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BA32D29C-A8C9-A13E-5D61-B28478AD4ADF}"/>
              </a:ext>
            </a:extLst>
          </p:cNvPr>
          <p:cNvPicPr>
            <a:picLocks noChangeAspect="1"/>
          </p:cNvPicPr>
          <p:nvPr/>
        </p:nvPicPr>
        <p:blipFill>
          <a:blip r:embed="rId5"/>
          <a:stretch>
            <a:fillRect/>
          </a:stretch>
        </p:blipFill>
        <p:spPr>
          <a:xfrm>
            <a:off x="4610939" y="5170509"/>
            <a:ext cx="7397028" cy="1390389"/>
          </a:xfrm>
          <a:prstGeom prst="rect">
            <a:avLst/>
          </a:prstGeom>
        </p:spPr>
      </p:pic>
      <p:pic>
        <p:nvPicPr>
          <p:cNvPr id="14" name="图片 13">
            <a:extLst>
              <a:ext uri="{FF2B5EF4-FFF2-40B4-BE49-F238E27FC236}">
                <a16:creationId xmlns:a16="http://schemas.microsoft.com/office/drawing/2014/main" id="{66B20DEE-8BBE-47BF-114E-6D76BB2D0AF8}"/>
              </a:ext>
            </a:extLst>
          </p:cNvPr>
          <p:cNvPicPr>
            <a:picLocks noChangeAspect="1"/>
          </p:cNvPicPr>
          <p:nvPr/>
        </p:nvPicPr>
        <p:blipFill>
          <a:blip r:embed="rId6"/>
          <a:srcRect b="29412"/>
          <a:stretch>
            <a:fillRect/>
          </a:stretch>
        </p:blipFill>
        <p:spPr>
          <a:xfrm>
            <a:off x="1677254" y="4941686"/>
            <a:ext cx="2587986" cy="1740371"/>
          </a:xfrm>
          <a:prstGeom prst="rect">
            <a:avLst/>
          </a:prstGeom>
        </p:spPr>
      </p:pic>
    </p:spTree>
    <p:extLst>
      <p:ext uri="{BB962C8B-B14F-4D97-AF65-F5344CB8AC3E}">
        <p14:creationId xmlns:p14="http://schemas.microsoft.com/office/powerpoint/2010/main" val="1424709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A2791-CD11-139C-1DEC-A2810DC9372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1A40948C-D4FD-D119-7132-B3F8DF85F97B}"/>
              </a:ext>
            </a:extLst>
          </p:cNvPr>
          <p:cNvSpPr>
            <a:spLocks noGrp="1"/>
          </p:cNvSpPr>
          <p:nvPr>
            <p:ph type="title" idx="1"/>
          </p:nvPr>
        </p:nvSpPr>
        <p:spPr/>
        <p:txBody>
          <a:bodyPr/>
          <a:lstStyle/>
          <a:p>
            <a:r>
              <a:rPr lang="zh-CN" altLang="en-US" dirty="0"/>
              <a:t>色彩科学 </a:t>
            </a:r>
            <a:r>
              <a:rPr lang="en-US" altLang="zh-CN" dirty="0"/>
              <a:t>—— </a:t>
            </a:r>
            <a:r>
              <a:rPr lang="zh-CN" altLang="en-US" dirty="0"/>
              <a:t>前置知识</a:t>
            </a:r>
          </a:p>
        </p:txBody>
      </p:sp>
      <p:sp>
        <p:nvSpPr>
          <p:cNvPr id="6" name="文本框 5">
            <a:extLst>
              <a:ext uri="{FF2B5EF4-FFF2-40B4-BE49-F238E27FC236}">
                <a16:creationId xmlns:a16="http://schemas.microsoft.com/office/drawing/2014/main" id="{AED1E436-2ABC-F04A-2523-2AAB9A8E9F66}"/>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Helmholtz-Kohlrausch</a:t>
            </a:r>
            <a:r>
              <a:rPr lang="zh-CN" altLang="en-US" sz="2000" b="1" dirty="0">
                <a:latin typeface="Noto Sans SC" panose="020B0200000000000000" pitchFamily="34" charset="-122"/>
                <a:ea typeface="Noto Sans SC" panose="020B0200000000000000" pitchFamily="34" charset="-122"/>
              </a:rPr>
              <a:t>效应</a:t>
            </a:r>
          </a:p>
        </p:txBody>
      </p:sp>
      <p:sp>
        <p:nvSpPr>
          <p:cNvPr id="9" name="文本框 8">
            <a:extLst>
              <a:ext uri="{FF2B5EF4-FFF2-40B4-BE49-F238E27FC236}">
                <a16:creationId xmlns:a16="http://schemas.microsoft.com/office/drawing/2014/main" id="{584B900F-9671-3E50-2B31-81194264AF46}"/>
              </a:ext>
            </a:extLst>
          </p:cNvPr>
          <p:cNvSpPr txBox="1"/>
          <p:nvPr/>
        </p:nvSpPr>
        <p:spPr>
          <a:xfrm>
            <a:off x="633330" y="2153320"/>
            <a:ext cx="4107772" cy="369332"/>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什么是</a:t>
            </a:r>
            <a:r>
              <a:rPr lang="zh-CN" altLang="en-US" b="1" dirty="0">
                <a:latin typeface="Noto Sans SC" panose="020B0200000000000000" pitchFamily="34" charset="-122"/>
                <a:ea typeface="Noto Sans SC" panose="020B0200000000000000" pitchFamily="34" charset="-122"/>
              </a:rPr>
              <a:t>明度</a:t>
            </a:r>
            <a:r>
              <a:rPr lang="en-US" altLang="zh-CN" b="1" dirty="0">
                <a:latin typeface="Noto Sans SC" panose="020B0200000000000000" pitchFamily="34" charset="-122"/>
                <a:ea typeface="Noto Sans SC" panose="020B0200000000000000" pitchFamily="34" charset="-122"/>
              </a:rPr>
              <a:t>(Brightness)</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p:sp>
        <p:nvSpPr>
          <p:cNvPr id="7" name="文本框 6">
            <a:extLst>
              <a:ext uri="{FF2B5EF4-FFF2-40B4-BE49-F238E27FC236}">
                <a16:creationId xmlns:a16="http://schemas.microsoft.com/office/drawing/2014/main" id="{C31A1B4F-89D7-A407-D792-6954DF5BCBEC}"/>
              </a:ext>
            </a:extLst>
          </p:cNvPr>
          <p:cNvSpPr txBox="1"/>
          <p:nvPr/>
        </p:nvSpPr>
        <p:spPr>
          <a:xfrm>
            <a:off x="5012219" y="2907472"/>
            <a:ext cx="5202756" cy="1477328"/>
          </a:xfrm>
          <a:prstGeom prst="rect">
            <a:avLst/>
          </a:prstGeom>
          <a:noFill/>
        </p:spPr>
        <p:txBody>
          <a:bodyPr wrap="square">
            <a:spAutoFit/>
          </a:bodyPr>
          <a:lstStyle/>
          <a:p>
            <a:pPr algn="just"/>
            <a:r>
              <a:rPr lang="zh-CN" altLang="en-US" dirty="0">
                <a:latin typeface="Noto Sans SC" panose="020B0200000000000000" pitchFamily="34" charset="-122"/>
                <a:ea typeface="Noto Sans SC" panose="020B0200000000000000" pitchFamily="34" charset="-122"/>
              </a:rPr>
              <a:t>         后来，随着科学的发展，</a:t>
            </a:r>
            <a:r>
              <a:rPr lang="zh-CN" altLang="zh-CN" dirty="0">
                <a:latin typeface="Noto Sans SC" panose="020B0200000000000000" pitchFamily="34" charset="-122"/>
                <a:ea typeface="Noto Sans SC" panose="020B0200000000000000" pitchFamily="34" charset="-122"/>
              </a:rPr>
              <a:t> 1939 </a:t>
            </a:r>
            <a:r>
              <a:rPr lang="zh-CN" altLang="en-US" dirty="0">
                <a:latin typeface="Noto Sans SC" panose="020B0200000000000000" pitchFamily="34" charset="-122"/>
                <a:ea typeface="Noto Sans SC" panose="020B0200000000000000" pitchFamily="34" charset="-122"/>
              </a:rPr>
              <a:t>年，科学界才正式命名了</a:t>
            </a:r>
            <a:r>
              <a:rPr lang="en-US" altLang="zh-CN" dirty="0">
                <a:latin typeface="Noto Sans SC" panose="020B0200000000000000" pitchFamily="34" charset="-122"/>
                <a:ea typeface="Noto Sans SC" panose="020B0200000000000000" pitchFamily="34" charset="-122"/>
              </a:rPr>
              <a:t>“Helmholtz-Kohlrausch</a:t>
            </a:r>
            <a:r>
              <a:rPr lang="zh-CN" altLang="en-US" dirty="0">
                <a:latin typeface="Noto Sans SC" panose="020B0200000000000000" pitchFamily="34" charset="-122"/>
                <a:ea typeface="Noto Sans SC" panose="020B0200000000000000" pitchFamily="34" charset="-122"/>
              </a:rPr>
              <a:t>效应</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H-K</a:t>
            </a:r>
            <a:r>
              <a:rPr lang="zh-CN" altLang="en-US" dirty="0">
                <a:latin typeface="Noto Sans SC" panose="020B0200000000000000" pitchFamily="34" charset="-122"/>
                <a:ea typeface="Noto Sans SC" panose="020B0200000000000000" pitchFamily="34" charset="-122"/>
              </a:rPr>
              <a:t>效应：</a:t>
            </a:r>
            <a:r>
              <a:rPr lang="zh-CN" altLang="zh-CN" dirty="0">
                <a:latin typeface="Noto Sans SC" panose="020B0200000000000000" pitchFamily="34" charset="-122"/>
                <a:ea typeface="Noto Sans SC" panose="020B0200000000000000" pitchFamily="34" charset="-122"/>
              </a:rPr>
              <a:t>当</a:t>
            </a:r>
            <a:r>
              <a:rPr lang="zh-CN" altLang="en-US" dirty="0">
                <a:latin typeface="Noto Sans SC" panose="020B0200000000000000" pitchFamily="34" charset="-122"/>
                <a:ea typeface="Noto Sans SC" panose="020B0200000000000000" pitchFamily="34" charset="-122"/>
              </a:rPr>
              <a:t>不同颜色</a:t>
            </a:r>
            <a:r>
              <a:rPr lang="zh-CN" altLang="zh-CN" dirty="0">
                <a:latin typeface="Noto Sans SC" panose="020B0200000000000000" pitchFamily="34" charset="-122"/>
                <a:ea typeface="Noto Sans SC" panose="020B0200000000000000" pitchFamily="34" charset="-122"/>
              </a:rPr>
              <a:t>光线的亮度</a:t>
            </a:r>
            <a:r>
              <a:rPr lang="en-US" altLang="zh-CN" dirty="0">
                <a:latin typeface="Noto Sans SC" panose="020B0200000000000000" pitchFamily="34" charset="-122"/>
                <a:ea typeface="Noto Sans SC" panose="020B0200000000000000" pitchFamily="34" charset="-122"/>
              </a:rPr>
              <a:t>(Luminance)</a:t>
            </a:r>
            <a:r>
              <a:rPr lang="zh-CN" altLang="en-US" dirty="0">
                <a:latin typeface="Noto Sans SC" panose="020B0200000000000000" pitchFamily="34" charset="-122"/>
                <a:ea typeface="Noto Sans SC" panose="020B0200000000000000" pitchFamily="34" charset="-122"/>
              </a:rPr>
              <a:t>相同时，人眼感知到的主观明度</a:t>
            </a:r>
            <a:r>
              <a:rPr lang="en-US" altLang="zh-CN" dirty="0">
                <a:latin typeface="Noto Sans SC" panose="020B0200000000000000" pitchFamily="34" charset="-122"/>
                <a:ea typeface="Noto Sans SC" panose="020B0200000000000000" pitchFamily="34" charset="-122"/>
              </a:rPr>
              <a:t>(Brightness)</a:t>
            </a:r>
            <a:r>
              <a:rPr lang="zh-CN" altLang="en-US" dirty="0">
                <a:latin typeface="Noto Sans SC" panose="020B0200000000000000" pitchFamily="34" charset="-122"/>
                <a:ea typeface="Noto Sans SC" panose="020B0200000000000000" pitchFamily="34" charset="-122"/>
              </a:rPr>
              <a:t>会随着色彩饱和度的提升而提升。</a:t>
            </a:r>
            <a:endParaRPr lang="en-US" altLang="zh-CN" dirty="0">
              <a:latin typeface="Noto Sans SC" panose="020B0200000000000000" pitchFamily="34" charset="-122"/>
              <a:ea typeface="Noto Sans SC" panose="020B0200000000000000" pitchFamily="34" charset="-122"/>
            </a:endParaRPr>
          </a:p>
        </p:txBody>
      </p:sp>
      <p:sp>
        <p:nvSpPr>
          <p:cNvPr id="3" name="文本框 2">
            <a:extLst>
              <a:ext uri="{FF2B5EF4-FFF2-40B4-BE49-F238E27FC236}">
                <a16:creationId xmlns:a16="http://schemas.microsoft.com/office/drawing/2014/main" id="{5F742B35-E6F5-7161-E0AB-0BA94C61D80B}"/>
              </a:ext>
            </a:extLst>
          </p:cNvPr>
          <p:cNvSpPr txBox="1"/>
          <p:nvPr/>
        </p:nvSpPr>
        <p:spPr>
          <a:xfrm>
            <a:off x="327766" y="4772057"/>
            <a:ext cx="4107772" cy="1200329"/>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亮度</a:t>
            </a:r>
            <a:r>
              <a:rPr lang="en-US" altLang="zh-CN" dirty="0">
                <a:latin typeface="Noto Sans SC" panose="020B0200000000000000" pitchFamily="34" charset="-122"/>
                <a:ea typeface="Noto Sans SC" panose="020B0200000000000000" pitchFamily="34" charset="-122"/>
              </a:rPr>
              <a:t>(</a:t>
            </a:r>
            <a:r>
              <a:rPr lang="zh-CN" altLang="zh-CN" b="1" dirty="0">
                <a:latin typeface="Noto Sans SC" panose="020B0200000000000000" pitchFamily="34" charset="-122"/>
                <a:ea typeface="Noto Sans SC" panose="020B0200000000000000" pitchFamily="34" charset="-122"/>
              </a:rPr>
              <a:t>Luminance</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是光度学</a:t>
            </a:r>
            <a:r>
              <a:rPr lang="zh-CN" altLang="zh-CN" dirty="0">
                <a:latin typeface="Noto Sans SC" panose="020B0200000000000000" pitchFamily="34" charset="-122"/>
                <a:ea typeface="Noto Sans SC" panose="020B0200000000000000" pitchFamily="34" charset="-122"/>
              </a:rPr>
              <a:t>体系</a:t>
            </a:r>
            <a:r>
              <a:rPr lang="zh-CN" altLang="en-US" dirty="0">
                <a:latin typeface="Noto Sans SC" panose="020B0200000000000000" pitchFamily="34" charset="-122"/>
                <a:ea typeface="Noto Sans SC" panose="020B0200000000000000" pitchFamily="34" charset="-122"/>
              </a:rPr>
              <a:t>为了解决“</a:t>
            </a:r>
            <a:r>
              <a:rPr lang="zh-CN" altLang="zh-CN" dirty="0">
                <a:latin typeface="Noto Sans SC" panose="020B0200000000000000" pitchFamily="34" charset="-122"/>
                <a:ea typeface="Noto Sans SC" panose="020B0200000000000000" pitchFamily="34" charset="-122"/>
              </a:rPr>
              <a:t>物理能量与人眼</a:t>
            </a:r>
            <a:r>
              <a:rPr lang="zh-CN" altLang="en-US" dirty="0">
                <a:latin typeface="Noto Sans SC" panose="020B0200000000000000" pitchFamily="34" charset="-122"/>
                <a:ea typeface="Noto Sans SC" panose="020B0200000000000000" pitchFamily="34" charset="-122"/>
              </a:rPr>
              <a:t>感官</a:t>
            </a:r>
            <a:r>
              <a:rPr lang="zh-CN" altLang="zh-CN" dirty="0">
                <a:latin typeface="Noto Sans SC" panose="020B0200000000000000" pitchFamily="34" charset="-122"/>
                <a:ea typeface="Noto Sans SC" panose="020B0200000000000000" pitchFamily="34" charset="-122"/>
              </a:rPr>
              <a:t>的基础转换</a:t>
            </a:r>
            <a:r>
              <a:rPr lang="zh-CN" altLang="en-US" dirty="0">
                <a:latin typeface="Noto Sans SC" panose="020B0200000000000000" pitchFamily="34" charset="-122"/>
                <a:ea typeface="Noto Sans SC" panose="020B0200000000000000" pitchFamily="34" charset="-122"/>
              </a:rPr>
              <a:t>”，坎德拉、勒克斯、尼特等光度量是一套“工程计算的标准体系”。</a:t>
            </a:r>
            <a:endParaRPr lang="en-US" altLang="zh-CN"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D6CAC07-AC73-2710-AA08-DBB6F8C4B437}"/>
                  </a:ext>
                </a:extLst>
              </p:cNvPr>
              <p:cNvSpPr txBox="1"/>
              <p:nvPr/>
            </p:nvSpPr>
            <p:spPr>
              <a:xfrm>
                <a:off x="5171161" y="5022471"/>
                <a:ext cx="6144017" cy="169931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zh-CN" altLang="en-US" i="1" smtClean="0">
                          <a:latin typeface="Cambria Math" panose="02040503050406030204" pitchFamily="18" charset="0"/>
                        </a:rPr>
                        <m:t>从</m:t>
                      </m:r>
                      <m:r>
                        <a:rPr lang="en-US" altLang="zh-CN" b="0" i="1" smtClean="0">
                          <a:latin typeface="Cambria Math" panose="02040503050406030204" pitchFamily="18" charset="0"/>
                        </a:rPr>
                        <m:t>𝑆𝑝𝑒𝑐𝑡𝑟𝑎𝑙</m:t>
                      </m:r>
                      <m:r>
                        <a:rPr lang="en-US" altLang="zh-CN" b="0" i="1" smtClean="0">
                          <a:latin typeface="Cambria Math" panose="02040503050406030204" pitchFamily="18" charset="0"/>
                        </a:rPr>
                        <m:t> </m:t>
                      </m:r>
                      <m:r>
                        <a:rPr lang="en-US" altLang="zh-CN" b="0" i="1" smtClean="0">
                          <a:latin typeface="Cambria Math" panose="02040503050406030204" pitchFamily="18" charset="0"/>
                        </a:rPr>
                        <m:t>𝐼𝑛𝑡𝑒𝑛𝑠𝑖𝑡𝑦</m:t>
                      </m:r>
                      <m:r>
                        <a:rPr lang="zh-CN" altLang="en-US" i="1">
                          <a:latin typeface="Cambria Math" panose="02040503050406030204" pitchFamily="18" charset="0"/>
                        </a:rPr>
                        <m:t>计算</m:t>
                      </m:r>
                      <m:r>
                        <a:rPr lang="zh-CN" altLang="en-US" i="1" smtClean="0">
                          <a:latin typeface="Cambria Math" panose="02040503050406030204" pitchFamily="18" charset="0"/>
                        </a:rPr>
                        <m:t>亮度</m:t>
                      </m:r>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𝑐𝑑</m:t>
                          </m:r>
                        </m:sub>
                      </m:sSub>
                      <m:nary>
                        <m:naryPr>
                          <m:subHide m:val="on"/>
                          <m:supHide m:val="on"/>
                          <m:ctrlPr>
                            <a:rPr lang="en-US" altLang="zh-CN" b="0" i="1" smtClean="0">
                              <a:latin typeface="Cambria Math" panose="02040503050406030204" pitchFamily="18" charset="0"/>
                            </a:rPr>
                          </m:ctrlPr>
                        </m:naryPr>
                        <m:sub/>
                        <m:sup/>
                        <m:e>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r>
                            <a:rPr lang="en-US" altLang="zh-CN" b="0" i="1" smtClean="0">
                              <a:latin typeface="Cambria Math" panose="02040503050406030204" pitchFamily="18" charset="0"/>
                            </a:rPr>
                            <m:t>𝐼</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r>
                            <a:rPr lang="en-US" altLang="zh-CN" b="0" i="1" smtClean="0">
                              <a:latin typeface="Cambria Math" panose="02040503050406030204" pitchFamily="18" charset="0"/>
                            </a:rPr>
                            <m:t>𝑑</m:t>
                          </m:r>
                          <m:r>
                            <a:rPr lang="en-US" altLang="zh-CN" b="0" i="1" smtClean="0">
                              <a:latin typeface="Cambria Math" panose="02040503050406030204" pitchFamily="18" charset="0"/>
                            </a:rPr>
                            <m:t>𝜆</m:t>
                          </m:r>
                        </m:e>
                      </m:nary>
                      <m:r>
                        <a:rPr lang="en-US" altLang="zh-CN" b="0" i="1" smtClean="0">
                          <a:latin typeface="Cambria Math" panose="02040503050406030204" pitchFamily="18" charset="0"/>
                        </a:rPr>
                        <m:t>=</m:t>
                      </m:r>
                      <m:r>
                        <a:rPr lang="en-US" altLang="zh-CN" b="0" i="1" smtClean="0">
                          <a:latin typeface="Cambria Math" panose="02040503050406030204" pitchFamily="18" charset="0"/>
                        </a:rPr>
                        <m:t>𝑐𝑎𝑛𝑑𝑒𝑙𝑎</m:t>
                      </m:r>
                    </m:oMath>
                  </m:oMathPara>
                </a14:m>
                <a:endParaRPr lang="en-US" altLang="zh-CN" b="0"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left"/>
                    </m:oMathParaPr>
                    <m:oMath xmlns:m="http://schemas.openxmlformats.org/officeDocument/2006/math">
                      <m:r>
                        <a:rPr lang="zh-CN" altLang="en-US" i="1">
                          <a:latin typeface="Cambria Math" panose="02040503050406030204" pitchFamily="18" charset="0"/>
                        </a:rPr>
                        <m:t>从</m:t>
                      </m:r>
                      <m:r>
                        <a:rPr lang="en-US" altLang="zh-CN" i="1">
                          <a:latin typeface="Cambria Math" panose="02040503050406030204" pitchFamily="18" charset="0"/>
                        </a:rPr>
                        <m:t>𝑆𝑝𝑒𝑐𝑡𝑟𝑎𝑙</m:t>
                      </m:r>
                      <m:r>
                        <a:rPr lang="en-US" altLang="zh-CN" i="1">
                          <a:latin typeface="Cambria Math" panose="02040503050406030204" pitchFamily="18" charset="0"/>
                        </a:rPr>
                        <m:t> </m:t>
                      </m:r>
                      <m:r>
                        <a:rPr lang="en-US" altLang="zh-CN" i="1">
                          <a:latin typeface="Cambria Math" panose="02040503050406030204" pitchFamily="18" charset="0"/>
                        </a:rPr>
                        <m:t>𝐼𝑟𝑟𝑎𝑑𝑖𝑎𝑛𝑐𝑒</m:t>
                      </m:r>
                      <m:r>
                        <a:rPr lang="zh-CN" altLang="en-US" i="1">
                          <a:latin typeface="Cambria Math" panose="02040503050406030204" pitchFamily="18" charset="0"/>
                        </a:rPr>
                        <m:t>计算亮度：</m:t>
                      </m:r>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𝑐𝑑</m:t>
                          </m:r>
                        </m:sub>
                      </m:sSub>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m:rPr>
                              <m:sty m:val="p"/>
                            </m:rPr>
                            <a:rPr lang="en-US" altLang="zh-CN" i="1" smtClean="0">
                              <a:latin typeface="Cambria Math" panose="02040503050406030204" pitchFamily="18" charset="0"/>
                            </a:rPr>
                            <m:t>E</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𝑑</m:t>
                          </m:r>
                          <m:r>
                            <a:rPr lang="en-US" altLang="zh-CN" i="1">
                              <a:latin typeface="Cambria Math" panose="02040503050406030204" pitchFamily="18" charset="0"/>
                            </a:rPr>
                            <m:t>𝜆</m:t>
                          </m:r>
                        </m:e>
                      </m:nary>
                      <m:r>
                        <a:rPr lang="en-US" altLang="zh-CN" b="0" i="1" smtClean="0">
                          <a:latin typeface="Cambria Math" panose="02040503050406030204" pitchFamily="18" charset="0"/>
                        </a:rPr>
                        <m:t>=</m:t>
                      </m:r>
                      <m:r>
                        <a:rPr lang="en-US" altLang="zh-CN" b="0" i="1" smtClean="0">
                          <a:latin typeface="Cambria Math" panose="02040503050406030204" pitchFamily="18" charset="0"/>
                        </a:rPr>
                        <m:t>𝑙𝑢𝑥</m:t>
                      </m:r>
                    </m:oMath>
                  </m:oMathPara>
                </a14:m>
                <a:endParaRPr lang="zh-CN" altLang="en-US"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left"/>
                    </m:oMathParaPr>
                    <m:oMath xmlns:m="http://schemas.openxmlformats.org/officeDocument/2006/math">
                      <m:r>
                        <a:rPr lang="zh-CN" altLang="en-US" i="1">
                          <a:latin typeface="Cambria Math" panose="02040503050406030204" pitchFamily="18" charset="0"/>
                        </a:rPr>
                        <m:t>从</m:t>
                      </m:r>
                      <m:r>
                        <a:rPr lang="en-US" altLang="zh-CN" i="1">
                          <a:latin typeface="Cambria Math" panose="02040503050406030204" pitchFamily="18" charset="0"/>
                        </a:rPr>
                        <m:t>𝑆𝑝𝑒𝑐𝑡𝑟𝑎𝑙</m:t>
                      </m:r>
                      <m:r>
                        <a:rPr lang="en-US" altLang="zh-CN" i="1">
                          <a:latin typeface="Cambria Math" panose="02040503050406030204" pitchFamily="18" charset="0"/>
                        </a:rPr>
                        <m:t> </m:t>
                      </m:r>
                      <m:r>
                        <a:rPr lang="en-US" altLang="zh-CN" b="0" i="1" smtClean="0">
                          <a:latin typeface="Cambria Math" panose="02040503050406030204" pitchFamily="18" charset="0"/>
                        </a:rPr>
                        <m:t>𝑅𝑎𝑑𝑖𝑎𝑛𝑐𝑒</m:t>
                      </m:r>
                      <m:r>
                        <a:rPr lang="zh-CN" altLang="en-US" i="1">
                          <a:latin typeface="Cambria Math" panose="02040503050406030204" pitchFamily="18" charset="0"/>
                        </a:rPr>
                        <m:t>计算亮度：</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𝑐𝑑</m:t>
                          </m:r>
                        </m:sub>
                      </m:sSub>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𝑑</m:t>
                          </m:r>
                          <m:r>
                            <a:rPr lang="en-US" altLang="zh-CN" i="1">
                              <a:latin typeface="Cambria Math" panose="02040503050406030204" pitchFamily="18" charset="0"/>
                            </a:rPr>
                            <m:t>𝜆</m:t>
                          </m:r>
                        </m:e>
                      </m:nary>
                      <m:r>
                        <a:rPr lang="en-US" altLang="zh-CN" b="0" i="1" smtClean="0">
                          <a:latin typeface="Cambria Math" panose="02040503050406030204" pitchFamily="18" charset="0"/>
                        </a:rPr>
                        <m:t>=</m:t>
                      </m:r>
                      <m:r>
                        <a:rPr lang="en-US" altLang="zh-CN" b="0" i="1" smtClean="0">
                          <a:latin typeface="Cambria Math" panose="02040503050406030204" pitchFamily="18" charset="0"/>
                        </a:rPr>
                        <m:t>𝑛𝑖𝑡</m:t>
                      </m:r>
                    </m:oMath>
                  </m:oMathPara>
                </a14:m>
                <a:endParaRPr lang="en-US" altLang="zh-CN" b="0" i="1" dirty="0">
                  <a:latin typeface="Cambria Math" panose="02040503050406030204" pitchFamily="18" charset="0"/>
                  <a:ea typeface="Noto Sans SC" panose="020B0200000000000000" pitchFamily="34" charset="-122"/>
                </a:endParaRPr>
              </a:p>
            </p:txBody>
          </p:sp>
        </mc:Choice>
        <mc:Fallback xmlns="">
          <p:sp>
            <p:nvSpPr>
              <p:cNvPr id="4" name="文本框 3">
                <a:extLst>
                  <a:ext uri="{FF2B5EF4-FFF2-40B4-BE49-F238E27FC236}">
                    <a16:creationId xmlns:a16="http://schemas.microsoft.com/office/drawing/2014/main" id="{8D6CAC07-AC73-2710-AA08-DBB6F8C4B437}"/>
                  </a:ext>
                </a:extLst>
              </p:cNvPr>
              <p:cNvSpPr txBox="1">
                <a:spLocks noRot="1" noChangeAspect="1" noMove="1" noResize="1" noEditPoints="1" noAdjustHandles="1" noChangeArrowheads="1" noChangeShapeType="1" noTextEdit="1"/>
              </p:cNvSpPr>
              <p:nvPr/>
            </p:nvSpPr>
            <p:spPr>
              <a:xfrm>
                <a:off x="5171161" y="5022471"/>
                <a:ext cx="6144017" cy="1699311"/>
              </a:xfrm>
              <a:prstGeom prst="rect">
                <a:avLst/>
              </a:prstGeom>
              <a:blipFill>
                <a:blip r:embed="rId2"/>
                <a:stretch>
                  <a:fillRect r="-1687"/>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5EC33D82-7632-95D5-025A-F10A1359FD06}"/>
              </a:ext>
            </a:extLst>
          </p:cNvPr>
          <p:cNvSpPr txBox="1"/>
          <p:nvPr/>
        </p:nvSpPr>
        <p:spPr>
          <a:xfrm>
            <a:off x="327766" y="2639134"/>
            <a:ext cx="4107772" cy="1477328"/>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明度</a:t>
            </a:r>
            <a:r>
              <a:rPr lang="en-US" altLang="zh-CN" dirty="0">
                <a:latin typeface="Noto Sans SC" panose="020B0200000000000000" pitchFamily="34" charset="-122"/>
                <a:ea typeface="Noto Sans SC" panose="020B0200000000000000" pitchFamily="34" charset="-122"/>
              </a:rPr>
              <a:t>(</a:t>
            </a:r>
            <a:r>
              <a:rPr lang="en-US" altLang="zh-CN" b="1" dirty="0">
                <a:latin typeface="Noto Sans SC" panose="020B0200000000000000" pitchFamily="34" charset="-122"/>
                <a:ea typeface="Noto Sans SC" panose="020B0200000000000000" pitchFamily="34" charset="-122"/>
              </a:rPr>
              <a:t>Brightness</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是指人眼感官上一束光有多亮，明度是不能简单的直接相加的，也就是说，两个明度一样的光束混合，得到新的光束的明度并不是原来的</a:t>
            </a:r>
            <a:r>
              <a:rPr lang="en-US" altLang="zh-CN" dirty="0">
                <a:latin typeface="Noto Sans SC" panose="020B0200000000000000" pitchFamily="34" charset="-122"/>
                <a:ea typeface="Noto Sans SC" panose="020B0200000000000000" pitchFamily="34" charset="-122"/>
              </a:rPr>
              <a:t>2</a:t>
            </a:r>
            <a:r>
              <a:rPr lang="zh-CN" altLang="en-US" dirty="0">
                <a:latin typeface="Noto Sans SC" panose="020B0200000000000000" pitchFamily="34" charset="-122"/>
                <a:ea typeface="Noto Sans SC" panose="020B0200000000000000" pitchFamily="34" charset="-122"/>
              </a:rPr>
              <a:t>倍。</a:t>
            </a:r>
            <a:endParaRPr lang="en-US" altLang="zh-CN" dirty="0">
              <a:latin typeface="Noto Sans SC" panose="020B0200000000000000" pitchFamily="34" charset="-122"/>
              <a:ea typeface="Noto Sans SC" panose="020B0200000000000000" pitchFamily="34" charset="-122"/>
            </a:endParaRPr>
          </a:p>
        </p:txBody>
      </p:sp>
      <p:sp>
        <p:nvSpPr>
          <p:cNvPr id="11" name="文本框 10">
            <a:extLst>
              <a:ext uri="{FF2B5EF4-FFF2-40B4-BE49-F238E27FC236}">
                <a16:creationId xmlns:a16="http://schemas.microsoft.com/office/drawing/2014/main" id="{4CB702FB-DE3B-AAB5-FB57-80D41E64E61D}"/>
              </a:ext>
            </a:extLst>
          </p:cNvPr>
          <p:cNvSpPr txBox="1"/>
          <p:nvPr/>
        </p:nvSpPr>
        <p:spPr>
          <a:xfrm>
            <a:off x="4967336" y="1744442"/>
            <a:ext cx="4107772" cy="923330"/>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1924</a:t>
            </a:r>
            <a:r>
              <a:rPr lang="zh-CN" altLang="en-US" dirty="0">
                <a:latin typeface="Noto Sans SC" panose="020B0200000000000000" pitchFamily="34" charset="-122"/>
                <a:ea typeface="Noto Sans SC" panose="020B0200000000000000" pitchFamily="34" charset="-122"/>
              </a:rPr>
              <a:t>年，</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定义了视见函数</a:t>
            </a:r>
            <a:r>
              <a:rPr lang="en-US" altLang="zh-CN" dirty="0">
                <a:latin typeface="Noto Sans SC" panose="020B0200000000000000" pitchFamily="34" charset="-122"/>
                <a:ea typeface="Noto Sans SC" panose="020B0200000000000000" pitchFamily="34" charset="-122"/>
              </a:rPr>
              <a:t>V(λ)</a:t>
            </a:r>
            <a:r>
              <a:rPr lang="zh-CN" altLang="en-US" dirty="0">
                <a:latin typeface="Noto Sans SC" panose="020B0200000000000000" pitchFamily="34" charset="-122"/>
                <a:ea typeface="Noto Sans SC" panose="020B0200000000000000" pitchFamily="34" charset="-122"/>
              </a:rPr>
              <a:t>，研究了人眼对单色光的敏感度。当时的人们认为明度和亮度是一样的。</a:t>
            </a:r>
            <a:endParaRPr lang="en-US" altLang="zh-CN" dirty="0">
              <a:latin typeface="Noto Sans SC" panose="020B0200000000000000" pitchFamily="34" charset="-122"/>
              <a:ea typeface="Noto Sans SC" panose="020B0200000000000000" pitchFamily="34" charset="-122"/>
            </a:endParaRPr>
          </a:p>
        </p:txBody>
      </p:sp>
      <p:pic>
        <p:nvPicPr>
          <p:cNvPr id="15" name="图片 14">
            <a:extLst>
              <a:ext uri="{FF2B5EF4-FFF2-40B4-BE49-F238E27FC236}">
                <a16:creationId xmlns:a16="http://schemas.microsoft.com/office/drawing/2014/main" id="{62362C4F-5519-9437-DE6D-78120DAF0858}"/>
              </a:ext>
            </a:extLst>
          </p:cNvPr>
          <p:cNvPicPr>
            <a:picLocks noChangeAspect="1"/>
          </p:cNvPicPr>
          <p:nvPr/>
        </p:nvPicPr>
        <p:blipFill>
          <a:blip r:embed="rId3"/>
          <a:srcRect b="29412"/>
          <a:stretch>
            <a:fillRect/>
          </a:stretch>
        </p:blipFill>
        <p:spPr>
          <a:xfrm>
            <a:off x="9251237" y="874256"/>
            <a:ext cx="2587986" cy="1740371"/>
          </a:xfrm>
          <a:prstGeom prst="rect">
            <a:avLst/>
          </a:prstGeom>
        </p:spPr>
      </p:pic>
      <p:sp>
        <p:nvSpPr>
          <p:cNvPr id="17" name="文本框 16">
            <a:extLst>
              <a:ext uri="{FF2B5EF4-FFF2-40B4-BE49-F238E27FC236}">
                <a16:creationId xmlns:a16="http://schemas.microsoft.com/office/drawing/2014/main" id="{8B219615-22F9-DD82-3691-802DBC035913}"/>
              </a:ext>
            </a:extLst>
          </p:cNvPr>
          <p:cNvSpPr txBox="1"/>
          <p:nvPr/>
        </p:nvSpPr>
        <p:spPr>
          <a:xfrm>
            <a:off x="695960" y="4255168"/>
            <a:ext cx="6097044" cy="369332"/>
          </a:xfrm>
          <a:prstGeom prst="rect">
            <a:avLst/>
          </a:prstGeom>
          <a:noFill/>
        </p:spPr>
        <p:txBody>
          <a:bodyPr wrap="square">
            <a:spAutoFit/>
          </a:bodyPr>
          <a:lstStyle/>
          <a:p>
            <a:pPr algn="just"/>
            <a:r>
              <a:rPr lang="zh-CN" altLang="en-US" sz="1800" dirty="0">
                <a:latin typeface="Noto Sans SC" panose="020B0200000000000000" pitchFamily="34" charset="-122"/>
                <a:ea typeface="Noto Sans SC" panose="020B0200000000000000" pitchFamily="34" charset="-122"/>
              </a:rPr>
              <a:t>什么是</a:t>
            </a:r>
            <a:r>
              <a:rPr lang="zh-CN" altLang="en-US" sz="1800" b="1" dirty="0">
                <a:latin typeface="Noto Sans SC" panose="020B0200000000000000" pitchFamily="34" charset="-122"/>
                <a:ea typeface="Noto Sans SC" panose="020B0200000000000000" pitchFamily="34" charset="-122"/>
              </a:rPr>
              <a:t>亮度</a:t>
            </a:r>
            <a:r>
              <a:rPr lang="en-US" altLang="zh-CN" sz="1800" b="1" dirty="0">
                <a:latin typeface="Noto Sans SC" panose="020B0200000000000000" pitchFamily="34" charset="-122"/>
                <a:ea typeface="Noto Sans SC" panose="020B0200000000000000" pitchFamily="34" charset="-122"/>
              </a:rPr>
              <a:t>(L</a:t>
            </a:r>
            <a:r>
              <a:rPr lang="zh-CN" altLang="zh-CN" sz="1800" b="1" dirty="0">
                <a:latin typeface="Noto Sans SC" panose="020B0200000000000000" pitchFamily="34" charset="-122"/>
                <a:ea typeface="Noto Sans SC" panose="020B0200000000000000" pitchFamily="34" charset="-122"/>
              </a:rPr>
              <a:t>uminance</a:t>
            </a:r>
            <a:r>
              <a:rPr lang="en-US" altLang="zh-CN" sz="1800" b="1" dirty="0">
                <a:latin typeface="Noto Sans SC" panose="020B0200000000000000" pitchFamily="34" charset="-122"/>
                <a:ea typeface="Noto Sans SC" panose="020B0200000000000000" pitchFamily="34" charset="-122"/>
              </a:rPr>
              <a:t>)</a:t>
            </a:r>
            <a:r>
              <a:rPr lang="zh-CN" altLang="en-US" sz="1800" dirty="0">
                <a:latin typeface="Noto Sans SC" panose="020B0200000000000000" pitchFamily="34" charset="-122"/>
                <a:ea typeface="Noto Sans SC" panose="020B0200000000000000" pitchFamily="34" charset="-122"/>
              </a:rPr>
              <a:t>？</a:t>
            </a:r>
            <a:endParaRPr lang="en-US" altLang="zh-CN" sz="1800" dirty="0">
              <a:latin typeface="Noto Sans SC" panose="020B0200000000000000" pitchFamily="34" charset="-122"/>
              <a:ea typeface="Noto Sans SC" panose="020B0200000000000000" pitchFamily="34" charset="-122"/>
            </a:endParaRPr>
          </a:p>
        </p:txBody>
      </p:sp>
      <p:sp>
        <p:nvSpPr>
          <p:cNvPr id="19" name="文本框 18">
            <a:extLst>
              <a:ext uri="{FF2B5EF4-FFF2-40B4-BE49-F238E27FC236}">
                <a16:creationId xmlns:a16="http://schemas.microsoft.com/office/drawing/2014/main" id="{EE63C242-180F-D42E-6401-F108F3FBDB25}"/>
              </a:ext>
            </a:extLst>
          </p:cNvPr>
          <p:cNvSpPr txBox="1"/>
          <p:nvPr/>
        </p:nvSpPr>
        <p:spPr>
          <a:xfrm>
            <a:off x="5398996" y="4624500"/>
            <a:ext cx="6097044" cy="369332"/>
          </a:xfrm>
          <a:prstGeom prst="rect">
            <a:avLst/>
          </a:prstGeom>
          <a:noFill/>
        </p:spPr>
        <p:txBody>
          <a:bodyPr wrap="square">
            <a:spAutoFit/>
          </a:bodyPr>
          <a:lstStyle/>
          <a:p>
            <a:pPr algn="just"/>
            <a:r>
              <a:rPr lang="zh-CN" altLang="en-US" sz="1800" dirty="0">
                <a:latin typeface="Noto Sans SC" panose="020B0200000000000000" pitchFamily="34" charset="-122"/>
                <a:ea typeface="Noto Sans SC" panose="020B0200000000000000" pitchFamily="34" charset="-122"/>
              </a:rPr>
              <a:t>但是亮度体系仍然作为工业计算的标准体系。</a:t>
            </a:r>
            <a:endParaRPr lang="zh-CN" altLang="en-US"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4206243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21C11-54F8-A6C7-4EAE-3324575BA27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F391C52-4C0C-E872-06C2-45A808E4BA05}"/>
              </a:ext>
            </a:extLst>
          </p:cNvPr>
          <p:cNvSpPr>
            <a:spLocks noGrp="1"/>
          </p:cNvSpPr>
          <p:nvPr>
            <p:ph type="title" idx="1"/>
          </p:nvPr>
        </p:nvSpPr>
        <p:spPr/>
        <p:txBody>
          <a:bodyPr/>
          <a:lstStyle/>
          <a:p>
            <a:r>
              <a:rPr lang="zh-CN" altLang="en-US" dirty="0"/>
              <a:t>色彩科学的历史 </a:t>
            </a:r>
            <a:r>
              <a:rPr lang="en-US" altLang="zh-CN" dirty="0"/>
              <a:t>—— </a:t>
            </a:r>
            <a:r>
              <a:rPr lang="zh-CN" altLang="en-US" dirty="0"/>
              <a:t>理论基石</a:t>
            </a:r>
          </a:p>
        </p:txBody>
      </p:sp>
      <p:sp>
        <p:nvSpPr>
          <p:cNvPr id="8" name="文本框 7">
            <a:extLst>
              <a:ext uri="{FF2B5EF4-FFF2-40B4-BE49-F238E27FC236}">
                <a16:creationId xmlns:a16="http://schemas.microsoft.com/office/drawing/2014/main" id="{FD272CDD-5985-4A31-8341-FC284498018C}"/>
              </a:ext>
            </a:extLst>
          </p:cNvPr>
          <p:cNvSpPr txBox="1"/>
          <p:nvPr/>
        </p:nvSpPr>
        <p:spPr>
          <a:xfrm>
            <a:off x="286011" y="1797050"/>
            <a:ext cx="5176799" cy="3970318"/>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早在</a:t>
            </a:r>
            <a:r>
              <a:rPr lang="en-US" altLang="zh-CN" dirty="0">
                <a:latin typeface="Noto Sans SC" panose="020B0200000000000000" pitchFamily="34" charset="-122"/>
                <a:ea typeface="Noto Sans SC" panose="020B0200000000000000" pitchFamily="34" charset="-122"/>
              </a:rPr>
              <a:t>1777</a:t>
            </a:r>
            <a:r>
              <a:rPr lang="zh-CN" altLang="en-US" dirty="0">
                <a:latin typeface="Noto Sans SC" panose="020B0200000000000000" pitchFamily="34" charset="-122"/>
                <a:ea typeface="Noto Sans SC" panose="020B0200000000000000" pitchFamily="34" charset="-122"/>
              </a:rPr>
              <a:t>年，</a:t>
            </a:r>
            <a:r>
              <a:rPr lang="zh-CN" altLang="zh-CN" dirty="0">
                <a:latin typeface="Noto Sans SC" panose="020B0200000000000000" pitchFamily="34" charset="-122"/>
                <a:ea typeface="Noto Sans SC" panose="020B0200000000000000" pitchFamily="34" charset="-122"/>
              </a:rPr>
              <a:t>乔治·帕尔默</a:t>
            </a:r>
            <a:r>
              <a:rPr lang="en-US" altLang="zh-CN" dirty="0">
                <a:latin typeface="Noto Sans SC" panose="020B0200000000000000" pitchFamily="34" charset="-122"/>
                <a:ea typeface="Noto Sans SC" panose="020B0200000000000000" pitchFamily="34" charset="-122"/>
              </a:rPr>
              <a:t>(George Palmer)</a:t>
            </a:r>
            <a:r>
              <a:rPr lang="zh-CN" altLang="en-US" dirty="0">
                <a:latin typeface="Noto Sans SC" panose="020B0200000000000000" pitchFamily="34" charset="-122"/>
                <a:ea typeface="Noto Sans SC" panose="020B0200000000000000" pitchFamily="34" charset="-122"/>
              </a:rPr>
              <a:t>的著作</a:t>
            </a:r>
            <a:r>
              <a:rPr lang="en-US" altLang="zh-CN" i="1" dirty="0">
                <a:latin typeface="Noto Sans SC" panose="020B0200000000000000" pitchFamily="34" charset="-122"/>
                <a:ea typeface="Noto Sans SC" panose="020B0200000000000000" pitchFamily="34" charset="-122"/>
              </a:rPr>
              <a:t>T</a:t>
            </a:r>
            <a:r>
              <a:rPr lang="zh-CN" altLang="zh-CN" i="1" dirty="0">
                <a:latin typeface="Noto Sans SC" panose="020B0200000000000000" pitchFamily="34" charset="-122"/>
                <a:ea typeface="Noto Sans SC" panose="020B0200000000000000" pitchFamily="34" charset="-122"/>
              </a:rPr>
              <a:t>heory of Colors and Vision</a:t>
            </a:r>
            <a:r>
              <a:rPr lang="en-US" altLang="zh-CN" i="1" dirty="0">
                <a:latin typeface="Noto Sans SC" panose="020B0200000000000000" pitchFamily="34" charset="-122"/>
                <a:ea typeface="Noto Sans SC" panose="020B0200000000000000" pitchFamily="34" charset="-122"/>
              </a:rPr>
              <a:t>(1777) </a:t>
            </a:r>
            <a:r>
              <a:rPr lang="zh-CN" altLang="en-US" dirty="0">
                <a:latin typeface="Noto Sans SC" panose="020B0200000000000000" pitchFamily="34" charset="-122"/>
                <a:ea typeface="Noto Sans SC" panose="020B0200000000000000" pitchFamily="34" charset="-122"/>
              </a:rPr>
              <a:t>以及后来的</a:t>
            </a:r>
            <a:r>
              <a:rPr lang="zh-CN" altLang="zh-CN" i="1" dirty="0">
                <a:latin typeface="Noto Sans SC" panose="020B0200000000000000" pitchFamily="34" charset="-122"/>
                <a:ea typeface="Noto Sans SC" panose="020B0200000000000000" pitchFamily="34" charset="-122"/>
              </a:rPr>
              <a:t>Theory of Light</a:t>
            </a:r>
            <a:r>
              <a:rPr lang="en-US" altLang="zh-CN" i="1" dirty="0">
                <a:latin typeface="Noto Sans SC" panose="020B0200000000000000" pitchFamily="34" charset="-122"/>
                <a:ea typeface="Noto Sans SC" panose="020B0200000000000000" pitchFamily="34" charset="-122"/>
              </a:rPr>
              <a:t>(1786) </a:t>
            </a:r>
            <a:r>
              <a:rPr lang="zh-CN" altLang="en-US" dirty="0">
                <a:latin typeface="Noto Sans SC" panose="020B0200000000000000" pitchFamily="34" charset="-122"/>
                <a:ea typeface="Noto Sans SC" panose="020B0200000000000000" pitchFamily="34" charset="-122"/>
              </a:rPr>
              <a:t>中提出，光本身由红、黄、蓝三种不同的光线组成。</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a:t>
            </a:r>
            <a:r>
              <a:rPr lang="en-US" altLang="zh-CN" dirty="0">
                <a:latin typeface="Noto Sans SC" panose="020B0200000000000000" pitchFamily="34" charset="-122"/>
                <a:ea typeface="Noto Sans SC" panose="020B0200000000000000" pitchFamily="34" charset="-122"/>
              </a:rPr>
              <a:t>1802</a:t>
            </a:r>
            <a:r>
              <a:rPr lang="zh-CN" altLang="en-US" dirty="0">
                <a:latin typeface="Noto Sans SC" panose="020B0200000000000000" pitchFamily="34" charset="-122"/>
                <a:ea typeface="Noto Sans SC" panose="020B0200000000000000" pitchFamily="34" charset="-122"/>
              </a:rPr>
              <a:t>年，托马斯</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杨</a:t>
            </a:r>
            <a:r>
              <a:rPr lang="en-US" altLang="zh-CN" dirty="0">
                <a:latin typeface="Noto Sans SC" panose="020B0200000000000000" pitchFamily="34" charset="-122"/>
                <a:ea typeface="Noto Sans SC" panose="020B0200000000000000" pitchFamily="34" charset="-122"/>
              </a:rPr>
              <a:t>(Thomas </a:t>
            </a:r>
            <a:r>
              <a:rPr lang="zh-CN" altLang="zh-CN" dirty="0">
                <a:latin typeface="Noto Sans SC" panose="020B0200000000000000" pitchFamily="34" charset="-122"/>
                <a:ea typeface="Noto Sans SC" panose="020B0200000000000000" pitchFamily="34" charset="-122"/>
              </a:rPr>
              <a:t>Young</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提出了人眼中存在三种感光细胞，它们对不同波长的可见光有不同但又相互重叠的反应。当时人们对人眼视网膜的生理结构还没有精准的了解。</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1850</a:t>
            </a:r>
            <a:r>
              <a:rPr lang="zh-CN" altLang="en-US" dirty="0">
                <a:latin typeface="Noto Sans SC" panose="020B0200000000000000" pitchFamily="34" charset="-122"/>
                <a:ea typeface="Noto Sans SC" panose="020B0200000000000000" pitchFamily="34" charset="-122"/>
              </a:rPr>
              <a:t>年，赫尔曼</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冯</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亥姆霍兹</a:t>
            </a:r>
            <a:r>
              <a:rPr lang="en-US" altLang="zh-CN"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Hermann von Helmholtz</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进一步发展了这一理论，得到了</a:t>
            </a:r>
            <a:r>
              <a:rPr lang="en-US" altLang="zh-CN" dirty="0">
                <a:latin typeface="Noto Sans SC" panose="020B0200000000000000" pitchFamily="34" charset="-122"/>
                <a:ea typeface="Noto Sans SC" panose="020B0200000000000000" pitchFamily="34" charset="-122"/>
              </a:rPr>
              <a:t>Young–Helmholtz</a:t>
            </a:r>
            <a:r>
              <a:rPr lang="zh-CN" altLang="en-US" dirty="0">
                <a:latin typeface="Noto Sans SC" panose="020B0200000000000000" pitchFamily="34" charset="-122"/>
                <a:ea typeface="Noto Sans SC" panose="020B0200000000000000" pitchFamily="34" charset="-122"/>
              </a:rPr>
              <a:t>三色理论。该理论认为人们看到的颜色，都可以用三原色的光组合形成。</a:t>
            </a:r>
            <a:endParaRPr lang="en-US" altLang="zh-CN" dirty="0">
              <a:latin typeface="Noto Sans SC" panose="020B0200000000000000" pitchFamily="34" charset="-122"/>
              <a:ea typeface="Noto Sans SC" panose="020B0200000000000000" pitchFamily="34" charset="-122"/>
            </a:endParaRPr>
          </a:p>
        </p:txBody>
      </p:sp>
      <p:sp>
        <p:nvSpPr>
          <p:cNvPr id="9" name="文本框 8">
            <a:extLst>
              <a:ext uri="{FF2B5EF4-FFF2-40B4-BE49-F238E27FC236}">
                <a16:creationId xmlns:a16="http://schemas.microsoft.com/office/drawing/2014/main" id="{859C178C-8FFB-4088-705E-A230F4065CAF}"/>
              </a:ext>
            </a:extLst>
          </p:cNvPr>
          <p:cNvSpPr txBox="1"/>
          <p:nvPr/>
        </p:nvSpPr>
        <p:spPr>
          <a:xfrm>
            <a:off x="5926899" y="1797050"/>
            <a:ext cx="5979090" cy="646331"/>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1853</a:t>
            </a:r>
            <a:r>
              <a:rPr lang="zh-CN" altLang="en-US" dirty="0">
                <a:latin typeface="Noto Sans SC" panose="020B0200000000000000" pitchFamily="34" charset="-122"/>
                <a:ea typeface="Noto Sans SC" panose="020B0200000000000000" pitchFamily="34" charset="-122"/>
              </a:rPr>
              <a:t>年，赫尔曼</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格拉斯曼</a:t>
            </a:r>
            <a:r>
              <a:rPr lang="en-US" altLang="zh-CN" dirty="0">
                <a:latin typeface="Noto Sans SC" panose="020B0200000000000000" pitchFamily="34" charset="-122"/>
                <a:ea typeface="Noto Sans SC" panose="020B0200000000000000" pitchFamily="34" charset="-122"/>
              </a:rPr>
              <a:t>(Hermann </a:t>
            </a:r>
            <a:r>
              <a:rPr lang="zh-CN" altLang="zh-CN" dirty="0">
                <a:latin typeface="Noto Sans SC" panose="020B0200000000000000" pitchFamily="34" charset="-122"/>
                <a:ea typeface="Noto Sans SC" panose="020B0200000000000000" pitchFamily="34" charset="-122"/>
              </a:rPr>
              <a:t>Grassmann</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提出了</a:t>
            </a:r>
            <a:r>
              <a:rPr lang="zh-CN" altLang="zh-CN" dirty="0">
                <a:latin typeface="Noto Sans SC" panose="020B0200000000000000" pitchFamily="34" charset="-122"/>
                <a:ea typeface="Noto Sans SC" panose="020B0200000000000000" pitchFamily="34" charset="-122"/>
              </a:rPr>
              <a:t>Grassmann</a:t>
            </a:r>
            <a:r>
              <a:rPr lang="zh-CN" altLang="en-US" dirty="0">
                <a:latin typeface="Noto Sans SC" panose="020B0200000000000000" pitchFamily="34" charset="-122"/>
                <a:ea typeface="Noto Sans SC" panose="020B0200000000000000" pitchFamily="34" charset="-122"/>
              </a:rPr>
              <a:t>定律。</a:t>
            </a:r>
            <a:endParaRPr lang="zh-CN" altLang="zh-CN" dirty="0">
              <a:latin typeface="Noto Sans SC" panose="020B0200000000000000" pitchFamily="34" charset="-122"/>
              <a:ea typeface="Noto Sans SC" panose="020B0200000000000000" pitchFamily="34" charset="-122"/>
            </a:endParaRPr>
          </a:p>
        </p:txBody>
      </p:sp>
      <p:pic>
        <p:nvPicPr>
          <p:cNvPr id="12" name="图片 11">
            <a:extLst>
              <a:ext uri="{FF2B5EF4-FFF2-40B4-BE49-F238E27FC236}">
                <a16:creationId xmlns:a16="http://schemas.microsoft.com/office/drawing/2014/main" id="{890195C9-3A62-41A3-D44F-7F4B3367A6CA}"/>
              </a:ext>
            </a:extLst>
          </p:cNvPr>
          <p:cNvPicPr>
            <a:picLocks noChangeAspect="1"/>
          </p:cNvPicPr>
          <p:nvPr/>
        </p:nvPicPr>
        <p:blipFill>
          <a:blip r:embed="rId2"/>
          <a:stretch>
            <a:fillRect/>
          </a:stretch>
        </p:blipFill>
        <p:spPr>
          <a:xfrm>
            <a:off x="5349718" y="2555558"/>
            <a:ext cx="6842282" cy="2168035"/>
          </a:xfrm>
          <a:prstGeom prst="rect">
            <a:avLst/>
          </a:prstGeom>
        </p:spPr>
      </p:pic>
      <p:sp>
        <p:nvSpPr>
          <p:cNvPr id="14" name="文本框 13">
            <a:extLst>
              <a:ext uri="{FF2B5EF4-FFF2-40B4-BE49-F238E27FC236}">
                <a16:creationId xmlns:a16="http://schemas.microsoft.com/office/drawing/2014/main" id="{E4BBEAB9-A8B4-B30B-CBE8-D3554C9BD183}"/>
              </a:ext>
            </a:extLst>
          </p:cNvPr>
          <p:cNvSpPr txBox="1"/>
          <p:nvPr/>
        </p:nvSpPr>
        <p:spPr>
          <a:xfrm>
            <a:off x="5605575" y="4835770"/>
            <a:ext cx="6358898" cy="923330"/>
          </a:xfrm>
          <a:prstGeom prst="rect">
            <a:avLst/>
          </a:prstGeom>
          <a:noFill/>
        </p:spPr>
        <p:txBody>
          <a:bodyPr wrap="square">
            <a:spAutoFit/>
          </a:bodyPr>
          <a:lstStyle/>
          <a:p>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1855年，詹姆斯·克拉克·麦克斯韦（James Clerk Maxwell）利用旋转色盘进行了定量混色实验，并用颜色三角形表示三原色之间的混合关系。相关论文于1857年发表。</a:t>
            </a:r>
            <a:endParaRPr lang="zh-CN" altLang="en-US"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456378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BA3F0-016E-A428-D7B8-0C25A48CBB7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2AE60E4-1A1C-9547-9D3A-4FB8653325F5}"/>
              </a:ext>
            </a:extLst>
          </p:cNvPr>
          <p:cNvSpPr>
            <a:spLocks noGrp="1"/>
          </p:cNvSpPr>
          <p:nvPr>
            <p:ph type="title" idx="1"/>
          </p:nvPr>
        </p:nvSpPr>
        <p:spPr/>
        <p:txBody>
          <a:bodyPr/>
          <a:lstStyle/>
          <a:p>
            <a:r>
              <a:rPr lang="zh-CN" altLang="en-US" dirty="0"/>
              <a:t>色彩科学的历史 </a:t>
            </a:r>
            <a:r>
              <a:rPr lang="en-US" altLang="zh-CN" dirty="0"/>
              <a:t>—— </a:t>
            </a:r>
            <a:r>
              <a:rPr lang="zh-CN" altLang="en-US" dirty="0"/>
              <a:t>理论基石</a:t>
            </a:r>
          </a:p>
        </p:txBody>
      </p:sp>
      <p:sp>
        <p:nvSpPr>
          <p:cNvPr id="8" name="文本框 7">
            <a:extLst>
              <a:ext uri="{FF2B5EF4-FFF2-40B4-BE49-F238E27FC236}">
                <a16:creationId xmlns:a16="http://schemas.microsoft.com/office/drawing/2014/main" id="{C15C30CB-02A9-8E31-D9BF-6F7C90E9B58F}"/>
              </a:ext>
            </a:extLst>
          </p:cNvPr>
          <p:cNvSpPr txBox="1"/>
          <p:nvPr/>
        </p:nvSpPr>
        <p:spPr>
          <a:xfrm>
            <a:off x="975232" y="1607262"/>
            <a:ext cx="9715732" cy="923330"/>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托马斯</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杨</a:t>
            </a:r>
            <a:r>
              <a:rPr lang="en-US" altLang="zh-CN" dirty="0">
                <a:latin typeface="Noto Sans SC" panose="020B0200000000000000" pitchFamily="34" charset="-122"/>
                <a:ea typeface="Noto Sans SC" panose="020B0200000000000000" pitchFamily="34" charset="-122"/>
              </a:rPr>
              <a:t>(Thomas </a:t>
            </a:r>
            <a:r>
              <a:rPr lang="zh-CN" altLang="zh-CN" dirty="0">
                <a:latin typeface="Noto Sans SC" panose="020B0200000000000000" pitchFamily="34" charset="-122"/>
                <a:ea typeface="Noto Sans SC" panose="020B0200000000000000" pitchFamily="34" charset="-122"/>
              </a:rPr>
              <a:t>Young</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、赫尔曼</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冯</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亥姆霍兹</a:t>
            </a:r>
            <a:r>
              <a:rPr lang="en-US" altLang="zh-CN"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Hermann von Helmholtz</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、赫尔曼</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格拉斯曼</a:t>
            </a:r>
            <a:r>
              <a:rPr lang="en-US" altLang="zh-CN" dirty="0">
                <a:latin typeface="Noto Sans SC" panose="020B0200000000000000" pitchFamily="34" charset="-122"/>
                <a:ea typeface="Noto Sans SC" panose="020B0200000000000000" pitchFamily="34" charset="-122"/>
              </a:rPr>
              <a:t>(Hermann </a:t>
            </a:r>
            <a:r>
              <a:rPr lang="zh-CN" altLang="zh-CN" dirty="0">
                <a:latin typeface="Noto Sans SC" panose="020B0200000000000000" pitchFamily="34" charset="-122"/>
                <a:ea typeface="Noto Sans SC" panose="020B0200000000000000" pitchFamily="34" charset="-122"/>
              </a:rPr>
              <a:t>Grassmann</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、詹姆斯</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克拉克</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麦克斯韦</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James Clerk Maxwell</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等人的理论可以总结为以下三点：</a:t>
            </a:r>
            <a:endParaRPr lang="en-US" altLang="zh-CN"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C3B5819-F8F1-0F91-8C69-2B584B319C5E}"/>
                  </a:ext>
                </a:extLst>
              </p:cNvPr>
              <p:cNvSpPr txBox="1"/>
              <p:nvPr/>
            </p:nvSpPr>
            <p:spPr>
              <a:xfrm>
                <a:off x="840577" y="2766280"/>
                <a:ext cx="9985042" cy="2309094"/>
              </a:xfrm>
              <a:prstGeom prst="rect">
                <a:avLst/>
              </a:prstGeom>
              <a:noFill/>
            </p:spPr>
            <p:txBody>
              <a:bodyPr wrap="square" rtlCol="0">
                <a:spAutoFit/>
              </a:bodyPr>
              <a:lstStyle/>
              <a:p>
                <a:pPr marL="342900" indent="-342900" algn="just">
                  <a:buAutoNum type="arabicPeriod"/>
                </a:pPr>
                <a:r>
                  <a:rPr lang="zh-CN" altLang="en-US" dirty="0">
                    <a:latin typeface="Noto Sans SC" panose="020B0200000000000000" pitchFamily="34" charset="-122"/>
                    <a:ea typeface="Noto Sans SC" panose="020B0200000000000000" pitchFamily="34" charset="-122"/>
                  </a:rPr>
                  <a:t>相加性 </a:t>
                </a:r>
                <a:r>
                  <a:rPr lang="zh-CN" altLang="zh-CN" dirty="0">
                    <a:latin typeface="Noto Sans SC" panose="020B0200000000000000" pitchFamily="34" charset="-122"/>
                    <a:ea typeface="Noto Sans SC" panose="020B0200000000000000" pitchFamily="34" charset="-122"/>
                  </a:rPr>
                  <a:t>Additivity</a:t>
                </a:r>
                <a:r>
                  <a:rPr lang="zh-CN" altLang="en-US" dirty="0">
                    <a:latin typeface="Noto Sans SC" panose="020B0200000000000000" pitchFamily="34" charset="-122"/>
                    <a:ea typeface="Noto Sans SC" panose="020B0200000000000000" pitchFamily="34" charset="-122"/>
                  </a:rPr>
                  <a:t>：如果将第三束光</a:t>
                </a:r>
                <a:r>
                  <a:rPr lang="en-US" altLang="zh-CN" dirty="0">
                    <a:latin typeface="Noto Sans SC" panose="020B0200000000000000" pitchFamily="34" charset="-122"/>
                    <a:ea typeface="Noto Sans SC" panose="020B0200000000000000" pitchFamily="34" charset="-122"/>
                  </a:rPr>
                  <a:t>(z)</a:t>
                </a:r>
                <a:r>
                  <a:rPr lang="zh-CN" altLang="en-US" dirty="0">
                    <a:latin typeface="Noto Sans SC" panose="020B0200000000000000" pitchFamily="34" charset="-122"/>
                    <a:ea typeface="Noto Sans SC" panose="020B0200000000000000" pitchFamily="34" charset="-122"/>
                  </a:rPr>
                  <a:t>等量添加到两个</a:t>
                </a:r>
                <a:r>
                  <a:rPr lang="zh-CN" altLang="zh-CN" dirty="0">
                    <a:latin typeface="Noto Sans SC" panose="020B0200000000000000" pitchFamily="34" charset="-122"/>
                    <a:ea typeface="Noto Sans SC" panose="020B0200000000000000" pitchFamily="34" charset="-122"/>
                  </a:rPr>
                  <a:t>同色异谱体</a:t>
                </a:r>
                <a:r>
                  <a:rPr lang="en-US" altLang="zh-CN" dirty="0">
                    <a:latin typeface="Noto Sans SC" panose="020B0200000000000000" pitchFamily="34" charset="-122"/>
                    <a:ea typeface="Noto Sans SC" panose="020B0200000000000000" pitchFamily="34" charset="-122"/>
                  </a:rPr>
                  <a:t>(a</a:t>
                </a:r>
                <a:r>
                  <a:rPr lang="zh-CN" altLang="en-US" dirty="0">
                    <a:latin typeface="Noto Sans SC" panose="020B0200000000000000" pitchFamily="34" charset="-122"/>
                    <a:ea typeface="Noto Sans SC" panose="020B0200000000000000" pitchFamily="34" charset="-122"/>
                  </a:rPr>
                  <a:t>和</a:t>
                </a:r>
                <a:r>
                  <a:rPr lang="en-US" altLang="zh-CN" dirty="0">
                    <a:latin typeface="Noto Sans SC" panose="020B0200000000000000" pitchFamily="34" charset="-122"/>
                    <a:ea typeface="Noto Sans SC" panose="020B0200000000000000" pitchFamily="34" charset="-122"/>
                  </a:rPr>
                  <a:t>b)</a:t>
                </a:r>
                <a:r>
                  <a:rPr lang="zh-CN" altLang="en-US" dirty="0">
                    <a:latin typeface="Noto Sans SC" panose="020B0200000000000000" pitchFamily="34" charset="-122"/>
                    <a:ea typeface="Noto Sans SC" panose="020B0200000000000000" pitchFamily="34" charset="-122"/>
                  </a:rPr>
                  <a:t>中，则结果仍然是</a:t>
                </a:r>
                <a:r>
                  <a:rPr lang="zh-CN" altLang="zh-CN" dirty="0">
                    <a:latin typeface="Noto Sans SC" panose="020B0200000000000000" pitchFamily="34" charset="-122"/>
                    <a:ea typeface="Noto Sans SC" panose="020B0200000000000000" pitchFamily="34" charset="-122"/>
                  </a:rPr>
                  <a:t>同色异谱体</a:t>
                </a:r>
                <a:r>
                  <a:rPr lang="zh-CN" altLang="en-US" dirty="0">
                    <a:latin typeface="Noto Sans SC" panose="020B0200000000000000" pitchFamily="34" charset="-122"/>
                    <a:ea typeface="Noto Sans SC" panose="020B0200000000000000" pitchFamily="34" charset="-122"/>
                  </a:rPr>
                  <a:t>，即 </a:t>
                </a:r>
                <a14:m>
                  <m:oMath xmlns:m="http://schemas.openxmlformats.org/officeDocument/2006/math">
                    <m:r>
                      <a:rPr lang="zh-CN" altLang="en-US" i="1" dirty="0">
                        <a:latin typeface="Cambria Math" panose="02040503050406030204" pitchFamily="18" charset="0"/>
                      </a:rPr>
                      <m:t>若</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则</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𝑧</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𝑧</m:t>
                    </m:r>
                  </m:oMath>
                </a14:m>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marL="342900" indent="-342900" algn="just">
                  <a:buAutoNum type="arabicPeriod"/>
                </a:pPr>
                <a:endParaRPr lang="en-US" altLang="zh-CN" dirty="0">
                  <a:latin typeface="Noto Sans SC" panose="020B0200000000000000" pitchFamily="34" charset="-122"/>
                  <a:ea typeface="Noto Sans SC" panose="020B0200000000000000" pitchFamily="34" charset="-122"/>
                </a:endParaRPr>
              </a:p>
              <a:p>
                <a:pPr marL="342900" indent="-342900" algn="just">
                  <a:buFontTx/>
                  <a:buAutoNum type="arabicPeriod"/>
                </a:pPr>
                <a:r>
                  <a:rPr lang="zh-CN" altLang="en-US" dirty="0">
                    <a:latin typeface="Noto Sans SC" panose="020B0200000000000000" pitchFamily="34" charset="-122"/>
                    <a:ea typeface="Noto Sans SC" panose="020B0200000000000000" pitchFamily="34" charset="-122"/>
                  </a:rPr>
                  <a:t>比例性 </a:t>
                </a:r>
                <a:r>
                  <a:rPr lang="zh-CN" altLang="zh-CN" dirty="0">
                    <a:latin typeface="Noto Sans SC" panose="020B0200000000000000" pitchFamily="34" charset="-122"/>
                    <a:ea typeface="Noto Sans SC" panose="020B0200000000000000" pitchFamily="34" charset="-122"/>
                  </a:rPr>
                  <a:t>Proportionality</a:t>
                </a:r>
                <a:r>
                  <a:rPr lang="zh-CN" altLang="en-US" dirty="0">
                    <a:latin typeface="Noto Sans SC" panose="020B0200000000000000" pitchFamily="34" charset="-122"/>
                    <a:ea typeface="Noto Sans SC" panose="020B0200000000000000" pitchFamily="34" charset="-122"/>
                  </a:rPr>
                  <a:t>：如果将两个</a:t>
                </a:r>
                <a:r>
                  <a:rPr lang="zh-CN" altLang="zh-CN" dirty="0">
                    <a:latin typeface="Noto Sans SC" panose="020B0200000000000000" pitchFamily="34" charset="-122"/>
                    <a:ea typeface="Noto Sans SC" panose="020B0200000000000000" pitchFamily="34" charset="-122"/>
                  </a:rPr>
                  <a:t>同色异谱体</a:t>
                </a:r>
                <a:r>
                  <a:rPr lang="zh-CN" altLang="en-US" dirty="0">
                    <a:latin typeface="Noto Sans SC" panose="020B0200000000000000" pitchFamily="34" charset="-122"/>
                    <a:ea typeface="Noto Sans SC" panose="020B0200000000000000" pitchFamily="34" charset="-122"/>
                  </a:rPr>
                  <a:t>的</a:t>
                </a:r>
                <a:r>
                  <a:rPr lang="zh-CN" altLang="zh-CN" dirty="0">
                    <a:latin typeface="Noto Sans SC" panose="020B0200000000000000" pitchFamily="34" charset="-122"/>
                    <a:ea typeface="Noto Sans SC" panose="020B0200000000000000" pitchFamily="34" charset="-122"/>
                  </a:rPr>
                  <a:t>辐射强度</a:t>
                </a:r>
                <a:r>
                  <a:rPr lang="zh-CN" altLang="en-US" dirty="0">
                    <a:latin typeface="Noto Sans SC" panose="020B0200000000000000" pitchFamily="34" charset="-122"/>
                    <a:ea typeface="Noto Sans SC" panose="020B0200000000000000" pitchFamily="34" charset="-122"/>
                  </a:rPr>
                  <a:t>按某个常数</a:t>
                </a:r>
                <a:r>
                  <a:rPr lang="en-US" altLang="zh-CN" dirty="0">
                    <a:latin typeface="Noto Sans SC" panose="020B0200000000000000" pitchFamily="34" charset="-122"/>
                    <a:ea typeface="Noto Sans SC" panose="020B0200000000000000" pitchFamily="34" charset="-122"/>
                  </a:rPr>
                  <a:t>(m)</a:t>
                </a:r>
                <a:r>
                  <a:rPr lang="zh-CN" altLang="en-US" dirty="0">
                    <a:latin typeface="Noto Sans SC" panose="020B0200000000000000" pitchFamily="34" charset="-122"/>
                    <a:ea typeface="Noto Sans SC" panose="020B0200000000000000" pitchFamily="34" charset="-122"/>
                  </a:rPr>
                  <a:t>相等的增加或减少，则结果仍然是</a:t>
                </a:r>
                <a:r>
                  <a:rPr lang="zh-CN" altLang="zh-CN" dirty="0">
                    <a:latin typeface="Noto Sans SC" panose="020B0200000000000000" pitchFamily="34" charset="-122"/>
                    <a:ea typeface="Noto Sans SC" panose="020B0200000000000000" pitchFamily="34" charset="-122"/>
                  </a:rPr>
                  <a:t>同色异谱体</a:t>
                </a:r>
                <a:r>
                  <a:rPr lang="zh-CN" altLang="en-US" dirty="0">
                    <a:latin typeface="Noto Sans SC" panose="020B0200000000000000" pitchFamily="34" charset="-122"/>
                    <a:ea typeface="Noto Sans SC" panose="020B0200000000000000" pitchFamily="34" charset="-122"/>
                  </a:rPr>
                  <a:t>，即 </a:t>
                </a:r>
                <a14:m>
                  <m:oMath xmlns:m="http://schemas.openxmlformats.org/officeDocument/2006/math">
                    <m:r>
                      <a:rPr lang="zh-CN" altLang="en-US" i="1" dirty="0">
                        <a:latin typeface="Cambria Math" panose="02040503050406030204" pitchFamily="18" charset="0"/>
                      </a:rPr>
                      <m:t>若</m:t>
                    </m:r>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i="1" dirty="0">
                        <a:latin typeface="Cambria Math" panose="02040503050406030204" pitchFamily="18" charset="0"/>
                      </a:rPr>
                      <m:t>, </m:t>
                    </m:r>
                    <m:r>
                      <a:rPr lang="en-US" altLang="zh-CN" i="1" dirty="0">
                        <a:latin typeface="Cambria Math" panose="02040503050406030204" pitchFamily="18" charset="0"/>
                      </a:rPr>
                      <m:t>则</m:t>
                    </m:r>
                    <m:r>
                      <a:rPr lang="en-US" altLang="zh-CN" i="1" dirty="0">
                        <a:latin typeface="Cambria Math" panose="02040503050406030204" pitchFamily="18" charset="0"/>
                      </a:rPr>
                      <m:t>𝑎</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𝑚</m:t>
                    </m:r>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𝑚</m:t>
                    </m:r>
                  </m:oMath>
                </a14:m>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marL="342900" indent="-342900" algn="just">
                  <a:buFontTx/>
                  <a:buAutoNum type="arabicPeriod"/>
                </a:pPr>
                <a:endParaRPr lang="en-US" altLang="zh-CN" dirty="0">
                  <a:latin typeface="Noto Sans SC" panose="020B0200000000000000" pitchFamily="34" charset="-122"/>
                  <a:ea typeface="Noto Sans SC" panose="020B0200000000000000" pitchFamily="34" charset="-122"/>
                </a:endParaRPr>
              </a:p>
              <a:p>
                <a:pPr marL="342900" indent="-342900" algn="just">
                  <a:buFontTx/>
                  <a:buAutoNum type="arabicPeriod"/>
                </a:pPr>
                <a:r>
                  <a:rPr lang="zh-CN" altLang="en-US" dirty="0">
                    <a:latin typeface="Noto Sans SC" panose="020B0200000000000000" pitchFamily="34" charset="-122"/>
                    <a:ea typeface="Noto Sans SC" panose="020B0200000000000000" pitchFamily="34" charset="-122"/>
                  </a:rPr>
                  <a:t>传递性 </a:t>
                </a:r>
                <a:r>
                  <a:rPr lang="zh-CN" altLang="zh-CN" dirty="0">
                    <a:latin typeface="Noto Sans SC" panose="020B0200000000000000" pitchFamily="34" charset="-122"/>
                    <a:ea typeface="Noto Sans SC" panose="020B0200000000000000" pitchFamily="34" charset="-122"/>
                  </a:rPr>
                  <a:t>Transitivity</a:t>
                </a:r>
                <a:r>
                  <a:rPr lang="zh-CN" altLang="en-US" dirty="0">
                    <a:latin typeface="Noto Sans SC" panose="020B0200000000000000" pitchFamily="34" charset="-122"/>
                    <a:ea typeface="Noto Sans SC" panose="020B0200000000000000" pitchFamily="34" charset="-122"/>
                  </a:rPr>
                  <a:t>：如果两个</a:t>
                </a:r>
                <a:r>
                  <a:rPr lang="zh-CN" altLang="zh-CN" dirty="0">
                    <a:latin typeface="Noto Sans SC" panose="020B0200000000000000" pitchFamily="34" charset="-122"/>
                    <a:ea typeface="Noto Sans SC" panose="020B0200000000000000" pitchFamily="34" charset="-122"/>
                  </a:rPr>
                  <a:t>同色异谱体</a:t>
                </a:r>
                <a:r>
                  <a:rPr lang="zh-CN" altLang="en-US" dirty="0">
                    <a:latin typeface="Noto Sans SC" panose="020B0200000000000000" pitchFamily="34" charset="-122"/>
                    <a:ea typeface="Noto Sans SC" panose="020B0200000000000000" pitchFamily="34" charset="-122"/>
                  </a:rPr>
                  <a:t>中的一个</a:t>
                </a:r>
                <a:r>
                  <a:rPr lang="zh-CN" altLang="zh-CN" dirty="0">
                    <a:latin typeface="Noto Sans SC" panose="020B0200000000000000" pitchFamily="34" charset="-122"/>
                    <a:ea typeface="Noto Sans SC" panose="020B0200000000000000" pitchFamily="34" charset="-122"/>
                  </a:rPr>
                  <a:t>与第三种颜色互为同色异谱色</a:t>
                </a:r>
                <a:r>
                  <a:rPr lang="zh-CN" altLang="en-US" dirty="0">
                    <a:latin typeface="Noto Sans SC" panose="020B0200000000000000" pitchFamily="34" charset="-122"/>
                    <a:ea typeface="Noto Sans SC" panose="020B0200000000000000" pitchFamily="34" charset="-122"/>
                  </a:rPr>
                  <a:t>，那么所有颜色都是</a:t>
                </a:r>
                <a:r>
                  <a:rPr lang="zh-CN" altLang="zh-CN" dirty="0">
                    <a:latin typeface="Noto Sans SC" panose="020B0200000000000000" pitchFamily="34" charset="-122"/>
                    <a:ea typeface="Noto Sans SC" panose="020B0200000000000000" pitchFamily="34" charset="-122"/>
                  </a:rPr>
                  <a:t>同色异谱色</a:t>
                </a:r>
                <a:r>
                  <a:rPr lang="zh-CN" altLang="en-US" dirty="0">
                    <a:latin typeface="Noto Sans SC" panose="020B0200000000000000" pitchFamily="34" charset="-122"/>
                    <a:ea typeface="Noto Sans SC" panose="020B0200000000000000" pitchFamily="34" charset="-122"/>
                  </a:rPr>
                  <a:t>，即 </a:t>
                </a:r>
                <a14:m>
                  <m:oMath xmlns:m="http://schemas.openxmlformats.org/officeDocument/2006/math">
                    <m:r>
                      <a:rPr lang="zh-CN" altLang="en-US" i="1" dirty="0">
                        <a:latin typeface="Cambria Math" panose="02040503050406030204" pitchFamily="18" charset="0"/>
                      </a:rPr>
                      <m:t>若</m:t>
                    </m:r>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r>
                      <a:rPr lang="zh-CN" altLang="en-US" i="1" dirty="0" smtClean="0">
                        <a:latin typeface="Cambria Math" panose="02040503050406030204" pitchFamily="18" charset="0"/>
                      </a:rPr>
                      <m:t>且</m:t>
                    </m:r>
                    <m:r>
                      <a:rPr lang="en-US" altLang="zh-CN" b="0" i="1" dirty="0" smtClean="0">
                        <a:latin typeface="Cambria Math" panose="02040503050406030204" pitchFamily="18" charset="0"/>
                      </a:rPr>
                      <m:t>𝑏</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𝑐</m:t>
                    </m:r>
                    <m:r>
                      <a:rPr lang="en-US" altLang="zh-CN" i="1" dirty="0">
                        <a:latin typeface="Cambria Math" panose="02040503050406030204" pitchFamily="18" charset="0"/>
                      </a:rPr>
                      <m:t>, </m:t>
                    </m:r>
                    <m:r>
                      <a:rPr lang="en-US" altLang="zh-CN" i="1" dirty="0">
                        <a:latin typeface="Cambria Math" panose="02040503050406030204" pitchFamily="18" charset="0"/>
                      </a:rPr>
                      <m:t>则</m:t>
                    </m:r>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𝑐</m:t>
                    </m:r>
                  </m:oMath>
                </a14:m>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mc:Choice>
        <mc:Fallback xmlns="">
          <p:sp>
            <p:nvSpPr>
              <p:cNvPr id="3" name="文本框 2">
                <a:extLst>
                  <a:ext uri="{FF2B5EF4-FFF2-40B4-BE49-F238E27FC236}">
                    <a16:creationId xmlns:a16="http://schemas.microsoft.com/office/drawing/2014/main" id="{AC3B5819-F8F1-0F91-8C69-2B584B319C5E}"/>
                  </a:ext>
                </a:extLst>
              </p:cNvPr>
              <p:cNvSpPr txBox="1">
                <a:spLocks noRot="1" noChangeAspect="1" noMove="1" noResize="1" noEditPoints="1" noAdjustHandles="1" noChangeArrowheads="1" noChangeShapeType="1" noTextEdit="1"/>
              </p:cNvSpPr>
              <p:nvPr/>
            </p:nvSpPr>
            <p:spPr>
              <a:xfrm>
                <a:off x="840577" y="2766280"/>
                <a:ext cx="9985042" cy="2309094"/>
              </a:xfrm>
              <a:prstGeom prst="rect">
                <a:avLst/>
              </a:prstGeom>
              <a:blipFill>
                <a:blip r:embed="rId2"/>
                <a:stretch>
                  <a:fillRect l="-794" t="-3958" r="-488" b="-369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8DBD4305-73BC-7550-6937-43C90D754941}"/>
              </a:ext>
            </a:extLst>
          </p:cNvPr>
          <p:cNvSpPr txBox="1"/>
          <p:nvPr/>
        </p:nvSpPr>
        <p:spPr>
          <a:xfrm>
            <a:off x="3233678" y="5580371"/>
            <a:ext cx="5724644" cy="461665"/>
          </a:xfrm>
          <a:prstGeom prst="rect">
            <a:avLst/>
          </a:prstGeom>
          <a:noFill/>
        </p:spPr>
        <p:txBody>
          <a:bodyPr wrap="none" rtlCol="0">
            <a:spAutoFit/>
          </a:bodyPr>
          <a:lstStyle/>
          <a:p>
            <a:r>
              <a:rPr lang="zh-CN" altLang="en-US" sz="2400" b="1" dirty="0">
                <a:latin typeface="Noto Sans SC" panose="020B0200000000000000" pitchFamily="34" charset="-122"/>
                <a:ea typeface="Noto Sans SC" panose="020B0200000000000000" pitchFamily="34" charset="-122"/>
              </a:rPr>
              <a:t>人眼对颜色匹配关系的感知基本是线性的</a:t>
            </a:r>
          </a:p>
        </p:txBody>
      </p:sp>
    </p:spTree>
    <p:extLst>
      <p:ext uri="{BB962C8B-B14F-4D97-AF65-F5344CB8AC3E}">
        <p14:creationId xmlns:p14="http://schemas.microsoft.com/office/powerpoint/2010/main" val="1560153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A0AEA-232D-2950-3109-821FAB5D015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E5FEACB-225A-ACCF-CDD7-3468B4C441FC}"/>
              </a:ext>
            </a:extLst>
          </p:cNvPr>
          <p:cNvSpPr>
            <a:spLocks noGrp="1"/>
          </p:cNvSpPr>
          <p:nvPr>
            <p:ph type="title" idx="1"/>
          </p:nvPr>
        </p:nvSpPr>
        <p:spPr/>
        <p:txBody>
          <a:bodyPr/>
          <a:lstStyle/>
          <a:p>
            <a:r>
              <a:rPr lang="zh-CN" altLang="en-US" dirty="0"/>
              <a:t>色彩科学的历史 </a:t>
            </a:r>
            <a:r>
              <a:rPr lang="en-US" altLang="zh-CN" dirty="0"/>
              <a:t>—— </a:t>
            </a:r>
            <a:r>
              <a:rPr lang="zh-CN" altLang="en-US" dirty="0"/>
              <a:t>生物学初步进展</a:t>
            </a:r>
          </a:p>
        </p:txBody>
      </p:sp>
      <p:sp>
        <p:nvSpPr>
          <p:cNvPr id="6" name="文本框 5">
            <a:extLst>
              <a:ext uri="{FF2B5EF4-FFF2-40B4-BE49-F238E27FC236}">
                <a16:creationId xmlns:a16="http://schemas.microsoft.com/office/drawing/2014/main" id="{DABBA3D2-9C9A-2CC6-BF78-6679C2DABC15}"/>
              </a:ext>
            </a:extLst>
          </p:cNvPr>
          <p:cNvSpPr txBox="1"/>
          <p:nvPr/>
        </p:nvSpPr>
        <p:spPr>
          <a:xfrm>
            <a:off x="407097" y="2254684"/>
            <a:ext cx="3739018" cy="3477875"/>
          </a:xfrm>
          <a:prstGeom prst="rect">
            <a:avLst/>
          </a:prstGeom>
          <a:noFill/>
        </p:spPr>
        <p:txBody>
          <a:bodyPr wrap="square" rtlCol="0">
            <a:spAutoFit/>
          </a:bodyPr>
          <a:lstStyle/>
          <a:p>
            <a:pPr algn="just"/>
            <a:r>
              <a:rPr lang="en-US" altLang="zh-CN" sz="2000" dirty="0">
                <a:latin typeface="Noto Sans SC" panose="020B0200000000000000" pitchFamily="34" charset="-122"/>
                <a:ea typeface="Noto Sans SC" panose="020B0200000000000000" pitchFamily="34" charset="-122"/>
              </a:rPr>
              <a:t>         1854</a:t>
            </a:r>
            <a:r>
              <a:rPr lang="zh-CN" altLang="en-US" sz="2000" dirty="0">
                <a:latin typeface="Noto Sans SC" panose="020B0200000000000000" pitchFamily="34" charset="-122"/>
                <a:ea typeface="Noto Sans SC" panose="020B0200000000000000" pitchFamily="34" charset="-122"/>
              </a:rPr>
              <a:t>年，</a:t>
            </a:r>
            <a:r>
              <a:rPr lang="zh-CN" altLang="zh-CN" sz="2000" dirty="0">
                <a:latin typeface="Noto Sans SC" panose="020B0200000000000000" pitchFamily="34" charset="-122"/>
                <a:ea typeface="Noto Sans SC" panose="020B0200000000000000" pitchFamily="34" charset="-122"/>
              </a:rPr>
              <a:t>卡尔·伯格曼</a:t>
            </a:r>
            <a:r>
              <a:rPr lang="en-US" altLang="zh-CN" sz="2000" dirty="0">
                <a:latin typeface="Noto Sans SC" panose="020B0200000000000000" pitchFamily="34" charset="-122"/>
                <a:ea typeface="Noto Sans SC" panose="020B0200000000000000" pitchFamily="34" charset="-122"/>
              </a:rPr>
              <a:t>(</a:t>
            </a:r>
            <a:r>
              <a:rPr lang="zh-CN" altLang="zh-CN" sz="2000" dirty="0">
                <a:latin typeface="Noto Sans SC" panose="020B0200000000000000" pitchFamily="34" charset="-122"/>
                <a:ea typeface="Noto Sans SC" panose="020B0200000000000000" pitchFamily="34" charset="-122"/>
              </a:rPr>
              <a:t>Carl Bergmann</a:t>
            </a:r>
            <a:r>
              <a:rPr lang="en-US" altLang="zh-CN" sz="2000" dirty="0">
                <a:latin typeface="Noto Sans SC" panose="020B0200000000000000" pitchFamily="34" charset="-122"/>
                <a:ea typeface="Noto Sans SC" panose="020B0200000000000000" pitchFamily="34" charset="-122"/>
              </a:rPr>
              <a:t>)</a:t>
            </a:r>
            <a:r>
              <a:rPr lang="zh-CN" altLang="en-US" sz="2000" dirty="0">
                <a:latin typeface="Noto Sans SC" panose="020B0200000000000000" pitchFamily="34" charset="-122"/>
                <a:ea typeface="Noto Sans SC" panose="020B0200000000000000" pitchFamily="34" charset="-122"/>
              </a:rPr>
              <a:t>通过直接观察人眼中央凹</a:t>
            </a:r>
            <a:r>
              <a:rPr lang="zh-CN" altLang="zh-CN" sz="2000" dirty="0">
                <a:latin typeface="Noto Sans SC" panose="020B0200000000000000" pitchFamily="34" charset="-122"/>
                <a:ea typeface="Noto Sans SC" panose="020B0200000000000000" pitchFamily="34" charset="-122"/>
              </a:rPr>
              <a:t>处其他视网膜层旁移</a:t>
            </a:r>
            <a:r>
              <a:rPr lang="zh-CN" altLang="en-US" sz="2000" dirty="0">
                <a:latin typeface="Noto Sans SC" panose="020B0200000000000000" pitchFamily="34" charset="-122"/>
                <a:ea typeface="Noto Sans SC" panose="020B0200000000000000" pitchFamily="34" charset="-122"/>
              </a:rPr>
              <a:t>，推断视锥细胞和视杆细胞</a:t>
            </a:r>
            <a:r>
              <a:rPr lang="zh-CN" altLang="zh-CN" sz="2000" dirty="0">
                <a:latin typeface="Noto Sans SC" panose="020B0200000000000000" pitchFamily="34" charset="-122"/>
                <a:ea typeface="Noto Sans SC" panose="020B0200000000000000" pitchFamily="34" charset="-122"/>
              </a:rPr>
              <a:t>是直接感光结构</a:t>
            </a:r>
            <a:r>
              <a:rPr lang="zh-CN" altLang="en-US" sz="2000" dirty="0">
                <a:latin typeface="Noto Sans SC" panose="020B0200000000000000" pitchFamily="34" charset="-122"/>
                <a:ea typeface="Noto Sans SC" panose="020B0200000000000000" pitchFamily="34" charset="-122"/>
              </a:rPr>
              <a:t>。</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a:t>
            </a:r>
            <a:r>
              <a:rPr lang="zh-CN" altLang="zh-CN" sz="2000" dirty="0">
                <a:latin typeface="Noto Sans SC" panose="020B0200000000000000" pitchFamily="34" charset="-122"/>
                <a:ea typeface="Noto Sans SC" panose="020B0200000000000000" pitchFamily="34" charset="-122"/>
              </a:rPr>
              <a:t>1856</a:t>
            </a:r>
            <a:r>
              <a:rPr lang="zh-CN" altLang="en-US" sz="2000" dirty="0">
                <a:latin typeface="Noto Sans SC" panose="020B0200000000000000" pitchFamily="34" charset="-122"/>
                <a:ea typeface="Noto Sans SC" panose="020B0200000000000000" pitchFamily="34" charset="-122"/>
              </a:rPr>
              <a:t>年，</a:t>
            </a:r>
            <a:r>
              <a:rPr lang="zh-CN" altLang="zh-CN" sz="2000" dirty="0">
                <a:latin typeface="Noto Sans SC" panose="020B0200000000000000" pitchFamily="34" charset="-122"/>
                <a:ea typeface="Noto Sans SC" panose="020B0200000000000000" pitchFamily="34" charset="-122"/>
              </a:rPr>
              <a:t>海因里希·缪勒</a:t>
            </a:r>
            <a:r>
              <a:rPr lang="en-US" altLang="zh-CN" sz="2000" dirty="0">
                <a:latin typeface="Noto Sans SC" panose="020B0200000000000000" pitchFamily="34" charset="-122"/>
                <a:ea typeface="Noto Sans SC" panose="020B0200000000000000" pitchFamily="34" charset="-122"/>
              </a:rPr>
              <a:t>(Heinrich Müller)</a:t>
            </a:r>
            <a:r>
              <a:rPr lang="zh-CN" altLang="en-US" sz="2000" dirty="0">
                <a:latin typeface="Noto Sans SC" panose="020B0200000000000000" pitchFamily="34" charset="-122"/>
                <a:ea typeface="Noto Sans SC" panose="020B0200000000000000" pitchFamily="34" charset="-122"/>
              </a:rPr>
              <a:t>绘制出了人类历史上第一张精确的视网膜细胞分层图。</a:t>
            </a:r>
          </a:p>
        </p:txBody>
      </p:sp>
      <p:sp>
        <p:nvSpPr>
          <p:cNvPr id="11" name="文本框 10">
            <a:extLst>
              <a:ext uri="{FF2B5EF4-FFF2-40B4-BE49-F238E27FC236}">
                <a16:creationId xmlns:a16="http://schemas.microsoft.com/office/drawing/2014/main" id="{7B88065C-C049-E0D7-42C7-097C61422A8E}"/>
              </a:ext>
            </a:extLst>
          </p:cNvPr>
          <p:cNvSpPr txBox="1"/>
          <p:nvPr/>
        </p:nvSpPr>
        <p:spPr>
          <a:xfrm>
            <a:off x="5274503" y="1658144"/>
            <a:ext cx="6105393" cy="1015663"/>
          </a:xfrm>
          <a:prstGeom prst="rect">
            <a:avLst/>
          </a:prstGeom>
          <a:noFill/>
        </p:spPr>
        <p:txBody>
          <a:bodyPr wrap="square" rtlCol="0">
            <a:spAutoFit/>
          </a:bodyPr>
          <a:lstStyle/>
          <a:p>
            <a:pPr algn="just"/>
            <a:r>
              <a:rPr lang="en-US" altLang="zh-CN" sz="2000" dirty="0">
                <a:latin typeface="Noto Sans SC" panose="020B0200000000000000" pitchFamily="34" charset="-122"/>
                <a:ea typeface="Noto Sans SC" panose="020B0200000000000000" pitchFamily="34" charset="-122"/>
              </a:rPr>
              <a:t>         1866</a:t>
            </a:r>
            <a:r>
              <a:rPr lang="zh-CN" altLang="en-US" sz="2000" dirty="0">
                <a:latin typeface="Noto Sans SC" panose="020B0200000000000000" pitchFamily="34" charset="-122"/>
                <a:ea typeface="Noto Sans SC" panose="020B0200000000000000" pitchFamily="34" charset="-122"/>
              </a:rPr>
              <a:t>年，</a:t>
            </a:r>
            <a:r>
              <a:rPr lang="zh-CN" altLang="zh-CN" sz="2000" dirty="0">
                <a:latin typeface="Noto Sans SC" panose="020B0200000000000000" pitchFamily="34" charset="-122"/>
                <a:ea typeface="Noto Sans SC" panose="020B0200000000000000" pitchFamily="34" charset="-122"/>
              </a:rPr>
              <a:t>马克斯·舒尔茨</a:t>
            </a:r>
            <a:r>
              <a:rPr lang="en-US" altLang="zh-CN" sz="2000" dirty="0">
                <a:latin typeface="Noto Sans SC" panose="020B0200000000000000" pitchFamily="34" charset="-122"/>
                <a:ea typeface="Noto Sans SC" panose="020B0200000000000000" pitchFamily="34" charset="-122"/>
              </a:rPr>
              <a:t>(</a:t>
            </a:r>
            <a:r>
              <a:rPr lang="zh-CN" altLang="zh-CN" sz="2000" dirty="0">
                <a:latin typeface="Noto Sans SC" panose="020B0200000000000000" pitchFamily="34" charset="-122"/>
                <a:ea typeface="Noto Sans SC" panose="020B0200000000000000" pitchFamily="34" charset="-122"/>
              </a:rPr>
              <a:t>Max Schultze</a:t>
            </a:r>
            <a:r>
              <a:rPr lang="en-US" altLang="zh-CN" sz="2000" dirty="0">
                <a:latin typeface="Noto Sans SC" panose="020B0200000000000000" pitchFamily="34" charset="-122"/>
                <a:ea typeface="Noto Sans SC" panose="020B0200000000000000" pitchFamily="34" charset="-122"/>
              </a:rPr>
              <a:t>)</a:t>
            </a:r>
            <a:r>
              <a:rPr lang="zh-CN" altLang="en-US" sz="2000" dirty="0">
                <a:latin typeface="Noto Sans SC" panose="020B0200000000000000" pitchFamily="34" charset="-122"/>
                <a:ea typeface="Noto Sans SC" panose="020B0200000000000000" pitchFamily="34" charset="-122"/>
              </a:rPr>
              <a:t>提出了著名的双重视觉说</a:t>
            </a:r>
            <a:r>
              <a:rPr lang="en-US" altLang="zh-CN" sz="2000" dirty="0">
                <a:latin typeface="Noto Sans SC" panose="020B0200000000000000" pitchFamily="34" charset="-122"/>
                <a:ea typeface="Noto Sans SC" panose="020B0200000000000000" pitchFamily="34" charset="-122"/>
              </a:rPr>
              <a:t>(</a:t>
            </a:r>
            <a:r>
              <a:rPr lang="zh-CN" altLang="zh-CN" sz="2000" dirty="0">
                <a:latin typeface="Noto Sans SC" panose="020B0200000000000000" pitchFamily="34" charset="-122"/>
                <a:ea typeface="Noto Sans SC" panose="020B0200000000000000" pitchFamily="34" charset="-122"/>
              </a:rPr>
              <a:t>duplicity theory of vision</a:t>
            </a:r>
            <a:r>
              <a:rPr lang="en-US" altLang="zh-CN" sz="2000" dirty="0">
                <a:latin typeface="Noto Sans SC" panose="020B0200000000000000" pitchFamily="34" charset="-122"/>
                <a:ea typeface="Noto Sans SC" panose="020B0200000000000000" pitchFamily="34" charset="-122"/>
              </a:rPr>
              <a:t>)</a:t>
            </a:r>
            <a:r>
              <a:rPr lang="zh-CN" altLang="en-US" sz="2000" dirty="0">
                <a:latin typeface="Noto Sans SC" panose="020B0200000000000000" pitchFamily="34" charset="-122"/>
                <a:ea typeface="Noto Sans SC" panose="020B0200000000000000" pitchFamily="34" charset="-122"/>
              </a:rPr>
              <a:t>，他认为视杆细胞用于</a:t>
            </a:r>
            <a:r>
              <a:rPr lang="zh-CN" altLang="zh-CN" sz="2000" dirty="0">
                <a:latin typeface="Noto Sans SC" panose="020B0200000000000000" pitchFamily="34" charset="-122"/>
                <a:ea typeface="Noto Sans SC" panose="020B0200000000000000" pitchFamily="34" charset="-122"/>
              </a:rPr>
              <a:t>暗视觉</a:t>
            </a:r>
            <a:r>
              <a:rPr lang="zh-CN" altLang="en-US" sz="2000" dirty="0">
                <a:latin typeface="Noto Sans SC" panose="020B0200000000000000" pitchFamily="34" charset="-122"/>
                <a:ea typeface="Noto Sans SC" panose="020B0200000000000000" pitchFamily="34" charset="-122"/>
              </a:rPr>
              <a:t>，视锥细胞用于明视觉。</a:t>
            </a:r>
          </a:p>
        </p:txBody>
      </p:sp>
      <p:pic>
        <p:nvPicPr>
          <p:cNvPr id="3" name="图片 2">
            <a:extLst>
              <a:ext uri="{FF2B5EF4-FFF2-40B4-BE49-F238E27FC236}">
                <a16:creationId xmlns:a16="http://schemas.microsoft.com/office/drawing/2014/main" id="{FBE113B2-A06E-115A-515A-50347642D5B2}"/>
              </a:ext>
            </a:extLst>
          </p:cNvPr>
          <p:cNvPicPr>
            <a:picLocks noChangeAspect="1"/>
          </p:cNvPicPr>
          <p:nvPr/>
        </p:nvPicPr>
        <p:blipFill>
          <a:blip r:embed="rId2"/>
          <a:stretch>
            <a:fillRect/>
          </a:stretch>
        </p:blipFill>
        <p:spPr>
          <a:xfrm>
            <a:off x="4927530" y="3203619"/>
            <a:ext cx="6799337" cy="24330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72521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B60D8-DD4D-CA7F-D3AD-38BA713916F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76B8577-060C-B642-417A-573602CF5837}"/>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有关亮度的研究</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7CCCD92-0C0A-DCD0-AA9B-A2D35744CF57}"/>
                  </a:ext>
                </a:extLst>
              </p:cNvPr>
              <p:cNvSpPr txBox="1"/>
              <p:nvPr/>
            </p:nvSpPr>
            <p:spPr>
              <a:xfrm>
                <a:off x="407094" y="1965423"/>
                <a:ext cx="6695161" cy="1631216"/>
              </a:xfrm>
              <a:prstGeom prst="rect">
                <a:avLst/>
              </a:prstGeom>
              <a:noFill/>
            </p:spPr>
            <p:txBody>
              <a:bodyPr wrap="square" rtlCol="0">
                <a:spAutoFit/>
              </a:bodyPr>
              <a:lstStyle/>
              <a:p>
                <a:pPr algn="just"/>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人们发现，对于同样的功率的光源，人眼对不同颜色</a:t>
                </a:r>
                <a:r>
                  <a:rPr lang="en-US" altLang="zh-CN" sz="2000" dirty="0">
                    <a:latin typeface="Noto Sans SC" panose="020B0200000000000000" pitchFamily="34" charset="-122"/>
                    <a:ea typeface="Noto Sans SC" panose="020B0200000000000000" pitchFamily="34" charset="-122"/>
                  </a:rPr>
                  <a:t>(</a:t>
                </a:r>
                <a:r>
                  <a:rPr lang="zh-CN" altLang="en-US" sz="2000" dirty="0">
                    <a:latin typeface="Noto Sans SC" panose="020B0200000000000000" pitchFamily="34" charset="-122"/>
                    <a:ea typeface="Noto Sans SC" panose="020B0200000000000000" pitchFamily="34" charset="-122"/>
                  </a:rPr>
                  <a:t>波长</a:t>
                </a:r>
                <a:r>
                  <a:rPr lang="en-US" altLang="zh-CN" sz="2000" dirty="0">
                    <a:latin typeface="Noto Sans SC" panose="020B0200000000000000" pitchFamily="34" charset="-122"/>
                    <a:ea typeface="Noto Sans SC" panose="020B0200000000000000" pitchFamily="34" charset="-122"/>
                  </a:rPr>
                  <a:t>)</a:t>
                </a:r>
                <a:r>
                  <a:rPr lang="zh-CN" altLang="en-US" sz="2000" dirty="0">
                    <a:latin typeface="Noto Sans SC" panose="020B0200000000000000" pitchFamily="34" charset="-122"/>
                    <a:ea typeface="Noto Sans SC" panose="020B0200000000000000" pitchFamily="34" charset="-122"/>
                  </a:rPr>
                  <a:t>的光源的感知亮度不一样。</a:t>
                </a:r>
                <a:r>
                  <a:rPr lang="en-US" altLang="zh-CN" sz="2000" dirty="0">
                    <a:latin typeface="Noto Sans SC" panose="020B0200000000000000" pitchFamily="34" charset="-122"/>
                    <a:ea typeface="Noto Sans SC" panose="020B0200000000000000" pitchFamily="34" charset="-122"/>
                  </a:rPr>
                  <a:t>1924</a:t>
                </a:r>
                <a:r>
                  <a:rPr lang="zh-CN" altLang="en-US" sz="2000" dirty="0">
                    <a:latin typeface="Noto Sans SC" panose="020B0200000000000000" pitchFamily="34" charset="-122"/>
                    <a:ea typeface="Noto Sans SC" panose="020B0200000000000000" pitchFamily="34" charset="-122"/>
                  </a:rPr>
                  <a:t>年，</a:t>
                </a:r>
                <a:r>
                  <a:rPr lang="en-US" altLang="zh-CN" sz="2000" dirty="0">
                    <a:latin typeface="Noto Sans SC" panose="020B0200000000000000" pitchFamily="34" charset="-122"/>
                    <a:ea typeface="Noto Sans SC" panose="020B0200000000000000" pitchFamily="34" charset="-122"/>
                  </a:rPr>
                  <a:t>CIE</a:t>
                </a:r>
                <a:r>
                  <a:rPr lang="zh-CN" altLang="en-US" sz="2000" dirty="0">
                    <a:latin typeface="Noto Sans SC" panose="020B0200000000000000" pitchFamily="34" charset="-122"/>
                    <a:ea typeface="Noto Sans SC" panose="020B0200000000000000" pitchFamily="34" charset="-122"/>
                  </a:rPr>
                  <a:t>通过对前人实验数据的总结，定义了视见函数</a:t>
                </a:r>
                <a14:m>
                  <m:oMath xmlns:m="http://schemas.openxmlformats.org/officeDocument/2006/math">
                    <m:r>
                      <m:rPr>
                        <m:sty m:val="p"/>
                      </m:rPr>
                      <a:rPr lang="en-US" altLang="zh-CN" sz="2000" i="1" dirty="0">
                        <a:latin typeface="Cambria Math" panose="02040503050406030204" pitchFamily="18" charset="0"/>
                      </a:rPr>
                      <m:t>V</m:t>
                    </m:r>
                    <m:r>
                      <a:rPr lang="en-US" altLang="zh-CN" sz="2000" i="1" dirty="0">
                        <a:latin typeface="Cambria Math" panose="02040503050406030204" pitchFamily="18" charset="0"/>
                      </a:rPr>
                      <m:t>(</m:t>
                    </m:r>
                    <m:r>
                      <a:rPr lang="en-US" altLang="zh-CN" sz="2000" i="1" dirty="0">
                        <a:latin typeface="Cambria Math" panose="02040503050406030204" pitchFamily="18" charset="0"/>
                      </a:rPr>
                      <m:t>𝜆</m:t>
                    </m:r>
                    <m:r>
                      <a:rPr lang="en-US" altLang="zh-CN" sz="2000" i="1" dirty="0">
                        <a:latin typeface="Cambria Math" panose="02040503050406030204" pitchFamily="18" charset="0"/>
                      </a:rPr>
                      <m:t>)</m:t>
                    </m:r>
                  </m:oMath>
                </a14:m>
                <a:r>
                  <a:rPr lang="zh-CN" altLang="en-US" sz="2000" dirty="0">
                    <a:latin typeface="Noto Sans SC" panose="020B0200000000000000" pitchFamily="34" charset="-122"/>
                    <a:ea typeface="Noto Sans SC" panose="020B0200000000000000" pitchFamily="34" charset="-122"/>
                  </a:rPr>
                  <a:t>，虽然这个函数至今仍一些多争议，比如受试者数量太少、短波附近函数值误差大等等，但它仍然是具有意义的</a:t>
                </a:r>
                <a:r>
                  <a:rPr lang="zh-CN" altLang="zh-CN" sz="2000" dirty="0">
                    <a:latin typeface="Noto Sans SC" panose="020B0200000000000000" pitchFamily="34" charset="-122"/>
                    <a:ea typeface="Noto Sans SC" panose="020B0200000000000000" pitchFamily="34" charset="-122"/>
                  </a:rPr>
                  <a:t>统一标准</a:t>
                </a:r>
                <a:r>
                  <a:rPr lang="zh-CN" altLang="en-US" sz="2000" dirty="0">
                    <a:latin typeface="Noto Sans SC" panose="020B0200000000000000" pitchFamily="34" charset="-122"/>
                    <a:ea typeface="Noto Sans SC" panose="020B0200000000000000" pitchFamily="34" charset="-122"/>
                  </a:rPr>
                  <a:t>。</a:t>
                </a:r>
              </a:p>
            </p:txBody>
          </p:sp>
        </mc:Choice>
        <mc:Fallback xmlns="">
          <p:sp>
            <p:nvSpPr>
              <p:cNvPr id="6" name="文本框 5">
                <a:extLst>
                  <a:ext uri="{FF2B5EF4-FFF2-40B4-BE49-F238E27FC236}">
                    <a16:creationId xmlns:a16="http://schemas.microsoft.com/office/drawing/2014/main" id="{07CCCD92-0C0A-DCD0-AA9B-A2D35744CF57}"/>
                  </a:ext>
                </a:extLst>
              </p:cNvPr>
              <p:cNvSpPr txBox="1">
                <a:spLocks noRot="1" noChangeAspect="1" noMove="1" noResize="1" noEditPoints="1" noAdjustHandles="1" noChangeArrowheads="1" noChangeShapeType="1" noTextEdit="1"/>
              </p:cNvSpPr>
              <p:nvPr/>
            </p:nvSpPr>
            <p:spPr>
              <a:xfrm>
                <a:off x="407094" y="1965423"/>
                <a:ext cx="6695161" cy="1631216"/>
              </a:xfrm>
              <a:prstGeom prst="rect">
                <a:avLst/>
              </a:prstGeom>
              <a:blipFill>
                <a:blip r:embed="rId2"/>
                <a:stretch>
                  <a:fillRect l="-1002" t="-1866" r="-911" b="-559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F3843CB0-63C8-DC93-8747-4BFCE52BAB86}"/>
              </a:ext>
            </a:extLst>
          </p:cNvPr>
          <p:cNvPicPr>
            <a:picLocks noChangeAspect="1"/>
          </p:cNvPicPr>
          <p:nvPr/>
        </p:nvPicPr>
        <p:blipFill>
          <a:blip r:embed="rId3"/>
          <a:stretch>
            <a:fillRect/>
          </a:stretch>
        </p:blipFill>
        <p:spPr>
          <a:xfrm>
            <a:off x="7540130" y="1803747"/>
            <a:ext cx="4026107" cy="3835597"/>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D534FCA-4C6D-1414-A956-2B3CAAD326D0}"/>
                  </a:ext>
                </a:extLst>
              </p:cNvPr>
              <p:cNvSpPr txBox="1"/>
              <p:nvPr/>
            </p:nvSpPr>
            <p:spPr>
              <a:xfrm>
                <a:off x="407093" y="4039351"/>
                <a:ext cx="6695161" cy="1631216"/>
              </a:xfrm>
              <a:prstGeom prst="rect">
                <a:avLst/>
              </a:prstGeom>
              <a:noFill/>
            </p:spPr>
            <p:txBody>
              <a:bodyPr wrap="square">
                <a:spAutoFit/>
              </a:bodyPr>
              <a:lstStyle/>
              <a:p>
                <a:pPr algn="just"/>
                <a:r>
                  <a:rPr lang="en-US" altLang="zh-CN" sz="2000" dirty="0">
                    <a:latin typeface="Noto Sans SC" panose="020B0200000000000000" pitchFamily="34" charset="-122"/>
                    <a:ea typeface="Noto Sans SC" panose="020B0200000000000000" pitchFamily="34" charset="-122"/>
                  </a:rPr>
                  <a:t>         1924</a:t>
                </a:r>
                <a:r>
                  <a:rPr lang="zh-CN" altLang="en-US" sz="2000" dirty="0">
                    <a:latin typeface="Noto Sans SC" panose="020B0200000000000000" pitchFamily="34" charset="-122"/>
                    <a:ea typeface="Noto Sans SC" panose="020B0200000000000000" pitchFamily="34" charset="-122"/>
                  </a:rPr>
                  <a:t>年</a:t>
                </a:r>
                <a:r>
                  <a:rPr lang="en-US" altLang="zh-CN" sz="2000" dirty="0">
                    <a:latin typeface="Noto Sans SC" panose="020B0200000000000000" pitchFamily="34" charset="-122"/>
                    <a:ea typeface="Noto Sans SC" panose="020B0200000000000000" pitchFamily="34" charset="-122"/>
                  </a:rPr>
                  <a:t>CIE</a:t>
                </a:r>
                <a:r>
                  <a:rPr lang="zh-CN" altLang="en-US" sz="2000" dirty="0">
                    <a:latin typeface="Noto Sans SC" panose="020B0200000000000000" pitchFamily="34" charset="-122"/>
                    <a:ea typeface="Noto Sans SC" panose="020B0200000000000000" pitchFamily="34" charset="-122"/>
                  </a:rPr>
                  <a:t>定义的视见函数</a:t>
                </a:r>
                <a14:m>
                  <m:oMath xmlns:m="http://schemas.openxmlformats.org/officeDocument/2006/math">
                    <m:r>
                      <m:rPr>
                        <m:sty m:val="p"/>
                      </m:rPr>
                      <a:rPr lang="en-US" altLang="zh-CN" sz="2000" i="1" dirty="0">
                        <a:latin typeface="Cambria Math" panose="02040503050406030204" pitchFamily="18" charset="0"/>
                      </a:rPr>
                      <m:t>V</m:t>
                    </m:r>
                    <m:r>
                      <a:rPr lang="en-US" altLang="zh-CN" sz="2000" i="1" dirty="0">
                        <a:latin typeface="Cambria Math" panose="02040503050406030204" pitchFamily="18" charset="0"/>
                      </a:rPr>
                      <m:t>(</m:t>
                    </m:r>
                    <m:r>
                      <a:rPr lang="en-US" altLang="zh-CN" sz="2000" i="1" dirty="0">
                        <a:latin typeface="Cambria Math" panose="02040503050406030204" pitchFamily="18" charset="0"/>
                      </a:rPr>
                      <m:t>𝜆</m:t>
                    </m:r>
                    <m:r>
                      <a:rPr lang="en-US" altLang="zh-CN" sz="2000" i="1" dirty="0">
                        <a:latin typeface="Cambria Math" panose="02040503050406030204" pitchFamily="18" charset="0"/>
                      </a:rPr>
                      <m:t>)</m:t>
                    </m:r>
                  </m:oMath>
                </a14:m>
                <a:r>
                  <a:rPr lang="zh-CN" altLang="en-US" sz="2000" dirty="0">
                    <a:latin typeface="Noto Sans SC" panose="020B0200000000000000" pitchFamily="34" charset="-122"/>
                    <a:ea typeface="Noto Sans SC" panose="020B0200000000000000" pitchFamily="34" charset="-122"/>
                  </a:rPr>
                  <a:t>只针对明视觉，后续，</a:t>
                </a:r>
                <a:r>
                  <a:rPr lang="en-US" altLang="zh-CN" sz="2000" dirty="0">
                    <a:latin typeface="Noto Sans SC" panose="020B0200000000000000" pitchFamily="34" charset="-122"/>
                    <a:ea typeface="Noto Sans SC" panose="020B0200000000000000" pitchFamily="34" charset="-122"/>
                  </a:rPr>
                  <a:t>1951</a:t>
                </a:r>
                <a:r>
                  <a:rPr lang="zh-CN" altLang="en-US" sz="2000" dirty="0">
                    <a:latin typeface="Noto Sans SC" panose="020B0200000000000000" pitchFamily="34" charset="-122"/>
                    <a:ea typeface="Noto Sans SC" panose="020B0200000000000000" pitchFamily="34" charset="-122"/>
                  </a:rPr>
                  <a:t>年，</a:t>
                </a:r>
                <a:r>
                  <a:rPr lang="en-US" altLang="zh-CN" sz="2000" dirty="0">
                    <a:latin typeface="Noto Sans SC" panose="020B0200000000000000" pitchFamily="34" charset="-122"/>
                    <a:ea typeface="Noto Sans SC" panose="020B0200000000000000" pitchFamily="34" charset="-122"/>
                  </a:rPr>
                  <a:t>CIE</a:t>
                </a:r>
                <a:r>
                  <a:rPr lang="zh-CN" altLang="en-US" sz="2000" dirty="0">
                    <a:latin typeface="Noto Sans SC" panose="020B0200000000000000" pitchFamily="34" charset="-122"/>
                    <a:ea typeface="Noto Sans SC" panose="020B0200000000000000" pitchFamily="34" charset="-122"/>
                  </a:rPr>
                  <a:t>又定义了基于暗视觉的视见函数</a:t>
                </a:r>
                <a14:m>
                  <m:oMath xmlns:m="http://schemas.openxmlformats.org/officeDocument/2006/math">
                    <m:r>
                      <m:rPr>
                        <m:sty m:val="p"/>
                      </m:rPr>
                      <a:rPr lang="en-US" altLang="zh-CN" sz="2000" i="1" dirty="0">
                        <a:latin typeface="Cambria Math" panose="02040503050406030204" pitchFamily="18" charset="0"/>
                      </a:rPr>
                      <m:t>V</m:t>
                    </m:r>
                    <m:r>
                      <a:rPr lang="en-US" altLang="zh-CN" sz="2000" b="0" i="1" dirty="0" smtClean="0">
                        <a:latin typeface="Cambria Math" panose="02040503050406030204" pitchFamily="18" charset="0"/>
                      </a:rPr>
                      <m:t>′</m:t>
                    </m:r>
                    <m:r>
                      <a:rPr lang="en-US" altLang="zh-CN" sz="2000" i="1" dirty="0">
                        <a:latin typeface="Cambria Math" panose="02040503050406030204" pitchFamily="18" charset="0"/>
                      </a:rPr>
                      <m:t>(</m:t>
                    </m:r>
                    <m:r>
                      <a:rPr lang="en-US" altLang="zh-CN" sz="2000" i="1" dirty="0">
                        <a:latin typeface="Cambria Math" panose="02040503050406030204" pitchFamily="18" charset="0"/>
                      </a:rPr>
                      <m:t>𝜆</m:t>
                    </m:r>
                    <m:r>
                      <a:rPr lang="en-US" altLang="zh-CN" sz="2000" i="1" dirty="0">
                        <a:latin typeface="Cambria Math" panose="02040503050406030204" pitchFamily="18" charset="0"/>
                      </a:rPr>
                      <m:t>) </m:t>
                    </m:r>
                  </m:oMath>
                </a14:m>
                <a:r>
                  <a:rPr lang="zh-CN" altLang="en-US" sz="2000" dirty="0">
                    <a:latin typeface="Noto Sans SC" panose="020B0200000000000000" pitchFamily="34" charset="-122"/>
                    <a:ea typeface="Noto Sans SC" panose="020B0200000000000000" pitchFamily="34" charset="-122"/>
                  </a:rPr>
                  <a:t>。此外，由于当初视见函数有一些争议，而且并不是对所有视觉任务都是最佳的选择，所以在原本的基础上又有很多修正后的视见函数。</a:t>
                </a:r>
              </a:p>
            </p:txBody>
          </p:sp>
        </mc:Choice>
        <mc:Fallback xmlns="">
          <p:sp>
            <p:nvSpPr>
              <p:cNvPr id="10" name="文本框 9">
                <a:extLst>
                  <a:ext uri="{FF2B5EF4-FFF2-40B4-BE49-F238E27FC236}">
                    <a16:creationId xmlns:a16="http://schemas.microsoft.com/office/drawing/2014/main" id="{4D534FCA-4C6D-1414-A956-2B3CAAD326D0}"/>
                  </a:ext>
                </a:extLst>
              </p:cNvPr>
              <p:cNvSpPr txBox="1">
                <a:spLocks noRot="1" noChangeAspect="1" noMove="1" noResize="1" noEditPoints="1" noAdjustHandles="1" noChangeArrowheads="1" noChangeShapeType="1" noTextEdit="1"/>
              </p:cNvSpPr>
              <p:nvPr/>
            </p:nvSpPr>
            <p:spPr>
              <a:xfrm>
                <a:off x="407093" y="4039351"/>
                <a:ext cx="6695161" cy="1631216"/>
              </a:xfrm>
              <a:prstGeom prst="rect">
                <a:avLst/>
              </a:prstGeom>
              <a:blipFill>
                <a:blip r:embed="rId4"/>
                <a:stretch>
                  <a:fillRect l="-1002" t="-2247" r="-911" b="-5993"/>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9A787DC7-360E-158B-53EB-CFF0A47B53CA}"/>
              </a:ext>
            </a:extLst>
          </p:cNvPr>
          <p:cNvSpPr txBox="1"/>
          <p:nvPr/>
        </p:nvSpPr>
        <p:spPr>
          <a:xfrm>
            <a:off x="2447272" y="6113279"/>
            <a:ext cx="9865813" cy="499624"/>
          </a:xfrm>
          <a:prstGeom prst="rect">
            <a:avLst/>
          </a:prstGeom>
          <a:noFill/>
        </p:spPr>
        <p:txBody>
          <a:bodyPr wrap="square">
            <a:spAutoFit/>
          </a:bodyPr>
          <a:lstStyle/>
          <a:p>
            <a:pPr>
              <a:lnSpc>
                <a:spcPct val="150000"/>
              </a:lnSpc>
            </a:pPr>
            <a:r>
              <a:rPr lang="zh-CN" altLang="en-US" sz="2000" dirty="0">
                <a:latin typeface="Noto Sans SC" panose="020B0200000000000000" pitchFamily="34" charset="-122"/>
                <a:ea typeface="Noto Sans SC" panose="020B0200000000000000" pitchFamily="34" charset="-122"/>
              </a:rPr>
              <a:t>国际照明委员会 </a:t>
            </a:r>
            <a:r>
              <a:rPr lang="en-US" altLang="zh-CN" sz="2000" dirty="0">
                <a:latin typeface="Noto Sans SC" panose="020B0200000000000000" pitchFamily="34" charset="-122"/>
                <a:ea typeface="Noto Sans SC" panose="020B0200000000000000" pitchFamily="34" charset="-122"/>
              </a:rPr>
              <a:t>CIE</a:t>
            </a:r>
            <a:r>
              <a:rPr lang="zh-CN" altLang="en-US" sz="2000" dirty="0">
                <a:latin typeface="Noto Sans SC" panose="020B0200000000000000" pitchFamily="34" charset="-122"/>
                <a:ea typeface="Noto Sans SC" panose="020B0200000000000000" pitchFamily="34" charset="-122"/>
              </a:rPr>
              <a:t>，源自法语全称 </a:t>
            </a:r>
            <a:r>
              <a:rPr lang="zh-CN" altLang="zh-CN" sz="2000" dirty="0">
                <a:latin typeface="Noto Sans SC" panose="020B0200000000000000" pitchFamily="34" charset="-122"/>
                <a:ea typeface="Noto Sans SC" panose="020B0200000000000000" pitchFamily="34" charset="-122"/>
              </a:rPr>
              <a:t>Commission Internationale de l´Eclairage</a:t>
            </a:r>
            <a:r>
              <a:rPr lang="zh-CN" altLang="en-US" sz="2000" dirty="0">
                <a:latin typeface="Noto Sans SC" panose="020B0200000000000000" pitchFamily="34" charset="-122"/>
                <a:ea typeface="Noto Sans SC" panose="020B0200000000000000" pitchFamily="34" charset="-122"/>
              </a:rPr>
              <a:t>。</a:t>
            </a:r>
            <a:endParaRPr lang="en-US" altLang="zh-CN" sz="2000"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42BBD8D-57DC-86D0-8DFA-960263D45699}"/>
                  </a:ext>
                </a:extLst>
              </p:cNvPr>
              <p:cNvSpPr txBox="1"/>
              <p:nvPr/>
            </p:nvSpPr>
            <p:spPr>
              <a:xfrm>
                <a:off x="457201" y="1405676"/>
                <a:ext cx="6100174"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视见函数</a:t>
                </a:r>
                <a14:m>
                  <m:oMath xmlns:m="http://schemas.openxmlformats.org/officeDocument/2006/math">
                    <m:r>
                      <a:rPr lang="en-US" altLang="zh-CN" sz="2000" b="1" i="1" dirty="0">
                        <a:latin typeface="Cambria Math" panose="02040503050406030204" pitchFamily="18" charset="0"/>
                      </a:rPr>
                      <m:t>𝑽</m:t>
                    </m:r>
                    <m:r>
                      <a:rPr lang="en-US" altLang="zh-CN" sz="2000" b="1" i="1" dirty="0">
                        <a:latin typeface="Cambria Math" panose="02040503050406030204" pitchFamily="18" charset="0"/>
                      </a:rPr>
                      <m:t>(</m:t>
                    </m:r>
                    <m:r>
                      <a:rPr lang="en-US" altLang="zh-CN" sz="2000" b="1" i="1" dirty="0">
                        <a:latin typeface="Cambria Math" panose="02040503050406030204" pitchFamily="18" charset="0"/>
                      </a:rPr>
                      <m:t>𝝀</m:t>
                    </m:r>
                    <m:r>
                      <a:rPr lang="en-US" altLang="zh-CN" sz="2000" b="1" i="1" dirty="0">
                        <a:latin typeface="Cambria Math" panose="02040503050406030204" pitchFamily="18" charset="0"/>
                      </a:rPr>
                      <m:t>)</m:t>
                    </m:r>
                  </m:oMath>
                </a14:m>
                <a:endParaRPr lang="zh-CN" altLang="en-US" sz="2000" b="1" dirty="0">
                  <a:latin typeface="Noto Sans SC" panose="020B0200000000000000" pitchFamily="34" charset="-122"/>
                  <a:ea typeface="Noto Sans SC" panose="020B0200000000000000" pitchFamily="34" charset="-122"/>
                </a:endParaRPr>
              </a:p>
            </p:txBody>
          </p:sp>
        </mc:Choice>
        <mc:Fallback xmlns="">
          <p:sp>
            <p:nvSpPr>
              <p:cNvPr id="19" name="文本框 18">
                <a:extLst>
                  <a:ext uri="{FF2B5EF4-FFF2-40B4-BE49-F238E27FC236}">
                    <a16:creationId xmlns:a16="http://schemas.microsoft.com/office/drawing/2014/main" id="{442BBD8D-57DC-86D0-8DFA-960263D45699}"/>
                  </a:ext>
                </a:extLst>
              </p:cNvPr>
              <p:cNvSpPr txBox="1">
                <a:spLocks noRot="1" noChangeAspect="1" noMove="1" noResize="1" noEditPoints="1" noAdjustHandles="1" noChangeArrowheads="1" noChangeShapeType="1" noTextEdit="1"/>
              </p:cNvSpPr>
              <p:nvPr/>
            </p:nvSpPr>
            <p:spPr>
              <a:xfrm>
                <a:off x="457201" y="1405676"/>
                <a:ext cx="6100174" cy="400110"/>
              </a:xfrm>
              <a:prstGeom prst="rect">
                <a:avLst/>
              </a:prstGeom>
              <a:blipFill>
                <a:blip r:embed="rId5"/>
                <a:stretch>
                  <a:fillRect l="-999" t="-9231" b="-276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88794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6F608-5708-6242-9381-7BBE4AD2D93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88EABCA-5DEB-E35F-0305-AB33CFAC42FD}"/>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有关亮度的研究</a:t>
            </a:r>
          </a:p>
        </p:txBody>
      </p:sp>
      <p:sp>
        <p:nvSpPr>
          <p:cNvPr id="6" name="文本框 5">
            <a:extLst>
              <a:ext uri="{FF2B5EF4-FFF2-40B4-BE49-F238E27FC236}">
                <a16:creationId xmlns:a16="http://schemas.microsoft.com/office/drawing/2014/main" id="{AFC37BDD-7B24-4D54-EF83-370216D46043}"/>
              </a:ext>
            </a:extLst>
          </p:cNvPr>
          <p:cNvSpPr txBox="1"/>
          <p:nvPr/>
        </p:nvSpPr>
        <p:spPr>
          <a:xfrm>
            <a:off x="407094" y="1965423"/>
            <a:ext cx="6695161" cy="1323439"/>
          </a:xfrm>
          <a:prstGeom prst="rect">
            <a:avLst/>
          </a:prstGeom>
          <a:noFill/>
        </p:spPr>
        <p:txBody>
          <a:bodyPr wrap="square" rtlCol="0">
            <a:spAutoFit/>
          </a:bodyPr>
          <a:lstStyle/>
          <a:p>
            <a:pPr algn="just"/>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虽然当时没法直接测量功率，但是为了得到等能亮的光，科学家们想到里一个办法：用光照射涂黑的金属片，然后通过灵敏的热敏电阻和电流计，根据温度的上升测得了光的能量，进而反过来推测功率。</a:t>
            </a:r>
          </a:p>
        </p:txBody>
      </p:sp>
      <p:pic>
        <p:nvPicPr>
          <p:cNvPr id="3" name="图片 2">
            <a:extLst>
              <a:ext uri="{FF2B5EF4-FFF2-40B4-BE49-F238E27FC236}">
                <a16:creationId xmlns:a16="http://schemas.microsoft.com/office/drawing/2014/main" id="{9A192DBC-D315-34F9-3601-07F1CC56A8A8}"/>
              </a:ext>
            </a:extLst>
          </p:cNvPr>
          <p:cNvPicPr>
            <a:picLocks noChangeAspect="1"/>
          </p:cNvPicPr>
          <p:nvPr/>
        </p:nvPicPr>
        <p:blipFill>
          <a:blip r:embed="rId2"/>
          <a:stretch>
            <a:fillRect/>
          </a:stretch>
        </p:blipFill>
        <p:spPr>
          <a:xfrm>
            <a:off x="7540130" y="1803747"/>
            <a:ext cx="4026107" cy="3835597"/>
          </a:xfrm>
          <a:prstGeom prst="rect">
            <a:avLst/>
          </a:prstGeom>
        </p:spPr>
      </p:pic>
      <p:sp>
        <p:nvSpPr>
          <p:cNvPr id="10" name="文本框 9">
            <a:extLst>
              <a:ext uri="{FF2B5EF4-FFF2-40B4-BE49-F238E27FC236}">
                <a16:creationId xmlns:a16="http://schemas.microsoft.com/office/drawing/2014/main" id="{2D2A7A21-BA2E-509E-6E62-F6779A93919E}"/>
              </a:ext>
            </a:extLst>
          </p:cNvPr>
          <p:cNvSpPr txBox="1"/>
          <p:nvPr/>
        </p:nvSpPr>
        <p:spPr>
          <a:xfrm>
            <a:off x="353591" y="3513332"/>
            <a:ext cx="6695161" cy="2862322"/>
          </a:xfrm>
          <a:prstGeom prst="rect">
            <a:avLst/>
          </a:prstGeom>
          <a:noFill/>
        </p:spPr>
        <p:txBody>
          <a:bodyPr wrap="square">
            <a:spAutoFit/>
          </a:bodyPr>
          <a:lstStyle/>
          <a:p>
            <a:pPr algn="just"/>
            <a:r>
              <a:rPr lang="zh-CN" altLang="en-US" sz="2000" dirty="0">
                <a:latin typeface="Noto Sans SC" panose="020B0200000000000000" pitchFamily="34" charset="-122"/>
                <a:ea typeface="Noto Sans SC" panose="020B0200000000000000" pitchFamily="34" charset="-122"/>
              </a:rPr>
              <a:t>         此外，由于人眼感受到的明度和光的饱和度有关，当时为了得到工程上可以做加法的线性系统，科学家选择了“</a:t>
            </a:r>
            <a:r>
              <a:rPr lang="zh-CN" altLang="zh-CN" sz="2000" dirty="0">
                <a:latin typeface="Noto Sans SC" panose="020B0200000000000000" pitchFamily="34" charset="-122"/>
                <a:ea typeface="Noto Sans SC" panose="020B0200000000000000" pitchFamily="34" charset="-122"/>
              </a:rPr>
              <a:t>异色闪烁光度法</a:t>
            </a:r>
            <a:r>
              <a:rPr lang="zh-CN" altLang="en-US" sz="2000" dirty="0">
                <a:latin typeface="Noto Sans SC" panose="020B0200000000000000" pitchFamily="34" charset="-122"/>
                <a:ea typeface="Noto Sans SC" panose="020B0200000000000000" pitchFamily="34" charset="-122"/>
              </a:rPr>
              <a:t>”，通过交替闪烁两束单色光，并让观察者调节两束光的亮度，直到看不出闪烁，以此类推，测的了全波长的视见函数</a:t>
            </a:r>
            <a:r>
              <a:rPr lang="en-US" altLang="zh-CN" sz="2000" dirty="0">
                <a:latin typeface="Noto Sans SC" panose="020B0200000000000000" pitchFamily="34" charset="-122"/>
                <a:ea typeface="Noto Sans SC" panose="020B0200000000000000" pitchFamily="34" charset="-122"/>
              </a:rPr>
              <a:t>V(λ)</a:t>
            </a:r>
            <a:r>
              <a:rPr lang="zh-CN" altLang="en-US" sz="2000" dirty="0">
                <a:latin typeface="Noto Sans SC" panose="020B0200000000000000" pitchFamily="34" charset="-122"/>
                <a:ea typeface="Noto Sans SC" panose="020B0200000000000000" pitchFamily="34" charset="-122"/>
              </a:rPr>
              <a:t>。这种闪烁的方式能够</a:t>
            </a:r>
            <a:r>
              <a:rPr lang="zh-CN" altLang="zh-CN" sz="2000" dirty="0">
                <a:latin typeface="Noto Sans SC" panose="020B0200000000000000" pitchFamily="34" charset="-122"/>
                <a:ea typeface="Noto Sans SC" panose="020B0200000000000000" pitchFamily="34" charset="-122"/>
              </a:rPr>
              <a:t>尽量减少颜色差异对亮度匹配的干扰</a:t>
            </a:r>
            <a:r>
              <a:rPr lang="zh-CN" altLang="en-US" sz="2000" dirty="0">
                <a:latin typeface="Noto Sans SC" panose="020B0200000000000000" pitchFamily="34" charset="-122"/>
                <a:ea typeface="Noto Sans SC" panose="020B0200000000000000" pitchFamily="34" charset="-122"/>
              </a:rPr>
              <a:t>。</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a:t>
            </a:r>
            <a:r>
              <a:rPr lang="zh-CN" altLang="en-US" sz="2000" dirty="0">
                <a:latin typeface="Noto Sans SC" panose="020B0200000000000000" pitchFamily="34" charset="-122"/>
                <a:ea typeface="Noto Sans SC" panose="020B0200000000000000" pitchFamily="34" charset="-122"/>
              </a:rPr>
              <a:t>        总之，科学家们测得了视见函数</a:t>
            </a:r>
            <a:r>
              <a:rPr lang="en-US" altLang="zh-CN" sz="2000" dirty="0">
                <a:latin typeface="Noto Sans SC" panose="020B0200000000000000" pitchFamily="34" charset="-122"/>
                <a:ea typeface="Noto Sans SC" panose="020B0200000000000000" pitchFamily="34" charset="-122"/>
              </a:rPr>
              <a:t>V(λ)</a:t>
            </a:r>
            <a:r>
              <a:rPr lang="zh-CN" altLang="en-US" sz="2000" dirty="0">
                <a:latin typeface="Noto Sans SC" panose="020B0200000000000000" pitchFamily="34" charset="-122"/>
                <a:ea typeface="Noto Sans SC" panose="020B0200000000000000" pitchFamily="34" charset="-122"/>
              </a:rPr>
              <a:t>，成为了工程上的亮度衡量标准。</a:t>
            </a:r>
            <a:endParaRPr lang="en-US" altLang="zh-CN" sz="2000"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8E65D28A-BFC8-21C1-286C-3FE7CA598491}"/>
                  </a:ext>
                </a:extLst>
              </p:cNvPr>
              <p:cNvSpPr txBox="1"/>
              <p:nvPr/>
            </p:nvSpPr>
            <p:spPr>
              <a:xfrm>
                <a:off x="457201" y="1405676"/>
                <a:ext cx="6100174"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视见函数</a:t>
                </a:r>
                <a14:m>
                  <m:oMath xmlns:m="http://schemas.openxmlformats.org/officeDocument/2006/math">
                    <m:r>
                      <a:rPr lang="en-US" altLang="zh-CN" sz="2000" b="1" i="1" dirty="0">
                        <a:latin typeface="Cambria Math" panose="02040503050406030204" pitchFamily="18" charset="0"/>
                      </a:rPr>
                      <m:t>𝑽</m:t>
                    </m:r>
                    <m:r>
                      <a:rPr lang="en-US" altLang="zh-CN" sz="2000" b="1" i="1" dirty="0">
                        <a:latin typeface="Cambria Math" panose="02040503050406030204" pitchFamily="18" charset="0"/>
                      </a:rPr>
                      <m:t>(</m:t>
                    </m:r>
                    <m:r>
                      <a:rPr lang="en-US" altLang="zh-CN" sz="2000" b="1" i="1" dirty="0">
                        <a:latin typeface="Cambria Math" panose="02040503050406030204" pitchFamily="18" charset="0"/>
                      </a:rPr>
                      <m:t>𝝀</m:t>
                    </m:r>
                    <m:r>
                      <a:rPr lang="en-US" altLang="zh-CN" sz="2000" b="1" i="1" dirty="0">
                        <a:latin typeface="Cambria Math" panose="02040503050406030204" pitchFamily="18" charset="0"/>
                      </a:rPr>
                      <m:t>)</m:t>
                    </m:r>
                  </m:oMath>
                </a14:m>
                <a:endParaRPr lang="zh-CN" altLang="en-US" sz="2000" b="1" dirty="0">
                  <a:latin typeface="Noto Sans SC" panose="020B0200000000000000" pitchFamily="34" charset="-122"/>
                  <a:ea typeface="Noto Sans SC" panose="020B0200000000000000" pitchFamily="34" charset="-122"/>
                </a:endParaRPr>
              </a:p>
            </p:txBody>
          </p:sp>
        </mc:Choice>
        <mc:Fallback xmlns="">
          <p:sp>
            <p:nvSpPr>
              <p:cNvPr id="19" name="文本框 18">
                <a:extLst>
                  <a:ext uri="{FF2B5EF4-FFF2-40B4-BE49-F238E27FC236}">
                    <a16:creationId xmlns:a16="http://schemas.microsoft.com/office/drawing/2014/main" id="{8E65D28A-BFC8-21C1-286C-3FE7CA598491}"/>
                  </a:ext>
                </a:extLst>
              </p:cNvPr>
              <p:cNvSpPr txBox="1">
                <a:spLocks noRot="1" noChangeAspect="1" noMove="1" noResize="1" noEditPoints="1" noAdjustHandles="1" noChangeArrowheads="1" noChangeShapeType="1" noTextEdit="1"/>
              </p:cNvSpPr>
              <p:nvPr/>
            </p:nvSpPr>
            <p:spPr>
              <a:xfrm>
                <a:off x="457201" y="1405676"/>
                <a:ext cx="6100174" cy="400110"/>
              </a:xfrm>
              <a:prstGeom prst="rect">
                <a:avLst/>
              </a:prstGeom>
              <a:blipFill>
                <a:blip r:embed="rId3"/>
                <a:stretch>
                  <a:fillRect l="-999" t="-9231" b="-276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7707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9537D-FCD9-A55B-80AD-A64BEAD524B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4DF40AC-87FF-DECD-3D22-B856ECE7F55C}"/>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p:sp>
        <p:nvSpPr>
          <p:cNvPr id="9" name="文本框 8">
            <a:extLst>
              <a:ext uri="{FF2B5EF4-FFF2-40B4-BE49-F238E27FC236}">
                <a16:creationId xmlns:a16="http://schemas.microsoft.com/office/drawing/2014/main" id="{E151DB56-2E60-B009-1AA2-80ADA27EC29C}"/>
              </a:ext>
            </a:extLst>
          </p:cNvPr>
          <p:cNvSpPr txBox="1"/>
          <p:nvPr/>
        </p:nvSpPr>
        <p:spPr>
          <a:xfrm>
            <a:off x="346606" y="1854377"/>
            <a:ext cx="5509312" cy="4801314"/>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a:t>
            </a:r>
            <a:r>
              <a:rPr lang="en-US" altLang="zh-CN" dirty="0">
                <a:latin typeface="Noto Sans SC" panose="020B0200000000000000" pitchFamily="34" charset="-122"/>
                <a:ea typeface="Noto Sans SC" panose="020B0200000000000000" pitchFamily="34" charset="-122"/>
              </a:rPr>
              <a:t>1928</a:t>
            </a:r>
            <a:r>
              <a:rPr lang="zh-CN" altLang="en-US" dirty="0">
                <a:latin typeface="Noto Sans SC" panose="020B0200000000000000" pitchFamily="34" charset="-122"/>
                <a:ea typeface="Noto Sans SC" panose="020B0200000000000000" pitchFamily="34" charset="-122"/>
              </a:rPr>
              <a:t>年，</a:t>
            </a:r>
            <a:r>
              <a:rPr lang="zh-CN" altLang="zh-CN" dirty="0">
                <a:latin typeface="Noto Sans SC" panose="020B0200000000000000" pitchFamily="34" charset="-122"/>
                <a:ea typeface="Noto Sans SC" panose="020B0200000000000000" pitchFamily="34" charset="-122"/>
              </a:rPr>
              <a:t>威廉·戴维·赖特</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进行色彩匹配实验，实验用一个方形屏幕，在</a:t>
            </a:r>
            <a:r>
              <a:rPr lang="en-US" altLang="zh-CN" dirty="0">
                <a:latin typeface="Noto Sans SC" panose="020B0200000000000000" pitchFamily="34" charset="-122"/>
                <a:ea typeface="Noto Sans SC" panose="020B0200000000000000" pitchFamily="34" charset="-122"/>
              </a:rPr>
              <a:t>2°</a:t>
            </a:r>
            <a:r>
              <a:rPr lang="zh-CN" altLang="en-US" dirty="0">
                <a:latin typeface="Noto Sans SC" panose="020B0200000000000000" pitchFamily="34" charset="-122"/>
                <a:ea typeface="Noto Sans SC" panose="020B0200000000000000" pitchFamily="34" charset="-122"/>
              </a:rPr>
              <a:t>的视野范围内，屏幕的一半投射单一波长的测试颜色，另一半投射可由受试者调节的颜色。这种可调节的颜色是用三原色光混合得到的，每种原色的色度是固定的，明度是可以调整的。受试者需要调节三原色光的明度，直到屏幕的两半呈现同色异谱。</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Wright</a:t>
            </a:r>
            <a:r>
              <a:rPr lang="zh-CN" altLang="en-US" dirty="0">
                <a:latin typeface="Noto Sans SC" panose="020B0200000000000000" pitchFamily="34" charset="-122"/>
                <a:ea typeface="Noto Sans SC" panose="020B0200000000000000" pitchFamily="34" charset="-122"/>
              </a:rPr>
              <a:t>选用</a:t>
            </a:r>
            <a:r>
              <a:rPr lang="zh-CN" altLang="zh-CN" dirty="0">
                <a:latin typeface="Noto Sans SC" panose="020B0200000000000000" pitchFamily="34" charset="-122"/>
                <a:ea typeface="Noto Sans SC" panose="020B0200000000000000" pitchFamily="34" charset="-122"/>
              </a:rPr>
              <a:t>650</a:t>
            </a:r>
            <a:r>
              <a:rPr lang="en-US" altLang="zh-CN" dirty="0">
                <a:latin typeface="Noto Sans SC" panose="020B0200000000000000" pitchFamily="34" charset="-122"/>
                <a:ea typeface="Noto Sans SC" panose="020B0200000000000000" pitchFamily="34" charset="-122"/>
              </a:rPr>
              <a:t>nm</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530nm</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460nm</a:t>
            </a:r>
            <a:r>
              <a:rPr lang="zh-CN" altLang="en-US" dirty="0">
                <a:latin typeface="Noto Sans SC" panose="020B0200000000000000" pitchFamily="34" charset="-122"/>
                <a:ea typeface="Noto Sans SC" panose="020B0200000000000000" pitchFamily="34" charset="-122"/>
              </a:rPr>
              <a:t>的单色光作为三原色光。每个光源能够发出恒定的功率，但是由于当年的限制，还不能直接测量准确的功率。于是，</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保持光源发出的光恒定，并在光源上加装了一个旋转扇形光阑，通过控制光阑开闭的角度，进而控制旋转时的时间占空比，最后做到了调节投射到屏幕上的三原色光亮度。</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值得注意的是，光源的发射功率与出射光子数量成正比，出射光子数量与光阑的暴露时间占空比成正比，光阑的暴露时间占空比又与开闭角度成正比。</a:t>
            </a:r>
            <a:endParaRPr lang="en-US" altLang="zh-CN" dirty="0">
              <a:latin typeface="Noto Sans SC" panose="020B0200000000000000" pitchFamily="34" charset="-122"/>
              <a:ea typeface="Noto Sans SC" panose="020B0200000000000000" pitchFamily="34" charset="-122"/>
            </a:endParaRPr>
          </a:p>
        </p:txBody>
      </p:sp>
      <p:sp>
        <p:nvSpPr>
          <p:cNvPr id="6" name="文本框 5">
            <a:extLst>
              <a:ext uri="{FF2B5EF4-FFF2-40B4-BE49-F238E27FC236}">
                <a16:creationId xmlns:a16="http://schemas.microsoft.com/office/drawing/2014/main" id="{FAE23AB0-42DA-5009-BE04-F2951B82707C}"/>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a:t>
            </a:r>
            <a:r>
              <a:rPr lang="zh-CN" altLang="en-US" sz="2000" b="1" dirty="0">
                <a:latin typeface="Noto Sans SC" panose="020B0200000000000000" pitchFamily="34" charset="-122"/>
                <a:ea typeface="Noto Sans SC" panose="020B0200000000000000" pitchFamily="34" charset="-122"/>
              </a:rPr>
              <a:t>的实验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实验过程</a:t>
            </a:r>
            <a:endParaRPr lang="zh-CN" altLang="en-US" sz="1100" b="1" dirty="0">
              <a:latin typeface="Noto Sans SC" panose="020B0200000000000000" pitchFamily="34" charset="-122"/>
              <a:ea typeface="Noto Sans SC" panose="020B0200000000000000" pitchFamily="34" charset="-122"/>
            </a:endParaRPr>
          </a:p>
        </p:txBody>
      </p:sp>
      <p:pic>
        <p:nvPicPr>
          <p:cNvPr id="8" name="图片 7" descr="色彩管理基礎-簡介CIE 1931圖- 真平布幕">
            <a:extLst>
              <a:ext uri="{FF2B5EF4-FFF2-40B4-BE49-F238E27FC236}">
                <a16:creationId xmlns:a16="http://schemas.microsoft.com/office/drawing/2014/main" id="{6873791D-EAEF-3B4B-8A62-619FBA076508}"/>
              </a:ext>
            </a:extLst>
          </p:cNvPr>
          <p:cNvPicPr>
            <a:picLocks noChangeAspect="1"/>
          </p:cNvPicPr>
          <p:nvPr/>
        </p:nvPicPr>
        <p:blipFill>
          <a:blip r:embed="rId2"/>
          <a:stretch>
            <a:fillRect/>
          </a:stretch>
        </p:blipFill>
        <p:spPr>
          <a:xfrm>
            <a:off x="6557375" y="1080000"/>
            <a:ext cx="4583890" cy="3259307"/>
          </a:xfrm>
          <a:prstGeom prst="rect">
            <a:avLst/>
          </a:prstGeom>
        </p:spPr>
      </p:pic>
      <p:pic>
        <p:nvPicPr>
          <p:cNvPr id="3" name="图片 2">
            <a:extLst>
              <a:ext uri="{FF2B5EF4-FFF2-40B4-BE49-F238E27FC236}">
                <a16:creationId xmlns:a16="http://schemas.microsoft.com/office/drawing/2014/main" id="{CDCBD1F2-1919-AE21-54D0-27F3F5F25C19}"/>
              </a:ext>
            </a:extLst>
          </p:cNvPr>
          <p:cNvPicPr>
            <a:picLocks noChangeAspect="1"/>
          </p:cNvPicPr>
          <p:nvPr/>
        </p:nvPicPr>
        <p:blipFill>
          <a:blip r:embed="rId3"/>
          <a:stretch>
            <a:fillRect/>
          </a:stretch>
        </p:blipFill>
        <p:spPr>
          <a:xfrm>
            <a:off x="6832948" y="3864279"/>
            <a:ext cx="4258850" cy="2873178"/>
          </a:xfrm>
          <a:prstGeom prst="rect">
            <a:avLst/>
          </a:prstGeom>
        </p:spPr>
      </p:pic>
      <p:sp>
        <p:nvSpPr>
          <p:cNvPr id="7" name="不完整圆 6">
            <a:extLst>
              <a:ext uri="{FF2B5EF4-FFF2-40B4-BE49-F238E27FC236}">
                <a16:creationId xmlns:a16="http://schemas.microsoft.com/office/drawing/2014/main" id="{D76C2391-D117-E146-B890-2C4F95847959}"/>
              </a:ext>
            </a:extLst>
          </p:cNvPr>
          <p:cNvSpPr/>
          <p:nvPr/>
        </p:nvSpPr>
        <p:spPr>
          <a:xfrm>
            <a:off x="10846902" y="797794"/>
            <a:ext cx="995820" cy="995820"/>
          </a:xfrm>
          <a:prstGeom prst="pi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2862586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80AFC-DA64-BB5A-D498-359D3DF3CC8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E4B4066-D462-1B5A-022F-12FA7614080F}"/>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p:sp>
        <p:nvSpPr>
          <p:cNvPr id="9" name="文本框 8">
            <a:extLst>
              <a:ext uri="{FF2B5EF4-FFF2-40B4-BE49-F238E27FC236}">
                <a16:creationId xmlns:a16="http://schemas.microsoft.com/office/drawing/2014/main" id="{06B0E5BE-71E1-C3E8-EEF0-61FAD5E4A27D}"/>
              </a:ext>
            </a:extLst>
          </p:cNvPr>
          <p:cNvSpPr txBox="1"/>
          <p:nvPr/>
        </p:nvSpPr>
        <p:spPr>
          <a:xfrm>
            <a:off x="346606" y="1854377"/>
            <a:ext cx="5509312" cy="4247317"/>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由于三原色光光源的发光功率无法确定，而且每名受试者的视力条件各不相同，因此</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制定了一个归一化标准，他将</a:t>
            </a:r>
            <a:r>
              <a:rPr lang="en-US" altLang="zh-CN" dirty="0">
                <a:latin typeface="Noto Sans SC" panose="020B0200000000000000" pitchFamily="34" charset="-122"/>
                <a:ea typeface="Noto Sans SC" panose="020B0200000000000000" pitchFamily="34" charset="-122"/>
              </a:rPr>
              <a:t>582.5nm</a:t>
            </a:r>
            <a:r>
              <a:rPr lang="zh-CN" altLang="en-US" dirty="0">
                <a:latin typeface="Noto Sans SC" panose="020B0200000000000000" pitchFamily="34" charset="-122"/>
                <a:ea typeface="Noto Sans SC" panose="020B0200000000000000" pitchFamily="34" charset="-122"/>
              </a:rPr>
              <a:t>和</a:t>
            </a:r>
            <a:r>
              <a:rPr lang="en-US" altLang="zh-CN" dirty="0">
                <a:latin typeface="Noto Sans SC" panose="020B0200000000000000" pitchFamily="34" charset="-122"/>
                <a:ea typeface="Noto Sans SC" panose="020B0200000000000000" pitchFamily="34" charset="-122"/>
              </a:rPr>
              <a:t>494.0nm</a:t>
            </a:r>
            <a:r>
              <a:rPr lang="zh-CN" altLang="en-US" dirty="0">
                <a:latin typeface="Noto Sans SC" panose="020B0200000000000000" pitchFamily="34" charset="-122"/>
                <a:ea typeface="Noto Sans SC" panose="020B0200000000000000" pitchFamily="34" charset="-122"/>
              </a:rPr>
              <a:t>的单色光规定为锚点，并且</a:t>
            </a:r>
            <a:r>
              <a:rPr lang="en-US" altLang="zh-CN" dirty="0">
                <a:latin typeface="Noto Sans SC" panose="020B0200000000000000" pitchFamily="34" charset="-122"/>
                <a:ea typeface="Noto Sans SC" panose="020B0200000000000000" pitchFamily="34" charset="-122"/>
              </a:rPr>
              <a:t>582.5nm</a:t>
            </a:r>
            <a:r>
              <a:rPr lang="zh-CN" altLang="en-US" dirty="0">
                <a:latin typeface="Noto Sans SC" panose="020B0200000000000000" pitchFamily="34" charset="-122"/>
                <a:ea typeface="Noto Sans SC" panose="020B0200000000000000" pitchFamily="34" charset="-122"/>
              </a:rPr>
              <a:t>对应着</a:t>
            </a:r>
            <a:r>
              <a:rPr lang="en-US" altLang="zh-CN" dirty="0">
                <a:latin typeface="Noto Sans SC" panose="020B0200000000000000" pitchFamily="34" charset="-122"/>
                <a:ea typeface="Noto Sans SC" panose="020B0200000000000000" pitchFamily="34" charset="-122"/>
              </a:rPr>
              <a:t>R=G</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 494.0nm</a:t>
            </a:r>
            <a:r>
              <a:rPr lang="zh-CN" altLang="en-US" dirty="0">
                <a:latin typeface="Noto Sans SC" panose="020B0200000000000000" pitchFamily="34" charset="-122"/>
                <a:ea typeface="Noto Sans SC" panose="020B0200000000000000" pitchFamily="34" charset="-122"/>
              </a:rPr>
              <a:t>对应着</a:t>
            </a:r>
            <a:r>
              <a:rPr lang="en-US" altLang="zh-CN" dirty="0">
                <a:latin typeface="Noto Sans SC" panose="020B0200000000000000" pitchFamily="34" charset="-122"/>
                <a:ea typeface="Noto Sans SC" panose="020B0200000000000000" pitchFamily="34" charset="-122"/>
              </a:rPr>
              <a:t>G=B</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假如对于其中一名受试者，匹配</a:t>
            </a:r>
            <a:r>
              <a:rPr lang="en-US" altLang="zh-CN" dirty="0">
                <a:latin typeface="Noto Sans SC" panose="020B0200000000000000" pitchFamily="34" charset="-122"/>
                <a:ea typeface="Noto Sans SC" panose="020B0200000000000000" pitchFamily="34" charset="-122"/>
              </a:rPr>
              <a:t>582.5nm</a:t>
            </a:r>
            <a:r>
              <a:rPr lang="zh-CN" altLang="en-US" dirty="0">
                <a:latin typeface="Noto Sans SC" panose="020B0200000000000000" pitchFamily="34" charset="-122"/>
                <a:ea typeface="Noto Sans SC" panose="020B0200000000000000" pitchFamily="34" charset="-122"/>
              </a:rPr>
              <a:t>时开闭角度为</a:t>
            </a:r>
            <a:r>
              <a:rPr lang="en-US" altLang="zh-CN" dirty="0">
                <a:latin typeface="Noto Sans SC" panose="020B0200000000000000" pitchFamily="34" charset="-122"/>
                <a:ea typeface="Noto Sans SC" panose="020B0200000000000000" pitchFamily="34" charset="-122"/>
              </a:rPr>
              <a:t>R 30° G 20° B 2°</a:t>
            </a:r>
            <a:r>
              <a:rPr lang="zh-CN" altLang="en-US" dirty="0">
                <a:latin typeface="Noto Sans SC" panose="020B0200000000000000" pitchFamily="34" charset="-122"/>
                <a:ea typeface="Noto Sans SC" panose="020B0200000000000000" pitchFamily="34" charset="-122"/>
              </a:rPr>
              <a:t>，因为规定</a:t>
            </a:r>
            <a:r>
              <a:rPr lang="en-US" altLang="zh-CN" dirty="0">
                <a:latin typeface="Noto Sans SC" panose="020B0200000000000000" pitchFamily="34" charset="-122"/>
                <a:ea typeface="Noto Sans SC" panose="020B0200000000000000" pitchFamily="34" charset="-122"/>
              </a:rPr>
              <a:t>R=G</a:t>
            </a:r>
            <a:r>
              <a:rPr lang="zh-CN" altLang="en-US" dirty="0">
                <a:latin typeface="Noto Sans SC" panose="020B0200000000000000" pitchFamily="34" charset="-122"/>
                <a:ea typeface="Noto Sans SC" panose="020B0200000000000000" pitchFamily="34" charset="-122"/>
              </a:rPr>
              <a:t>，这就意味着</a:t>
            </a:r>
            <a:r>
              <a:rPr lang="en-US" altLang="zh-CN" dirty="0">
                <a:latin typeface="Noto Sans SC" panose="020B0200000000000000" pitchFamily="34" charset="-122"/>
                <a:ea typeface="Noto Sans SC" panose="020B0200000000000000" pitchFamily="34" charset="-122"/>
              </a:rPr>
              <a:t>30°</a:t>
            </a:r>
            <a:r>
              <a:rPr lang="zh-CN" altLang="en-US" dirty="0">
                <a:latin typeface="Noto Sans SC" panose="020B0200000000000000" pitchFamily="34" charset="-122"/>
                <a:ea typeface="Noto Sans SC" panose="020B0200000000000000" pitchFamily="34" charset="-122"/>
              </a:rPr>
              <a:t>的红光和</a:t>
            </a:r>
            <a:r>
              <a:rPr lang="en-US" altLang="zh-CN" dirty="0">
                <a:latin typeface="Noto Sans SC" panose="020B0200000000000000" pitchFamily="34" charset="-122"/>
                <a:ea typeface="Noto Sans SC" panose="020B0200000000000000" pitchFamily="34" charset="-122"/>
              </a:rPr>
              <a:t>20°</a:t>
            </a:r>
            <a:r>
              <a:rPr lang="zh-CN" altLang="en-US" dirty="0">
                <a:latin typeface="Noto Sans SC" panose="020B0200000000000000" pitchFamily="34" charset="-122"/>
                <a:ea typeface="Noto Sans SC" panose="020B0200000000000000" pitchFamily="34" charset="-122"/>
              </a:rPr>
              <a:t>的绿光是</a:t>
            </a:r>
            <a:r>
              <a:rPr lang="en-US" altLang="zh-CN" dirty="0">
                <a:latin typeface="Noto Sans SC" panose="020B0200000000000000" pitchFamily="34" charset="-122"/>
                <a:ea typeface="Noto Sans SC" panose="020B0200000000000000" pitchFamily="34" charset="-122"/>
              </a:rPr>
              <a:t>“</a:t>
            </a:r>
            <a:r>
              <a:rPr lang="zh-CN" altLang="en-US" b="1" dirty="0">
                <a:latin typeface="Noto Sans SC" panose="020B0200000000000000" pitchFamily="34" charset="-122"/>
                <a:ea typeface="Noto Sans SC" panose="020B0200000000000000" pitchFamily="34" charset="-122"/>
              </a:rPr>
              <a:t>同一数量</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的光；匹配</a:t>
            </a:r>
            <a:r>
              <a:rPr lang="en-US" altLang="zh-CN" dirty="0">
                <a:latin typeface="Noto Sans SC" panose="020B0200000000000000" pitchFamily="34" charset="-122"/>
                <a:ea typeface="Noto Sans SC" panose="020B0200000000000000" pitchFamily="34" charset="-122"/>
              </a:rPr>
              <a:t>494.0nm</a:t>
            </a:r>
            <a:r>
              <a:rPr lang="zh-CN" altLang="en-US" dirty="0">
                <a:latin typeface="Noto Sans SC" panose="020B0200000000000000" pitchFamily="34" charset="-122"/>
                <a:ea typeface="Noto Sans SC" panose="020B0200000000000000" pitchFamily="34" charset="-122"/>
              </a:rPr>
              <a:t>时开闭角度为</a:t>
            </a:r>
            <a:r>
              <a:rPr lang="en-US" altLang="zh-CN" dirty="0">
                <a:latin typeface="Noto Sans SC" panose="020B0200000000000000" pitchFamily="34" charset="-122"/>
                <a:ea typeface="Noto Sans SC" panose="020B0200000000000000" pitchFamily="34" charset="-122"/>
              </a:rPr>
              <a:t>R 5° G 30° B 40°</a:t>
            </a:r>
            <a:r>
              <a:rPr lang="zh-CN" altLang="en-US" dirty="0">
                <a:latin typeface="Noto Sans SC" panose="020B0200000000000000" pitchFamily="34" charset="-122"/>
                <a:ea typeface="Noto Sans SC" panose="020B0200000000000000" pitchFamily="34" charset="-122"/>
              </a:rPr>
              <a:t>，因为规定</a:t>
            </a:r>
            <a:r>
              <a:rPr lang="en-US" altLang="zh-CN" dirty="0">
                <a:latin typeface="Noto Sans SC" panose="020B0200000000000000" pitchFamily="34" charset="-122"/>
                <a:ea typeface="Noto Sans SC" panose="020B0200000000000000" pitchFamily="34" charset="-122"/>
              </a:rPr>
              <a:t>G=B</a:t>
            </a:r>
            <a:r>
              <a:rPr lang="zh-CN" altLang="en-US" dirty="0">
                <a:latin typeface="Noto Sans SC" panose="020B0200000000000000" pitchFamily="34" charset="-122"/>
                <a:ea typeface="Noto Sans SC" panose="020B0200000000000000" pitchFamily="34" charset="-122"/>
              </a:rPr>
              <a:t>，这就意味着</a:t>
            </a:r>
            <a:r>
              <a:rPr lang="en-US" altLang="zh-CN" dirty="0">
                <a:latin typeface="Noto Sans SC" panose="020B0200000000000000" pitchFamily="34" charset="-122"/>
                <a:ea typeface="Noto Sans SC" panose="020B0200000000000000" pitchFamily="34" charset="-122"/>
              </a:rPr>
              <a:t>30°</a:t>
            </a:r>
            <a:r>
              <a:rPr lang="zh-CN" altLang="en-US" dirty="0">
                <a:latin typeface="Noto Sans SC" panose="020B0200000000000000" pitchFamily="34" charset="-122"/>
                <a:ea typeface="Noto Sans SC" panose="020B0200000000000000" pitchFamily="34" charset="-122"/>
              </a:rPr>
              <a:t>的绿光和</a:t>
            </a:r>
            <a:r>
              <a:rPr lang="en-US" altLang="zh-CN" dirty="0">
                <a:latin typeface="Noto Sans SC" panose="020B0200000000000000" pitchFamily="34" charset="-122"/>
                <a:ea typeface="Noto Sans SC" panose="020B0200000000000000" pitchFamily="34" charset="-122"/>
              </a:rPr>
              <a:t>40°</a:t>
            </a:r>
            <a:r>
              <a:rPr lang="zh-CN" altLang="en-US" dirty="0">
                <a:latin typeface="Noto Sans SC" panose="020B0200000000000000" pitchFamily="34" charset="-122"/>
                <a:ea typeface="Noto Sans SC" panose="020B0200000000000000" pitchFamily="34" charset="-122"/>
              </a:rPr>
              <a:t>的蓝光是</a:t>
            </a:r>
            <a:r>
              <a:rPr lang="en-US" altLang="zh-CN" dirty="0">
                <a:latin typeface="Noto Sans SC" panose="020B0200000000000000" pitchFamily="34" charset="-122"/>
                <a:ea typeface="Noto Sans SC" panose="020B0200000000000000" pitchFamily="34" charset="-122"/>
              </a:rPr>
              <a:t>“</a:t>
            </a:r>
            <a:r>
              <a:rPr lang="zh-CN" altLang="en-US" b="1" dirty="0">
                <a:latin typeface="Noto Sans SC" panose="020B0200000000000000" pitchFamily="34" charset="-122"/>
                <a:ea typeface="Noto Sans SC" panose="020B0200000000000000" pitchFamily="34" charset="-122"/>
              </a:rPr>
              <a:t>同一数量</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的光。</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根据计算：</a:t>
            </a:r>
            <a:r>
              <a:rPr lang="en-US" altLang="zh-CN" dirty="0">
                <a:solidFill>
                  <a:srgbClr val="FF0000"/>
                </a:solidFill>
                <a:latin typeface="Noto Sans SC" panose="020B0200000000000000" pitchFamily="34" charset="-122"/>
                <a:ea typeface="Noto Sans SC" panose="020B0200000000000000" pitchFamily="34" charset="-122"/>
              </a:rPr>
              <a:t>30°</a:t>
            </a:r>
            <a:r>
              <a:rPr lang="en-US" altLang="zh-CN" dirty="0">
                <a:latin typeface="Noto Sans SC" panose="020B0200000000000000" pitchFamily="34" charset="-122"/>
                <a:ea typeface="Noto Sans SC" panose="020B0200000000000000" pitchFamily="34" charset="-122"/>
              </a:rPr>
              <a:t> : </a:t>
            </a:r>
            <a:r>
              <a:rPr lang="en-US" altLang="zh-CN" dirty="0">
                <a:solidFill>
                  <a:srgbClr val="00B050"/>
                </a:solidFill>
                <a:latin typeface="Noto Sans SC" panose="020B0200000000000000" pitchFamily="34" charset="-122"/>
                <a:ea typeface="Noto Sans SC" panose="020B0200000000000000" pitchFamily="34" charset="-122"/>
              </a:rPr>
              <a:t>20°</a:t>
            </a:r>
            <a:r>
              <a:rPr lang="zh-CN" altLang="en-US" dirty="0">
                <a:latin typeface="Noto Sans SC" panose="020B0200000000000000" pitchFamily="34" charset="-122"/>
                <a:ea typeface="Noto Sans SC" panose="020B0200000000000000" pitchFamily="34" charset="-122"/>
              </a:rPr>
              <a:t>；</a:t>
            </a:r>
            <a:r>
              <a:rPr lang="en-US" altLang="zh-CN" dirty="0">
                <a:solidFill>
                  <a:srgbClr val="00B050"/>
                </a:solidFill>
                <a:latin typeface="Noto Sans SC" panose="020B0200000000000000" pitchFamily="34" charset="-122"/>
                <a:ea typeface="Noto Sans SC" panose="020B0200000000000000" pitchFamily="34" charset="-122"/>
              </a:rPr>
              <a:t>30° </a:t>
            </a:r>
            <a:r>
              <a:rPr lang="en-US" altLang="zh-CN" dirty="0">
                <a:latin typeface="Noto Sans SC" panose="020B0200000000000000" pitchFamily="34" charset="-122"/>
                <a:ea typeface="Noto Sans SC" panose="020B0200000000000000" pitchFamily="34" charset="-122"/>
              </a:rPr>
              <a:t>: </a:t>
            </a:r>
            <a:r>
              <a:rPr lang="en-US" altLang="zh-CN" dirty="0">
                <a:solidFill>
                  <a:schemeClr val="accent1">
                    <a:lumMod val="75000"/>
                  </a:schemeClr>
                </a:solidFill>
                <a:latin typeface="Noto Sans SC" panose="020B0200000000000000" pitchFamily="34" charset="-122"/>
                <a:ea typeface="Noto Sans SC" panose="020B0200000000000000" pitchFamily="34" charset="-122"/>
              </a:rPr>
              <a:t>40°</a:t>
            </a:r>
            <a:r>
              <a:rPr lang="zh-CN" altLang="en-US" dirty="0">
                <a:latin typeface="Noto Sans SC" panose="020B0200000000000000" pitchFamily="34" charset="-122"/>
                <a:ea typeface="Noto Sans SC" panose="020B0200000000000000" pitchFamily="34" charset="-122"/>
              </a:rPr>
              <a:t>这两个比例就可以统一为</a:t>
            </a:r>
            <a:r>
              <a:rPr lang="en-US" altLang="zh-CN" dirty="0">
                <a:solidFill>
                  <a:schemeClr val="accent6">
                    <a:lumMod val="75000"/>
                  </a:schemeClr>
                </a:solidFill>
                <a:latin typeface="Noto Sans SC" panose="020B0200000000000000" pitchFamily="34" charset="-122"/>
                <a:ea typeface="Noto Sans SC" panose="020B0200000000000000" pitchFamily="34" charset="-122"/>
              </a:rPr>
              <a:t>45°</a:t>
            </a:r>
            <a:r>
              <a:rPr lang="zh-CN" altLang="en-US" dirty="0">
                <a:solidFill>
                  <a:schemeClr val="accent6">
                    <a:lumMod val="75000"/>
                  </a:schemeClr>
                </a:solidFill>
                <a:latin typeface="Noto Sans SC" panose="020B0200000000000000" pitchFamily="34" charset="-122"/>
                <a:ea typeface="Noto Sans SC" panose="020B0200000000000000" pitchFamily="34" charset="-122"/>
              </a:rPr>
              <a:t> </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 </a:t>
            </a:r>
            <a:r>
              <a:rPr lang="en-US" altLang="zh-CN" dirty="0">
                <a:solidFill>
                  <a:srgbClr val="00B050"/>
                </a:solidFill>
                <a:latin typeface="Noto Sans SC" panose="020B0200000000000000" pitchFamily="34" charset="-122"/>
                <a:ea typeface="Noto Sans SC" panose="020B0200000000000000" pitchFamily="34" charset="-122"/>
              </a:rPr>
              <a:t>30°</a:t>
            </a:r>
            <a:r>
              <a:rPr lang="en-US" altLang="zh-CN" dirty="0">
                <a:latin typeface="Noto Sans SC" panose="020B0200000000000000" pitchFamily="34" charset="-122"/>
                <a:ea typeface="Noto Sans SC" panose="020B0200000000000000" pitchFamily="34" charset="-122"/>
              </a:rPr>
              <a:t> : </a:t>
            </a:r>
            <a:r>
              <a:rPr lang="en-US" altLang="zh-CN" dirty="0">
                <a:solidFill>
                  <a:schemeClr val="accent1">
                    <a:lumMod val="75000"/>
                  </a:schemeClr>
                </a:solidFill>
                <a:latin typeface="Noto Sans SC" panose="020B0200000000000000" pitchFamily="34" charset="-122"/>
                <a:ea typeface="Noto Sans SC" panose="020B0200000000000000" pitchFamily="34" charset="-122"/>
              </a:rPr>
              <a:t>40°</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p:sp>
        <p:nvSpPr>
          <p:cNvPr id="6" name="文本框 5">
            <a:extLst>
              <a:ext uri="{FF2B5EF4-FFF2-40B4-BE49-F238E27FC236}">
                <a16:creationId xmlns:a16="http://schemas.microsoft.com/office/drawing/2014/main" id="{907F9D8C-D251-88E7-0CB6-BEF647C5BA4B}"/>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a:t>
            </a:r>
            <a:r>
              <a:rPr lang="zh-CN" altLang="en-US" sz="2000" b="1" dirty="0">
                <a:latin typeface="Noto Sans SC" panose="020B0200000000000000" pitchFamily="34" charset="-122"/>
                <a:ea typeface="Noto Sans SC" panose="020B0200000000000000" pitchFamily="34" charset="-122"/>
              </a:rPr>
              <a:t>的实验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归一化校准方法</a:t>
            </a:r>
            <a:endParaRPr lang="zh-CN" altLang="en-US" sz="1100" b="1" dirty="0">
              <a:latin typeface="Noto Sans SC" panose="020B0200000000000000" pitchFamily="34" charset="-122"/>
              <a:ea typeface="Noto Sans SC" panose="020B0200000000000000" pitchFamily="34" charset="-122"/>
            </a:endParaRPr>
          </a:p>
        </p:txBody>
      </p:sp>
      <p:pic>
        <p:nvPicPr>
          <p:cNvPr id="8" name="图片 7" descr="色彩管理基礎-簡介CIE 1931圖- 真平布幕">
            <a:extLst>
              <a:ext uri="{FF2B5EF4-FFF2-40B4-BE49-F238E27FC236}">
                <a16:creationId xmlns:a16="http://schemas.microsoft.com/office/drawing/2014/main" id="{67D0347E-A5CB-B0BA-FB62-1DC13823A29B}"/>
              </a:ext>
            </a:extLst>
          </p:cNvPr>
          <p:cNvPicPr>
            <a:picLocks noChangeAspect="1"/>
          </p:cNvPicPr>
          <p:nvPr/>
        </p:nvPicPr>
        <p:blipFill>
          <a:blip r:embed="rId2"/>
          <a:stretch>
            <a:fillRect/>
          </a:stretch>
        </p:blipFill>
        <p:spPr>
          <a:xfrm>
            <a:off x="6557375" y="1080000"/>
            <a:ext cx="4583890" cy="3259307"/>
          </a:xfrm>
          <a:prstGeom prst="rect">
            <a:avLst/>
          </a:prstGeom>
        </p:spPr>
      </p:pic>
      <p:pic>
        <p:nvPicPr>
          <p:cNvPr id="3" name="图片 2">
            <a:extLst>
              <a:ext uri="{FF2B5EF4-FFF2-40B4-BE49-F238E27FC236}">
                <a16:creationId xmlns:a16="http://schemas.microsoft.com/office/drawing/2014/main" id="{D82A9683-D7C2-EBF7-5752-02230313C45A}"/>
              </a:ext>
            </a:extLst>
          </p:cNvPr>
          <p:cNvPicPr>
            <a:picLocks noChangeAspect="1"/>
          </p:cNvPicPr>
          <p:nvPr/>
        </p:nvPicPr>
        <p:blipFill>
          <a:blip r:embed="rId3"/>
          <a:stretch>
            <a:fillRect/>
          </a:stretch>
        </p:blipFill>
        <p:spPr>
          <a:xfrm>
            <a:off x="6832948" y="3864279"/>
            <a:ext cx="4258850" cy="2873178"/>
          </a:xfrm>
          <a:prstGeom prst="rect">
            <a:avLst/>
          </a:prstGeom>
        </p:spPr>
      </p:pic>
      <p:sp>
        <p:nvSpPr>
          <p:cNvPr id="7" name="不完整圆 6">
            <a:extLst>
              <a:ext uri="{FF2B5EF4-FFF2-40B4-BE49-F238E27FC236}">
                <a16:creationId xmlns:a16="http://schemas.microsoft.com/office/drawing/2014/main" id="{D8EEF064-57B6-9790-F300-BE5E10A70C3C}"/>
              </a:ext>
            </a:extLst>
          </p:cNvPr>
          <p:cNvSpPr/>
          <p:nvPr/>
        </p:nvSpPr>
        <p:spPr>
          <a:xfrm>
            <a:off x="10846902" y="797794"/>
            <a:ext cx="995820" cy="995820"/>
          </a:xfrm>
          <a:prstGeom prst="pi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2465009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7A557-082A-6096-5C70-C19F9CA6F20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CEDC82F-81AF-ED1A-73B0-77C675C04AF8}"/>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CFB84F6-D143-AD9A-01C6-8CBBED203049}"/>
                  </a:ext>
                </a:extLst>
              </p:cNvPr>
              <p:cNvSpPr txBox="1"/>
              <p:nvPr/>
            </p:nvSpPr>
            <p:spPr>
              <a:xfrm>
                <a:off x="346605" y="1854377"/>
                <a:ext cx="6542709" cy="5008359"/>
              </a:xfrm>
              <a:prstGeom prst="rect">
                <a:avLst/>
              </a:prstGeom>
              <a:noFill/>
            </p:spPr>
            <p:txBody>
              <a:bodyPr wrap="square" rtlCol="0">
                <a:spAutoFit/>
              </a:bodyPr>
              <a:lstStyle/>
              <a:p>
                <a:pPr algn="ctr"/>
                <a:r>
                  <a:rPr lang="en-US" altLang="zh-CN" sz="1600" dirty="0">
                    <a:solidFill>
                      <a:schemeClr val="accent6">
                        <a:lumMod val="75000"/>
                      </a:schemeClr>
                    </a:solidFill>
                    <a:latin typeface="Noto Sans SC" panose="020B0200000000000000" pitchFamily="34" charset="-122"/>
                    <a:ea typeface="Noto Sans SC" panose="020B0200000000000000" pitchFamily="34" charset="-122"/>
                  </a:rPr>
                  <a:t>45°</a:t>
                </a:r>
                <a:r>
                  <a:rPr lang="zh-CN" altLang="en-US" sz="1600" dirty="0">
                    <a:solidFill>
                      <a:schemeClr val="accent6">
                        <a:lumMod val="75000"/>
                      </a:schemeClr>
                    </a:solidFill>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a:t>
                </a:r>
                <a:r>
                  <a:rPr lang="zh-CN" altLang="en-US" sz="1600" dirty="0">
                    <a:latin typeface="Noto Sans SC" panose="020B0200000000000000" pitchFamily="34" charset="-122"/>
                    <a:ea typeface="Noto Sans SC" panose="020B0200000000000000" pitchFamily="34" charset="-122"/>
                  </a:rPr>
                  <a:t> </a:t>
                </a:r>
                <a:r>
                  <a:rPr lang="en-US" altLang="zh-CN" sz="1600" dirty="0">
                    <a:solidFill>
                      <a:srgbClr val="00B050"/>
                    </a:solidFill>
                    <a:latin typeface="Noto Sans SC" panose="020B0200000000000000" pitchFamily="34" charset="-122"/>
                    <a:ea typeface="Noto Sans SC" panose="020B0200000000000000" pitchFamily="34" charset="-122"/>
                  </a:rPr>
                  <a:t>30°</a:t>
                </a:r>
                <a:r>
                  <a:rPr lang="en-US" altLang="zh-CN" sz="1600" dirty="0">
                    <a:latin typeface="Noto Sans SC" panose="020B0200000000000000" pitchFamily="34" charset="-122"/>
                    <a:ea typeface="Noto Sans SC" panose="020B0200000000000000" pitchFamily="34" charset="-122"/>
                  </a:rPr>
                  <a:t> : </a:t>
                </a:r>
                <a:r>
                  <a:rPr lang="en-US" altLang="zh-CN" sz="1600" dirty="0">
                    <a:solidFill>
                      <a:schemeClr val="accent1">
                        <a:lumMod val="75000"/>
                      </a:schemeClr>
                    </a:solidFill>
                    <a:latin typeface="Noto Sans SC" panose="020B0200000000000000" pitchFamily="34" charset="-122"/>
                    <a:ea typeface="Noto Sans SC" panose="020B0200000000000000" pitchFamily="34" charset="-122"/>
                  </a:rPr>
                  <a:t>40°</a:t>
                </a:r>
                <a:endParaRPr lang="en-US" altLang="zh-CN" sz="1600"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归一化校准过后，受试者正式开始匹配颜色。实验人员从</a:t>
                </a:r>
                <a:r>
                  <a:rPr lang="en-US" altLang="zh-CN" sz="1700" dirty="0">
                    <a:latin typeface="Noto Sans SC" panose="020B0200000000000000" pitchFamily="34" charset="-122"/>
                    <a:ea typeface="Noto Sans SC" panose="020B0200000000000000" pitchFamily="34" charset="-122"/>
                  </a:rPr>
                  <a:t>400nm</a:t>
                </a:r>
                <a:r>
                  <a:rPr lang="zh-CN" altLang="en-US" sz="1700" dirty="0">
                    <a:latin typeface="Noto Sans SC" panose="020B0200000000000000" pitchFamily="34" charset="-122"/>
                    <a:ea typeface="Noto Sans SC" panose="020B0200000000000000" pitchFamily="34" charset="-122"/>
                  </a:rPr>
                  <a:t>到</a:t>
                </a:r>
                <a:r>
                  <a:rPr lang="en-US" altLang="zh-CN" sz="1700" dirty="0">
                    <a:latin typeface="Noto Sans SC" panose="020B0200000000000000" pitchFamily="34" charset="-122"/>
                    <a:ea typeface="Noto Sans SC" panose="020B0200000000000000" pitchFamily="34" charset="-122"/>
                  </a:rPr>
                  <a:t>700nm</a:t>
                </a:r>
                <a:r>
                  <a:rPr lang="zh-CN" altLang="en-US" sz="1700" dirty="0">
                    <a:latin typeface="Noto Sans SC" panose="020B0200000000000000" pitchFamily="34" charset="-122"/>
                    <a:ea typeface="Noto Sans SC" panose="020B0200000000000000" pitchFamily="34" charset="-122"/>
                  </a:rPr>
                  <a:t>，每隔</a:t>
                </a:r>
                <a:r>
                  <a:rPr lang="en-US" altLang="zh-CN" sz="1700" dirty="0">
                    <a:latin typeface="Noto Sans SC" panose="020B0200000000000000" pitchFamily="34" charset="-122"/>
                    <a:ea typeface="Noto Sans SC" panose="020B0200000000000000" pitchFamily="34" charset="-122"/>
                  </a:rPr>
                  <a:t>10nm</a:t>
                </a:r>
                <a:r>
                  <a:rPr lang="zh-CN" altLang="en-US" sz="1700" dirty="0">
                    <a:latin typeface="Noto Sans SC" panose="020B0200000000000000" pitchFamily="34" charset="-122"/>
                    <a:ea typeface="Noto Sans SC" panose="020B0200000000000000" pitchFamily="34" charset="-122"/>
                  </a:rPr>
                  <a:t>，向</a:t>
                </a:r>
                <a:r>
                  <a:rPr lang="en-US" altLang="zh-CN" sz="1700" dirty="0">
                    <a:latin typeface="Noto Sans SC" panose="020B0200000000000000" pitchFamily="34" charset="-122"/>
                    <a:ea typeface="Noto Sans SC" panose="020B0200000000000000" pitchFamily="34" charset="-122"/>
                  </a:rPr>
                  <a:t>2°</a:t>
                </a:r>
                <a:r>
                  <a:rPr lang="zh-CN" altLang="en-US" sz="1700" dirty="0">
                    <a:latin typeface="Noto Sans SC" panose="020B0200000000000000" pitchFamily="34" charset="-122"/>
                    <a:ea typeface="Noto Sans SC" panose="020B0200000000000000" pitchFamily="34" charset="-122"/>
                  </a:rPr>
                  <a:t>的观察范围内投射测试颜色，受试者则转动旋钮，调节光源上光阑的开闭角度。</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假如测试光为颜色</a:t>
                </a:r>
                <a:r>
                  <a:rPr lang="en-US" altLang="zh-CN" sz="1700" b="1" dirty="0">
                    <a:latin typeface="Noto Sans SC" panose="020B0200000000000000" pitchFamily="34" charset="-122"/>
                    <a:ea typeface="Noto Sans SC" panose="020B0200000000000000" pitchFamily="34" charset="-122"/>
                  </a:rPr>
                  <a:t>C</a:t>
                </a:r>
                <a:r>
                  <a:rPr lang="zh-CN" altLang="en-US" sz="1700" dirty="0">
                    <a:latin typeface="Noto Sans SC" panose="020B0200000000000000" pitchFamily="34" charset="-122"/>
                    <a:ea typeface="Noto Sans SC" panose="020B0200000000000000" pitchFamily="34" charset="-122"/>
                  </a:rPr>
                  <a:t>，受试者为了匹配颜色</a:t>
                </a:r>
                <a:r>
                  <a:rPr lang="en-US" altLang="zh-CN" sz="1700" b="1" dirty="0">
                    <a:latin typeface="Noto Sans SC" panose="020B0200000000000000" pitchFamily="34" charset="-122"/>
                    <a:ea typeface="Noto Sans SC" panose="020B0200000000000000" pitchFamily="34" charset="-122"/>
                  </a:rPr>
                  <a:t>C</a:t>
                </a:r>
                <a:r>
                  <a:rPr lang="zh-CN" altLang="en-US" sz="1700" dirty="0">
                    <a:latin typeface="Noto Sans SC" panose="020B0200000000000000" pitchFamily="34" charset="-122"/>
                    <a:ea typeface="Noto Sans SC" panose="020B0200000000000000" pitchFamily="34" charset="-122"/>
                  </a:rPr>
                  <a:t>，将开闭角度调节为了</a:t>
                </a:r>
                <a:r>
                  <a:rPr lang="en-US" altLang="zh-CN" sz="1700" dirty="0">
                    <a:latin typeface="Noto Sans SC" panose="020B0200000000000000" pitchFamily="34" charset="-122"/>
                    <a:ea typeface="Noto Sans SC" panose="020B0200000000000000" pitchFamily="34" charset="-122"/>
                  </a:rPr>
                  <a:t>R</a:t>
                </a:r>
                <a:r>
                  <a:rPr lang="zh-CN" altLang="en-US" sz="1700" dirty="0">
                    <a:latin typeface="Noto Sans SC" panose="020B0200000000000000" pitchFamily="34" charset="-122"/>
                    <a:ea typeface="Noto Sans SC" panose="020B0200000000000000" pitchFamily="34" charset="-122"/>
                  </a:rPr>
                  <a:t> </a:t>
                </a:r>
                <a:r>
                  <a:rPr lang="en-US" altLang="zh-CN" sz="1700" dirty="0">
                    <a:latin typeface="Noto Sans SC" panose="020B0200000000000000" pitchFamily="34" charset="-122"/>
                    <a:ea typeface="Noto Sans SC" panose="020B0200000000000000" pitchFamily="34" charset="-122"/>
                  </a:rPr>
                  <a:t>40° G 10° B 20°</a:t>
                </a:r>
                <a:r>
                  <a:rPr lang="zh-CN" altLang="en-US" sz="1700" dirty="0">
                    <a:latin typeface="Noto Sans SC" panose="020B0200000000000000" pitchFamily="34" charset="-122"/>
                    <a:ea typeface="Noto Sans SC" panose="020B0200000000000000" pitchFamily="34" charset="-122"/>
                  </a:rPr>
                  <a:t>，那就意味着需要</a:t>
                </a:r>
                <a:r>
                  <a:rPr lang="en-US" altLang="zh-CN" sz="1700" dirty="0">
                    <a:solidFill>
                      <a:srgbClr val="FF0000"/>
                    </a:solidFill>
                    <a:latin typeface="Noto Sans SC" panose="020B0200000000000000" pitchFamily="34" charset="-122"/>
                    <a:ea typeface="Noto Sans SC" panose="020B0200000000000000" pitchFamily="34" charset="-122"/>
                  </a:rPr>
                  <a:t>40/45=0.889</a:t>
                </a:r>
                <a:r>
                  <a:rPr lang="zh-CN" altLang="en-US" sz="1700" dirty="0">
                    <a:latin typeface="Noto Sans SC" panose="020B0200000000000000" pitchFamily="34" charset="-122"/>
                    <a:ea typeface="Noto Sans SC" panose="020B0200000000000000" pitchFamily="34" charset="-122"/>
                  </a:rPr>
                  <a:t>单位的红光、</a:t>
                </a:r>
                <a:r>
                  <a:rPr lang="en-US" altLang="zh-CN" sz="1700" dirty="0">
                    <a:solidFill>
                      <a:srgbClr val="00B050"/>
                    </a:solidFill>
                    <a:latin typeface="Noto Sans SC" panose="020B0200000000000000" pitchFamily="34" charset="-122"/>
                    <a:ea typeface="Noto Sans SC" panose="020B0200000000000000" pitchFamily="34" charset="-122"/>
                  </a:rPr>
                  <a:t>10/30=0.667</a:t>
                </a:r>
                <a:r>
                  <a:rPr lang="zh-CN" altLang="en-US" sz="1700" dirty="0">
                    <a:latin typeface="Noto Sans SC" panose="020B0200000000000000" pitchFamily="34" charset="-122"/>
                    <a:ea typeface="Noto Sans SC" panose="020B0200000000000000" pitchFamily="34" charset="-122"/>
                  </a:rPr>
                  <a:t>单位的绿光、</a:t>
                </a:r>
                <a:r>
                  <a:rPr lang="en-US" altLang="zh-CN" sz="1700" dirty="0">
                    <a:solidFill>
                      <a:schemeClr val="accent1">
                        <a:lumMod val="75000"/>
                      </a:schemeClr>
                    </a:solidFill>
                    <a:latin typeface="Noto Sans SC" panose="020B0200000000000000" pitchFamily="34" charset="-122"/>
                    <a:ea typeface="Noto Sans SC" panose="020B0200000000000000" pitchFamily="34" charset="-122"/>
                  </a:rPr>
                  <a:t>20/40=0.5</a:t>
                </a:r>
                <a:r>
                  <a:rPr lang="zh-CN" altLang="en-US" sz="1700" dirty="0">
                    <a:latin typeface="Noto Sans SC" panose="020B0200000000000000" pitchFamily="34" charset="-122"/>
                    <a:ea typeface="Noto Sans SC" panose="020B0200000000000000" pitchFamily="34" charset="-122"/>
                  </a:rPr>
                  <a:t>单位的蓝光，即：</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1" i="1" dirty="0">
                          <a:latin typeface="Cambria Math" panose="02040503050406030204" pitchFamily="18" charset="0"/>
                        </a:rPr>
                        <m:t>𝑪</m:t>
                      </m:r>
                      <m:r>
                        <a:rPr lang="en-US" altLang="zh-CN" sz="1700" b="0" i="1" dirty="0" smtClean="0">
                          <a:latin typeface="Cambria Math" panose="02040503050406030204" pitchFamily="18" charset="0"/>
                          <a:ea typeface="Cambria Math" panose="02040503050406030204" pitchFamily="18" charset="0"/>
                        </a:rPr>
                        <m:t>≡</m:t>
                      </m:r>
                      <m:r>
                        <a:rPr lang="en-US" altLang="zh-CN" sz="1700" b="0" i="1" dirty="0" smtClean="0">
                          <a:latin typeface="Cambria Math" panose="02040503050406030204" pitchFamily="18" charset="0"/>
                        </a:rPr>
                        <m:t>0.889</m:t>
                      </m:r>
                      <m:r>
                        <a:rPr lang="en-US" altLang="zh-CN" sz="1700" b="1" i="1" dirty="0" smtClean="0">
                          <a:latin typeface="Cambria Math" panose="02040503050406030204" pitchFamily="18" charset="0"/>
                        </a:rPr>
                        <m:t>𝑹</m:t>
                      </m:r>
                      <m:r>
                        <a:rPr lang="en-US" altLang="zh-CN" sz="1700" b="0" i="1" dirty="0" smtClean="0">
                          <a:latin typeface="Cambria Math" panose="02040503050406030204" pitchFamily="18" charset="0"/>
                        </a:rPr>
                        <m:t>+0.667</m:t>
                      </m:r>
                      <m:r>
                        <a:rPr lang="en-US" altLang="zh-CN" sz="1700" b="1" i="1" dirty="0" smtClean="0">
                          <a:latin typeface="Cambria Math" panose="02040503050406030204" pitchFamily="18" charset="0"/>
                        </a:rPr>
                        <m:t>𝑮</m:t>
                      </m:r>
                      <m:r>
                        <a:rPr lang="en-US" altLang="zh-CN" sz="1700" b="0" i="1" dirty="0" smtClean="0">
                          <a:latin typeface="Cambria Math" panose="02040503050406030204" pitchFamily="18" charset="0"/>
                        </a:rPr>
                        <m:t>+0.5</m:t>
                      </m:r>
                      <m:r>
                        <a:rPr lang="en-US" altLang="zh-CN" sz="1700" b="1" i="1" dirty="0" smtClean="0">
                          <a:latin typeface="Cambria Math" panose="02040503050406030204" pitchFamily="18" charset="0"/>
                        </a:rPr>
                        <m:t>𝑩</m:t>
                      </m:r>
                    </m:oMath>
                  </m:oMathPara>
                </a14:m>
                <a:endParaRPr lang="en-US" altLang="zh-CN" sz="1700" b="1"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因为当时无法直接测量功率，所以如果测试颜色</a:t>
                </a:r>
                <a:r>
                  <a:rPr lang="en-US" altLang="zh-CN" sz="1700" b="1" dirty="0">
                    <a:latin typeface="Noto Sans SC" panose="020B0200000000000000" pitchFamily="34" charset="-122"/>
                    <a:ea typeface="Noto Sans SC" panose="020B0200000000000000" pitchFamily="34" charset="-122"/>
                  </a:rPr>
                  <a:t>C</a:t>
                </a:r>
                <a:r>
                  <a:rPr lang="zh-CN" altLang="en-US" sz="1700" dirty="0">
                    <a:latin typeface="Noto Sans SC" panose="020B0200000000000000" pitchFamily="34" charset="-122"/>
                    <a:ea typeface="Noto Sans SC" panose="020B0200000000000000" pitchFamily="34" charset="-122"/>
                  </a:rPr>
                  <a:t>的亮度变为</a:t>
                </a:r>
                <a:r>
                  <a:rPr lang="en-US" altLang="zh-CN" sz="1700" dirty="0">
                    <a:latin typeface="Noto Sans SC" panose="020B0200000000000000" pitchFamily="34" charset="-122"/>
                    <a:ea typeface="Noto Sans SC" panose="020B0200000000000000" pitchFamily="34" charset="-122"/>
                  </a:rPr>
                  <a:t>2</a:t>
                </a:r>
                <a:r>
                  <a:rPr lang="zh-CN" altLang="en-US" sz="1700" dirty="0">
                    <a:latin typeface="Noto Sans SC" panose="020B0200000000000000" pitchFamily="34" charset="-122"/>
                    <a:ea typeface="Noto Sans SC" panose="020B0200000000000000" pitchFamily="34" charset="-122"/>
                  </a:rPr>
                  <a:t>倍，根据</a:t>
                </a:r>
                <a:r>
                  <a:rPr lang="zh-CN" altLang="en-US" sz="1700" b="1" dirty="0">
                    <a:latin typeface="Noto Sans SC" panose="020B0200000000000000" pitchFamily="34" charset="-122"/>
                    <a:ea typeface="Noto Sans SC" panose="020B0200000000000000" pitchFamily="34" charset="-122"/>
                  </a:rPr>
                  <a:t>比例性，</a:t>
                </a:r>
                <a:r>
                  <a:rPr lang="zh-CN" altLang="en-US" sz="1700" dirty="0">
                    <a:latin typeface="Noto Sans SC" panose="020B0200000000000000" pitchFamily="34" charset="-122"/>
                    <a:ea typeface="Noto Sans SC" panose="020B0200000000000000" pitchFamily="34" charset="-122"/>
                  </a:rPr>
                  <a:t>那对应的三原色光的数量也要变为两倍，即：</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700" b="1" i="1" dirty="0">
                              <a:latin typeface="Cambria Math" panose="02040503050406030204" pitchFamily="18" charset="0"/>
                            </a:rPr>
                          </m:ctrlPr>
                        </m:sSupPr>
                        <m:e>
                          <m:r>
                            <a:rPr lang="en-US" altLang="zh-CN" sz="1700" b="1" i="1" dirty="0">
                              <a:latin typeface="Cambria Math" panose="02040503050406030204" pitchFamily="18" charset="0"/>
                            </a:rPr>
                            <m:t>𝑪</m:t>
                          </m:r>
                        </m:e>
                        <m:sup>
                          <m:r>
                            <a:rPr lang="en-US" altLang="zh-CN" sz="1700" b="1" i="1" dirty="0" smtClean="0">
                              <a:latin typeface="Cambria Math" panose="02040503050406030204" pitchFamily="18" charset="0"/>
                            </a:rPr>
                            <m:t>′</m:t>
                          </m:r>
                        </m:sup>
                      </m:sSup>
                      <m:r>
                        <a:rPr lang="en-US" altLang="zh-CN" sz="1700" i="1" dirty="0">
                          <a:latin typeface="Cambria Math" panose="02040503050406030204" pitchFamily="18" charset="0"/>
                          <a:ea typeface="Cambria Math" panose="02040503050406030204" pitchFamily="18" charset="0"/>
                        </a:rPr>
                        <m:t>≡</m:t>
                      </m:r>
                      <m:r>
                        <a:rPr lang="en-US" altLang="zh-CN" sz="1700" b="0" i="1" dirty="0" smtClean="0">
                          <a:latin typeface="Cambria Math" panose="02040503050406030204" pitchFamily="18" charset="0"/>
                        </a:rPr>
                        <m:t>1</m:t>
                      </m:r>
                      <m:r>
                        <a:rPr lang="en-US" altLang="zh-CN" sz="1700" i="1" dirty="0">
                          <a:latin typeface="Cambria Math" panose="02040503050406030204" pitchFamily="18" charset="0"/>
                        </a:rPr>
                        <m:t>.</m:t>
                      </m:r>
                      <m:r>
                        <a:rPr lang="en-US" altLang="zh-CN" sz="1700" b="0" i="1" dirty="0" smtClean="0">
                          <a:latin typeface="Cambria Math" panose="02040503050406030204" pitchFamily="18" charset="0"/>
                        </a:rPr>
                        <m:t>778</m:t>
                      </m:r>
                      <m:r>
                        <a:rPr lang="en-US" altLang="zh-CN" sz="1700" b="1" i="1" dirty="0">
                          <a:latin typeface="Cambria Math" panose="02040503050406030204" pitchFamily="18" charset="0"/>
                        </a:rPr>
                        <m:t>𝑹</m:t>
                      </m:r>
                      <m:r>
                        <a:rPr lang="en-US" altLang="zh-CN" sz="1700" b="0" i="1" dirty="0">
                          <a:latin typeface="Cambria Math" panose="02040503050406030204" pitchFamily="18" charset="0"/>
                        </a:rPr>
                        <m:t>+</m:t>
                      </m:r>
                      <m:r>
                        <a:rPr lang="en-US" altLang="zh-CN" sz="1700" b="0" i="1" dirty="0" smtClean="0">
                          <a:latin typeface="Cambria Math" panose="02040503050406030204" pitchFamily="18" charset="0"/>
                        </a:rPr>
                        <m:t>1.333</m:t>
                      </m:r>
                      <m:r>
                        <a:rPr lang="en-US" altLang="zh-CN" sz="1700" b="1" i="1" dirty="0">
                          <a:latin typeface="Cambria Math" panose="02040503050406030204" pitchFamily="18" charset="0"/>
                        </a:rPr>
                        <m:t>𝑮</m:t>
                      </m:r>
                      <m:r>
                        <a:rPr lang="en-US" altLang="zh-CN" sz="1700" i="1" dirty="0">
                          <a:latin typeface="Cambria Math" panose="02040503050406030204" pitchFamily="18" charset="0"/>
                        </a:rPr>
                        <m:t>+</m:t>
                      </m:r>
                      <m:r>
                        <a:rPr lang="en-US" altLang="zh-CN" sz="1700" b="0" i="1" dirty="0" smtClean="0">
                          <a:latin typeface="Cambria Math" panose="02040503050406030204" pitchFamily="18" charset="0"/>
                        </a:rPr>
                        <m:t>1.</m:t>
                      </m:r>
                      <m:r>
                        <a:rPr lang="en-US" altLang="zh-CN" sz="1700" i="1" dirty="0">
                          <a:latin typeface="Cambria Math" panose="02040503050406030204" pitchFamily="18" charset="0"/>
                        </a:rPr>
                        <m:t>0</m:t>
                      </m:r>
                      <m:r>
                        <a:rPr lang="en-US" altLang="zh-CN" sz="1700" b="1" i="1" dirty="0">
                          <a:latin typeface="Cambria Math" panose="02040503050406030204" pitchFamily="18" charset="0"/>
                        </a:rPr>
                        <m:t>𝑩</m:t>
                      </m:r>
                    </m:oMath>
                  </m:oMathPara>
                </a14:m>
                <a:endParaRPr lang="en-US" altLang="zh-CN" sz="1700" dirty="0">
                  <a:latin typeface="Noto Sans SC" panose="020B0200000000000000" pitchFamily="34" charset="-122"/>
                  <a:ea typeface="Noto Sans SC" panose="020B0200000000000000" pitchFamily="34" charset="-122"/>
                </a:endParaRPr>
              </a:p>
              <a:p>
                <a:pPr algn="just"/>
                <a:r>
                  <a:rPr lang="en-US" altLang="zh-CN" sz="1700" b="1"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而且不同的受试者归一化后的角度比例也不一样。因此，</a:t>
                </a:r>
                <a:r>
                  <a:rPr lang="en-US" altLang="zh-CN" sz="1700" dirty="0">
                    <a:latin typeface="Noto Sans SC" panose="020B0200000000000000" pitchFamily="34" charset="-122"/>
                    <a:ea typeface="Noto Sans SC" panose="020B0200000000000000" pitchFamily="34" charset="-122"/>
                  </a:rPr>
                  <a:t>Wright</a:t>
                </a:r>
                <a:r>
                  <a:rPr lang="zh-CN" altLang="en-US" sz="1700" dirty="0">
                    <a:latin typeface="Noto Sans SC" panose="020B0200000000000000" pitchFamily="34" charset="-122"/>
                    <a:ea typeface="Noto Sans SC" panose="020B0200000000000000" pitchFamily="34" charset="-122"/>
                  </a:rPr>
                  <a:t>不直接记录“几单位三原色”，而是记录他们的比例：</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ctrlPr>
                            <a:rPr lang="en-US" altLang="zh-CN" sz="1400" b="0" i="1" dirty="0" smtClean="0">
                              <a:latin typeface="Cambria Math" panose="02040503050406030204" pitchFamily="18" charset="0"/>
                            </a:rPr>
                          </m:ctrlPr>
                        </m:dPr>
                        <m:e>
                          <m:r>
                            <a:rPr lang="en-US" altLang="zh-CN" sz="1400" b="0" i="1" dirty="0" smtClean="0">
                              <a:latin typeface="Cambria Math" panose="02040503050406030204" pitchFamily="18" charset="0"/>
                            </a:rPr>
                            <m:t>𝑟</m:t>
                          </m:r>
                          <m:r>
                            <a:rPr lang="en-US" altLang="zh-CN" sz="1400" b="0" i="1" dirty="0" smtClean="0">
                              <a:latin typeface="Cambria Math" panose="02040503050406030204" pitchFamily="18" charset="0"/>
                            </a:rPr>
                            <m:t>, </m:t>
                          </m:r>
                          <m:r>
                            <a:rPr lang="en-US" altLang="zh-CN" sz="1400" b="0" i="1" dirty="0" smtClean="0">
                              <a:latin typeface="Cambria Math" panose="02040503050406030204" pitchFamily="18" charset="0"/>
                            </a:rPr>
                            <m:t>𝑔</m:t>
                          </m:r>
                          <m:r>
                            <a:rPr lang="en-US" altLang="zh-CN" sz="1400" b="0" i="1" dirty="0" smtClean="0">
                              <a:latin typeface="Cambria Math" panose="02040503050406030204" pitchFamily="18" charset="0"/>
                            </a:rPr>
                            <m:t>, </m:t>
                          </m:r>
                          <m:r>
                            <a:rPr lang="en-US" altLang="zh-CN" sz="1400" b="0" i="1" dirty="0" smtClean="0">
                              <a:latin typeface="Cambria Math" panose="02040503050406030204" pitchFamily="18" charset="0"/>
                            </a:rPr>
                            <m:t>𝑏</m:t>
                          </m:r>
                        </m:e>
                      </m:d>
                      <m:r>
                        <a:rPr lang="en-US" altLang="zh-CN" sz="1400" b="0" i="1" dirty="0" smtClean="0">
                          <a:latin typeface="Cambria Math" panose="02040503050406030204" pitchFamily="18" charset="0"/>
                        </a:rPr>
                        <m:t>=</m:t>
                      </m:r>
                      <m:d>
                        <m:dPr>
                          <m:ctrlPr>
                            <a:rPr lang="en-US" altLang="zh-CN" sz="1400" b="0" i="1" dirty="0" smtClean="0">
                              <a:latin typeface="Cambria Math" panose="02040503050406030204" pitchFamily="18" charset="0"/>
                            </a:rPr>
                          </m:ctrlPr>
                        </m:dPr>
                        <m:e>
                          <m:f>
                            <m:fPr>
                              <m:ctrlPr>
                                <a:rPr lang="en-US" altLang="zh-CN" sz="1400" b="0" i="1" dirty="0" smtClean="0">
                                  <a:latin typeface="Cambria Math" panose="02040503050406030204" pitchFamily="18" charset="0"/>
                                </a:rPr>
                              </m:ctrlPr>
                            </m:fPr>
                            <m:num>
                              <m:r>
                                <a:rPr lang="en-US" altLang="zh-CN" sz="1400" b="0" i="1" dirty="0" smtClean="0">
                                  <a:latin typeface="Cambria Math" panose="02040503050406030204" pitchFamily="18" charset="0"/>
                                </a:rPr>
                                <m:t>0.889</m:t>
                              </m:r>
                            </m:num>
                            <m:den>
                              <m:r>
                                <a:rPr lang="en-US" altLang="zh-CN" sz="1400" b="0" i="1" dirty="0" smtClean="0">
                                  <a:latin typeface="Cambria Math" panose="02040503050406030204" pitchFamily="18" charset="0"/>
                                </a:rPr>
                                <m:t>0.889</m:t>
                              </m:r>
                              <m:r>
                                <a:rPr lang="en-US" altLang="zh-CN" sz="1400" i="1" dirty="0">
                                  <a:latin typeface="Cambria Math" panose="02040503050406030204" pitchFamily="18" charset="0"/>
                                </a:rPr>
                                <m:t>+0.667+0.</m:t>
                              </m:r>
                              <m:r>
                                <a:rPr lang="en-US" altLang="zh-CN" sz="1400" b="0" i="1" dirty="0" smtClean="0">
                                  <a:latin typeface="Cambria Math" panose="02040503050406030204" pitchFamily="18" charset="0"/>
                                </a:rPr>
                                <m:t>5</m:t>
                              </m:r>
                            </m:den>
                          </m:f>
                          <m:r>
                            <a:rPr lang="en-US" altLang="zh-CN" sz="1400" b="0" i="1" dirty="0" smtClean="0">
                              <a:latin typeface="Cambria Math" panose="02040503050406030204" pitchFamily="18" charset="0"/>
                            </a:rPr>
                            <m:t>,</m:t>
                          </m:r>
                          <m:f>
                            <m:fPr>
                              <m:ctrlPr>
                                <a:rPr lang="en-US" altLang="zh-CN" sz="1400" b="0" i="1" dirty="0" smtClean="0">
                                  <a:latin typeface="Cambria Math" panose="02040503050406030204" pitchFamily="18" charset="0"/>
                                </a:rPr>
                              </m:ctrlPr>
                            </m:fPr>
                            <m:num>
                              <m:r>
                                <a:rPr lang="en-US" altLang="zh-CN" sz="1400" b="0" i="1" dirty="0" smtClean="0">
                                  <a:latin typeface="Cambria Math" panose="02040503050406030204" pitchFamily="18" charset="0"/>
                                </a:rPr>
                                <m:t>0.667</m:t>
                              </m:r>
                            </m:num>
                            <m:den>
                              <m:r>
                                <a:rPr lang="en-US" altLang="zh-CN" sz="1400" i="1" dirty="0">
                                  <a:latin typeface="Cambria Math" panose="02040503050406030204" pitchFamily="18" charset="0"/>
                                </a:rPr>
                                <m:t>0.889+0.667+0.5</m:t>
                              </m:r>
                            </m:den>
                          </m:f>
                          <m:r>
                            <a:rPr lang="en-US" altLang="zh-CN" sz="1400" b="0" i="1" dirty="0" smtClean="0">
                              <a:latin typeface="Cambria Math" panose="02040503050406030204" pitchFamily="18" charset="0"/>
                            </a:rPr>
                            <m:t>,</m:t>
                          </m:r>
                          <m:f>
                            <m:fPr>
                              <m:ctrlPr>
                                <a:rPr lang="en-US" altLang="zh-CN" sz="1400" i="1" dirty="0">
                                  <a:latin typeface="Cambria Math" panose="02040503050406030204" pitchFamily="18" charset="0"/>
                                </a:rPr>
                              </m:ctrlPr>
                            </m:fPr>
                            <m:num>
                              <m:r>
                                <a:rPr lang="en-US" altLang="zh-CN" sz="1400" i="1" dirty="0">
                                  <a:latin typeface="Cambria Math" panose="02040503050406030204" pitchFamily="18" charset="0"/>
                                </a:rPr>
                                <m:t>0.</m:t>
                              </m:r>
                              <m:r>
                                <a:rPr lang="en-US" altLang="zh-CN" sz="1400" b="0" i="1" dirty="0" smtClean="0">
                                  <a:latin typeface="Cambria Math" panose="02040503050406030204" pitchFamily="18" charset="0"/>
                                </a:rPr>
                                <m:t>5</m:t>
                              </m:r>
                            </m:num>
                            <m:den>
                              <m:r>
                                <a:rPr lang="en-US" altLang="zh-CN" sz="1400" i="1" dirty="0">
                                  <a:latin typeface="Cambria Math" panose="02040503050406030204" pitchFamily="18" charset="0"/>
                                </a:rPr>
                                <m:t>0.889+0.667+0.5</m:t>
                              </m:r>
                            </m:den>
                          </m:f>
                        </m:e>
                      </m:d>
                    </m:oMath>
                  </m:oMathPara>
                </a14:m>
                <a:endParaRPr lang="en-US" altLang="zh-CN" sz="1700"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不过，有一些测试颜色，受试者无论怎么调整三原色光，都无法与之匹配，此时需要向测试颜色一侧投射一定量的一种原色光，此时记录的值为负数。最终</a:t>
                </a:r>
                <a:r>
                  <a:rPr lang="en-US" altLang="zh-CN" sz="1700" dirty="0">
                    <a:latin typeface="Noto Sans SC" panose="020B0200000000000000" pitchFamily="34" charset="-122"/>
                    <a:ea typeface="Noto Sans SC" panose="020B0200000000000000" pitchFamily="34" charset="-122"/>
                  </a:rPr>
                  <a:t>Wright</a:t>
                </a:r>
                <a:r>
                  <a:rPr lang="zh-CN" altLang="en-US" sz="1700" dirty="0">
                    <a:latin typeface="Noto Sans SC" panose="020B0200000000000000" pitchFamily="34" charset="-122"/>
                    <a:ea typeface="Noto Sans SC" panose="020B0200000000000000" pitchFamily="34" charset="-122"/>
                  </a:rPr>
                  <a:t>测得</a:t>
                </a:r>
                <a:r>
                  <a:rPr lang="en-US" altLang="zh-CN" sz="1700" dirty="0">
                    <a:latin typeface="Noto Sans SC" panose="020B0200000000000000" pitchFamily="34" charset="-122"/>
                    <a:ea typeface="Noto Sans SC" panose="020B0200000000000000" pitchFamily="34" charset="-122"/>
                  </a:rPr>
                  <a:t>10</a:t>
                </a:r>
                <a:r>
                  <a:rPr lang="zh-CN" altLang="en-US" sz="1700" dirty="0">
                    <a:latin typeface="Noto Sans SC" panose="020B0200000000000000" pitchFamily="34" charset="-122"/>
                    <a:ea typeface="Noto Sans SC" panose="020B0200000000000000" pitchFamily="34" charset="-122"/>
                  </a:rPr>
                  <a:t>个人每一个人的</a:t>
                </a:r>
                <a14:m>
                  <m:oMath xmlns:m="http://schemas.openxmlformats.org/officeDocument/2006/math">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𝑟</m:t>
                        </m:r>
                      </m:e>
                      <m:sub>
                        <m:r>
                          <a:rPr lang="en-US" altLang="zh-CN" sz="1700" i="1">
                            <a:latin typeface="Cambria Math" panose="02040503050406030204" pitchFamily="18" charset="0"/>
                          </a:rPr>
                          <m:t>𝑖</m:t>
                        </m:r>
                      </m:sub>
                    </m:sSub>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b="0" i="1" smtClean="0">
                        <a:latin typeface="Cambria Math" panose="02040503050406030204" pitchFamily="18" charset="0"/>
                      </a:rPr>
                      <m:t>,</m:t>
                    </m:r>
                    <m:sSub>
                      <m:sSubPr>
                        <m:ctrlPr>
                          <a:rPr lang="en-US" altLang="zh-CN" sz="1700" b="0" i="1" smtClean="0">
                            <a:latin typeface="Cambria Math" panose="02040503050406030204" pitchFamily="18" charset="0"/>
                          </a:rPr>
                        </m:ctrlPr>
                      </m:sSubPr>
                      <m:e>
                        <m:r>
                          <a:rPr lang="en-US" altLang="zh-CN" sz="1700" b="0" i="1" smtClean="0">
                            <a:latin typeface="Cambria Math" panose="02040503050406030204" pitchFamily="18" charset="0"/>
                          </a:rPr>
                          <m:t>𝑔</m:t>
                        </m:r>
                      </m:e>
                      <m:sub>
                        <m:r>
                          <a:rPr lang="en-US" altLang="zh-CN" sz="1700" i="1">
                            <a:latin typeface="Cambria Math" panose="02040503050406030204" pitchFamily="18" charset="0"/>
                          </a:rPr>
                          <m:t>𝑖</m:t>
                        </m:r>
                      </m:sub>
                    </m:sSub>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b="0" i="1" smtClean="0">
                        <a:latin typeface="Cambria Math" panose="02040503050406030204" pitchFamily="18" charset="0"/>
                      </a:rPr>
                      <m:t>,</m:t>
                    </m:r>
                    <m:sSub>
                      <m:sSubPr>
                        <m:ctrlPr>
                          <a:rPr lang="en-US" altLang="zh-CN" sz="1700" b="0" i="1" smtClean="0">
                            <a:latin typeface="Cambria Math" panose="02040503050406030204" pitchFamily="18" charset="0"/>
                          </a:rPr>
                        </m:ctrlPr>
                      </m:sSubPr>
                      <m:e>
                        <m:r>
                          <a:rPr lang="en-US" altLang="zh-CN" sz="1700" b="0" i="1" smtClean="0">
                            <a:latin typeface="Cambria Math" panose="02040503050406030204" pitchFamily="18" charset="0"/>
                          </a:rPr>
                          <m:t>𝑏</m:t>
                        </m:r>
                      </m:e>
                      <m:sub>
                        <m:r>
                          <a:rPr lang="en-US" altLang="zh-CN" sz="1700" i="1">
                            <a:latin typeface="Cambria Math" panose="02040503050406030204" pitchFamily="18" charset="0"/>
                          </a:rPr>
                          <m:t>𝑖</m:t>
                        </m:r>
                      </m:sub>
                    </m:sSub>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oMath>
                </a14:m>
                <a:r>
                  <a:rPr lang="zh-CN" altLang="en-US" sz="1700" dirty="0">
                    <a:latin typeface="Noto Sans SC" panose="020B0200000000000000" pitchFamily="34" charset="-122"/>
                    <a:ea typeface="Noto Sans SC" panose="020B0200000000000000" pitchFamily="34" charset="-122"/>
                  </a:rPr>
                  <a:t>。</a:t>
                </a:r>
                <a:endParaRPr lang="en-US" altLang="zh-CN" sz="17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3CFB84F6-D143-AD9A-01C6-8CBBED203049}"/>
                  </a:ext>
                </a:extLst>
              </p:cNvPr>
              <p:cNvSpPr txBox="1">
                <a:spLocks noRot="1" noChangeAspect="1" noMove="1" noResize="1" noEditPoints="1" noAdjustHandles="1" noChangeArrowheads="1" noChangeShapeType="1" noTextEdit="1"/>
              </p:cNvSpPr>
              <p:nvPr/>
            </p:nvSpPr>
            <p:spPr>
              <a:xfrm>
                <a:off x="346605" y="1854377"/>
                <a:ext cx="6542709" cy="5008359"/>
              </a:xfrm>
              <a:prstGeom prst="rect">
                <a:avLst/>
              </a:prstGeom>
              <a:blipFill>
                <a:blip r:embed="rId2"/>
                <a:stretch>
                  <a:fillRect l="-652" t="-365" r="-559" b="-60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FB862898-028B-0A11-7838-21A28E44924D}"/>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a:t>
            </a:r>
            <a:r>
              <a:rPr lang="zh-CN" altLang="en-US" sz="2000" b="1" dirty="0">
                <a:latin typeface="Noto Sans SC" panose="020B0200000000000000" pitchFamily="34" charset="-122"/>
                <a:ea typeface="Noto Sans SC" panose="020B0200000000000000" pitchFamily="34" charset="-122"/>
              </a:rPr>
              <a:t>的实验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实验经过与初步结果</a:t>
            </a:r>
            <a:endParaRPr lang="zh-CN" altLang="en-US" sz="1100" b="1" dirty="0">
              <a:latin typeface="Noto Sans SC" panose="020B0200000000000000" pitchFamily="34" charset="-122"/>
              <a:ea typeface="Noto Sans SC" panose="020B0200000000000000" pitchFamily="34" charset="-122"/>
            </a:endParaRPr>
          </a:p>
        </p:txBody>
      </p:sp>
      <p:pic>
        <p:nvPicPr>
          <p:cNvPr id="8" name="图片 7" descr="色彩管理基礎-簡介CIE 1931圖- 真平布幕">
            <a:extLst>
              <a:ext uri="{FF2B5EF4-FFF2-40B4-BE49-F238E27FC236}">
                <a16:creationId xmlns:a16="http://schemas.microsoft.com/office/drawing/2014/main" id="{924105B6-7BF6-A9A9-203C-223D579592A0}"/>
              </a:ext>
            </a:extLst>
          </p:cNvPr>
          <p:cNvPicPr>
            <a:picLocks noChangeAspect="1"/>
          </p:cNvPicPr>
          <p:nvPr/>
        </p:nvPicPr>
        <p:blipFill>
          <a:blip r:embed="rId3"/>
          <a:stretch>
            <a:fillRect/>
          </a:stretch>
        </p:blipFill>
        <p:spPr>
          <a:xfrm>
            <a:off x="6832947" y="1080000"/>
            <a:ext cx="4308317" cy="3259307"/>
          </a:xfrm>
          <a:prstGeom prst="rect">
            <a:avLst/>
          </a:prstGeom>
        </p:spPr>
      </p:pic>
      <p:pic>
        <p:nvPicPr>
          <p:cNvPr id="3" name="图片 2">
            <a:extLst>
              <a:ext uri="{FF2B5EF4-FFF2-40B4-BE49-F238E27FC236}">
                <a16:creationId xmlns:a16="http://schemas.microsoft.com/office/drawing/2014/main" id="{B2CDB969-22EA-40F5-74A4-14B1C6BAA668}"/>
              </a:ext>
            </a:extLst>
          </p:cNvPr>
          <p:cNvPicPr>
            <a:picLocks noChangeAspect="1"/>
          </p:cNvPicPr>
          <p:nvPr/>
        </p:nvPicPr>
        <p:blipFill>
          <a:blip r:embed="rId4"/>
          <a:stretch>
            <a:fillRect/>
          </a:stretch>
        </p:blipFill>
        <p:spPr>
          <a:xfrm>
            <a:off x="6832947" y="3864279"/>
            <a:ext cx="4258850" cy="2873178"/>
          </a:xfrm>
          <a:prstGeom prst="rect">
            <a:avLst/>
          </a:prstGeom>
        </p:spPr>
      </p:pic>
      <p:sp>
        <p:nvSpPr>
          <p:cNvPr id="7" name="不完整圆 6">
            <a:extLst>
              <a:ext uri="{FF2B5EF4-FFF2-40B4-BE49-F238E27FC236}">
                <a16:creationId xmlns:a16="http://schemas.microsoft.com/office/drawing/2014/main" id="{AA21DED2-F97D-2F34-142E-9644B62D848F}"/>
              </a:ext>
            </a:extLst>
          </p:cNvPr>
          <p:cNvSpPr/>
          <p:nvPr/>
        </p:nvSpPr>
        <p:spPr>
          <a:xfrm>
            <a:off x="10846902" y="797794"/>
            <a:ext cx="995820" cy="995820"/>
          </a:xfrm>
          <a:prstGeom prst="pi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9275981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AF063-2376-A7C2-063F-E1C9BB88977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F04A502-20AD-5E5F-B23D-581A2049A660}"/>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85A6FC7-62F5-3604-5C7A-4A8100356EBD}"/>
                  </a:ext>
                </a:extLst>
              </p:cNvPr>
              <p:cNvSpPr txBox="1"/>
              <p:nvPr/>
            </p:nvSpPr>
            <p:spPr>
              <a:xfrm>
                <a:off x="346605" y="1860640"/>
                <a:ext cx="7103528" cy="4524315"/>
              </a:xfrm>
              <a:prstGeom prst="rect">
                <a:avLst/>
              </a:prstGeom>
              <a:noFill/>
            </p:spPr>
            <p:txBody>
              <a:bodyPr wrap="square" rtlCol="0">
                <a:spAutoFit/>
              </a:bodyPr>
              <a:lstStyle/>
              <a:p>
                <a:pPr algn="just"/>
                <a:r>
                  <a:rPr lang="en-US" altLang="zh-CN" sz="1600" dirty="0">
                    <a:latin typeface="Noto Sans SC" panose="020B0200000000000000" pitchFamily="34" charset="-122"/>
                    <a:ea typeface="Noto Sans SC" panose="020B0200000000000000" pitchFamily="34" charset="-122"/>
                  </a:rPr>
                  <a:t>         Wright</a:t>
                </a:r>
                <a:r>
                  <a:rPr lang="zh-CN" altLang="en-US" sz="1600" dirty="0">
                    <a:latin typeface="Noto Sans SC" panose="020B0200000000000000" pitchFamily="34" charset="-122"/>
                    <a:ea typeface="Noto Sans SC" panose="020B0200000000000000" pitchFamily="34" charset="-122"/>
                  </a:rPr>
                  <a:t>将</a:t>
                </a:r>
                <a:r>
                  <a:rPr lang="en-US" altLang="zh-CN" sz="1600" dirty="0">
                    <a:latin typeface="Noto Sans SC" panose="020B0200000000000000" pitchFamily="34" charset="-122"/>
                    <a:ea typeface="Noto Sans SC" panose="020B0200000000000000" pitchFamily="34" charset="-122"/>
                  </a:rPr>
                  <a:t>10</a:t>
                </a:r>
                <a:r>
                  <a:rPr lang="zh-CN" altLang="en-US" sz="1600" dirty="0">
                    <a:latin typeface="Noto Sans SC" panose="020B0200000000000000" pitchFamily="34" charset="-122"/>
                    <a:ea typeface="Noto Sans SC" panose="020B0200000000000000" pitchFamily="34" charset="-122"/>
                  </a:rPr>
                  <a:t>名受试者得到的颜色比例函数</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𝑟</m:t>
                        </m:r>
                      </m:e>
                      <m:sub>
                        <m:r>
                          <a:rPr lang="en-US" altLang="zh-CN" sz="1600" i="1">
                            <a:latin typeface="Cambria Math" panose="02040503050406030204" pitchFamily="18" charset="0"/>
                          </a:rPr>
                          <m:t>𝑖</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b="0" i="1" smtClean="0">
                        <a:latin typeface="Cambria Math" panose="02040503050406030204" pitchFamily="18" charset="0"/>
                      </a:rPr>
                      <m:t>  </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𝑔</m:t>
                        </m:r>
                      </m:e>
                      <m:sub>
                        <m:r>
                          <a:rPr lang="en-US" altLang="zh-CN" sz="1600" i="1">
                            <a:latin typeface="Cambria Math" panose="02040503050406030204" pitchFamily="18" charset="0"/>
                          </a:rPr>
                          <m:t>𝑖</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b="0" i="1" smtClean="0">
                        <a:latin typeface="Cambria Math" panose="02040503050406030204" pitchFamily="18" charset="0"/>
                      </a:rPr>
                      <m:t>  </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𝑖</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进行了平均，得到了初步的结果</a:t>
                </a:r>
                <a14:m>
                  <m:oMath xmlns:m="http://schemas.openxmlformats.org/officeDocument/2006/math">
                    <m:r>
                      <a:rPr lang="en-US" altLang="zh-CN" sz="1600" b="0" i="1" smtClean="0">
                        <a:latin typeface="Cambria Math" panose="02040503050406030204" pitchFamily="18" charset="0"/>
                      </a:rPr>
                      <m:t>𝑟</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b="0" i="1" smtClean="0">
                        <a:latin typeface="Cambria Math" panose="02040503050406030204" pitchFamily="18" charset="0"/>
                      </a:rPr>
                      <m:t> </m:t>
                    </m:r>
                    <m:r>
                      <a:rPr lang="en-US" altLang="zh-CN" sz="1600" i="1" smtClean="0">
                        <a:latin typeface="Cambria Math" panose="02040503050406030204" pitchFamily="18" charset="0"/>
                      </a:rPr>
                      <m:t> </m:t>
                    </m:r>
                    <m:r>
                      <a:rPr lang="en-US" altLang="zh-CN" sz="1600" b="0" i="1" smtClean="0">
                        <a:latin typeface="Cambria Math" panose="02040503050406030204" pitchFamily="18" charset="0"/>
                      </a:rPr>
                      <m:t>𝑔</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𝑏</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oMath>
                </a14:m>
                <a:r>
                  <a:rPr lang="zh-CN" altLang="en-US" sz="1600" dirty="0">
                    <a:latin typeface="Noto Sans SC" panose="020B0200000000000000" pitchFamily="34" charset="-122"/>
                    <a:ea typeface="Noto Sans SC" panose="020B0200000000000000" pitchFamily="34" charset="-122"/>
                  </a:rPr>
                  <a:t>。</a:t>
                </a:r>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由于</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选择的归一化校准方式为两个单色光锚点，但大多人还是用白光作为归一化校准方式，也就是让受试者调整光阑开闭角度，使得混合颜色与</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标准白光相匹配，此时对应的角度视为“一单位光”。</a:t>
                </a:r>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关于归一化的标准，</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认为，由于每个人眼睛黄斑色素的厚度不同，所以每个人看到的白光是不同的，都会或多或少的偏黄，因此选用两个单色光锚点，可以得到准确的数据。</a:t>
                </a:r>
                <a:r>
                  <a:rPr lang="en-US" altLang="zh-CN" sz="1600" dirty="0">
                    <a:latin typeface="Noto Sans SC" panose="020B0200000000000000" pitchFamily="34" charset="-122"/>
                    <a:ea typeface="Noto Sans SC" panose="020B0200000000000000" pitchFamily="34" charset="-122"/>
                  </a:rPr>
                  <a:t>Guild</a:t>
                </a:r>
                <a:r>
                  <a:rPr lang="zh-CN" altLang="en-US" sz="1600" dirty="0">
                    <a:latin typeface="Noto Sans SC" panose="020B0200000000000000" pitchFamily="34" charset="-122"/>
                    <a:ea typeface="Noto Sans SC" panose="020B0200000000000000" pitchFamily="34" charset="-122"/>
                  </a:rPr>
                  <a:t>则指出，</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的方法虽然好，但是校准需要匹配两个单色光，而用白光校准只需要匹配一次，更加的快捷；而且得到</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标准白光十分简单，比得到</a:t>
                </a:r>
                <a:r>
                  <a:rPr lang="en-US" altLang="zh-CN" sz="1600" dirty="0">
                    <a:latin typeface="Noto Sans SC" panose="020B0200000000000000" pitchFamily="34" charset="-122"/>
                    <a:ea typeface="Noto Sans SC" panose="020B0200000000000000" pitchFamily="34" charset="-122"/>
                  </a:rPr>
                  <a:t>582.5nm</a:t>
                </a:r>
                <a:r>
                  <a:rPr lang="zh-CN" altLang="en-US" sz="1600" dirty="0">
                    <a:latin typeface="Noto Sans SC" panose="020B0200000000000000" pitchFamily="34" charset="-122"/>
                    <a:ea typeface="Noto Sans SC" panose="020B0200000000000000" pitchFamily="34" charset="-122"/>
                  </a:rPr>
                  <a:t>和</a:t>
                </a:r>
                <a:r>
                  <a:rPr lang="en-US" altLang="zh-CN" sz="1600" dirty="0">
                    <a:latin typeface="Noto Sans SC" panose="020B0200000000000000" pitchFamily="34" charset="-122"/>
                    <a:ea typeface="Noto Sans SC" panose="020B0200000000000000" pitchFamily="34" charset="-122"/>
                  </a:rPr>
                  <a:t>494.0nm</a:t>
                </a:r>
                <a:r>
                  <a:rPr lang="zh-CN" altLang="en-US" sz="1600" dirty="0">
                    <a:latin typeface="Noto Sans SC" panose="020B0200000000000000" pitchFamily="34" charset="-122"/>
                    <a:ea typeface="Noto Sans SC" panose="020B0200000000000000" pitchFamily="34" charset="-122"/>
                  </a:rPr>
                  <a:t>的单色光要简单得多；最后，虽然人与人之间的黄斑有个体差异，但是经过多人数据的平均，这种个体差异已经被平均掉了，因此已经不需要用两个单色光锚点来避免黄斑色素的影响了。</a:t>
                </a:r>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zh-CN" altLang="en-US" sz="1600" dirty="0">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最终认同了</a:t>
                </a:r>
                <a:r>
                  <a:rPr lang="en-US" altLang="zh-CN" sz="1600" dirty="0">
                    <a:latin typeface="Noto Sans SC" panose="020B0200000000000000" pitchFamily="34" charset="-122"/>
                    <a:ea typeface="Noto Sans SC" panose="020B0200000000000000" pitchFamily="34" charset="-122"/>
                  </a:rPr>
                  <a:t>Guild</a:t>
                </a:r>
                <a:r>
                  <a:rPr lang="zh-CN" altLang="en-US" sz="1600" dirty="0">
                    <a:latin typeface="Noto Sans SC" panose="020B0200000000000000" pitchFamily="34" charset="-122"/>
                    <a:ea typeface="Noto Sans SC" panose="020B0200000000000000" pitchFamily="34" charset="-122"/>
                  </a:rPr>
                  <a:t>的提议，所以他对自己得到的</a:t>
                </a:r>
                <a14:m>
                  <m:oMath xmlns:m="http://schemas.openxmlformats.org/officeDocument/2006/math">
                    <m:r>
                      <a:rPr lang="en-US" altLang="zh-CN" sz="1600" i="1">
                        <a:latin typeface="Cambria Math" panose="02040503050406030204" pitchFamily="18" charset="0"/>
                      </a:rPr>
                      <m:t>𝑟</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i="1">
                        <a:latin typeface="Cambria Math" panose="02040503050406030204" pitchFamily="18" charset="0"/>
                      </a:rPr>
                      <m:t>𝑔</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i="1">
                        <a:latin typeface="Cambria Math" panose="02040503050406030204" pitchFamily="18" charset="0"/>
                      </a:rPr>
                      <m:t>𝑏</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进行了一些数学转换，得到了用</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标准白光进行归一化校准时对应的曲线。</a:t>
                </a:r>
                <a:endParaRPr lang="en-US" altLang="zh-CN" sz="16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C85A6FC7-62F5-3604-5C7A-4A8100356EBD}"/>
                  </a:ext>
                </a:extLst>
              </p:cNvPr>
              <p:cNvSpPr txBox="1">
                <a:spLocks noRot="1" noChangeAspect="1" noMove="1" noResize="1" noEditPoints="1" noAdjustHandles="1" noChangeArrowheads="1" noChangeShapeType="1" noTextEdit="1"/>
              </p:cNvSpPr>
              <p:nvPr/>
            </p:nvSpPr>
            <p:spPr>
              <a:xfrm>
                <a:off x="346605" y="1860640"/>
                <a:ext cx="7103528" cy="4524315"/>
              </a:xfrm>
              <a:prstGeom prst="rect">
                <a:avLst/>
              </a:prstGeom>
              <a:blipFill>
                <a:blip r:embed="rId2"/>
                <a:stretch>
                  <a:fillRect l="-515" t="-404" r="-429" b="-809"/>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D596F85A-4F44-1486-EB0E-1097780D37D6}"/>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a:t>
            </a:r>
            <a:r>
              <a:rPr lang="zh-CN" altLang="en-US" sz="2000" b="1" dirty="0">
                <a:latin typeface="Noto Sans SC" panose="020B0200000000000000" pitchFamily="34" charset="-122"/>
                <a:ea typeface="Noto Sans SC" panose="020B0200000000000000" pitchFamily="34" charset="-122"/>
              </a:rPr>
              <a:t>的实验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初步的结果</a:t>
            </a:r>
            <a:endParaRPr lang="zh-CN" altLang="en-US" sz="1100" b="1" dirty="0">
              <a:latin typeface="Noto Sans SC" panose="020B0200000000000000" pitchFamily="34" charset="-122"/>
              <a:ea typeface="Noto Sans SC" panose="020B0200000000000000" pitchFamily="34" charset="-122"/>
            </a:endParaRPr>
          </a:p>
        </p:txBody>
      </p:sp>
      <p:pic>
        <p:nvPicPr>
          <p:cNvPr id="4" name="图片 3">
            <a:extLst>
              <a:ext uri="{FF2B5EF4-FFF2-40B4-BE49-F238E27FC236}">
                <a16:creationId xmlns:a16="http://schemas.microsoft.com/office/drawing/2014/main" id="{2C689938-FFDF-E897-CA45-64CC82F79FBC}"/>
              </a:ext>
            </a:extLst>
          </p:cNvPr>
          <p:cNvPicPr>
            <a:picLocks noChangeAspect="1"/>
          </p:cNvPicPr>
          <p:nvPr/>
        </p:nvPicPr>
        <p:blipFill>
          <a:blip r:embed="rId3"/>
          <a:stretch>
            <a:fillRect/>
          </a:stretch>
        </p:blipFill>
        <p:spPr>
          <a:xfrm>
            <a:off x="7837179" y="3801212"/>
            <a:ext cx="4008215" cy="2781755"/>
          </a:xfrm>
          <a:prstGeom prst="rect">
            <a:avLst/>
          </a:prstGeom>
        </p:spPr>
      </p:pic>
      <p:pic>
        <p:nvPicPr>
          <p:cNvPr id="7" name="图片 6">
            <a:extLst>
              <a:ext uri="{FF2B5EF4-FFF2-40B4-BE49-F238E27FC236}">
                <a16:creationId xmlns:a16="http://schemas.microsoft.com/office/drawing/2014/main" id="{185E425E-F501-5476-3DA5-DF980D676315}"/>
              </a:ext>
            </a:extLst>
          </p:cNvPr>
          <p:cNvPicPr>
            <a:picLocks noChangeAspect="1"/>
          </p:cNvPicPr>
          <p:nvPr/>
        </p:nvPicPr>
        <p:blipFill>
          <a:blip r:embed="rId4"/>
          <a:stretch>
            <a:fillRect/>
          </a:stretch>
        </p:blipFill>
        <p:spPr>
          <a:xfrm>
            <a:off x="7877607" y="1151671"/>
            <a:ext cx="3927358" cy="2649541"/>
          </a:xfrm>
          <a:prstGeom prst="rect">
            <a:avLst/>
          </a:prstGeom>
        </p:spPr>
      </p:pic>
    </p:spTree>
    <p:extLst>
      <p:ext uri="{BB962C8B-B14F-4D97-AF65-F5344CB8AC3E}">
        <p14:creationId xmlns:p14="http://schemas.microsoft.com/office/powerpoint/2010/main" val="414104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A9E6-1043-0937-922C-4C247B66BB3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32F9D02-1B48-1B42-E44D-BDD18B814B6A}"/>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9CB46C9-23E2-FF9A-6CAF-0D52A3EE075B}"/>
                  </a:ext>
                </a:extLst>
              </p:cNvPr>
              <p:cNvSpPr txBox="1"/>
              <p:nvPr/>
            </p:nvSpPr>
            <p:spPr>
              <a:xfrm>
                <a:off x="346605" y="1854377"/>
                <a:ext cx="6905965" cy="4822859"/>
              </a:xfrm>
              <a:prstGeom prst="rect">
                <a:avLst/>
              </a:prstGeom>
              <a:noFill/>
            </p:spPr>
            <p:txBody>
              <a:bodyPr wrap="square" rtlCol="0">
                <a:spAutoFit/>
              </a:bodyPr>
              <a:lstStyle/>
              <a:p>
                <a:pPr algn="just"/>
                <a:r>
                  <a:rPr lang="zh-CN" altLang="en-US" sz="1600" dirty="0">
                    <a:latin typeface="Noto Sans SC" panose="020B0200000000000000" pitchFamily="34" charset="-122"/>
                    <a:ea typeface="Noto Sans SC" panose="020B0200000000000000" pitchFamily="34" charset="-122"/>
                  </a:rPr>
                  <a:t>         假如一单位光对应：</a:t>
                </a:r>
                <a:r>
                  <a:rPr lang="en-US" altLang="zh-CN" sz="1600" dirty="0">
                    <a:solidFill>
                      <a:schemeClr val="accent6">
                        <a:lumMod val="75000"/>
                      </a:schemeClr>
                    </a:solidFill>
                    <a:latin typeface="Noto Sans SC" panose="020B0200000000000000" pitchFamily="34" charset="-122"/>
                    <a:ea typeface="Noto Sans SC" panose="020B0200000000000000" pitchFamily="34" charset="-122"/>
                  </a:rPr>
                  <a:t>45°</a:t>
                </a:r>
                <a:r>
                  <a:rPr lang="zh-CN" altLang="en-US" sz="1600" dirty="0">
                    <a:solidFill>
                      <a:schemeClr val="accent6">
                        <a:lumMod val="75000"/>
                      </a:schemeClr>
                    </a:solidFill>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a:t>
                </a:r>
                <a:r>
                  <a:rPr lang="zh-CN" altLang="en-US" sz="1600" dirty="0">
                    <a:latin typeface="Noto Sans SC" panose="020B0200000000000000" pitchFamily="34" charset="-122"/>
                    <a:ea typeface="Noto Sans SC" panose="020B0200000000000000" pitchFamily="34" charset="-122"/>
                  </a:rPr>
                  <a:t> </a:t>
                </a:r>
                <a:r>
                  <a:rPr lang="en-US" altLang="zh-CN" sz="1600" dirty="0">
                    <a:solidFill>
                      <a:srgbClr val="00B050"/>
                    </a:solidFill>
                    <a:latin typeface="Noto Sans SC" panose="020B0200000000000000" pitchFamily="34" charset="-122"/>
                    <a:ea typeface="Noto Sans SC" panose="020B0200000000000000" pitchFamily="34" charset="-122"/>
                  </a:rPr>
                  <a:t>30°</a:t>
                </a:r>
                <a:r>
                  <a:rPr lang="en-US" altLang="zh-CN" sz="1600" dirty="0">
                    <a:latin typeface="Noto Sans SC" panose="020B0200000000000000" pitchFamily="34" charset="-122"/>
                    <a:ea typeface="Noto Sans SC" panose="020B0200000000000000" pitchFamily="34" charset="-122"/>
                  </a:rPr>
                  <a:t> : </a:t>
                </a:r>
                <a:r>
                  <a:rPr lang="en-US" altLang="zh-CN" sz="1600" dirty="0">
                    <a:solidFill>
                      <a:schemeClr val="accent1">
                        <a:lumMod val="75000"/>
                      </a:schemeClr>
                    </a:solidFill>
                    <a:latin typeface="Noto Sans SC" panose="020B0200000000000000" pitchFamily="34" charset="-122"/>
                    <a:ea typeface="Noto Sans SC" panose="020B0200000000000000" pitchFamily="34" charset="-122"/>
                  </a:rPr>
                  <a:t>40°</a:t>
                </a:r>
              </a:p>
              <a:p>
                <a:pPr algn="just"/>
                <a:r>
                  <a:rPr lang="en-US" altLang="zh-CN" sz="1600" dirty="0">
                    <a:solidFill>
                      <a:schemeClr val="accent1">
                        <a:lumMod val="75000"/>
                      </a:schemeClr>
                    </a:solidFill>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如果一单位光对应的开闭角度变化了，会怎么影响结果？</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假如新的一单位光对应：</a:t>
                </a:r>
                <a:r>
                  <a:rPr lang="en-US" altLang="zh-CN" sz="1600" dirty="0">
                    <a:solidFill>
                      <a:schemeClr val="accent6">
                        <a:lumMod val="75000"/>
                      </a:schemeClr>
                    </a:solidFill>
                    <a:latin typeface="Noto Sans SC" panose="020B0200000000000000" pitchFamily="34" charset="-122"/>
                    <a:ea typeface="Noto Sans SC" panose="020B0200000000000000" pitchFamily="34" charset="-122"/>
                  </a:rPr>
                  <a:t>47°</a:t>
                </a:r>
                <a:r>
                  <a:rPr lang="zh-CN" altLang="en-US" sz="1600" dirty="0">
                    <a:solidFill>
                      <a:schemeClr val="accent6">
                        <a:lumMod val="75000"/>
                      </a:schemeClr>
                    </a:solidFill>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a:t>
                </a:r>
                <a:r>
                  <a:rPr lang="zh-CN" altLang="en-US" sz="1600" dirty="0">
                    <a:latin typeface="Noto Sans SC" panose="020B0200000000000000" pitchFamily="34" charset="-122"/>
                    <a:ea typeface="Noto Sans SC" panose="020B0200000000000000" pitchFamily="34" charset="-122"/>
                  </a:rPr>
                  <a:t> </a:t>
                </a:r>
                <a:r>
                  <a:rPr lang="en-US" altLang="zh-CN" sz="1600" dirty="0">
                    <a:solidFill>
                      <a:srgbClr val="00B050"/>
                    </a:solidFill>
                    <a:latin typeface="Noto Sans SC" panose="020B0200000000000000" pitchFamily="34" charset="-122"/>
                    <a:ea typeface="Noto Sans SC" panose="020B0200000000000000" pitchFamily="34" charset="-122"/>
                  </a:rPr>
                  <a:t>29°</a:t>
                </a:r>
                <a:r>
                  <a:rPr lang="en-US" altLang="zh-CN" sz="1600" dirty="0">
                    <a:latin typeface="Noto Sans SC" panose="020B0200000000000000" pitchFamily="34" charset="-122"/>
                    <a:ea typeface="Noto Sans SC" panose="020B0200000000000000" pitchFamily="34" charset="-122"/>
                  </a:rPr>
                  <a:t> : </a:t>
                </a:r>
                <a:r>
                  <a:rPr lang="en-US" altLang="zh-CN" sz="1600" dirty="0">
                    <a:solidFill>
                      <a:schemeClr val="accent1">
                        <a:lumMod val="75000"/>
                      </a:schemeClr>
                    </a:solidFill>
                    <a:latin typeface="Noto Sans SC" panose="020B0200000000000000" pitchFamily="34" charset="-122"/>
                    <a:ea typeface="Noto Sans SC" panose="020B0200000000000000" pitchFamily="34" charset="-122"/>
                  </a:rPr>
                  <a:t>44°</a:t>
                </a:r>
                <a:r>
                  <a:rPr lang="zh-CN" altLang="en-US" sz="1600" dirty="0">
                    <a:latin typeface="Noto Sans SC" panose="020B0200000000000000" pitchFamily="34" charset="-122"/>
                    <a:ea typeface="Noto Sans SC" panose="020B0200000000000000" pitchFamily="34" charset="-122"/>
                  </a:rPr>
                  <a:t>，则：</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dirty="0">
                          <a:latin typeface="Cambria Math" panose="02040503050406030204" pitchFamily="18" charset="0"/>
                        </a:rPr>
                        <m:t>𝑹</m:t>
                      </m:r>
                      <m:r>
                        <a:rPr lang="en-US" altLang="zh-CN" sz="1600" i="1" dirty="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45</m:t>
                          </m:r>
                        </m:num>
                        <m:den>
                          <m:r>
                            <a:rPr lang="en-US" altLang="zh-CN" sz="1600" b="0" i="1" dirty="0" smtClean="0">
                              <a:latin typeface="Cambria Math" panose="02040503050406030204" pitchFamily="18" charset="0"/>
                            </a:rPr>
                            <m:t>47</m:t>
                          </m:r>
                        </m:den>
                      </m:f>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𝑹</m:t>
                          </m:r>
                        </m:e>
                        <m:sup>
                          <m:r>
                            <a:rPr lang="en-US" altLang="zh-CN" sz="1600" b="1" i="1" dirty="0">
                              <a:latin typeface="Cambria Math" panose="02040503050406030204" pitchFamily="18" charset="0"/>
                            </a:rPr>
                            <m:t>′</m:t>
                          </m:r>
                        </m:sup>
                      </m:sSup>
                      <m:r>
                        <a:rPr lang="en-US" altLang="zh-CN" sz="1600" b="0" i="1" dirty="0" smtClean="0">
                          <a:latin typeface="Cambria Math" panose="02040503050406030204" pitchFamily="18" charset="0"/>
                        </a:rPr>
                        <m:t>=0.957</m:t>
                      </m:r>
                      <m:sSup>
                        <m:sSupPr>
                          <m:ctrlPr>
                            <a:rPr lang="en-US" altLang="zh-CN" sz="1600" b="1" i="1" dirty="0" smtClean="0">
                              <a:latin typeface="Cambria Math" panose="02040503050406030204" pitchFamily="18" charset="0"/>
                            </a:rPr>
                          </m:ctrlPr>
                        </m:sSupPr>
                        <m:e>
                          <m:r>
                            <a:rPr lang="en-US" altLang="zh-CN" sz="1600" b="1" i="1" dirty="0" smtClean="0">
                              <a:latin typeface="Cambria Math" panose="02040503050406030204" pitchFamily="18" charset="0"/>
                            </a:rPr>
                            <m:t>𝑹</m:t>
                          </m:r>
                        </m:e>
                        <m:sup>
                          <m:r>
                            <a:rPr lang="en-US" altLang="zh-CN" sz="1600" b="1" i="1" dirty="0" smtClean="0">
                              <a:latin typeface="Cambria Math" panose="02040503050406030204" pitchFamily="18" charset="0"/>
                            </a:rPr>
                            <m:t>′</m:t>
                          </m:r>
                        </m:sup>
                      </m:sSup>
                      <m:r>
                        <a:rPr lang="en-US" altLang="zh-CN" sz="1600" b="1" i="1" dirty="0">
                          <a:latin typeface="Cambria Math" panose="02040503050406030204" pitchFamily="18" charset="0"/>
                        </a:rPr>
                        <m:t>,</m:t>
                      </m:r>
                      <m:r>
                        <a:rPr lang="en-US" altLang="zh-CN" sz="1600" i="1" dirty="0">
                          <a:latin typeface="Cambria Math" panose="02040503050406030204" pitchFamily="18" charset="0"/>
                        </a:rPr>
                        <m:t> </m:t>
                      </m:r>
                      <m:r>
                        <a:rPr lang="en-US" altLang="zh-CN" sz="1600" b="0" i="1" dirty="0" smtClean="0">
                          <a:latin typeface="Cambria Math" panose="02040503050406030204" pitchFamily="18" charset="0"/>
                        </a:rPr>
                        <m:t> </m:t>
                      </m:r>
                      <m:r>
                        <a:rPr lang="en-US" altLang="zh-CN" sz="1600" b="1" i="1" dirty="0">
                          <a:latin typeface="Cambria Math" panose="02040503050406030204" pitchFamily="18" charset="0"/>
                        </a:rPr>
                        <m:t>𝑮</m:t>
                      </m:r>
                      <m:r>
                        <a:rPr lang="en-US" altLang="zh-CN" sz="1600" i="1" dirty="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30</m:t>
                          </m:r>
                        </m:num>
                        <m:den>
                          <m:r>
                            <a:rPr lang="en-US" altLang="zh-CN" sz="1600" b="0" i="1" dirty="0" smtClean="0">
                              <a:latin typeface="Cambria Math" panose="02040503050406030204" pitchFamily="18" charset="0"/>
                            </a:rPr>
                            <m:t>29</m:t>
                          </m:r>
                        </m:den>
                      </m:f>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𝑮</m:t>
                          </m:r>
                        </m:e>
                        <m:sup>
                          <m:r>
                            <a:rPr lang="en-US" altLang="zh-CN" sz="1600" b="1" i="1" dirty="0">
                              <a:latin typeface="Cambria Math" panose="02040503050406030204" pitchFamily="18" charset="0"/>
                            </a:rPr>
                            <m:t>′</m:t>
                          </m:r>
                        </m:sup>
                      </m:sSup>
                      <m:r>
                        <a:rPr lang="en-US" altLang="zh-CN" sz="1600" b="0" i="1" dirty="0" smtClean="0">
                          <a:latin typeface="Cambria Math" panose="02040503050406030204" pitchFamily="18" charset="0"/>
                        </a:rPr>
                        <m:t>=1</m:t>
                      </m:r>
                      <m:r>
                        <a:rPr lang="en-US" altLang="zh-CN" sz="1600" b="1" i="1" dirty="0" smtClean="0">
                          <a:latin typeface="Cambria Math" panose="02040503050406030204" pitchFamily="18" charset="0"/>
                        </a:rPr>
                        <m:t>.</m:t>
                      </m:r>
                      <m:r>
                        <a:rPr lang="en-US" altLang="zh-CN" sz="1600" b="0" i="1" dirty="0" smtClean="0">
                          <a:latin typeface="Cambria Math" panose="02040503050406030204" pitchFamily="18" charset="0"/>
                        </a:rPr>
                        <m:t>034</m:t>
                      </m:r>
                      <m:sSup>
                        <m:sSupPr>
                          <m:ctrlPr>
                            <a:rPr lang="en-US" altLang="zh-CN" sz="1600" b="1" i="1" dirty="0" smtClean="0">
                              <a:latin typeface="Cambria Math" panose="02040503050406030204" pitchFamily="18" charset="0"/>
                            </a:rPr>
                          </m:ctrlPr>
                        </m:sSupPr>
                        <m:e>
                          <m:r>
                            <a:rPr lang="en-US" altLang="zh-CN" sz="1600" b="1" i="1" dirty="0" smtClean="0">
                              <a:latin typeface="Cambria Math" panose="02040503050406030204" pitchFamily="18" charset="0"/>
                            </a:rPr>
                            <m:t>𝑮</m:t>
                          </m:r>
                        </m:e>
                        <m:sup>
                          <m:r>
                            <a:rPr lang="en-US" altLang="zh-CN" sz="1600" b="1" i="1" dirty="0" smtClean="0">
                              <a:latin typeface="Cambria Math" panose="02040503050406030204" pitchFamily="18" charset="0"/>
                            </a:rPr>
                            <m:t>′</m:t>
                          </m:r>
                        </m:sup>
                      </m:sSup>
                      <m:r>
                        <a:rPr lang="en-US" altLang="zh-CN" sz="1600" b="1" i="1" dirty="0">
                          <a:latin typeface="Cambria Math" panose="02040503050406030204" pitchFamily="18" charset="0"/>
                        </a:rPr>
                        <m:t>,  </m:t>
                      </m:r>
                      <m:r>
                        <a:rPr lang="en-US" altLang="zh-CN" sz="1600" b="1" i="1" dirty="0">
                          <a:latin typeface="Cambria Math" panose="02040503050406030204" pitchFamily="18" charset="0"/>
                        </a:rPr>
                        <m:t>𝑩</m:t>
                      </m:r>
                      <m:r>
                        <a:rPr lang="en-US" altLang="zh-CN" sz="1600" i="1" dirty="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40</m:t>
                          </m:r>
                        </m:num>
                        <m:den>
                          <m:r>
                            <a:rPr lang="en-US" altLang="zh-CN" sz="1600" b="0" i="1" dirty="0" smtClean="0">
                              <a:latin typeface="Cambria Math" panose="02040503050406030204" pitchFamily="18" charset="0"/>
                            </a:rPr>
                            <m:t>44</m:t>
                          </m:r>
                        </m:den>
                      </m:f>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𝑩</m:t>
                          </m:r>
                        </m:e>
                        <m:sup>
                          <m:r>
                            <a:rPr lang="en-US" altLang="zh-CN" sz="1600" b="1" i="1" dirty="0">
                              <a:latin typeface="Cambria Math" panose="02040503050406030204" pitchFamily="18" charset="0"/>
                            </a:rPr>
                            <m:t>′</m:t>
                          </m:r>
                        </m:sup>
                      </m:sSup>
                      <m:r>
                        <a:rPr lang="en-US" altLang="zh-CN" sz="1600" b="0" i="1" dirty="0" smtClean="0">
                          <a:latin typeface="Cambria Math" panose="02040503050406030204" pitchFamily="18" charset="0"/>
                        </a:rPr>
                        <m:t>=0.909</m:t>
                      </m:r>
                      <m:r>
                        <a:rPr lang="en-US" altLang="zh-CN" sz="1600" b="1" i="1" dirty="0" smtClean="0">
                          <a:latin typeface="Cambria Math" panose="02040503050406030204" pitchFamily="18" charset="0"/>
                        </a:rPr>
                        <m:t>𝑩</m:t>
                      </m:r>
                      <m:r>
                        <a:rPr lang="en-US" altLang="zh-CN" sz="1600" b="1" i="1" dirty="0" smtClean="0">
                          <a:latin typeface="Cambria Math" panose="02040503050406030204" pitchFamily="18" charset="0"/>
                        </a:rPr>
                        <m:t>′</m:t>
                      </m:r>
                    </m:oMath>
                  </m:oMathPara>
                </a14:m>
                <a:endParaRPr lang="en-US" altLang="zh-CN" sz="1600" b="1" dirty="0">
                  <a:latin typeface="Noto Sans SC" panose="020B0200000000000000" pitchFamily="34" charset="-122"/>
                  <a:ea typeface="Noto Sans SC" panose="020B0200000000000000" pitchFamily="34" charset="-122"/>
                </a:endParaRPr>
              </a:p>
              <a:p>
                <a:pPr algn="just"/>
                <a:r>
                  <a:rPr lang="zh-CN" altLang="en-US" sz="1600" dirty="0">
                    <a:latin typeface="Noto Sans SC" panose="020B0200000000000000" pitchFamily="34" charset="-122"/>
                    <a:ea typeface="Noto Sans SC" panose="020B0200000000000000" pitchFamily="34" charset="-122"/>
                  </a:rPr>
                  <a:t>         其中</a:t>
                </a:r>
                <a14:m>
                  <m:oMath xmlns:m="http://schemas.openxmlformats.org/officeDocument/2006/math">
                    <m:r>
                      <a:rPr lang="en-US" altLang="zh-CN" sz="1600" b="1" i="1" dirty="0">
                        <a:latin typeface="Cambria Math" panose="02040503050406030204" pitchFamily="18" charset="0"/>
                      </a:rPr>
                      <m:t>𝑹</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b="1" i="1" dirty="0">
                        <a:latin typeface="Cambria Math" panose="02040503050406030204" pitchFamily="18" charset="0"/>
                      </a:rPr>
                      <m:t>𝑮</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b="1" i="1" dirty="0">
                        <a:latin typeface="Cambria Math" panose="02040503050406030204" pitchFamily="18" charset="0"/>
                      </a:rPr>
                      <m:t>𝑩</m:t>
                    </m:r>
                  </m:oMath>
                </a14:m>
                <a:r>
                  <a:rPr lang="zh-CN" altLang="en-US" sz="1600" dirty="0">
                    <a:latin typeface="Noto Sans SC" panose="020B0200000000000000" pitchFamily="34" charset="-122"/>
                    <a:ea typeface="Noto Sans SC" panose="020B0200000000000000" pitchFamily="34" charset="-122"/>
                  </a:rPr>
                  <a:t>为原先的一单位光，</a:t>
                </a:r>
                <a14:m>
                  <m:oMath xmlns:m="http://schemas.openxmlformats.org/officeDocument/2006/math">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𝑹</m:t>
                        </m:r>
                      </m:e>
                      <m:sup>
                        <m:r>
                          <a:rPr lang="en-US" altLang="zh-CN" sz="1600" b="1" i="1" dirty="0">
                            <a:latin typeface="Cambria Math" panose="02040503050406030204" pitchFamily="18" charset="0"/>
                          </a:rPr>
                          <m:t>′</m:t>
                        </m:r>
                      </m:sup>
                    </m:sSup>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𝑮</m:t>
                        </m:r>
                      </m:e>
                      <m:sup>
                        <m:r>
                          <a:rPr lang="en-US" altLang="zh-CN" sz="1600" b="1" i="1" dirty="0">
                            <a:latin typeface="Cambria Math" panose="02040503050406030204" pitchFamily="18" charset="0"/>
                          </a:rPr>
                          <m:t>′</m:t>
                        </m:r>
                      </m:sup>
                    </m:sSup>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𝑩</m:t>
                        </m:r>
                      </m:e>
                      <m:sup>
                        <m:r>
                          <a:rPr lang="en-US" altLang="zh-CN" sz="1600" b="1" i="1" dirty="0">
                            <a:latin typeface="Cambria Math" panose="02040503050406030204" pitchFamily="18" charset="0"/>
                          </a:rPr>
                          <m:t>′</m:t>
                        </m:r>
                      </m:sup>
                    </m:sSup>
                  </m:oMath>
                </a14:m>
                <a:r>
                  <a:rPr lang="zh-CN" altLang="en-US" sz="1600" dirty="0">
                    <a:latin typeface="Noto Sans SC" panose="020B0200000000000000" pitchFamily="34" charset="-122"/>
                    <a:ea typeface="Noto Sans SC" panose="020B0200000000000000" pitchFamily="34" charset="-122"/>
                  </a:rPr>
                  <a:t>为新的一单位光。</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根据色彩比例函数，可得：</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𝑪</m:t>
                      </m:r>
                      <m:r>
                        <a:rPr lang="en-US" altLang="zh-CN" sz="1600" i="1" dirty="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𝑟</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1" i="1" smtClean="0">
                          <a:latin typeface="Cambria Math" panose="02040503050406030204" pitchFamily="18" charset="0"/>
                        </a:rPr>
                        <m:t>𝑹</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𝑔</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1" i="1" smtClean="0">
                          <a:latin typeface="Cambria Math" panose="02040503050406030204" pitchFamily="18" charset="0"/>
                        </a:rPr>
                        <m:t>𝑮</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𝑏</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1" i="1" smtClean="0">
                          <a:latin typeface="Cambria Math" panose="02040503050406030204" pitchFamily="18" charset="0"/>
                        </a:rPr>
                        <m:t>𝑩</m:t>
                      </m:r>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b="1"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替换掉</a:t>
                </a:r>
                <a14:m>
                  <m:oMath xmlns:m="http://schemas.openxmlformats.org/officeDocument/2006/math">
                    <m:r>
                      <m:rPr>
                        <m:sty m:val="p"/>
                      </m:rPr>
                      <a:rPr lang="en-US" altLang="zh-CN" sz="1600" i="1" dirty="0">
                        <a:latin typeface="Cambria Math" panose="02040503050406030204" pitchFamily="18" charset="0"/>
                      </a:rPr>
                      <m:t>R</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i="1" dirty="0">
                        <a:latin typeface="Cambria Math" panose="02040503050406030204" pitchFamily="18" charset="0"/>
                      </a:rPr>
                      <m:t>𝐺</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i="1" dirty="0">
                        <a:latin typeface="Cambria Math" panose="02040503050406030204" pitchFamily="18" charset="0"/>
                      </a:rPr>
                      <m:t>𝐵</m:t>
                    </m:r>
                    <m:r>
                      <a:rPr lang="zh-CN" altLang="en-US" sz="1600" i="1" dirty="0">
                        <a:latin typeface="Cambria Math" panose="02040503050406030204" pitchFamily="18" charset="0"/>
                      </a:rPr>
                      <m:t>：</m:t>
                    </m:r>
                  </m:oMath>
                </a14:m>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a:latin typeface="Cambria Math" panose="02040503050406030204" pitchFamily="18" charset="0"/>
                        </a:rPr>
                        <m:t>𝑪</m:t>
                      </m:r>
                      <m:r>
                        <a:rPr lang="en-US" altLang="zh-CN" sz="1600" i="1" dirty="0">
                          <a:latin typeface="Cambria Math" panose="02040503050406030204" pitchFamily="18" charset="0"/>
                          <a:ea typeface="Cambria Math" panose="02040503050406030204" pitchFamily="18" charset="0"/>
                        </a:rPr>
                        <m:t>≡</m:t>
                      </m:r>
                      <m:r>
                        <a:rPr lang="en-US" altLang="zh-CN" sz="1600" b="1" i="1">
                          <a:latin typeface="Cambria Math" panose="02040503050406030204" pitchFamily="18" charset="0"/>
                        </a:rPr>
                        <m:t>0.95</m:t>
                      </m:r>
                      <m:r>
                        <a:rPr lang="en-US" altLang="zh-CN" sz="1600" b="0" i="1" dirty="0" smtClean="0">
                          <a:latin typeface="Cambria Math" panose="02040503050406030204" pitchFamily="18" charset="0"/>
                        </a:rPr>
                        <m:t>7 </m:t>
                      </m:r>
                      <m:r>
                        <a:rPr lang="en-US" altLang="zh-CN" sz="1600" i="1">
                          <a:latin typeface="Cambria Math" panose="02040503050406030204" pitchFamily="18" charset="0"/>
                        </a:rPr>
                        <m:t>𝑟</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𝑹</m:t>
                          </m:r>
                        </m:e>
                        <m:sup>
                          <m:r>
                            <a:rPr lang="en-US" altLang="zh-CN" sz="1600" b="1" i="1" dirty="0">
                              <a:latin typeface="Cambria Math" panose="02040503050406030204" pitchFamily="18" charset="0"/>
                            </a:rPr>
                            <m:t>′</m:t>
                          </m:r>
                        </m:sup>
                      </m:sSup>
                      <m:r>
                        <a:rPr lang="en-US" altLang="zh-CN" sz="1600" i="1">
                          <a:latin typeface="Cambria Math" panose="02040503050406030204" pitchFamily="18" charset="0"/>
                        </a:rPr>
                        <m:t>+</m:t>
                      </m:r>
                      <m:r>
                        <a:rPr lang="en-US" altLang="zh-CN" sz="1600" b="0" i="1" dirty="0" smtClean="0">
                          <a:latin typeface="Cambria Math" panose="02040503050406030204" pitchFamily="18" charset="0"/>
                        </a:rPr>
                        <m:t>1.034 </m:t>
                      </m:r>
                      <m:r>
                        <a:rPr lang="en-US" altLang="zh-CN" sz="1600" b="0" i="1" dirty="0" smtClean="0">
                          <a:latin typeface="Cambria Math" panose="02040503050406030204" pitchFamily="18" charset="0"/>
                        </a:rPr>
                        <m:t>𝑔</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𝑮</m:t>
                          </m:r>
                        </m:e>
                        <m:sup>
                          <m:r>
                            <a:rPr lang="en-US" altLang="zh-CN" sz="1600" b="1" i="1" dirty="0">
                              <a:latin typeface="Cambria Math" panose="02040503050406030204" pitchFamily="18" charset="0"/>
                            </a:rPr>
                            <m:t>′</m:t>
                          </m:r>
                        </m:sup>
                      </m:sSup>
                      <m:r>
                        <a:rPr lang="en-US" altLang="zh-CN" sz="1600" i="1">
                          <a:latin typeface="Cambria Math" panose="02040503050406030204" pitchFamily="18" charset="0"/>
                        </a:rPr>
                        <m:t>+</m:t>
                      </m:r>
                      <m:r>
                        <a:rPr lang="en-US" altLang="zh-CN" sz="1600" b="0" i="1" dirty="0" smtClean="0">
                          <a:latin typeface="Cambria Math" panose="02040503050406030204" pitchFamily="18" charset="0"/>
                        </a:rPr>
                        <m:t>0.909 </m:t>
                      </m:r>
                      <m:r>
                        <a:rPr lang="en-US" altLang="zh-CN" sz="1600" i="1">
                          <a:latin typeface="Cambria Math" panose="02040503050406030204" pitchFamily="18" charset="0"/>
                        </a:rPr>
                        <m:t>𝑏</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sSup>
                        <m:sSupPr>
                          <m:ctrlPr>
                            <a:rPr lang="en-US" altLang="zh-CN" sz="1600" b="1" i="1" dirty="0">
                              <a:latin typeface="Cambria Math" panose="02040503050406030204" pitchFamily="18" charset="0"/>
                            </a:rPr>
                          </m:ctrlPr>
                        </m:sSupPr>
                        <m:e>
                          <m:r>
                            <a:rPr lang="en-US" altLang="zh-CN" sz="1600" b="1" i="1" dirty="0">
                              <a:latin typeface="Cambria Math" panose="02040503050406030204" pitchFamily="18" charset="0"/>
                            </a:rPr>
                            <m:t>𝑩</m:t>
                          </m:r>
                        </m:e>
                        <m:sup>
                          <m:r>
                            <a:rPr lang="en-US" altLang="zh-CN" sz="1600" b="1" i="1" dirty="0">
                              <a:latin typeface="Cambria Math" panose="02040503050406030204" pitchFamily="18" charset="0"/>
                            </a:rPr>
                            <m:t>′</m:t>
                          </m:r>
                        </m:sup>
                      </m:sSup>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我们就可以计算得到新的一单位光对应的色彩比例函数：</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𝑟</m:t>
                          </m:r>
                        </m:e>
                        <m:sup>
                          <m:r>
                            <a:rPr lang="en-US" altLang="zh-CN" sz="1600" i="1">
                              <a:latin typeface="Cambria Math" panose="02040503050406030204" pitchFamily="18" charset="0"/>
                            </a:rPr>
                            <m:t>′</m:t>
                          </m:r>
                        </m:sup>
                      </m:s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b="1" i="1">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0.957</m:t>
                          </m:r>
                          <m:r>
                            <a:rPr lang="en-US" altLang="zh-CN" sz="1600" i="1">
                              <a:latin typeface="Cambria Math" panose="02040503050406030204" pitchFamily="18" charset="0"/>
                            </a:rPr>
                            <m:t>𝑟</m:t>
                          </m:r>
                          <m:r>
                            <a:rPr lang="en-US" altLang="zh-CN" sz="1600" i="1">
                              <a:latin typeface="Cambria Math" panose="02040503050406030204" pitchFamily="18" charset="0"/>
                            </a:rPr>
                            <m:t>(</m:t>
                          </m:r>
                          <m:r>
                            <m:rPr>
                              <m:sty m:val="p"/>
                            </m:rPr>
                            <a:rPr lang="en-US" altLang="zh-CN" sz="1600" i="1">
                              <a:latin typeface="Cambria Math" panose="02040503050406030204" pitchFamily="18" charset="0"/>
                            </a:rPr>
                            <m:t>λ</m:t>
                          </m:r>
                          <m:r>
                            <a:rPr lang="en-US" altLang="zh-CN" sz="1600" i="1">
                              <a:latin typeface="Cambria Math" panose="02040503050406030204" pitchFamily="18" charset="0"/>
                            </a:rPr>
                            <m:t>)</m:t>
                          </m:r>
                        </m:num>
                        <m:den>
                          <m:r>
                            <a:rPr lang="en-US" altLang="zh-CN" sz="1600" i="1">
                              <a:latin typeface="Cambria Math" panose="02040503050406030204" pitchFamily="18" charset="0"/>
                            </a:rPr>
                            <m:t>0.9</m:t>
                          </m:r>
                          <m:r>
                            <a:rPr lang="en-US" altLang="zh-CN" sz="1600" b="0" i="1" smtClean="0">
                              <a:latin typeface="Cambria Math" panose="02040503050406030204" pitchFamily="18" charset="0"/>
                            </a:rPr>
                            <m:t>57</m:t>
                          </m:r>
                          <m:r>
                            <a:rPr lang="en-US" altLang="zh-CN" sz="1600" i="1">
                              <a:latin typeface="Cambria Math" panose="02040503050406030204" pitchFamily="18" charset="0"/>
                            </a:rPr>
                            <m:t>𝑟</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b="0" i="1" dirty="0" smtClean="0">
                              <a:latin typeface="Cambria Math" panose="02040503050406030204" pitchFamily="18" charset="0"/>
                            </a:rPr>
                            <m:t>1.034</m:t>
                          </m:r>
                          <m:r>
                            <a:rPr lang="en-US" altLang="zh-CN" sz="1600" i="1" dirty="0">
                              <a:latin typeface="Cambria Math" panose="02040503050406030204" pitchFamily="18" charset="0"/>
                            </a:rPr>
                            <m:t>𝑔</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b="0" i="1" dirty="0" smtClean="0">
                              <a:latin typeface="Cambria Math" panose="02040503050406030204" pitchFamily="18" charset="0"/>
                            </a:rPr>
                            <m:t>0.909</m:t>
                          </m:r>
                          <m:r>
                            <a:rPr lang="en-US" altLang="zh-CN" sz="1600" i="1">
                              <a:latin typeface="Cambria Math" panose="02040503050406030204" pitchFamily="18" charset="0"/>
                            </a:rPr>
                            <m:t>𝑏</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m:rPr>
                              <m:nor/>
                            </m:rPr>
                            <a:rPr lang="en-US" altLang="zh-CN" sz="1600" i="0" dirty="0">
                              <a:latin typeface="Noto Sans SC" panose="020B0200000000000000" pitchFamily="34" charset="-122"/>
                              <a:ea typeface="Noto Sans SC" panose="020B0200000000000000" pitchFamily="34" charset="-122"/>
                            </a:rPr>
                            <m:t> </m:t>
                          </m:r>
                        </m:den>
                      </m:f>
                      <m:r>
                        <a:rPr lang="en-US" altLang="zh-CN" sz="1600" b="0" i="1" dirty="0" smtClean="0">
                          <a:latin typeface="Cambria Math" panose="02040503050406030204" pitchFamily="18" charset="0"/>
                        </a:rPr>
                        <m:t>,</m:t>
                      </m:r>
                    </m:oMath>
                  </m:oMathPara>
                </a14:m>
                <a:endParaRPr lang="en-US" altLang="zh-CN" sz="1600" b="0" dirty="0">
                  <a:latin typeface="Noto Sans SC" panose="020B0200000000000000" pitchFamily="34" charset="-122"/>
                </a:endParaRPr>
              </a:p>
              <a:p>
                <a:pPr algn="just"/>
                <a:endParaRPr lang="en-US" altLang="zh-CN" sz="1600" b="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𝑔</m:t>
                          </m:r>
                        </m:e>
                        <m:sup>
                          <m:r>
                            <a:rPr lang="en-US" altLang="zh-CN" sz="1600" i="1">
                              <a:latin typeface="Cambria Math" panose="02040503050406030204" pitchFamily="18" charset="0"/>
                            </a:rPr>
                            <m:t>′</m:t>
                          </m:r>
                        </m:sup>
                      </m:s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b="1" i="1">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1.034</m:t>
                          </m:r>
                          <m:r>
                            <a:rPr lang="en-US" altLang="zh-CN" sz="1600" i="1" dirty="0">
                              <a:latin typeface="Cambria Math" panose="02040503050406030204" pitchFamily="18" charset="0"/>
                            </a:rPr>
                            <m:t>𝑔</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num>
                        <m:den>
                          <m:r>
                            <a:rPr lang="en-US" altLang="zh-CN" sz="1600" i="1">
                              <a:latin typeface="Cambria Math" panose="02040503050406030204" pitchFamily="18" charset="0"/>
                            </a:rPr>
                            <m:t>0.957</m:t>
                          </m:r>
                          <m:r>
                            <a:rPr lang="en-US" altLang="zh-CN" sz="1600" i="1">
                              <a:latin typeface="Cambria Math" panose="02040503050406030204" pitchFamily="18" charset="0"/>
                            </a:rPr>
                            <m:t>𝑟</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i="1" dirty="0">
                              <a:latin typeface="Cambria Math" panose="02040503050406030204" pitchFamily="18" charset="0"/>
                            </a:rPr>
                            <m:t>1.034</m:t>
                          </m:r>
                          <m:r>
                            <a:rPr lang="en-US" altLang="zh-CN" sz="1600" i="1" dirty="0">
                              <a:latin typeface="Cambria Math" panose="02040503050406030204" pitchFamily="18" charset="0"/>
                            </a:rPr>
                            <m:t>𝑔</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i="1" dirty="0">
                              <a:latin typeface="Cambria Math" panose="02040503050406030204" pitchFamily="18" charset="0"/>
                            </a:rPr>
                            <m:t>0.909</m:t>
                          </m:r>
                          <m:r>
                            <a:rPr lang="en-US" altLang="zh-CN" sz="1600" i="1">
                              <a:latin typeface="Cambria Math" panose="02040503050406030204" pitchFamily="18" charset="0"/>
                            </a:rPr>
                            <m:t>𝑏</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m:rPr>
                              <m:nor/>
                            </m:rPr>
                            <a:rPr lang="en-US" altLang="zh-CN" sz="1600" i="0" dirty="0">
                              <a:latin typeface="Noto Sans SC" panose="020B0200000000000000" pitchFamily="34" charset="-122"/>
                              <a:ea typeface="Noto Sans SC" panose="020B0200000000000000" pitchFamily="34" charset="-122"/>
                            </a:rPr>
                            <m:t> </m:t>
                          </m:r>
                        </m:den>
                      </m:f>
                      <m:r>
                        <a:rPr lang="en-US" altLang="zh-CN" sz="1600" i="1" dirty="0">
                          <a:latin typeface="Cambria Math" panose="02040503050406030204" pitchFamily="18" charset="0"/>
                        </a:rPr>
                        <m:t>,</m:t>
                      </m:r>
                    </m:oMath>
                  </m:oMathPara>
                </a14:m>
                <a:endParaRPr lang="en-US" altLang="zh-CN" sz="1600" b="0" dirty="0">
                  <a:latin typeface="Noto Sans SC" panose="020B0200000000000000" pitchFamily="34" charset="-122"/>
                  <a:ea typeface="Noto Sans SC" panose="020B0200000000000000" pitchFamily="34" charset="-122"/>
                </a:endParaRPr>
              </a:p>
              <a:p>
                <a:pPr algn="just"/>
                <a:endParaRPr lang="en-US" altLang="zh-CN" sz="1600" i="1"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𝑏</m:t>
                          </m:r>
                        </m:e>
                        <m:sup>
                          <m:r>
                            <a:rPr lang="en-US" altLang="zh-CN" sz="1600" i="1">
                              <a:latin typeface="Cambria Math" panose="02040503050406030204" pitchFamily="18" charset="0"/>
                            </a:rPr>
                            <m:t>′</m:t>
                          </m:r>
                        </m:sup>
                      </m:s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b="1" i="1">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0.909</m:t>
                          </m:r>
                          <m:r>
                            <a:rPr lang="en-US" altLang="zh-CN" sz="1600" i="1">
                              <a:latin typeface="Cambria Math" panose="02040503050406030204" pitchFamily="18" charset="0"/>
                            </a:rPr>
                            <m:t>𝑏</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num>
                        <m:den>
                          <m:r>
                            <a:rPr lang="en-US" altLang="zh-CN" sz="1600" i="1">
                              <a:latin typeface="Cambria Math" panose="02040503050406030204" pitchFamily="18" charset="0"/>
                            </a:rPr>
                            <m:t>0.957</m:t>
                          </m:r>
                          <m:r>
                            <a:rPr lang="en-US" altLang="zh-CN" sz="1600" i="1">
                              <a:latin typeface="Cambria Math" panose="02040503050406030204" pitchFamily="18" charset="0"/>
                            </a:rPr>
                            <m:t>𝑟</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i="1" dirty="0">
                              <a:latin typeface="Cambria Math" panose="02040503050406030204" pitchFamily="18" charset="0"/>
                            </a:rPr>
                            <m:t>1.034</m:t>
                          </m:r>
                          <m:r>
                            <a:rPr lang="en-US" altLang="zh-CN" sz="1600" i="1" dirty="0">
                              <a:latin typeface="Cambria Math" panose="02040503050406030204" pitchFamily="18" charset="0"/>
                            </a:rPr>
                            <m:t>𝑔</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r>
                            <a:rPr lang="en-US" altLang="zh-CN" sz="1600" i="1" dirty="0">
                              <a:latin typeface="Cambria Math" panose="02040503050406030204" pitchFamily="18" charset="0"/>
                            </a:rPr>
                            <m:t>0.909</m:t>
                          </m:r>
                          <m:r>
                            <a:rPr lang="en-US" altLang="zh-CN" sz="1600" i="1">
                              <a:latin typeface="Cambria Math" panose="02040503050406030204" pitchFamily="18" charset="0"/>
                            </a:rPr>
                            <m:t>𝑏</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m:rPr>
                              <m:nor/>
                            </m:rPr>
                            <a:rPr lang="en-US" altLang="zh-CN" sz="1600" i="0" dirty="0">
                              <a:latin typeface="Noto Sans SC" panose="020B0200000000000000" pitchFamily="34" charset="-122"/>
                              <a:ea typeface="Noto Sans SC" panose="020B0200000000000000" pitchFamily="34" charset="-122"/>
                            </a:rPr>
                            <m:t> </m:t>
                          </m:r>
                        </m:den>
                      </m:f>
                    </m:oMath>
                  </m:oMathPara>
                </a14:m>
                <a:endParaRPr lang="en-US" altLang="zh-CN" sz="1600" b="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99CB46C9-23E2-FF9A-6CAF-0D52A3EE075B}"/>
                  </a:ext>
                </a:extLst>
              </p:cNvPr>
              <p:cNvSpPr txBox="1">
                <a:spLocks noRot="1" noChangeAspect="1" noMove="1" noResize="1" noEditPoints="1" noAdjustHandles="1" noChangeArrowheads="1" noChangeShapeType="1" noTextEdit="1"/>
              </p:cNvSpPr>
              <p:nvPr/>
            </p:nvSpPr>
            <p:spPr>
              <a:xfrm>
                <a:off x="346605" y="1854377"/>
                <a:ext cx="6905965" cy="4822859"/>
              </a:xfrm>
              <a:prstGeom prst="rect">
                <a:avLst/>
              </a:prstGeom>
              <a:blipFill>
                <a:blip r:embed="rId2"/>
                <a:stretch>
                  <a:fillRect l="-530" t="-379"/>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0569AF2F-3B0D-666F-3154-65171B02DCC9}"/>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a:t>
            </a:r>
            <a:r>
              <a:rPr lang="zh-CN" altLang="en-US" sz="2000" b="1" dirty="0">
                <a:latin typeface="Noto Sans SC" panose="020B0200000000000000" pitchFamily="34" charset="-122"/>
                <a:ea typeface="Noto Sans SC" panose="020B0200000000000000" pitchFamily="34" charset="-122"/>
              </a:rPr>
              <a:t>的实验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有趣的思想实验</a:t>
            </a:r>
            <a:endParaRPr lang="zh-CN" altLang="en-US" sz="1100" b="1" dirty="0">
              <a:latin typeface="Noto Sans SC" panose="020B0200000000000000" pitchFamily="34" charset="-122"/>
              <a:ea typeface="Noto Sans SC" panose="020B0200000000000000" pitchFamily="34" charset="-122"/>
            </a:endParaRPr>
          </a:p>
        </p:txBody>
      </p:sp>
      <p:pic>
        <p:nvPicPr>
          <p:cNvPr id="8" name="图片 7" descr="色彩管理基礎-簡介CIE 1931圖- 真平布幕">
            <a:extLst>
              <a:ext uri="{FF2B5EF4-FFF2-40B4-BE49-F238E27FC236}">
                <a16:creationId xmlns:a16="http://schemas.microsoft.com/office/drawing/2014/main" id="{856DFE2F-DA03-1E22-FFA5-E451853B96A3}"/>
              </a:ext>
            </a:extLst>
          </p:cNvPr>
          <p:cNvPicPr>
            <a:picLocks noChangeAspect="1"/>
          </p:cNvPicPr>
          <p:nvPr/>
        </p:nvPicPr>
        <p:blipFill>
          <a:blip r:embed="rId3"/>
          <a:stretch>
            <a:fillRect/>
          </a:stretch>
        </p:blipFill>
        <p:spPr>
          <a:xfrm>
            <a:off x="7127310" y="1080000"/>
            <a:ext cx="4013954" cy="3259307"/>
          </a:xfrm>
          <a:prstGeom prst="rect">
            <a:avLst/>
          </a:prstGeom>
        </p:spPr>
      </p:pic>
      <p:pic>
        <p:nvPicPr>
          <p:cNvPr id="3" name="图片 2">
            <a:extLst>
              <a:ext uri="{FF2B5EF4-FFF2-40B4-BE49-F238E27FC236}">
                <a16:creationId xmlns:a16="http://schemas.microsoft.com/office/drawing/2014/main" id="{75AB9959-1256-844D-9A5A-FC6CAD244D46}"/>
              </a:ext>
            </a:extLst>
          </p:cNvPr>
          <p:cNvPicPr>
            <a:picLocks noChangeAspect="1"/>
          </p:cNvPicPr>
          <p:nvPr/>
        </p:nvPicPr>
        <p:blipFill>
          <a:blip r:embed="rId4"/>
          <a:stretch>
            <a:fillRect/>
          </a:stretch>
        </p:blipFill>
        <p:spPr>
          <a:xfrm>
            <a:off x="6832948" y="3864279"/>
            <a:ext cx="4258850" cy="2873178"/>
          </a:xfrm>
          <a:prstGeom prst="rect">
            <a:avLst/>
          </a:prstGeom>
        </p:spPr>
      </p:pic>
      <p:sp>
        <p:nvSpPr>
          <p:cNvPr id="7" name="不完整圆 6">
            <a:extLst>
              <a:ext uri="{FF2B5EF4-FFF2-40B4-BE49-F238E27FC236}">
                <a16:creationId xmlns:a16="http://schemas.microsoft.com/office/drawing/2014/main" id="{ACFF4637-4511-8E9C-7C00-C0852890108B}"/>
              </a:ext>
            </a:extLst>
          </p:cNvPr>
          <p:cNvSpPr/>
          <p:nvPr/>
        </p:nvSpPr>
        <p:spPr>
          <a:xfrm>
            <a:off x="10846902" y="797794"/>
            <a:ext cx="995820" cy="995820"/>
          </a:xfrm>
          <a:prstGeom prst="pi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634293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B14B-ACA8-2438-F486-B988E0F8B30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73AF53E-D0DC-D70B-76FD-54E5058B673A}"/>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6433B08-B146-FAB2-8207-728BC55351F0}"/>
                  </a:ext>
                </a:extLst>
              </p:cNvPr>
              <p:cNvSpPr txBox="1"/>
              <p:nvPr/>
            </p:nvSpPr>
            <p:spPr>
              <a:xfrm>
                <a:off x="346605" y="1860640"/>
                <a:ext cx="7103528" cy="4810291"/>
              </a:xfrm>
              <a:prstGeom prst="rect">
                <a:avLst/>
              </a:prstGeom>
              <a:noFill/>
            </p:spPr>
            <p:txBody>
              <a:bodyPr wrap="square" rtlCol="0">
                <a:spAutoFit/>
              </a:bodyPr>
              <a:lstStyle/>
              <a:p>
                <a:pPr algn="just"/>
                <a:r>
                  <a:rPr lang="zh-CN" altLang="en-US" sz="1700" dirty="0">
                    <a:latin typeface="Noto Sans SC" panose="020B0200000000000000" pitchFamily="34" charset="-122"/>
                    <a:ea typeface="Noto Sans SC" panose="020B0200000000000000" pitchFamily="34" charset="-122"/>
                  </a:rPr>
                  <a:t>         </a:t>
                </a:r>
                <a:r>
                  <a:rPr lang="en-US" altLang="zh-CN" sz="1700" dirty="0">
                    <a:latin typeface="Noto Sans SC" panose="020B0200000000000000" pitchFamily="34" charset="-122"/>
                    <a:ea typeface="Noto Sans SC" panose="020B0200000000000000" pitchFamily="34" charset="-122"/>
                  </a:rPr>
                  <a:t>Wright</a:t>
                </a:r>
                <a:r>
                  <a:rPr lang="zh-CN" altLang="en-US" sz="1700" dirty="0">
                    <a:latin typeface="Noto Sans SC" panose="020B0200000000000000" pitchFamily="34" charset="-122"/>
                    <a:ea typeface="Noto Sans SC" panose="020B0200000000000000" pitchFamily="34" charset="-122"/>
                  </a:rPr>
                  <a:t>最终接受了</a:t>
                </a:r>
                <a:r>
                  <a:rPr lang="en-US" altLang="zh-CN" sz="1700" dirty="0">
                    <a:latin typeface="Noto Sans SC" panose="020B0200000000000000" pitchFamily="34" charset="-122"/>
                    <a:ea typeface="Noto Sans SC" panose="020B0200000000000000" pitchFamily="34" charset="-122"/>
                  </a:rPr>
                  <a:t>Guild</a:t>
                </a:r>
                <a:r>
                  <a:rPr lang="zh-CN" altLang="en-US" sz="1700" dirty="0">
                    <a:latin typeface="Noto Sans SC" panose="020B0200000000000000" pitchFamily="34" charset="-122"/>
                    <a:ea typeface="Noto Sans SC" panose="020B0200000000000000" pitchFamily="34" charset="-122"/>
                  </a:rPr>
                  <a:t>的提议，所以他对自己得到的</a:t>
                </a:r>
                <a14:m>
                  <m:oMath xmlns:m="http://schemas.openxmlformats.org/officeDocument/2006/math">
                    <m:r>
                      <a:rPr lang="en-US" altLang="zh-CN" sz="1700" i="1">
                        <a:latin typeface="Cambria Math" panose="02040503050406030204" pitchFamily="18" charset="0"/>
                      </a:rPr>
                      <m:t>𝑟</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  </m:t>
                    </m:r>
                    <m:r>
                      <a:rPr lang="en-US" altLang="zh-CN" sz="1700" i="1">
                        <a:latin typeface="Cambria Math" panose="02040503050406030204" pitchFamily="18" charset="0"/>
                      </a:rPr>
                      <m:t>𝑔</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  </m:t>
                    </m:r>
                    <m:r>
                      <a:rPr lang="en-US" altLang="zh-CN" sz="1700" i="1">
                        <a:latin typeface="Cambria Math" panose="02040503050406030204" pitchFamily="18" charset="0"/>
                      </a:rPr>
                      <m:t>𝑏</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oMath>
                </a14:m>
                <a:r>
                  <a:rPr lang="zh-CN" altLang="en-US" sz="1700" dirty="0">
                    <a:latin typeface="Noto Sans SC" panose="020B0200000000000000" pitchFamily="34" charset="-122"/>
                    <a:ea typeface="Noto Sans SC" panose="020B0200000000000000" pitchFamily="34" charset="-122"/>
                  </a:rPr>
                  <a:t>进行了一些数学转换。</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具体来说，他又找了</a:t>
                </a:r>
                <a:r>
                  <a:rPr lang="en-US" altLang="zh-CN" sz="1700" dirty="0">
                    <a:latin typeface="Noto Sans SC" panose="020B0200000000000000" pitchFamily="34" charset="-122"/>
                    <a:ea typeface="Noto Sans SC" panose="020B0200000000000000" pitchFamily="34" charset="-122"/>
                  </a:rPr>
                  <a:t>36</a:t>
                </a:r>
                <a:r>
                  <a:rPr lang="zh-CN" altLang="en-US" sz="1700" dirty="0">
                    <a:latin typeface="Noto Sans SC" panose="020B0200000000000000" pitchFamily="34" charset="-122"/>
                    <a:ea typeface="Noto Sans SC" panose="020B0200000000000000" pitchFamily="34" charset="-122"/>
                  </a:rPr>
                  <a:t>名受试者，先用两个单色光锚点进行归一化校准，让受试者调整光阑开闭角度，匹配</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标准白光。于是，他就得到了在原来归一化校准条件下，</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标准白光对应的颜色比例，</a:t>
                </a:r>
                <a:r>
                  <a:rPr lang="en-US" altLang="zh-CN" sz="1700" dirty="0">
                    <a:latin typeface="Noto Sans SC" panose="020B0200000000000000" pitchFamily="34" charset="-122"/>
                    <a:ea typeface="Noto Sans SC" panose="020B0200000000000000" pitchFamily="34" charset="-122"/>
                  </a:rPr>
                  <a:t>36</a:t>
                </a:r>
                <a:r>
                  <a:rPr lang="zh-CN" altLang="en-US" sz="1700" dirty="0">
                    <a:latin typeface="Noto Sans SC" panose="020B0200000000000000" pitchFamily="34" charset="-122"/>
                    <a:ea typeface="Noto Sans SC" panose="020B0200000000000000" pitchFamily="34" charset="-122"/>
                  </a:rPr>
                  <a:t>个人平均的比例为：</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0" i="1" smtClean="0">
                          <a:latin typeface="Cambria Math" panose="02040503050406030204" pitchFamily="18" charset="0"/>
                        </a:rPr>
                        <m:t>0.250</m:t>
                      </m:r>
                      <m:r>
                        <a:rPr lang="zh-CN" altLang="en-US" sz="1700" i="1">
                          <a:latin typeface="Cambria Math" panose="02040503050406030204" pitchFamily="18" charset="0"/>
                        </a:rPr>
                        <m:t>红光</m:t>
                      </m:r>
                      <m:r>
                        <a:rPr lang="en-US" altLang="zh-CN" sz="1700" b="0" i="1" smtClean="0">
                          <a:latin typeface="Cambria Math" panose="02040503050406030204" pitchFamily="18" charset="0"/>
                        </a:rPr>
                        <m:t>,  0.400</m:t>
                      </m:r>
                      <m:r>
                        <a:rPr lang="zh-CN" altLang="en-US" sz="1700" i="1">
                          <a:latin typeface="Cambria Math" panose="02040503050406030204" pitchFamily="18" charset="0"/>
                        </a:rPr>
                        <m:t>绿光</m:t>
                      </m:r>
                      <m:r>
                        <a:rPr lang="en-US" altLang="zh-CN" sz="1700" b="0" i="1" smtClean="0">
                          <a:latin typeface="Cambria Math" panose="02040503050406030204" pitchFamily="18" charset="0"/>
                        </a:rPr>
                        <m:t>,  0.350</m:t>
                      </m:r>
                      <m:r>
                        <a:rPr lang="zh-CN" altLang="en-US" sz="1700" i="1">
                          <a:latin typeface="Cambria Math" panose="02040503050406030204" pitchFamily="18" charset="0"/>
                        </a:rPr>
                        <m:t>蓝光</m:t>
                      </m:r>
                    </m:oMath>
                  </m:oMathPara>
                </a14:m>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然后，</a:t>
                </a:r>
                <a:r>
                  <a:rPr lang="en-US" altLang="zh-CN" sz="1700" dirty="0">
                    <a:latin typeface="Noto Sans SC" panose="020B0200000000000000" pitchFamily="34" charset="-122"/>
                    <a:ea typeface="Noto Sans SC" panose="020B0200000000000000" pitchFamily="34" charset="-122"/>
                  </a:rPr>
                  <a:t>Wright</a:t>
                </a:r>
                <a:r>
                  <a:rPr lang="zh-CN" altLang="en-US" sz="1700" dirty="0">
                    <a:latin typeface="Noto Sans SC" panose="020B0200000000000000" pitchFamily="34" charset="-122"/>
                    <a:ea typeface="Noto Sans SC" panose="020B0200000000000000" pitchFamily="34" charset="-122"/>
                  </a:rPr>
                  <a:t>剔除了黄斑色素明显异常的点，得到了标准平均比例为：</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i="1">
                          <a:latin typeface="Cambria Math" panose="02040503050406030204" pitchFamily="18" charset="0"/>
                        </a:rPr>
                        <m:t>0.2</m:t>
                      </m:r>
                      <m:r>
                        <a:rPr lang="en-US" altLang="zh-CN" sz="1700" b="0" i="1" smtClean="0">
                          <a:latin typeface="Cambria Math" panose="02040503050406030204" pitchFamily="18" charset="0"/>
                        </a:rPr>
                        <m:t>43</m:t>
                      </m:r>
                      <m:r>
                        <a:rPr lang="zh-CN" altLang="en-US" sz="1700" i="1">
                          <a:latin typeface="Cambria Math" panose="02040503050406030204" pitchFamily="18" charset="0"/>
                        </a:rPr>
                        <m:t>红光</m:t>
                      </m:r>
                      <m:r>
                        <a:rPr lang="en-US" altLang="zh-CN" sz="1700" i="1">
                          <a:latin typeface="Cambria Math" panose="02040503050406030204" pitchFamily="18" charset="0"/>
                        </a:rPr>
                        <m:t>,  0.4</m:t>
                      </m:r>
                      <m:r>
                        <a:rPr lang="en-US" altLang="zh-CN" sz="1700" b="0" i="1" smtClean="0">
                          <a:latin typeface="Cambria Math" panose="02040503050406030204" pitchFamily="18" charset="0"/>
                        </a:rPr>
                        <m:t>1</m:t>
                      </m:r>
                      <m:r>
                        <a:rPr lang="en-US" altLang="zh-CN" sz="1700" i="1">
                          <a:latin typeface="Cambria Math" panose="02040503050406030204" pitchFamily="18" charset="0"/>
                        </a:rPr>
                        <m:t>0</m:t>
                      </m:r>
                      <m:r>
                        <a:rPr lang="zh-CN" altLang="en-US" sz="1700" i="1">
                          <a:latin typeface="Cambria Math" panose="02040503050406030204" pitchFamily="18" charset="0"/>
                        </a:rPr>
                        <m:t>绿光</m:t>
                      </m:r>
                      <m:r>
                        <a:rPr lang="en-US" altLang="zh-CN" sz="1700" i="1">
                          <a:latin typeface="Cambria Math" panose="02040503050406030204" pitchFamily="18" charset="0"/>
                        </a:rPr>
                        <m:t>,  0.3</m:t>
                      </m:r>
                      <m:r>
                        <a:rPr lang="en-US" altLang="zh-CN" sz="1700" b="0" i="1" smtClean="0">
                          <a:latin typeface="Cambria Math" panose="02040503050406030204" pitchFamily="18" charset="0"/>
                        </a:rPr>
                        <m:t>47</m:t>
                      </m:r>
                      <m:r>
                        <a:rPr lang="zh-CN" altLang="en-US" sz="1700" i="1">
                          <a:latin typeface="Cambria Math" panose="02040503050406030204" pitchFamily="18" charset="0"/>
                        </a:rPr>
                        <m:t>蓝光</m:t>
                      </m:r>
                    </m:oMath>
                  </m:oMathPara>
                </a14:m>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这意味着：</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1" i="1" smtClean="0">
                          <a:latin typeface="Cambria Math" panose="02040503050406030204" pitchFamily="18" charset="0"/>
                        </a:rPr>
                        <m:t>𝑾</m:t>
                      </m:r>
                      <m:r>
                        <a:rPr lang="en-US" altLang="zh-CN" sz="1700" i="1" dirty="0">
                          <a:latin typeface="Cambria Math" panose="02040503050406030204" pitchFamily="18" charset="0"/>
                          <a:ea typeface="Cambria Math" panose="02040503050406030204" pitchFamily="18" charset="0"/>
                        </a:rPr>
                        <m:t>≡</m:t>
                      </m:r>
                      <m:r>
                        <a:rPr lang="en-US" altLang="zh-CN" sz="1700" b="1" i="1" smtClean="0">
                          <a:latin typeface="Cambria Math" panose="02040503050406030204" pitchFamily="18" charset="0"/>
                        </a:rPr>
                        <m:t>0.24</m:t>
                      </m:r>
                      <m:r>
                        <a:rPr lang="en-US" altLang="zh-CN" sz="1700" i="1">
                          <a:latin typeface="Cambria Math" panose="02040503050406030204" pitchFamily="18" charset="0"/>
                        </a:rPr>
                        <m:t>3</m:t>
                      </m:r>
                      <m:r>
                        <a:rPr lang="en-US" altLang="zh-CN" sz="1700" b="1" i="1" smtClean="0">
                          <a:latin typeface="Cambria Math" panose="02040503050406030204" pitchFamily="18" charset="0"/>
                        </a:rPr>
                        <m:t>𝑹</m:t>
                      </m:r>
                      <m:r>
                        <a:rPr lang="en-US" altLang="zh-CN" sz="1700" b="1" i="1" smtClean="0">
                          <a:latin typeface="Cambria Math" panose="02040503050406030204" pitchFamily="18" charset="0"/>
                        </a:rPr>
                        <m:t>+0.410</m:t>
                      </m:r>
                      <m:r>
                        <a:rPr lang="en-US" altLang="zh-CN" sz="1700" b="1" i="1" smtClean="0">
                          <a:latin typeface="Cambria Math" panose="02040503050406030204" pitchFamily="18" charset="0"/>
                        </a:rPr>
                        <m:t>𝑮</m:t>
                      </m:r>
                      <m:r>
                        <a:rPr lang="en-US" altLang="zh-CN" sz="1700" b="0" i="1" smtClean="0">
                          <a:latin typeface="Cambria Math" panose="02040503050406030204" pitchFamily="18" charset="0"/>
                        </a:rPr>
                        <m:t>+</m:t>
                      </m:r>
                      <m:r>
                        <a:rPr lang="en-US" altLang="zh-CN" sz="1700" i="1">
                          <a:latin typeface="Cambria Math" panose="02040503050406030204" pitchFamily="18" charset="0"/>
                        </a:rPr>
                        <m:t>0.347</m:t>
                      </m:r>
                      <m:r>
                        <a:rPr lang="en-US" altLang="zh-CN" sz="1700" b="1" i="1" smtClean="0">
                          <a:latin typeface="Cambria Math" panose="02040503050406030204" pitchFamily="18" charset="0"/>
                        </a:rPr>
                        <m:t>𝑩</m:t>
                      </m:r>
                    </m:oMath>
                  </m:oMathPara>
                </a14:m>
                <a:endParaRPr lang="en-US" altLang="zh-CN" sz="1700" b="1" dirty="0">
                  <a:latin typeface="Noto Sans SC" panose="020B0200000000000000" pitchFamily="34" charset="-122"/>
                  <a:ea typeface="Noto Sans SC" panose="020B0200000000000000" pitchFamily="34" charset="-122"/>
                </a:endParaRPr>
              </a:p>
              <a:p>
                <a:pPr algn="just"/>
                <a:r>
                  <a:rPr lang="en-US" altLang="zh-CN" sz="1700" b="1"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其中</a:t>
                </a:r>
                <a14:m>
                  <m:oMath xmlns:m="http://schemas.openxmlformats.org/officeDocument/2006/math">
                    <m:r>
                      <a:rPr lang="en-US" altLang="zh-CN" sz="1700" b="1" i="1">
                        <a:latin typeface="Cambria Math" panose="02040503050406030204" pitchFamily="18" charset="0"/>
                      </a:rPr>
                      <m:t>𝑾</m:t>
                    </m:r>
                  </m:oMath>
                </a14:m>
                <a:r>
                  <a:rPr lang="zh-CN" altLang="en-US" sz="1700" dirty="0">
                    <a:latin typeface="Noto Sans SC" panose="020B0200000000000000" pitchFamily="34" charset="-122"/>
                    <a:ea typeface="Noto Sans SC" panose="020B0200000000000000" pitchFamily="34" charset="-122"/>
                  </a:rPr>
                  <a:t>为</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标准白光，</a:t>
                </a:r>
                <a14:m>
                  <m:oMath xmlns:m="http://schemas.openxmlformats.org/officeDocument/2006/math">
                    <m:r>
                      <a:rPr lang="en-US" altLang="zh-CN" sz="1700" b="1" i="1">
                        <a:latin typeface="Cambria Math" panose="02040503050406030204" pitchFamily="18" charset="0"/>
                      </a:rPr>
                      <m:t>𝑹</m:t>
                    </m:r>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700" b="1" i="1" smtClean="0">
                        <a:latin typeface="Cambria Math" panose="02040503050406030204" pitchFamily="18" charset="0"/>
                      </a:rPr>
                      <m:t>𝑮</m:t>
                    </m:r>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700" b="1" i="1" smtClean="0">
                        <a:latin typeface="Cambria Math" panose="02040503050406030204" pitchFamily="18" charset="0"/>
                      </a:rPr>
                      <m:t>𝑩</m:t>
                    </m:r>
                  </m:oMath>
                </a14:m>
                <a:r>
                  <a:rPr lang="zh-CN" altLang="en-US" sz="1700" dirty="0">
                    <a:latin typeface="Noto Sans SC" panose="020B0200000000000000" pitchFamily="34" charset="-122"/>
                    <a:ea typeface="Noto Sans SC" panose="020B0200000000000000" pitchFamily="34" charset="-122"/>
                  </a:rPr>
                  <a:t>为一单位三原色光。</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如果用</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标准白光作为归一化校准标准，那一单位的三原色光的总和应当匹配</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标准白光，即：</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1" i="1">
                          <a:latin typeface="Cambria Math" panose="02040503050406030204" pitchFamily="18" charset="0"/>
                        </a:rPr>
                        <m:t>𝑾</m:t>
                      </m:r>
                      <m:r>
                        <a:rPr lang="en-US" altLang="zh-CN" sz="1700" i="1" dirty="0">
                          <a:latin typeface="Cambria Math" panose="02040503050406030204" pitchFamily="18" charset="0"/>
                          <a:ea typeface="Cambria Math" panose="02040503050406030204" pitchFamily="18" charset="0"/>
                        </a:rPr>
                        <m:t>≡</m:t>
                      </m:r>
                      <m:r>
                        <a:rPr lang="en-US" altLang="zh-CN" sz="1700" b="1" i="1">
                          <a:latin typeface="Cambria Math" panose="02040503050406030204" pitchFamily="18" charset="0"/>
                        </a:rPr>
                        <m:t>0.333</m:t>
                      </m:r>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𝑹</m:t>
                          </m:r>
                        </m:e>
                        <m:sup>
                          <m:r>
                            <a:rPr lang="en-US" altLang="zh-CN" sz="1700" b="1" i="1" smtClean="0">
                              <a:latin typeface="Cambria Math" panose="02040503050406030204" pitchFamily="18" charset="0"/>
                            </a:rPr>
                            <m:t>′</m:t>
                          </m:r>
                        </m:sup>
                      </m:sSup>
                      <m:r>
                        <a:rPr lang="en-US" altLang="zh-CN" sz="1700" b="1" i="1">
                          <a:latin typeface="Cambria Math" panose="02040503050406030204" pitchFamily="18" charset="0"/>
                        </a:rPr>
                        <m:t>+0.</m:t>
                      </m:r>
                      <m:r>
                        <a:rPr lang="en-US" altLang="zh-CN" sz="1700" b="0" i="1" smtClean="0">
                          <a:latin typeface="Cambria Math" panose="02040503050406030204" pitchFamily="18" charset="0"/>
                        </a:rPr>
                        <m:t>333</m:t>
                      </m:r>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𝑮</m:t>
                          </m:r>
                        </m:e>
                        <m:sup>
                          <m:r>
                            <a:rPr lang="en-US" altLang="zh-CN" sz="1700" b="0" i="1" smtClean="0">
                              <a:latin typeface="Cambria Math" panose="02040503050406030204" pitchFamily="18" charset="0"/>
                            </a:rPr>
                            <m:t>′</m:t>
                          </m:r>
                        </m:sup>
                      </m:sSup>
                      <m:r>
                        <a:rPr lang="en-US" altLang="zh-CN" sz="1700" i="1">
                          <a:latin typeface="Cambria Math" panose="02040503050406030204" pitchFamily="18" charset="0"/>
                        </a:rPr>
                        <m:t>+0.3</m:t>
                      </m:r>
                      <m:r>
                        <a:rPr lang="en-US" altLang="zh-CN" sz="1700" b="0" i="1" smtClean="0">
                          <a:latin typeface="Cambria Math" panose="02040503050406030204" pitchFamily="18" charset="0"/>
                        </a:rPr>
                        <m:t>33</m:t>
                      </m:r>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𝑩</m:t>
                          </m:r>
                        </m:e>
                        <m:sup>
                          <m:r>
                            <a:rPr lang="en-US" altLang="zh-CN" sz="1700" b="1" i="1" smtClean="0">
                              <a:latin typeface="Cambria Math" panose="02040503050406030204" pitchFamily="18" charset="0"/>
                            </a:rPr>
                            <m:t>′</m:t>
                          </m:r>
                        </m:sup>
                      </m:sSup>
                    </m:oMath>
                  </m:oMathPara>
                </a14:m>
                <a:endParaRPr lang="en-US" altLang="zh-CN" sz="1700" b="1" dirty="0">
                  <a:latin typeface="Noto Sans SC" panose="020B0200000000000000" pitchFamily="34" charset="-122"/>
                  <a:ea typeface="Noto Sans SC" panose="020B0200000000000000" pitchFamily="34" charset="-122"/>
                </a:endParaRPr>
              </a:p>
              <a:p>
                <a:pPr algn="just"/>
                <a:r>
                  <a:rPr lang="en-US" altLang="zh-CN" sz="1700" b="1"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其中</a:t>
                </a:r>
                <a14:m>
                  <m:oMath xmlns:m="http://schemas.openxmlformats.org/officeDocument/2006/math">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𝑹</m:t>
                        </m:r>
                      </m:e>
                      <m:sup>
                        <m:r>
                          <a:rPr lang="en-US" altLang="zh-CN" sz="1700" b="1" i="1" smtClean="0">
                            <a:latin typeface="Cambria Math" panose="02040503050406030204" pitchFamily="18" charset="0"/>
                          </a:rPr>
                          <m:t>′</m:t>
                        </m:r>
                      </m:sup>
                    </m:sSup>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𝑮</m:t>
                        </m:r>
                      </m:e>
                      <m:sup>
                        <m:r>
                          <a:rPr lang="en-US" altLang="zh-CN" sz="1700" b="1" i="1" smtClean="0">
                            <a:latin typeface="Cambria Math" panose="02040503050406030204" pitchFamily="18" charset="0"/>
                          </a:rPr>
                          <m:t>′</m:t>
                        </m:r>
                      </m:sup>
                    </m:sSup>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𝑩</m:t>
                        </m:r>
                      </m:e>
                      <m:sup>
                        <m:r>
                          <a:rPr lang="en-US" altLang="zh-CN" sz="1700" b="1" i="1" smtClean="0">
                            <a:latin typeface="Cambria Math" panose="02040503050406030204" pitchFamily="18" charset="0"/>
                          </a:rPr>
                          <m:t>′</m:t>
                        </m:r>
                      </m:sup>
                    </m:sSup>
                  </m:oMath>
                </a14:m>
                <a:r>
                  <a:rPr lang="zh-CN" altLang="en-US" sz="1700" dirty="0">
                    <a:latin typeface="Noto Sans SC" panose="020B0200000000000000" pitchFamily="34" charset="-122"/>
                    <a:ea typeface="Noto Sans SC" panose="020B0200000000000000" pitchFamily="34" charset="-122"/>
                  </a:rPr>
                  <a:t>为一单位新归一化标准下的三原色光，于是：</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1" i="1" smtClean="0">
                          <a:latin typeface="Cambria Math" panose="02040503050406030204" pitchFamily="18" charset="0"/>
                        </a:rPr>
                        <m:t>0.333</m:t>
                      </m:r>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𝑹</m:t>
                          </m:r>
                        </m:e>
                        <m:sup>
                          <m:r>
                            <a:rPr lang="en-US" altLang="zh-CN" sz="1700" b="1" i="1">
                              <a:latin typeface="Cambria Math" panose="02040503050406030204" pitchFamily="18" charset="0"/>
                            </a:rPr>
                            <m:t>′</m:t>
                          </m:r>
                        </m:sup>
                      </m:sSup>
                      <m:r>
                        <a:rPr lang="en-US" altLang="zh-CN" sz="1700" b="1" i="1" smtClean="0">
                          <a:latin typeface="Cambria Math" panose="02040503050406030204" pitchFamily="18" charset="0"/>
                        </a:rPr>
                        <m:t>=</m:t>
                      </m:r>
                      <m:r>
                        <a:rPr lang="en-US" altLang="zh-CN" sz="1700" b="0" i="1" smtClean="0">
                          <a:latin typeface="Cambria Math" panose="02040503050406030204" pitchFamily="18" charset="0"/>
                        </a:rPr>
                        <m:t>0.243</m:t>
                      </m:r>
                      <m:r>
                        <a:rPr lang="en-US" altLang="zh-CN" sz="1700" b="1" i="1">
                          <a:latin typeface="Cambria Math" panose="02040503050406030204" pitchFamily="18" charset="0"/>
                        </a:rPr>
                        <m:t>𝑹</m:t>
                      </m:r>
                      <m:r>
                        <a:rPr lang="en-US" altLang="zh-CN" sz="1700" b="1" i="1" smtClean="0">
                          <a:latin typeface="Cambria Math" panose="02040503050406030204" pitchFamily="18" charset="0"/>
                        </a:rPr>
                        <m:t>,  </m:t>
                      </m:r>
                      <m:r>
                        <a:rPr lang="en-US" altLang="zh-CN" sz="1700" b="1" i="1">
                          <a:latin typeface="Cambria Math" panose="02040503050406030204" pitchFamily="18" charset="0"/>
                        </a:rPr>
                        <m:t>0.</m:t>
                      </m:r>
                      <m:r>
                        <a:rPr lang="en-US" altLang="zh-CN" sz="1700" i="1">
                          <a:latin typeface="Cambria Math" panose="02040503050406030204" pitchFamily="18" charset="0"/>
                        </a:rPr>
                        <m:t>333</m:t>
                      </m:r>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𝑮</m:t>
                          </m:r>
                        </m:e>
                        <m:sup>
                          <m:r>
                            <a:rPr lang="en-US" altLang="zh-CN" sz="1700" i="1">
                              <a:latin typeface="Cambria Math" panose="02040503050406030204" pitchFamily="18" charset="0"/>
                            </a:rPr>
                            <m:t>′</m:t>
                          </m:r>
                        </m:sup>
                      </m:sSup>
                      <m:r>
                        <a:rPr lang="en-US" altLang="zh-CN" sz="1700" b="1" i="1" smtClean="0">
                          <a:latin typeface="Cambria Math" panose="02040503050406030204" pitchFamily="18" charset="0"/>
                        </a:rPr>
                        <m:t>=</m:t>
                      </m:r>
                      <m:r>
                        <a:rPr lang="en-US" altLang="zh-CN" sz="1700" i="1">
                          <a:latin typeface="Cambria Math" panose="02040503050406030204" pitchFamily="18" charset="0"/>
                        </a:rPr>
                        <m:t>0.410</m:t>
                      </m:r>
                      <m:r>
                        <a:rPr lang="en-US" altLang="zh-CN" sz="1700" b="1" i="1">
                          <a:latin typeface="Cambria Math" panose="02040503050406030204" pitchFamily="18" charset="0"/>
                        </a:rPr>
                        <m:t>𝑮</m:t>
                      </m:r>
                      <m:r>
                        <a:rPr lang="en-US" altLang="zh-CN" sz="1700" b="1" i="1" smtClean="0">
                          <a:latin typeface="Cambria Math" panose="02040503050406030204" pitchFamily="18" charset="0"/>
                        </a:rPr>
                        <m:t>,  </m:t>
                      </m:r>
                      <m:r>
                        <a:rPr lang="en-US" altLang="zh-CN" sz="1700" i="1">
                          <a:latin typeface="Cambria Math" panose="02040503050406030204" pitchFamily="18" charset="0"/>
                        </a:rPr>
                        <m:t>0.333</m:t>
                      </m:r>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𝑩</m:t>
                          </m:r>
                        </m:e>
                        <m:sup>
                          <m:r>
                            <a:rPr lang="en-US" altLang="zh-CN" sz="1700" b="1" i="1">
                              <a:latin typeface="Cambria Math" panose="02040503050406030204" pitchFamily="18" charset="0"/>
                            </a:rPr>
                            <m:t>′</m:t>
                          </m:r>
                        </m:sup>
                      </m:sSup>
                      <m:r>
                        <a:rPr lang="en-US" altLang="zh-CN" sz="1700" b="1" i="1" smtClean="0">
                          <a:latin typeface="Cambria Math" panose="02040503050406030204" pitchFamily="18" charset="0"/>
                        </a:rPr>
                        <m:t>=</m:t>
                      </m:r>
                      <m:r>
                        <a:rPr lang="en-US" altLang="zh-CN" sz="1700" i="1">
                          <a:latin typeface="Cambria Math" panose="02040503050406030204" pitchFamily="18" charset="0"/>
                        </a:rPr>
                        <m:t>0.347</m:t>
                      </m:r>
                      <m:r>
                        <a:rPr lang="en-US" altLang="zh-CN" sz="1700" b="1" i="1">
                          <a:latin typeface="Cambria Math" panose="02040503050406030204" pitchFamily="18" charset="0"/>
                        </a:rPr>
                        <m:t>𝑩</m:t>
                      </m:r>
                    </m:oMath>
                  </m:oMathPara>
                </a14:m>
                <a:endParaRPr lang="en-US" altLang="zh-CN" sz="1700" b="1"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06433B08-B146-FAB2-8207-728BC55351F0}"/>
                  </a:ext>
                </a:extLst>
              </p:cNvPr>
              <p:cNvSpPr txBox="1">
                <a:spLocks noRot="1" noChangeAspect="1" noMove="1" noResize="1" noEditPoints="1" noAdjustHandles="1" noChangeArrowheads="1" noChangeShapeType="1" noTextEdit="1"/>
              </p:cNvSpPr>
              <p:nvPr/>
            </p:nvSpPr>
            <p:spPr>
              <a:xfrm>
                <a:off x="346605" y="1860640"/>
                <a:ext cx="7103528" cy="4810291"/>
              </a:xfrm>
              <a:prstGeom prst="rect">
                <a:avLst/>
              </a:prstGeom>
              <a:blipFill>
                <a:blip r:embed="rId2"/>
                <a:stretch>
                  <a:fillRect l="-601" t="-380" r="-429" b="-76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263B325D-D384-7995-C3C1-FF4EE2BE4207}"/>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a:t>
            </a:r>
            <a:r>
              <a:rPr lang="zh-CN" altLang="en-US" sz="2000" b="1" dirty="0">
                <a:latin typeface="Noto Sans SC" panose="020B0200000000000000" pitchFamily="34" charset="-122"/>
                <a:ea typeface="Noto Sans SC" panose="020B0200000000000000" pitchFamily="34" charset="-122"/>
              </a:rPr>
              <a:t>的实验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数据的转换</a:t>
            </a:r>
            <a:endParaRPr lang="zh-CN" altLang="en-US" sz="1100" b="1" dirty="0">
              <a:latin typeface="Noto Sans SC" panose="020B0200000000000000" pitchFamily="34" charset="-122"/>
              <a:ea typeface="Noto Sans SC" panose="020B0200000000000000" pitchFamily="34" charset="-122"/>
            </a:endParaRPr>
          </a:p>
        </p:txBody>
      </p:sp>
      <p:pic>
        <p:nvPicPr>
          <p:cNvPr id="4" name="图片 3">
            <a:extLst>
              <a:ext uri="{FF2B5EF4-FFF2-40B4-BE49-F238E27FC236}">
                <a16:creationId xmlns:a16="http://schemas.microsoft.com/office/drawing/2014/main" id="{4F026E34-DB89-0173-A2B3-076457299AD9}"/>
              </a:ext>
            </a:extLst>
          </p:cNvPr>
          <p:cNvPicPr>
            <a:picLocks noChangeAspect="1"/>
          </p:cNvPicPr>
          <p:nvPr/>
        </p:nvPicPr>
        <p:blipFill>
          <a:blip r:embed="rId3"/>
          <a:stretch>
            <a:fillRect/>
          </a:stretch>
        </p:blipFill>
        <p:spPr>
          <a:xfrm>
            <a:off x="7706360" y="1008408"/>
            <a:ext cx="3980424" cy="2762468"/>
          </a:xfrm>
          <a:prstGeom prst="rect">
            <a:avLst/>
          </a:prstGeom>
        </p:spPr>
      </p:pic>
      <p:pic>
        <p:nvPicPr>
          <p:cNvPr id="7" name="图片 6">
            <a:extLst>
              <a:ext uri="{FF2B5EF4-FFF2-40B4-BE49-F238E27FC236}">
                <a16:creationId xmlns:a16="http://schemas.microsoft.com/office/drawing/2014/main" id="{EC620C33-908F-EFBB-C34D-7AE1BAB8BB0F}"/>
              </a:ext>
            </a:extLst>
          </p:cNvPr>
          <p:cNvPicPr>
            <a:picLocks noChangeAspect="1"/>
          </p:cNvPicPr>
          <p:nvPr/>
        </p:nvPicPr>
        <p:blipFill>
          <a:blip r:embed="rId4"/>
          <a:stretch>
            <a:fillRect/>
          </a:stretch>
        </p:blipFill>
        <p:spPr>
          <a:xfrm>
            <a:off x="7706360" y="3429000"/>
            <a:ext cx="4082137" cy="3298874"/>
          </a:xfrm>
          <a:prstGeom prst="rect">
            <a:avLst/>
          </a:prstGeom>
        </p:spPr>
      </p:pic>
    </p:spTree>
    <p:extLst>
      <p:ext uri="{BB962C8B-B14F-4D97-AF65-F5344CB8AC3E}">
        <p14:creationId xmlns:p14="http://schemas.microsoft.com/office/powerpoint/2010/main" val="3401985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6AEA3-1DBA-E9C6-9FFB-26BE9D370EB2}"/>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4B85905A-921E-32DD-AD64-B75DA79EFED1}"/>
              </a:ext>
            </a:extLst>
          </p:cNvPr>
          <p:cNvPicPr>
            <a:picLocks noChangeAspect="1"/>
          </p:cNvPicPr>
          <p:nvPr/>
        </p:nvPicPr>
        <p:blipFill>
          <a:blip r:embed="rId2"/>
          <a:stretch>
            <a:fillRect/>
          </a:stretch>
        </p:blipFill>
        <p:spPr>
          <a:xfrm>
            <a:off x="8534023" y="0"/>
            <a:ext cx="3657977" cy="2956100"/>
          </a:xfrm>
          <a:prstGeom prst="rect">
            <a:avLst/>
          </a:prstGeom>
        </p:spPr>
      </p:pic>
      <p:sp>
        <p:nvSpPr>
          <p:cNvPr id="5" name="标题 4">
            <a:extLst>
              <a:ext uri="{FF2B5EF4-FFF2-40B4-BE49-F238E27FC236}">
                <a16:creationId xmlns:a16="http://schemas.microsoft.com/office/drawing/2014/main" id="{1012123A-786E-DDD7-DA6E-4B76E3DB6E29}"/>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45B2380-F39F-E4F6-C024-2E9B20617C08}"/>
                  </a:ext>
                </a:extLst>
              </p:cNvPr>
              <p:cNvSpPr txBox="1"/>
              <p:nvPr/>
            </p:nvSpPr>
            <p:spPr>
              <a:xfrm>
                <a:off x="346605" y="1860640"/>
                <a:ext cx="7103528" cy="5016758"/>
              </a:xfrm>
              <a:prstGeom prst="rect">
                <a:avLst/>
              </a:prstGeom>
              <a:noFill/>
            </p:spPr>
            <p:txBody>
              <a:bodyPr wrap="square" rtlCol="0">
                <a:spAutoFit/>
              </a:bodyPr>
              <a:lstStyle/>
              <a:p>
                <a:pPr algn="just"/>
                <a:r>
                  <a:rPr lang="en-US" altLang="zh-CN" sz="1600" b="1" dirty="0">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1929</a:t>
                </a:r>
                <a:r>
                  <a:rPr lang="zh-CN" altLang="en-US" sz="1600" dirty="0">
                    <a:latin typeface="Noto Sans SC" panose="020B0200000000000000" pitchFamily="34" charset="-122"/>
                    <a:ea typeface="Noto Sans SC" panose="020B0200000000000000" pitchFamily="34" charset="-122"/>
                  </a:rPr>
                  <a:t>年，</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得到了使用</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标准白光进行归一化校准的数据。</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但是，当时的</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实验中所选用的三原色</a:t>
                </a:r>
                <a:r>
                  <a:rPr lang="en-US" altLang="zh-CN" sz="1600" dirty="0">
                    <a:latin typeface="Noto Sans SC" panose="020B0200000000000000" pitchFamily="34" charset="-122"/>
                    <a:ea typeface="Noto Sans SC" panose="020B0200000000000000" pitchFamily="34" charset="-122"/>
                  </a:rPr>
                  <a:t>(650nm</a:t>
                </a:r>
                <a:r>
                  <a:rPr lang="zh-CN" altLang="en-US" sz="1600" dirty="0">
                    <a:latin typeface="Noto Sans SC" panose="020B0200000000000000" pitchFamily="34" charset="-122"/>
                    <a:ea typeface="Noto Sans SC" panose="020B0200000000000000" pitchFamily="34" charset="-122"/>
                  </a:rPr>
                  <a:t>、</a:t>
                </a:r>
                <a:r>
                  <a:rPr lang="en-US" altLang="zh-CN" sz="1600" dirty="0">
                    <a:latin typeface="Noto Sans SC" panose="020B0200000000000000" pitchFamily="34" charset="-122"/>
                    <a:ea typeface="Noto Sans SC" panose="020B0200000000000000" pitchFamily="34" charset="-122"/>
                  </a:rPr>
                  <a:t>530nm</a:t>
                </a:r>
                <a:r>
                  <a:rPr lang="zh-CN" altLang="en-US" sz="1600" dirty="0">
                    <a:latin typeface="Noto Sans SC" panose="020B0200000000000000" pitchFamily="34" charset="-122"/>
                    <a:ea typeface="Noto Sans SC" panose="020B0200000000000000" pitchFamily="34" charset="-122"/>
                  </a:rPr>
                  <a:t>、</a:t>
                </a:r>
                <a:r>
                  <a:rPr lang="en-US" altLang="zh-CN" sz="1600" dirty="0">
                    <a:latin typeface="Noto Sans SC" panose="020B0200000000000000" pitchFamily="34" charset="-122"/>
                    <a:ea typeface="Noto Sans SC" panose="020B0200000000000000" pitchFamily="34" charset="-122"/>
                  </a:rPr>
                  <a:t>460nm) </a:t>
                </a:r>
                <a:r>
                  <a:rPr lang="zh-CN" altLang="en-US" sz="1600" dirty="0">
                    <a:latin typeface="Noto Sans SC" panose="020B0200000000000000" pitchFamily="34" charset="-122"/>
                    <a:ea typeface="Noto Sans SC" panose="020B0200000000000000" pitchFamily="34" charset="-122"/>
                  </a:rPr>
                  <a:t>与</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的标准三原色</a:t>
                </a:r>
                <a:r>
                  <a:rPr lang="en-US" altLang="zh-CN" sz="1600" dirty="0">
                    <a:latin typeface="Noto Sans SC" panose="020B0200000000000000" pitchFamily="34" charset="-122"/>
                    <a:ea typeface="Noto Sans SC" panose="020B0200000000000000" pitchFamily="34" charset="-122"/>
                  </a:rPr>
                  <a:t>(700nm</a:t>
                </a:r>
                <a:r>
                  <a:rPr lang="zh-CN" altLang="en-US" sz="1600" dirty="0">
                    <a:latin typeface="Noto Sans SC" panose="020B0200000000000000" pitchFamily="34" charset="-122"/>
                    <a:ea typeface="Noto Sans SC" panose="020B0200000000000000" pitchFamily="34" charset="-122"/>
                  </a:rPr>
                  <a:t>、</a:t>
                </a:r>
                <a:r>
                  <a:rPr lang="zh-CN" altLang="zh-CN" sz="1600" dirty="0">
                    <a:latin typeface="Noto Sans SC" panose="020B0200000000000000" pitchFamily="34" charset="-122"/>
                    <a:ea typeface="Noto Sans SC" panose="020B0200000000000000" pitchFamily="34" charset="-122"/>
                  </a:rPr>
                  <a:t>546.1</a:t>
                </a:r>
                <a:r>
                  <a:rPr lang="en-US" altLang="zh-CN" sz="1600" dirty="0">
                    <a:latin typeface="Noto Sans SC" panose="020B0200000000000000" pitchFamily="34" charset="-122"/>
                    <a:ea typeface="Noto Sans SC" panose="020B0200000000000000" pitchFamily="34" charset="-122"/>
                  </a:rPr>
                  <a:t>nm</a:t>
                </a:r>
                <a:r>
                  <a:rPr lang="zh-CN" altLang="en-US" sz="1600" dirty="0">
                    <a:latin typeface="Noto Sans SC" panose="020B0200000000000000" pitchFamily="34" charset="-122"/>
                    <a:ea typeface="Noto Sans SC" panose="020B0200000000000000" pitchFamily="34" charset="-122"/>
                  </a:rPr>
                  <a:t>、</a:t>
                </a:r>
                <a:r>
                  <a:rPr lang="en-US" altLang="zh-CN" sz="1600" dirty="0">
                    <a:latin typeface="Noto Sans SC" panose="020B0200000000000000" pitchFamily="34" charset="-122"/>
                    <a:ea typeface="Noto Sans SC" panose="020B0200000000000000" pitchFamily="34" charset="-122"/>
                  </a:rPr>
                  <a:t>435.8nm)</a:t>
                </a:r>
                <a:r>
                  <a:rPr lang="zh-CN" altLang="en-US" sz="1600" dirty="0">
                    <a:latin typeface="Noto Sans SC" panose="020B0200000000000000" pitchFamily="34" charset="-122"/>
                    <a:ea typeface="Noto Sans SC" panose="020B0200000000000000" pitchFamily="34" charset="-122"/>
                  </a:rPr>
                  <a:t>并不一样。</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三原色具有很多优势，比如</a:t>
                </a:r>
                <a:r>
                  <a:rPr lang="zh-CN" altLang="zh-CN" sz="1600" dirty="0">
                    <a:latin typeface="Noto Sans SC" panose="020B0200000000000000" pitchFamily="34" charset="-122"/>
                    <a:ea typeface="Noto Sans SC" panose="020B0200000000000000" pitchFamily="34" charset="-122"/>
                  </a:rPr>
                  <a:t>546.1</a:t>
                </a:r>
                <a:r>
                  <a:rPr lang="en-US" altLang="zh-CN" sz="1600" dirty="0">
                    <a:latin typeface="Noto Sans SC" panose="020B0200000000000000" pitchFamily="34" charset="-122"/>
                    <a:ea typeface="Noto Sans SC" panose="020B0200000000000000" pitchFamily="34" charset="-122"/>
                  </a:rPr>
                  <a:t>nm</a:t>
                </a:r>
                <a:r>
                  <a:rPr lang="zh-CN" altLang="en-US" sz="1600" dirty="0">
                    <a:latin typeface="Noto Sans SC" panose="020B0200000000000000" pitchFamily="34" charset="-122"/>
                    <a:ea typeface="Noto Sans SC" panose="020B0200000000000000" pitchFamily="34" charset="-122"/>
                  </a:rPr>
                  <a:t>、</a:t>
                </a:r>
                <a:r>
                  <a:rPr lang="en-US" altLang="zh-CN" sz="1600" dirty="0">
                    <a:latin typeface="Noto Sans SC" panose="020B0200000000000000" pitchFamily="34" charset="-122"/>
                    <a:ea typeface="Noto Sans SC" panose="020B0200000000000000" pitchFamily="34" charset="-122"/>
                  </a:rPr>
                  <a:t>435.8nm</a:t>
                </a:r>
                <a:r>
                  <a:rPr lang="zh-CN" altLang="en-US" sz="1600" dirty="0">
                    <a:latin typeface="Noto Sans SC" panose="020B0200000000000000" pitchFamily="34" charset="-122"/>
                    <a:ea typeface="Noto Sans SC" panose="020B0200000000000000" pitchFamily="34" charset="-122"/>
                  </a:rPr>
                  <a:t>十分容易得到，而且</a:t>
                </a:r>
                <a:r>
                  <a:rPr lang="en-US" altLang="zh-CN" sz="1600" dirty="0">
                    <a:latin typeface="Noto Sans SC" panose="020B0200000000000000" pitchFamily="34" charset="-122"/>
                    <a:ea typeface="Noto Sans SC" panose="020B0200000000000000" pitchFamily="34" charset="-122"/>
                  </a:rPr>
                  <a:t>700nm</a:t>
                </a:r>
                <a:r>
                  <a:rPr lang="zh-CN" altLang="en-US" sz="1600" dirty="0">
                    <a:latin typeface="Noto Sans SC" panose="020B0200000000000000" pitchFamily="34" charset="-122"/>
                    <a:ea typeface="Noto Sans SC" panose="020B0200000000000000" pitchFamily="34" charset="-122"/>
                  </a:rPr>
                  <a:t>的红光对人眼来说十分不敏感，所以世界各地的科学家如果使用的红色的波长有些许偏差，也不会影响结果。</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1930</a:t>
                </a:r>
                <a:r>
                  <a:rPr lang="zh-CN" altLang="en-US" sz="1600" dirty="0">
                    <a:latin typeface="Noto Sans SC" panose="020B0200000000000000" pitchFamily="34" charset="-122"/>
                    <a:ea typeface="Noto Sans SC" panose="020B0200000000000000" pitchFamily="34" charset="-122"/>
                  </a:rPr>
                  <a:t>年，</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决定将自己的实验数据</a:t>
                </a:r>
                <a:r>
                  <a:rPr lang="zh-CN" altLang="en-US" sz="1600" b="1" dirty="0">
                    <a:latin typeface="Noto Sans SC" panose="020B0200000000000000" pitchFamily="34" charset="-122"/>
                    <a:ea typeface="Noto Sans SC" panose="020B0200000000000000" pitchFamily="34" charset="-122"/>
                  </a:rPr>
                  <a:t>转换</a:t>
                </a:r>
                <a:r>
                  <a:rPr lang="zh-CN" altLang="en-US" sz="1600" dirty="0">
                    <a:latin typeface="Noto Sans SC" panose="020B0200000000000000" pitchFamily="34" charset="-122"/>
                    <a:ea typeface="Noto Sans SC" panose="020B0200000000000000" pitchFamily="34" charset="-122"/>
                  </a:rPr>
                  <a:t>到</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标准三原色下。他并没有重新用</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标准三原色再做一次实验，而是通过计算，得到了</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标准三原色下的颜色比例函数。根据已有的数据，可得：</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dirty="0">
                          <a:latin typeface="Cambria Math" panose="02040503050406030204" pitchFamily="18" charset="0"/>
                        </a:rPr>
                        <m:t>𝑹</m:t>
                      </m:r>
                      <m:r>
                        <a:rPr lang="en-US" altLang="zh-CN" sz="1600" i="1" dirty="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𝑟</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700</m:t>
                          </m:r>
                          <m:r>
                            <a:rPr lang="en-US" altLang="zh-CN" sz="1600" b="0" i="1" smtClean="0">
                              <a:latin typeface="Cambria Math" panose="02040503050406030204" pitchFamily="18" charset="0"/>
                            </a:rPr>
                            <m:t>𝑛𝑚</m:t>
                          </m:r>
                        </m:e>
                      </m:d>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𝑹</m:t>
                          </m:r>
                        </m:e>
                        <m:sub>
                          <m:r>
                            <a:rPr lang="en-US" altLang="zh-CN" sz="1600" b="1" i="1" smtClean="0">
                              <a:latin typeface="Cambria Math" panose="02040503050406030204" pitchFamily="18" charset="0"/>
                            </a:rPr>
                            <m:t>𝟏</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𝑔</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700</m:t>
                          </m:r>
                          <m:r>
                            <a:rPr lang="en-US" altLang="zh-CN" sz="1600" b="0" i="1" smtClean="0">
                              <a:latin typeface="Cambria Math" panose="02040503050406030204" pitchFamily="18" charset="0"/>
                            </a:rPr>
                            <m:t>𝑛𝑚</m:t>
                          </m:r>
                        </m:e>
                      </m:d>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𝑮</m:t>
                          </m:r>
                        </m:e>
                        <m:sub>
                          <m:r>
                            <a:rPr lang="en-US" altLang="zh-CN" sz="1600" b="1" i="1" smtClean="0">
                              <a:latin typeface="Cambria Math" panose="02040503050406030204" pitchFamily="18" charset="0"/>
                            </a:rPr>
                            <m:t>𝟏</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𝑏</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700</m:t>
                          </m:r>
                          <m:r>
                            <a:rPr lang="en-US" altLang="zh-CN" sz="1600" b="0" i="1" smtClean="0">
                              <a:latin typeface="Cambria Math" panose="02040503050406030204" pitchFamily="18" charset="0"/>
                            </a:rPr>
                            <m:t>𝑛𝑚</m:t>
                          </m:r>
                        </m:e>
                      </m:d>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𝑩</m:t>
                          </m:r>
                        </m:e>
                        <m:sub>
                          <m:r>
                            <a:rPr lang="en-US" altLang="zh-CN" sz="1600" b="1" i="1" smtClean="0">
                              <a:latin typeface="Cambria Math" panose="02040503050406030204" pitchFamily="18" charset="0"/>
                            </a:rPr>
                            <m:t>𝟏</m:t>
                          </m:r>
                        </m:sub>
                      </m:sSub>
                    </m:oMath>
                  </m:oMathPara>
                </a14:m>
                <a:endParaRPr lang="en-US" altLang="zh-CN" sz="16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dirty="0" smtClean="0">
                          <a:latin typeface="Cambria Math" panose="02040503050406030204" pitchFamily="18" charset="0"/>
                        </a:rPr>
                        <m:t>𝑮</m:t>
                      </m:r>
                      <m:r>
                        <a:rPr lang="en-US" altLang="zh-CN" sz="1600" i="1" dirty="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𝑟</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546.1</m:t>
                          </m:r>
                          <m:r>
                            <a:rPr lang="en-US" altLang="zh-CN" sz="1600" i="1">
                              <a:latin typeface="Cambria Math" panose="02040503050406030204" pitchFamily="18" charset="0"/>
                            </a:rPr>
                            <m:t>𝑛𝑚</m:t>
                          </m:r>
                        </m:e>
                      </m:d>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𝑹</m:t>
                          </m:r>
                        </m:e>
                        <m:sub>
                          <m:r>
                            <a:rPr lang="en-US" altLang="zh-CN" sz="1600" b="1" i="1">
                              <a:latin typeface="Cambria Math" panose="02040503050406030204" pitchFamily="18" charset="0"/>
                            </a:rPr>
                            <m:t>𝟏</m:t>
                          </m:r>
                        </m:sub>
                      </m:sSub>
                      <m:r>
                        <a:rPr lang="en-US" altLang="zh-CN" sz="1600" i="1">
                          <a:latin typeface="Cambria Math" panose="02040503050406030204" pitchFamily="18" charset="0"/>
                        </a:rPr>
                        <m:t>+</m:t>
                      </m:r>
                      <m:r>
                        <a:rPr lang="en-US" altLang="zh-CN" sz="1600" i="1">
                          <a:latin typeface="Cambria Math" panose="02040503050406030204" pitchFamily="18" charset="0"/>
                        </a:rPr>
                        <m:t>𝑔</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546.1</m:t>
                          </m:r>
                          <m:r>
                            <a:rPr lang="en-US" altLang="zh-CN" sz="1600" i="1">
                              <a:latin typeface="Cambria Math" panose="02040503050406030204" pitchFamily="18" charset="0"/>
                            </a:rPr>
                            <m:t>𝑛𝑚</m:t>
                          </m:r>
                        </m:e>
                      </m:d>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𝑮</m:t>
                          </m:r>
                        </m:e>
                        <m:sub>
                          <m:r>
                            <a:rPr lang="en-US" altLang="zh-CN" sz="1600" b="1" i="1">
                              <a:latin typeface="Cambria Math" panose="02040503050406030204" pitchFamily="18" charset="0"/>
                            </a:rPr>
                            <m:t>𝟏</m:t>
                          </m:r>
                        </m:sub>
                      </m:sSub>
                      <m:r>
                        <a:rPr lang="en-US" altLang="zh-CN" sz="1600" i="1">
                          <a:latin typeface="Cambria Math" panose="02040503050406030204" pitchFamily="18" charset="0"/>
                        </a:rPr>
                        <m:t>+</m:t>
                      </m:r>
                      <m:r>
                        <a:rPr lang="en-US" altLang="zh-CN" sz="1600" i="1">
                          <a:latin typeface="Cambria Math" panose="02040503050406030204" pitchFamily="18" charset="0"/>
                        </a:rPr>
                        <m:t>𝑏</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546.1</m:t>
                          </m:r>
                          <m:r>
                            <a:rPr lang="en-US" altLang="zh-CN" sz="1600" i="1">
                              <a:latin typeface="Cambria Math" panose="02040503050406030204" pitchFamily="18" charset="0"/>
                            </a:rPr>
                            <m:t>𝑛𝑚</m:t>
                          </m:r>
                        </m:e>
                      </m:d>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𝑩</m:t>
                          </m:r>
                        </m:e>
                        <m:sub>
                          <m:r>
                            <a:rPr lang="en-US" altLang="zh-CN" sz="1600" b="1" i="1">
                              <a:latin typeface="Cambria Math" panose="02040503050406030204" pitchFamily="18" charset="0"/>
                            </a:rPr>
                            <m:t>𝟏</m:t>
                          </m:r>
                        </m:sub>
                      </m:sSub>
                    </m:oMath>
                  </m:oMathPara>
                </a14:m>
                <a:endParaRPr lang="en-US" altLang="zh-CN" sz="16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dirty="0" smtClean="0">
                          <a:latin typeface="Cambria Math" panose="02040503050406030204" pitchFamily="18" charset="0"/>
                        </a:rPr>
                        <m:t>𝑩</m:t>
                      </m:r>
                      <m:r>
                        <a:rPr lang="en-US" altLang="zh-CN" sz="1600" i="1" dirty="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𝑟</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435.8</m:t>
                          </m:r>
                          <m:r>
                            <a:rPr lang="en-US" altLang="zh-CN" sz="1600" i="1">
                              <a:latin typeface="Cambria Math" panose="02040503050406030204" pitchFamily="18" charset="0"/>
                            </a:rPr>
                            <m:t>𝑛𝑚</m:t>
                          </m:r>
                        </m:e>
                      </m:d>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𝑹</m:t>
                          </m:r>
                        </m:e>
                        <m:sub>
                          <m:r>
                            <a:rPr lang="en-US" altLang="zh-CN" sz="1600" b="1" i="1">
                              <a:latin typeface="Cambria Math" panose="02040503050406030204" pitchFamily="18" charset="0"/>
                            </a:rPr>
                            <m:t>𝟏</m:t>
                          </m:r>
                        </m:sub>
                      </m:sSub>
                      <m:r>
                        <a:rPr lang="en-US" altLang="zh-CN" sz="1600" i="1">
                          <a:latin typeface="Cambria Math" panose="02040503050406030204" pitchFamily="18" charset="0"/>
                        </a:rPr>
                        <m:t>+</m:t>
                      </m:r>
                      <m:r>
                        <a:rPr lang="en-US" altLang="zh-CN" sz="1600" i="1">
                          <a:latin typeface="Cambria Math" panose="02040503050406030204" pitchFamily="18" charset="0"/>
                        </a:rPr>
                        <m:t>𝑔</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435.8</m:t>
                          </m:r>
                          <m:r>
                            <a:rPr lang="en-US" altLang="zh-CN" sz="1600" i="1">
                              <a:latin typeface="Cambria Math" panose="02040503050406030204" pitchFamily="18" charset="0"/>
                            </a:rPr>
                            <m:t>𝑛𝑚</m:t>
                          </m:r>
                        </m:e>
                      </m:d>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𝑮</m:t>
                          </m:r>
                        </m:e>
                        <m:sub>
                          <m:r>
                            <a:rPr lang="en-US" altLang="zh-CN" sz="1600" b="1" i="1">
                              <a:latin typeface="Cambria Math" panose="02040503050406030204" pitchFamily="18" charset="0"/>
                            </a:rPr>
                            <m:t>𝟏</m:t>
                          </m:r>
                        </m:sub>
                      </m:sSub>
                      <m:r>
                        <a:rPr lang="en-US" altLang="zh-CN" sz="1600" i="1">
                          <a:latin typeface="Cambria Math" panose="02040503050406030204" pitchFamily="18" charset="0"/>
                        </a:rPr>
                        <m:t>+</m:t>
                      </m:r>
                      <m:r>
                        <a:rPr lang="en-US" altLang="zh-CN" sz="1600" i="1">
                          <a:latin typeface="Cambria Math" panose="02040503050406030204" pitchFamily="18" charset="0"/>
                        </a:rPr>
                        <m:t>𝑏</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435.8</m:t>
                          </m:r>
                          <m:r>
                            <a:rPr lang="en-US" altLang="zh-CN" sz="1600" i="1">
                              <a:latin typeface="Cambria Math" panose="02040503050406030204" pitchFamily="18" charset="0"/>
                            </a:rPr>
                            <m:t>𝑛𝑚</m:t>
                          </m:r>
                        </m:e>
                      </m:d>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𝑩</m:t>
                          </m:r>
                        </m:e>
                        <m:sub>
                          <m:r>
                            <a:rPr lang="en-US" altLang="zh-CN" sz="1600" b="1" i="1">
                              <a:latin typeface="Cambria Math" panose="02040503050406030204" pitchFamily="18" charset="0"/>
                            </a:rPr>
                            <m:t>𝟏</m:t>
                          </m:r>
                        </m:sub>
                      </m:sSub>
                    </m:oMath>
                  </m:oMathPara>
                </a14:m>
                <a:endParaRPr lang="en-US" altLang="zh-CN" sz="1600" b="1"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𝑾</m:t>
                      </m:r>
                      <m:r>
                        <a:rPr lang="en-US" altLang="zh-CN" sz="1600" i="1" dirty="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0.333</m:t>
                      </m:r>
                      <m:sSub>
                        <m:sSubPr>
                          <m:ctrlPr>
                            <a:rPr lang="en-US" altLang="zh-CN" sz="1600" b="1" i="1" dirty="0" smtClean="0">
                              <a:latin typeface="Cambria Math" panose="02040503050406030204" pitchFamily="18" charset="0"/>
                              <a:ea typeface="Cambria Math" panose="02040503050406030204" pitchFamily="18" charset="0"/>
                            </a:rPr>
                          </m:ctrlPr>
                        </m:sSubPr>
                        <m:e>
                          <m:r>
                            <a:rPr lang="en-US" altLang="zh-CN" sz="1600" b="1" i="1" dirty="0" smtClean="0">
                              <a:latin typeface="Cambria Math" panose="02040503050406030204" pitchFamily="18" charset="0"/>
                              <a:ea typeface="Cambria Math" panose="02040503050406030204" pitchFamily="18" charset="0"/>
                            </a:rPr>
                            <m:t>𝑹</m:t>
                          </m:r>
                        </m:e>
                        <m:sub>
                          <m:r>
                            <a:rPr lang="en-US" altLang="zh-CN" sz="1600" b="1" i="1" dirty="0" smtClean="0">
                              <a:latin typeface="Cambria Math" panose="02040503050406030204" pitchFamily="18" charset="0"/>
                              <a:ea typeface="Cambria Math" panose="02040503050406030204" pitchFamily="18" charset="0"/>
                            </a:rPr>
                            <m:t>𝟏</m:t>
                          </m:r>
                        </m:sub>
                      </m:sSub>
                      <m:r>
                        <a:rPr lang="en-US" altLang="zh-CN" sz="1600" b="0" i="1" dirty="0" smtClean="0">
                          <a:latin typeface="Cambria Math" panose="02040503050406030204" pitchFamily="18" charset="0"/>
                          <a:ea typeface="Cambria Math" panose="02040503050406030204" pitchFamily="18" charset="0"/>
                        </a:rPr>
                        <m:t>+0.333</m:t>
                      </m:r>
                      <m:sSub>
                        <m:sSubPr>
                          <m:ctrlPr>
                            <a:rPr lang="en-US" altLang="zh-CN" sz="1600" b="1" i="1" dirty="0" smtClean="0">
                              <a:latin typeface="Cambria Math" panose="02040503050406030204" pitchFamily="18" charset="0"/>
                              <a:ea typeface="Cambria Math" panose="02040503050406030204" pitchFamily="18" charset="0"/>
                            </a:rPr>
                          </m:ctrlPr>
                        </m:sSubPr>
                        <m:e>
                          <m:r>
                            <a:rPr lang="en-US" altLang="zh-CN" sz="1600" b="1" i="1" dirty="0" smtClean="0">
                              <a:latin typeface="Cambria Math" panose="02040503050406030204" pitchFamily="18" charset="0"/>
                              <a:ea typeface="Cambria Math" panose="02040503050406030204" pitchFamily="18" charset="0"/>
                            </a:rPr>
                            <m:t>𝑮</m:t>
                          </m:r>
                        </m:e>
                        <m:sub>
                          <m:r>
                            <a:rPr lang="en-US" altLang="zh-CN" sz="1600" b="1" i="1" dirty="0" smtClean="0">
                              <a:latin typeface="Cambria Math" panose="02040503050406030204" pitchFamily="18" charset="0"/>
                              <a:ea typeface="Cambria Math" panose="02040503050406030204" pitchFamily="18" charset="0"/>
                            </a:rPr>
                            <m:t>𝟏</m:t>
                          </m:r>
                        </m:sub>
                      </m:sSub>
                      <m:r>
                        <a:rPr lang="en-US" altLang="zh-CN" sz="1600" b="0" i="1" dirty="0" smtClean="0">
                          <a:latin typeface="Cambria Math" panose="02040503050406030204" pitchFamily="18" charset="0"/>
                          <a:ea typeface="Cambria Math" panose="02040503050406030204" pitchFamily="18" charset="0"/>
                        </a:rPr>
                        <m:t>+0.333</m:t>
                      </m:r>
                      <m:sSub>
                        <m:sSubPr>
                          <m:ctrlPr>
                            <a:rPr lang="en-US" altLang="zh-CN" sz="1600" b="1" i="1" dirty="0" smtClean="0">
                              <a:latin typeface="Cambria Math" panose="02040503050406030204" pitchFamily="18" charset="0"/>
                              <a:ea typeface="Cambria Math" panose="02040503050406030204" pitchFamily="18" charset="0"/>
                            </a:rPr>
                          </m:ctrlPr>
                        </m:sSubPr>
                        <m:e>
                          <m:r>
                            <a:rPr lang="en-US" altLang="zh-CN" sz="1600" b="1" i="1" dirty="0" smtClean="0">
                              <a:latin typeface="Cambria Math" panose="02040503050406030204" pitchFamily="18" charset="0"/>
                              <a:ea typeface="Cambria Math" panose="02040503050406030204" pitchFamily="18" charset="0"/>
                            </a:rPr>
                            <m:t>𝑩</m:t>
                          </m:r>
                        </m:e>
                        <m:sub>
                          <m:r>
                            <a:rPr lang="en-US" altLang="zh-CN" sz="1600" b="1" i="1" dirty="0" smtClean="0">
                              <a:latin typeface="Cambria Math" panose="02040503050406030204" pitchFamily="18" charset="0"/>
                              <a:ea typeface="Cambria Math" panose="02040503050406030204" pitchFamily="18" charset="0"/>
                            </a:rPr>
                            <m:t>𝟏</m:t>
                          </m:r>
                        </m:sub>
                      </m:sSub>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b="1"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这个方程组可以求逆，得到：</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𝑹</m:t>
                          </m:r>
                        </m:e>
                        <m:sub>
                          <m:r>
                            <a:rPr lang="en-US" altLang="zh-CN" sz="1600" b="1" i="1" smtClean="0">
                              <a:latin typeface="Cambria Math" panose="02040503050406030204" pitchFamily="18" charset="0"/>
                            </a:rPr>
                            <m:t>𝟏</m:t>
                          </m:r>
                        </m:sub>
                      </m:sSub>
                      <m:r>
                        <a:rPr lang="en-US" altLang="zh-CN" sz="1600" i="1" dirty="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𝑎</m:t>
                      </m:r>
                      <m:r>
                        <a:rPr lang="en-US" altLang="zh-CN" sz="1600" b="1" i="1" smtClean="0">
                          <a:latin typeface="Cambria Math" panose="02040503050406030204" pitchFamily="18" charset="0"/>
                        </a:rPr>
                        <m:t>𝑹</m:t>
                      </m:r>
                      <m:r>
                        <a:rPr lang="en-US" altLang="zh-CN" sz="1600" i="1">
                          <a:latin typeface="Cambria Math" panose="02040503050406030204" pitchFamily="18" charset="0"/>
                        </a:rPr>
                        <m:t>+</m:t>
                      </m:r>
                      <m:r>
                        <a:rPr lang="en-US" altLang="zh-CN" sz="1600" b="0" i="1" smtClean="0">
                          <a:latin typeface="Cambria Math" panose="02040503050406030204" pitchFamily="18" charset="0"/>
                        </a:rPr>
                        <m:t>𝑏</m:t>
                      </m:r>
                      <m:r>
                        <a:rPr lang="en-US" altLang="zh-CN" sz="1600" b="1" i="1" smtClean="0">
                          <a:latin typeface="Cambria Math" panose="02040503050406030204" pitchFamily="18" charset="0"/>
                        </a:rPr>
                        <m:t>𝑮</m:t>
                      </m:r>
                      <m:r>
                        <a:rPr lang="en-US" altLang="zh-CN" sz="1600" i="1">
                          <a:latin typeface="Cambria Math" panose="02040503050406030204" pitchFamily="18" charset="0"/>
                        </a:rPr>
                        <m:t>+</m:t>
                      </m:r>
                      <m:r>
                        <a:rPr lang="en-US" altLang="zh-CN" sz="1600" b="0" i="1" smtClean="0">
                          <a:latin typeface="Cambria Math" panose="02040503050406030204" pitchFamily="18" charset="0"/>
                        </a:rPr>
                        <m:t>𝑐</m:t>
                      </m:r>
                      <m:r>
                        <a:rPr lang="en-US" altLang="zh-CN" sz="1600" b="1" i="1" smtClean="0">
                          <a:latin typeface="Cambria Math" panose="02040503050406030204" pitchFamily="18" charset="0"/>
                        </a:rPr>
                        <m:t>𝑩</m:t>
                      </m:r>
                    </m:oMath>
                  </m:oMathPara>
                </a14:m>
                <a:endParaRPr lang="en-US" altLang="zh-CN" sz="16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𝑮</m:t>
                          </m:r>
                        </m:e>
                        <m:sub>
                          <m:r>
                            <a:rPr lang="en-US" altLang="zh-CN" sz="1600" b="1" i="1">
                              <a:latin typeface="Cambria Math" panose="02040503050406030204" pitchFamily="18" charset="0"/>
                            </a:rPr>
                            <m:t>𝟏</m:t>
                          </m:r>
                        </m:sub>
                      </m:sSub>
                      <m:r>
                        <a:rPr lang="en-US" altLang="zh-CN" sz="1600" i="1" dirty="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𝑎</m:t>
                          </m:r>
                        </m:e>
                        <m:sup>
                          <m:r>
                            <a:rPr lang="en-US" altLang="zh-CN" sz="1600" b="0" i="1" smtClean="0">
                              <a:latin typeface="Cambria Math" panose="02040503050406030204" pitchFamily="18" charset="0"/>
                            </a:rPr>
                            <m:t>′</m:t>
                          </m:r>
                        </m:sup>
                      </m:sSup>
                      <m:r>
                        <a:rPr lang="en-US" altLang="zh-CN" sz="1600" b="1" i="1">
                          <a:latin typeface="Cambria Math" panose="02040503050406030204" pitchFamily="18" charset="0"/>
                        </a:rPr>
                        <m:t>𝑹</m:t>
                      </m:r>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𝑏</m:t>
                          </m:r>
                        </m:e>
                        <m:sup>
                          <m:r>
                            <a:rPr lang="en-US" altLang="zh-CN" sz="1600" b="0" i="1" smtClean="0">
                              <a:latin typeface="Cambria Math" panose="02040503050406030204" pitchFamily="18" charset="0"/>
                            </a:rPr>
                            <m:t>′</m:t>
                          </m:r>
                        </m:sup>
                      </m:sSup>
                      <m:r>
                        <a:rPr lang="en-US" altLang="zh-CN" sz="1600" b="1" i="1">
                          <a:latin typeface="Cambria Math" panose="02040503050406030204" pitchFamily="18" charset="0"/>
                        </a:rPr>
                        <m:t>𝑮</m:t>
                      </m:r>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𝑐</m:t>
                          </m:r>
                        </m:e>
                        <m:sup>
                          <m:r>
                            <a:rPr lang="en-US" altLang="zh-CN" sz="1600" b="0" i="1" smtClean="0">
                              <a:latin typeface="Cambria Math" panose="02040503050406030204" pitchFamily="18" charset="0"/>
                            </a:rPr>
                            <m:t>′</m:t>
                          </m:r>
                        </m:sup>
                      </m:sSup>
                      <m:r>
                        <a:rPr lang="en-US" altLang="zh-CN" sz="1600" b="1" i="1">
                          <a:latin typeface="Cambria Math" panose="02040503050406030204" pitchFamily="18" charset="0"/>
                        </a:rPr>
                        <m:t>𝑩</m:t>
                      </m:r>
                    </m:oMath>
                  </m:oMathPara>
                </a14:m>
                <a:endParaRPr lang="en-US" altLang="zh-CN" sz="16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𝑩</m:t>
                          </m:r>
                        </m:e>
                        <m:sub>
                          <m:r>
                            <a:rPr lang="en-US" altLang="zh-CN" sz="1600" b="1" i="1">
                              <a:latin typeface="Cambria Math" panose="02040503050406030204" pitchFamily="18" charset="0"/>
                            </a:rPr>
                            <m:t>𝟏</m:t>
                          </m:r>
                        </m:sub>
                      </m:sSub>
                      <m:r>
                        <a:rPr lang="en-US" altLang="zh-CN" sz="1600" i="1" dirty="0">
                          <a:latin typeface="Cambria Math" panose="02040503050406030204" pitchFamily="18" charset="0"/>
                          <a:ea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𝑎</m:t>
                          </m:r>
                        </m:e>
                        <m:sup>
                          <m:r>
                            <a:rPr lang="en-US" altLang="zh-CN" sz="1600" b="0" i="1" smtClean="0">
                              <a:latin typeface="Cambria Math" panose="02040503050406030204" pitchFamily="18" charset="0"/>
                            </a:rPr>
                            <m:t>′′</m:t>
                          </m:r>
                        </m:sup>
                      </m:sSup>
                      <m:r>
                        <a:rPr lang="en-US" altLang="zh-CN" sz="1600" b="1" i="1">
                          <a:latin typeface="Cambria Math" panose="02040503050406030204" pitchFamily="18" charset="0"/>
                        </a:rPr>
                        <m:t>𝑹</m:t>
                      </m:r>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𝑏</m:t>
                          </m:r>
                        </m:e>
                        <m:sup>
                          <m:r>
                            <a:rPr lang="en-US" altLang="zh-CN" sz="1600" b="0" i="1" smtClean="0">
                              <a:latin typeface="Cambria Math" panose="02040503050406030204" pitchFamily="18" charset="0"/>
                            </a:rPr>
                            <m:t>′′</m:t>
                          </m:r>
                        </m:sup>
                      </m:sSup>
                      <m:r>
                        <a:rPr lang="en-US" altLang="zh-CN" sz="1600" b="1" i="1">
                          <a:latin typeface="Cambria Math" panose="02040503050406030204" pitchFamily="18" charset="0"/>
                        </a:rPr>
                        <m:t>𝑮</m:t>
                      </m:r>
                      <m:r>
                        <a:rPr lang="en-US" altLang="zh-CN" sz="1600" i="1">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𝑐</m:t>
                          </m:r>
                        </m:e>
                        <m:sup>
                          <m:r>
                            <a:rPr lang="en-US" altLang="zh-CN" sz="1600" b="0" i="1" smtClean="0">
                              <a:latin typeface="Cambria Math" panose="02040503050406030204" pitchFamily="18" charset="0"/>
                            </a:rPr>
                            <m:t>′′</m:t>
                          </m:r>
                        </m:sup>
                      </m:sSup>
                      <m:r>
                        <a:rPr lang="en-US" altLang="zh-CN" sz="1600" b="1" i="1">
                          <a:latin typeface="Cambria Math" panose="02040503050406030204" pitchFamily="18" charset="0"/>
                        </a:rPr>
                        <m:t>𝑩</m:t>
                      </m:r>
                    </m:oMath>
                  </m:oMathPara>
                </a14:m>
                <a:endParaRPr lang="en-US" altLang="zh-CN" sz="16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smtClean="0">
                          <a:latin typeface="Cambria Math" panose="02040503050406030204" pitchFamily="18" charset="0"/>
                        </a:rPr>
                        <m:t>𝑾</m:t>
                      </m:r>
                      <m:r>
                        <a:rPr lang="en-US" altLang="zh-CN" sz="1600" i="1" dirty="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𝑥</m:t>
                      </m:r>
                      <m:r>
                        <a:rPr lang="en-US" altLang="zh-CN" sz="1600" b="1" i="1">
                          <a:latin typeface="Cambria Math" panose="02040503050406030204" pitchFamily="18" charset="0"/>
                        </a:rPr>
                        <m:t>𝑹</m:t>
                      </m:r>
                      <m:r>
                        <a:rPr lang="en-US" altLang="zh-CN" sz="1600" i="1">
                          <a:latin typeface="Cambria Math" panose="02040503050406030204" pitchFamily="18" charset="0"/>
                        </a:rPr>
                        <m:t>+</m:t>
                      </m:r>
                      <m:r>
                        <a:rPr lang="en-US" altLang="zh-CN" sz="1600" b="0" i="1" smtClean="0">
                          <a:latin typeface="Cambria Math" panose="02040503050406030204" pitchFamily="18" charset="0"/>
                        </a:rPr>
                        <m:t>𝑦</m:t>
                      </m:r>
                      <m:r>
                        <a:rPr lang="en-US" altLang="zh-CN" sz="1600" b="1" i="1">
                          <a:latin typeface="Cambria Math" panose="02040503050406030204" pitchFamily="18" charset="0"/>
                        </a:rPr>
                        <m:t>𝑮</m:t>
                      </m:r>
                      <m:r>
                        <a:rPr lang="en-US" altLang="zh-CN" sz="1600" i="1">
                          <a:latin typeface="Cambria Math" panose="02040503050406030204" pitchFamily="18" charset="0"/>
                        </a:rPr>
                        <m:t>+</m:t>
                      </m:r>
                      <m:r>
                        <a:rPr lang="en-US" altLang="zh-CN" sz="1600" b="0" i="1" smtClean="0">
                          <a:latin typeface="Cambria Math" panose="02040503050406030204" pitchFamily="18" charset="0"/>
                        </a:rPr>
                        <m:t>𝑧</m:t>
                      </m:r>
                      <m:r>
                        <a:rPr lang="en-US" altLang="zh-CN" sz="1600" b="1" i="1">
                          <a:latin typeface="Cambria Math" panose="02040503050406030204" pitchFamily="18" charset="0"/>
                        </a:rPr>
                        <m:t>𝑩</m:t>
                      </m:r>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b="1"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其中，</a:t>
                </a:r>
                <a14:m>
                  <m:oMath xmlns:m="http://schemas.openxmlformats.org/officeDocument/2006/math">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𝑹</m:t>
                        </m:r>
                      </m:e>
                      <m:sub>
                        <m:r>
                          <a:rPr lang="en-US" altLang="zh-CN" sz="1600" b="1" i="1">
                            <a:latin typeface="Cambria Math" panose="02040503050406030204" pitchFamily="18" charset="0"/>
                          </a:rPr>
                          <m:t>𝟏</m:t>
                        </m:r>
                      </m:sub>
                    </m:sSub>
                    <m:r>
                      <a:rPr lang="en-US" altLang="zh-CN" sz="1600" b="1" i="1">
                        <a:latin typeface="Cambria Math" panose="02040503050406030204" pitchFamily="18" charset="0"/>
                      </a:rPr>
                      <m:t> </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𝑮</m:t>
                        </m:r>
                      </m:e>
                      <m:sub>
                        <m:r>
                          <a:rPr lang="en-US" altLang="zh-CN" sz="1600" b="1" i="1">
                            <a:latin typeface="Cambria Math" panose="02040503050406030204" pitchFamily="18" charset="0"/>
                          </a:rPr>
                          <m:t>𝟏</m:t>
                        </m:r>
                      </m:sub>
                    </m:sSub>
                    <m:r>
                      <a:rPr lang="en-US" altLang="zh-CN" sz="1600" b="1" i="1">
                        <a:latin typeface="Cambria Math" panose="02040503050406030204" pitchFamily="18" charset="0"/>
                      </a:rPr>
                      <m:t> </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𝑩</m:t>
                        </m:r>
                      </m:e>
                      <m:sub>
                        <m:r>
                          <a:rPr lang="en-US" altLang="zh-CN" sz="1600" b="1" i="1">
                            <a:latin typeface="Cambria Math" panose="02040503050406030204" pitchFamily="18" charset="0"/>
                          </a:rPr>
                          <m:t>𝟏</m:t>
                        </m:r>
                      </m:sub>
                    </m:sSub>
                  </m:oMath>
                </a14:m>
                <a:r>
                  <a:rPr lang="zh-CN" altLang="en-US" sz="1600" dirty="0">
                    <a:latin typeface="Noto Sans SC" panose="020B0200000000000000" pitchFamily="34" charset="-122"/>
                    <a:ea typeface="Noto Sans SC" panose="020B0200000000000000" pitchFamily="34" charset="-122"/>
                  </a:rPr>
                  <a:t>为一单位</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三原色，</a:t>
                </a:r>
                <a14:m>
                  <m:oMath xmlns:m="http://schemas.openxmlformats.org/officeDocument/2006/math">
                    <m:r>
                      <a:rPr lang="en-US" altLang="zh-CN" sz="1600" b="1" i="1" dirty="0">
                        <a:latin typeface="Cambria Math" panose="02040503050406030204" pitchFamily="18" charset="0"/>
                      </a:rPr>
                      <m:t>𝑹</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b="1" i="1" dirty="0">
                        <a:latin typeface="Cambria Math" panose="02040503050406030204" pitchFamily="18" charset="0"/>
                      </a:rPr>
                      <m:t>𝑮</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b="1" i="1" dirty="0">
                        <a:latin typeface="Cambria Math" panose="02040503050406030204" pitchFamily="18" charset="0"/>
                      </a:rPr>
                      <m:t>𝑩</m:t>
                    </m:r>
                  </m:oMath>
                </a14:m>
                <a:r>
                  <a:rPr lang="zh-CN" altLang="en-US" sz="1600" dirty="0">
                    <a:latin typeface="Noto Sans SC" panose="020B0200000000000000" pitchFamily="34" charset="-122"/>
                    <a:ea typeface="Noto Sans SC" panose="020B0200000000000000" pitchFamily="34" charset="-122"/>
                  </a:rPr>
                  <a:t>为</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标准三原色，但不是一单位，</a:t>
                </a:r>
                <a:r>
                  <a:rPr lang="en-US" altLang="zh-CN" sz="1600" b="1" dirty="0">
                    <a:latin typeface="Noto Sans SC" panose="020B0200000000000000" pitchFamily="34" charset="-122"/>
                    <a:ea typeface="Noto Sans SC" panose="020B0200000000000000" pitchFamily="34" charset="-122"/>
                  </a:rPr>
                  <a:t> </a:t>
                </a:r>
                <a14:m>
                  <m:oMath xmlns:m="http://schemas.openxmlformats.org/officeDocument/2006/math">
                    <m:r>
                      <a:rPr lang="en-US" altLang="zh-CN" sz="1600" b="1" i="1">
                        <a:latin typeface="Cambria Math" panose="02040503050406030204" pitchFamily="18" charset="0"/>
                      </a:rPr>
                      <m:t>𝑾</m:t>
                    </m:r>
                  </m:oMath>
                </a14:m>
                <a:r>
                  <a:rPr lang="zh-CN" altLang="en-US" sz="1600" dirty="0">
                    <a:latin typeface="Noto Sans SC" panose="020B0200000000000000" pitchFamily="34" charset="-122"/>
                    <a:ea typeface="Noto Sans SC" panose="020B0200000000000000" pitchFamily="34" charset="-122"/>
                  </a:rPr>
                  <a:t>为</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a:t>
                </a:r>
                <a:endParaRPr lang="en-US" altLang="zh-CN" sz="16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545B2380-F39F-E4F6-C024-2E9B20617C08}"/>
                  </a:ext>
                </a:extLst>
              </p:cNvPr>
              <p:cNvSpPr txBox="1">
                <a:spLocks noRot="1" noChangeAspect="1" noMove="1" noResize="1" noEditPoints="1" noAdjustHandles="1" noChangeArrowheads="1" noChangeShapeType="1" noTextEdit="1"/>
              </p:cNvSpPr>
              <p:nvPr/>
            </p:nvSpPr>
            <p:spPr>
              <a:xfrm>
                <a:off x="346605" y="1860640"/>
                <a:ext cx="7103528" cy="5016758"/>
              </a:xfrm>
              <a:prstGeom prst="rect">
                <a:avLst/>
              </a:prstGeom>
              <a:blipFill>
                <a:blip r:embed="rId3"/>
                <a:stretch>
                  <a:fillRect l="-515" t="-365" r="-429" b="-60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5B2BA576-E738-E785-0C11-F519FC7B32B2}"/>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a:t>
            </a:r>
            <a:r>
              <a:rPr lang="zh-CN" altLang="en-US" sz="2000" b="1" dirty="0">
                <a:latin typeface="Noto Sans SC" panose="020B0200000000000000" pitchFamily="34" charset="-122"/>
                <a:ea typeface="Noto Sans SC" panose="020B0200000000000000" pitchFamily="34" charset="-122"/>
              </a:rPr>
              <a:t>的实验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进一步修正</a:t>
            </a:r>
            <a:endParaRPr lang="zh-CN" altLang="en-US" sz="1100" b="1" dirty="0">
              <a:latin typeface="Noto Sans SC" panose="020B0200000000000000" pitchFamily="34" charset="-122"/>
              <a:ea typeface="Noto Sans SC" panose="020B0200000000000000" pitchFamily="34" charset="-122"/>
            </a:endParaRPr>
          </a:p>
        </p:txBody>
      </p:sp>
      <p:pic>
        <p:nvPicPr>
          <p:cNvPr id="10" name="图片 9">
            <a:extLst>
              <a:ext uri="{FF2B5EF4-FFF2-40B4-BE49-F238E27FC236}">
                <a16:creationId xmlns:a16="http://schemas.microsoft.com/office/drawing/2014/main" id="{AB812953-0058-0350-F059-180BA26EE509}"/>
              </a:ext>
            </a:extLst>
          </p:cNvPr>
          <p:cNvPicPr>
            <a:picLocks noChangeAspect="1"/>
          </p:cNvPicPr>
          <p:nvPr/>
        </p:nvPicPr>
        <p:blipFill>
          <a:blip r:embed="rId4"/>
          <a:stretch>
            <a:fillRect/>
          </a:stretch>
        </p:blipFill>
        <p:spPr>
          <a:xfrm>
            <a:off x="8172083" y="3211177"/>
            <a:ext cx="3392850" cy="3534698"/>
          </a:xfrm>
          <a:prstGeom prst="rect">
            <a:avLst/>
          </a:prstGeom>
        </p:spPr>
      </p:pic>
    </p:spTree>
    <p:extLst>
      <p:ext uri="{BB962C8B-B14F-4D97-AF65-F5344CB8AC3E}">
        <p14:creationId xmlns:p14="http://schemas.microsoft.com/office/powerpoint/2010/main" val="35614244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6ACFF-55B6-B034-3C40-D534E0677EB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8677B44-1FF5-715A-2698-805DC053FA06}"/>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240ED10-674B-99BA-69DA-EDCB5782534E}"/>
                  </a:ext>
                </a:extLst>
              </p:cNvPr>
              <p:cNvSpPr txBox="1"/>
              <p:nvPr/>
            </p:nvSpPr>
            <p:spPr>
              <a:xfrm>
                <a:off x="2204606" y="1429719"/>
                <a:ext cx="7782787" cy="5228226"/>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𝑹</m:t>
                          </m:r>
                        </m:e>
                        <m:sub>
                          <m:r>
                            <a:rPr lang="en-US" altLang="zh-CN" b="1" i="1">
                              <a:latin typeface="Cambria Math" panose="02040503050406030204" pitchFamily="18" charset="0"/>
                            </a:rPr>
                            <m:t>𝟏</m:t>
                          </m:r>
                        </m:sub>
                      </m:sSub>
                      <m:r>
                        <a:rPr lang="en-US" altLang="zh-CN" i="1" dirty="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𝑎</m:t>
                      </m:r>
                      <m:r>
                        <a:rPr lang="en-US" altLang="zh-CN" b="1" i="1">
                          <a:latin typeface="Cambria Math" panose="02040503050406030204" pitchFamily="18" charset="0"/>
                        </a:rPr>
                        <m:t>𝑹</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b="1" i="1">
                          <a:latin typeface="Cambria Math" panose="02040503050406030204" pitchFamily="18" charset="0"/>
                        </a:rPr>
                        <m:t>𝑮</m:t>
                      </m:r>
                      <m:r>
                        <a:rPr lang="en-US" altLang="zh-CN" i="1">
                          <a:latin typeface="Cambria Math" panose="02040503050406030204" pitchFamily="18" charset="0"/>
                        </a:rPr>
                        <m:t>+</m:t>
                      </m:r>
                      <m:r>
                        <a:rPr lang="en-US" altLang="zh-CN" i="1">
                          <a:latin typeface="Cambria Math" panose="02040503050406030204" pitchFamily="18" charset="0"/>
                        </a:rPr>
                        <m:t>𝑐</m:t>
                      </m:r>
                      <m:r>
                        <a:rPr lang="en-US" altLang="zh-CN" b="1" i="1">
                          <a:latin typeface="Cambria Math" panose="02040503050406030204" pitchFamily="18" charset="0"/>
                        </a:rPr>
                        <m:t>𝑩</m:t>
                      </m:r>
                    </m:oMath>
                  </m:oMathPara>
                </a14:m>
                <a:endParaRPr lang="en-US" altLang="zh-CN"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𝑮</m:t>
                          </m:r>
                        </m:e>
                        <m:sub>
                          <m:r>
                            <a:rPr lang="en-US" altLang="zh-CN" b="1" i="1">
                              <a:latin typeface="Cambria Math" panose="02040503050406030204" pitchFamily="18" charset="0"/>
                            </a:rPr>
                            <m:t>𝟏</m:t>
                          </m:r>
                        </m:sub>
                      </m:sSub>
                      <m:r>
                        <a:rPr lang="en-US" altLang="zh-CN" i="1" dirty="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m:t>
                          </m:r>
                        </m:sup>
                      </m:sSup>
                      <m:r>
                        <a:rPr lang="en-US" altLang="zh-CN" b="1" i="1">
                          <a:latin typeface="Cambria Math" panose="02040503050406030204" pitchFamily="18" charset="0"/>
                        </a:rPr>
                        <m:t>𝑹</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m:t>
                          </m:r>
                        </m:sup>
                      </m:sSup>
                      <m:r>
                        <a:rPr lang="en-US" altLang="zh-CN" b="1" i="1">
                          <a:latin typeface="Cambria Math" panose="02040503050406030204" pitchFamily="18" charset="0"/>
                        </a:rPr>
                        <m:t>𝑮</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𝑐</m:t>
                          </m:r>
                        </m:e>
                        <m:sup>
                          <m:r>
                            <a:rPr lang="en-US" altLang="zh-CN" i="1">
                              <a:latin typeface="Cambria Math" panose="02040503050406030204" pitchFamily="18" charset="0"/>
                            </a:rPr>
                            <m:t>′</m:t>
                          </m:r>
                        </m:sup>
                      </m:sSup>
                      <m:r>
                        <a:rPr lang="en-US" altLang="zh-CN" b="1" i="1">
                          <a:latin typeface="Cambria Math" panose="02040503050406030204" pitchFamily="18" charset="0"/>
                        </a:rPr>
                        <m:t>𝑩</m:t>
                      </m:r>
                    </m:oMath>
                  </m:oMathPara>
                </a14:m>
                <a:endParaRPr lang="en-US" altLang="zh-CN"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𝑩</m:t>
                          </m:r>
                        </m:e>
                        <m:sub>
                          <m:r>
                            <a:rPr lang="en-US" altLang="zh-CN" b="1" i="1">
                              <a:latin typeface="Cambria Math" panose="02040503050406030204" pitchFamily="18" charset="0"/>
                            </a:rPr>
                            <m:t>𝟏</m:t>
                          </m:r>
                        </m:sub>
                      </m:sSub>
                      <m:r>
                        <a:rPr lang="en-US" altLang="zh-CN" i="1" dirty="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m:t>
                          </m:r>
                        </m:sup>
                      </m:sSup>
                      <m:r>
                        <a:rPr lang="en-US" altLang="zh-CN" b="1" i="1">
                          <a:latin typeface="Cambria Math" panose="02040503050406030204" pitchFamily="18" charset="0"/>
                        </a:rPr>
                        <m:t>𝑹</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m:t>
                          </m:r>
                        </m:sup>
                      </m:sSup>
                      <m:r>
                        <a:rPr lang="en-US" altLang="zh-CN" b="1" i="1">
                          <a:latin typeface="Cambria Math" panose="02040503050406030204" pitchFamily="18" charset="0"/>
                        </a:rPr>
                        <m:t>𝑮</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𝑐</m:t>
                          </m:r>
                        </m:e>
                        <m:sup>
                          <m:r>
                            <a:rPr lang="en-US" altLang="zh-CN" i="1">
                              <a:latin typeface="Cambria Math" panose="02040503050406030204" pitchFamily="18" charset="0"/>
                            </a:rPr>
                            <m:t>′′</m:t>
                          </m:r>
                        </m:sup>
                      </m:sSup>
                      <m:r>
                        <a:rPr lang="en-US" altLang="zh-CN" b="1" i="1">
                          <a:latin typeface="Cambria Math" panose="02040503050406030204" pitchFamily="18" charset="0"/>
                        </a:rPr>
                        <m:t>𝑩</m:t>
                      </m:r>
                    </m:oMath>
                  </m:oMathPara>
                </a14:m>
                <a:endParaRPr lang="en-US" altLang="zh-CN"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rPr>
                        <m:t>𝑾</m:t>
                      </m:r>
                      <m:r>
                        <a:rPr lang="en-US" altLang="zh-CN" i="1" dirty="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𝑥</m:t>
                      </m:r>
                      <m:r>
                        <a:rPr lang="en-US" altLang="zh-CN" b="1" i="1">
                          <a:latin typeface="Cambria Math" panose="02040503050406030204" pitchFamily="18" charset="0"/>
                        </a:rPr>
                        <m:t>𝑹</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b="1" i="1">
                          <a:latin typeface="Cambria Math" panose="02040503050406030204" pitchFamily="18" charset="0"/>
                        </a:rPr>
                        <m:t>𝑮</m:t>
                      </m:r>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b="1" i="1">
                          <a:latin typeface="Cambria Math" panose="02040503050406030204" pitchFamily="18" charset="0"/>
                        </a:rPr>
                        <m:t>𝑩</m:t>
                      </m:r>
                    </m:oMath>
                  </m:oMathPara>
                </a14:m>
                <a:endParaRPr lang="en-US" altLang="zh-CN" b="1"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其中，</a:t>
                </a:r>
                <a14:m>
                  <m:oMath xmlns:m="http://schemas.openxmlformats.org/officeDocument/2006/math">
                    <m:sSub>
                      <m:sSubPr>
                        <m:ctrlPr>
                          <a:rPr lang="en-US" altLang="zh-CN" sz="1700" b="1" i="1">
                            <a:latin typeface="Cambria Math" panose="02040503050406030204" pitchFamily="18" charset="0"/>
                          </a:rPr>
                        </m:ctrlPr>
                      </m:sSubPr>
                      <m:e>
                        <m:r>
                          <a:rPr lang="en-US" altLang="zh-CN" sz="1700" b="1" i="1">
                            <a:latin typeface="Cambria Math" panose="02040503050406030204" pitchFamily="18" charset="0"/>
                          </a:rPr>
                          <m:t>𝑹</m:t>
                        </m:r>
                      </m:e>
                      <m:sub>
                        <m:r>
                          <a:rPr lang="en-US" altLang="zh-CN" sz="1700" b="1" i="1">
                            <a:latin typeface="Cambria Math" panose="02040503050406030204" pitchFamily="18" charset="0"/>
                          </a:rPr>
                          <m:t>𝟏</m:t>
                        </m:r>
                      </m:sub>
                    </m:sSub>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𝑮</m:t>
                        </m:r>
                      </m:e>
                      <m:sub>
                        <m:r>
                          <a:rPr lang="en-US" altLang="zh-CN" sz="1700" b="1" i="1">
                            <a:latin typeface="Cambria Math" panose="02040503050406030204" pitchFamily="18" charset="0"/>
                          </a:rPr>
                          <m:t>𝟏</m:t>
                        </m:r>
                      </m:sub>
                    </m:sSub>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𝑩</m:t>
                        </m:r>
                      </m:e>
                      <m:sub>
                        <m:r>
                          <a:rPr lang="en-US" altLang="zh-CN" sz="1700" b="1" i="1">
                            <a:latin typeface="Cambria Math" panose="02040503050406030204" pitchFamily="18" charset="0"/>
                          </a:rPr>
                          <m:t>𝟏</m:t>
                        </m:r>
                      </m:sub>
                    </m:sSub>
                  </m:oMath>
                </a14:m>
                <a:r>
                  <a:rPr lang="zh-CN" altLang="en-US" sz="1700" dirty="0">
                    <a:latin typeface="Noto Sans SC" panose="020B0200000000000000" pitchFamily="34" charset="-122"/>
                    <a:ea typeface="Noto Sans SC" panose="020B0200000000000000" pitchFamily="34" charset="-122"/>
                  </a:rPr>
                  <a:t>为一单位</a:t>
                </a:r>
                <a:r>
                  <a:rPr lang="en-US" altLang="zh-CN" sz="1700" dirty="0">
                    <a:latin typeface="Noto Sans SC" panose="020B0200000000000000" pitchFamily="34" charset="-122"/>
                    <a:ea typeface="Noto Sans SC" panose="020B0200000000000000" pitchFamily="34" charset="-122"/>
                  </a:rPr>
                  <a:t>Wright</a:t>
                </a:r>
                <a:r>
                  <a:rPr lang="zh-CN" altLang="en-US" sz="1700" dirty="0">
                    <a:latin typeface="Noto Sans SC" panose="020B0200000000000000" pitchFamily="34" charset="-122"/>
                    <a:ea typeface="Noto Sans SC" panose="020B0200000000000000" pitchFamily="34" charset="-122"/>
                  </a:rPr>
                  <a:t>三原色，</a:t>
                </a:r>
                <a14:m>
                  <m:oMath xmlns:m="http://schemas.openxmlformats.org/officeDocument/2006/math">
                    <m:r>
                      <a:rPr lang="en-US" altLang="zh-CN" sz="1700" b="1" i="1" dirty="0">
                        <a:latin typeface="Cambria Math" panose="02040503050406030204" pitchFamily="18" charset="0"/>
                      </a:rPr>
                      <m:t>𝑹</m:t>
                    </m:r>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700" b="1" i="1" dirty="0">
                        <a:latin typeface="Cambria Math" panose="02040503050406030204" pitchFamily="18" charset="0"/>
                      </a:rPr>
                      <m:t>𝑮</m:t>
                    </m:r>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700" b="1" i="1" dirty="0">
                        <a:latin typeface="Cambria Math" panose="02040503050406030204" pitchFamily="18" charset="0"/>
                      </a:rPr>
                      <m:t>𝑩</m:t>
                    </m:r>
                  </m:oMath>
                </a14:m>
                <a:r>
                  <a:rPr lang="zh-CN" altLang="en-US" sz="1700" dirty="0">
                    <a:latin typeface="Noto Sans SC" panose="020B0200000000000000" pitchFamily="34" charset="-122"/>
                    <a:ea typeface="Noto Sans SC" panose="020B0200000000000000" pitchFamily="34" charset="-122"/>
                  </a:rPr>
                  <a:t>为</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标准三原色，但不是一单位。匹配</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标准白光时的三原色光定为一单位，可得：</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𝑹</m:t>
                          </m:r>
                        </m:e>
                        <m:sup>
                          <m:r>
                            <a:rPr lang="en-US" altLang="zh-CN" sz="1700" b="1" i="1" smtClean="0">
                              <a:latin typeface="Cambria Math" panose="02040503050406030204" pitchFamily="18" charset="0"/>
                            </a:rPr>
                            <m:t>′</m:t>
                          </m:r>
                        </m:sup>
                      </m:sSup>
                      <m:r>
                        <a:rPr lang="en-US" altLang="zh-CN" sz="1700" b="1" i="1" smtClean="0">
                          <a:latin typeface="Cambria Math" panose="02040503050406030204" pitchFamily="18" charset="0"/>
                        </a:rPr>
                        <m:t>=</m:t>
                      </m:r>
                      <m:f>
                        <m:fPr>
                          <m:ctrlPr>
                            <a:rPr lang="en-US" altLang="zh-CN" sz="1700" b="1" i="1" smtClean="0">
                              <a:latin typeface="Cambria Math" panose="02040503050406030204" pitchFamily="18" charset="0"/>
                            </a:rPr>
                          </m:ctrlPr>
                        </m:fPr>
                        <m:num>
                          <m:r>
                            <a:rPr lang="en-US" altLang="zh-CN" sz="1700" b="1" i="1" smtClean="0">
                              <a:latin typeface="Cambria Math" panose="02040503050406030204" pitchFamily="18" charset="0"/>
                            </a:rPr>
                            <m:t>𝑹</m:t>
                          </m:r>
                        </m:num>
                        <m:den>
                          <m:r>
                            <a:rPr lang="en-US" altLang="zh-CN" sz="1700" b="0" i="1" smtClean="0">
                              <a:latin typeface="Cambria Math" panose="02040503050406030204" pitchFamily="18" charset="0"/>
                            </a:rPr>
                            <m:t>𝑥</m:t>
                          </m:r>
                        </m:den>
                      </m:f>
                      <m:r>
                        <a:rPr lang="en-US" altLang="zh-CN" sz="1700" b="1" i="1" smtClean="0">
                          <a:latin typeface="Cambria Math" panose="02040503050406030204" pitchFamily="18" charset="0"/>
                        </a:rPr>
                        <m:t>,  </m:t>
                      </m:r>
                      <m:sSup>
                        <m:sSupPr>
                          <m:ctrlPr>
                            <a:rPr lang="en-US" altLang="zh-CN" sz="1700" b="1" i="1" smtClean="0">
                              <a:latin typeface="Cambria Math" panose="02040503050406030204" pitchFamily="18" charset="0"/>
                            </a:rPr>
                          </m:ctrlPr>
                        </m:sSupPr>
                        <m:e>
                          <m:r>
                            <a:rPr lang="en-US" altLang="zh-CN" sz="1700" b="1" i="1" smtClean="0">
                              <a:latin typeface="Cambria Math" panose="02040503050406030204" pitchFamily="18" charset="0"/>
                            </a:rPr>
                            <m:t>𝑮</m:t>
                          </m:r>
                        </m:e>
                        <m:sup>
                          <m:r>
                            <a:rPr lang="en-US" altLang="zh-CN" sz="1700" b="1" i="1" smtClean="0">
                              <a:latin typeface="Cambria Math" panose="02040503050406030204" pitchFamily="18" charset="0"/>
                            </a:rPr>
                            <m:t>′</m:t>
                          </m:r>
                        </m:sup>
                      </m:sSup>
                      <m:r>
                        <a:rPr lang="en-US" altLang="zh-CN" sz="1700" b="1" i="1" smtClean="0">
                          <a:latin typeface="Cambria Math" panose="02040503050406030204" pitchFamily="18" charset="0"/>
                        </a:rPr>
                        <m:t>=</m:t>
                      </m:r>
                      <m:f>
                        <m:fPr>
                          <m:ctrlPr>
                            <a:rPr lang="en-US" altLang="zh-CN" sz="1700" b="1" i="1" smtClean="0">
                              <a:latin typeface="Cambria Math" panose="02040503050406030204" pitchFamily="18" charset="0"/>
                            </a:rPr>
                          </m:ctrlPr>
                        </m:fPr>
                        <m:num>
                          <m:r>
                            <a:rPr lang="en-US" altLang="zh-CN" sz="1700" b="1" i="1" smtClean="0">
                              <a:latin typeface="Cambria Math" panose="02040503050406030204" pitchFamily="18" charset="0"/>
                            </a:rPr>
                            <m:t>𝑮</m:t>
                          </m:r>
                        </m:num>
                        <m:den>
                          <m:r>
                            <a:rPr lang="en-US" altLang="zh-CN" sz="1700" b="0" i="1" smtClean="0">
                              <a:latin typeface="Cambria Math" panose="02040503050406030204" pitchFamily="18" charset="0"/>
                            </a:rPr>
                            <m:t>𝑦</m:t>
                          </m:r>
                        </m:den>
                      </m:f>
                      <m:r>
                        <a:rPr lang="en-US" altLang="zh-CN" sz="1700" b="1" i="1" smtClean="0">
                          <a:latin typeface="Cambria Math" panose="02040503050406030204" pitchFamily="18" charset="0"/>
                        </a:rPr>
                        <m:t>,  </m:t>
                      </m:r>
                      <m:sSup>
                        <m:sSupPr>
                          <m:ctrlPr>
                            <a:rPr lang="en-US" altLang="zh-CN" sz="1700" b="1" i="1" smtClean="0">
                              <a:latin typeface="Cambria Math" panose="02040503050406030204" pitchFamily="18" charset="0"/>
                            </a:rPr>
                          </m:ctrlPr>
                        </m:sSupPr>
                        <m:e>
                          <m:r>
                            <a:rPr lang="en-US" altLang="zh-CN" sz="1700" b="1" i="1" smtClean="0">
                              <a:latin typeface="Cambria Math" panose="02040503050406030204" pitchFamily="18" charset="0"/>
                            </a:rPr>
                            <m:t>𝑩</m:t>
                          </m:r>
                        </m:e>
                        <m:sup>
                          <m:r>
                            <a:rPr lang="en-US" altLang="zh-CN" sz="1700" b="1" i="1" smtClean="0">
                              <a:latin typeface="Cambria Math" panose="02040503050406030204" pitchFamily="18" charset="0"/>
                            </a:rPr>
                            <m:t>′</m:t>
                          </m:r>
                        </m:sup>
                      </m:sSup>
                      <m:r>
                        <a:rPr lang="en-US" altLang="zh-CN" sz="1700" b="1" i="1" smtClean="0">
                          <a:latin typeface="Cambria Math" panose="02040503050406030204" pitchFamily="18" charset="0"/>
                        </a:rPr>
                        <m:t>=</m:t>
                      </m:r>
                      <m:f>
                        <m:fPr>
                          <m:ctrlPr>
                            <a:rPr lang="en-US" altLang="zh-CN" sz="1700" b="1" i="1" smtClean="0">
                              <a:latin typeface="Cambria Math" panose="02040503050406030204" pitchFamily="18" charset="0"/>
                            </a:rPr>
                          </m:ctrlPr>
                        </m:fPr>
                        <m:num>
                          <m:r>
                            <a:rPr lang="en-US" altLang="zh-CN" sz="1700" b="1" i="1" smtClean="0">
                              <a:latin typeface="Cambria Math" panose="02040503050406030204" pitchFamily="18" charset="0"/>
                            </a:rPr>
                            <m:t>𝑩</m:t>
                          </m:r>
                        </m:num>
                        <m:den>
                          <m:r>
                            <a:rPr lang="en-US" altLang="zh-CN" sz="1700" b="0" i="1" smtClean="0">
                              <a:latin typeface="Cambria Math" panose="02040503050406030204" pitchFamily="18" charset="0"/>
                            </a:rPr>
                            <m:t>𝑧</m:t>
                          </m:r>
                        </m:den>
                      </m:f>
                    </m:oMath>
                  </m:oMathPara>
                </a14:m>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其中</a:t>
                </a:r>
                <a14:m>
                  <m:oMath xmlns:m="http://schemas.openxmlformats.org/officeDocument/2006/math">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𝑹</m:t>
                        </m:r>
                      </m:e>
                      <m:sup>
                        <m:r>
                          <a:rPr lang="en-US" altLang="zh-CN" sz="1700" b="1" i="1">
                            <a:latin typeface="Cambria Math" panose="02040503050406030204" pitchFamily="18" charset="0"/>
                          </a:rPr>
                          <m:t>′</m:t>
                        </m:r>
                      </m:sup>
                    </m:sSup>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𝑮</m:t>
                        </m:r>
                      </m:e>
                      <m:sup>
                        <m:r>
                          <a:rPr lang="en-US" altLang="zh-CN" sz="1700" b="1" i="1">
                            <a:latin typeface="Cambria Math" panose="02040503050406030204" pitchFamily="18" charset="0"/>
                          </a:rPr>
                          <m:t>′</m:t>
                        </m:r>
                      </m:sup>
                    </m:sSup>
                  </m:oMath>
                </a14:m>
                <a:r>
                  <a:rPr lang="zh-CN" altLang="en-US" sz="1700"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sz="1700" b="1" i="1" smtClean="0">
                            <a:latin typeface="Cambria Math" panose="02040503050406030204" pitchFamily="18" charset="0"/>
                          </a:rPr>
                        </m:ctrlPr>
                      </m:sSupPr>
                      <m:e>
                        <m:r>
                          <a:rPr lang="en-US" altLang="zh-CN" sz="1700" b="1" i="1" smtClean="0">
                            <a:latin typeface="Cambria Math" panose="02040503050406030204" pitchFamily="18" charset="0"/>
                          </a:rPr>
                          <m:t>𝑩</m:t>
                        </m:r>
                      </m:e>
                      <m:sup>
                        <m:r>
                          <a:rPr lang="en-US" altLang="zh-CN" sz="1700" b="1" i="1">
                            <a:latin typeface="Cambria Math" panose="02040503050406030204" pitchFamily="18" charset="0"/>
                          </a:rPr>
                          <m:t>′</m:t>
                        </m:r>
                      </m:sup>
                    </m:sSup>
                  </m:oMath>
                </a14:m>
                <a:r>
                  <a:rPr lang="zh-CN" altLang="en-US" sz="1700" dirty="0">
                    <a:latin typeface="Noto Sans SC" panose="020B0200000000000000" pitchFamily="34" charset="-122"/>
                    <a:ea typeface="Noto Sans SC" panose="020B0200000000000000" pitchFamily="34" charset="-122"/>
                  </a:rPr>
                  <a:t>为一单位</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标准三原色，于是：</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1" i="1" dirty="0">
                          <a:latin typeface="Cambria Math" panose="02040503050406030204" pitchFamily="18" charset="0"/>
                        </a:rPr>
                        <m:t>𝑪</m:t>
                      </m:r>
                      <m:r>
                        <a:rPr lang="en-US" altLang="zh-CN" sz="1700" i="1" dirty="0">
                          <a:latin typeface="Cambria Math" panose="02040503050406030204" pitchFamily="18" charset="0"/>
                          <a:ea typeface="Cambria Math" panose="02040503050406030204" pitchFamily="18" charset="0"/>
                        </a:rPr>
                        <m:t>≡</m:t>
                      </m:r>
                      <m:r>
                        <a:rPr lang="en-US" altLang="zh-CN" sz="1700" b="0" i="1" dirty="0">
                          <a:latin typeface="Cambria Math" panose="02040503050406030204" pitchFamily="18" charset="0"/>
                        </a:rPr>
                        <m:t>𝑟</m:t>
                      </m:r>
                      <m:d>
                        <m:dPr>
                          <m:ctrlPr>
                            <a:rPr lang="en-US" altLang="zh-CN" sz="1700" b="0" i="1" dirty="0">
                              <a:latin typeface="Cambria Math" panose="02040503050406030204" pitchFamily="18" charset="0"/>
                            </a:rPr>
                          </m:ctrlPr>
                        </m:dPr>
                        <m:e>
                          <m:r>
                            <a:rPr lang="en-US" altLang="zh-CN" sz="1700" b="0" i="1" dirty="0">
                              <a:latin typeface="Cambria Math" panose="02040503050406030204" pitchFamily="18" charset="0"/>
                            </a:rPr>
                            <m:t>𝜆</m:t>
                          </m:r>
                        </m:e>
                      </m:d>
                      <m:sSub>
                        <m:sSubPr>
                          <m:ctrlPr>
                            <a:rPr lang="en-US" altLang="zh-CN" sz="1700" b="1" i="1" dirty="0">
                              <a:latin typeface="Cambria Math" panose="02040503050406030204" pitchFamily="18" charset="0"/>
                            </a:rPr>
                          </m:ctrlPr>
                        </m:sSubPr>
                        <m:e>
                          <m:r>
                            <a:rPr lang="en-US" altLang="zh-CN" sz="1700" b="1" i="1" dirty="0">
                              <a:latin typeface="Cambria Math" panose="02040503050406030204" pitchFamily="18" charset="0"/>
                            </a:rPr>
                            <m:t>𝑹</m:t>
                          </m:r>
                        </m:e>
                        <m:sub>
                          <m:r>
                            <a:rPr lang="en-US" altLang="zh-CN" sz="1700" b="1" i="1" dirty="0">
                              <a:latin typeface="Cambria Math" panose="02040503050406030204" pitchFamily="18" charset="0"/>
                            </a:rPr>
                            <m:t>𝟏</m:t>
                          </m:r>
                        </m:sub>
                      </m:sSub>
                      <m:r>
                        <a:rPr lang="en-US" altLang="zh-CN" sz="1700" b="0" i="1" dirty="0">
                          <a:latin typeface="Cambria Math" panose="02040503050406030204" pitchFamily="18" charset="0"/>
                        </a:rPr>
                        <m:t>+</m:t>
                      </m:r>
                      <m:r>
                        <a:rPr lang="en-US" altLang="zh-CN" sz="1700" b="0" i="1" dirty="0" smtClean="0">
                          <a:latin typeface="Cambria Math" panose="02040503050406030204" pitchFamily="18" charset="0"/>
                        </a:rPr>
                        <m:t>𝑔</m:t>
                      </m:r>
                      <m:d>
                        <m:dPr>
                          <m:ctrlPr>
                            <a:rPr lang="en-US" altLang="zh-CN" sz="1700" b="0" i="1" dirty="0">
                              <a:latin typeface="Cambria Math" panose="02040503050406030204" pitchFamily="18" charset="0"/>
                            </a:rPr>
                          </m:ctrlPr>
                        </m:dPr>
                        <m:e>
                          <m:r>
                            <a:rPr lang="en-US" altLang="zh-CN" sz="1700" b="0" i="1" dirty="0">
                              <a:latin typeface="Cambria Math" panose="02040503050406030204" pitchFamily="18" charset="0"/>
                            </a:rPr>
                            <m:t>𝜆</m:t>
                          </m:r>
                        </m:e>
                      </m:d>
                      <m:sSub>
                        <m:sSubPr>
                          <m:ctrlPr>
                            <a:rPr lang="en-US" altLang="zh-CN" sz="1700" b="1" i="1" dirty="0" smtClean="0">
                              <a:latin typeface="Cambria Math" panose="02040503050406030204" pitchFamily="18" charset="0"/>
                            </a:rPr>
                          </m:ctrlPr>
                        </m:sSubPr>
                        <m:e>
                          <m:r>
                            <a:rPr lang="en-US" altLang="zh-CN" sz="1700" b="1" i="1" dirty="0" smtClean="0">
                              <a:latin typeface="Cambria Math" panose="02040503050406030204" pitchFamily="18" charset="0"/>
                            </a:rPr>
                            <m:t>𝑮</m:t>
                          </m:r>
                        </m:e>
                        <m:sub>
                          <m:r>
                            <a:rPr lang="en-US" altLang="zh-CN" sz="1700" b="1" i="1" dirty="0">
                              <a:latin typeface="Cambria Math" panose="02040503050406030204" pitchFamily="18" charset="0"/>
                            </a:rPr>
                            <m:t>𝟏</m:t>
                          </m:r>
                        </m:sub>
                      </m:sSub>
                      <m:r>
                        <a:rPr lang="en-US" altLang="zh-CN" sz="1700" b="0" i="1" dirty="0">
                          <a:latin typeface="Cambria Math" panose="02040503050406030204" pitchFamily="18" charset="0"/>
                        </a:rPr>
                        <m:t>+</m:t>
                      </m:r>
                      <m:r>
                        <a:rPr lang="en-US" altLang="zh-CN" sz="1700" b="0" i="1" dirty="0" smtClean="0">
                          <a:latin typeface="Cambria Math" panose="02040503050406030204" pitchFamily="18" charset="0"/>
                        </a:rPr>
                        <m:t>𝑏</m:t>
                      </m:r>
                      <m:d>
                        <m:dPr>
                          <m:ctrlPr>
                            <a:rPr lang="en-US" altLang="zh-CN" sz="1700" b="0" i="1" dirty="0">
                              <a:latin typeface="Cambria Math" panose="02040503050406030204" pitchFamily="18" charset="0"/>
                            </a:rPr>
                          </m:ctrlPr>
                        </m:dPr>
                        <m:e>
                          <m:r>
                            <a:rPr lang="en-US" altLang="zh-CN" sz="1700" b="0" i="1" dirty="0">
                              <a:latin typeface="Cambria Math" panose="02040503050406030204" pitchFamily="18" charset="0"/>
                            </a:rPr>
                            <m:t>𝜆</m:t>
                          </m:r>
                        </m:e>
                      </m:d>
                      <m:sSub>
                        <m:sSubPr>
                          <m:ctrlPr>
                            <a:rPr lang="en-US" altLang="zh-CN" sz="1700" b="1" i="1" dirty="0" smtClean="0">
                              <a:latin typeface="Cambria Math" panose="02040503050406030204" pitchFamily="18" charset="0"/>
                            </a:rPr>
                          </m:ctrlPr>
                        </m:sSubPr>
                        <m:e>
                          <m:r>
                            <a:rPr lang="en-US" altLang="zh-CN" sz="1700" b="1" i="1" dirty="0" smtClean="0">
                              <a:latin typeface="Cambria Math" panose="02040503050406030204" pitchFamily="18" charset="0"/>
                            </a:rPr>
                            <m:t>𝑩</m:t>
                          </m:r>
                        </m:e>
                        <m:sub>
                          <m:r>
                            <a:rPr lang="en-US" altLang="zh-CN" sz="1700" b="1" i="1" dirty="0" smtClean="0">
                              <a:latin typeface="Cambria Math" panose="02040503050406030204" pitchFamily="18" charset="0"/>
                            </a:rPr>
                            <m:t>𝟏</m:t>
                          </m:r>
                        </m:sub>
                      </m:sSub>
                    </m:oMath>
                  </m:oMathPara>
                </a14:m>
                <a:endParaRPr lang="en-US" altLang="zh-CN" sz="17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1" i="1" dirty="0">
                          <a:latin typeface="Cambria Math" panose="02040503050406030204" pitchFamily="18" charset="0"/>
                        </a:rPr>
                        <m:t>𝑪</m:t>
                      </m:r>
                      <m:r>
                        <a:rPr lang="en-US" altLang="zh-CN" sz="1700" i="1" dirty="0">
                          <a:latin typeface="Cambria Math" panose="02040503050406030204" pitchFamily="18" charset="0"/>
                          <a:ea typeface="Cambria Math" panose="02040503050406030204" pitchFamily="18" charset="0"/>
                        </a:rPr>
                        <m:t>≡</m:t>
                      </m:r>
                      <m:r>
                        <a:rPr lang="en-US" altLang="zh-CN" sz="1700" i="1" dirty="0">
                          <a:latin typeface="Cambria Math" panose="02040503050406030204" pitchFamily="18" charset="0"/>
                        </a:rPr>
                        <m:t>𝑟</m:t>
                      </m:r>
                      <m:d>
                        <m:dPr>
                          <m:ctrlPr>
                            <a:rPr lang="en-US" altLang="zh-CN" sz="1700" i="1" dirty="0">
                              <a:latin typeface="Cambria Math" panose="02040503050406030204" pitchFamily="18" charset="0"/>
                            </a:rPr>
                          </m:ctrlPr>
                        </m:dPr>
                        <m:e>
                          <m:r>
                            <a:rPr lang="en-US" altLang="zh-CN" sz="1700" i="1" dirty="0">
                              <a:latin typeface="Cambria Math" panose="02040503050406030204" pitchFamily="18" charset="0"/>
                            </a:rPr>
                            <m:t>𝜆</m:t>
                          </m:r>
                        </m:e>
                      </m:d>
                      <m:d>
                        <m:dPr>
                          <m:ctrlPr>
                            <a:rPr lang="en-US" altLang="zh-CN" sz="1700" i="1">
                              <a:latin typeface="Cambria Math" panose="02040503050406030204" pitchFamily="18" charset="0"/>
                            </a:rPr>
                          </m:ctrlPr>
                        </m:dPr>
                        <m:e>
                          <m:r>
                            <a:rPr lang="en-US" altLang="zh-CN" sz="1700" i="1">
                              <a:latin typeface="Cambria Math" panose="02040503050406030204" pitchFamily="18" charset="0"/>
                            </a:rPr>
                            <m:t>𝑎</m:t>
                          </m:r>
                          <m:r>
                            <a:rPr lang="en-US" altLang="zh-CN" sz="1700" b="1" i="1">
                              <a:latin typeface="Cambria Math" panose="02040503050406030204" pitchFamily="18" charset="0"/>
                            </a:rPr>
                            <m:t>𝑹</m:t>
                          </m:r>
                          <m:r>
                            <a:rPr lang="en-US" altLang="zh-CN" sz="1700" i="1">
                              <a:latin typeface="Cambria Math" panose="02040503050406030204" pitchFamily="18" charset="0"/>
                            </a:rPr>
                            <m:t>+</m:t>
                          </m:r>
                          <m:r>
                            <a:rPr lang="en-US" altLang="zh-CN" sz="1700" i="1">
                              <a:latin typeface="Cambria Math" panose="02040503050406030204" pitchFamily="18" charset="0"/>
                            </a:rPr>
                            <m:t>𝑏</m:t>
                          </m:r>
                          <m:r>
                            <a:rPr lang="en-US" altLang="zh-CN" sz="1700" b="1" i="1">
                              <a:latin typeface="Cambria Math" panose="02040503050406030204" pitchFamily="18" charset="0"/>
                            </a:rPr>
                            <m:t>𝑮</m:t>
                          </m:r>
                          <m:r>
                            <a:rPr lang="en-US" altLang="zh-CN" sz="1700" i="1">
                              <a:latin typeface="Cambria Math" panose="02040503050406030204" pitchFamily="18" charset="0"/>
                            </a:rPr>
                            <m:t>+</m:t>
                          </m:r>
                          <m:r>
                            <a:rPr lang="en-US" altLang="zh-CN" sz="1700" i="1">
                              <a:latin typeface="Cambria Math" panose="02040503050406030204" pitchFamily="18" charset="0"/>
                            </a:rPr>
                            <m:t>𝑐</m:t>
                          </m:r>
                          <m:r>
                            <a:rPr lang="en-US" altLang="zh-CN" sz="1700" b="1" i="1">
                              <a:latin typeface="Cambria Math" panose="02040503050406030204" pitchFamily="18" charset="0"/>
                            </a:rPr>
                            <m:t>𝑩</m:t>
                          </m:r>
                        </m:e>
                      </m:d>
                      <m:r>
                        <a:rPr lang="en-US" altLang="zh-CN" sz="1700" b="0" i="1" dirty="0" smtClean="0">
                          <a:latin typeface="Cambria Math" panose="02040503050406030204" pitchFamily="18" charset="0"/>
                        </a:rPr>
                        <m:t>+ </m:t>
                      </m:r>
                      <m:r>
                        <a:rPr lang="en-US" altLang="zh-CN" sz="1700" i="1" dirty="0">
                          <a:latin typeface="Cambria Math" panose="02040503050406030204" pitchFamily="18" charset="0"/>
                        </a:rPr>
                        <m:t>𝑔</m:t>
                      </m:r>
                      <m:d>
                        <m:dPr>
                          <m:ctrlPr>
                            <a:rPr lang="en-US" altLang="zh-CN" sz="1700" i="1" dirty="0">
                              <a:latin typeface="Cambria Math" panose="02040503050406030204" pitchFamily="18" charset="0"/>
                            </a:rPr>
                          </m:ctrlPr>
                        </m:dPr>
                        <m:e>
                          <m:r>
                            <a:rPr lang="en-US" altLang="zh-CN" sz="1700" i="1" dirty="0">
                              <a:latin typeface="Cambria Math" panose="02040503050406030204" pitchFamily="18" charset="0"/>
                            </a:rPr>
                            <m:t>𝜆</m:t>
                          </m:r>
                        </m:e>
                      </m:d>
                      <m:d>
                        <m:dPr>
                          <m:ctrlPr>
                            <a:rPr lang="en-US" altLang="zh-CN" sz="1700" i="1">
                              <a:latin typeface="Cambria Math" panose="02040503050406030204" pitchFamily="18" charset="0"/>
                            </a:rPr>
                          </m:ctrlPr>
                        </m:dPr>
                        <m:e>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b="1" i="1">
                                  <a:latin typeface="Cambria Math" panose="02040503050406030204" pitchFamily="18" charset="0"/>
                                </a:rPr>
                                <m:t>′</m:t>
                              </m:r>
                            </m:sup>
                          </m:sSup>
                          <m:r>
                            <a:rPr lang="en-US" altLang="zh-CN" sz="1700" b="1" i="1">
                              <a:latin typeface="Cambria Math" panose="02040503050406030204" pitchFamily="18" charset="0"/>
                            </a:rPr>
                            <m:t>𝑹</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b="1" i="1">
                                  <a:latin typeface="Cambria Math" panose="02040503050406030204" pitchFamily="18" charset="0"/>
                                </a:rPr>
                                <m:t>′</m:t>
                              </m:r>
                            </m:sup>
                          </m:sSup>
                          <m:r>
                            <a:rPr lang="en-US" altLang="zh-CN" sz="1700" b="1" i="1">
                              <a:latin typeface="Cambria Math" panose="02040503050406030204" pitchFamily="18" charset="0"/>
                            </a:rPr>
                            <m:t>𝑮</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r>
                            <a:rPr lang="en-US" altLang="zh-CN" sz="1700" b="1" i="1">
                              <a:latin typeface="Cambria Math" panose="02040503050406030204" pitchFamily="18" charset="0"/>
                            </a:rPr>
                            <m:t>𝑩</m:t>
                          </m:r>
                          <m:r>
                            <m:rPr>
                              <m:nor/>
                            </m:rPr>
                            <a:rPr lang="en-US" altLang="zh-CN" sz="1700" b="0" i="0" dirty="0">
                              <a:latin typeface="Noto Sans SC" panose="020B0200000000000000" pitchFamily="34" charset="-122"/>
                              <a:ea typeface="Noto Sans SC" panose="020B0200000000000000" pitchFamily="34" charset="-122"/>
                            </a:rPr>
                            <m:t> </m:t>
                          </m:r>
                        </m:e>
                      </m:d>
                      <m:r>
                        <a:rPr lang="en-US" altLang="zh-CN" sz="1700" i="1" dirty="0">
                          <a:latin typeface="Cambria Math" panose="02040503050406030204" pitchFamily="18" charset="0"/>
                        </a:rPr>
                        <m:t>+</m:t>
                      </m:r>
                      <m:r>
                        <a:rPr lang="en-US" altLang="zh-CN" sz="1700" b="0" i="1" dirty="0" smtClean="0">
                          <a:latin typeface="Cambria Math" panose="02040503050406030204" pitchFamily="18" charset="0"/>
                        </a:rPr>
                        <m:t> </m:t>
                      </m:r>
                      <m:r>
                        <a:rPr lang="en-US" altLang="zh-CN" sz="1700" i="1" dirty="0">
                          <a:latin typeface="Cambria Math" panose="02040503050406030204" pitchFamily="18" charset="0"/>
                        </a:rPr>
                        <m:t>𝑏</m:t>
                      </m:r>
                      <m:d>
                        <m:dPr>
                          <m:ctrlPr>
                            <a:rPr lang="en-US" altLang="zh-CN" sz="1700" i="1" dirty="0">
                              <a:latin typeface="Cambria Math" panose="02040503050406030204" pitchFamily="18" charset="0"/>
                            </a:rPr>
                          </m:ctrlPr>
                        </m:dPr>
                        <m:e>
                          <m:r>
                            <a:rPr lang="en-US" altLang="zh-CN" sz="1700" i="1" dirty="0">
                              <a:latin typeface="Cambria Math" panose="02040503050406030204" pitchFamily="18" charset="0"/>
                            </a:rPr>
                            <m:t>𝜆</m:t>
                          </m:r>
                        </m:e>
                      </m:d>
                      <m:d>
                        <m:dPr>
                          <m:ctrlPr>
                            <a:rPr lang="en-US" altLang="zh-CN" sz="1700" i="1">
                              <a:latin typeface="Cambria Math" panose="02040503050406030204" pitchFamily="18" charset="0"/>
                            </a:rPr>
                          </m:ctrlPr>
                        </m:dPr>
                        <m:e>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r>
                            <a:rPr lang="en-US" altLang="zh-CN" sz="1700" b="1" i="1">
                              <a:latin typeface="Cambria Math" panose="02040503050406030204" pitchFamily="18" charset="0"/>
                            </a:rPr>
                            <m:t>𝑹</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r>
                            <a:rPr lang="en-US" altLang="zh-CN" sz="1700" b="1" i="1">
                              <a:latin typeface="Cambria Math" panose="02040503050406030204" pitchFamily="18" charset="0"/>
                            </a:rPr>
                            <m:t>𝑮</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r>
                            <a:rPr lang="en-US" altLang="zh-CN" sz="1700" b="1" i="1">
                              <a:latin typeface="Cambria Math" panose="02040503050406030204" pitchFamily="18" charset="0"/>
                            </a:rPr>
                            <m:t>𝑩</m:t>
                          </m:r>
                          <m:r>
                            <m:rPr>
                              <m:nor/>
                            </m:rPr>
                            <a:rPr lang="en-US" altLang="zh-CN" sz="1700" b="0" i="0" dirty="0">
                              <a:latin typeface="Noto Sans SC" panose="020B0200000000000000" pitchFamily="34" charset="-122"/>
                              <a:ea typeface="Noto Sans SC" panose="020B0200000000000000" pitchFamily="34" charset="-122"/>
                            </a:rPr>
                            <m:t> </m:t>
                          </m:r>
                        </m:e>
                      </m:d>
                    </m:oMath>
                  </m:oMathPara>
                </a14:m>
                <a:endParaRPr lang="en-US" altLang="zh-CN" sz="1700" b="1"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1" i="1" smtClean="0">
                          <a:latin typeface="Cambria Math" panose="02040503050406030204" pitchFamily="18" charset="0"/>
                        </a:rPr>
                        <m:t>𝑪</m:t>
                      </m:r>
                      <m:r>
                        <a:rPr lang="en-US" altLang="zh-CN" sz="1700" i="1" dirty="0">
                          <a:latin typeface="Cambria Math" panose="02040503050406030204" pitchFamily="18" charset="0"/>
                          <a:ea typeface="Cambria Math" panose="02040503050406030204" pitchFamily="18" charset="0"/>
                        </a:rPr>
                        <m:t>≡</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𝑎</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𝑟</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𝑥</m:t>
                      </m:r>
                      <m:sSup>
                        <m:sSupPr>
                          <m:ctrlPr>
                            <a:rPr lang="en-US" altLang="zh-CN" sz="1700" b="1" i="1">
                              <a:latin typeface="Cambria Math" panose="02040503050406030204" pitchFamily="18" charset="0"/>
                            </a:rPr>
                          </m:ctrlPr>
                        </m:sSupPr>
                        <m:e>
                          <m:r>
                            <a:rPr lang="en-US" altLang="zh-CN" sz="1700" b="1" i="1">
                              <a:latin typeface="Cambria Math" panose="02040503050406030204" pitchFamily="18" charset="0"/>
                            </a:rPr>
                            <m:t>𝑹</m:t>
                          </m:r>
                        </m:e>
                        <m:sup>
                          <m:r>
                            <a:rPr lang="en-US" altLang="zh-CN" sz="1700" b="1" i="1">
                              <a:latin typeface="Cambria Math" panose="02040503050406030204" pitchFamily="18" charset="0"/>
                            </a:rPr>
                            <m:t>′</m:t>
                          </m:r>
                        </m:sup>
                      </m:sSup>
                      <m:r>
                        <a:rPr lang="en-US" altLang="zh-CN" sz="1700" b="1" i="1" smtClean="0">
                          <a:latin typeface="Cambria Math" panose="02040503050406030204" pitchFamily="18" charset="0"/>
                        </a:rPr>
                        <m:t>+</m:t>
                      </m:r>
                      <m:d>
                        <m:dPr>
                          <m:ctrlPr>
                            <a:rPr lang="en-US" altLang="zh-CN" sz="1700" b="0" i="1" smtClean="0">
                              <a:latin typeface="Cambria Math" panose="02040503050406030204" pitchFamily="18" charset="0"/>
                            </a:rPr>
                          </m:ctrlPr>
                        </m:dPr>
                        <m:e>
                          <m:r>
                            <a:rPr lang="en-US" altLang="zh-CN" sz="1700" b="0" i="1" smtClean="0">
                              <a:latin typeface="Cambria Math" panose="02040503050406030204" pitchFamily="18" charset="0"/>
                            </a:rPr>
                            <m:t>𝑏</m:t>
                          </m:r>
                          <m:r>
                            <a:rPr lang="en-US" altLang="zh-CN" sz="1700" i="1">
                              <a:latin typeface="Cambria Math" panose="02040503050406030204" pitchFamily="18" charset="0"/>
                            </a:rPr>
                            <m:t>+</m:t>
                          </m:r>
                          <m:sSup>
                            <m:sSupPr>
                              <m:ctrlPr>
                                <a:rPr lang="en-US" altLang="zh-CN" sz="1700" b="0" i="1" smtClean="0">
                                  <a:latin typeface="Cambria Math" panose="02040503050406030204" pitchFamily="18" charset="0"/>
                                </a:rPr>
                              </m:ctrlPr>
                            </m:sSupPr>
                            <m:e>
                              <m:r>
                                <a:rPr lang="en-US" altLang="zh-CN" sz="1700" b="0" i="1" smtClean="0">
                                  <a:latin typeface="Cambria Math" panose="02040503050406030204" pitchFamily="18" charset="0"/>
                                </a:rPr>
                                <m:t>𝑏</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b="0" i="1" smtClean="0">
                                  <a:latin typeface="Cambria Math" panose="02040503050406030204" pitchFamily="18" charset="0"/>
                                </a:rPr>
                              </m:ctrlPr>
                            </m:sSupPr>
                            <m:e>
                              <m:r>
                                <a:rPr lang="en-US" altLang="zh-CN" sz="1700" b="0" i="1" smtClean="0">
                                  <a:latin typeface="Cambria Math" panose="02040503050406030204" pitchFamily="18" charset="0"/>
                                </a:rPr>
                                <m:t>𝑏</m:t>
                              </m:r>
                            </m:e>
                            <m:sup>
                              <m:r>
                                <a:rPr lang="en-US" altLang="zh-CN" sz="1700" i="1">
                                  <a:latin typeface="Cambria Math" panose="02040503050406030204" pitchFamily="18" charset="0"/>
                                </a:rPr>
                                <m:t>′′</m:t>
                              </m:r>
                            </m:sup>
                          </m:sSup>
                        </m:e>
                      </m:d>
                      <m:r>
                        <a:rPr lang="en-US" altLang="zh-CN" sz="1700" b="0" i="1" smtClean="0">
                          <a:latin typeface="Cambria Math" panose="02040503050406030204" pitchFamily="18" charset="0"/>
                        </a:rPr>
                        <m:t>𝑔</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b="0" i="1" smtClean="0">
                          <a:latin typeface="Cambria Math" panose="02040503050406030204" pitchFamily="18" charset="0"/>
                        </a:rPr>
                        <m:t>𝑦</m:t>
                      </m:r>
                      <m:sSup>
                        <m:sSupPr>
                          <m:ctrlPr>
                            <a:rPr lang="en-US" altLang="zh-CN" sz="1700" b="1" i="1" smtClean="0">
                              <a:latin typeface="Cambria Math" panose="02040503050406030204" pitchFamily="18" charset="0"/>
                            </a:rPr>
                          </m:ctrlPr>
                        </m:sSupPr>
                        <m:e>
                          <m:r>
                            <a:rPr lang="en-US" altLang="zh-CN" sz="1700" b="1" i="1" smtClean="0">
                              <a:latin typeface="Cambria Math" panose="02040503050406030204" pitchFamily="18" charset="0"/>
                            </a:rPr>
                            <m:t>𝑮</m:t>
                          </m:r>
                        </m:e>
                        <m:sup>
                          <m:r>
                            <a:rPr lang="en-US" altLang="zh-CN" sz="1700" b="1" i="1">
                              <a:latin typeface="Cambria Math" panose="02040503050406030204" pitchFamily="18" charset="0"/>
                            </a:rPr>
                            <m:t>′</m:t>
                          </m:r>
                        </m:sup>
                      </m:sSup>
                      <m:r>
                        <a:rPr lang="en-US" altLang="zh-CN" sz="1700" b="1" i="1" smtClean="0">
                          <a:latin typeface="Cambria Math" panose="02040503050406030204" pitchFamily="18" charset="0"/>
                        </a:rPr>
                        <m:t>+</m:t>
                      </m:r>
                      <m:d>
                        <m:dPr>
                          <m:ctrlPr>
                            <a:rPr lang="en-US" altLang="zh-CN" sz="1700" b="0" i="1" smtClean="0">
                              <a:latin typeface="Cambria Math" panose="02040503050406030204" pitchFamily="18" charset="0"/>
                            </a:rPr>
                          </m:ctrlPr>
                        </m:dPr>
                        <m:e>
                          <m:r>
                            <a:rPr lang="en-US" altLang="zh-CN" sz="1700" b="0" i="1" smtClean="0">
                              <a:latin typeface="Cambria Math" panose="02040503050406030204" pitchFamily="18" charset="0"/>
                            </a:rPr>
                            <m:t>𝑐</m:t>
                          </m:r>
                          <m:r>
                            <a:rPr lang="en-US" altLang="zh-CN" sz="1700" i="1">
                              <a:latin typeface="Cambria Math" panose="02040503050406030204" pitchFamily="18" charset="0"/>
                            </a:rPr>
                            <m:t>+</m:t>
                          </m:r>
                          <m:sSup>
                            <m:sSupPr>
                              <m:ctrlPr>
                                <a:rPr lang="en-US" altLang="zh-CN" sz="1700" b="0" i="1" smtClean="0">
                                  <a:latin typeface="Cambria Math" panose="02040503050406030204" pitchFamily="18" charset="0"/>
                                </a:rPr>
                              </m:ctrlPr>
                            </m:sSupPr>
                            <m:e>
                              <m:r>
                                <a:rPr lang="en-US" altLang="zh-CN" sz="1700" b="0" i="1" smtClean="0">
                                  <a:latin typeface="Cambria Math" panose="02040503050406030204" pitchFamily="18" charset="0"/>
                                </a:rPr>
                                <m:t>𝑐</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b="0" i="1" smtClean="0">
                                  <a:latin typeface="Cambria Math" panose="02040503050406030204" pitchFamily="18" charset="0"/>
                                </a:rPr>
                              </m:ctrlPr>
                            </m:sSupPr>
                            <m:e>
                              <m:r>
                                <a:rPr lang="en-US" altLang="zh-CN" sz="1700" b="0" i="1" smtClean="0">
                                  <a:latin typeface="Cambria Math" panose="02040503050406030204" pitchFamily="18" charset="0"/>
                                </a:rPr>
                                <m:t>𝑐</m:t>
                              </m:r>
                            </m:e>
                            <m:sup>
                              <m:r>
                                <a:rPr lang="en-US" altLang="zh-CN" sz="1700" i="1">
                                  <a:latin typeface="Cambria Math" panose="02040503050406030204" pitchFamily="18" charset="0"/>
                                </a:rPr>
                                <m:t>′′</m:t>
                              </m:r>
                            </m:sup>
                          </m:sSup>
                        </m:e>
                      </m:d>
                      <m:r>
                        <a:rPr lang="en-US" altLang="zh-CN" sz="1700" b="0" i="1" smtClean="0">
                          <a:latin typeface="Cambria Math" panose="02040503050406030204" pitchFamily="18" charset="0"/>
                        </a:rPr>
                        <m:t>𝑏</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b="0" i="1" smtClean="0">
                          <a:latin typeface="Cambria Math" panose="02040503050406030204" pitchFamily="18" charset="0"/>
                        </a:rPr>
                        <m:t>𝑧</m:t>
                      </m:r>
                      <m:sSup>
                        <m:sSupPr>
                          <m:ctrlPr>
                            <a:rPr lang="en-US" altLang="zh-CN" sz="1700" b="1" i="1" smtClean="0">
                              <a:latin typeface="Cambria Math" panose="02040503050406030204" pitchFamily="18" charset="0"/>
                            </a:rPr>
                          </m:ctrlPr>
                        </m:sSupPr>
                        <m:e>
                          <m:r>
                            <a:rPr lang="en-US" altLang="zh-CN" sz="1700" b="1" i="1" smtClean="0">
                              <a:latin typeface="Cambria Math" panose="02040503050406030204" pitchFamily="18" charset="0"/>
                            </a:rPr>
                            <m:t>𝑩</m:t>
                          </m:r>
                        </m:e>
                        <m:sup>
                          <m:r>
                            <a:rPr lang="en-US" altLang="zh-CN" sz="1700" b="1" i="1">
                              <a:latin typeface="Cambria Math" panose="02040503050406030204" pitchFamily="18" charset="0"/>
                            </a:rPr>
                            <m:t>′</m:t>
                          </m:r>
                        </m:sup>
                      </m:sSup>
                    </m:oMath>
                  </m:oMathPara>
                </a14:m>
                <a:endParaRPr lang="en-US" altLang="zh-CN" sz="1700" b="1" dirty="0">
                  <a:latin typeface="Noto Sans SC" panose="020B0200000000000000" pitchFamily="34" charset="-122"/>
                  <a:ea typeface="Noto Sans SC" panose="020B0200000000000000" pitchFamily="34" charset="-122"/>
                </a:endParaRPr>
              </a:p>
              <a:p>
                <a:pPr algn="just"/>
                <a:r>
                  <a:rPr lang="en-US" altLang="zh-CN" sz="1700" b="1"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最后，就可以得到</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标准三原色下的颜色比例函数为：</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700" b="0" i="1" smtClean="0">
                              <a:latin typeface="Cambria Math" panose="02040503050406030204" pitchFamily="18" charset="0"/>
                            </a:rPr>
                          </m:ctrlPr>
                        </m:sSupPr>
                        <m:e>
                          <m:r>
                            <a:rPr lang="en-US" altLang="zh-CN" sz="1700" b="0" i="1" smtClean="0">
                              <a:latin typeface="Cambria Math" panose="02040503050406030204" pitchFamily="18" charset="0"/>
                            </a:rPr>
                            <m:t>𝑟</m:t>
                          </m:r>
                        </m:e>
                        <m:sup>
                          <m:r>
                            <a:rPr lang="en-US" altLang="zh-CN" sz="1700" b="0" i="1" smtClean="0">
                              <a:latin typeface="Cambria Math" panose="02040503050406030204" pitchFamily="18" charset="0"/>
                            </a:rPr>
                            <m:t>′</m:t>
                          </m:r>
                        </m:sup>
                      </m:sSup>
                      <m:d>
                        <m:dPr>
                          <m:ctrlPr>
                            <a:rPr lang="en-US" altLang="zh-CN" sz="1700" b="0" i="1" smtClean="0">
                              <a:latin typeface="Cambria Math" panose="02040503050406030204" pitchFamily="18" charset="0"/>
                            </a:rPr>
                          </m:ctrlPr>
                        </m:dPr>
                        <m:e>
                          <m:r>
                            <a:rPr lang="en-US" altLang="zh-CN" sz="1700" b="0" i="1" smtClean="0">
                              <a:latin typeface="Cambria Math" panose="02040503050406030204" pitchFamily="18" charset="0"/>
                            </a:rPr>
                            <m:t>𝜆</m:t>
                          </m:r>
                        </m:e>
                      </m:d>
                      <m:r>
                        <a:rPr lang="en-US" altLang="zh-CN" sz="1700" b="0" i="1" smtClean="0">
                          <a:latin typeface="Cambria Math" panose="02040503050406030204" pitchFamily="18" charset="0"/>
                        </a:rPr>
                        <m:t>=</m:t>
                      </m:r>
                      <m:f>
                        <m:fPr>
                          <m:ctrlPr>
                            <a:rPr lang="en-US" altLang="zh-CN" sz="1700" i="1">
                              <a:latin typeface="Cambria Math" panose="02040503050406030204" pitchFamily="18" charset="0"/>
                            </a:rPr>
                          </m:ctrlPr>
                        </m:fPr>
                        <m:num>
                          <m:d>
                            <m:dPr>
                              <m:ctrlPr>
                                <a:rPr lang="en-US" altLang="zh-CN" sz="1700" i="1">
                                  <a:latin typeface="Cambria Math" panose="02040503050406030204" pitchFamily="18" charset="0"/>
                                </a:rPr>
                              </m:ctrlPr>
                            </m:dPr>
                            <m:e>
                              <m:r>
                                <a:rPr lang="en-US" altLang="zh-CN" sz="1700" i="1">
                                  <a:latin typeface="Cambria Math" panose="02040503050406030204" pitchFamily="18" charset="0"/>
                                </a:rPr>
                                <m:t>𝑎</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𝑟</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𝑥</m:t>
                          </m:r>
                        </m:num>
                        <m:den>
                          <m:d>
                            <m:dPr>
                              <m:ctrlPr>
                                <a:rPr lang="en-US" altLang="zh-CN" sz="1700" i="1">
                                  <a:latin typeface="Cambria Math" panose="02040503050406030204" pitchFamily="18" charset="0"/>
                                </a:rPr>
                              </m:ctrlPr>
                            </m:dPr>
                            <m:e>
                              <m:r>
                                <a:rPr lang="en-US" altLang="zh-CN" sz="1700" i="1">
                                  <a:latin typeface="Cambria Math" panose="02040503050406030204" pitchFamily="18" charset="0"/>
                                </a:rPr>
                                <m:t>𝑎</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𝑟</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𝑥</m:t>
                          </m:r>
                          <m:r>
                            <a:rPr lang="en-US" altLang="zh-CN" sz="1700" b="0" i="1" smtClean="0">
                              <a:latin typeface="Cambria Math" panose="02040503050406030204" pitchFamily="18" charset="0"/>
                            </a:rPr>
                            <m:t>+</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𝑏</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𝑔</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𝑦</m:t>
                          </m:r>
                          <m:r>
                            <a:rPr lang="en-US" altLang="zh-CN" sz="1700" b="0" i="1" smtClean="0">
                              <a:latin typeface="Cambria Math" panose="02040503050406030204" pitchFamily="18" charset="0"/>
                            </a:rPr>
                            <m:t>+</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𝑐</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𝑏</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𝑧</m:t>
                          </m:r>
                        </m:den>
                      </m:f>
                    </m:oMath>
                  </m:oMathPara>
                </a14:m>
                <a:endParaRPr lang="en-US" altLang="zh-CN" sz="1700" b="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700" b="0" i="1" smtClean="0">
                              <a:latin typeface="Cambria Math" panose="02040503050406030204" pitchFamily="18" charset="0"/>
                            </a:rPr>
                          </m:ctrlPr>
                        </m:sSupPr>
                        <m:e>
                          <m:r>
                            <a:rPr lang="en-US" altLang="zh-CN" sz="1700" b="0" i="1" smtClean="0">
                              <a:latin typeface="Cambria Math" panose="02040503050406030204" pitchFamily="18" charset="0"/>
                            </a:rPr>
                            <m:t>𝑔</m:t>
                          </m:r>
                        </m:e>
                        <m:sup>
                          <m:r>
                            <a:rPr lang="en-US" altLang="zh-CN" sz="1700" i="1">
                              <a:latin typeface="Cambria Math" panose="02040503050406030204" pitchFamily="18" charset="0"/>
                            </a:rPr>
                            <m:t>′</m:t>
                          </m:r>
                        </m:sup>
                      </m:sSup>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m:t>
                      </m:r>
                      <m:f>
                        <m:fPr>
                          <m:ctrlPr>
                            <a:rPr lang="en-US" altLang="zh-CN" sz="1700" i="1">
                              <a:latin typeface="Cambria Math" panose="02040503050406030204" pitchFamily="18" charset="0"/>
                            </a:rPr>
                          </m:ctrlPr>
                        </m:fPr>
                        <m:num>
                          <m:d>
                            <m:dPr>
                              <m:ctrlPr>
                                <a:rPr lang="en-US" altLang="zh-CN" sz="1700" i="1">
                                  <a:latin typeface="Cambria Math" panose="02040503050406030204" pitchFamily="18" charset="0"/>
                                </a:rPr>
                              </m:ctrlPr>
                            </m:dPr>
                            <m:e>
                              <m:r>
                                <a:rPr lang="en-US" altLang="zh-CN" sz="1700" i="1">
                                  <a:latin typeface="Cambria Math" panose="02040503050406030204" pitchFamily="18" charset="0"/>
                                </a:rPr>
                                <m:t>𝑏</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𝑔</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𝑦</m:t>
                          </m:r>
                        </m:num>
                        <m:den>
                          <m:d>
                            <m:dPr>
                              <m:ctrlPr>
                                <a:rPr lang="en-US" altLang="zh-CN" sz="1700" i="1">
                                  <a:latin typeface="Cambria Math" panose="02040503050406030204" pitchFamily="18" charset="0"/>
                                </a:rPr>
                              </m:ctrlPr>
                            </m:dPr>
                            <m:e>
                              <m:r>
                                <a:rPr lang="en-US" altLang="zh-CN" sz="1700" i="1">
                                  <a:latin typeface="Cambria Math" panose="02040503050406030204" pitchFamily="18" charset="0"/>
                                </a:rPr>
                                <m:t>𝑎</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𝑟</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𝑥</m:t>
                          </m:r>
                          <m:r>
                            <a:rPr lang="en-US" altLang="zh-CN" sz="1700" i="1">
                              <a:latin typeface="Cambria Math" panose="02040503050406030204" pitchFamily="18" charset="0"/>
                            </a:rPr>
                            <m:t>+</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𝑏</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𝑔</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𝑦</m:t>
                          </m:r>
                          <m:r>
                            <a:rPr lang="en-US" altLang="zh-CN" sz="1700" i="1">
                              <a:latin typeface="Cambria Math" panose="02040503050406030204" pitchFamily="18" charset="0"/>
                            </a:rPr>
                            <m:t>+</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𝑐</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𝑏</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𝑧</m:t>
                          </m:r>
                        </m:den>
                      </m:f>
                    </m:oMath>
                  </m:oMathPara>
                </a14:m>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700" b="0" i="1" smtClean="0">
                              <a:latin typeface="Cambria Math" panose="02040503050406030204" pitchFamily="18" charset="0"/>
                            </a:rPr>
                          </m:ctrlPr>
                        </m:sSupPr>
                        <m:e>
                          <m:r>
                            <a:rPr lang="en-US" altLang="zh-CN" sz="1700" b="0" i="1" smtClean="0">
                              <a:latin typeface="Cambria Math" panose="02040503050406030204" pitchFamily="18" charset="0"/>
                            </a:rPr>
                            <m:t>𝑏</m:t>
                          </m:r>
                        </m:e>
                        <m:sup>
                          <m:r>
                            <a:rPr lang="en-US" altLang="zh-CN" sz="1700" i="1">
                              <a:latin typeface="Cambria Math" panose="02040503050406030204" pitchFamily="18" charset="0"/>
                            </a:rPr>
                            <m:t>′</m:t>
                          </m:r>
                        </m:sup>
                      </m:sSup>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m:t>
                      </m:r>
                      <m:f>
                        <m:fPr>
                          <m:ctrlPr>
                            <a:rPr lang="en-US" altLang="zh-CN" sz="1700" i="1">
                              <a:latin typeface="Cambria Math" panose="02040503050406030204" pitchFamily="18" charset="0"/>
                            </a:rPr>
                          </m:ctrlPr>
                        </m:fPr>
                        <m:num>
                          <m:d>
                            <m:dPr>
                              <m:ctrlPr>
                                <a:rPr lang="en-US" altLang="zh-CN" sz="1700" i="1">
                                  <a:latin typeface="Cambria Math" panose="02040503050406030204" pitchFamily="18" charset="0"/>
                                </a:rPr>
                              </m:ctrlPr>
                            </m:dPr>
                            <m:e>
                              <m:r>
                                <a:rPr lang="en-US" altLang="zh-CN" sz="1700" i="1">
                                  <a:latin typeface="Cambria Math" panose="02040503050406030204" pitchFamily="18" charset="0"/>
                                </a:rPr>
                                <m:t>𝑐</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𝑏</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𝑧</m:t>
                          </m:r>
                        </m:num>
                        <m:den>
                          <m:d>
                            <m:dPr>
                              <m:ctrlPr>
                                <a:rPr lang="en-US" altLang="zh-CN" sz="1700" i="1">
                                  <a:latin typeface="Cambria Math" panose="02040503050406030204" pitchFamily="18" charset="0"/>
                                </a:rPr>
                              </m:ctrlPr>
                            </m:dPr>
                            <m:e>
                              <m:r>
                                <a:rPr lang="en-US" altLang="zh-CN" sz="1700" i="1">
                                  <a:latin typeface="Cambria Math" panose="02040503050406030204" pitchFamily="18" charset="0"/>
                                </a:rPr>
                                <m:t>𝑎</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𝑎</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𝑟</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𝑥</m:t>
                          </m:r>
                          <m:r>
                            <a:rPr lang="en-US" altLang="zh-CN" sz="1700" i="1">
                              <a:latin typeface="Cambria Math" panose="02040503050406030204" pitchFamily="18" charset="0"/>
                            </a:rPr>
                            <m:t>+</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𝑏</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𝑏</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𝑔</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𝑦</m:t>
                          </m:r>
                          <m:r>
                            <a:rPr lang="en-US" altLang="zh-CN" sz="1700" i="1">
                              <a:latin typeface="Cambria Math" panose="02040503050406030204" pitchFamily="18" charset="0"/>
                            </a:rPr>
                            <m:t>+</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𝑐</m:t>
                              </m:r>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r>
                                <a:rPr lang="en-US" altLang="zh-CN" sz="1700" i="1">
                                  <a:latin typeface="Cambria Math" panose="02040503050406030204" pitchFamily="18" charset="0"/>
                                </a:rPr>
                                <m:t>+</m:t>
                              </m:r>
                              <m:sSup>
                                <m:sSupPr>
                                  <m:ctrlPr>
                                    <a:rPr lang="en-US" altLang="zh-CN" sz="1700" i="1">
                                      <a:latin typeface="Cambria Math" panose="02040503050406030204" pitchFamily="18" charset="0"/>
                                    </a:rPr>
                                  </m:ctrlPr>
                                </m:sSupPr>
                                <m:e>
                                  <m:r>
                                    <a:rPr lang="en-US" altLang="zh-CN" sz="1700" i="1">
                                      <a:latin typeface="Cambria Math" panose="02040503050406030204" pitchFamily="18" charset="0"/>
                                    </a:rPr>
                                    <m:t>𝑐</m:t>
                                  </m:r>
                                </m:e>
                                <m:sup>
                                  <m:r>
                                    <a:rPr lang="en-US" altLang="zh-CN" sz="1700" i="1">
                                      <a:latin typeface="Cambria Math" panose="02040503050406030204" pitchFamily="18" charset="0"/>
                                    </a:rPr>
                                    <m:t>′′</m:t>
                                  </m:r>
                                </m:sup>
                              </m:sSup>
                            </m:e>
                          </m:d>
                          <m:r>
                            <a:rPr lang="en-US" altLang="zh-CN" sz="1700" i="1">
                              <a:latin typeface="Cambria Math" panose="02040503050406030204" pitchFamily="18" charset="0"/>
                            </a:rPr>
                            <m:t>𝑏</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𝜆</m:t>
                              </m:r>
                            </m:e>
                          </m:d>
                          <m:r>
                            <a:rPr lang="en-US" altLang="zh-CN" sz="1700" i="1">
                              <a:latin typeface="Cambria Math" panose="02040503050406030204" pitchFamily="18" charset="0"/>
                            </a:rPr>
                            <m:t>𝑧</m:t>
                          </m:r>
                        </m:den>
                      </m:f>
                    </m:oMath>
                  </m:oMathPara>
                </a14:m>
                <a:endParaRPr lang="en-US" altLang="zh-CN" sz="17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7240ED10-674B-99BA-69DA-EDCB5782534E}"/>
                  </a:ext>
                </a:extLst>
              </p:cNvPr>
              <p:cNvSpPr txBox="1">
                <a:spLocks noRot="1" noChangeAspect="1" noMove="1" noResize="1" noEditPoints="1" noAdjustHandles="1" noChangeArrowheads="1" noChangeShapeType="1" noTextEdit="1"/>
              </p:cNvSpPr>
              <p:nvPr/>
            </p:nvSpPr>
            <p:spPr>
              <a:xfrm>
                <a:off x="2204606" y="1429719"/>
                <a:ext cx="7782787" cy="5228226"/>
              </a:xfrm>
              <a:prstGeom prst="rect">
                <a:avLst/>
              </a:prstGeom>
              <a:blipFill>
                <a:blip r:embed="rId2"/>
                <a:stretch>
                  <a:fillRect l="-549" t="-700" r="-549"/>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C2BBBF8A-B512-C5C1-F063-D684E7865988}"/>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a:t>
            </a:r>
            <a:r>
              <a:rPr lang="zh-CN" altLang="en-US" sz="2000" b="1" dirty="0">
                <a:latin typeface="Noto Sans SC" panose="020B0200000000000000" pitchFamily="34" charset="-122"/>
                <a:ea typeface="Noto Sans SC" panose="020B0200000000000000" pitchFamily="34" charset="-122"/>
              </a:rPr>
              <a:t>的实验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最后的结果</a:t>
            </a:r>
            <a:endParaRPr lang="zh-CN" altLang="en-US" sz="11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18033116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26528-87AB-458D-213F-E31864520D0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848BA00-FE36-0D52-8809-A2ADF928B09E}"/>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p:sp>
        <p:nvSpPr>
          <p:cNvPr id="9" name="文本框 8">
            <a:extLst>
              <a:ext uri="{FF2B5EF4-FFF2-40B4-BE49-F238E27FC236}">
                <a16:creationId xmlns:a16="http://schemas.microsoft.com/office/drawing/2014/main" id="{6949E6FB-10B7-C01F-D577-A16FD7446CF1}"/>
              </a:ext>
            </a:extLst>
          </p:cNvPr>
          <p:cNvSpPr txBox="1"/>
          <p:nvPr/>
        </p:nvSpPr>
        <p:spPr>
          <a:xfrm>
            <a:off x="652041" y="1954731"/>
            <a:ext cx="5194892" cy="4247317"/>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约翰·古尔德</a:t>
            </a:r>
            <a:r>
              <a:rPr lang="en-US" altLang="zh-CN" dirty="0">
                <a:latin typeface="Noto Sans SC" panose="020B0200000000000000" pitchFamily="34" charset="-122"/>
                <a:ea typeface="Noto Sans SC" panose="020B0200000000000000" pitchFamily="34" charset="-122"/>
              </a:rPr>
              <a:t>(John Guild)</a:t>
            </a:r>
            <a:r>
              <a:rPr lang="zh-CN" altLang="en-US" dirty="0">
                <a:latin typeface="Noto Sans SC" panose="020B0200000000000000" pitchFamily="34" charset="-122"/>
                <a:ea typeface="Noto Sans SC" panose="020B0200000000000000" pitchFamily="34" charset="-122"/>
              </a:rPr>
              <a:t>，在</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实验的前一年，独立进行过颜色匹配实验，实验内容和</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的大致一样。</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但是，</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选用的三原色并不是单色光，而是用</a:t>
            </a:r>
            <a:r>
              <a:rPr lang="zh-CN" altLang="zh-CN" dirty="0">
                <a:latin typeface="Noto Sans SC" panose="020B0200000000000000" pitchFamily="34" charset="-122"/>
                <a:ea typeface="Noto Sans SC" panose="020B0200000000000000" pitchFamily="34" charset="-122"/>
              </a:rPr>
              <a:t>充气乳白灯泡</a:t>
            </a:r>
            <a:r>
              <a:rPr lang="zh-CN" altLang="en-US" dirty="0">
                <a:latin typeface="Noto Sans SC" panose="020B0200000000000000" pitchFamily="34" charset="-122"/>
                <a:ea typeface="Noto Sans SC" panose="020B0200000000000000" pitchFamily="34" charset="-122"/>
              </a:rPr>
              <a:t>配上红绿蓝三种</a:t>
            </a:r>
            <a:r>
              <a:rPr lang="zh-CN" altLang="zh-CN" dirty="0">
                <a:latin typeface="Noto Sans SC" panose="020B0200000000000000" pitchFamily="34" charset="-122"/>
                <a:ea typeface="Noto Sans SC" panose="020B0200000000000000" pitchFamily="34" charset="-122"/>
              </a:rPr>
              <a:t>明胶滤镜</a:t>
            </a:r>
            <a:r>
              <a:rPr lang="zh-CN" altLang="en-US" dirty="0">
                <a:latin typeface="Noto Sans SC" panose="020B0200000000000000" pitchFamily="34" charset="-122"/>
                <a:ea typeface="Noto Sans SC" panose="020B0200000000000000" pitchFamily="34" charset="-122"/>
              </a:rPr>
              <a:t>得到的</a:t>
            </a:r>
            <a:r>
              <a:rPr lang="en-US" altLang="zh-CN" sz="1200" dirty="0">
                <a:latin typeface="Noto Sans SC" panose="020B0200000000000000" pitchFamily="34" charset="-122"/>
                <a:ea typeface="Noto Sans SC" panose="020B0200000000000000" pitchFamily="34" charset="-122"/>
              </a:rPr>
              <a:t>(</a:t>
            </a:r>
            <a:r>
              <a:rPr lang="zh-CN" altLang="zh-CN" sz="1200" dirty="0">
                <a:latin typeface="Noto Sans SC" panose="020B0200000000000000" pitchFamily="34" charset="-122"/>
                <a:ea typeface="Noto Sans SC" panose="020B0200000000000000" pitchFamily="34" charset="-122"/>
              </a:rPr>
              <a:t>passing the light from an opal-bulb gas-filled lamp through red, green and blue gelatine filters</a:t>
            </a:r>
            <a:r>
              <a:rPr lang="en-US" altLang="zh-CN" sz="1200"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 ，具体的光谱当时并没有测量。</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此外，</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也规定，当匹配</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标准白光时，对应的三原色光为一单位光。</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最后，他测得了</a:t>
            </a:r>
            <a:r>
              <a:rPr lang="en-US" altLang="zh-CN" dirty="0">
                <a:latin typeface="Noto Sans SC" panose="020B0200000000000000" pitchFamily="34" charset="-122"/>
                <a:ea typeface="Noto Sans SC" panose="020B0200000000000000" pitchFamily="34" charset="-122"/>
              </a:rPr>
              <a:t>7</a:t>
            </a:r>
            <a:r>
              <a:rPr lang="zh-CN" altLang="en-US" dirty="0">
                <a:latin typeface="Noto Sans SC" panose="020B0200000000000000" pitchFamily="34" charset="-122"/>
                <a:ea typeface="Noto Sans SC" panose="020B0200000000000000" pitchFamily="34" charset="-122"/>
              </a:rPr>
              <a:t>名受试者，从</a:t>
            </a:r>
            <a:r>
              <a:rPr lang="en-US" altLang="zh-CN" dirty="0">
                <a:latin typeface="Noto Sans SC" panose="020B0200000000000000" pitchFamily="34" charset="-122"/>
                <a:ea typeface="Noto Sans SC" panose="020B0200000000000000" pitchFamily="34" charset="-122"/>
              </a:rPr>
              <a:t>380nm</a:t>
            </a:r>
            <a:r>
              <a:rPr lang="zh-CN" altLang="en-US" dirty="0">
                <a:latin typeface="Noto Sans SC" panose="020B0200000000000000" pitchFamily="34" charset="-122"/>
                <a:ea typeface="Noto Sans SC" panose="020B0200000000000000" pitchFamily="34" charset="-122"/>
              </a:rPr>
              <a:t>到</a:t>
            </a:r>
            <a:r>
              <a:rPr lang="en-US" altLang="zh-CN" dirty="0">
                <a:latin typeface="Noto Sans SC" panose="020B0200000000000000" pitchFamily="34" charset="-122"/>
                <a:ea typeface="Noto Sans SC" panose="020B0200000000000000" pitchFamily="34" charset="-122"/>
              </a:rPr>
              <a:t>780nm</a:t>
            </a:r>
            <a:r>
              <a:rPr lang="zh-CN" altLang="en-US" dirty="0">
                <a:latin typeface="Noto Sans SC" panose="020B0200000000000000" pitchFamily="34" charset="-122"/>
                <a:ea typeface="Noto Sans SC" panose="020B0200000000000000" pitchFamily="34" charset="-122"/>
              </a:rPr>
              <a:t>，每隔</a:t>
            </a:r>
            <a:r>
              <a:rPr lang="en-US" altLang="zh-CN" dirty="0">
                <a:latin typeface="Noto Sans SC" panose="020B0200000000000000" pitchFamily="34" charset="-122"/>
                <a:ea typeface="Noto Sans SC" panose="020B0200000000000000" pitchFamily="34" charset="-122"/>
              </a:rPr>
              <a:t>5nm</a:t>
            </a:r>
            <a:r>
              <a:rPr lang="zh-CN" altLang="en-US" dirty="0">
                <a:latin typeface="Noto Sans SC" panose="020B0200000000000000" pitchFamily="34" charset="-122"/>
                <a:ea typeface="Noto Sans SC" panose="020B0200000000000000" pitchFamily="34" charset="-122"/>
              </a:rPr>
              <a:t>的颜色比例函数。</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可以看到，由于三原色的选取以及归一化校准方式不同，</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和</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得到的结果略有不同。</a:t>
            </a:r>
            <a:endParaRPr lang="en-US" altLang="zh-CN" dirty="0">
              <a:latin typeface="Noto Sans SC" panose="020B0200000000000000" pitchFamily="34" charset="-122"/>
              <a:ea typeface="Noto Sans SC" panose="020B0200000000000000" pitchFamily="34" charset="-122"/>
            </a:endParaRPr>
          </a:p>
        </p:txBody>
      </p:sp>
      <p:sp>
        <p:nvSpPr>
          <p:cNvPr id="6" name="文本框 5">
            <a:extLst>
              <a:ext uri="{FF2B5EF4-FFF2-40B4-BE49-F238E27FC236}">
                <a16:creationId xmlns:a16="http://schemas.microsoft.com/office/drawing/2014/main" id="{19A59FC9-4652-3F57-5B6B-C66D7747264A}"/>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Guild</a:t>
            </a:r>
            <a:r>
              <a:rPr lang="zh-CN" altLang="en-US" sz="2000" b="1" dirty="0">
                <a:latin typeface="Noto Sans SC" panose="020B0200000000000000" pitchFamily="34" charset="-122"/>
                <a:ea typeface="Noto Sans SC" panose="020B0200000000000000" pitchFamily="34" charset="-122"/>
              </a:rPr>
              <a:t>的实验</a:t>
            </a:r>
            <a:endParaRPr lang="zh-CN" altLang="en-US" sz="1100" b="1" dirty="0">
              <a:latin typeface="Noto Sans SC" panose="020B0200000000000000" pitchFamily="34" charset="-122"/>
              <a:ea typeface="Noto Sans SC" panose="020B0200000000000000" pitchFamily="34" charset="-122"/>
            </a:endParaRPr>
          </a:p>
        </p:txBody>
      </p:sp>
      <p:pic>
        <p:nvPicPr>
          <p:cNvPr id="10" name="图片 9">
            <a:extLst>
              <a:ext uri="{FF2B5EF4-FFF2-40B4-BE49-F238E27FC236}">
                <a16:creationId xmlns:a16="http://schemas.microsoft.com/office/drawing/2014/main" id="{3B449473-FC30-935C-FABB-C326A50FF105}"/>
              </a:ext>
            </a:extLst>
          </p:cNvPr>
          <p:cNvPicPr>
            <a:picLocks noChangeAspect="1"/>
          </p:cNvPicPr>
          <p:nvPr/>
        </p:nvPicPr>
        <p:blipFill>
          <a:blip r:embed="rId2"/>
          <a:stretch>
            <a:fillRect/>
          </a:stretch>
        </p:blipFill>
        <p:spPr>
          <a:xfrm>
            <a:off x="6905251" y="1101264"/>
            <a:ext cx="4346532" cy="3016552"/>
          </a:xfrm>
          <a:prstGeom prst="rect">
            <a:avLst/>
          </a:prstGeom>
        </p:spPr>
      </p:pic>
      <p:pic>
        <p:nvPicPr>
          <p:cNvPr id="4" name="图片 3">
            <a:extLst>
              <a:ext uri="{FF2B5EF4-FFF2-40B4-BE49-F238E27FC236}">
                <a16:creationId xmlns:a16="http://schemas.microsoft.com/office/drawing/2014/main" id="{6FE08F02-1AFA-EAA4-3C48-33D4468EB952}"/>
              </a:ext>
            </a:extLst>
          </p:cNvPr>
          <p:cNvPicPr>
            <a:picLocks noChangeAspect="1"/>
          </p:cNvPicPr>
          <p:nvPr/>
        </p:nvPicPr>
        <p:blipFill>
          <a:blip r:embed="rId3"/>
          <a:stretch>
            <a:fillRect/>
          </a:stretch>
        </p:blipFill>
        <p:spPr>
          <a:xfrm>
            <a:off x="7131957" y="3741780"/>
            <a:ext cx="3893119" cy="3004279"/>
          </a:xfrm>
          <a:prstGeom prst="rect">
            <a:avLst/>
          </a:prstGeom>
        </p:spPr>
      </p:pic>
    </p:spTree>
    <p:extLst>
      <p:ext uri="{BB962C8B-B14F-4D97-AF65-F5344CB8AC3E}">
        <p14:creationId xmlns:p14="http://schemas.microsoft.com/office/powerpoint/2010/main" val="12692653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0BD3B-1BDC-9ED6-B026-F9F0724FF3D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85210D5-6D21-1EF1-4454-EF37C37833D2}"/>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p:sp>
        <p:nvSpPr>
          <p:cNvPr id="9" name="文本框 8">
            <a:extLst>
              <a:ext uri="{FF2B5EF4-FFF2-40B4-BE49-F238E27FC236}">
                <a16:creationId xmlns:a16="http://schemas.microsoft.com/office/drawing/2014/main" id="{8FBC2171-CFB8-431B-341D-50D4C4BE7BA5}"/>
              </a:ext>
            </a:extLst>
          </p:cNvPr>
          <p:cNvSpPr txBox="1"/>
          <p:nvPr/>
        </p:nvSpPr>
        <p:spPr>
          <a:xfrm>
            <a:off x="652041" y="1954731"/>
            <a:ext cx="5194892" cy="923330"/>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Wright</a:t>
            </a:r>
            <a:r>
              <a:rPr lang="zh-CN" altLang="en-US" dirty="0">
                <a:latin typeface="Noto Sans SC" panose="020B0200000000000000" pitchFamily="34" charset="-122"/>
                <a:ea typeface="Noto Sans SC" panose="020B0200000000000000" pitchFamily="34" charset="-122"/>
              </a:rPr>
              <a:t>此前就已经已经将自己“</a:t>
            </a:r>
            <a:r>
              <a:rPr lang="en-US" altLang="zh-CN" dirty="0">
                <a:latin typeface="Noto Sans SC" panose="020B0200000000000000" pitchFamily="34" charset="-122"/>
                <a:ea typeface="Noto Sans SC" panose="020B0200000000000000" pitchFamily="34" charset="-122"/>
              </a:rPr>
              <a:t>650nm</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530nm</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460nm + </a:t>
            </a:r>
            <a:r>
              <a:rPr lang="zh-CN" altLang="en-US" dirty="0">
                <a:latin typeface="Noto Sans SC" panose="020B0200000000000000" pitchFamily="34" charset="-122"/>
                <a:ea typeface="Noto Sans SC" panose="020B0200000000000000" pitchFamily="34" charset="-122"/>
              </a:rPr>
              <a:t>两单色光锚点”的实验数据转换到了“</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标准白光校准”。</a:t>
            </a:r>
            <a:endParaRPr lang="en-US" altLang="zh-CN" dirty="0">
              <a:latin typeface="Noto Sans SC" panose="020B0200000000000000" pitchFamily="34" charset="-122"/>
              <a:ea typeface="Noto Sans SC" panose="020B0200000000000000" pitchFamily="34" charset="-122"/>
            </a:endParaRPr>
          </a:p>
        </p:txBody>
      </p:sp>
      <p:sp>
        <p:nvSpPr>
          <p:cNvPr id="6" name="文本框 5">
            <a:extLst>
              <a:ext uri="{FF2B5EF4-FFF2-40B4-BE49-F238E27FC236}">
                <a16:creationId xmlns:a16="http://schemas.microsoft.com/office/drawing/2014/main" id="{14215B39-EC1C-BFA0-7994-5040A11ACACB}"/>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Wright-Guild</a:t>
            </a:r>
            <a:r>
              <a:rPr lang="zh-CN" altLang="en-US" sz="2000" b="1" dirty="0">
                <a:latin typeface="Noto Sans SC" panose="020B0200000000000000" pitchFamily="34" charset="-122"/>
                <a:ea typeface="Noto Sans SC" panose="020B0200000000000000" pitchFamily="34" charset="-122"/>
              </a:rPr>
              <a:t>实验的合并</a:t>
            </a:r>
            <a:endParaRPr lang="zh-CN" altLang="en-US" sz="1100" b="1" dirty="0">
              <a:latin typeface="Noto Sans SC" panose="020B0200000000000000" pitchFamily="34" charset="-122"/>
              <a:ea typeface="Noto Sans SC" panose="020B0200000000000000" pitchFamily="34" charset="-122"/>
            </a:endParaRPr>
          </a:p>
        </p:txBody>
      </p:sp>
      <p:pic>
        <p:nvPicPr>
          <p:cNvPr id="10" name="图片 9">
            <a:extLst>
              <a:ext uri="{FF2B5EF4-FFF2-40B4-BE49-F238E27FC236}">
                <a16:creationId xmlns:a16="http://schemas.microsoft.com/office/drawing/2014/main" id="{F344D79C-4B71-DD8D-62AC-5FD4CB8319B6}"/>
              </a:ext>
            </a:extLst>
          </p:cNvPr>
          <p:cNvPicPr>
            <a:picLocks noChangeAspect="1"/>
          </p:cNvPicPr>
          <p:nvPr/>
        </p:nvPicPr>
        <p:blipFill>
          <a:blip r:embed="rId2"/>
          <a:stretch>
            <a:fillRect/>
          </a:stretch>
        </p:blipFill>
        <p:spPr>
          <a:xfrm>
            <a:off x="814191" y="3280727"/>
            <a:ext cx="4346532" cy="3016552"/>
          </a:xfrm>
          <a:prstGeom prst="rect">
            <a:avLst/>
          </a:prstGeom>
        </p:spPr>
      </p:pic>
      <p:pic>
        <p:nvPicPr>
          <p:cNvPr id="3" name="图片 2">
            <a:extLst>
              <a:ext uri="{FF2B5EF4-FFF2-40B4-BE49-F238E27FC236}">
                <a16:creationId xmlns:a16="http://schemas.microsoft.com/office/drawing/2014/main" id="{61F0EDB5-C20F-06E4-44C5-55CC22AA4A01}"/>
              </a:ext>
            </a:extLst>
          </p:cNvPr>
          <p:cNvPicPr>
            <a:picLocks noChangeAspect="1"/>
          </p:cNvPicPr>
          <p:nvPr/>
        </p:nvPicPr>
        <p:blipFill>
          <a:blip r:embed="rId3"/>
          <a:stretch>
            <a:fillRect/>
          </a:stretch>
        </p:blipFill>
        <p:spPr>
          <a:xfrm>
            <a:off x="6287680" y="1263379"/>
            <a:ext cx="4948165" cy="5155037"/>
          </a:xfrm>
          <a:prstGeom prst="rect">
            <a:avLst/>
          </a:prstGeom>
        </p:spPr>
      </p:pic>
    </p:spTree>
    <p:extLst>
      <p:ext uri="{BB962C8B-B14F-4D97-AF65-F5344CB8AC3E}">
        <p14:creationId xmlns:p14="http://schemas.microsoft.com/office/powerpoint/2010/main" val="1113828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6BA5A-22B3-0B78-5E55-E758C00FDB8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A371673-341B-6A40-614A-990D7BEA9C0A}"/>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p:sp>
        <p:nvSpPr>
          <p:cNvPr id="9" name="文本框 8">
            <a:extLst>
              <a:ext uri="{FF2B5EF4-FFF2-40B4-BE49-F238E27FC236}">
                <a16:creationId xmlns:a16="http://schemas.microsoft.com/office/drawing/2014/main" id="{132E54DF-0AEA-96AE-BB25-1368B4601557}"/>
              </a:ext>
            </a:extLst>
          </p:cNvPr>
          <p:cNvSpPr txBox="1"/>
          <p:nvPr/>
        </p:nvSpPr>
        <p:spPr>
          <a:xfrm>
            <a:off x="652040" y="1954731"/>
            <a:ext cx="5379241" cy="923330"/>
          </a:xfrm>
          <a:prstGeom prst="rect">
            <a:avLst/>
          </a:prstGeom>
          <a:noFill/>
        </p:spPr>
        <p:txBody>
          <a:bodyPr wrap="square" rtlCol="0">
            <a:spAutoFit/>
          </a:bodyPr>
          <a:lstStyle/>
          <a:p>
            <a:r>
              <a:rPr lang="zh-CN" altLang="en-US" dirty="0">
                <a:latin typeface="Noto Sans SC" panose="020B0200000000000000" pitchFamily="34" charset="-122"/>
                <a:ea typeface="Noto Sans SC" panose="020B0200000000000000" pitchFamily="34" charset="-122"/>
              </a:rPr>
              <a:t>         类似的，</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也将自己“非标准三原色</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标准白光校准”下的数据转换到了“</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标准白光校准”。</a:t>
            </a:r>
            <a:endParaRPr lang="en-US" altLang="zh-CN" dirty="0">
              <a:latin typeface="Noto Sans SC" panose="020B0200000000000000" pitchFamily="34" charset="-122"/>
              <a:ea typeface="Noto Sans SC" panose="020B0200000000000000" pitchFamily="34" charset="-122"/>
            </a:endParaRPr>
          </a:p>
        </p:txBody>
      </p:sp>
      <p:sp>
        <p:nvSpPr>
          <p:cNvPr id="6" name="文本框 5">
            <a:extLst>
              <a:ext uri="{FF2B5EF4-FFF2-40B4-BE49-F238E27FC236}">
                <a16:creationId xmlns:a16="http://schemas.microsoft.com/office/drawing/2014/main" id="{4A87C21D-FA58-1A3E-A964-F4E5147CD4ED}"/>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Wright-Guild</a:t>
            </a:r>
            <a:r>
              <a:rPr lang="zh-CN" altLang="en-US" sz="2000" b="1" dirty="0">
                <a:latin typeface="Noto Sans SC" panose="020B0200000000000000" pitchFamily="34" charset="-122"/>
                <a:ea typeface="Noto Sans SC" panose="020B0200000000000000" pitchFamily="34" charset="-122"/>
              </a:rPr>
              <a:t>实验的合并</a:t>
            </a:r>
            <a:endParaRPr lang="zh-CN" altLang="en-US" sz="1100" b="1" dirty="0">
              <a:latin typeface="Noto Sans SC" panose="020B0200000000000000" pitchFamily="34" charset="-122"/>
              <a:ea typeface="Noto Sans SC" panose="020B0200000000000000" pitchFamily="34" charset="-122"/>
            </a:endParaRPr>
          </a:p>
        </p:txBody>
      </p:sp>
      <p:pic>
        <p:nvPicPr>
          <p:cNvPr id="4" name="图片 3">
            <a:extLst>
              <a:ext uri="{FF2B5EF4-FFF2-40B4-BE49-F238E27FC236}">
                <a16:creationId xmlns:a16="http://schemas.microsoft.com/office/drawing/2014/main" id="{005E1788-85BE-9944-68C0-7D1940F3EE6E}"/>
              </a:ext>
            </a:extLst>
          </p:cNvPr>
          <p:cNvPicPr>
            <a:picLocks noChangeAspect="1"/>
          </p:cNvPicPr>
          <p:nvPr/>
        </p:nvPicPr>
        <p:blipFill>
          <a:blip r:embed="rId2"/>
          <a:stretch>
            <a:fillRect/>
          </a:stretch>
        </p:blipFill>
        <p:spPr>
          <a:xfrm>
            <a:off x="866604" y="3027006"/>
            <a:ext cx="4402678" cy="3397500"/>
          </a:xfrm>
          <a:prstGeom prst="rect">
            <a:avLst/>
          </a:prstGeom>
        </p:spPr>
      </p:pic>
      <p:pic>
        <p:nvPicPr>
          <p:cNvPr id="7" name="图片 6">
            <a:extLst>
              <a:ext uri="{FF2B5EF4-FFF2-40B4-BE49-F238E27FC236}">
                <a16:creationId xmlns:a16="http://schemas.microsoft.com/office/drawing/2014/main" id="{9C9B4161-6FB5-26F3-72D8-0950B43DE5BA}"/>
              </a:ext>
            </a:extLst>
          </p:cNvPr>
          <p:cNvPicPr>
            <a:picLocks noChangeAspect="1"/>
          </p:cNvPicPr>
          <p:nvPr/>
        </p:nvPicPr>
        <p:blipFill>
          <a:blip r:embed="rId3"/>
          <a:stretch>
            <a:fillRect/>
          </a:stretch>
        </p:blipFill>
        <p:spPr>
          <a:xfrm>
            <a:off x="6922720" y="1288738"/>
            <a:ext cx="3742603" cy="3702504"/>
          </a:xfrm>
          <a:prstGeom prst="rect">
            <a:avLst/>
          </a:prstGeom>
        </p:spPr>
      </p:pic>
      <p:sp>
        <p:nvSpPr>
          <p:cNvPr id="11" name="文本框 10">
            <a:extLst>
              <a:ext uri="{FF2B5EF4-FFF2-40B4-BE49-F238E27FC236}">
                <a16:creationId xmlns:a16="http://schemas.microsoft.com/office/drawing/2014/main" id="{3B54F10B-1794-5999-3B2A-F68033A50020}"/>
              </a:ext>
            </a:extLst>
          </p:cNvPr>
          <p:cNvSpPr txBox="1"/>
          <p:nvPr/>
        </p:nvSpPr>
        <p:spPr>
          <a:xfrm>
            <a:off x="6096000" y="5052215"/>
            <a:ext cx="5194892" cy="1477328"/>
          </a:xfrm>
          <a:prstGeom prst="rect">
            <a:avLst/>
          </a:prstGeom>
          <a:noFill/>
        </p:spPr>
        <p:txBody>
          <a:bodyPr wrap="square" rtlCol="0">
            <a:spAutoFit/>
          </a:bodyPr>
          <a:lstStyle/>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将两人独立的实验的数据进行合并对比，结果十分吻合。</a:t>
            </a:r>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其中“点”代表</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的数据，“线”代表</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的数据，两人的数据都转换到了“</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标准原色</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标准白光校准”。</a:t>
            </a:r>
            <a:endParaRPr lang="en-US" altLang="zh-CN"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514239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0AABD-BED7-5C48-3A3A-453456F8340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91FC530-8F74-7433-7704-2CB26397FBE5}"/>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p:sp>
        <p:nvSpPr>
          <p:cNvPr id="9" name="文本框 8">
            <a:extLst>
              <a:ext uri="{FF2B5EF4-FFF2-40B4-BE49-F238E27FC236}">
                <a16:creationId xmlns:a16="http://schemas.microsoft.com/office/drawing/2014/main" id="{8BB2A7E0-306B-FD08-E4D1-DA09230CE3BE}"/>
              </a:ext>
            </a:extLst>
          </p:cNvPr>
          <p:cNvSpPr txBox="1"/>
          <p:nvPr/>
        </p:nvSpPr>
        <p:spPr>
          <a:xfrm>
            <a:off x="652040" y="1954731"/>
            <a:ext cx="5379241" cy="4524315"/>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考虑到这些数据是由不同的原色、不同的归一化方法、不同的受试者以及不同的实验装置</a:t>
            </a:r>
            <a:r>
              <a:rPr lang="zh-CN" altLang="zh-CN" dirty="0">
                <a:latin typeface="Noto Sans SC" panose="020B0200000000000000" pitchFamily="34" charset="-122"/>
                <a:ea typeface="Noto Sans SC" panose="020B0200000000000000" pitchFamily="34" charset="-122"/>
              </a:rPr>
              <a:t>独立获得的</a:t>
            </a:r>
            <a:r>
              <a:rPr lang="zh-CN" altLang="en-US" dirty="0">
                <a:latin typeface="Noto Sans SC" panose="020B0200000000000000" pitchFamily="34" charset="-122"/>
                <a:ea typeface="Noto Sans SC" panose="020B0200000000000000" pitchFamily="34" charset="-122"/>
              </a:rPr>
              <a:t>，他们甚至是从原始数据转换而来的，这种几乎完美的吻合增强了人们定义标准色彩空间的信心。</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Guild</a:t>
            </a:r>
            <a:r>
              <a:rPr lang="zh-CN" altLang="en-US" dirty="0">
                <a:latin typeface="Noto Sans SC" panose="020B0200000000000000" pitchFamily="34" charset="-122"/>
                <a:ea typeface="Noto Sans SC" panose="020B0200000000000000" pitchFamily="34" charset="-122"/>
              </a:rPr>
              <a:t>随后对这两组数据进行了平均、曲线拟合、平滑等操作，得到了最终的颜色比例函数。</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前面一直说的“颜色比例函数”，它的标准名称为光谱色度系数</a:t>
            </a:r>
            <a:r>
              <a:rPr lang="en-US" altLang="zh-CN"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chromaticity coefficients of a spectral light</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，它描述的是混合出</a:t>
            </a:r>
            <a:r>
              <a:rPr lang="zh-CN" altLang="en-US" b="1" dirty="0">
                <a:latin typeface="Noto Sans SC" panose="020B0200000000000000" pitchFamily="34" charset="-122"/>
                <a:ea typeface="Noto Sans SC" panose="020B0200000000000000" pitchFamily="34" charset="-122"/>
              </a:rPr>
              <a:t>一定亮度</a:t>
            </a:r>
            <a:r>
              <a:rPr lang="zh-CN" altLang="en-US" dirty="0">
                <a:latin typeface="Noto Sans SC" panose="020B0200000000000000" pitchFamily="34" charset="-122"/>
                <a:ea typeface="Noto Sans SC" panose="020B0200000000000000" pitchFamily="34" charset="-122"/>
              </a:rPr>
              <a:t>的波长为</a:t>
            </a:r>
            <a:r>
              <a:rPr lang="en-US" altLang="zh-CN" dirty="0">
                <a:latin typeface="Noto Sans SC" panose="020B0200000000000000" pitchFamily="34" charset="-122"/>
                <a:ea typeface="Noto Sans SC" panose="020B0200000000000000" pitchFamily="34" charset="-122"/>
              </a:rPr>
              <a:t>λ</a:t>
            </a:r>
            <a:r>
              <a:rPr lang="zh-CN" altLang="en-US" dirty="0">
                <a:latin typeface="Noto Sans SC" panose="020B0200000000000000" pitchFamily="34" charset="-122"/>
                <a:ea typeface="Noto Sans SC" panose="020B0200000000000000" pitchFamily="34" charset="-122"/>
              </a:rPr>
              <a:t>的单色光，需要的</a:t>
            </a:r>
            <a:r>
              <a:rPr lang="zh-CN" altLang="en-US" b="1" dirty="0">
                <a:latin typeface="Noto Sans SC" panose="020B0200000000000000" pitchFamily="34" charset="-122"/>
                <a:ea typeface="Noto Sans SC" panose="020B0200000000000000" pitchFamily="34" charset="-122"/>
              </a:rPr>
              <a:t>单位</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标准三原色的</a:t>
            </a:r>
            <a:r>
              <a:rPr lang="zh-CN" altLang="en-US" b="1" dirty="0">
                <a:latin typeface="Noto Sans SC" panose="020B0200000000000000" pitchFamily="34" charset="-122"/>
                <a:ea typeface="Noto Sans SC" panose="020B0200000000000000" pitchFamily="34" charset="-122"/>
              </a:rPr>
              <a:t>比例</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回顾一下，用一单位</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标准三原色光混合，得到的是</a:t>
            </a:r>
            <a:r>
              <a:rPr lang="zh-CN" altLang="en-US" b="1" dirty="0">
                <a:latin typeface="Noto Sans SC" panose="020B0200000000000000" pitchFamily="34" charset="-122"/>
                <a:ea typeface="Noto Sans SC" panose="020B0200000000000000" pitchFamily="34" charset="-122"/>
              </a:rPr>
              <a:t>一定亮度</a:t>
            </a:r>
            <a:r>
              <a:rPr lang="zh-CN" altLang="en-US" dirty="0">
                <a:latin typeface="Noto Sans SC" panose="020B0200000000000000" pitchFamily="34" charset="-122"/>
                <a:ea typeface="Noto Sans SC" panose="020B0200000000000000" pitchFamily="34" charset="-122"/>
              </a:rPr>
              <a:t>的</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标准白光。</a:t>
            </a:r>
            <a:endParaRPr lang="en-US" altLang="zh-CN" dirty="0">
              <a:latin typeface="Noto Sans SC" panose="020B0200000000000000" pitchFamily="34" charset="-122"/>
              <a:ea typeface="Noto Sans SC" panose="020B0200000000000000" pitchFamily="34" charset="-122"/>
            </a:endParaRPr>
          </a:p>
        </p:txBody>
      </p:sp>
      <p:sp>
        <p:nvSpPr>
          <p:cNvPr id="6" name="文本框 5">
            <a:extLst>
              <a:ext uri="{FF2B5EF4-FFF2-40B4-BE49-F238E27FC236}">
                <a16:creationId xmlns:a16="http://schemas.microsoft.com/office/drawing/2014/main" id="{FBB35B6D-D86B-7A07-4627-A3709DC7B0A0}"/>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Wright-Guild</a:t>
            </a:r>
            <a:r>
              <a:rPr lang="zh-CN" altLang="en-US" sz="2000" b="1" dirty="0">
                <a:latin typeface="Noto Sans SC" panose="020B0200000000000000" pitchFamily="34" charset="-122"/>
                <a:ea typeface="Noto Sans SC" panose="020B0200000000000000" pitchFamily="34" charset="-122"/>
              </a:rPr>
              <a:t>实验的合并</a:t>
            </a:r>
            <a:endParaRPr lang="zh-CN" altLang="en-US" sz="1100" b="1" dirty="0">
              <a:latin typeface="Noto Sans SC" panose="020B0200000000000000" pitchFamily="34" charset="-122"/>
              <a:ea typeface="Noto Sans SC" panose="020B0200000000000000" pitchFamily="34" charset="-122"/>
            </a:endParaRPr>
          </a:p>
        </p:txBody>
      </p:sp>
      <p:pic>
        <p:nvPicPr>
          <p:cNvPr id="7" name="图片 6">
            <a:extLst>
              <a:ext uri="{FF2B5EF4-FFF2-40B4-BE49-F238E27FC236}">
                <a16:creationId xmlns:a16="http://schemas.microsoft.com/office/drawing/2014/main" id="{D98A2E9D-BA6C-4741-3E35-BC8520B8DDD3}"/>
              </a:ext>
            </a:extLst>
          </p:cNvPr>
          <p:cNvPicPr>
            <a:picLocks noChangeAspect="1"/>
          </p:cNvPicPr>
          <p:nvPr/>
        </p:nvPicPr>
        <p:blipFill>
          <a:blip r:embed="rId2"/>
          <a:stretch>
            <a:fillRect/>
          </a:stretch>
        </p:blipFill>
        <p:spPr>
          <a:xfrm>
            <a:off x="6878880" y="1726031"/>
            <a:ext cx="4524493" cy="4476017"/>
          </a:xfrm>
          <a:prstGeom prst="rect">
            <a:avLst/>
          </a:prstGeom>
        </p:spPr>
      </p:pic>
    </p:spTree>
    <p:extLst>
      <p:ext uri="{BB962C8B-B14F-4D97-AF65-F5344CB8AC3E}">
        <p14:creationId xmlns:p14="http://schemas.microsoft.com/office/powerpoint/2010/main" val="3414737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C180-0FD5-5201-E50C-A4747BA963E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04B4119-0BEA-3C0A-5500-1268349390AD}"/>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F5F9F3F-63F4-48B6-B859-303671A1425F}"/>
                  </a:ext>
                </a:extLst>
              </p:cNvPr>
              <p:cNvSpPr txBox="1"/>
              <p:nvPr/>
            </p:nvSpPr>
            <p:spPr>
              <a:xfrm>
                <a:off x="652040" y="1954731"/>
                <a:ext cx="5379241" cy="4247317"/>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光谱色度系数</a:t>
                </a:r>
                <a:r>
                  <a:rPr lang="en-US" altLang="zh-CN"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chromaticity coefficients of a spectral light</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，它描述的是混合出</a:t>
                </a:r>
                <a:r>
                  <a:rPr lang="zh-CN" altLang="en-US" b="1" dirty="0">
                    <a:latin typeface="Noto Sans SC" panose="020B0200000000000000" pitchFamily="34" charset="-122"/>
                    <a:ea typeface="Noto Sans SC" panose="020B0200000000000000" pitchFamily="34" charset="-122"/>
                  </a:rPr>
                  <a:t>一定亮度</a:t>
                </a:r>
                <a:r>
                  <a:rPr lang="zh-CN" altLang="en-US" dirty="0">
                    <a:latin typeface="Noto Sans SC" panose="020B0200000000000000" pitchFamily="34" charset="-122"/>
                    <a:ea typeface="Noto Sans SC" panose="020B0200000000000000" pitchFamily="34" charset="-122"/>
                  </a:rPr>
                  <a:t>的波长为</a:t>
                </a:r>
                <a:r>
                  <a:rPr lang="en-US" altLang="zh-CN" dirty="0">
                    <a:latin typeface="Noto Sans SC" panose="020B0200000000000000" pitchFamily="34" charset="-122"/>
                    <a:ea typeface="Noto Sans SC" panose="020B0200000000000000" pitchFamily="34" charset="-122"/>
                  </a:rPr>
                  <a:t>λ</a:t>
                </a:r>
                <a:r>
                  <a:rPr lang="zh-CN" altLang="en-US" dirty="0">
                    <a:latin typeface="Noto Sans SC" panose="020B0200000000000000" pitchFamily="34" charset="-122"/>
                    <a:ea typeface="Noto Sans SC" panose="020B0200000000000000" pitchFamily="34" charset="-122"/>
                  </a:rPr>
                  <a:t>的单色光，需要的</a:t>
                </a:r>
                <a:r>
                  <a:rPr lang="zh-CN" altLang="en-US" b="1" dirty="0">
                    <a:latin typeface="Noto Sans SC" panose="020B0200000000000000" pitchFamily="34" charset="-122"/>
                    <a:ea typeface="Noto Sans SC" panose="020B0200000000000000" pitchFamily="34" charset="-122"/>
                  </a:rPr>
                  <a:t>单位</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标准三原色的</a:t>
                </a:r>
                <a:r>
                  <a:rPr lang="zh-CN" altLang="en-US" b="1" dirty="0">
                    <a:latin typeface="Noto Sans SC" panose="020B0200000000000000" pitchFamily="34" charset="-122"/>
                    <a:ea typeface="Noto Sans SC" panose="020B0200000000000000" pitchFamily="34" charset="-122"/>
                  </a:rPr>
                  <a:t>比例</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回顾一下，用一单位</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标准三原色光混合，得到的是</a:t>
                </a:r>
                <a:r>
                  <a:rPr lang="zh-CN" altLang="en-US" b="1" dirty="0">
                    <a:latin typeface="Noto Sans SC" panose="020B0200000000000000" pitchFamily="34" charset="-122"/>
                    <a:ea typeface="Noto Sans SC" panose="020B0200000000000000" pitchFamily="34" charset="-122"/>
                  </a:rPr>
                  <a:t>一定亮度</a:t>
                </a:r>
                <a:r>
                  <a:rPr lang="zh-CN" altLang="en-US" dirty="0">
                    <a:latin typeface="Noto Sans SC" panose="020B0200000000000000" pitchFamily="34" charset="-122"/>
                    <a:ea typeface="Noto Sans SC" panose="020B0200000000000000" pitchFamily="34" charset="-122"/>
                  </a:rPr>
                  <a:t>的</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标准白光。</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注意这里说的是“</a:t>
                </a:r>
                <a:r>
                  <a:rPr lang="zh-CN" altLang="en-US" b="1" dirty="0">
                    <a:latin typeface="Noto Sans SC" panose="020B0200000000000000" pitchFamily="34" charset="-122"/>
                    <a:ea typeface="Noto Sans SC" panose="020B0200000000000000" pitchFamily="34" charset="-122"/>
                  </a:rPr>
                  <a:t>一定亮度</a:t>
                </a:r>
                <a:r>
                  <a:rPr lang="zh-CN" altLang="en-US" dirty="0">
                    <a:latin typeface="Noto Sans SC" panose="020B0200000000000000" pitchFamily="34" charset="-122"/>
                    <a:ea typeface="Noto Sans SC" panose="020B0200000000000000" pitchFamily="34" charset="-122"/>
                  </a:rPr>
                  <a:t>”，因为单纯的</a:t>
                </a:r>
                <a:r>
                  <a:rPr lang="zh-CN" altLang="en-US" b="1" dirty="0">
                    <a:latin typeface="Noto Sans SC" panose="020B0200000000000000" pitchFamily="34" charset="-122"/>
                    <a:ea typeface="Noto Sans SC" panose="020B0200000000000000" pitchFamily="34" charset="-122"/>
                  </a:rPr>
                  <a:t>光谱色度系数</a:t>
                </a:r>
                <a:r>
                  <a:rPr lang="zh-CN" altLang="en-US" dirty="0">
                    <a:latin typeface="Noto Sans SC" panose="020B0200000000000000" pitchFamily="34" charset="-122"/>
                    <a:ea typeface="Noto Sans SC" panose="020B0200000000000000" pitchFamily="34" charset="-122"/>
                  </a:rPr>
                  <a:t>是不包含亮度的信息的，他只能表述匹配</a:t>
                </a:r>
                <a:r>
                  <a:rPr lang="en-US" altLang="zh-CN" dirty="0">
                    <a:latin typeface="Noto Sans SC" panose="020B0200000000000000" pitchFamily="34" charset="-122"/>
                    <a:ea typeface="Noto Sans SC" panose="020B0200000000000000" pitchFamily="34" charset="-122"/>
                  </a:rPr>
                  <a:t>λ</a:t>
                </a:r>
                <a:r>
                  <a:rPr lang="zh-CN" altLang="en-US" dirty="0">
                    <a:latin typeface="Noto Sans SC" panose="020B0200000000000000" pitchFamily="34" charset="-122"/>
                    <a:ea typeface="Noto Sans SC" panose="020B0200000000000000" pitchFamily="34" charset="-122"/>
                  </a:rPr>
                  <a:t>波长单色光需要多少比例的单位三原色：</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1" i="1" dirty="0">
                          <a:latin typeface="Cambria Math" panose="02040503050406030204" pitchFamily="18" charset="0"/>
                        </a:rPr>
                        <m:t>𝑪</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𝑟</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1" i="1" dirty="0">
                          <a:latin typeface="Cambria Math" panose="02040503050406030204" pitchFamily="18" charset="0"/>
                        </a:rPr>
                        <m:t>𝑹</m:t>
                      </m:r>
                      <m:r>
                        <a:rPr lang="en-US" altLang="zh-CN" i="1" dirty="0">
                          <a:latin typeface="Cambria Math" panose="02040503050406030204" pitchFamily="18" charset="0"/>
                        </a:rPr>
                        <m:t>+</m:t>
                      </m:r>
                      <m:r>
                        <a:rPr lang="en-US" altLang="zh-CN" i="1" dirty="0">
                          <a:latin typeface="Cambria Math" panose="02040503050406030204" pitchFamily="18" charset="0"/>
                        </a:rPr>
                        <m:t>𝑔</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1" i="1" dirty="0">
                          <a:latin typeface="Cambria Math" panose="02040503050406030204" pitchFamily="18" charset="0"/>
                        </a:rPr>
                        <m:t>𝑮</m:t>
                      </m:r>
                      <m:r>
                        <a:rPr lang="en-US" altLang="zh-CN" i="1" dirty="0">
                          <a:latin typeface="Cambria Math" panose="02040503050406030204" pitchFamily="18" charset="0"/>
                        </a:rPr>
                        <m:t>+</m:t>
                      </m:r>
                      <m:r>
                        <a:rPr lang="en-US" altLang="zh-CN" i="1" dirty="0">
                          <a:latin typeface="Cambria Math" panose="02040503050406030204" pitchFamily="18" charset="0"/>
                        </a:rPr>
                        <m:t>𝑏</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1" i="1" dirty="0">
                          <a:latin typeface="Cambria Math" panose="02040503050406030204" pitchFamily="18" charset="0"/>
                        </a:rPr>
                        <m:t>𝑩</m:t>
                      </m:r>
                    </m:oMath>
                  </m:oMathPara>
                </a14:m>
                <a:endParaRPr lang="en-US" altLang="zh-CN" b="1" dirty="0">
                  <a:latin typeface="Noto Sans SC" panose="020B0200000000000000" pitchFamily="34" charset="-122"/>
                  <a:ea typeface="Noto Sans SC" panose="020B0200000000000000" pitchFamily="34" charset="-122"/>
                </a:endParaRPr>
              </a:p>
              <a:p>
                <a:pPr algn="just"/>
                <a:endParaRPr lang="en-US" altLang="zh-CN" b="1"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这就意味着，我们无法确定匹配到的</a:t>
                </a:r>
                <a14:m>
                  <m:oMath xmlns:m="http://schemas.openxmlformats.org/officeDocument/2006/math">
                    <m:r>
                      <a:rPr lang="en-US" altLang="zh-CN" b="1" i="1" dirty="0">
                        <a:latin typeface="Cambria Math" panose="02040503050406030204" pitchFamily="18" charset="0"/>
                      </a:rPr>
                      <m:t>𝑪</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的亮度到底是多少，我们唯一知道的是用对应比例的单位三原色光，可以匹配</a:t>
                </a:r>
                <a:r>
                  <a:rPr lang="zh-CN" altLang="en-US" b="1" dirty="0">
                    <a:latin typeface="Noto Sans SC" panose="020B0200000000000000" pitchFamily="34" charset="-122"/>
                    <a:ea typeface="Noto Sans SC" panose="020B0200000000000000" pitchFamily="34" charset="-122"/>
                  </a:rPr>
                  <a:t>一定亮度</a:t>
                </a:r>
                <a:r>
                  <a:rPr lang="zh-CN" altLang="en-US" dirty="0">
                    <a:latin typeface="Noto Sans SC" panose="020B0200000000000000" pitchFamily="34" charset="-122"/>
                    <a:ea typeface="Noto Sans SC" panose="020B0200000000000000" pitchFamily="34" charset="-122"/>
                  </a:rPr>
                  <a:t>的单色光。</a:t>
                </a:r>
                <a:endParaRPr lang="en-US" altLang="zh-CN"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5F5F9F3F-63F4-48B6-B859-303671A1425F}"/>
                  </a:ext>
                </a:extLst>
              </p:cNvPr>
              <p:cNvSpPr txBox="1">
                <a:spLocks noRot="1" noChangeAspect="1" noMove="1" noResize="1" noEditPoints="1" noAdjustHandles="1" noChangeArrowheads="1" noChangeShapeType="1" noTextEdit="1"/>
              </p:cNvSpPr>
              <p:nvPr/>
            </p:nvSpPr>
            <p:spPr>
              <a:xfrm>
                <a:off x="652040" y="1954731"/>
                <a:ext cx="5379241" cy="4247317"/>
              </a:xfrm>
              <a:prstGeom prst="rect">
                <a:avLst/>
              </a:prstGeom>
              <a:blipFill>
                <a:blip r:embed="rId2"/>
                <a:stretch>
                  <a:fillRect l="-1020" t="-862" r="-1814" b="-1437"/>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40E2AB1A-FD80-C868-D13F-EB1FDE1A4AD2}"/>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Wright-Guild</a:t>
            </a:r>
            <a:r>
              <a:rPr lang="zh-CN" altLang="en-US" sz="2000" b="1" dirty="0">
                <a:latin typeface="Noto Sans SC" panose="020B0200000000000000" pitchFamily="34" charset="-122"/>
                <a:ea typeface="Noto Sans SC" panose="020B0200000000000000" pitchFamily="34" charset="-122"/>
              </a:rPr>
              <a:t>实验的合并</a:t>
            </a:r>
            <a:endParaRPr lang="zh-CN" altLang="en-US" sz="1100" b="1" dirty="0">
              <a:latin typeface="Noto Sans SC" panose="020B0200000000000000" pitchFamily="34" charset="-122"/>
              <a:ea typeface="Noto Sans SC" panose="020B0200000000000000" pitchFamily="34" charset="-122"/>
            </a:endParaRPr>
          </a:p>
        </p:txBody>
      </p:sp>
      <p:pic>
        <p:nvPicPr>
          <p:cNvPr id="7" name="图片 6">
            <a:extLst>
              <a:ext uri="{FF2B5EF4-FFF2-40B4-BE49-F238E27FC236}">
                <a16:creationId xmlns:a16="http://schemas.microsoft.com/office/drawing/2014/main" id="{D69387BB-FF9D-7E34-45D3-A1B8FB38E3AF}"/>
              </a:ext>
            </a:extLst>
          </p:cNvPr>
          <p:cNvPicPr>
            <a:picLocks noChangeAspect="1"/>
          </p:cNvPicPr>
          <p:nvPr/>
        </p:nvPicPr>
        <p:blipFill>
          <a:blip r:embed="rId3"/>
          <a:stretch>
            <a:fillRect/>
          </a:stretch>
        </p:blipFill>
        <p:spPr>
          <a:xfrm>
            <a:off x="6878880" y="1726031"/>
            <a:ext cx="4524493" cy="4476017"/>
          </a:xfrm>
          <a:prstGeom prst="rect">
            <a:avLst/>
          </a:prstGeom>
        </p:spPr>
      </p:pic>
    </p:spTree>
    <p:extLst>
      <p:ext uri="{BB962C8B-B14F-4D97-AF65-F5344CB8AC3E}">
        <p14:creationId xmlns:p14="http://schemas.microsoft.com/office/powerpoint/2010/main" val="1542580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2C809-96CF-1BCE-365E-A26F79AA393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D871316-D932-A96A-C765-3E574485D5C5}"/>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6751642-D39F-2BDC-29E4-93BDA0BB36B9}"/>
                  </a:ext>
                </a:extLst>
              </p:cNvPr>
              <p:cNvSpPr txBox="1"/>
              <p:nvPr/>
            </p:nvSpPr>
            <p:spPr>
              <a:xfrm>
                <a:off x="457202" y="2131462"/>
                <a:ext cx="6100173" cy="4247317"/>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为了知道匹配指定亮度</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能量的单色光需要多少单位的三原色光，</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测量并计算了一单位三原色光的亮度。</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Guild</a:t>
                </a:r>
                <a:r>
                  <a:rPr lang="zh-CN" altLang="en-US" dirty="0">
                    <a:latin typeface="Noto Sans SC" panose="020B0200000000000000" pitchFamily="34" charset="-122"/>
                    <a:ea typeface="Noto Sans SC" panose="020B0200000000000000" pitchFamily="34" charset="-122"/>
                  </a:rPr>
                  <a:t>初步测得到了自己最开始实验时那三个未知光谱的三原色的亮度比例，大致为：</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1 :2.88 :0.17</m:t>
                      </m:r>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之后，</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将自己的三原色转换到了</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标准三原色，他计算得到转换后的亮度比例为：</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1 :</m:t>
                      </m:r>
                      <m:r>
                        <a:rPr lang="en-US" altLang="zh-CN" b="0" i="1" smtClean="0">
                          <a:latin typeface="Cambria Math" panose="02040503050406030204" pitchFamily="18" charset="0"/>
                        </a:rPr>
                        <m:t>4.410</m:t>
                      </m:r>
                      <m:r>
                        <a:rPr lang="en-US" altLang="zh-CN" i="1">
                          <a:latin typeface="Cambria Math" panose="02040503050406030204" pitchFamily="18" charset="0"/>
                        </a:rPr>
                        <m:t> :0.</m:t>
                      </m:r>
                      <m:r>
                        <a:rPr lang="en-US" altLang="zh-CN" b="0" i="1" smtClean="0">
                          <a:latin typeface="Cambria Math" panose="02040503050406030204" pitchFamily="18" charset="0"/>
                        </a:rPr>
                        <m:t>052</m:t>
                      </m:r>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最后，</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将自己和</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的实验数据合并，之后的他计算得到的亮度比例为：</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1 :4.</m:t>
                      </m:r>
                      <m:r>
                        <a:rPr lang="en-US" altLang="zh-CN" b="0" i="1" smtClean="0">
                          <a:latin typeface="Cambria Math" panose="02040503050406030204" pitchFamily="18" charset="0"/>
                        </a:rPr>
                        <m:t>390 </m:t>
                      </m:r>
                      <m:r>
                        <a:rPr lang="en-US" altLang="zh-CN" i="1">
                          <a:latin typeface="Cambria Math" panose="02040503050406030204" pitchFamily="18" charset="0"/>
                        </a:rPr>
                        <m:t>:0.0</m:t>
                      </m:r>
                      <m:r>
                        <a:rPr lang="en-US" altLang="zh-CN" b="0" i="1" smtClean="0">
                          <a:latin typeface="Cambria Math" panose="02040503050406030204" pitchFamily="18" charset="0"/>
                        </a:rPr>
                        <m:t>48</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即：</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𝑅</m:t>
                          </m:r>
                        </m:sub>
                      </m:sSub>
                      <m:r>
                        <a:rPr lang="en-US" altLang="zh-CN" i="1">
                          <a:latin typeface="Cambria Math" panose="02040503050406030204" pitchFamily="18" charset="0"/>
                        </a:rPr>
                        <m:t>=1,  </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𝐺</m:t>
                          </m:r>
                        </m:sub>
                      </m:sSub>
                      <m:r>
                        <a:rPr lang="en-US" altLang="zh-CN" i="1">
                          <a:latin typeface="Cambria Math" panose="02040503050406030204" pitchFamily="18" charset="0"/>
                        </a:rPr>
                        <m:t>=4.39,  </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𝐵</m:t>
                          </m:r>
                        </m:sub>
                      </m:sSub>
                      <m:r>
                        <a:rPr lang="en-US" altLang="zh-CN" i="1">
                          <a:latin typeface="Cambria Math" panose="02040503050406030204" pitchFamily="18" charset="0"/>
                        </a:rPr>
                        <m:t>=0.048</m:t>
                      </m:r>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96751642-D39F-2BDC-29E4-93BDA0BB36B9}"/>
                  </a:ext>
                </a:extLst>
              </p:cNvPr>
              <p:cNvSpPr txBox="1">
                <a:spLocks noRot="1" noChangeAspect="1" noMove="1" noResize="1" noEditPoints="1" noAdjustHandles="1" noChangeArrowheads="1" noChangeShapeType="1" noTextEdit="1"/>
              </p:cNvSpPr>
              <p:nvPr/>
            </p:nvSpPr>
            <p:spPr>
              <a:xfrm>
                <a:off x="457202" y="2131462"/>
                <a:ext cx="6100173" cy="4247317"/>
              </a:xfrm>
              <a:prstGeom prst="rect">
                <a:avLst/>
              </a:prstGeom>
              <a:blipFill>
                <a:blip r:embed="rId2"/>
                <a:stretch>
                  <a:fillRect l="-799" t="-862" b="-1437"/>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04D850E-5B08-4E1C-27DB-7A4F64F1B4D1}"/>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Distribution Curves</a:t>
            </a:r>
            <a:endParaRPr lang="zh-CN" altLang="en-US" sz="1100" b="1" dirty="0">
              <a:latin typeface="Noto Sans SC" panose="020B0200000000000000" pitchFamily="34" charset="-122"/>
              <a:ea typeface="Noto Sans SC" panose="020B0200000000000000" pitchFamily="34" charset="-122"/>
            </a:endParaRPr>
          </a:p>
        </p:txBody>
      </p:sp>
      <p:pic>
        <p:nvPicPr>
          <p:cNvPr id="7" name="图片 6">
            <a:extLst>
              <a:ext uri="{FF2B5EF4-FFF2-40B4-BE49-F238E27FC236}">
                <a16:creationId xmlns:a16="http://schemas.microsoft.com/office/drawing/2014/main" id="{90E39BE4-3024-D6CB-7972-B79F764E85FC}"/>
              </a:ext>
            </a:extLst>
          </p:cNvPr>
          <p:cNvPicPr>
            <a:picLocks noChangeAspect="1"/>
          </p:cNvPicPr>
          <p:nvPr/>
        </p:nvPicPr>
        <p:blipFill>
          <a:blip r:embed="rId3"/>
          <a:stretch>
            <a:fillRect/>
          </a:stretch>
        </p:blipFill>
        <p:spPr>
          <a:xfrm>
            <a:off x="6878880" y="1726031"/>
            <a:ext cx="4524493" cy="4476017"/>
          </a:xfrm>
          <a:prstGeom prst="rect">
            <a:avLst/>
          </a:prstGeom>
        </p:spPr>
      </p:pic>
    </p:spTree>
    <p:extLst>
      <p:ext uri="{BB962C8B-B14F-4D97-AF65-F5344CB8AC3E}">
        <p14:creationId xmlns:p14="http://schemas.microsoft.com/office/powerpoint/2010/main" val="1361464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3F8FD-368A-470A-ECCA-AFAB6E0BDD1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15123365-0814-E5A8-DA90-CA44C77AF9FB}"/>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4803185-E0E6-92A8-7253-1548F27266AB}"/>
                  </a:ext>
                </a:extLst>
              </p:cNvPr>
              <p:cNvSpPr txBox="1"/>
              <p:nvPr/>
            </p:nvSpPr>
            <p:spPr>
              <a:xfrm>
                <a:off x="652039" y="1954731"/>
                <a:ext cx="11310317" cy="4638706"/>
              </a:xfrm>
              <a:prstGeom prst="rect">
                <a:avLst/>
              </a:prstGeom>
              <a:noFill/>
            </p:spPr>
            <p:txBody>
              <a:bodyPr wrap="square" rtlCol="0">
                <a:spAutoFit/>
              </a:bodyPr>
              <a:lstStyle/>
              <a:p>
                <a:pPr algn="just"/>
                <a:r>
                  <a:rPr lang="zh-CN" altLang="en-US" sz="1600" dirty="0">
                    <a:latin typeface="Noto Sans SC" panose="020B0200000000000000" pitchFamily="34" charset="-122"/>
                    <a:ea typeface="Noto Sans SC" panose="020B0200000000000000" pitchFamily="34" charset="-122"/>
                  </a:rPr>
                  <a:t>         已知，匹配一定亮度的单色光</a:t>
                </a:r>
                <a:r>
                  <a:rPr lang="en-US" altLang="zh-CN" sz="1600" dirty="0">
                    <a:latin typeface="Noto Sans SC" panose="020B0200000000000000" pitchFamily="34" charset="-122"/>
                    <a:ea typeface="Noto Sans SC" panose="020B0200000000000000" pitchFamily="34" charset="-122"/>
                  </a:rPr>
                  <a:t>λ</a:t>
                </a:r>
                <a:r>
                  <a:rPr lang="zh-CN" altLang="en-US" sz="1600" dirty="0">
                    <a:latin typeface="Noto Sans SC" panose="020B0200000000000000" pitchFamily="34" charset="-122"/>
                    <a:ea typeface="Noto Sans SC" panose="020B0200000000000000" pitchFamily="34" charset="-122"/>
                  </a:rPr>
                  <a:t>：</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b="0" i="1" dirty="0" smtClean="0">
                              <a:latin typeface="Cambria Math" panose="02040503050406030204" pitchFamily="18" charset="0"/>
                            </a:rPr>
                            <m:t>𝜆</m:t>
                          </m:r>
                        </m:sub>
                      </m:sSub>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1" i="1" dirty="0">
                          <a:latin typeface="Cambria Math" panose="02040503050406030204" pitchFamily="18" charset="0"/>
                        </a:rPr>
                        <m:t>𝑹</m:t>
                      </m:r>
                      <m:r>
                        <a:rPr lang="en-US" altLang="zh-CN" sz="1600" i="1" dirty="0">
                          <a:latin typeface="Cambria Math" panose="02040503050406030204" pitchFamily="18" charset="0"/>
                        </a:rPr>
                        <m:t>+</m:t>
                      </m:r>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1" i="1" dirty="0">
                          <a:latin typeface="Cambria Math" panose="02040503050406030204" pitchFamily="18" charset="0"/>
                        </a:rPr>
                        <m:t>𝑮</m:t>
                      </m:r>
                      <m:r>
                        <a:rPr lang="en-US" altLang="zh-CN" sz="1600" i="1" dirty="0">
                          <a:latin typeface="Cambria Math" panose="02040503050406030204" pitchFamily="18" charset="0"/>
                        </a:rPr>
                        <m:t>+</m:t>
                      </m:r>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1" i="1" dirty="0">
                          <a:latin typeface="Cambria Math" panose="02040503050406030204" pitchFamily="18" charset="0"/>
                        </a:rPr>
                        <m:t>𝑩</m:t>
                      </m:r>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b="1"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计算得到总亮度：</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𝜆</m:t>
                          </m:r>
                        </m:sub>
                      </m:sSub>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𝑁</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𝑅</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𝐺</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𝐵</m:t>
                              </m:r>
                            </m:sub>
                          </m:sSub>
                        </m:e>
                      </m:d>
                    </m:oMath>
                  </m:oMathPara>
                </a14:m>
                <a:endParaRPr lang="en-US" altLang="zh-CN" sz="1600" b="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于是，匹配单位亮度的单色光</a:t>
                </a:r>
                <a:r>
                  <a:rPr lang="en-US" altLang="zh-CN" sz="1600" dirty="0">
                    <a:latin typeface="Noto Sans SC" panose="020B0200000000000000" pitchFamily="34" charset="-122"/>
                    <a:ea typeface="Noto Sans SC" panose="020B0200000000000000" pitchFamily="34" charset="-122"/>
                  </a:rPr>
                  <a:t>λ</a:t>
                </a:r>
                <a:r>
                  <a:rPr lang="zh-CN" altLang="en-US" sz="1600" dirty="0">
                    <a:latin typeface="Noto Sans SC" panose="020B0200000000000000" pitchFamily="34" charset="-122"/>
                    <a:ea typeface="Noto Sans SC" panose="020B0200000000000000" pitchFamily="34" charset="-122"/>
                  </a:rPr>
                  <a:t>就需要：</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𝜆</m:t>
                              </m:r>
                            </m:sub>
                          </m:sSub>
                        </m:den>
                      </m:f>
                      <m:r>
                        <a:rPr lang="en-US" altLang="zh-CN" sz="1600" b="1" i="1" dirty="0">
                          <a:latin typeface="Cambria Math" panose="02040503050406030204" pitchFamily="18" charset="0"/>
                        </a:rPr>
                        <m:t>𝑹</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𝑮</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smtClean="0">
                          <a:latin typeface="Cambria Math" panose="02040503050406030204" pitchFamily="18" charset="0"/>
                        </a:rPr>
                        <m:t>𝑩</m:t>
                      </m:r>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b="1"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假如一个能量分布为</a:t>
                </a:r>
                <a14:m>
                  <m:oMath xmlns:m="http://schemas.openxmlformats.org/officeDocument/2006/math">
                    <m:r>
                      <a:rPr lang="en-US" altLang="zh-CN" sz="1600" b="0" i="1" dirty="0" smtClean="0">
                        <a:latin typeface="Cambria Math" panose="02040503050406030204" pitchFamily="18" charset="0"/>
                      </a:rPr>
                      <m:t>𝐸</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𝜆</m:t>
                    </m:r>
                    <m:r>
                      <a:rPr lang="en-US" altLang="zh-CN" sz="1600" b="0" i="1" dirty="0" smtClean="0">
                        <a:latin typeface="Cambria Math" panose="02040503050406030204" pitchFamily="18" charset="0"/>
                      </a:rPr>
                      <m:t>)</m:t>
                    </m:r>
                  </m:oMath>
                </a14:m>
                <a:r>
                  <a:rPr lang="zh-CN" altLang="en-US" sz="1600" dirty="0">
                    <a:latin typeface="Noto Sans SC" panose="020B0200000000000000" pitchFamily="34" charset="-122"/>
                    <a:ea typeface="Noto Sans SC" panose="020B0200000000000000" pitchFamily="34" charset="-122"/>
                  </a:rPr>
                  <a:t>的复合光，根据颜色的加性定理，</a:t>
                </a:r>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这束光相当于能量为</a:t>
                </a:r>
                <a14:m>
                  <m:oMath xmlns:m="http://schemas.openxmlformats.org/officeDocument/2006/math">
                    <m:r>
                      <a:rPr lang="en-US" altLang="zh-CN" sz="1600" i="1" dirty="0">
                        <a:latin typeface="Cambria Math" panose="02040503050406030204" pitchFamily="18" charset="0"/>
                      </a:rPr>
                      <m:t>𝐸</m:t>
                    </m:r>
                    <m:r>
                      <a:rPr lang="en-US" altLang="zh-CN" sz="1600" i="1" dirty="0">
                        <a:latin typeface="Cambria Math" panose="02040503050406030204" pitchFamily="18" charset="0"/>
                      </a:rPr>
                      <m:t>(</m:t>
                    </m:r>
                    <m:r>
                      <a:rPr lang="en-US" altLang="zh-CN" sz="1600" i="1" dirty="0">
                        <a:latin typeface="Cambria Math" panose="02040503050406030204" pitchFamily="18" charset="0"/>
                      </a:rPr>
                      <m:t>𝜆</m:t>
                    </m:r>
                    <m:r>
                      <a:rPr lang="en-US" altLang="zh-CN" sz="1600" i="1" dirty="0">
                        <a:latin typeface="Cambria Math" panose="02040503050406030204" pitchFamily="18" charset="0"/>
                      </a:rPr>
                      <m:t>)</m:t>
                    </m:r>
                  </m:oMath>
                </a14:m>
                <a:r>
                  <a:rPr lang="zh-CN" altLang="en-US" sz="1600" dirty="0">
                    <a:latin typeface="Noto Sans SC" panose="020B0200000000000000" pitchFamily="34" charset="-122"/>
                    <a:ea typeface="Noto Sans SC" panose="020B0200000000000000" pitchFamily="34" charset="-122"/>
                  </a:rPr>
                  <a:t>的单色光</a:t>
                </a:r>
                <a:r>
                  <a:rPr lang="en-US" altLang="zh-CN" sz="1600" dirty="0">
                    <a:latin typeface="Noto Sans SC" panose="020B0200000000000000" pitchFamily="34" charset="-122"/>
                    <a:ea typeface="Noto Sans SC" panose="020B0200000000000000" pitchFamily="34" charset="-122"/>
                  </a:rPr>
                  <a:t>λ</a:t>
                </a:r>
                <a:r>
                  <a:rPr lang="zh-CN" altLang="en-US" sz="1600" dirty="0">
                    <a:latin typeface="Noto Sans SC" panose="020B0200000000000000" pitchFamily="34" charset="-122"/>
                    <a:ea typeface="Noto Sans SC" panose="020B0200000000000000" pitchFamily="34" charset="-122"/>
                  </a:rPr>
                  <a:t>的总和：</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b="1" i="1" dirty="0" smtClean="0">
                              <a:latin typeface="Cambria Math" panose="02040503050406030204" pitchFamily="18" charset="0"/>
                            </a:rPr>
                            <m:t>𝑬</m:t>
                          </m:r>
                        </m:sub>
                      </m:sSub>
                      <m:r>
                        <a:rPr lang="en-US" altLang="zh-CN" sz="1600" i="1" dirty="0">
                          <a:latin typeface="Cambria Math" panose="02040503050406030204" pitchFamily="18" charset="0"/>
                          <a:ea typeface="Cambria Math" panose="02040503050406030204" pitchFamily="18" charset="0"/>
                        </a:rPr>
                        <m:t>≡</m:t>
                      </m:r>
                      <m:nary>
                        <m:naryPr>
                          <m:chr m:val="∑"/>
                          <m:subHide m:val="on"/>
                          <m:supHide m:val="on"/>
                          <m:ctrlPr>
                            <a:rPr lang="en-US" altLang="zh-CN" sz="1600" i="1" dirty="0" smtClean="0">
                              <a:latin typeface="Cambria Math" panose="02040503050406030204" pitchFamily="18" charset="0"/>
                              <a:ea typeface="Cambria Math" panose="02040503050406030204" pitchFamily="18" charset="0"/>
                            </a:rPr>
                          </m:ctrlPr>
                        </m:naryPr>
                        <m:sub/>
                        <m:sup/>
                        <m:e>
                          <m:sSub>
                            <m:sSubPr>
                              <m:ctrlPr>
                                <a:rPr lang="en-US" altLang="zh-CN" sz="1600" b="1" i="1" dirty="0" smtClean="0">
                                  <a:latin typeface="Cambria Math" panose="02040503050406030204" pitchFamily="18" charset="0"/>
                                  <a:ea typeface="Cambria Math" panose="02040503050406030204" pitchFamily="18" charset="0"/>
                                </a:rPr>
                              </m:ctrlPr>
                            </m:sSubPr>
                            <m:e>
                              <m:r>
                                <a:rPr lang="en-US" altLang="zh-CN" sz="1600" b="1" i="1" dirty="0" smtClean="0">
                                  <a:latin typeface="Cambria Math" panose="02040503050406030204" pitchFamily="18" charset="0"/>
                                  <a:ea typeface="Cambria Math" panose="02040503050406030204" pitchFamily="18" charset="0"/>
                                </a:rPr>
                                <m:t>𝑪</m:t>
                              </m:r>
                            </m:e>
                            <m:sub>
                              <m:r>
                                <a:rPr lang="en-US" altLang="zh-CN" sz="1600" b="0" i="1" dirty="0" smtClean="0">
                                  <a:latin typeface="Cambria Math" panose="02040503050406030204" pitchFamily="18" charset="0"/>
                                  <a:ea typeface="Cambria Math" panose="02040503050406030204" pitchFamily="18" charset="0"/>
                                </a:rPr>
                                <m:t>𝜆</m:t>
                              </m:r>
                            </m:sub>
                          </m:sSub>
                        </m:e>
                      </m:nary>
                      <m:r>
                        <a:rPr lang="en-US" altLang="zh-CN" sz="1600" b="0" i="1" dirty="0" smtClean="0">
                          <a:latin typeface="Cambria Math" panose="02040503050406030204" pitchFamily="18" charset="0"/>
                          <a:ea typeface="Cambria Math" panose="02040503050406030204" pitchFamily="18" charset="0"/>
                        </a:rPr>
                        <m:t>,  </m:t>
                      </m:r>
                      <m:r>
                        <a:rPr lang="zh-CN" altLang="en-US" sz="1600" i="1" dirty="0">
                          <a:latin typeface="Cambria Math" panose="02040503050406030204" pitchFamily="18" charset="0"/>
                          <a:ea typeface="Cambria Math" panose="02040503050406030204" pitchFamily="18" charset="0"/>
                        </a:rPr>
                        <m:t>写成积分的形式</m:t>
                      </m:r>
                      <m:r>
                        <a:rPr lang="zh-CN" altLang="en-US" sz="1600" i="1" dirty="0" smtClean="0">
                          <a:latin typeface="Cambria Math" panose="02040503050406030204" pitchFamily="18" charset="0"/>
                          <a:ea typeface="Cambria Math" panose="02040503050406030204" pitchFamily="18" charset="0"/>
                        </a:rPr>
                        <m:t>：</m:t>
                      </m:r>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b="1" i="1" dirty="0">
                              <a:latin typeface="Cambria Math" panose="02040503050406030204" pitchFamily="18" charset="0"/>
                            </a:rPr>
                            <m:t>𝑬</m:t>
                          </m:r>
                        </m:sub>
                      </m:sSub>
                      <m:r>
                        <a:rPr lang="en-US" altLang="zh-CN" sz="1600" i="1" dirty="0">
                          <a:latin typeface="Cambria Math" panose="02040503050406030204" pitchFamily="18" charset="0"/>
                          <a:ea typeface="Cambria Math" panose="02040503050406030204" pitchFamily="18" charset="0"/>
                        </a:rPr>
                        <m:t>≡</m:t>
                      </m:r>
                      <m:nary>
                        <m:naryPr>
                          <m:limLoc m:val="undOvr"/>
                          <m:subHide m:val="on"/>
                          <m:supHide m:val="on"/>
                          <m:ctrlPr>
                            <a:rPr lang="en-US" altLang="zh-CN" sz="1600" i="1" dirty="0" smtClean="0">
                              <a:latin typeface="Cambria Math" panose="02040503050406030204" pitchFamily="18" charset="0"/>
                              <a:ea typeface="Cambria Math" panose="02040503050406030204" pitchFamily="18" charset="0"/>
                            </a:rPr>
                          </m:ctrlPr>
                        </m:naryPr>
                        <m:sub/>
                        <m:sup/>
                        <m:e>
                          <m:sSub>
                            <m:sSubPr>
                              <m:ctrlPr>
                                <a:rPr lang="en-US" altLang="zh-CN" sz="1600" b="1" i="1" dirty="0">
                                  <a:latin typeface="Cambria Math" panose="02040503050406030204" pitchFamily="18" charset="0"/>
                                  <a:ea typeface="Cambria Math" panose="02040503050406030204" pitchFamily="18" charset="0"/>
                                </a:rPr>
                              </m:ctrlPr>
                            </m:sSubPr>
                            <m:e>
                              <m:r>
                                <a:rPr lang="en-US" altLang="zh-CN" sz="1600" b="1" i="1" dirty="0">
                                  <a:latin typeface="Cambria Math" panose="02040503050406030204" pitchFamily="18" charset="0"/>
                                  <a:ea typeface="Cambria Math" panose="02040503050406030204" pitchFamily="18" charset="0"/>
                                </a:rPr>
                                <m:t>𝑪</m:t>
                              </m:r>
                            </m:e>
                            <m:sub>
                              <m:r>
                                <a:rPr lang="en-US" altLang="zh-CN" sz="1600" i="1" dirty="0">
                                  <a:latin typeface="Cambria Math" panose="02040503050406030204" pitchFamily="18" charset="0"/>
                                  <a:ea typeface="Cambria Math" panose="02040503050406030204" pitchFamily="18" charset="0"/>
                                </a:rPr>
                                <m:t>𝜆</m:t>
                              </m:r>
                            </m:sub>
                          </m:sSub>
                        </m:e>
                      </m:nary>
                      <m:r>
                        <a:rPr lang="en-US" altLang="zh-CN" sz="1600" b="0" i="1" dirty="0" smtClean="0">
                          <a:latin typeface="Cambria Math" panose="02040503050406030204" pitchFamily="18" charset="0"/>
                          <a:ea typeface="Cambria Math" panose="02040503050406030204" pitchFamily="18" charset="0"/>
                        </a:rPr>
                        <m:t>𝑑</m:t>
                      </m:r>
                      <m:r>
                        <a:rPr lang="en-US" altLang="zh-CN" sz="1600" b="0" i="1" dirty="0" smtClean="0">
                          <a:latin typeface="Cambria Math" panose="02040503050406030204" pitchFamily="18" charset="0"/>
                          <a:ea typeface="Cambria Math" panose="02040503050406030204" pitchFamily="18" charset="0"/>
                        </a:rPr>
                        <m:t>𝜆</m:t>
                      </m:r>
                    </m:oMath>
                  </m:oMathPara>
                </a14:m>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我们可以通过视见函数</a:t>
                </a:r>
                <a:r>
                  <a:rPr lang="en-US" altLang="zh-CN" sz="1600" dirty="0">
                    <a:latin typeface="Noto Sans SC" panose="020B0200000000000000" pitchFamily="34" charset="-122"/>
                    <a:ea typeface="Noto Sans SC" panose="020B0200000000000000" pitchFamily="34" charset="-122"/>
                  </a:rPr>
                  <a:t>V(λ)</a:t>
                </a:r>
                <a:r>
                  <a:rPr lang="zh-CN" altLang="en-US" sz="1600" dirty="0">
                    <a:latin typeface="Noto Sans SC" panose="020B0200000000000000" pitchFamily="34" charset="-122"/>
                    <a:ea typeface="Noto Sans SC" panose="020B0200000000000000" pitchFamily="34" charset="-122"/>
                  </a:rPr>
                  <a:t>计算得到能量为</a:t>
                </a:r>
                <a14:m>
                  <m:oMath xmlns:m="http://schemas.openxmlformats.org/officeDocument/2006/math">
                    <m:r>
                      <a:rPr lang="en-US" altLang="zh-CN" sz="1600" i="1" dirty="0">
                        <a:latin typeface="Cambria Math" panose="02040503050406030204" pitchFamily="18" charset="0"/>
                      </a:rPr>
                      <m:t>𝐸</m:t>
                    </m:r>
                    <m:r>
                      <a:rPr lang="en-US" altLang="zh-CN" sz="1600" i="1" dirty="0">
                        <a:latin typeface="Cambria Math" panose="02040503050406030204" pitchFamily="18" charset="0"/>
                      </a:rPr>
                      <m:t>(</m:t>
                    </m:r>
                    <m:r>
                      <a:rPr lang="en-US" altLang="zh-CN" sz="1600" i="1" dirty="0">
                        <a:latin typeface="Cambria Math" panose="02040503050406030204" pitchFamily="18" charset="0"/>
                      </a:rPr>
                      <m:t>𝜆</m:t>
                    </m:r>
                    <m:r>
                      <a:rPr lang="en-US" altLang="zh-CN" sz="1600" i="1" dirty="0">
                        <a:latin typeface="Cambria Math" panose="02040503050406030204" pitchFamily="18" charset="0"/>
                      </a:rPr>
                      <m:t>)</m:t>
                    </m:r>
                  </m:oMath>
                </a14:m>
                <a:r>
                  <a:rPr lang="zh-CN" altLang="en-US" sz="1600" dirty="0">
                    <a:latin typeface="Noto Sans SC" panose="020B0200000000000000" pitchFamily="34" charset="-122"/>
                    <a:ea typeface="Noto Sans SC" panose="020B0200000000000000" pitchFamily="34" charset="-122"/>
                  </a:rPr>
                  <a:t>的单色光</a:t>
                </a:r>
                <a:r>
                  <a:rPr lang="en-US" altLang="zh-CN" sz="1600" dirty="0">
                    <a:latin typeface="Noto Sans SC" panose="020B0200000000000000" pitchFamily="34" charset="-122"/>
                    <a:ea typeface="Noto Sans SC" panose="020B0200000000000000" pitchFamily="34" charset="-122"/>
                  </a:rPr>
                  <a:t>λ</a:t>
                </a:r>
                <a:r>
                  <a:rPr lang="zh-CN" altLang="en-US" sz="1600" dirty="0">
                    <a:latin typeface="Noto Sans SC" panose="020B0200000000000000" pitchFamily="34" charset="-122"/>
                    <a:ea typeface="Noto Sans SC" panose="020B0200000000000000" pitchFamily="34" charset="-122"/>
                  </a:rPr>
                  <a:t>的亮度：</a:t>
                </a:r>
                <a14:m>
                  <m:oMath xmlns:m="http://schemas.openxmlformats.org/officeDocument/2006/math">
                    <m:r>
                      <a:rPr lang="en-US" altLang="zh-CN" sz="1600" b="0" i="1" dirty="0" smtClean="0">
                        <a:latin typeface="Cambria Math" panose="02040503050406030204" pitchFamily="18" charset="0"/>
                      </a:rPr>
                      <m:t>𝐸</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oMath>
                </a14:m>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因此，匹配亮度为</a:t>
                </a:r>
                <a14:m>
                  <m:oMath xmlns:m="http://schemas.openxmlformats.org/officeDocument/2006/math">
                    <m:r>
                      <a:rPr lang="en-US" altLang="zh-CN" sz="1600" i="1" dirty="0">
                        <a:latin typeface="Cambria Math" panose="02040503050406030204" pitchFamily="18" charset="0"/>
                      </a:rPr>
                      <m:t>𝐸</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的单色光</a:t>
                </a:r>
                <a:r>
                  <a:rPr lang="en-US" altLang="zh-CN" sz="1600" dirty="0">
                    <a:latin typeface="Noto Sans SC" panose="020B0200000000000000" pitchFamily="34" charset="-122"/>
                    <a:ea typeface="Noto Sans SC" panose="020B0200000000000000" pitchFamily="34" charset="-122"/>
                  </a:rPr>
                  <a:t>λ</a:t>
                </a:r>
                <a:r>
                  <a:rPr lang="zh-CN" altLang="en-US" sz="1600" dirty="0">
                    <a:latin typeface="Noto Sans SC" panose="020B0200000000000000" pitchFamily="34" charset="-122"/>
                    <a:ea typeface="Noto Sans SC" panose="020B0200000000000000" pitchFamily="34" charset="-122"/>
                  </a:rPr>
                  <a:t>需要：</a:t>
                </a:r>
                <a:endParaRPr lang="en-US" altLang="zh-CN" sz="160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a:latin typeface="Cambria Math" panose="02040503050406030204" pitchFamily="18" charset="0"/>
                              <a:ea typeface="Cambria Math" panose="02040503050406030204" pitchFamily="18" charset="0"/>
                            </a:rPr>
                          </m:ctrlPr>
                        </m:sSubPr>
                        <m:e>
                          <m:r>
                            <a:rPr lang="en-US" altLang="zh-CN" sz="1600" b="1" i="1" dirty="0">
                              <a:latin typeface="Cambria Math" panose="02040503050406030204" pitchFamily="18" charset="0"/>
                              <a:ea typeface="Cambria Math" panose="02040503050406030204" pitchFamily="18" charset="0"/>
                            </a:rPr>
                            <m:t>𝑪</m:t>
                          </m:r>
                        </m:e>
                        <m:sub>
                          <m:r>
                            <a:rPr lang="en-US" altLang="zh-CN" sz="1600" i="1" dirty="0">
                              <a:latin typeface="Cambria Math" panose="02040503050406030204" pitchFamily="18" charset="0"/>
                              <a:ea typeface="Cambria Math" panose="02040503050406030204" pitchFamily="18" charset="0"/>
                            </a:rPr>
                            <m:t>𝜆</m:t>
                          </m:r>
                        </m:sub>
                      </m:sSub>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𝐸</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d>
                        <m:dPr>
                          <m:ctrlPr>
                            <a:rPr lang="en-US" altLang="zh-CN" sz="1600" i="1" dirty="0">
                              <a:latin typeface="Cambria Math" panose="02040503050406030204" pitchFamily="18" charset="0"/>
                            </a:rPr>
                          </m:ctrlPr>
                        </m:dPr>
                        <m:e>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𝑹</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𝑮</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𝑩</m:t>
                          </m:r>
                        </m:e>
                      </m:d>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于是，匹配能量分布为</a:t>
                </a:r>
                <a14:m>
                  <m:oMath xmlns:m="http://schemas.openxmlformats.org/officeDocument/2006/math">
                    <m:r>
                      <a:rPr lang="en-US" altLang="zh-CN" sz="1600" i="1" dirty="0">
                        <a:latin typeface="Cambria Math" panose="02040503050406030204" pitchFamily="18" charset="0"/>
                      </a:rPr>
                      <m:t>𝐸</m:t>
                    </m:r>
                    <m:r>
                      <a:rPr lang="en-US" altLang="zh-CN" sz="1600" i="1" dirty="0">
                        <a:latin typeface="Cambria Math" panose="02040503050406030204" pitchFamily="18" charset="0"/>
                      </a:rPr>
                      <m:t>(</m:t>
                    </m:r>
                    <m:r>
                      <a:rPr lang="en-US" altLang="zh-CN" sz="1600" i="1" dirty="0">
                        <a:latin typeface="Cambria Math" panose="02040503050406030204" pitchFamily="18" charset="0"/>
                      </a:rPr>
                      <m:t>𝜆</m:t>
                    </m:r>
                    <m:r>
                      <a:rPr lang="en-US" altLang="zh-CN" sz="1600" i="1" dirty="0">
                        <a:latin typeface="Cambria Math" panose="02040503050406030204" pitchFamily="18" charset="0"/>
                      </a:rPr>
                      <m:t>)</m:t>
                    </m:r>
                  </m:oMath>
                </a14:m>
                <a:r>
                  <a:rPr lang="zh-CN" altLang="en-US" sz="1600" dirty="0">
                    <a:latin typeface="Noto Sans SC" panose="020B0200000000000000" pitchFamily="34" charset="-122"/>
                    <a:ea typeface="Noto Sans SC" panose="020B0200000000000000" pitchFamily="34" charset="-122"/>
                  </a:rPr>
                  <a:t>的复合光需要：</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b="1" i="1" dirty="0">
                              <a:latin typeface="Cambria Math" panose="02040503050406030204" pitchFamily="18" charset="0"/>
                            </a:rPr>
                            <m:t>𝑬</m:t>
                          </m:r>
                        </m:sub>
                      </m:sSub>
                      <m:r>
                        <a:rPr lang="en-US" altLang="zh-CN" sz="1600" i="1" dirty="0">
                          <a:latin typeface="Cambria Math" panose="02040503050406030204" pitchFamily="18" charset="0"/>
                          <a:ea typeface="Cambria Math" panose="02040503050406030204" pitchFamily="18" charset="0"/>
                        </a:rPr>
                        <m:t>≡</m:t>
                      </m:r>
                      <m:nary>
                        <m:naryPr>
                          <m:limLoc m:val="undOvr"/>
                          <m:subHide m:val="on"/>
                          <m:supHide m:val="on"/>
                          <m:ctrlPr>
                            <a:rPr lang="en-US" altLang="zh-CN" sz="1600" i="1" dirty="0" smtClean="0">
                              <a:latin typeface="Cambria Math" panose="02040503050406030204" pitchFamily="18" charset="0"/>
                              <a:ea typeface="Cambria Math" panose="02040503050406030204" pitchFamily="18" charset="0"/>
                            </a:rPr>
                          </m:ctrlPr>
                        </m:naryPr>
                        <m:sub/>
                        <m:sup/>
                        <m:e>
                          <m:r>
                            <a:rPr lang="en-US" altLang="zh-CN" sz="1600" i="1" dirty="0">
                              <a:latin typeface="Cambria Math" panose="02040503050406030204" pitchFamily="18" charset="0"/>
                            </a:rPr>
                            <m:t>𝐸</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d>
                            <m:dPr>
                              <m:ctrlPr>
                                <a:rPr lang="en-US" altLang="zh-CN" sz="1600" i="1" dirty="0">
                                  <a:latin typeface="Cambria Math" panose="02040503050406030204" pitchFamily="18" charset="0"/>
                                </a:rPr>
                              </m:ctrlPr>
                            </m:dPr>
                            <m:e>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𝑹</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𝑮</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𝑩</m:t>
                              </m:r>
                            </m:e>
                          </m:d>
                        </m:e>
                      </m:nary>
                      <m:r>
                        <a:rPr lang="en-US" altLang="zh-CN" sz="1600" b="0" i="1" dirty="0" smtClean="0">
                          <a:latin typeface="Cambria Math" panose="02040503050406030204" pitchFamily="18" charset="0"/>
                          <a:ea typeface="Cambria Math" panose="02040503050406030204" pitchFamily="18" charset="0"/>
                        </a:rPr>
                        <m:t>𝑑</m:t>
                      </m:r>
                      <m:r>
                        <a:rPr lang="en-US" altLang="zh-CN" sz="1600" b="0" i="1" dirty="0" smtClean="0">
                          <a:latin typeface="Cambria Math" panose="02040503050406030204" pitchFamily="18" charset="0"/>
                          <a:ea typeface="Cambria Math" panose="02040503050406030204" pitchFamily="18" charset="0"/>
                        </a:rPr>
                        <m:t>𝜆</m:t>
                      </m:r>
                    </m:oMath>
                  </m:oMathPara>
                </a14:m>
                <a:endParaRPr lang="en-US" altLang="zh-CN" sz="16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C4803185-E0E6-92A8-7253-1548F27266AB}"/>
                  </a:ext>
                </a:extLst>
              </p:cNvPr>
              <p:cNvSpPr txBox="1">
                <a:spLocks noRot="1" noChangeAspect="1" noMove="1" noResize="1" noEditPoints="1" noAdjustHandles="1" noChangeArrowheads="1" noChangeShapeType="1" noTextEdit="1"/>
              </p:cNvSpPr>
              <p:nvPr/>
            </p:nvSpPr>
            <p:spPr>
              <a:xfrm>
                <a:off x="652039" y="1954731"/>
                <a:ext cx="11310317" cy="4638706"/>
              </a:xfrm>
              <a:prstGeom prst="rect">
                <a:avLst/>
              </a:prstGeom>
              <a:blipFill>
                <a:blip r:embed="rId2"/>
                <a:stretch>
                  <a:fillRect l="-323" t="-394"/>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9E5C89A5-F882-2C31-7592-D1DC93BD4387}"/>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Distribution Curves</a:t>
            </a:r>
            <a:endParaRPr lang="zh-CN" altLang="en-US" sz="11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1685248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8137-E9D0-B4A4-07E4-11A6CD43AA5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7C6D1BE-AD90-BFBA-F3C0-9B8E7E463E6F}"/>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BD6963B-936D-93DD-3B55-ED87D0241977}"/>
                  </a:ext>
                </a:extLst>
              </p:cNvPr>
              <p:cNvSpPr txBox="1"/>
              <p:nvPr/>
            </p:nvSpPr>
            <p:spPr>
              <a:xfrm>
                <a:off x="350729" y="1954731"/>
                <a:ext cx="11611627" cy="4674293"/>
              </a:xfrm>
              <a:prstGeom prst="rect">
                <a:avLst/>
              </a:prstGeom>
              <a:noFill/>
            </p:spPr>
            <p:txBody>
              <a:bodyPr wrap="square" rtlCol="0">
                <a:spAutoFit/>
              </a:bodyPr>
              <a:lstStyle/>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于是，匹配能量分布为</a:t>
                </a:r>
                <a14:m>
                  <m:oMath xmlns:m="http://schemas.openxmlformats.org/officeDocument/2006/math">
                    <m:r>
                      <a:rPr lang="en-US" altLang="zh-CN" sz="1600" i="1" dirty="0">
                        <a:latin typeface="Cambria Math" panose="02040503050406030204" pitchFamily="18" charset="0"/>
                      </a:rPr>
                      <m:t>𝐸</m:t>
                    </m:r>
                    <m:r>
                      <a:rPr lang="en-US" altLang="zh-CN" sz="1600" i="1" dirty="0">
                        <a:latin typeface="Cambria Math" panose="02040503050406030204" pitchFamily="18" charset="0"/>
                      </a:rPr>
                      <m:t>(</m:t>
                    </m:r>
                    <m:r>
                      <a:rPr lang="en-US" altLang="zh-CN" sz="1600" i="1" dirty="0">
                        <a:latin typeface="Cambria Math" panose="02040503050406030204" pitchFamily="18" charset="0"/>
                      </a:rPr>
                      <m:t>𝜆</m:t>
                    </m:r>
                    <m:r>
                      <a:rPr lang="en-US" altLang="zh-CN" sz="1600" i="1" dirty="0">
                        <a:latin typeface="Cambria Math" panose="02040503050406030204" pitchFamily="18" charset="0"/>
                      </a:rPr>
                      <m:t>)</m:t>
                    </m:r>
                  </m:oMath>
                </a14:m>
                <a:r>
                  <a:rPr lang="zh-CN" altLang="en-US" sz="1600" dirty="0">
                    <a:latin typeface="Noto Sans SC" panose="020B0200000000000000" pitchFamily="34" charset="-122"/>
                    <a:ea typeface="Noto Sans SC" panose="020B0200000000000000" pitchFamily="34" charset="-122"/>
                  </a:rPr>
                  <a:t>的复合光需要：</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b="1" i="1" dirty="0">
                              <a:latin typeface="Cambria Math" panose="02040503050406030204" pitchFamily="18" charset="0"/>
                            </a:rPr>
                            <m:t>𝑬</m:t>
                          </m:r>
                        </m:sub>
                      </m:sSub>
                      <m:r>
                        <a:rPr lang="en-US" altLang="zh-CN" sz="1600" i="1" dirty="0">
                          <a:latin typeface="Cambria Math" panose="02040503050406030204" pitchFamily="18" charset="0"/>
                          <a:ea typeface="Cambria Math" panose="02040503050406030204" pitchFamily="18" charset="0"/>
                        </a:rPr>
                        <m:t>≡</m:t>
                      </m:r>
                      <m:nary>
                        <m:naryPr>
                          <m:limLoc m:val="undOvr"/>
                          <m:subHide m:val="on"/>
                          <m:supHide m:val="on"/>
                          <m:ctrlPr>
                            <a:rPr lang="en-US" altLang="zh-CN" sz="1600" i="1" dirty="0" smtClean="0">
                              <a:latin typeface="Cambria Math" panose="02040503050406030204" pitchFamily="18" charset="0"/>
                              <a:ea typeface="Cambria Math" panose="02040503050406030204" pitchFamily="18" charset="0"/>
                            </a:rPr>
                          </m:ctrlPr>
                        </m:naryPr>
                        <m:sub/>
                        <m:sup/>
                        <m:e>
                          <m:r>
                            <a:rPr lang="en-US" altLang="zh-CN" sz="1600" i="1" dirty="0">
                              <a:latin typeface="Cambria Math" panose="02040503050406030204" pitchFamily="18" charset="0"/>
                            </a:rPr>
                            <m:t>𝐸</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d>
                            <m:dPr>
                              <m:ctrlPr>
                                <a:rPr lang="en-US" altLang="zh-CN" sz="1600" i="1" dirty="0">
                                  <a:latin typeface="Cambria Math" panose="02040503050406030204" pitchFamily="18" charset="0"/>
                                </a:rPr>
                              </m:ctrlPr>
                            </m:dPr>
                            <m:e>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𝑹</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𝑮</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𝜆</m:t>
                                      </m:r>
                                    </m:sub>
                                  </m:sSub>
                                </m:den>
                              </m:f>
                              <m:r>
                                <a:rPr lang="en-US" altLang="zh-CN" sz="1600" b="1" i="1" dirty="0">
                                  <a:latin typeface="Cambria Math" panose="02040503050406030204" pitchFamily="18" charset="0"/>
                                </a:rPr>
                                <m:t>𝑩</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oMath>
                  </m:oMathPara>
                </a14:m>
                <a:endParaRPr lang="en-US" altLang="zh-CN" sz="1600" b="1" dirty="0">
                  <a:latin typeface="Noto Sans SC" panose="020B0200000000000000" pitchFamily="34" charset="-122"/>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a:rPr lang="zh-CN" altLang="en-US" sz="1600" b="1" i="1" dirty="0">
                          <a:latin typeface="Cambria Math" panose="02040503050406030204" pitchFamily="18" charset="0"/>
                          <a:ea typeface="Cambria Math" panose="02040503050406030204" pitchFamily="18" charset="0"/>
                        </a:rPr>
                        <m:t>令</m:t>
                      </m:r>
                      <m:r>
                        <a:rPr lang="zh-CN" altLang="en-US" sz="1600" b="1"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𝑅</m:t>
                      </m:r>
                      <m:d>
                        <m:dPr>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0" i="1" dirty="0" smtClean="0">
                              <a:latin typeface="Cambria Math" panose="02040503050406030204" pitchFamily="18" charset="0"/>
                            </a:rPr>
                            <m:t>𝑉</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𝜆</m:t>
                              </m:r>
                            </m:e>
                          </m:d>
                        </m:num>
                        <m:den>
                          <m:r>
                            <a:rPr lang="en-US" altLang="zh-CN" sz="1600" b="0" i="1" dirty="0" smtClean="0">
                              <a:latin typeface="Cambria Math" panose="02040503050406030204" pitchFamily="18" charset="0"/>
                            </a:rPr>
                            <m:t>𝑁</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𝑅</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𝐺</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𝐵</m:t>
                                  </m:r>
                                </m:sub>
                              </m:sSub>
                            </m:e>
                          </m:d>
                        </m:den>
                      </m:f>
                      <m:r>
                        <a:rPr lang="en-US" altLang="zh-CN" sz="1600" b="0" i="1" dirty="0" smtClean="0">
                          <a:latin typeface="Cambria Math" panose="02040503050406030204" pitchFamily="18" charset="0"/>
                        </a:rPr>
                        <m:t>,  </m:t>
                      </m:r>
                      <m:r>
                        <a:rPr lang="en-US" altLang="zh-CN" sz="1600" b="0" i="1" dirty="0" smtClean="0">
                          <a:latin typeface="Cambria Math" panose="02040503050406030204" pitchFamily="18" charset="0"/>
                          <a:ea typeface="Cambria Math" panose="02040503050406030204" pitchFamily="18" charset="0"/>
                        </a:rPr>
                        <m:t>𝐺</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r>
                            <a:rPr lang="en-US" altLang="zh-CN" sz="1600" i="1" dirty="0">
                              <a:latin typeface="Cambria Math" panose="02040503050406030204" pitchFamily="18" charset="0"/>
                            </a:rPr>
                            <m:t>𝑁</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𝑅</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𝐺</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𝐵</m:t>
                                  </m:r>
                                </m:sub>
                              </m:sSub>
                            </m:e>
                          </m:d>
                        </m:den>
                      </m:f>
                      <m:r>
                        <a:rPr lang="en-US" altLang="zh-CN" sz="1600" b="0" i="1" dirty="0" smtClean="0">
                          <a:latin typeface="Cambria Math" panose="02040503050406030204" pitchFamily="18" charset="0"/>
                        </a:rPr>
                        <m:t>,  </m:t>
                      </m:r>
                      <m:r>
                        <a:rPr lang="en-US" altLang="zh-CN" sz="1600" i="1" dirty="0" smtClean="0">
                          <a:latin typeface="Cambria Math" panose="02040503050406030204" pitchFamily="18" charset="0"/>
                          <a:ea typeface="Cambria Math" panose="02040503050406030204" pitchFamily="18" charset="0"/>
                        </a:rPr>
                        <m:t>𝐵</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r>
                            <a:rPr lang="en-US" altLang="zh-CN" sz="1600" i="1" dirty="0">
                              <a:latin typeface="Cambria Math" panose="02040503050406030204" pitchFamily="18" charset="0"/>
                            </a:rPr>
                            <m:t>𝑁</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𝑅</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𝐺</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𝐵</m:t>
                                  </m:r>
                                </m:sub>
                              </m:sSub>
                            </m:e>
                          </m:d>
                        </m:den>
                      </m:f>
                    </m:oMath>
                  </m:oMathPara>
                </a14:m>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b="1" i="1" dirty="0">
                              <a:latin typeface="Cambria Math" panose="02040503050406030204" pitchFamily="18" charset="0"/>
                            </a:rPr>
                            <m:t>𝑬</m:t>
                          </m:r>
                        </m:sub>
                      </m:sSub>
                      <m:r>
                        <a:rPr lang="en-US" altLang="zh-CN" sz="1600" i="1" dirty="0">
                          <a:latin typeface="Cambria Math" panose="02040503050406030204" pitchFamily="18" charset="0"/>
                          <a:ea typeface="Cambria Math" panose="02040503050406030204" pitchFamily="18" charset="0"/>
                        </a:rPr>
                        <m:t>≡</m:t>
                      </m:r>
                      <m:r>
                        <a:rPr lang="en-US" altLang="zh-CN" sz="1600" b="1" i="1" dirty="0">
                          <a:latin typeface="Cambria Math" panose="02040503050406030204" pitchFamily="18" charset="0"/>
                        </a:rPr>
                        <m:t>𝑹</m:t>
                      </m:r>
                      <m:nary>
                        <m:naryPr>
                          <m:limLoc m:val="undOvr"/>
                          <m:subHide m:val="on"/>
                          <m:supHide m:val="on"/>
                          <m:ctrlPr>
                            <a:rPr lang="en-US" altLang="zh-CN" sz="1600" b="1" i="1" dirty="0" smtClean="0">
                              <a:latin typeface="Cambria Math" panose="02040503050406030204" pitchFamily="18" charset="0"/>
                              <a:ea typeface="Cambria Math" panose="02040503050406030204" pitchFamily="18" charset="0"/>
                            </a:rPr>
                          </m:ctrlPr>
                        </m:naryPr>
                        <m:sub/>
                        <m:sup/>
                        <m:e>
                          <m:r>
                            <a:rPr lang="en-US" altLang="zh-CN" sz="1600" i="1" dirty="0">
                              <a:latin typeface="Cambria Math" panose="02040503050406030204" pitchFamily="18" charset="0"/>
                            </a:rPr>
                            <m:t>𝐸</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𝑅</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r>
                        <a:rPr lang="en-US" altLang="zh-CN" sz="1600" b="0" i="1" dirty="0" smtClean="0">
                          <a:latin typeface="Cambria Math" panose="02040503050406030204" pitchFamily="18" charset="0"/>
                        </a:rPr>
                        <m:t>+</m:t>
                      </m:r>
                      <m:r>
                        <a:rPr lang="en-US" altLang="zh-CN" sz="1600" b="1" i="1" dirty="0" smtClean="0">
                          <a:latin typeface="Cambria Math" panose="02040503050406030204" pitchFamily="18" charset="0"/>
                        </a:rPr>
                        <m:t>𝑮</m:t>
                      </m:r>
                      <m:nary>
                        <m:naryPr>
                          <m:limLoc m:val="undOvr"/>
                          <m:subHide m:val="on"/>
                          <m:supHide m:val="on"/>
                          <m:ctrlPr>
                            <a:rPr lang="en-US" altLang="zh-CN" sz="1600" b="1" i="1" dirty="0" smtClean="0">
                              <a:latin typeface="Cambria Math" panose="02040503050406030204" pitchFamily="18" charset="0"/>
                            </a:rPr>
                          </m:ctrlPr>
                        </m:naryPr>
                        <m:sub/>
                        <m:sup/>
                        <m:e>
                          <m:r>
                            <a:rPr lang="en-US" altLang="zh-CN" sz="1600" i="1" dirty="0">
                              <a:latin typeface="Cambria Math" panose="02040503050406030204" pitchFamily="18" charset="0"/>
                            </a:rPr>
                            <m:t>𝐸</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𝐺</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r>
                        <a:rPr lang="en-US" altLang="zh-CN" sz="1600" b="1" i="1" dirty="0">
                          <a:latin typeface="Cambria Math" panose="02040503050406030204" pitchFamily="18" charset="0"/>
                        </a:rPr>
                        <m:t>+</m:t>
                      </m:r>
                      <m:r>
                        <a:rPr lang="en-US" altLang="zh-CN" sz="1600" b="1" i="1" dirty="0" smtClean="0">
                          <a:latin typeface="Cambria Math" panose="02040503050406030204" pitchFamily="18" charset="0"/>
                        </a:rPr>
                        <m:t>𝑩</m:t>
                      </m:r>
                      <m:nary>
                        <m:naryPr>
                          <m:limLoc m:val="undOvr"/>
                          <m:subHide m:val="on"/>
                          <m:supHide m:val="on"/>
                          <m:ctrlPr>
                            <a:rPr lang="en-US" altLang="zh-CN" sz="1600" b="1" i="1" dirty="0" smtClean="0">
                              <a:latin typeface="Cambria Math" panose="02040503050406030204" pitchFamily="18" charset="0"/>
                            </a:rPr>
                          </m:ctrlPr>
                        </m:naryPr>
                        <m:sub/>
                        <m:sup/>
                        <m:e>
                          <m:r>
                            <a:rPr lang="en-US" altLang="zh-CN" sz="1600" i="1" dirty="0">
                              <a:latin typeface="Cambria Math" panose="02040503050406030204" pitchFamily="18" charset="0"/>
                            </a:rPr>
                            <m:t>𝐸</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𝐵</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oMath>
                  </m:oMathPara>
                </a14:m>
                <a:endParaRPr lang="en-US" altLang="zh-CN" sz="1600" dirty="0">
                  <a:latin typeface="Noto Sans SC" panose="020B0200000000000000" pitchFamily="34" charset="-122"/>
                  <a:ea typeface="Noto Sans SC" panose="020B0200000000000000" pitchFamily="34" charset="-122"/>
                </a:endParaRPr>
              </a:p>
              <a:p>
                <a:pPr algn="just"/>
                <a:r>
                  <a:rPr lang="zh-CN" altLang="en-US" sz="1600" dirty="0">
                    <a:latin typeface="Noto Sans SC" panose="020B0200000000000000" pitchFamily="34" charset="-122"/>
                    <a:ea typeface="Noto Sans SC" panose="020B0200000000000000" pitchFamily="34" charset="-122"/>
                  </a:rPr>
                  <a:t>         这里的</a:t>
                </a:r>
                <a14:m>
                  <m:oMath xmlns:m="http://schemas.openxmlformats.org/officeDocument/2006/math">
                    <m:r>
                      <a:rPr lang="en-US" altLang="zh-CN" sz="1600" b="0" i="1" dirty="0" smtClean="0">
                        <a:latin typeface="Cambria Math" panose="02040503050406030204" pitchFamily="18" charset="0"/>
                        <a:ea typeface="Cambria Math" panose="02040503050406030204" pitchFamily="18" charset="0"/>
                      </a:rPr>
                      <m:t>𝑅</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i="1" dirty="0" smtClean="0">
                        <a:latin typeface="Cambria Math" panose="02040503050406030204" pitchFamily="18" charset="0"/>
                        <a:ea typeface="Cambria Math" panose="02040503050406030204" pitchFamily="18" charset="0"/>
                      </a:rPr>
                      <m:t>𝐺</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i="1" dirty="0" smtClean="0">
                        <a:latin typeface="Cambria Math" panose="02040503050406030204" pitchFamily="18" charset="0"/>
                        <a:ea typeface="Cambria Math" panose="02040503050406030204" pitchFamily="18" charset="0"/>
                      </a:rPr>
                      <m:t>𝐵</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就是</a:t>
                </a:r>
                <a:r>
                  <a:rPr lang="en-US" altLang="zh-CN" sz="1600" b="1" dirty="0">
                    <a:latin typeface="Noto Sans SC" panose="020B0200000000000000" pitchFamily="34" charset="-122"/>
                    <a:ea typeface="Noto Sans SC" panose="020B0200000000000000" pitchFamily="34" charset="-122"/>
                  </a:rPr>
                  <a:t>Distribution Curves</a:t>
                </a:r>
                <a:r>
                  <a:rPr lang="zh-CN" altLang="en-US" sz="1600" b="1" dirty="0">
                    <a:latin typeface="Noto Sans SC" panose="020B0200000000000000" pitchFamily="34" charset="-122"/>
                    <a:ea typeface="Noto Sans SC" panose="020B0200000000000000" pitchFamily="34" charset="-122"/>
                  </a:rPr>
                  <a:t>。</a:t>
                </a:r>
                <a:endParaRPr lang="en-US" altLang="zh-CN" sz="1600" b="1" dirty="0">
                  <a:latin typeface="Noto Sans SC" panose="020B0200000000000000" pitchFamily="34" charset="-122"/>
                  <a:ea typeface="Noto Sans SC" panose="020B0200000000000000" pitchFamily="34" charset="-122"/>
                </a:endParaRPr>
              </a:p>
              <a:p>
                <a:pPr algn="just"/>
                <a:endParaRPr lang="en-US" altLang="zh-CN" sz="1600" b="1" dirty="0">
                  <a:latin typeface="Noto Sans SC" panose="020B0200000000000000" pitchFamily="34" charset="-122"/>
                  <a:ea typeface="Cambria Math" panose="02040503050406030204" pitchFamily="18" charset="0"/>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已知，</a:t>
                </a:r>
                <a:r>
                  <a:rPr lang="en-US" altLang="zh-CN" sz="1600" dirty="0">
                    <a:latin typeface="Noto Sans SC" panose="020B0200000000000000" pitchFamily="34" charset="-122"/>
                    <a:ea typeface="Noto Sans SC" panose="020B0200000000000000" pitchFamily="34" charset="-122"/>
                  </a:rPr>
                  <a:t>Guild</a:t>
                </a:r>
                <a:r>
                  <a:rPr lang="zh-CN" altLang="en-US" sz="1600" dirty="0">
                    <a:latin typeface="Noto Sans SC" panose="020B0200000000000000" pitchFamily="34" charset="-122"/>
                    <a:ea typeface="Noto Sans SC" panose="020B0200000000000000" pitchFamily="34" charset="-122"/>
                  </a:rPr>
                  <a:t>将</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的实验数据与自己的数据合并后，是对于</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标准三原色与</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标准白光的，这就意味着一单位的</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标准三原色可以匹配</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标准白光。他们当时已经有了</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标准白光的光谱能量</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b="0" i="1" dirty="0" smtClean="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，于是代入上式：</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b="1" i="1" dirty="0">
                              <a:latin typeface="Cambria Math" panose="02040503050406030204" pitchFamily="18" charset="0"/>
                            </a:rPr>
                            <m:t>𝑬</m:t>
                          </m:r>
                        </m:sub>
                      </m:sSub>
                      <m:r>
                        <a:rPr lang="en-US" altLang="zh-CN" sz="1600" i="1" dirty="0">
                          <a:latin typeface="Cambria Math" panose="02040503050406030204" pitchFamily="18" charset="0"/>
                          <a:ea typeface="Cambria Math" panose="02040503050406030204" pitchFamily="18" charset="0"/>
                        </a:rPr>
                        <m:t>≡</m:t>
                      </m:r>
                      <m:r>
                        <a:rPr lang="en-US" altLang="zh-CN" sz="1600" b="1" i="1" dirty="0">
                          <a:latin typeface="Cambria Math" panose="02040503050406030204" pitchFamily="18" charset="0"/>
                        </a:rPr>
                        <m:t>𝑹</m:t>
                      </m:r>
                      <m:nary>
                        <m:naryPr>
                          <m:limLoc m:val="undOvr"/>
                          <m:subHide m:val="on"/>
                          <m:supHide m:val="on"/>
                          <m:ctrlPr>
                            <a:rPr lang="en-US" altLang="zh-CN" sz="1600" b="1" i="1" dirty="0" smtClean="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𝑅</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r>
                        <a:rPr lang="en-US" altLang="zh-CN" sz="1600" i="1" dirty="0">
                          <a:latin typeface="Cambria Math" panose="02040503050406030204" pitchFamily="18" charset="0"/>
                        </a:rPr>
                        <m:t>+</m:t>
                      </m:r>
                      <m:r>
                        <a:rPr lang="en-US" altLang="zh-CN" sz="1600" b="1" i="1" dirty="0">
                          <a:latin typeface="Cambria Math" panose="02040503050406030204" pitchFamily="18" charset="0"/>
                        </a:rPr>
                        <m:t>𝑮</m:t>
                      </m:r>
                      <m:nary>
                        <m:naryPr>
                          <m:limLoc m:val="undOvr"/>
                          <m:subHide m:val="on"/>
                          <m:supHide m:val="on"/>
                          <m:ctrlPr>
                            <a:rPr lang="en-US" altLang="zh-CN" sz="1600" b="1" i="1" dirty="0" smtClean="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𝐺</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r>
                        <a:rPr lang="en-US" altLang="zh-CN" sz="1600" b="1" i="1" dirty="0">
                          <a:latin typeface="Cambria Math" panose="02040503050406030204" pitchFamily="18" charset="0"/>
                        </a:rPr>
                        <m:t>+</m:t>
                      </m:r>
                      <m:r>
                        <a:rPr lang="en-US" altLang="zh-CN" sz="1600" b="1" i="1" dirty="0">
                          <a:latin typeface="Cambria Math" panose="02040503050406030204" pitchFamily="18" charset="0"/>
                        </a:rPr>
                        <m:t>𝑩</m:t>
                      </m:r>
                      <m:nary>
                        <m:naryPr>
                          <m:limLoc m:val="undOvr"/>
                          <m:subHide m:val="on"/>
                          <m:supHide m:val="on"/>
                          <m:ctrlPr>
                            <a:rPr lang="en-US" altLang="zh-CN" sz="1600" b="1" i="1" dirty="0" smtClean="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𝐵</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oMath>
                  </m:oMathPara>
                </a14:m>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因此，就应该满足等式：</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nary>
                        <m:naryPr>
                          <m:limLoc m:val="undOvr"/>
                          <m:subHide m:val="on"/>
                          <m:supHide m:val="on"/>
                          <m:ctrlPr>
                            <a:rPr lang="en-US" altLang="zh-CN" sz="1600" b="1" i="1" dirty="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𝑅</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b="0" i="1" dirty="0" smtClean="0">
                          <a:latin typeface="Cambria Math" panose="02040503050406030204" pitchFamily="18" charset="0"/>
                        </a:rPr>
                        <m:t>=</m:t>
                      </m:r>
                      <m:nary>
                        <m:naryPr>
                          <m:limLoc m:val="undOvr"/>
                          <m:subHide m:val="on"/>
                          <m:supHide m:val="on"/>
                          <m:ctrlPr>
                            <a:rPr lang="en-US" altLang="zh-CN" sz="1600" b="1" i="1" dirty="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𝐺</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b="1" i="1" dirty="0" smtClean="0">
                          <a:latin typeface="Cambria Math" panose="02040503050406030204" pitchFamily="18" charset="0"/>
                        </a:rPr>
                        <m:t>=</m:t>
                      </m:r>
                      <m:nary>
                        <m:naryPr>
                          <m:limLoc m:val="undOvr"/>
                          <m:subHide m:val="on"/>
                          <m:supHide m:val="on"/>
                          <m:ctrlPr>
                            <a:rPr lang="en-US" altLang="zh-CN" sz="1600" b="1" i="1" dirty="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𝐵</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oMath>
                  </m:oMathPara>
                </a14:m>
                <a:endParaRPr lang="en-US" altLang="zh-CN" sz="16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2BD6963B-936D-93DD-3B55-ED87D0241977}"/>
                  </a:ext>
                </a:extLst>
              </p:cNvPr>
              <p:cNvSpPr txBox="1">
                <a:spLocks noRot="1" noChangeAspect="1" noMove="1" noResize="1" noEditPoints="1" noAdjustHandles="1" noChangeArrowheads="1" noChangeShapeType="1" noTextEdit="1"/>
              </p:cNvSpPr>
              <p:nvPr/>
            </p:nvSpPr>
            <p:spPr>
              <a:xfrm>
                <a:off x="350729" y="1954731"/>
                <a:ext cx="11611627" cy="4674293"/>
              </a:xfrm>
              <a:prstGeom prst="rect">
                <a:avLst/>
              </a:prstGeom>
              <a:blipFill>
                <a:blip r:embed="rId2"/>
                <a:stretch>
                  <a:fillRect l="-315" t="-392" r="-21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1339C494-FF4B-66D4-C465-3E31AC47BBBF}"/>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Distribution Curves</a:t>
            </a:r>
            <a:endParaRPr lang="zh-CN" altLang="en-US" sz="11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5405171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60EA8-122D-C3FD-8A7E-EE5439FCF50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FC16955-1D70-F540-27C4-4ADD227D67FD}"/>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3274165-31C8-EBB4-0570-6BD904435038}"/>
                  </a:ext>
                </a:extLst>
              </p:cNvPr>
              <p:cNvSpPr txBox="1"/>
              <p:nvPr/>
            </p:nvSpPr>
            <p:spPr>
              <a:xfrm>
                <a:off x="652039" y="1954731"/>
                <a:ext cx="11310317" cy="2215543"/>
              </a:xfrm>
              <a:prstGeom prst="rect">
                <a:avLst/>
              </a:prstGeom>
              <a:noFill/>
            </p:spPr>
            <p:txBody>
              <a:bodyPr wrap="square" rtlCol="0">
                <a:spAutoFit/>
              </a:bodyPr>
              <a:lstStyle/>
              <a:p>
                <a:pPr algn="just"/>
                <a:r>
                  <a:rPr lang="zh-CN" altLang="en-US" sz="1600" dirty="0">
                    <a:latin typeface="Noto Sans SC" panose="020B0200000000000000" pitchFamily="34" charset="-122"/>
                    <a:ea typeface="Noto Sans SC" panose="020B0200000000000000" pitchFamily="34" charset="-122"/>
                  </a:rPr>
                  <a:t>         因此，就应该满足等式：</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nary>
                        <m:naryPr>
                          <m:limLoc m:val="undOvr"/>
                          <m:subHide m:val="on"/>
                          <m:supHide m:val="on"/>
                          <m:ctrlPr>
                            <a:rPr lang="en-US" altLang="zh-CN" sz="1600" b="1" i="1" dirty="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𝑅</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i="1" dirty="0">
                          <a:latin typeface="Cambria Math" panose="02040503050406030204" pitchFamily="18" charset="0"/>
                        </a:rPr>
                        <m:t>=</m:t>
                      </m:r>
                      <m:nary>
                        <m:naryPr>
                          <m:limLoc m:val="undOvr"/>
                          <m:subHide m:val="on"/>
                          <m:supHide m:val="on"/>
                          <m:ctrlPr>
                            <a:rPr lang="en-US" altLang="zh-CN" sz="1600" b="1" i="1" dirty="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𝐺</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b="1" i="1" dirty="0">
                          <a:latin typeface="Cambria Math" panose="02040503050406030204" pitchFamily="18" charset="0"/>
                        </a:rPr>
                        <m:t>=</m:t>
                      </m:r>
                      <m:nary>
                        <m:naryPr>
                          <m:limLoc m:val="undOvr"/>
                          <m:subHide m:val="on"/>
                          <m:supHide m:val="on"/>
                          <m:ctrlPr>
                            <a:rPr lang="en-US" altLang="zh-CN" sz="1600" b="1" i="1" dirty="0">
                              <a:latin typeface="Cambria Math" panose="02040503050406030204" pitchFamily="18" charset="0"/>
                            </a:rPr>
                          </m:ctrlPr>
                        </m:naryPr>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i="1" dirty="0">
                                  <a:latin typeface="Cambria Math" panose="02040503050406030204" pitchFamily="18" charset="0"/>
                                </a:rPr>
                                <m:t>𝑊</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𝐵</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oMath>
                  </m:oMathPara>
                </a14:m>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Guild</a:t>
                </a:r>
                <a:r>
                  <a:rPr lang="zh-CN" altLang="en-US" sz="1600" dirty="0">
                    <a:latin typeface="Noto Sans SC" panose="020B0200000000000000" pitchFamily="34" charset="-122"/>
                    <a:ea typeface="Noto Sans SC" panose="020B0200000000000000" pitchFamily="34" charset="-122"/>
                  </a:rPr>
                  <a:t>将视见函数</a:t>
                </a:r>
                <a:r>
                  <a:rPr lang="en-US" altLang="zh-CN" sz="1600" dirty="0">
                    <a:latin typeface="Noto Sans SC" panose="020B0200000000000000" pitchFamily="34" charset="-122"/>
                    <a:ea typeface="Noto Sans SC" panose="020B0200000000000000" pitchFamily="34" charset="-122"/>
                  </a:rPr>
                  <a:t>V(λ)</a:t>
                </a:r>
                <a:r>
                  <a:rPr lang="zh-CN" altLang="en-US" sz="1600" dirty="0">
                    <a:latin typeface="Noto Sans SC" panose="020B0200000000000000" pitchFamily="34" charset="-122"/>
                    <a:ea typeface="Noto Sans SC" panose="020B0200000000000000" pitchFamily="34" charset="-122"/>
                  </a:rPr>
                  <a:t>、得到的合并后的色度系数数据、</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标准白光的能量分布带入计算、以及自己测量并计算得到的亮度代入计算，他发现如果将原始测量的亮度比例</a:t>
                </a:r>
                <a:r>
                  <a:rPr lang="en-US" altLang="zh-CN" sz="1600" dirty="0">
                    <a:latin typeface="Noto Sans SC" panose="020B0200000000000000" pitchFamily="34" charset="-122"/>
                    <a:ea typeface="Noto Sans SC" panose="020B0200000000000000" pitchFamily="34" charset="-122"/>
                  </a:rPr>
                  <a:t>1 : 2.88 : 0.17</a:t>
                </a:r>
                <a:r>
                  <a:rPr lang="zh-CN" altLang="en-US" sz="1600" dirty="0">
                    <a:latin typeface="Noto Sans SC" panose="020B0200000000000000" pitchFamily="34" charset="-122"/>
                    <a:ea typeface="Noto Sans SC" panose="020B0200000000000000" pitchFamily="34" charset="-122"/>
                  </a:rPr>
                  <a:t>稍微调整为</a:t>
                </a:r>
                <a:r>
                  <a:rPr lang="en-US" altLang="zh-CN" sz="1600" dirty="0">
                    <a:latin typeface="Noto Sans SC" panose="020B0200000000000000" pitchFamily="34" charset="-122"/>
                    <a:ea typeface="Noto Sans SC" panose="020B0200000000000000" pitchFamily="34" charset="-122"/>
                  </a:rPr>
                  <a:t>1 : 2.858 : 0.169</a:t>
                </a:r>
                <a:r>
                  <a:rPr lang="zh-CN" altLang="en-US" sz="1600" dirty="0">
                    <a:latin typeface="Noto Sans SC" panose="020B0200000000000000" pitchFamily="34" charset="-122"/>
                    <a:ea typeface="Noto Sans SC" panose="020B0200000000000000" pitchFamily="34" charset="-122"/>
                  </a:rPr>
                  <a:t>，最后计算得到的上式就能几乎相等，这证明了他的数据转换与合并以及初步测量的三原色的亮度是没有错的。</a:t>
                </a:r>
                <a:endParaRPr lang="en-US" altLang="zh-CN" sz="16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93274165-31C8-EBB4-0570-6BD904435038}"/>
                  </a:ext>
                </a:extLst>
              </p:cNvPr>
              <p:cNvSpPr txBox="1">
                <a:spLocks noRot="1" noChangeAspect="1" noMove="1" noResize="1" noEditPoints="1" noAdjustHandles="1" noChangeArrowheads="1" noChangeShapeType="1" noTextEdit="1"/>
              </p:cNvSpPr>
              <p:nvPr/>
            </p:nvSpPr>
            <p:spPr>
              <a:xfrm>
                <a:off x="652039" y="1954731"/>
                <a:ext cx="11310317" cy="2215543"/>
              </a:xfrm>
              <a:prstGeom prst="rect">
                <a:avLst/>
              </a:prstGeom>
              <a:blipFill>
                <a:blip r:embed="rId2"/>
                <a:stretch>
                  <a:fillRect l="-323" t="-826" r="-270" b="-2755"/>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D0EB5252-E41D-A375-C931-4D1275D79D0B}"/>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Distribution Curves</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AA3DCF4-DA71-6CF0-B024-B263B837EF26}"/>
                  </a:ext>
                </a:extLst>
              </p:cNvPr>
              <p:cNvSpPr txBox="1"/>
              <p:nvPr/>
            </p:nvSpPr>
            <p:spPr>
              <a:xfrm>
                <a:off x="652039" y="4225574"/>
                <a:ext cx="6097044" cy="2335319"/>
              </a:xfrm>
              <a:prstGeom prst="rect">
                <a:avLst/>
              </a:prstGeom>
              <a:noFill/>
            </p:spPr>
            <p:txBody>
              <a:bodyPr wrap="square">
                <a:spAutoFit/>
              </a:bodyPr>
              <a:lstStyle/>
              <a:p>
                <a:r>
                  <a:rPr lang="zh-CN" altLang="en-US" sz="1600" dirty="0">
                    <a:latin typeface="Noto Sans SC" panose="020B0200000000000000" pitchFamily="34" charset="-122"/>
                    <a:ea typeface="Noto Sans SC" panose="020B0200000000000000" pitchFamily="34" charset="-122"/>
                  </a:rPr>
                  <a:t>         进一步的，</a:t>
                </a:r>
                <a:r>
                  <a:rPr lang="en-US" altLang="zh-CN" sz="1600" dirty="0">
                    <a:latin typeface="Noto Sans SC" panose="020B0200000000000000" pitchFamily="34" charset="-122"/>
                    <a:ea typeface="Noto Sans SC" panose="020B0200000000000000" pitchFamily="34" charset="-122"/>
                  </a:rPr>
                  <a:t>Guild</a:t>
                </a:r>
                <a:r>
                  <a:rPr lang="zh-CN" altLang="en-US" sz="1600" dirty="0">
                    <a:latin typeface="Noto Sans SC" panose="020B0200000000000000" pitchFamily="34" charset="-122"/>
                    <a:ea typeface="Noto Sans SC" panose="020B0200000000000000" pitchFamily="34" charset="-122"/>
                  </a:rPr>
                  <a:t>将两人的合并数据的参考白光，从</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标准白光转换到了等能白光（</a:t>
                </a:r>
                <a:r>
                  <a:rPr lang="en-US" altLang="zh-CN" sz="1600" dirty="0">
                    <a:latin typeface="Noto Sans SC" panose="020B0200000000000000" pitchFamily="34" charset="-122"/>
                    <a:ea typeface="Noto Sans SC" panose="020B0200000000000000" pitchFamily="34" charset="-122"/>
                  </a:rPr>
                  <a:t>Equal Energy White</a:t>
                </a:r>
                <a:r>
                  <a:rPr lang="zh-CN" altLang="en-US" sz="1600" dirty="0">
                    <a:latin typeface="Noto Sans SC" panose="020B0200000000000000" pitchFamily="34" charset="-122"/>
                    <a:ea typeface="Noto Sans SC" panose="020B0200000000000000" pitchFamily="34" charset="-122"/>
                  </a:rPr>
                  <a:t>），为此，他先计算了等能白光再旧的参考白光下的色度坐标：</a:t>
                </a:r>
                <a:endParaRPr lang="en-US" altLang="zh-CN" sz="1600"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sSub>
                        <m:sSubPr>
                          <m:ctrlPr>
                            <a:rPr lang="en-US" altLang="zh-CN" sz="1400" b="0" i="1" dirty="0" smtClean="0">
                              <a:latin typeface="Cambria Math" panose="02040503050406030204" pitchFamily="18" charset="0"/>
                              <a:ea typeface="Cambria Math" panose="02040503050406030204" pitchFamily="18" charset="0"/>
                            </a:rPr>
                          </m:ctrlPr>
                        </m:sSubPr>
                        <m:e>
                          <m:r>
                            <a:rPr lang="en-US" altLang="zh-CN" sz="1400" b="0" i="1" dirty="0" smtClean="0">
                              <a:latin typeface="Cambria Math" panose="02040503050406030204" pitchFamily="18" charset="0"/>
                              <a:ea typeface="Cambria Math" panose="02040503050406030204" pitchFamily="18" charset="0"/>
                            </a:rPr>
                            <m:t>𝑟</m:t>
                          </m:r>
                        </m:e>
                        <m:sub>
                          <m:r>
                            <a:rPr lang="en-US" altLang="zh-CN" sz="1400" b="0" i="1" dirty="0" smtClean="0">
                              <a:latin typeface="Cambria Math" panose="02040503050406030204" pitchFamily="18" charset="0"/>
                              <a:ea typeface="Cambria Math" panose="02040503050406030204" pitchFamily="18" charset="0"/>
                            </a:rPr>
                            <m:t>𝐸𝐸𝑊</m:t>
                          </m:r>
                        </m:sub>
                      </m:sSub>
                      <m:r>
                        <a:rPr lang="en-US" altLang="zh-CN" sz="1400" b="0" i="1" dirty="0" smtClean="0">
                          <a:latin typeface="Cambria Math" panose="02040503050406030204" pitchFamily="18" charset="0"/>
                          <a:ea typeface="Cambria Math" panose="02040503050406030204" pitchFamily="18" charset="0"/>
                        </a:rPr>
                        <m:t>=</m:t>
                      </m:r>
                      <m:nary>
                        <m:naryPr>
                          <m:limLoc m:val="undOvr"/>
                          <m:subHide m:val="on"/>
                          <m:supHide m:val="on"/>
                          <m:ctrlPr>
                            <a:rPr lang="en-US" altLang="zh-CN" sz="1400" b="0" i="1" dirty="0" smtClean="0">
                              <a:latin typeface="Cambria Math" panose="02040503050406030204" pitchFamily="18" charset="0"/>
                              <a:ea typeface="Cambria Math" panose="02040503050406030204" pitchFamily="18" charset="0"/>
                            </a:rPr>
                          </m:ctrlPr>
                        </m:naryPr>
                        <m:sub/>
                        <m:sup/>
                        <m:e>
                          <m:r>
                            <a:rPr lang="en-US" altLang="zh-CN" sz="1400" i="1" dirty="0">
                              <a:latin typeface="Cambria Math" panose="02040503050406030204" pitchFamily="18" charset="0"/>
                            </a:rPr>
                            <m:t>𝑅</m:t>
                          </m:r>
                          <m:d>
                            <m:dPr>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𝜆</m:t>
                              </m:r>
                            </m:e>
                          </m:d>
                          <m:r>
                            <a:rPr lang="en-US" altLang="zh-CN" sz="1400" b="0" i="1" dirty="0" smtClean="0">
                              <a:latin typeface="Cambria Math" panose="02040503050406030204" pitchFamily="18" charset="0"/>
                            </a:rPr>
                            <m:t>𝑑</m:t>
                          </m:r>
                          <m:r>
                            <a:rPr lang="en-US" altLang="zh-CN" sz="1400" b="0" i="1" dirty="0" smtClean="0">
                              <a:latin typeface="Cambria Math" panose="02040503050406030204" pitchFamily="18" charset="0"/>
                            </a:rPr>
                            <m:t>𝜆</m:t>
                          </m:r>
                        </m:e>
                      </m:nary>
                      <m:r>
                        <a:rPr lang="en-US" altLang="zh-CN" sz="1400" b="0" i="1" dirty="0" smtClean="0">
                          <a:latin typeface="Cambria Math" panose="02040503050406030204" pitchFamily="18" charset="0"/>
                        </a:rPr>
                        <m:t>,  </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𝑔</m:t>
                          </m:r>
                        </m:e>
                        <m:sub>
                          <m:r>
                            <a:rPr lang="en-US" altLang="zh-CN" sz="1400" b="0" i="1" dirty="0" smtClean="0">
                              <a:latin typeface="Cambria Math" panose="02040503050406030204" pitchFamily="18" charset="0"/>
                            </a:rPr>
                            <m:t>𝐸𝐸𝑊</m:t>
                          </m:r>
                        </m:sub>
                      </m:sSub>
                      <m:r>
                        <a:rPr lang="en-US" altLang="zh-CN" sz="1400" b="0" i="1" dirty="0" smtClean="0">
                          <a:latin typeface="Cambria Math" panose="02040503050406030204" pitchFamily="18" charset="0"/>
                        </a:rPr>
                        <m:t>=</m:t>
                      </m:r>
                      <m:nary>
                        <m:naryPr>
                          <m:limLoc m:val="undOvr"/>
                          <m:subHide m:val="on"/>
                          <m:supHide m:val="on"/>
                          <m:ctrlPr>
                            <a:rPr lang="en-US" altLang="zh-CN" sz="1400" i="1" dirty="0">
                              <a:latin typeface="Cambria Math" panose="02040503050406030204" pitchFamily="18" charset="0"/>
                              <a:ea typeface="Cambria Math" panose="02040503050406030204" pitchFamily="18" charset="0"/>
                            </a:rPr>
                          </m:ctrlPr>
                        </m:naryPr>
                        <m:sub/>
                        <m:sup/>
                        <m:e>
                          <m:r>
                            <a:rPr lang="en-US" altLang="zh-CN" sz="1400" b="0" i="1" dirty="0" smtClean="0">
                              <a:latin typeface="Cambria Math" panose="02040503050406030204" pitchFamily="18" charset="0"/>
                            </a:rPr>
                            <m:t>𝐺</m:t>
                          </m:r>
                          <m:d>
                            <m:dPr>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𝜆</m:t>
                              </m:r>
                            </m:e>
                          </m:d>
                          <m:r>
                            <a:rPr lang="en-US" altLang="zh-CN" sz="1400" i="1" dirty="0">
                              <a:latin typeface="Cambria Math" panose="02040503050406030204" pitchFamily="18" charset="0"/>
                            </a:rPr>
                            <m:t>𝑑</m:t>
                          </m:r>
                          <m:r>
                            <a:rPr lang="en-US" altLang="zh-CN" sz="1400" i="1" dirty="0">
                              <a:latin typeface="Cambria Math" panose="02040503050406030204" pitchFamily="18" charset="0"/>
                            </a:rPr>
                            <m:t>𝜆</m:t>
                          </m:r>
                        </m:e>
                      </m:nary>
                      <m:r>
                        <a:rPr lang="en-US" altLang="zh-CN" sz="1400" b="0" i="1" dirty="0" smtClean="0">
                          <a:latin typeface="Cambria Math" panose="02040503050406030204" pitchFamily="18" charset="0"/>
                        </a:rPr>
                        <m:t>,  </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𝑏</m:t>
                          </m:r>
                        </m:e>
                        <m:sub>
                          <m:r>
                            <a:rPr lang="en-US" altLang="zh-CN" sz="1400" b="0" i="1" dirty="0" smtClean="0">
                              <a:latin typeface="Cambria Math" panose="02040503050406030204" pitchFamily="18" charset="0"/>
                            </a:rPr>
                            <m:t>𝐸𝐸𝑊</m:t>
                          </m:r>
                        </m:sub>
                      </m:sSub>
                      <m:r>
                        <a:rPr lang="en-US" altLang="zh-CN" sz="1400" b="0" i="1" dirty="0" smtClean="0">
                          <a:latin typeface="Cambria Math" panose="02040503050406030204" pitchFamily="18" charset="0"/>
                        </a:rPr>
                        <m:t>=</m:t>
                      </m:r>
                      <m:nary>
                        <m:naryPr>
                          <m:limLoc m:val="undOvr"/>
                          <m:subHide m:val="on"/>
                          <m:supHide m:val="on"/>
                          <m:ctrlPr>
                            <a:rPr lang="en-US" altLang="zh-CN" sz="1400" i="1" dirty="0">
                              <a:latin typeface="Cambria Math" panose="02040503050406030204" pitchFamily="18" charset="0"/>
                              <a:ea typeface="Cambria Math" panose="02040503050406030204" pitchFamily="18" charset="0"/>
                            </a:rPr>
                          </m:ctrlPr>
                        </m:naryPr>
                        <m:sub/>
                        <m:sup/>
                        <m:e>
                          <m:r>
                            <a:rPr lang="en-US" altLang="zh-CN" sz="1400" i="1" dirty="0">
                              <a:latin typeface="Cambria Math" panose="02040503050406030204" pitchFamily="18" charset="0"/>
                            </a:rPr>
                            <m:t>𝐵</m:t>
                          </m:r>
                          <m:d>
                            <m:dPr>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𝜆</m:t>
                              </m:r>
                            </m:e>
                          </m:d>
                          <m:r>
                            <a:rPr lang="en-US" altLang="zh-CN" sz="1400" i="1" dirty="0">
                              <a:latin typeface="Cambria Math" panose="02040503050406030204" pitchFamily="18" charset="0"/>
                            </a:rPr>
                            <m:t>𝑑</m:t>
                          </m:r>
                          <m:r>
                            <a:rPr lang="en-US" altLang="zh-CN" sz="1400" i="1" dirty="0">
                              <a:latin typeface="Cambria Math" panose="02040503050406030204" pitchFamily="18" charset="0"/>
                            </a:rPr>
                            <m:t>𝜆</m:t>
                          </m:r>
                        </m:e>
                      </m:nary>
                    </m:oMath>
                  </m:oMathPara>
                </a14:m>
                <a:endParaRPr lang="en-US" altLang="zh-CN" sz="1400" i="1" dirty="0">
                  <a:latin typeface="Cambria Math" panose="02040503050406030204" pitchFamily="18" charset="0"/>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r>
                        <a:rPr lang="zh-CN" altLang="en-US" sz="1400" i="1" dirty="0">
                          <a:latin typeface="Cambria Math" panose="02040503050406030204" pitchFamily="18" charset="0"/>
                        </a:rPr>
                        <m:t>色度坐标：</m:t>
                      </m:r>
                      <m:f>
                        <m:fPr>
                          <m:ctrlPr>
                            <a:rPr lang="en-US" altLang="zh-CN" sz="1400" b="0" i="1" dirty="0" smtClean="0">
                              <a:latin typeface="Cambria Math" panose="02040503050406030204" pitchFamily="18" charset="0"/>
                            </a:rPr>
                          </m:ctrlPr>
                        </m:fPr>
                        <m:num>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𝑟</m:t>
                              </m:r>
                            </m:e>
                            <m:sub>
                              <m:r>
                                <a:rPr lang="en-US" altLang="zh-CN" sz="1400" b="0" i="1" dirty="0" smtClean="0">
                                  <a:latin typeface="Cambria Math" panose="02040503050406030204" pitchFamily="18" charset="0"/>
                                </a:rPr>
                                <m:t>𝐸𝐸𝑊</m:t>
                              </m:r>
                            </m:sub>
                          </m:sSub>
                        </m:num>
                        <m:den>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𝑟</m:t>
                              </m:r>
                            </m:e>
                            <m:sub>
                              <m:r>
                                <a:rPr lang="en-US" altLang="zh-CN" sz="1400" b="0" i="1" dirty="0" smtClean="0">
                                  <a:latin typeface="Cambria Math" panose="02040503050406030204" pitchFamily="18" charset="0"/>
                                </a:rPr>
                                <m:t>𝐸𝐸𝑊</m:t>
                              </m:r>
                            </m:sub>
                          </m:sSub>
                          <m:r>
                            <a:rPr lang="en-US" altLang="zh-CN" sz="1400" b="0" i="1" dirty="0" smtClean="0">
                              <a:latin typeface="Cambria Math" panose="02040503050406030204" pitchFamily="18" charset="0"/>
                            </a:rPr>
                            <m:t>+</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𝑔</m:t>
                              </m:r>
                            </m:e>
                            <m:sub>
                              <m:r>
                                <a:rPr lang="en-US" altLang="zh-CN" sz="1400" b="0" i="1" dirty="0" smtClean="0">
                                  <a:latin typeface="Cambria Math" panose="02040503050406030204" pitchFamily="18" charset="0"/>
                                </a:rPr>
                                <m:t>𝐸𝐸𝑊</m:t>
                              </m:r>
                            </m:sub>
                          </m:sSub>
                          <m:r>
                            <a:rPr lang="en-US" altLang="zh-CN" sz="1400" b="0" i="1" dirty="0" smtClean="0">
                              <a:latin typeface="Cambria Math" panose="02040503050406030204" pitchFamily="18" charset="0"/>
                            </a:rPr>
                            <m:t>+</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𝑏</m:t>
                              </m:r>
                            </m:e>
                            <m:sub>
                              <m:r>
                                <a:rPr lang="en-US" altLang="zh-CN" sz="1400" b="0" i="1" dirty="0" smtClean="0">
                                  <a:latin typeface="Cambria Math" panose="02040503050406030204" pitchFamily="18" charset="0"/>
                                </a:rPr>
                                <m:t>𝐸𝐸𝑊</m:t>
                              </m:r>
                            </m:sub>
                          </m:sSub>
                        </m:den>
                      </m:f>
                      <m:r>
                        <a:rPr lang="en-US" altLang="zh-CN" sz="1400" b="0" i="1" dirty="0" smtClean="0">
                          <a:latin typeface="Cambria Math" panose="02040503050406030204" pitchFamily="18" charset="0"/>
                        </a:rPr>
                        <m:t>,</m:t>
                      </m:r>
                      <m:f>
                        <m:fPr>
                          <m:ctrlPr>
                            <a:rPr lang="en-US" altLang="zh-CN" sz="1400" b="0" i="1" dirty="0" smtClean="0">
                              <a:latin typeface="Cambria Math" panose="02040503050406030204" pitchFamily="18" charset="0"/>
                            </a:rPr>
                          </m:ctrlPr>
                        </m:fPr>
                        <m:num>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𝑔</m:t>
                              </m:r>
                            </m:e>
                            <m:sub>
                              <m:r>
                                <a:rPr lang="en-US" altLang="zh-CN" sz="1400" i="1" dirty="0">
                                  <a:latin typeface="Cambria Math" panose="02040503050406030204" pitchFamily="18" charset="0"/>
                                </a:rPr>
                                <m:t>𝐸𝐸𝑊</m:t>
                              </m:r>
                            </m:sub>
                          </m:sSub>
                        </m:num>
                        <m:den>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𝑟</m:t>
                              </m:r>
                            </m:e>
                            <m:sub>
                              <m:r>
                                <a:rPr lang="en-US" altLang="zh-CN" sz="1400" i="1" dirty="0">
                                  <a:latin typeface="Cambria Math" panose="02040503050406030204" pitchFamily="18" charset="0"/>
                                </a:rPr>
                                <m:t>𝐸𝐸𝑊</m:t>
                              </m:r>
                            </m:sub>
                          </m:sSub>
                          <m:r>
                            <a:rPr lang="en-US" altLang="zh-CN" sz="1400" i="1" dirty="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𝑔</m:t>
                              </m:r>
                            </m:e>
                            <m:sub>
                              <m:r>
                                <a:rPr lang="en-US" altLang="zh-CN" sz="1400" i="1" dirty="0">
                                  <a:latin typeface="Cambria Math" panose="02040503050406030204" pitchFamily="18" charset="0"/>
                                </a:rPr>
                                <m:t>𝐸𝐸𝑊</m:t>
                              </m:r>
                            </m:sub>
                          </m:sSub>
                          <m:r>
                            <a:rPr lang="en-US" altLang="zh-CN" sz="1400" i="1" dirty="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𝑏</m:t>
                              </m:r>
                            </m:e>
                            <m:sub>
                              <m:r>
                                <a:rPr lang="en-US" altLang="zh-CN" sz="1400" i="1" dirty="0">
                                  <a:latin typeface="Cambria Math" panose="02040503050406030204" pitchFamily="18" charset="0"/>
                                </a:rPr>
                                <m:t>𝐸𝐸𝑊</m:t>
                              </m:r>
                            </m:sub>
                          </m:sSub>
                        </m:den>
                      </m:f>
                      <m:r>
                        <a:rPr lang="en-US" altLang="zh-CN" sz="1400" b="0" i="1" dirty="0" smtClean="0">
                          <a:latin typeface="Cambria Math" panose="02040503050406030204" pitchFamily="18" charset="0"/>
                        </a:rPr>
                        <m:t>,</m:t>
                      </m:r>
                      <m:f>
                        <m:fPr>
                          <m:ctrlPr>
                            <a:rPr lang="en-US" altLang="zh-CN" sz="1400" b="0" i="1" dirty="0" smtClean="0">
                              <a:latin typeface="Cambria Math" panose="02040503050406030204" pitchFamily="18" charset="0"/>
                            </a:rPr>
                          </m:ctrlPr>
                        </m:fPr>
                        <m:num>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𝑏</m:t>
                              </m:r>
                            </m:e>
                            <m:sub>
                              <m:r>
                                <a:rPr lang="en-US" altLang="zh-CN" sz="1400" i="1" dirty="0">
                                  <a:latin typeface="Cambria Math" panose="02040503050406030204" pitchFamily="18" charset="0"/>
                                </a:rPr>
                                <m:t>𝐸𝐸𝑊</m:t>
                              </m:r>
                            </m:sub>
                          </m:sSub>
                        </m:num>
                        <m:den>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𝑟</m:t>
                              </m:r>
                            </m:e>
                            <m:sub>
                              <m:r>
                                <a:rPr lang="en-US" altLang="zh-CN" sz="1400" i="1" dirty="0">
                                  <a:latin typeface="Cambria Math" panose="02040503050406030204" pitchFamily="18" charset="0"/>
                                </a:rPr>
                                <m:t>𝐸𝐸𝑊</m:t>
                              </m:r>
                            </m:sub>
                          </m:sSub>
                          <m:r>
                            <a:rPr lang="en-US" altLang="zh-CN" sz="1400" i="1" dirty="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𝑔</m:t>
                              </m:r>
                            </m:e>
                            <m:sub>
                              <m:r>
                                <a:rPr lang="en-US" altLang="zh-CN" sz="1400" i="1" dirty="0">
                                  <a:latin typeface="Cambria Math" panose="02040503050406030204" pitchFamily="18" charset="0"/>
                                </a:rPr>
                                <m:t>𝐸𝐸𝑊</m:t>
                              </m:r>
                            </m:sub>
                          </m:sSub>
                          <m:r>
                            <a:rPr lang="en-US" altLang="zh-CN" sz="1400" i="1" dirty="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𝑏</m:t>
                              </m:r>
                            </m:e>
                            <m:sub>
                              <m:r>
                                <a:rPr lang="en-US" altLang="zh-CN" sz="1400" i="1" dirty="0">
                                  <a:latin typeface="Cambria Math" panose="02040503050406030204" pitchFamily="18" charset="0"/>
                                </a:rPr>
                                <m:t>𝐸𝐸𝑊</m:t>
                              </m:r>
                            </m:sub>
                          </m:sSub>
                        </m:den>
                      </m:f>
                    </m:oMath>
                  </m:oMathPara>
                </a14:m>
                <a:endParaRPr lang="en-US" altLang="zh-CN" sz="1600" dirty="0">
                  <a:latin typeface="Noto Sans SC" panose="020B0200000000000000" pitchFamily="34" charset="-122"/>
                  <a:ea typeface="Noto Sans SC" panose="020B0200000000000000" pitchFamily="34" charset="-122"/>
                </a:endParaRPr>
              </a:p>
              <a:p>
                <a:endParaRPr lang="en-US" altLang="zh-CN" sz="1600" dirty="0">
                  <a:latin typeface="Noto Sans SC" panose="020B0200000000000000" pitchFamily="34" charset="-122"/>
                  <a:ea typeface="Noto Sans SC" panose="020B0200000000000000" pitchFamily="34" charset="-122"/>
                </a:endParaRPr>
              </a:p>
              <a:p>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具体数值为：</a:t>
                </a:r>
                <a:r>
                  <a:rPr lang="zh-CN" altLang="zh-CN" sz="1600" dirty="0">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a:t>
                </a:r>
                <a:r>
                  <a:rPr lang="zh-CN" altLang="zh-CN" sz="1600" dirty="0">
                    <a:latin typeface="Noto Sans SC" panose="020B0200000000000000" pitchFamily="34" charset="-122"/>
                    <a:ea typeface="Noto Sans SC" panose="020B0200000000000000" pitchFamily="34" charset="-122"/>
                  </a:rPr>
                  <a:t>0.301</a:t>
                </a:r>
                <a:r>
                  <a:rPr lang="en-US" altLang="zh-CN" sz="1600" dirty="0">
                    <a:latin typeface="Noto Sans SC" panose="020B0200000000000000" pitchFamily="34" charset="-122"/>
                    <a:ea typeface="Noto Sans SC" panose="020B0200000000000000" pitchFamily="34" charset="-122"/>
                  </a:rPr>
                  <a:t>,</a:t>
                </a:r>
                <a:r>
                  <a:rPr lang="zh-CN" altLang="en-US" sz="1600" dirty="0">
                    <a:latin typeface="Noto Sans SC" panose="020B0200000000000000" pitchFamily="34" charset="-122"/>
                    <a:ea typeface="Noto Sans SC" panose="020B0200000000000000" pitchFamily="34" charset="-122"/>
                  </a:rPr>
                  <a:t> </a:t>
                </a:r>
                <a:r>
                  <a:rPr lang="zh-CN" altLang="zh-CN" sz="1600" dirty="0">
                    <a:latin typeface="Noto Sans SC" panose="020B0200000000000000" pitchFamily="34" charset="-122"/>
                    <a:ea typeface="Noto Sans SC" panose="020B0200000000000000" pitchFamily="34" charset="-122"/>
                  </a:rPr>
                  <a:t>0.314</a:t>
                </a:r>
                <a:r>
                  <a:rPr lang="en-US" altLang="zh-CN" sz="1600" dirty="0">
                    <a:latin typeface="Noto Sans SC" panose="020B0200000000000000" pitchFamily="34" charset="-122"/>
                    <a:ea typeface="Noto Sans SC" panose="020B0200000000000000" pitchFamily="34" charset="-122"/>
                  </a:rPr>
                  <a:t>, </a:t>
                </a:r>
                <a:r>
                  <a:rPr lang="zh-CN" altLang="zh-CN" sz="1600" dirty="0">
                    <a:latin typeface="Noto Sans SC" panose="020B0200000000000000" pitchFamily="34" charset="-122"/>
                    <a:ea typeface="Noto Sans SC" panose="020B0200000000000000" pitchFamily="34" charset="-122"/>
                  </a:rPr>
                  <a:t>0.385</a:t>
                </a:r>
                <a:r>
                  <a:rPr lang="en-US" altLang="zh-CN" sz="1600" dirty="0">
                    <a:latin typeface="Noto Sans SC" panose="020B0200000000000000" pitchFamily="34" charset="-122"/>
                    <a:ea typeface="Noto Sans SC" panose="020B0200000000000000" pitchFamily="34" charset="-122"/>
                  </a:rPr>
                  <a:t>)</a:t>
                </a:r>
              </a:p>
            </p:txBody>
          </p:sp>
        </mc:Choice>
        <mc:Fallback xmlns="">
          <p:sp>
            <p:nvSpPr>
              <p:cNvPr id="12" name="文本框 11">
                <a:extLst>
                  <a:ext uri="{FF2B5EF4-FFF2-40B4-BE49-F238E27FC236}">
                    <a16:creationId xmlns:a16="http://schemas.microsoft.com/office/drawing/2014/main" id="{3AA3DCF4-DA71-6CF0-B024-B263B837EF26}"/>
                  </a:ext>
                </a:extLst>
              </p:cNvPr>
              <p:cNvSpPr txBox="1">
                <a:spLocks noRot="1" noChangeAspect="1" noMove="1" noResize="1" noEditPoints="1" noAdjustHandles="1" noChangeArrowheads="1" noChangeShapeType="1" noTextEdit="1"/>
              </p:cNvSpPr>
              <p:nvPr/>
            </p:nvSpPr>
            <p:spPr>
              <a:xfrm>
                <a:off x="652039" y="4225574"/>
                <a:ext cx="6097044" cy="2335319"/>
              </a:xfrm>
              <a:prstGeom prst="rect">
                <a:avLst/>
              </a:prstGeom>
              <a:blipFill>
                <a:blip r:embed="rId3"/>
                <a:stretch>
                  <a:fillRect l="-600" t="-783" r="-600" b="-2350"/>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0B2A5E0C-7E4D-625C-10EB-BBB08CF63D12}"/>
              </a:ext>
            </a:extLst>
          </p:cNvPr>
          <p:cNvPicPr>
            <a:picLocks noChangeAspect="1"/>
          </p:cNvPicPr>
          <p:nvPr/>
        </p:nvPicPr>
        <p:blipFill>
          <a:blip r:embed="rId4"/>
          <a:stretch>
            <a:fillRect/>
          </a:stretch>
        </p:blipFill>
        <p:spPr>
          <a:xfrm>
            <a:off x="301327" y="2764842"/>
            <a:ext cx="11589346" cy="501676"/>
          </a:xfrm>
          <a:prstGeom prst="rect">
            <a:avLst/>
          </a:prstGeom>
        </p:spPr>
      </p:pic>
      <p:pic>
        <p:nvPicPr>
          <p:cNvPr id="3" name="图片 2">
            <a:extLst>
              <a:ext uri="{FF2B5EF4-FFF2-40B4-BE49-F238E27FC236}">
                <a16:creationId xmlns:a16="http://schemas.microsoft.com/office/drawing/2014/main" id="{B2A2A09E-803A-4904-936C-776F5612E5A8}"/>
              </a:ext>
            </a:extLst>
          </p:cNvPr>
          <p:cNvPicPr>
            <a:picLocks noChangeAspect="1"/>
          </p:cNvPicPr>
          <p:nvPr/>
        </p:nvPicPr>
        <p:blipFill>
          <a:blip r:embed="rId5"/>
          <a:stretch>
            <a:fillRect/>
          </a:stretch>
        </p:blipFill>
        <p:spPr>
          <a:xfrm>
            <a:off x="7714962" y="4385256"/>
            <a:ext cx="4006458" cy="22544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91827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B581-BDCC-5B61-2B7F-5EC845C992D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62FF769-4415-C9EC-BED8-46B85D4CC69A}"/>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498D971-AB97-0F02-7E64-C153C70D7594}"/>
                  </a:ext>
                </a:extLst>
              </p:cNvPr>
              <p:cNvSpPr txBox="1"/>
              <p:nvPr/>
            </p:nvSpPr>
            <p:spPr>
              <a:xfrm>
                <a:off x="652039" y="1954731"/>
                <a:ext cx="11310317" cy="4565930"/>
              </a:xfrm>
              <a:prstGeom prst="rect">
                <a:avLst/>
              </a:prstGeom>
              <a:noFill/>
            </p:spPr>
            <p:txBody>
              <a:bodyPr wrap="square" rtlCol="0">
                <a:spAutoFit/>
              </a:bodyPr>
              <a:lstStyle/>
              <a:p>
                <a:pPr algn="just"/>
                <a:r>
                  <a:rPr lang="zh-CN" altLang="en-US" sz="1600" dirty="0">
                    <a:latin typeface="Noto Sans SC" panose="020B0200000000000000" pitchFamily="34" charset="-122"/>
                    <a:ea typeface="Noto Sans SC" panose="020B0200000000000000" pitchFamily="34" charset="-122"/>
                  </a:rPr>
                  <a:t>         等能白光再旧的参考白光下的色度坐标：</a:t>
                </a:r>
                <a:r>
                  <a:rPr lang="zh-CN" altLang="zh-CN" sz="1600" dirty="0">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a:t>
                </a:r>
                <a:r>
                  <a:rPr lang="zh-CN" altLang="zh-CN" sz="1600" dirty="0">
                    <a:latin typeface="Noto Sans SC" panose="020B0200000000000000" pitchFamily="34" charset="-122"/>
                    <a:ea typeface="Noto Sans SC" panose="020B0200000000000000" pitchFamily="34" charset="-122"/>
                  </a:rPr>
                  <a:t>0.301</a:t>
                </a:r>
                <a:r>
                  <a:rPr lang="en-US" altLang="zh-CN" sz="1600" dirty="0">
                    <a:latin typeface="Noto Sans SC" panose="020B0200000000000000" pitchFamily="34" charset="-122"/>
                    <a:ea typeface="Noto Sans SC" panose="020B0200000000000000" pitchFamily="34" charset="-122"/>
                  </a:rPr>
                  <a:t>,</a:t>
                </a:r>
                <a:r>
                  <a:rPr lang="zh-CN" altLang="en-US" sz="1600" dirty="0">
                    <a:latin typeface="Noto Sans SC" panose="020B0200000000000000" pitchFamily="34" charset="-122"/>
                    <a:ea typeface="Noto Sans SC" panose="020B0200000000000000" pitchFamily="34" charset="-122"/>
                  </a:rPr>
                  <a:t> </a:t>
                </a:r>
                <a:r>
                  <a:rPr lang="zh-CN" altLang="zh-CN" sz="1600" dirty="0">
                    <a:latin typeface="Noto Sans SC" panose="020B0200000000000000" pitchFamily="34" charset="-122"/>
                    <a:ea typeface="Noto Sans SC" panose="020B0200000000000000" pitchFamily="34" charset="-122"/>
                  </a:rPr>
                  <a:t>0.314</a:t>
                </a:r>
                <a:r>
                  <a:rPr lang="en-US" altLang="zh-CN" sz="1600" dirty="0">
                    <a:latin typeface="Noto Sans SC" panose="020B0200000000000000" pitchFamily="34" charset="-122"/>
                    <a:ea typeface="Noto Sans SC" panose="020B0200000000000000" pitchFamily="34" charset="-122"/>
                  </a:rPr>
                  <a:t>, </a:t>
                </a:r>
                <a:r>
                  <a:rPr lang="zh-CN" altLang="zh-CN" sz="1600" dirty="0">
                    <a:latin typeface="Noto Sans SC" panose="020B0200000000000000" pitchFamily="34" charset="-122"/>
                    <a:ea typeface="Noto Sans SC" panose="020B0200000000000000" pitchFamily="34" charset="-122"/>
                  </a:rPr>
                  <a:t>0.385</a:t>
                </a:r>
                <a:r>
                  <a:rPr lang="en-US" altLang="zh-CN" sz="1600" dirty="0">
                    <a:latin typeface="Noto Sans SC" panose="020B0200000000000000" pitchFamily="34" charset="-122"/>
                    <a:ea typeface="Noto Sans SC" panose="020B0200000000000000" pitchFamily="34" charset="-122"/>
                  </a:rPr>
                  <a:t>)</a:t>
                </a:r>
                <a:r>
                  <a:rPr lang="zh-CN" altLang="en-US" sz="1600" dirty="0">
                    <a:latin typeface="Noto Sans SC" panose="020B0200000000000000" pitchFamily="34" charset="-122"/>
                    <a:ea typeface="Noto Sans SC" panose="020B0200000000000000" pitchFamily="34" charset="-122"/>
                  </a:rPr>
                  <a:t>，于是：</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smtClean="0">
                              <a:latin typeface="Cambria Math" panose="02040503050406030204" pitchFamily="18" charset="0"/>
                            </a:rPr>
                          </m:ctrlPr>
                        </m:sSubPr>
                        <m:e>
                          <m:r>
                            <a:rPr lang="en-US" altLang="zh-CN" sz="1600" b="1" i="1" dirty="0" smtClean="0">
                              <a:latin typeface="Cambria Math" panose="02040503050406030204" pitchFamily="18" charset="0"/>
                            </a:rPr>
                            <m:t>𝑪</m:t>
                          </m:r>
                        </m:e>
                        <m:sub>
                          <m:r>
                            <a:rPr lang="en-US" altLang="zh-CN" sz="1600" b="1" i="1" dirty="0" smtClean="0">
                              <a:latin typeface="Cambria Math" panose="02040503050406030204" pitchFamily="18" charset="0"/>
                            </a:rPr>
                            <m:t>𝑬𝑬𝑾</m:t>
                          </m:r>
                        </m:sub>
                      </m:sSub>
                      <m:r>
                        <a:rPr lang="en-US" altLang="zh-CN" sz="1600" b="1" i="1" dirty="0"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0.301</m:t>
                      </m:r>
                      <m:r>
                        <a:rPr lang="en-US" altLang="zh-CN" sz="1600" b="1" i="1" smtClean="0">
                          <a:latin typeface="Cambria Math" panose="02040503050406030204" pitchFamily="18" charset="0"/>
                        </a:rPr>
                        <m:t>𝑹</m:t>
                      </m:r>
                      <m:r>
                        <a:rPr lang="en-US" altLang="zh-CN" sz="1600" b="0" i="1" smtClean="0">
                          <a:latin typeface="Cambria Math" panose="02040503050406030204" pitchFamily="18" charset="0"/>
                        </a:rPr>
                        <m:t>+0.314</m:t>
                      </m:r>
                      <m:r>
                        <a:rPr lang="en-US" altLang="zh-CN" sz="1600" b="1" i="1" smtClean="0">
                          <a:latin typeface="Cambria Math" panose="02040503050406030204" pitchFamily="18" charset="0"/>
                        </a:rPr>
                        <m:t>𝑮</m:t>
                      </m:r>
                      <m:r>
                        <a:rPr lang="en-US" altLang="zh-CN" sz="1600" b="0" i="1" smtClean="0">
                          <a:latin typeface="Cambria Math" panose="02040503050406030204" pitchFamily="18" charset="0"/>
                        </a:rPr>
                        <m:t>+0.385</m:t>
                      </m:r>
                      <m:r>
                        <a:rPr lang="en-US" altLang="zh-CN" sz="1600" b="1" i="1" smtClean="0">
                          <a:latin typeface="Cambria Math" panose="02040503050406030204" pitchFamily="18" charset="0"/>
                        </a:rPr>
                        <m:t>𝑩</m:t>
                      </m:r>
                    </m:oMath>
                  </m:oMathPara>
                </a14:m>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b="1" i="1" dirty="0">
                              <a:latin typeface="Cambria Math" panose="02040503050406030204" pitchFamily="18" charset="0"/>
                            </a:rPr>
                            <m:t>𝑬𝑬𝑾</m:t>
                          </m:r>
                        </m:sub>
                      </m:sSub>
                      <m:r>
                        <a:rPr lang="en-US" altLang="zh-CN" sz="1600" b="1" i="1" dirty="0" smtClean="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0.3</m:t>
                      </m:r>
                      <m:r>
                        <a:rPr lang="en-US" altLang="zh-CN" sz="1600" b="0" i="1" smtClean="0">
                          <a:latin typeface="Cambria Math" panose="02040503050406030204" pitchFamily="18" charset="0"/>
                        </a:rPr>
                        <m:t>33</m:t>
                      </m:r>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𝑹</m:t>
                          </m:r>
                        </m:e>
                        <m:sup>
                          <m:r>
                            <a:rPr lang="en-US" altLang="zh-CN" sz="1600" b="1" i="1" smtClean="0">
                              <a:latin typeface="Cambria Math" panose="02040503050406030204" pitchFamily="18" charset="0"/>
                            </a:rPr>
                            <m:t>′</m:t>
                          </m:r>
                        </m:sup>
                      </m:sSup>
                      <m:r>
                        <a:rPr lang="en-US" altLang="zh-CN" sz="1600" i="1">
                          <a:latin typeface="Cambria Math" panose="02040503050406030204" pitchFamily="18" charset="0"/>
                        </a:rPr>
                        <m:t>+0.3</m:t>
                      </m:r>
                      <m:r>
                        <a:rPr lang="en-US" altLang="zh-CN" sz="1600" b="0" i="1" smtClean="0">
                          <a:latin typeface="Cambria Math" panose="02040503050406030204" pitchFamily="18" charset="0"/>
                        </a:rPr>
                        <m:t>33</m:t>
                      </m:r>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𝑮</m:t>
                          </m:r>
                        </m:e>
                        <m:sup>
                          <m:r>
                            <a:rPr lang="en-US" altLang="zh-CN" sz="1600" b="1" i="1" smtClean="0">
                              <a:latin typeface="Cambria Math" panose="02040503050406030204" pitchFamily="18" charset="0"/>
                            </a:rPr>
                            <m:t>′</m:t>
                          </m:r>
                        </m:sup>
                      </m:sSup>
                      <m:r>
                        <a:rPr lang="en-US" altLang="zh-CN" sz="1600" i="1">
                          <a:latin typeface="Cambria Math" panose="02040503050406030204" pitchFamily="18" charset="0"/>
                        </a:rPr>
                        <m:t>+0.3</m:t>
                      </m:r>
                      <m:r>
                        <a:rPr lang="en-US" altLang="zh-CN" sz="1600" b="0" i="1" smtClean="0">
                          <a:latin typeface="Cambria Math" panose="02040503050406030204" pitchFamily="18" charset="0"/>
                        </a:rPr>
                        <m:t>33</m:t>
                      </m:r>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𝑩</m:t>
                          </m:r>
                        </m:e>
                        <m:sup>
                          <m:r>
                            <a:rPr lang="en-US" altLang="zh-CN" sz="1600" b="1" i="1" smtClean="0">
                              <a:latin typeface="Cambria Math" panose="02040503050406030204" pitchFamily="18" charset="0"/>
                            </a:rPr>
                            <m:t>′</m:t>
                          </m:r>
                        </m:sup>
                      </m:sSup>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b="1" dirty="0">
                    <a:latin typeface="Noto Sans SC" panose="020B0200000000000000" pitchFamily="34" charset="-122"/>
                    <a:ea typeface="Noto Sans SC" panose="020B0200000000000000" pitchFamily="34" charset="-122"/>
                  </a:rPr>
                  <a:t>  </a:t>
                </a:r>
                <a:r>
                  <a:rPr lang="zh-CN" altLang="en-US" sz="1600" b="1"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其中</a:t>
                </a:r>
                <a14:m>
                  <m:oMath xmlns:m="http://schemas.openxmlformats.org/officeDocument/2006/math">
                    <m:r>
                      <a:rPr lang="en-US" altLang="zh-CN" sz="1600" b="1" i="1">
                        <a:latin typeface="Cambria Math" panose="02040503050406030204" pitchFamily="18" charset="0"/>
                      </a:rPr>
                      <m:t>𝑹</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b="1" i="1" smtClean="0">
                        <a:latin typeface="Cambria Math" panose="02040503050406030204" pitchFamily="18" charset="0"/>
                      </a:rPr>
                      <m:t>𝑮</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b="1" i="1" smtClean="0">
                        <a:latin typeface="Cambria Math" panose="02040503050406030204" pitchFamily="18" charset="0"/>
                      </a:rPr>
                      <m:t>𝑩</m:t>
                    </m:r>
                  </m:oMath>
                </a14:m>
                <a:r>
                  <a:rPr lang="zh-CN" altLang="en-US" sz="1600" dirty="0">
                    <a:latin typeface="Noto Sans SC" panose="020B0200000000000000" pitchFamily="34" charset="-122"/>
                    <a:ea typeface="Noto Sans SC" panose="020B0200000000000000" pitchFamily="34" charset="-122"/>
                  </a:rPr>
                  <a:t>为旧参考白光（</a:t>
                </a:r>
                <a:r>
                  <a:rPr lang="en-US" altLang="zh-CN" sz="1600" dirty="0">
                    <a:latin typeface="Noto Sans SC" panose="020B0200000000000000" pitchFamily="34" charset="-122"/>
                    <a:ea typeface="Noto Sans SC" panose="020B0200000000000000" pitchFamily="34" charset="-122"/>
                  </a:rPr>
                  <a:t>NPL</a:t>
                </a:r>
                <a:r>
                  <a:rPr lang="zh-CN" altLang="en-US" sz="1600" dirty="0">
                    <a:latin typeface="Noto Sans SC" panose="020B0200000000000000" pitchFamily="34" charset="-122"/>
                    <a:ea typeface="Noto Sans SC" panose="020B0200000000000000" pitchFamily="34" charset="-122"/>
                  </a:rPr>
                  <a:t>标准白光）下的一单位三原色，</a:t>
                </a:r>
                <a14:m>
                  <m:oMath xmlns:m="http://schemas.openxmlformats.org/officeDocument/2006/math">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𝑹</m:t>
                        </m:r>
                      </m:e>
                      <m:sup>
                        <m:r>
                          <a:rPr lang="en-US" altLang="zh-CN" sz="1600" b="1" i="1" smtClean="0">
                            <a:latin typeface="Cambria Math" panose="02040503050406030204" pitchFamily="18" charset="0"/>
                          </a:rPr>
                          <m:t>′</m:t>
                        </m:r>
                      </m:sup>
                    </m:sSup>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𝑮</m:t>
                        </m:r>
                      </m:e>
                      <m:sup>
                        <m:r>
                          <a:rPr lang="en-US" altLang="zh-CN" sz="1600" b="1" i="1" smtClean="0">
                            <a:latin typeface="Cambria Math" panose="02040503050406030204" pitchFamily="18" charset="0"/>
                          </a:rPr>
                          <m:t>′</m:t>
                        </m:r>
                      </m:sup>
                    </m:sSup>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𝑩</m:t>
                        </m:r>
                      </m:e>
                      <m:sup>
                        <m:r>
                          <a:rPr lang="en-US" altLang="zh-CN" sz="1600" b="1" i="1" smtClean="0">
                            <a:latin typeface="Cambria Math" panose="02040503050406030204" pitchFamily="18" charset="0"/>
                          </a:rPr>
                          <m:t>′</m:t>
                        </m:r>
                      </m:sup>
                    </m:sSup>
                  </m:oMath>
                </a14:m>
                <a:r>
                  <a:rPr lang="zh-CN" altLang="en-US" sz="1600" dirty="0">
                    <a:latin typeface="Noto Sans SC" panose="020B0200000000000000" pitchFamily="34" charset="-122"/>
                    <a:ea typeface="Noto Sans SC" panose="020B0200000000000000" pitchFamily="34" charset="-122"/>
                  </a:rPr>
                  <a:t>为新参考白光（</a:t>
                </a:r>
                <a:r>
                  <a:rPr lang="en-US" altLang="zh-CN" sz="1600" dirty="0">
                    <a:latin typeface="Noto Sans SC" panose="020B0200000000000000" pitchFamily="34" charset="-122"/>
                    <a:ea typeface="Noto Sans SC" panose="020B0200000000000000" pitchFamily="34" charset="-122"/>
                  </a:rPr>
                  <a:t>EEW</a:t>
                </a:r>
                <a:r>
                  <a:rPr lang="zh-CN" altLang="en-US" sz="1600" dirty="0">
                    <a:latin typeface="Noto Sans SC" panose="020B0200000000000000" pitchFamily="34" charset="-122"/>
                    <a:ea typeface="Noto Sans SC" panose="020B0200000000000000" pitchFamily="34" charset="-122"/>
                  </a:rPr>
                  <a:t>）下的一单位三原色，于是：</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dirty="0" smtClean="0">
                          <a:latin typeface="Cambria Math" panose="02040503050406030204" pitchFamily="18" charset="0"/>
                        </a:rPr>
                        <m:t>𝑹</m:t>
                      </m:r>
                      <m:r>
                        <a:rPr lang="en-US" altLang="zh-CN" sz="1600" b="1"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0.333</m:t>
                          </m:r>
                        </m:num>
                        <m:den>
                          <m:r>
                            <a:rPr lang="en-US" altLang="zh-CN" sz="1600" b="0" i="1" dirty="0" smtClean="0">
                              <a:latin typeface="Cambria Math" panose="02040503050406030204" pitchFamily="18" charset="0"/>
                            </a:rPr>
                            <m:t>0.301</m:t>
                          </m:r>
                        </m:den>
                      </m:f>
                      <m:sSup>
                        <m:sSupPr>
                          <m:ctrlPr>
                            <a:rPr lang="en-US" altLang="zh-CN" sz="1600" b="1" i="1" dirty="0" smtClean="0">
                              <a:latin typeface="Cambria Math" panose="02040503050406030204" pitchFamily="18" charset="0"/>
                            </a:rPr>
                          </m:ctrlPr>
                        </m:sSupPr>
                        <m:e>
                          <m:r>
                            <a:rPr lang="en-US" altLang="zh-CN" sz="1600" b="1" i="1" dirty="0" smtClean="0">
                              <a:latin typeface="Cambria Math" panose="02040503050406030204" pitchFamily="18" charset="0"/>
                            </a:rPr>
                            <m:t>𝑹</m:t>
                          </m:r>
                        </m:e>
                        <m:sup>
                          <m:r>
                            <a:rPr lang="en-US" altLang="zh-CN" sz="1600" b="1" i="1" dirty="0" smtClean="0">
                              <a:latin typeface="Cambria Math" panose="02040503050406030204" pitchFamily="18" charset="0"/>
                            </a:rPr>
                            <m:t>′</m:t>
                          </m:r>
                        </m:sup>
                      </m:sSup>
                      <m:r>
                        <a:rPr lang="en-US" altLang="zh-CN" sz="1600" b="1" i="1" dirty="0" smtClean="0">
                          <a:latin typeface="Cambria Math" panose="02040503050406030204" pitchFamily="18" charset="0"/>
                        </a:rPr>
                        <m:t>,  </m:t>
                      </m:r>
                      <m:r>
                        <a:rPr lang="en-US" altLang="zh-CN" sz="1600" b="1" i="1" dirty="0" smtClean="0">
                          <a:latin typeface="Cambria Math" panose="02040503050406030204" pitchFamily="18" charset="0"/>
                        </a:rPr>
                        <m:t>𝑮</m:t>
                      </m:r>
                      <m:r>
                        <a:rPr lang="en-US" altLang="zh-CN" sz="1600" b="1"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0.333</m:t>
                          </m:r>
                        </m:num>
                        <m:den>
                          <m:r>
                            <a:rPr lang="en-US" altLang="zh-CN" sz="1600" i="1" dirty="0">
                              <a:latin typeface="Cambria Math" panose="02040503050406030204" pitchFamily="18" charset="0"/>
                            </a:rPr>
                            <m:t>0.3</m:t>
                          </m:r>
                          <m:r>
                            <a:rPr lang="en-US" altLang="zh-CN" sz="1600" b="0" i="1" dirty="0" smtClean="0">
                              <a:latin typeface="Cambria Math" panose="02040503050406030204" pitchFamily="18" charset="0"/>
                            </a:rPr>
                            <m:t>14</m:t>
                          </m:r>
                        </m:den>
                      </m:f>
                      <m:sSup>
                        <m:sSupPr>
                          <m:ctrlPr>
                            <a:rPr lang="en-US" altLang="zh-CN" sz="1600" b="1" i="1" dirty="0" smtClean="0">
                              <a:latin typeface="Cambria Math" panose="02040503050406030204" pitchFamily="18" charset="0"/>
                            </a:rPr>
                          </m:ctrlPr>
                        </m:sSupPr>
                        <m:e>
                          <m:r>
                            <a:rPr lang="en-US" altLang="zh-CN" sz="1600" b="1" i="1" dirty="0" smtClean="0">
                              <a:latin typeface="Cambria Math" panose="02040503050406030204" pitchFamily="18" charset="0"/>
                            </a:rPr>
                            <m:t>𝑮</m:t>
                          </m:r>
                        </m:e>
                        <m:sup>
                          <m:r>
                            <a:rPr lang="en-US" altLang="zh-CN" sz="1600" b="1" i="1" dirty="0">
                              <a:latin typeface="Cambria Math" panose="02040503050406030204" pitchFamily="18" charset="0"/>
                            </a:rPr>
                            <m:t>′</m:t>
                          </m:r>
                        </m:sup>
                      </m:sSup>
                      <m:r>
                        <a:rPr lang="en-US" altLang="zh-CN" sz="1600" b="1" i="1" dirty="0">
                          <a:latin typeface="Cambria Math" panose="02040503050406030204" pitchFamily="18" charset="0"/>
                        </a:rPr>
                        <m:t>,</m:t>
                      </m:r>
                      <m:r>
                        <a:rPr lang="en-US" altLang="zh-CN" sz="1600" b="1" i="1" dirty="0" smtClean="0">
                          <a:latin typeface="Cambria Math" panose="02040503050406030204" pitchFamily="18" charset="0"/>
                        </a:rPr>
                        <m:t>  </m:t>
                      </m:r>
                      <m:r>
                        <a:rPr lang="en-US" altLang="zh-CN" sz="1600" b="1" i="1" dirty="0" smtClean="0">
                          <a:latin typeface="Cambria Math" panose="02040503050406030204" pitchFamily="18" charset="0"/>
                        </a:rPr>
                        <m:t>𝑩</m:t>
                      </m:r>
                      <m:r>
                        <a:rPr lang="en-US" altLang="zh-CN" sz="1600" b="1"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0.333</m:t>
                          </m:r>
                        </m:num>
                        <m:den>
                          <m:r>
                            <a:rPr lang="en-US" altLang="zh-CN" sz="1600" i="1" dirty="0">
                              <a:latin typeface="Cambria Math" panose="02040503050406030204" pitchFamily="18" charset="0"/>
                            </a:rPr>
                            <m:t>0.3</m:t>
                          </m:r>
                          <m:r>
                            <a:rPr lang="en-US" altLang="zh-CN" sz="1600" b="0" i="1" dirty="0" smtClean="0">
                              <a:latin typeface="Cambria Math" panose="02040503050406030204" pitchFamily="18" charset="0"/>
                            </a:rPr>
                            <m:t>85</m:t>
                          </m:r>
                        </m:den>
                      </m:f>
                      <m:sSup>
                        <m:sSupPr>
                          <m:ctrlPr>
                            <a:rPr lang="en-US" altLang="zh-CN" sz="1600" b="1" i="1" dirty="0" smtClean="0">
                              <a:latin typeface="Cambria Math" panose="02040503050406030204" pitchFamily="18" charset="0"/>
                            </a:rPr>
                          </m:ctrlPr>
                        </m:sSupPr>
                        <m:e>
                          <m:r>
                            <a:rPr lang="en-US" altLang="zh-CN" sz="1600" b="1" i="1" dirty="0" smtClean="0">
                              <a:latin typeface="Cambria Math" panose="02040503050406030204" pitchFamily="18" charset="0"/>
                            </a:rPr>
                            <m:t>𝑩</m:t>
                          </m:r>
                        </m:e>
                        <m:sup>
                          <m:r>
                            <a:rPr lang="en-US" altLang="zh-CN" sz="1600" b="1" i="1" dirty="0">
                              <a:latin typeface="Cambria Math" panose="02040503050406030204" pitchFamily="18" charset="0"/>
                            </a:rPr>
                            <m:t>′</m:t>
                          </m:r>
                        </m:sup>
                      </m:sSup>
                    </m:oMath>
                  </m:oMathPara>
                </a14:m>
                <a:endParaRPr lang="en-US" altLang="zh-CN" sz="16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1" i="1">
                          <a:latin typeface="Cambria Math" panose="02040503050406030204" pitchFamily="18" charset="0"/>
                        </a:rPr>
                        <m:t>𝑹</m:t>
                      </m:r>
                      <m:r>
                        <a:rPr lang="en-US" altLang="zh-CN" sz="1600" b="1" i="1">
                          <a:latin typeface="Cambria Math" panose="02040503050406030204" pitchFamily="18" charset="0"/>
                        </a:rPr>
                        <m:t>=1.1063</m:t>
                      </m:r>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𝑹</m:t>
                          </m:r>
                        </m:e>
                        <m:sup>
                          <m:r>
                            <a:rPr lang="en-US" altLang="zh-CN" sz="1600" b="1" i="1">
                              <a:latin typeface="Cambria Math" panose="02040503050406030204" pitchFamily="18" charset="0"/>
                            </a:rPr>
                            <m:t>′</m:t>
                          </m:r>
                        </m:sup>
                      </m:sSup>
                      <m:r>
                        <a:rPr lang="en-US" altLang="zh-CN" sz="1600" b="1" i="1">
                          <a:latin typeface="Cambria Math" panose="02040503050406030204" pitchFamily="18" charset="0"/>
                        </a:rPr>
                        <m:t>,  </m:t>
                      </m:r>
                      <m:r>
                        <a:rPr lang="en-US" altLang="zh-CN" sz="1600" b="1" i="1">
                          <a:latin typeface="Cambria Math" panose="02040503050406030204" pitchFamily="18" charset="0"/>
                        </a:rPr>
                        <m:t>𝑮</m:t>
                      </m:r>
                      <m:r>
                        <a:rPr lang="en-US" altLang="zh-CN" sz="1600" b="1" i="1">
                          <a:latin typeface="Cambria Math" panose="02040503050406030204" pitchFamily="18" charset="0"/>
                        </a:rPr>
                        <m:t>=1.0616</m:t>
                      </m:r>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𝑮</m:t>
                          </m:r>
                        </m:e>
                        <m:sup>
                          <m:r>
                            <a:rPr lang="en-US" altLang="zh-CN" sz="1600" b="1" i="1">
                              <a:latin typeface="Cambria Math" panose="02040503050406030204" pitchFamily="18" charset="0"/>
                            </a:rPr>
                            <m:t>′</m:t>
                          </m:r>
                        </m:sup>
                      </m:sSup>
                      <m:r>
                        <a:rPr lang="en-US" altLang="zh-CN" sz="1600" b="1" i="1">
                          <a:latin typeface="Cambria Math" panose="02040503050406030204" pitchFamily="18" charset="0"/>
                        </a:rPr>
                        <m:t>,  </m:t>
                      </m:r>
                      <m:r>
                        <a:rPr lang="en-US" altLang="zh-CN" sz="1600" b="1" i="1">
                          <a:latin typeface="Cambria Math" panose="02040503050406030204" pitchFamily="18" charset="0"/>
                        </a:rPr>
                        <m:t>𝑩</m:t>
                      </m:r>
                      <m:r>
                        <a:rPr lang="en-US" altLang="zh-CN" sz="1600" b="1" i="1">
                          <a:latin typeface="Cambria Math" panose="02040503050406030204" pitchFamily="18" charset="0"/>
                        </a:rPr>
                        <m:t>=0.8665</m:t>
                      </m:r>
                      <m:sSup>
                        <m:sSupPr>
                          <m:ctrlPr>
                            <a:rPr lang="en-US" altLang="zh-CN" sz="1600" b="1" i="1">
                              <a:latin typeface="Cambria Math" panose="02040503050406030204" pitchFamily="18" charset="0"/>
                            </a:rPr>
                          </m:ctrlPr>
                        </m:sSupPr>
                        <m:e>
                          <m:r>
                            <a:rPr lang="en-US" altLang="zh-CN" sz="1600" b="1" i="1">
                              <a:latin typeface="Cambria Math" panose="02040503050406030204" pitchFamily="18" charset="0"/>
                            </a:rPr>
                            <m:t>𝑩</m:t>
                          </m:r>
                        </m:e>
                        <m:sup>
                          <m:r>
                            <a:rPr lang="en-US" altLang="zh-CN" sz="1600" b="1" i="1">
                              <a:latin typeface="Cambria Math" panose="02040503050406030204" pitchFamily="18" charset="0"/>
                            </a:rPr>
                            <m:t>′</m:t>
                          </m:r>
                        </m:sup>
                      </m:sSup>
                    </m:oMath>
                  </m:oMathPara>
                </a14:m>
                <a:endParaRPr lang="en-US" altLang="zh-CN" sz="1600" b="1"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所以新参考白光下的色度系数为：</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600" i="1">
                              <a:latin typeface="Cambria Math" panose="02040503050406030204" pitchFamily="18" charset="0"/>
                            </a:rPr>
                          </m:ctrlPr>
                        </m:sSupPr>
                        <m:e>
                          <m:r>
                            <m:rPr>
                              <m:sty m:val="p"/>
                            </m:rPr>
                            <a:rPr lang="en-US" altLang="zh-CN" sz="1600">
                              <a:latin typeface="Cambria Math" panose="02040503050406030204" pitchFamily="18" charset="0"/>
                            </a:rPr>
                            <m:t>r</m:t>
                          </m:r>
                        </m:e>
                        <m:sup>
                          <m:r>
                            <a:rPr lang="en-US" altLang="zh-CN" sz="1600">
                              <a:latin typeface="Cambria Math" panose="02040503050406030204" pitchFamily="18" charset="0"/>
                            </a:rPr>
                            <m:t>′</m:t>
                          </m:r>
                        </m:sup>
                      </m:s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1.1063</m:t>
                          </m:r>
                          <m:r>
                            <m:rPr>
                              <m:sty m:val="p"/>
                            </m:rPr>
                            <a:rPr lang="en-US" altLang="zh-CN" sz="1600">
                              <a:latin typeface="Cambria Math" panose="02040503050406030204" pitchFamily="18" charset="0"/>
                            </a:rPr>
                            <m:t>r</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num>
                        <m:den>
                          <m:r>
                            <a:rPr lang="en-US" altLang="zh-CN" sz="1600" i="1">
                              <a:latin typeface="Cambria Math" panose="02040503050406030204" pitchFamily="18" charset="0"/>
                            </a:rPr>
                            <m:t>1.1063</m:t>
                          </m:r>
                          <m:r>
                            <m:rPr>
                              <m:sty m:val="p"/>
                            </m:rPr>
                            <a:rPr lang="en-US" altLang="zh-CN" sz="1600">
                              <a:latin typeface="Cambria Math" panose="02040503050406030204" pitchFamily="18" charset="0"/>
                            </a:rPr>
                            <m:t>r</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+1.0616</m:t>
                          </m:r>
                          <m:r>
                            <m:rPr>
                              <m:sty m:val="p"/>
                            </m:rPr>
                            <a:rPr lang="en-US" altLang="zh-CN" sz="1600">
                              <a:latin typeface="Cambria Math" panose="02040503050406030204" pitchFamily="18" charset="0"/>
                            </a:rPr>
                            <m:t>g</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+0.8665</m:t>
                          </m:r>
                          <m:r>
                            <m:rPr>
                              <m:sty m:val="p"/>
                            </m:rPr>
                            <a:rPr lang="en-US" altLang="zh-CN" sz="1600">
                              <a:latin typeface="Cambria Math" panose="02040503050406030204" pitchFamily="18" charset="0"/>
                            </a:rPr>
                            <m:t>b</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den>
                      </m:f>
                    </m:oMath>
                  </m:oMathPara>
                </a14:m>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600" i="1">
                              <a:latin typeface="Cambria Math" panose="02040503050406030204" pitchFamily="18" charset="0"/>
                            </a:rPr>
                          </m:ctrlPr>
                        </m:sSupPr>
                        <m:e>
                          <m:r>
                            <m:rPr>
                              <m:sty m:val="p"/>
                            </m:rPr>
                            <a:rPr lang="en-US" altLang="zh-CN" sz="1600">
                              <a:latin typeface="Cambria Math" panose="02040503050406030204" pitchFamily="18" charset="0"/>
                            </a:rPr>
                            <m:t>g</m:t>
                          </m:r>
                        </m:e>
                        <m:sup>
                          <m:r>
                            <a:rPr lang="en-US" altLang="zh-CN" sz="1600">
                              <a:latin typeface="Cambria Math" panose="02040503050406030204" pitchFamily="18" charset="0"/>
                            </a:rPr>
                            <m:t>′</m:t>
                          </m:r>
                        </m:sup>
                      </m:s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1.0616</m:t>
                          </m:r>
                          <m:r>
                            <m:rPr>
                              <m:sty m:val="p"/>
                            </m:rPr>
                            <a:rPr lang="en-US" altLang="zh-CN" sz="1600">
                              <a:latin typeface="Cambria Math" panose="02040503050406030204" pitchFamily="18" charset="0"/>
                            </a:rPr>
                            <m:t>g</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num>
                        <m:den>
                          <m:r>
                            <a:rPr lang="en-US" altLang="zh-CN" sz="1600" i="1">
                              <a:latin typeface="Cambria Math" panose="02040503050406030204" pitchFamily="18" charset="0"/>
                            </a:rPr>
                            <m:t>1.1063</m:t>
                          </m:r>
                          <m:r>
                            <m:rPr>
                              <m:sty m:val="p"/>
                            </m:rPr>
                            <a:rPr lang="en-US" altLang="zh-CN" sz="1600">
                              <a:latin typeface="Cambria Math" panose="02040503050406030204" pitchFamily="18" charset="0"/>
                            </a:rPr>
                            <m:t>r</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+1.0616</m:t>
                          </m:r>
                          <m:r>
                            <m:rPr>
                              <m:sty m:val="p"/>
                            </m:rPr>
                            <a:rPr lang="en-US" altLang="zh-CN" sz="1600">
                              <a:latin typeface="Cambria Math" panose="02040503050406030204" pitchFamily="18" charset="0"/>
                            </a:rPr>
                            <m:t>g</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+0.8665</m:t>
                          </m:r>
                          <m:r>
                            <m:rPr>
                              <m:sty m:val="p"/>
                            </m:rPr>
                            <a:rPr lang="en-US" altLang="zh-CN" sz="1600">
                              <a:latin typeface="Cambria Math" panose="02040503050406030204" pitchFamily="18" charset="0"/>
                            </a:rPr>
                            <m:t>b</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den>
                      </m:f>
                    </m:oMath>
                  </m:oMathPara>
                </a14:m>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600" i="1">
                              <a:latin typeface="Cambria Math" panose="02040503050406030204" pitchFamily="18" charset="0"/>
                            </a:rPr>
                          </m:ctrlPr>
                        </m:sSupPr>
                        <m:e>
                          <m:r>
                            <m:rPr>
                              <m:sty m:val="p"/>
                            </m:rPr>
                            <a:rPr lang="en-US" altLang="zh-CN" sz="1600">
                              <a:latin typeface="Cambria Math" panose="02040503050406030204" pitchFamily="18" charset="0"/>
                            </a:rPr>
                            <m:t>b</m:t>
                          </m:r>
                        </m:e>
                        <m:sup>
                          <m:r>
                            <a:rPr lang="en-US" altLang="zh-CN" sz="1600">
                              <a:latin typeface="Cambria Math" panose="02040503050406030204" pitchFamily="18" charset="0"/>
                            </a:rPr>
                            <m:t>′</m:t>
                          </m:r>
                        </m:sup>
                      </m:s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0.8665</m:t>
                          </m:r>
                          <m:r>
                            <m:rPr>
                              <m:sty m:val="p"/>
                            </m:rPr>
                            <a:rPr lang="en-US" altLang="zh-CN" sz="1600">
                              <a:latin typeface="Cambria Math" panose="02040503050406030204" pitchFamily="18" charset="0"/>
                            </a:rPr>
                            <m:t>b</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num>
                        <m:den>
                          <m:r>
                            <a:rPr lang="en-US" altLang="zh-CN" sz="1600" i="1">
                              <a:latin typeface="Cambria Math" panose="02040503050406030204" pitchFamily="18" charset="0"/>
                            </a:rPr>
                            <m:t>1.1063</m:t>
                          </m:r>
                          <m:r>
                            <m:rPr>
                              <m:sty m:val="p"/>
                            </m:rPr>
                            <a:rPr lang="en-US" altLang="zh-CN" sz="1600">
                              <a:latin typeface="Cambria Math" panose="02040503050406030204" pitchFamily="18" charset="0"/>
                            </a:rPr>
                            <m:t>r</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+1.0616</m:t>
                          </m:r>
                          <m:r>
                            <m:rPr>
                              <m:sty m:val="p"/>
                            </m:rPr>
                            <a:rPr lang="en-US" altLang="zh-CN" sz="1600">
                              <a:latin typeface="Cambria Math" panose="02040503050406030204" pitchFamily="18" charset="0"/>
                            </a:rPr>
                            <m:t>g</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+0.8665</m:t>
                          </m:r>
                          <m:r>
                            <m:rPr>
                              <m:sty m:val="p"/>
                            </m:rPr>
                            <a:rPr lang="en-US" altLang="zh-CN" sz="1600">
                              <a:latin typeface="Cambria Math" panose="02040503050406030204" pitchFamily="18" charset="0"/>
                            </a:rPr>
                            <m:t>b</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den>
                      </m:f>
                    </m:oMath>
                  </m:oMathPara>
                </a14:m>
                <a:endParaRPr lang="en-US" altLang="zh-CN" sz="1600" i="1" dirty="0">
                  <a:latin typeface="Cambria Math" panose="02040503050406030204" pitchFamily="18" charset="0"/>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并且，新的</a:t>
                </a:r>
                <a:r>
                  <a:rPr lang="en-US" altLang="zh-CN" sz="1600" dirty="0">
                    <a:latin typeface="Noto Sans SC" panose="020B0200000000000000" pitchFamily="34" charset="-122"/>
                    <a:ea typeface="Noto Sans SC" panose="020B0200000000000000" pitchFamily="34" charset="-122"/>
                  </a:rPr>
                  <a:t>Distribution Curves</a:t>
                </a:r>
                <a:r>
                  <a:rPr lang="zh-CN" altLang="en-US" sz="1600" dirty="0">
                    <a:latin typeface="Noto Sans SC" panose="020B0200000000000000" pitchFamily="34" charset="-122"/>
                    <a:ea typeface="Noto Sans SC" panose="020B0200000000000000" pitchFamily="34" charset="-122"/>
                  </a:rPr>
                  <a:t>为：</a:t>
                </a:r>
                <a:endParaRPr lang="en-US" altLang="zh-CN" sz="16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𝑅</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𝜆</m:t>
                      </m:r>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0.333</m:t>
                          </m:r>
                        </m:num>
                        <m:den>
                          <m:r>
                            <a:rPr lang="en-US" altLang="zh-CN" sz="1600" b="0" i="1" smtClean="0">
                              <a:latin typeface="Cambria Math" panose="02040503050406030204" pitchFamily="18" charset="0"/>
                            </a:rPr>
                            <m:t>0.301</m:t>
                          </m:r>
                        </m:den>
                      </m:f>
                      <m:r>
                        <a:rPr lang="en-US" altLang="zh-CN" sz="1600" i="1">
                          <a:latin typeface="Cambria Math" panose="02040503050406030204" pitchFamily="18" charset="0"/>
                        </a:rPr>
                        <m:t>𝑅</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0" i="1">
                          <a:latin typeface="Cambria Math" panose="02040503050406030204" pitchFamily="18" charset="0"/>
                        </a:rPr>
                        <m:t>,  </m:t>
                      </m:r>
                      <m:sSup>
                        <m:sSupPr>
                          <m:ctrlPr>
                            <a:rPr lang="en-US" altLang="zh-CN" sz="1600" b="0" i="1">
                              <a:latin typeface="Cambria Math" panose="02040503050406030204" pitchFamily="18" charset="0"/>
                            </a:rPr>
                          </m:ctrlPr>
                        </m:sSupPr>
                        <m:e>
                          <m:r>
                            <a:rPr lang="en-US" altLang="zh-CN" sz="1600" b="0" i="1">
                              <a:latin typeface="Cambria Math" panose="02040503050406030204" pitchFamily="18" charset="0"/>
                            </a:rPr>
                            <m:t>𝐺</m:t>
                          </m:r>
                        </m:e>
                        <m:sup>
                          <m:r>
                            <a:rPr lang="en-US" altLang="zh-CN" sz="1600" b="0" i="1" smtClean="0">
                              <a:latin typeface="Cambria Math" panose="02040503050406030204" pitchFamily="18" charset="0"/>
                            </a:rPr>
                            <m:t>′</m:t>
                          </m:r>
                        </m:sup>
                      </m:sSup>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e>
                      </m:d>
                      <m:r>
                        <a:rPr lang="en-US" altLang="zh-CN" sz="1600" b="0" i="1">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0.333</m:t>
                          </m:r>
                        </m:num>
                        <m:den>
                          <m:r>
                            <a:rPr lang="en-US" altLang="zh-CN" sz="1600" b="0" i="1" smtClean="0">
                              <a:latin typeface="Cambria Math" panose="02040503050406030204" pitchFamily="18" charset="0"/>
                            </a:rPr>
                            <m:t>0.314</m:t>
                          </m:r>
                        </m:den>
                      </m:f>
                      <m:r>
                        <a:rPr lang="en-US" altLang="zh-CN" sz="1600" i="1">
                          <a:latin typeface="Cambria Math" panose="02040503050406030204" pitchFamily="18" charset="0"/>
                        </a:rPr>
                        <m:t>𝐺</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0" i="1">
                          <a:latin typeface="Cambria Math" panose="02040503050406030204" pitchFamily="18" charset="0"/>
                        </a:rPr>
                        <m:t>,  </m:t>
                      </m:r>
                      <m:sSup>
                        <m:sSupPr>
                          <m:ctrlPr>
                            <a:rPr lang="en-US" altLang="zh-CN" sz="1600" b="0" i="1">
                              <a:latin typeface="Cambria Math" panose="02040503050406030204" pitchFamily="18" charset="0"/>
                            </a:rPr>
                          </m:ctrlPr>
                        </m:sSupPr>
                        <m:e>
                          <m:r>
                            <a:rPr lang="en-US" altLang="zh-CN" sz="1600" b="0" i="1">
                              <a:latin typeface="Cambria Math" panose="02040503050406030204" pitchFamily="18" charset="0"/>
                            </a:rPr>
                            <m:t>𝐵</m:t>
                          </m:r>
                        </m:e>
                        <m:sup>
                          <m:r>
                            <a:rPr lang="en-US" altLang="zh-CN" sz="1600" b="0" i="1" smtClean="0">
                              <a:latin typeface="Cambria Math" panose="02040503050406030204" pitchFamily="18" charset="0"/>
                            </a:rPr>
                            <m:t>′</m:t>
                          </m:r>
                        </m:sup>
                      </m:sSup>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e>
                      </m:d>
                      <m:r>
                        <a:rPr lang="en-US" altLang="zh-CN" sz="1600" b="0" i="1">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0.333</m:t>
                          </m:r>
                        </m:num>
                        <m:den>
                          <m:r>
                            <a:rPr lang="en-US" altLang="zh-CN" sz="1600" b="0" i="1">
                              <a:latin typeface="Cambria Math" panose="02040503050406030204" pitchFamily="18" charset="0"/>
                            </a:rPr>
                            <m:t>0.</m:t>
                          </m:r>
                          <m:r>
                            <a:rPr lang="en-US" altLang="zh-CN" sz="1600" b="0" i="1" smtClean="0">
                              <a:latin typeface="Cambria Math" panose="02040503050406030204" pitchFamily="18" charset="0"/>
                            </a:rPr>
                            <m:t>3</m:t>
                          </m:r>
                          <m:r>
                            <a:rPr lang="en-US" altLang="zh-CN" sz="1600" b="0" i="1">
                              <a:latin typeface="Cambria Math" panose="02040503050406030204" pitchFamily="18" charset="0"/>
                            </a:rPr>
                            <m:t>8</m:t>
                          </m:r>
                          <m:r>
                            <a:rPr lang="en-US" altLang="zh-CN" sz="1600" b="0" i="1" smtClean="0">
                              <a:latin typeface="Cambria Math" panose="02040503050406030204" pitchFamily="18" charset="0"/>
                            </a:rPr>
                            <m:t>5</m:t>
                          </m:r>
                        </m:den>
                      </m:f>
                      <m:r>
                        <a:rPr lang="en-US" altLang="zh-CN" sz="1600" i="1">
                          <a:latin typeface="Cambria Math" panose="02040503050406030204" pitchFamily="18" charset="0"/>
                        </a:rPr>
                        <m:t>𝐵</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oMath>
                  </m:oMathPara>
                </a14:m>
                <a:endParaRPr lang="en-US" altLang="zh-CN" sz="16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1498D971-AB97-0F02-7E64-C153C70D7594}"/>
                  </a:ext>
                </a:extLst>
              </p:cNvPr>
              <p:cNvSpPr txBox="1">
                <a:spLocks noRot="1" noChangeAspect="1" noMove="1" noResize="1" noEditPoints="1" noAdjustHandles="1" noChangeArrowheads="1" noChangeShapeType="1" noTextEdit="1"/>
              </p:cNvSpPr>
              <p:nvPr/>
            </p:nvSpPr>
            <p:spPr>
              <a:xfrm>
                <a:off x="652039" y="1954731"/>
                <a:ext cx="11310317" cy="4565930"/>
              </a:xfrm>
              <a:prstGeom prst="rect">
                <a:avLst/>
              </a:prstGeom>
              <a:blipFill>
                <a:blip r:embed="rId2"/>
                <a:stretch>
                  <a:fillRect l="-323" t="-401" r="-27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C50BA257-C883-4D50-F6D0-C4FAAAB95237}"/>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Distribution Curves</a:t>
            </a:r>
            <a:endParaRPr lang="zh-CN" altLang="en-US" sz="11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6341288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6E734-F19E-A124-BB65-4B7A31A79AB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55F0384-FA5A-4E71-4AE8-1EBB80048776}"/>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A421D34-C928-5C72-FEE7-F2C984282C11}"/>
                  </a:ext>
                </a:extLst>
              </p:cNvPr>
              <p:cNvSpPr txBox="1"/>
              <p:nvPr/>
            </p:nvSpPr>
            <p:spPr>
              <a:xfrm>
                <a:off x="231732" y="1954731"/>
                <a:ext cx="11818305" cy="4301049"/>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r>
                        <a:rPr lang="en-US" altLang="zh-CN" sz="1600" i="1" dirty="0" smtClean="0">
                          <a:latin typeface="Cambria Math" panose="02040503050406030204" pitchFamily="18" charset="0"/>
                          <a:ea typeface="Cambria Math" panose="02040503050406030204" pitchFamily="18" charset="0"/>
                        </a:rPr>
                        <m:t>𝑅</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r>
                            <a:rPr lang="en-US" altLang="zh-CN" sz="1600" i="1" dirty="0">
                              <a:latin typeface="Cambria Math" panose="02040503050406030204" pitchFamily="18" charset="0"/>
                            </a:rPr>
                            <m:t>𝑁</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𝑅</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𝐺</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𝐵</m:t>
                                  </m:r>
                                </m:sub>
                              </m:sSub>
                            </m:e>
                          </m:d>
                        </m:den>
                      </m:f>
                      <m:r>
                        <a:rPr lang="en-US" altLang="zh-CN" sz="1600" i="1" dirty="0">
                          <a:latin typeface="Cambria Math" panose="02040503050406030204" pitchFamily="18" charset="0"/>
                        </a:rPr>
                        <m:t>,  </m:t>
                      </m:r>
                      <m:r>
                        <a:rPr lang="en-US" altLang="zh-CN" sz="1600" i="1" dirty="0">
                          <a:latin typeface="Cambria Math" panose="02040503050406030204" pitchFamily="18" charset="0"/>
                          <a:ea typeface="Cambria Math" panose="02040503050406030204" pitchFamily="18" charset="0"/>
                        </a:rPr>
                        <m:t>𝐺</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r>
                            <a:rPr lang="en-US" altLang="zh-CN" sz="1600" i="1" dirty="0">
                              <a:latin typeface="Cambria Math" panose="02040503050406030204" pitchFamily="18" charset="0"/>
                            </a:rPr>
                            <m:t>𝑁</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𝑅</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𝐺</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𝐵</m:t>
                                  </m:r>
                                </m:sub>
                              </m:sSub>
                            </m:e>
                          </m:d>
                        </m:den>
                      </m:f>
                      <m:r>
                        <a:rPr lang="en-US" altLang="zh-CN" sz="1600" i="1" dirty="0">
                          <a:latin typeface="Cambria Math" panose="02040503050406030204" pitchFamily="18" charset="0"/>
                        </a:rPr>
                        <m:t>,  </m:t>
                      </m:r>
                      <m:r>
                        <a:rPr lang="en-US" altLang="zh-CN" sz="1600" i="1" dirty="0">
                          <a:latin typeface="Cambria Math" panose="02040503050406030204" pitchFamily="18" charset="0"/>
                          <a:ea typeface="Cambria Math" panose="02040503050406030204" pitchFamily="18" charset="0"/>
                        </a:rPr>
                        <m:t>𝐵</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i="1" dirty="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num>
                        <m:den>
                          <m:r>
                            <a:rPr lang="en-US" altLang="zh-CN" sz="1600" i="1" dirty="0">
                              <a:latin typeface="Cambria Math" panose="02040503050406030204" pitchFamily="18" charset="0"/>
                            </a:rPr>
                            <m:t>𝑁</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𝑟</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𝑅</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𝑔</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𝐺</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𝑏</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𝐵</m:t>
                                  </m:r>
                                </m:sub>
                              </m:sSub>
                            </m:e>
                          </m:d>
                        </m:den>
                      </m:f>
                    </m:oMath>
                  </m:oMathPara>
                </a14:m>
                <a:endParaRPr lang="en-US" altLang="zh-CN" sz="1600" i="1" dirty="0">
                  <a:latin typeface="Cambria Math" panose="02040503050406030204" pitchFamily="18" charset="0"/>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sSub>
                        <m:sSubPr>
                          <m:ctrlPr>
                            <a:rPr lang="zh-CN" altLang="en-US" sz="1600" i="1" dirty="0">
                              <a:latin typeface="Cambria Math" panose="02040503050406030204" pitchFamily="18" charset="0"/>
                              <a:ea typeface="Cambria Math" panose="02040503050406030204" pitchFamily="18" charset="0"/>
                            </a:rPr>
                          </m:ctrlPr>
                        </m:sSubPr>
                        <m:e>
                          <m:r>
                            <a:rPr lang="zh-CN" altLang="en-US" sz="1600" i="1" dirty="0">
                              <a:latin typeface="Cambria Math" panose="02040503050406030204" pitchFamily="18" charset="0"/>
                              <a:ea typeface="Cambria Math" panose="02040503050406030204" pitchFamily="18" charset="0"/>
                            </a:rPr>
                            <m:t>𝑟</m:t>
                          </m:r>
                        </m:e>
                        <m:sub>
                          <m:r>
                            <a:rPr lang="zh-CN" altLang="en-US" sz="1600" i="1" dirty="0">
                              <a:latin typeface="Cambria Math" panose="02040503050406030204" pitchFamily="18" charset="0"/>
                              <a:ea typeface="Cambria Math" panose="02040503050406030204" pitchFamily="18" charset="0"/>
                            </a:rPr>
                            <m:t>𝐸𝐸𝑊</m:t>
                          </m:r>
                        </m:sub>
                      </m:sSub>
                      <m:r>
                        <a:rPr lang="en-US" altLang="zh-CN" sz="1600" i="1" dirty="0">
                          <a:latin typeface="Cambria Math" panose="02040503050406030204" pitchFamily="18" charset="0"/>
                          <a:ea typeface="Cambria Math" panose="02040503050406030204" pitchFamily="18" charset="0"/>
                        </a:rPr>
                        <m:t>=</m:t>
                      </m:r>
                      <m:nary>
                        <m:naryPr>
                          <m:limLoc m:val="undOvr"/>
                          <m:subHide m:val="on"/>
                          <m:supHide m:val="on"/>
                          <m:ctrlPr>
                            <a:rPr lang="en-US" altLang="zh-CN" sz="1600" i="1" dirty="0">
                              <a:latin typeface="Cambria Math" panose="02040503050406030204" pitchFamily="18" charset="0"/>
                              <a:ea typeface="Cambria Math" panose="02040503050406030204" pitchFamily="18" charset="0"/>
                            </a:rPr>
                          </m:ctrlPr>
                        </m:naryPr>
                        <m:sub/>
                        <m:sup/>
                        <m:e>
                          <m:r>
                            <a:rPr lang="en-US" altLang="zh-CN" sz="1600" i="1" dirty="0">
                              <a:latin typeface="Cambria Math" panose="02040503050406030204" pitchFamily="18" charset="0"/>
                            </a:rPr>
                            <m:t>𝑅</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𝑔</m:t>
                          </m:r>
                        </m:e>
                        <m:sub>
                          <m:r>
                            <a:rPr lang="zh-CN" altLang="en-US" sz="1600" i="1" dirty="0">
                              <a:latin typeface="Cambria Math" panose="02040503050406030204" pitchFamily="18" charset="0"/>
                            </a:rPr>
                            <m:t>𝐸𝐸𝑊</m:t>
                          </m:r>
                        </m:sub>
                      </m:sSub>
                      <m:r>
                        <a:rPr lang="en-US" altLang="zh-CN" sz="1600" i="1" dirty="0">
                          <a:latin typeface="Cambria Math" panose="02040503050406030204" pitchFamily="18" charset="0"/>
                        </a:rPr>
                        <m:t>=</m:t>
                      </m:r>
                      <m:nary>
                        <m:naryPr>
                          <m:limLoc m:val="undOvr"/>
                          <m:subHide m:val="on"/>
                          <m:supHide m:val="on"/>
                          <m:ctrlPr>
                            <a:rPr lang="en-US" altLang="zh-CN" sz="1600" i="1" dirty="0">
                              <a:latin typeface="Cambria Math" panose="02040503050406030204" pitchFamily="18" charset="0"/>
                              <a:ea typeface="Cambria Math" panose="02040503050406030204" pitchFamily="18" charset="0"/>
                            </a:rPr>
                          </m:ctrlPr>
                        </m:naryPr>
                        <m:sub/>
                        <m:sup/>
                        <m:e>
                          <m:r>
                            <a:rPr lang="en-US" altLang="zh-CN" sz="1600" b="0" i="1" dirty="0" smtClean="0">
                              <a:latin typeface="Cambria Math" panose="02040503050406030204" pitchFamily="18" charset="0"/>
                              <a:ea typeface="Cambria Math" panose="02040503050406030204" pitchFamily="18" charset="0"/>
                            </a:rPr>
                            <m:t>𝐺</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𝑏</m:t>
                          </m:r>
                        </m:e>
                        <m:sub>
                          <m:r>
                            <a:rPr lang="zh-CN" altLang="en-US" sz="1600" i="1" dirty="0">
                              <a:latin typeface="Cambria Math" panose="02040503050406030204" pitchFamily="18" charset="0"/>
                            </a:rPr>
                            <m:t>𝐸𝐸𝑊</m:t>
                          </m:r>
                        </m:sub>
                      </m:sSub>
                      <m:r>
                        <a:rPr lang="en-US" altLang="zh-CN" sz="1600" i="1" dirty="0">
                          <a:latin typeface="Cambria Math" panose="02040503050406030204" pitchFamily="18" charset="0"/>
                        </a:rPr>
                        <m:t>=</m:t>
                      </m:r>
                      <m:nary>
                        <m:naryPr>
                          <m:limLoc m:val="undOvr"/>
                          <m:subHide m:val="on"/>
                          <m:supHide m:val="on"/>
                          <m:ctrlPr>
                            <a:rPr lang="en-US" altLang="zh-CN" sz="1600" i="1" dirty="0">
                              <a:latin typeface="Cambria Math" panose="02040503050406030204" pitchFamily="18" charset="0"/>
                              <a:ea typeface="Cambria Math" panose="02040503050406030204" pitchFamily="18" charset="0"/>
                            </a:rPr>
                          </m:ctrlPr>
                        </m:naryPr>
                        <m:sub/>
                        <m:sup/>
                        <m:e>
                          <m:r>
                            <a:rPr lang="en-US" altLang="zh-CN" sz="1600" b="0" i="1" dirty="0" smtClean="0">
                              <a:latin typeface="Cambria Math" panose="02040503050406030204" pitchFamily="18" charset="0"/>
                            </a:rPr>
                            <m:t>𝐵</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oMath>
                  </m:oMathPara>
                </a14:m>
                <a:endParaRPr lang="en-US" altLang="zh-CN" sz="1600" i="1" dirty="0">
                  <a:latin typeface="Cambria Math" panose="02040503050406030204" pitchFamily="18" charset="0"/>
                  <a:ea typeface="Noto Sans SC" panose="020B0200000000000000" pitchFamily="34" charset="-122"/>
                </a:endParaRPr>
              </a:p>
              <a:p>
                <a:endParaRPr lang="en-US" altLang="zh-CN" sz="1600" i="1" dirty="0">
                  <a:latin typeface="Cambria Math" panose="02040503050406030204" pitchFamily="18" charset="0"/>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r>
                        <a:rPr lang="zh-CN" altLang="en-US" sz="1600" i="1" dirty="0">
                          <a:latin typeface="Cambria Math" panose="02040503050406030204" pitchFamily="18" charset="0"/>
                        </a:rPr>
                        <m:t>色度坐标：</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𝑟</m:t>
                              </m:r>
                            </m:e>
                            <m:sub>
                              <m:r>
                                <a:rPr lang="en-US" altLang="zh-CN" sz="1600" i="1" dirty="0">
                                  <a:latin typeface="Cambria Math" panose="02040503050406030204" pitchFamily="18" charset="0"/>
                                </a:rPr>
                                <m:t>𝐸𝐸𝑊</m:t>
                              </m:r>
                            </m:sub>
                          </m:sSub>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𝑟</m:t>
                              </m:r>
                            </m:e>
                            <m:sub>
                              <m:r>
                                <a:rPr lang="en-US" altLang="zh-CN" sz="1600" i="1" dirty="0">
                                  <a:latin typeface="Cambria Math" panose="02040503050406030204" pitchFamily="18" charset="0"/>
                                </a:rPr>
                                <m:t>𝐸𝐸𝑊</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𝑔</m:t>
                              </m:r>
                            </m:e>
                            <m:sub>
                              <m:r>
                                <a:rPr lang="en-US" altLang="zh-CN" sz="1600" i="1" dirty="0">
                                  <a:latin typeface="Cambria Math" panose="02040503050406030204" pitchFamily="18" charset="0"/>
                                </a:rPr>
                                <m:t>𝐸𝐸𝑊</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𝑏</m:t>
                              </m:r>
                            </m:e>
                            <m:sub>
                              <m:r>
                                <a:rPr lang="en-US" altLang="zh-CN" sz="1600" i="1" dirty="0">
                                  <a:latin typeface="Cambria Math" panose="02040503050406030204" pitchFamily="18" charset="0"/>
                                </a:rPr>
                                <m:t>𝐸𝐸𝑊</m:t>
                              </m:r>
                            </m:sub>
                          </m:sSub>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𝑔</m:t>
                              </m:r>
                            </m:e>
                            <m:sub>
                              <m:r>
                                <a:rPr lang="en-US" altLang="zh-CN" sz="1600" i="1" dirty="0">
                                  <a:latin typeface="Cambria Math" panose="02040503050406030204" pitchFamily="18" charset="0"/>
                                </a:rPr>
                                <m:t>𝐸𝐸𝑊</m:t>
                              </m:r>
                            </m:sub>
                          </m:sSub>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𝑟</m:t>
                              </m:r>
                            </m:e>
                            <m:sub>
                              <m:r>
                                <a:rPr lang="en-US" altLang="zh-CN" sz="1600" i="1" dirty="0">
                                  <a:latin typeface="Cambria Math" panose="02040503050406030204" pitchFamily="18" charset="0"/>
                                </a:rPr>
                                <m:t>𝐸𝐸𝑊</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𝑔</m:t>
                              </m:r>
                            </m:e>
                            <m:sub>
                              <m:r>
                                <a:rPr lang="en-US" altLang="zh-CN" sz="1600" i="1" dirty="0">
                                  <a:latin typeface="Cambria Math" panose="02040503050406030204" pitchFamily="18" charset="0"/>
                                </a:rPr>
                                <m:t>𝐸𝐸𝑊</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𝑏</m:t>
                              </m:r>
                            </m:e>
                            <m:sub>
                              <m:r>
                                <a:rPr lang="en-US" altLang="zh-CN" sz="1600" i="1" dirty="0">
                                  <a:latin typeface="Cambria Math" panose="02040503050406030204" pitchFamily="18" charset="0"/>
                                </a:rPr>
                                <m:t>𝐸𝐸𝑊</m:t>
                              </m:r>
                            </m:sub>
                          </m:sSub>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𝑏</m:t>
                              </m:r>
                            </m:e>
                            <m:sub>
                              <m:r>
                                <a:rPr lang="en-US" altLang="zh-CN" sz="1600" i="1" dirty="0">
                                  <a:latin typeface="Cambria Math" panose="02040503050406030204" pitchFamily="18" charset="0"/>
                                </a:rPr>
                                <m:t>𝐸𝐸𝑊</m:t>
                              </m:r>
                            </m:sub>
                          </m:sSub>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𝑟</m:t>
                              </m:r>
                            </m:e>
                            <m:sub>
                              <m:r>
                                <a:rPr lang="en-US" altLang="zh-CN" sz="1600" i="1" dirty="0">
                                  <a:latin typeface="Cambria Math" panose="02040503050406030204" pitchFamily="18" charset="0"/>
                                </a:rPr>
                                <m:t>𝐸𝐸𝑊</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𝑔</m:t>
                              </m:r>
                            </m:e>
                            <m:sub>
                              <m:r>
                                <a:rPr lang="en-US" altLang="zh-CN" sz="1600" i="1" dirty="0">
                                  <a:latin typeface="Cambria Math" panose="02040503050406030204" pitchFamily="18" charset="0"/>
                                </a:rPr>
                                <m:t>𝐸𝐸𝑊</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𝑏</m:t>
                              </m:r>
                            </m:e>
                            <m:sub>
                              <m:r>
                                <a:rPr lang="en-US" altLang="zh-CN" sz="1600" i="1" dirty="0">
                                  <a:latin typeface="Cambria Math" panose="02040503050406030204" pitchFamily="18" charset="0"/>
                                </a:rPr>
                                <m:t>𝐸𝐸𝑊</m:t>
                              </m:r>
                            </m:sub>
                          </m:sSub>
                        </m:den>
                      </m:f>
                    </m:oMath>
                  </m:oMathPara>
                </a14:m>
                <a:endParaRPr lang="en-US" altLang="zh-CN" sz="1600" i="1" dirty="0">
                  <a:latin typeface="Cambria Math" panose="02040503050406030204" pitchFamily="18" charset="0"/>
                  <a:ea typeface="Noto Sans SC" panose="020B0200000000000000" pitchFamily="34" charset="-122"/>
                </a:endParaRPr>
              </a:p>
              <a:p>
                <a:endParaRPr lang="en-US" altLang="zh-CN" sz="1600" i="1" dirty="0">
                  <a:latin typeface="Cambria Math" panose="02040503050406030204" pitchFamily="18" charset="0"/>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r>
                        <a:rPr lang="zh-CN" altLang="en-US" sz="1600" i="1" dirty="0">
                          <a:latin typeface="Cambria Math" panose="02040503050406030204" pitchFamily="18" charset="0"/>
                        </a:rPr>
                        <m:t>色度坐标数值：</m:t>
                      </m:r>
                      <m:r>
                        <a:rPr lang="en-US" altLang="zh-CN" sz="1600" b="0" i="1" dirty="0" smtClean="0">
                          <a:latin typeface="Cambria Math" panose="02040503050406030204" pitchFamily="18" charset="0"/>
                        </a:rPr>
                        <m:t>0.301,  0.314,  0.385</m:t>
                      </m:r>
                    </m:oMath>
                  </m:oMathPara>
                </a14:m>
                <a:endParaRPr lang="en-US" altLang="zh-CN" sz="1600" b="1" dirty="0">
                  <a:latin typeface="Noto Sans SC" panose="020B0200000000000000" pitchFamily="34" charset="-122"/>
                  <a:ea typeface="Noto Sans SC" panose="020B0200000000000000" pitchFamily="34" charset="-122"/>
                </a:endParaRPr>
              </a:p>
              <a:p>
                <a:endParaRPr lang="en-US" altLang="zh-CN" sz="16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m:rPr>
                          <m:nor/>
                        </m:rPr>
                        <a:rPr lang="zh-CN" altLang="en-US" sz="1600" i="0" dirty="0">
                          <a:latin typeface="Noto Sans SC" panose="020B0200000000000000" pitchFamily="34" charset="-122"/>
                          <a:ea typeface="Noto Sans SC" panose="020B0200000000000000" pitchFamily="34" charset="-122"/>
                        </a:rPr>
                        <m:t>新的</m:t>
                      </m:r>
                      <m:r>
                        <m:rPr>
                          <m:nor/>
                        </m:rPr>
                        <a:rPr lang="en-US" altLang="zh-CN" sz="1600" i="0" dirty="0">
                          <a:latin typeface="Noto Sans SC" panose="020B0200000000000000" pitchFamily="34" charset="-122"/>
                          <a:ea typeface="Noto Sans SC" panose="020B0200000000000000" pitchFamily="34" charset="-122"/>
                        </a:rPr>
                        <m:t>Distribution</m:t>
                      </m:r>
                      <m:r>
                        <m:rPr>
                          <m:nor/>
                        </m:rPr>
                        <a:rPr lang="en-US" altLang="zh-CN" sz="1600" i="0" dirty="0">
                          <a:latin typeface="Noto Sans SC" panose="020B0200000000000000" pitchFamily="34" charset="-122"/>
                          <a:ea typeface="Noto Sans SC" panose="020B0200000000000000" pitchFamily="34" charset="-122"/>
                        </a:rPr>
                        <m:t> </m:t>
                      </m:r>
                      <m:r>
                        <m:rPr>
                          <m:nor/>
                        </m:rPr>
                        <a:rPr lang="en-US" altLang="zh-CN" sz="1600" i="0" dirty="0">
                          <a:latin typeface="Noto Sans SC" panose="020B0200000000000000" pitchFamily="34" charset="-122"/>
                          <a:ea typeface="Noto Sans SC" panose="020B0200000000000000" pitchFamily="34" charset="-122"/>
                        </a:rPr>
                        <m:t>Curves</m:t>
                      </m:r>
                      <m:r>
                        <a:rPr lang="zh-CN" altLang="en-US" sz="1600" i="1" dirty="0" smtClean="0">
                          <a:latin typeface="Cambria Math" panose="02040503050406030204" pitchFamily="18" charset="0"/>
                        </a:rPr>
                        <m:t>：</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𝑅</m:t>
                          </m:r>
                        </m:e>
                        <m:sup>
                          <m:r>
                            <a:rPr lang="en-US" altLang="zh-CN" sz="1600" i="1">
                              <a:latin typeface="Cambria Math" panose="02040503050406030204" pitchFamily="18" charset="0"/>
                            </a:rPr>
                            <m:t>′</m:t>
                          </m:r>
                        </m:sup>
                      </m:sSup>
                      <m:r>
                        <a:rPr lang="en-US" altLang="zh-CN" sz="1600" i="1">
                          <a:latin typeface="Cambria Math" panose="02040503050406030204" pitchFamily="18" charset="0"/>
                        </a:rPr>
                        <m:t>(</m:t>
                      </m:r>
                      <m:r>
                        <a:rPr lang="en-US" altLang="zh-CN" sz="1600" i="1">
                          <a:latin typeface="Cambria Math" panose="02040503050406030204" pitchFamily="18" charset="0"/>
                        </a:rPr>
                        <m:t>𝜆</m:t>
                      </m:r>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0.333</m:t>
                          </m:r>
                        </m:num>
                        <m:den>
                          <m:r>
                            <a:rPr lang="en-US" altLang="zh-CN" sz="1600" i="1">
                              <a:latin typeface="Cambria Math" panose="02040503050406030204" pitchFamily="18" charset="0"/>
                            </a:rPr>
                            <m:t>0.301</m:t>
                          </m:r>
                        </m:den>
                      </m:f>
                      <m:r>
                        <a:rPr lang="en-US" altLang="zh-CN" sz="1600" i="1">
                          <a:latin typeface="Cambria Math" panose="02040503050406030204" pitchFamily="18" charset="0"/>
                        </a:rPr>
                        <m:t>𝑅</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𝐺</m:t>
                          </m:r>
                        </m:e>
                        <m:sup>
                          <m:r>
                            <a:rPr lang="en-US" altLang="zh-CN" sz="1600" i="1">
                              <a:latin typeface="Cambria Math" panose="02040503050406030204" pitchFamily="18" charset="0"/>
                            </a:rPr>
                            <m:t>′</m:t>
                          </m:r>
                        </m:sup>
                      </m:s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0.333</m:t>
                          </m:r>
                        </m:num>
                        <m:den>
                          <m:r>
                            <a:rPr lang="en-US" altLang="zh-CN" sz="1600" i="1">
                              <a:latin typeface="Cambria Math" panose="02040503050406030204" pitchFamily="18" charset="0"/>
                            </a:rPr>
                            <m:t>0.314</m:t>
                          </m:r>
                        </m:den>
                      </m:f>
                      <m:r>
                        <a:rPr lang="en-US" altLang="zh-CN" sz="1600" i="1">
                          <a:latin typeface="Cambria Math" panose="02040503050406030204" pitchFamily="18" charset="0"/>
                        </a:rPr>
                        <m:t>𝐺</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𝐵</m:t>
                          </m:r>
                        </m:e>
                        <m:sup>
                          <m:r>
                            <a:rPr lang="en-US" altLang="zh-CN" sz="1600" i="1">
                              <a:latin typeface="Cambria Math" panose="02040503050406030204" pitchFamily="18" charset="0"/>
                            </a:rPr>
                            <m:t>′</m:t>
                          </m:r>
                        </m:sup>
                      </m:s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0.333</m:t>
                          </m:r>
                        </m:num>
                        <m:den>
                          <m:r>
                            <a:rPr lang="en-US" altLang="zh-CN" sz="1600" i="1">
                              <a:latin typeface="Cambria Math" panose="02040503050406030204" pitchFamily="18" charset="0"/>
                            </a:rPr>
                            <m:t>0.385</m:t>
                          </m:r>
                        </m:den>
                      </m:f>
                      <m:r>
                        <a:rPr lang="en-US" altLang="zh-CN" sz="1600" i="1">
                          <a:latin typeface="Cambria Math" panose="02040503050406030204" pitchFamily="18" charset="0"/>
                        </a:rPr>
                        <m:t>𝐵</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oMath>
                  </m:oMathPara>
                </a14:m>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从以上过程，我们不难发现，新的</a:t>
                </a:r>
                <a:r>
                  <a:rPr lang="en-US" altLang="zh-CN" sz="1600" dirty="0">
                    <a:latin typeface="Noto Sans SC" panose="020B0200000000000000" pitchFamily="34" charset="-122"/>
                    <a:ea typeface="Noto Sans SC" panose="020B0200000000000000" pitchFamily="34" charset="-122"/>
                  </a:rPr>
                  <a:t>Distribution Curves</a:t>
                </a:r>
                <a:r>
                  <a:rPr lang="zh-CN" altLang="en-US" sz="1600" dirty="0">
                    <a:latin typeface="Noto Sans SC" panose="020B0200000000000000" pitchFamily="34" charset="-122"/>
                    <a:ea typeface="Noto Sans SC" panose="020B0200000000000000" pitchFamily="34" charset="-122"/>
                  </a:rPr>
                  <a:t>应当满足：</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nary>
                        <m:naryPr>
                          <m:limLoc m:val="undOvr"/>
                          <m:subHide m:val="on"/>
                          <m:supHide m:val="on"/>
                          <m:ctrlPr>
                            <a:rPr lang="en-US" altLang="zh-CN" sz="1500" i="1" dirty="0">
                              <a:latin typeface="Cambria Math" panose="02040503050406030204" pitchFamily="18" charset="0"/>
                              <a:ea typeface="Cambria Math" panose="02040503050406030204" pitchFamily="18" charset="0"/>
                            </a:rPr>
                          </m:ctrlPr>
                        </m:naryPr>
                        <m:sub/>
                        <m:sup/>
                        <m:e>
                          <m:sSup>
                            <m:sSupPr>
                              <m:ctrlPr>
                                <a:rPr lang="zh-CN" altLang="en-US" sz="1500" i="1" dirty="0">
                                  <a:latin typeface="Cambria Math" panose="02040503050406030204" pitchFamily="18" charset="0"/>
                                </a:rPr>
                              </m:ctrlPr>
                            </m:sSupPr>
                            <m:e>
                              <m:r>
                                <a:rPr lang="zh-CN" altLang="en-US" sz="1500" i="1" dirty="0">
                                  <a:latin typeface="Cambria Math" panose="02040503050406030204" pitchFamily="18" charset="0"/>
                                </a:rPr>
                                <m:t>𝑅</m:t>
                              </m:r>
                            </m:e>
                            <m:sup>
                              <m:r>
                                <a:rPr lang="en-US" altLang="zh-CN" sz="1500" b="0" i="1" dirty="0" smtClean="0">
                                  <a:latin typeface="Cambria Math" panose="02040503050406030204" pitchFamily="18" charset="0"/>
                                </a:rPr>
                                <m:t>′</m:t>
                              </m:r>
                            </m:sup>
                          </m:sSup>
                          <m:d>
                            <m:dPr>
                              <m:ctrlPr>
                                <a:rPr lang="zh-CN" altLang="en-US" sz="1500" i="1" dirty="0">
                                  <a:latin typeface="Cambria Math" panose="02040503050406030204" pitchFamily="18" charset="0"/>
                                </a:rPr>
                              </m:ctrlPr>
                            </m:dPr>
                            <m:e>
                              <m:r>
                                <a:rPr lang="zh-CN" altLang="en-US" sz="1500" i="1" dirty="0">
                                  <a:latin typeface="Cambria Math" panose="02040503050406030204" pitchFamily="18" charset="0"/>
                                </a:rPr>
                                <m:t>𝜆</m:t>
                              </m:r>
                            </m:e>
                          </m:d>
                          <m:r>
                            <a:rPr lang="zh-CN" altLang="en-US" sz="1500" i="1" dirty="0">
                              <a:latin typeface="Cambria Math" panose="02040503050406030204" pitchFamily="18" charset="0"/>
                            </a:rPr>
                            <m:t>𝑑</m:t>
                          </m:r>
                          <m:r>
                            <a:rPr lang="zh-CN" altLang="en-US" sz="1500" i="1" dirty="0">
                              <a:latin typeface="Cambria Math" panose="02040503050406030204" pitchFamily="18" charset="0"/>
                            </a:rPr>
                            <m:t>𝜆</m:t>
                          </m:r>
                        </m:e>
                      </m:nary>
                      <m:r>
                        <a:rPr lang="en-US" altLang="zh-CN" sz="1500" b="0" i="1" smtClean="0">
                          <a:latin typeface="Cambria Math" panose="02040503050406030204" pitchFamily="18" charset="0"/>
                        </a:rPr>
                        <m:t>=</m:t>
                      </m:r>
                      <m:nary>
                        <m:naryPr>
                          <m:limLoc m:val="undOvr"/>
                          <m:subHide m:val="on"/>
                          <m:supHide m:val="on"/>
                          <m:ctrlPr>
                            <a:rPr lang="en-US" altLang="zh-CN" sz="1500" i="1" dirty="0">
                              <a:latin typeface="Cambria Math" panose="02040503050406030204" pitchFamily="18" charset="0"/>
                              <a:ea typeface="Cambria Math" panose="02040503050406030204" pitchFamily="18" charset="0"/>
                            </a:rPr>
                          </m:ctrlPr>
                        </m:naryPr>
                        <m:sub/>
                        <m:sup/>
                        <m:e>
                          <m:sSup>
                            <m:sSupPr>
                              <m:ctrlPr>
                                <a:rPr lang="zh-CN" altLang="en-US" sz="1500" b="0" i="1" dirty="0" smtClean="0">
                                  <a:latin typeface="Cambria Math" panose="02040503050406030204" pitchFamily="18" charset="0"/>
                                  <a:ea typeface="Cambria Math" panose="02040503050406030204" pitchFamily="18" charset="0"/>
                                </a:rPr>
                              </m:ctrlPr>
                            </m:sSupPr>
                            <m:e>
                              <m:r>
                                <a:rPr lang="zh-CN" altLang="en-US" sz="1500" b="0" i="1" dirty="0" smtClean="0">
                                  <a:latin typeface="Cambria Math" panose="02040503050406030204" pitchFamily="18" charset="0"/>
                                  <a:ea typeface="Cambria Math" panose="02040503050406030204" pitchFamily="18" charset="0"/>
                                </a:rPr>
                                <m:t>𝐺</m:t>
                              </m:r>
                            </m:e>
                            <m:sup>
                              <m:r>
                                <a:rPr lang="en-US" altLang="zh-CN" sz="1500" b="0" i="1" dirty="0" smtClean="0">
                                  <a:latin typeface="Cambria Math" panose="02040503050406030204" pitchFamily="18" charset="0"/>
                                  <a:ea typeface="Cambria Math" panose="02040503050406030204" pitchFamily="18" charset="0"/>
                                </a:rPr>
                                <m:t>′</m:t>
                              </m:r>
                            </m:sup>
                          </m:sSup>
                          <m:d>
                            <m:dPr>
                              <m:ctrlPr>
                                <a:rPr lang="zh-CN" altLang="en-US" sz="1500" i="1" dirty="0">
                                  <a:latin typeface="Cambria Math" panose="02040503050406030204" pitchFamily="18" charset="0"/>
                                </a:rPr>
                              </m:ctrlPr>
                            </m:dPr>
                            <m:e>
                              <m:r>
                                <a:rPr lang="zh-CN" altLang="en-US" sz="1500" i="1" dirty="0">
                                  <a:latin typeface="Cambria Math" panose="02040503050406030204" pitchFamily="18" charset="0"/>
                                </a:rPr>
                                <m:t>𝜆</m:t>
                              </m:r>
                            </m:e>
                          </m:d>
                          <m:r>
                            <a:rPr lang="zh-CN" altLang="en-US" sz="1500" i="1" dirty="0">
                              <a:latin typeface="Cambria Math" panose="02040503050406030204" pitchFamily="18" charset="0"/>
                            </a:rPr>
                            <m:t>𝑑</m:t>
                          </m:r>
                          <m:r>
                            <a:rPr lang="zh-CN" altLang="en-US" sz="1500" i="1" dirty="0">
                              <a:latin typeface="Cambria Math" panose="02040503050406030204" pitchFamily="18" charset="0"/>
                            </a:rPr>
                            <m:t>𝜆</m:t>
                          </m:r>
                        </m:e>
                      </m:nary>
                      <m:r>
                        <a:rPr lang="en-US" altLang="zh-CN" sz="1500" b="0" i="1" smtClean="0">
                          <a:latin typeface="Cambria Math" panose="02040503050406030204" pitchFamily="18" charset="0"/>
                        </a:rPr>
                        <m:t>=</m:t>
                      </m:r>
                      <m:nary>
                        <m:naryPr>
                          <m:limLoc m:val="undOvr"/>
                          <m:subHide m:val="on"/>
                          <m:supHide m:val="on"/>
                          <m:ctrlPr>
                            <a:rPr lang="en-US" altLang="zh-CN" sz="1500" i="1" dirty="0">
                              <a:latin typeface="Cambria Math" panose="02040503050406030204" pitchFamily="18" charset="0"/>
                              <a:ea typeface="Cambria Math" panose="02040503050406030204" pitchFamily="18" charset="0"/>
                            </a:rPr>
                          </m:ctrlPr>
                        </m:naryPr>
                        <m:sub/>
                        <m:sup/>
                        <m:e>
                          <m:sSup>
                            <m:sSupPr>
                              <m:ctrlPr>
                                <a:rPr lang="zh-CN" altLang="en-US" sz="1500" b="0" i="1" dirty="0" smtClean="0">
                                  <a:latin typeface="Cambria Math" panose="02040503050406030204" pitchFamily="18" charset="0"/>
                                  <a:ea typeface="Cambria Math" panose="02040503050406030204" pitchFamily="18" charset="0"/>
                                </a:rPr>
                              </m:ctrlPr>
                            </m:sSupPr>
                            <m:e>
                              <m:r>
                                <a:rPr lang="zh-CN" altLang="en-US" sz="1500" b="0" i="1" dirty="0" smtClean="0">
                                  <a:latin typeface="Cambria Math" panose="02040503050406030204" pitchFamily="18" charset="0"/>
                                  <a:ea typeface="Cambria Math" panose="02040503050406030204" pitchFamily="18" charset="0"/>
                                </a:rPr>
                                <m:t>𝐵</m:t>
                              </m:r>
                            </m:e>
                            <m:sup>
                              <m:r>
                                <a:rPr lang="en-US" altLang="zh-CN" sz="1500" b="0" i="1" dirty="0" smtClean="0">
                                  <a:latin typeface="Cambria Math" panose="02040503050406030204" pitchFamily="18" charset="0"/>
                                  <a:ea typeface="Cambria Math" panose="02040503050406030204" pitchFamily="18" charset="0"/>
                                </a:rPr>
                                <m:t>′</m:t>
                              </m:r>
                            </m:sup>
                          </m:sSup>
                          <m:d>
                            <m:dPr>
                              <m:ctrlPr>
                                <a:rPr lang="zh-CN" altLang="en-US" sz="1500" i="1" dirty="0">
                                  <a:latin typeface="Cambria Math" panose="02040503050406030204" pitchFamily="18" charset="0"/>
                                </a:rPr>
                              </m:ctrlPr>
                            </m:dPr>
                            <m:e>
                              <m:r>
                                <a:rPr lang="zh-CN" altLang="en-US" sz="1500" i="1" dirty="0">
                                  <a:latin typeface="Cambria Math" panose="02040503050406030204" pitchFamily="18" charset="0"/>
                                </a:rPr>
                                <m:t>𝜆</m:t>
                              </m:r>
                            </m:e>
                          </m:d>
                          <m:r>
                            <a:rPr lang="zh-CN" altLang="en-US" sz="1500" i="1" dirty="0">
                              <a:latin typeface="Cambria Math" panose="02040503050406030204" pitchFamily="18" charset="0"/>
                            </a:rPr>
                            <m:t>𝑑</m:t>
                          </m:r>
                          <m:r>
                            <a:rPr lang="zh-CN" altLang="en-US" sz="1500" i="1" dirty="0">
                              <a:latin typeface="Cambria Math" panose="02040503050406030204" pitchFamily="18" charset="0"/>
                            </a:rPr>
                            <m:t>𝜆</m:t>
                          </m:r>
                        </m:e>
                      </m:nary>
                      <m:r>
                        <a:rPr lang="en-US" altLang="zh-CN" sz="1500" b="0" i="1" smtClean="0">
                          <a:latin typeface="Cambria Math" panose="02040503050406030204" pitchFamily="18" charset="0"/>
                        </a:rPr>
                        <m:t>=</m:t>
                      </m:r>
                      <m:f>
                        <m:fPr>
                          <m:ctrlPr>
                            <a:rPr lang="en-US" altLang="zh-CN" sz="1500" b="0" i="1" smtClean="0">
                              <a:latin typeface="Cambria Math" panose="02040503050406030204" pitchFamily="18" charset="0"/>
                            </a:rPr>
                          </m:ctrlPr>
                        </m:fPr>
                        <m:num>
                          <m:sSub>
                            <m:sSubPr>
                              <m:ctrlPr>
                                <a:rPr lang="zh-CN" altLang="en-US" sz="1500" i="1">
                                  <a:latin typeface="Cambria Math" panose="02040503050406030204" pitchFamily="18" charset="0"/>
                                </a:rPr>
                              </m:ctrlPr>
                            </m:sSubPr>
                            <m:e>
                              <m:r>
                                <a:rPr lang="zh-CN" altLang="en-US" sz="1500" i="1">
                                  <a:latin typeface="Cambria Math" panose="02040503050406030204" pitchFamily="18" charset="0"/>
                                </a:rPr>
                                <m:t>𝑟</m:t>
                              </m:r>
                            </m:e>
                            <m:sub>
                              <m:r>
                                <a:rPr lang="zh-CN" altLang="en-US" sz="1500" i="1">
                                  <a:latin typeface="Cambria Math" panose="02040503050406030204" pitchFamily="18" charset="0"/>
                                </a:rPr>
                                <m:t>𝐸𝐸𝑊</m:t>
                              </m:r>
                            </m:sub>
                          </m:sSub>
                          <m:r>
                            <a:rPr lang="en-US" altLang="zh-CN" sz="1500" i="1">
                              <a:latin typeface="Cambria Math" panose="02040503050406030204" pitchFamily="18" charset="0"/>
                            </a:rPr>
                            <m:t>+</m:t>
                          </m:r>
                          <m:sSub>
                            <m:sSubPr>
                              <m:ctrlPr>
                                <a:rPr lang="zh-CN" altLang="en-US" sz="1500" i="1">
                                  <a:latin typeface="Cambria Math" panose="02040503050406030204" pitchFamily="18" charset="0"/>
                                </a:rPr>
                              </m:ctrlPr>
                            </m:sSubPr>
                            <m:e>
                              <m:r>
                                <a:rPr lang="zh-CN" altLang="en-US" sz="1500" i="1">
                                  <a:latin typeface="Cambria Math" panose="02040503050406030204" pitchFamily="18" charset="0"/>
                                </a:rPr>
                                <m:t>𝑔</m:t>
                              </m:r>
                            </m:e>
                            <m:sub>
                              <m:r>
                                <a:rPr lang="zh-CN" altLang="en-US" sz="1500" i="1">
                                  <a:latin typeface="Cambria Math" panose="02040503050406030204" pitchFamily="18" charset="0"/>
                                </a:rPr>
                                <m:t>𝐸𝐸𝑊</m:t>
                              </m:r>
                            </m:sub>
                          </m:sSub>
                          <m:r>
                            <a:rPr lang="en-US" altLang="zh-CN" sz="1500" i="1">
                              <a:latin typeface="Cambria Math" panose="02040503050406030204" pitchFamily="18" charset="0"/>
                            </a:rPr>
                            <m:t>+</m:t>
                          </m:r>
                          <m:sSub>
                            <m:sSubPr>
                              <m:ctrlPr>
                                <a:rPr lang="zh-CN" altLang="en-US" sz="1500" i="1">
                                  <a:latin typeface="Cambria Math" panose="02040503050406030204" pitchFamily="18" charset="0"/>
                                </a:rPr>
                              </m:ctrlPr>
                            </m:sSubPr>
                            <m:e>
                              <m:r>
                                <a:rPr lang="zh-CN" altLang="en-US" sz="1500" i="1">
                                  <a:latin typeface="Cambria Math" panose="02040503050406030204" pitchFamily="18" charset="0"/>
                                </a:rPr>
                                <m:t>𝑏</m:t>
                              </m:r>
                            </m:e>
                            <m:sub>
                              <m:r>
                                <a:rPr lang="zh-CN" altLang="en-US" sz="1500" i="1">
                                  <a:latin typeface="Cambria Math" panose="02040503050406030204" pitchFamily="18" charset="0"/>
                                </a:rPr>
                                <m:t>𝐸𝐸𝑊</m:t>
                              </m:r>
                            </m:sub>
                          </m:sSub>
                        </m:num>
                        <m:den>
                          <m:r>
                            <a:rPr lang="en-US" altLang="zh-CN" sz="1500" b="0" i="1" smtClean="0">
                              <a:latin typeface="Cambria Math" panose="02040503050406030204" pitchFamily="18" charset="0"/>
                            </a:rPr>
                            <m:t>3</m:t>
                          </m:r>
                        </m:den>
                      </m:f>
                      <m:r>
                        <a:rPr lang="en-US" altLang="zh-CN" sz="1500" b="0" i="1" smtClean="0">
                          <a:latin typeface="Cambria Math" panose="02040503050406030204" pitchFamily="18" charset="0"/>
                        </a:rPr>
                        <m:t>=</m:t>
                      </m:r>
                      <m:f>
                        <m:fPr>
                          <m:ctrlPr>
                            <a:rPr lang="en-US" altLang="zh-CN" sz="1500" b="0" i="1" smtClean="0">
                              <a:latin typeface="Cambria Math" panose="02040503050406030204" pitchFamily="18" charset="0"/>
                            </a:rPr>
                          </m:ctrlPr>
                        </m:fPr>
                        <m:num>
                          <m:r>
                            <a:rPr lang="en-US" altLang="zh-CN" sz="1500" b="0" i="1" smtClean="0">
                              <a:latin typeface="Cambria Math" panose="02040503050406030204" pitchFamily="18" charset="0"/>
                            </a:rPr>
                            <m:t>1</m:t>
                          </m:r>
                        </m:num>
                        <m:den>
                          <m:r>
                            <a:rPr lang="en-US" altLang="zh-CN" sz="1500" b="0" i="1" smtClean="0">
                              <a:latin typeface="Cambria Math" panose="02040503050406030204" pitchFamily="18" charset="0"/>
                            </a:rPr>
                            <m:t>3</m:t>
                          </m:r>
                        </m:den>
                      </m:f>
                      <m:nary>
                        <m:naryPr>
                          <m:limLoc m:val="undOvr"/>
                          <m:subHide m:val="on"/>
                          <m:supHide m:val="on"/>
                          <m:ctrlPr>
                            <a:rPr lang="en-US" altLang="zh-CN" sz="1500" b="0" i="1" smtClean="0">
                              <a:latin typeface="Cambria Math" panose="02040503050406030204" pitchFamily="18" charset="0"/>
                            </a:rPr>
                          </m:ctrlPr>
                        </m:naryPr>
                        <m:sub/>
                        <m:sup/>
                        <m:e>
                          <m:f>
                            <m:fPr>
                              <m:ctrlPr>
                                <a:rPr lang="en-US" altLang="zh-CN" sz="1500" i="1" dirty="0">
                                  <a:latin typeface="Cambria Math" panose="02040503050406030204" pitchFamily="18" charset="0"/>
                                </a:rPr>
                              </m:ctrlPr>
                            </m:fPr>
                            <m:num>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𝑟</m:t>
                                  </m:r>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𝜆</m:t>
                                      </m:r>
                                    </m:e>
                                  </m:d>
                                  <m:r>
                                    <a:rPr lang="en-US" altLang="zh-CN" sz="1500" i="1" dirty="0">
                                      <a:latin typeface="Cambria Math" panose="02040503050406030204" pitchFamily="18" charset="0"/>
                                    </a:rPr>
                                    <m:t>+</m:t>
                                  </m:r>
                                  <m:r>
                                    <a:rPr lang="en-US" altLang="zh-CN" sz="1500" i="1" dirty="0">
                                      <a:latin typeface="Cambria Math" panose="02040503050406030204" pitchFamily="18" charset="0"/>
                                    </a:rPr>
                                    <m:t>𝑔</m:t>
                                  </m:r>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𝜆</m:t>
                                      </m:r>
                                    </m:e>
                                  </m:d>
                                  <m:r>
                                    <a:rPr lang="en-US" altLang="zh-CN" sz="1500" i="1" dirty="0">
                                      <a:latin typeface="Cambria Math" panose="02040503050406030204" pitchFamily="18" charset="0"/>
                                    </a:rPr>
                                    <m:t>+</m:t>
                                  </m:r>
                                  <m:r>
                                    <a:rPr lang="en-US" altLang="zh-CN" sz="1500" i="1" dirty="0">
                                      <a:latin typeface="Cambria Math" panose="02040503050406030204" pitchFamily="18" charset="0"/>
                                    </a:rPr>
                                    <m:t>𝑏</m:t>
                                  </m:r>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𝜆</m:t>
                                      </m:r>
                                    </m:e>
                                  </m:d>
                                </m:e>
                              </m:d>
                              <m:r>
                                <a:rPr lang="en-US" altLang="zh-CN" sz="1500" i="1" dirty="0">
                                  <a:latin typeface="Cambria Math" panose="02040503050406030204" pitchFamily="18" charset="0"/>
                                </a:rPr>
                                <m:t>𝑉</m:t>
                              </m:r>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𝜆</m:t>
                                  </m:r>
                                </m:e>
                              </m:d>
                            </m:num>
                            <m:den>
                              <m:r>
                                <a:rPr lang="en-US" altLang="zh-CN" sz="1500" i="1" dirty="0">
                                  <a:latin typeface="Cambria Math" panose="02040503050406030204" pitchFamily="18" charset="0"/>
                                </a:rPr>
                                <m:t>𝑁</m:t>
                              </m:r>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𝑟</m:t>
                                  </m:r>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𝜆</m:t>
                                      </m:r>
                                    </m:e>
                                  </m:d>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𝐿</m:t>
                                      </m:r>
                                    </m:e>
                                    <m:sub>
                                      <m:r>
                                        <a:rPr lang="en-US" altLang="zh-CN" sz="1500" i="1" dirty="0">
                                          <a:latin typeface="Cambria Math" panose="02040503050406030204" pitchFamily="18" charset="0"/>
                                        </a:rPr>
                                        <m:t>𝑅</m:t>
                                      </m:r>
                                    </m:sub>
                                  </m:sSub>
                                  <m:r>
                                    <a:rPr lang="en-US" altLang="zh-CN" sz="1500" i="1" dirty="0">
                                      <a:latin typeface="Cambria Math" panose="02040503050406030204" pitchFamily="18" charset="0"/>
                                    </a:rPr>
                                    <m:t>+</m:t>
                                  </m:r>
                                  <m:r>
                                    <a:rPr lang="en-US" altLang="zh-CN" sz="1500" i="1" dirty="0">
                                      <a:latin typeface="Cambria Math" panose="02040503050406030204" pitchFamily="18" charset="0"/>
                                    </a:rPr>
                                    <m:t>𝑔</m:t>
                                  </m:r>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𝜆</m:t>
                                      </m:r>
                                    </m:e>
                                  </m:d>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𝐿</m:t>
                                      </m:r>
                                    </m:e>
                                    <m:sub>
                                      <m:r>
                                        <a:rPr lang="en-US" altLang="zh-CN" sz="1500" i="1" dirty="0">
                                          <a:latin typeface="Cambria Math" panose="02040503050406030204" pitchFamily="18" charset="0"/>
                                        </a:rPr>
                                        <m:t>𝐺</m:t>
                                      </m:r>
                                    </m:sub>
                                  </m:sSub>
                                  <m:r>
                                    <a:rPr lang="en-US" altLang="zh-CN" sz="1500" i="1" dirty="0">
                                      <a:latin typeface="Cambria Math" panose="02040503050406030204" pitchFamily="18" charset="0"/>
                                    </a:rPr>
                                    <m:t>+</m:t>
                                  </m:r>
                                  <m:r>
                                    <a:rPr lang="en-US" altLang="zh-CN" sz="1500" i="1" dirty="0">
                                      <a:latin typeface="Cambria Math" panose="02040503050406030204" pitchFamily="18" charset="0"/>
                                    </a:rPr>
                                    <m:t>𝑏</m:t>
                                  </m:r>
                                  <m:d>
                                    <m:dPr>
                                      <m:ctrlPr>
                                        <a:rPr lang="en-US" altLang="zh-CN" sz="1500" i="1" dirty="0">
                                          <a:latin typeface="Cambria Math" panose="02040503050406030204" pitchFamily="18" charset="0"/>
                                        </a:rPr>
                                      </m:ctrlPr>
                                    </m:dPr>
                                    <m:e>
                                      <m:r>
                                        <a:rPr lang="en-US" altLang="zh-CN" sz="1500" i="1" dirty="0">
                                          <a:latin typeface="Cambria Math" panose="02040503050406030204" pitchFamily="18" charset="0"/>
                                        </a:rPr>
                                        <m:t>𝜆</m:t>
                                      </m:r>
                                    </m:e>
                                  </m:d>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𝐿</m:t>
                                      </m:r>
                                    </m:e>
                                    <m:sub>
                                      <m:r>
                                        <a:rPr lang="en-US" altLang="zh-CN" sz="1500" i="1" dirty="0">
                                          <a:latin typeface="Cambria Math" panose="02040503050406030204" pitchFamily="18" charset="0"/>
                                        </a:rPr>
                                        <m:t>𝐵</m:t>
                                      </m:r>
                                    </m:sub>
                                  </m:sSub>
                                </m:e>
                              </m:d>
                            </m:den>
                          </m:f>
                          <m:r>
                            <a:rPr lang="en-US" altLang="zh-CN" sz="1500" b="0" i="1" dirty="0" smtClean="0">
                              <a:latin typeface="Cambria Math" panose="02040503050406030204" pitchFamily="18" charset="0"/>
                            </a:rPr>
                            <m:t>𝑑</m:t>
                          </m:r>
                          <m:r>
                            <a:rPr lang="en-US" altLang="zh-CN" sz="1500" b="0" i="1" dirty="0" smtClean="0">
                              <a:latin typeface="Cambria Math" panose="02040503050406030204" pitchFamily="18" charset="0"/>
                            </a:rPr>
                            <m:t>𝜆</m:t>
                          </m:r>
                        </m:e>
                      </m:nary>
                      <m:r>
                        <a:rPr lang="en-US" altLang="zh-CN" sz="1500" b="0" i="1" smtClean="0">
                          <a:latin typeface="Cambria Math" panose="02040503050406030204" pitchFamily="18" charset="0"/>
                        </a:rPr>
                        <m:t>=</m:t>
                      </m:r>
                      <m:f>
                        <m:fPr>
                          <m:ctrlPr>
                            <a:rPr lang="en-US" altLang="zh-CN" sz="1500" b="0" i="1" smtClean="0">
                              <a:latin typeface="Cambria Math" panose="02040503050406030204" pitchFamily="18" charset="0"/>
                            </a:rPr>
                          </m:ctrlPr>
                        </m:fPr>
                        <m:num>
                          <m:r>
                            <a:rPr lang="en-US" altLang="zh-CN" sz="1500" b="0" i="1" smtClean="0">
                              <a:latin typeface="Cambria Math" panose="02040503050406030204" pitchFamily="18" charset="0"/>
                            </a:rPr>
                            <m:t>1</m:t>
                          </m:r>
                        </m:num>
                        <m:den>
                          <m:r>
                            <a:rPr lang="en-US" altLang="zh-CN" sz="1500" b="0" i="1" smtClean="0">
                              <a:latin typeface="Cambria Math" panose="02040503050406030204" pitchFamily="18" charset="0"/>
                            </a:rPr>
                            <m:t>3</m:t>
                          </m:r>
                          <m:r>
                            <a:rPr lang="zh-CN" altLang="en-US" sz="1500" b="0" i="1" smtClean="0">
                              <a:latin typeface="Cambria Math" panose="02040503050406030204" pitchFamily="18" charset="0"/>
                            </a:rPr>
                            <m:t>𝑁</m:t>
                          </m:r>
                        </m:den>
                      </m:f>
                      <m:nary>
                        <m:naryPr>
                          <m:limLoc m:val="undOvr"/>
                          <m:subHide m:val="on"/>
                          <m:supHide m:val="on"/>
                          <m:ctrlPr>
                            <a:rPr lang="en-US" altLang="zh-CN" sz="1500" b="0" i="1" smtClean="0">
                              <a:latin typeface="Cambria Math" panose="02040503050406030204" pitchFamily="18" charset="0"/>
                            </a:rPr>
                          </m:ctrlPr>
                        </m:naryPr>
                        <m:sub/>
                        <m:sup/>
                        <m:e>
                          <m:f>
                            <m:fPr>
                              <m:ctrlPr>
                                <a:rPr lang="zh-CN" altLang="en-US" sz="1500" i="1" dirty="0">
                                  <a:latin typeface="Cambria Math" panose="02040503050406030204" pitchFamily="18" charset="0"/>
                                </a:rPr>
                              </m:ctrlPr>
                            </m:fPr>
                            <m:num>
                              <m:r>
                                <a:rPr lang="zh-CN" altLang="en-US" sz="1500" i="1" dirty="0">
                                  <a:latin typeface="Cambria Math" panose="02040503050406030204" pitchFamily="18" charset="0"/>
                                </a:rPr>
                                <m:t>𝑉</m:t>
                              </m:r>
                              <m:d>
                                <m:dPr>
                                  <m:ctrlPr>
                                    <a:rPr lang="zh-CN" altLang="en-US" sz="1500" i="1" dirty="0">
                                      <a:latin typeface="Cambria Math" panose="02040503050406030204" pitchFamily="18" charset="0"/>
                                    </a:rPr>
                                  </m:ctrlPr>
                                </m:dPr>
                                <m:e>
                                  <m:r>
                                    <a:rPr lang="zh-CN" altLang="en-US" sz="1500" i="1" dirty="0">
                                      <a:latin typeface="Cambria Math" panose="02040503050406030204" pitchFamily="18" charset="0"/>
                                    </a:rPr>
                                    <m:t>𝜆</m:t>
                                  </m:r>
                                </m:e>
                              </m:d>
                            </m:num>
                            <m:den>
                              <m:r>
                                <a:rPr lang="zh-CN" altLang="en-US" sz="1500" i="1" dirty="0">
                                  <a:latin typeface="Cambria Math" panose="02040503050406030204" pitchFamily="18" charset="0"/>
                                </a:rPr>
                                <m:t>𝑟</m:t>
                              </m:r>
                              <m:d>
                                <m:dPr>
                                  <m:ctrlPr>
                                    <a:rPr lang="zh-CN" altLang="en-US" sz="1500" i="1" dirty="0">
                                      <a:latin typeface="Cambria Math" panose="02040503050406030204" pitchFamily="18" charset="0"/>
                                    </a:rPr>
                                  </m:ctrlPr>
                                </m:dPr>
                                <m:e>
                                  <m:r>
                                    <a:rPr lang="zh-CN" altLang="en-US" sz="1500" i="1" dirty="0">
                                      <a:latin typeface="Cambria Math" panose="02040503050406030204" pitchFamily="18" charset="0"/>
                                    </a:rPr>
                                    <m:t>𝜆</m:t>
                                  </m:r>
                                </m:e>
                              </m:d>
                              <m:sSub>
                                <m:sSubPr>
                                  <m:ctrlPr>
                                    <a:rPr lang="zh-CN" altLang="en-US" sz="1500" i="1" dirty="0">
                                      <a:latin typeface="Cambria Math" panose="02040503050406030204" pitchFamily="18" charset="0"/>
                                    </a:rPr>
                                  </m:ctrlPr>
                                </m:sSubPr>
                                <m:e>
                                  <m:r>
                                    <a:rPr lang="zh-CN" altLang="en-US" sz="1500" i="1" dirty="0">
                                      <a:latin typeface="Cambria Math" panose="02040503050406030204" pitchFamily="18" charset="0"/>
                                    </a:rPr>
                                    <m:t>𝐿</m:t>
                                  </m:r>
                                </m:e>
                                <m:sub>
                                  <m:r>
                                    <a:rPr lang="zh-CN" altLang="en-US" sz="1500" i="1" dirty="0">
                                      <a:latin typeface="Cambria Math" panose="02040503050406030204" pitchFamily="18" charset="0"/>
                                    </a:rPr>
                                    <m:t>𝑅</m:t>
                                  </m:r>
                                </m:sub>
                              </m:sSub>
                              <m:r>
                                <a:rPr lang="en-US" altLang="zh-CN" sz="1500" i="1" dirty="0">
                                  <a:latin typeface="Cambria Math" panose="02040503050406030204" pitchFamily="18" charset="0"/>
                                </a:rPr>
                                <m:t>+</m:t>
                              </m:r>
                              <m:r>
                                <a:rPr lang="zh-CN" altLang="en-US" sz="1500" i="1" dirty="0">
                                  <a:latin typeface="Cambria Math" panose="02040503050406030204" pitchFamily="18" charset="0"/>
                                </a:rPr>
                                <m:t>𝑔</m:t>
                              </m:r>
                              <m:d>
                                <m:dPr>
                                  <m:ctrlPr>
                                    <a:rPr lang="zh-CN" altLang="en-US" sz="1500" i="1" dirty="0">
                                      <a:latin typeface="Cambria Math" panose="02040503050406030204" pitchFamily="18" charset="0"/>
                                    </a:rPr>
                                  </m:ctrlPr>
                                </m:dPr>
                                <m:e>
                                  <m:r>
                                    <a:rPr lang="zh-CN" altLang="en-US" sz="1500" i="1" dirty="0">
                                      <a:latin typeface="Cambria Math" panose="02040503050406030204" pitchFamily="18" charset="0"/>
                                    </a:rPr>
                                    <m:t>𝜆</m:t>
                                  </m:r>
                                </m:e>
                              </m:d>
                              <m:sSub>
                                <m:sSubPr>
                                  <m:ctrlPr>
                                    <a:rPr lang="zh-CN" altLang="en-US" sz="1500" i="1" dirty="0">
                                      <a:latin typeface="Cambria Math" panose="02040503050406030204" pitchFamily="18" charset="0"/>
                                    </a:rPr>
                                  </m:ctrlPr>
                                </m:sSubPr>
                                <m:e>
                                  <m:r>
                                    <a:rPr lang="zh-CN" altLang="en-US" sz="1500" i="1" dirty="0">
                                      <a:latin typeface="Cambria Math" panose="02040503050406030204" pitchFamily="18" charset="0"/>
                                    </a:rPr>
                                    <m:t>𝐿</m:t>
                                  </m:r>
                                </m:e>
                                <m:sub>
                                  <m:r>
                                    <a:rPr lang="zh-CN" altLang="en-US" sz="1500" i="1" dirty="0">
                                      <a:latin typeface="Cambria Math" panose="02040503050406030204" pitchFamily="18" charset="0"/>
                                    </a:rPr>
                                    <m:t>𝐺</m:t>
                                  </m:r>
                                </m:sub>
                              </m:sSub>
                              <m:r>
                                <a:rPr lang="en-US" altLang="zh-CN" sz="1500" i="1" dirty="0">
                                  <a:latin typeface="Cambria Math" panose="02040503050406030204" pitchFamily="18" charset="0"/>
                                </a:rPr>
                                <m:t>+</m:t>
                              </m:r>
                              <m:r>
                                <a:rPr lang="zh-CN" altLang="en-US" sz="1500" i="1" dirty="0">
                                  <a:latin typeface="Cambria Math" panose="02040503050406030204" pitchFamily="18" charset="0"/>
                                </a:rPr>
                                <m:t>𝑏</m:t>
                              </m:r>
                              <m:d>
                                <m:dPr>
                                  <m:ctrlPr>
                                    <a:rPr lang="zh-CN" altLang="en-US" sz="1500" i="1" dirty="0">
                                      <a:latin typeface="Cambria Math" panose="02040503050406030204" pitchFamily="18" charset="0"/>
                                    </a:rPr>
                                  </m:ctrlPr>
                                </m:dPr>
                                <m:e>
                                  <m:r>
                                    <a:rPr lang="zh-CN" altLang="en-US" sz="1500" i="1" dirty="0">
                                      <a:latin typeface="Cambria Math" panose="02040503050406030204" pitchFamily="18" charset="0"/>
                                    </a:rPr>
                                    <m:t>𝜆</m:t>
                                  </m:r>
                                </m:e>
                              </m:d>
                              <m:sSub>
                                <m:sSubPr>
                                  <m:ctrlPr>
                                    <a:rPr lang="zh-CN" altLang="en-US" sz="1500" i="1" dirty="0">
                                      <a:latin typeface="Cambria Math" panose="02040503050406030204" pitchFamily="18" charset="0"/>
                                    </a:rPr>
                                  </m:ctrlPr>
                                </m:sSubPr>
                                <m:e>
                                  <m:r>
                                    <a:rPr lang="zh-CN" altLang="en-US" sz="1500" i="1" dirty="0">
                                      <a:latin typeface="Cambria Math" panose="02040503050406030204" pitchFamily="18" charset="0"/>
                                    </a:rPr>
                                    <m:t>𝐿</m:t>
                                  </m:r>
                                </m:e>
                                <m:sub>
                                  <m:r>
                                    <a:rPr lang="zh-CN" altLang="en-US" sz="1500" i="1" dirty="0">
                                      <a:latin typeface="Cambria Math" panose="02040503050406030204" pitchFamily="18" charset="0"/>
                                    </a:rPr>
                                    <m:t>𝐵</m:t>
                                  </m:r>
                                </m:sub>
                              </m:sSub>
                            </m:den>
                          </m:f>
                          <m:r>
                            <a:rPr lang="en-US" altLang="zh-CN" sz="1500" b="0" i="1" dirty="0" smtClean="0">
                              <a:latin typeface="Cambria Math" panose="02040503050406030204" pitchFamily="18" charset="0"/>
                            </a:rPr>
                            <m:t>𝑑</m:t>
                          </m:r>
                          <m:r>
                            <a:rPr lang="en-US" altLang="zh-CN" sz="1500" b="0" i="1" dirty="0" smtClean="0">
                              <a:latin typeface="Cambria Math" panose="02040503050406030204" pitchFamily="18" charset="0"/>
                            </a:rPr>
                            <m:t>𝜆</m:t>
                          </m:r>
                        </m:e>
                      </m:nary>
                    </m:oMath>
                  </m:oMathPara>
                </a14:m>
                <a:endParaRPr lang="en-US" altLang="zh-CN" sz="1500"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CA421D34-C928-5C72-FEE7-F2C984282C11}"/>
                  </a:ext>
                </a:extLst>
              </p:cNvPr>
              <p:cNvSpPr txBox="1">
                <a:spLocks noRot="1" noChangeAspect="1" noMove="1" noResize="1" noEditPoints="1" noAdjustHandles="1" noChangeArrowheads="1" noChangeShapeType="1" noTextEdit="1"/>
              </p:cNvSpPr>
              <p:nvPr/>
            </p:nvSpPr>
            <p:spPr>
              <a:xfrm>
                <a:off x="231732" y="1954731"/>
                <a:ext cx="11818305" cy="4301049"/>
              </a:xfrm>
              <a:prstGeom prst="rect">
                <a:avLst/>
              </a:prstGeom>
              <a:blipFill>
                <a:blip r:embed="rId2"/>
                <a:stretch>
                  <a:fillRect l="-25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CF680444-F776-4280-CD8A-E9A12ACFB1F8}"/>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Distribution Curves</a:t>
            </a:r>
            <a:endParaRPr lang="zh-CN" altLang="en-US" sz="11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647124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1068-796C-F22F-C3B5-EECEA1CF5B5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44827D9-0BF9-BFA3-DFDE-59D4C1587D39}"/>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1D18788-13F1-327A-4678-66C6E2A0BB7A}"/>
                  </a:ext>
                </a:extLst>
              </p:cNvPr>
              <p:cNvSpPr txBox="1"/>
              <p:nvPr/>
            </p:nvSpPr>
            <p:spPr>
              <a:xfrm>
                <a:off x="350729" y="1954731"/>
                <a:ext cx="11611627" cy="1095877"/>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nary>
                        <m:naryPr>
                          <m:limLoc m:val="undOvr"/>
                          <m:subHide m:val="on"/>
                          <m:supHide m:val="on"/>
                          <m:ctrlPr>
                            <a:rPr lang="en-US" altLang="zh-CN" i="1" dirty="0" smtClean="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𝑅</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i="1">
                          <a:latin typeface="Cambria Math" panose="02040503050406030204" pitchFamily="18" charset="0"/>
                        </a:rPr>
                        <m:t>=</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ea typeface="Cambria Math" panose="02040503050406030204" pitchFamily="18" charset="0"/>
                                </a:rPr>
                              </m:ctrlPr>
                            </m:sSupPr>
                            <m:e>
                              <m:r>
                                <a:rPr lang="zh-CN" altLang="en-US" i="1" dirty="0">
                                  <a:latin typeface="Cambria Math" panose="02040503050406030204" pitchFamily="18" charset="0"/>
                                  <a:ea typeface="Cambria Math" panose="02040503050406030204" pitchFamily="18" charset="0"/>
                                </a:rPr>
                                <m:t>𝐺</m:t>
                              </m:r>
                            </m:e>
                            <m:sup>
                              <m:r>
                                <a:rPr lang="en-US" altLang="zh-CN" i="1" dirty="0">
                                  <a:latin typeface="Cambria Math" panose="02040503050406030204" pitchFamily="18" charset="0"/>
                                  <a:ea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i="1">
                          <a:latin typeface="Cambria Math" panose="02040503050406030204" pitchFamily="18" charset="0"/>
                        </a:rPr>
                        <m:t>=</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ea typeface="Cambria Math" panose="02040503050406030204" pitchFamily="18" charset="0"/>
                                </a:rPr>
                              </m:ctrlPr>
                            </m:sSupPr>
                            <m:e>
                              <m:r>
                                <a:rPr lang="zh-CN" altLang="en-US" i="1" dirty="0">
                                  <a:latin typeface="Cambria Math" panose="02040503050406030204" pitchFamily="18" charset="0"/>
                                  <a:ea typeface="Cambria Math" panose="02040503050406030204" pitchFamily="18" charset="0"/>
                                </a:rPr>
                                <m:t>𝐵</m:t>
                              </m:r>
                            </m:e>
                            <m:sup>
                              <m:r>
                                <a:rPr lang="en-US" altLang="zh-CN" i="1" dirty="0">
                                  <a:latin typeface="Cambria Math" panose="02040503050406030204" pitchFamily="18" charset="0"/>
                                  <a:ea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b="0" i="1" smtClean="0">
                              <a:latin typeface="Cambria Math" panose="02040503050406030204" pitchFamily="18" charset="0"/>
                            </a:rPr>
                            <m:t>3</m:t>
                          </m:r>
                          <m:r>
                            <a:rPr lang="zh-CN" altLang="en-US" i="1">
                              <a:latin typeface="Cambria Math" panose="02040503050406030204" pitchFamily="18" charset="0"/>
                            </a:rPr>
                            <m:t>𝑁</m:t>
                          </m:r>
                        </m:den>
                      </m:f>
                      <m:nary>
                        <m:naryPr>
                          <m:limLoc m:val="undOvr"/>
                          <m:subHide m:val="on"/>
                          <m:supHide m:val="on"/>
                          <m:ctrlPr>
                            <a:rPr lang="en-US" altLang="zh-CN" i="1">
                              <a:latin typeface="Cambria Math" panose="02040503050406030204" pitchFamily="18" charset="0"/>
                            </a:rPr>
                          </m:ctrlPr>
                        </m:naryPr>
                        <m:sub/>
                        <m:sup/>
                        <m:e>
                          <m:f>
                            <m:fPr>
                              <m:ctrlPr>
                                <a:rPr lang="zh-CN" altLang="en-US" i="1" dirty="0">
                                  <a:latin typeface="Cambria Math" panose="02040503050406030204" pitchFamily="18" charset="0"/>
                                </a:rPr>
                              </m:ctrlPr>
                            </m:fPr>
                            <m:num>
                              <m:r>
                                <a:rPr lang="zh-CN" altLang="en-US" i="1" dirty="0">
                                  <a:latin typeface="Cambria Math" panose="02040503050406030204" pitchFamily="18" charset="0"/>
                                </a:rPr>
                                <m:t>𝑉</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num>
                            <m:den>
                              <m:r>
                                <a:rPr lang="zh-CN" altLang="en-US" i="1" dirty="0">
                                  <a:latin typeface="Cambria Math" panose="02040503050406030204" pitchFamily="18" charset="0"/>
                                </a:rPr>
                                <m:t>𝑟</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𝑅</m:t>
                                  </m:r>
                                </m:sub>
                              </m:sSub>
                              <m:r>
                                <a:rPr lang="en-US" altLang="zh-CN" i="1" dirty="0">
                                  <a:latin typeface="Cambria Math" panose="02040503050406030204" pitchFamily="18" charset="0"/>
                                </a:rPr>
                                <m:t>+</m:t>
                              </m:r>
                              <m:r>
                                <a:rPr lang="zh-CN" altLang="en-US" i="1" dirty="0">
                                  <a:latin typeface="Cambria Math" panose="02040503050406030204" pitchFamily="18" charset="0"/>
                                </a:rPr>
                                <m:t>𝑔</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𝐺</m:t>
                                  </m:r>
                                </m:sub>
                              </m:sSub>
                              <m:r>
                                <a:rPr lang="en-US" altLang="zh-CN" i="1" dirty="0">
                                  <a:latin typeface="Cambria Math" panose="02040503050406030204" pitchFamily="18" charset="0"/>
                                </a:rPr>
                                <m:t>+</m:t>
                              </m:r>
                              <m:r>
                                <a:rPr lang="zh-CN" altLang="en-US" i="1" dirty="0">
                                  <a:latin typeface="Cambria Math" panose="02040503050406030204" pitchFamily="18" charset="0"/>
                                </a:rPr>
                                <m:t>𝑏</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𝐵</m:t>
                                  </m:r>
                                </m:sub>
                              </m:sSub>
                            </m:den>
                          </m:f>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en-US" altLang="zh-CN" b="1" dirty="0">
                    <a:latin typeface="Noto Sans SC" panose="020B0200000000000000" pitchFamily="34" charset="-122"/>
                    <a:ea typeface="Noto Sans SC" panose="020B0200000000000000" pitchFamily="34" charset="-122"/>
                  </a:rPr>
                  <a:t>N</a:t>
                </a:r>
                <a:r>
                  <a:rPr lang="zh-CN" altLang="en-US" b="1" dirty="0">
                    <a:latin typeface="Noto Sans SC" panose="020B0200000000000000" pitchFamily="34" charset="-122"/>
                    <a:ea typeface="Noto Sans SC" panose="020B0200000000000000" pitchFamily="34" charset="-122"/>
                  </a:rPr>
                  <a:t>应该是多少？</a:t>
                </a:r>
                <a:endParaRPr lang="en-US" altLang="zh-CN" b="1"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31D18788-13F1-327A-4678-66C6E2A0BB7A}"/>
                  </a:ext>
                </a:extLst>
              </p:cNvPr>
              <p:cNvSpPr txBox="1">
                <a:spLocks noRot="1" noChangeAspect="1" noMove="1" noResize="1" noEditPoints="1" noAdjustHandles="1" noChangeArrowheads="1" noChangeShapeType="1" noTextEdit="1"/>
              </p:cNvSpPr>
              <p:nvPr/>
            </p:nvSpPr>
            <p:spPr>
              <a:xfrm>
                <a:off x="350729" y="1954731"/>
                <a:ext cx="11611627" cy="1095877"/>
              </a:xfrm>
              <a:prstGeom prst="rect">
                <a:avLst/>
              </a:prstGeom>
              <a:blipFill>
                <a:blip r:embed="rId2"/>
                <a:stretch>
                  <a:fillRect l="-473" b="-838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A153ED30-1DB6-442B-8656-A7D3156B54FF}"/>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Distribution Curves</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C1553B5-28D6-49AC-2B0F-041EFA9D7C4B}"/>
                  </a:ext>
                </a:extLst>
              </p:cNvPr>
              <p:cNvSpPr txBox="1"/>
              <p:nvPr/>
            </p:nvSpPr>
            <p:spPr>
              <a:xfrm>
                <a:off x="7232216" y="3501379"/>
                <a:ext cx="4577740" cy="2585323"/>
              </a:xfrm>
              <a:prstGeom prst="rect">
                <a:avLst/>
              </a:prstGeom>
              <a:noFill/>
            </p:spPr>
            <p:txBody>
              <a:bodyPr wrap="square">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最后，</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将自己和</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的实验数据合并，之后的他计算得到的亮度比例为：</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1 :4.390 :0.048</m:t>
                      </m:r>
                    </m:oMath>
                  </m:oMathPara>
                </a14:m>
                <a:endParaRPr lang="en-US" altLang="zh-CN"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即</m:t>
                      </m:r>
                      <m:r>
                        <a:rPr lang="zh-CN" altLang="en-US"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=1,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𝐺</m:t>
                          </m:r>
                        </m:sub>
                      </m:sSub>
                      <m:r>
                        <a:rPr lang="en-US" altLang="zh-CN" b="0" i="1" smtClean="0">
                          <a:latin typeface="Cambria Math" panose="02040503050406030204" pitchFamily="18" charset="0"/>
                        </a:rPr>
                        <m:t>=4.39,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=0.048</m:t>
                      </m:r>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已知，匹配一定亮度的单色光</a:t>
                </a:r>
                <a:r>
                  <a:rPr lang="en-US" altLang="zh-CN" dirty="0">
                    <a:latin typeface="Noto Sans SC" panose="020B0200000000000000" pitchFamily="34" charset="-122"/>
                    <a:ea typeface="Noto Sans SC" panose="020B0200000000000000" pitchFamily="34" charset="-122"/>
                  </a:rPr>
                  <a:t>λ</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b="0" i="1" dirty="0" smtClean="0">
                              <a:latin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𝑟</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1" i="1" dirty="0">
                          <a:latin typeface="Cambria Math" panose="02040503050406030204" pitchFamily="18" charset="0"/>
                        </a:rPr>
                        <m:t>𝑹</m:t>
                      </m:r>
                      <m:r>
                        <a:rPr lang="en-US" altLang="zh-CN" i="1" dirty="0">
                          <a:latin typeface="Cambria Math" panose="02040503050406030204" pitchFamily="18" charset="0"/>
                        </a:rPr>
                        <m:t>+</m:t>
                      </m:r>
                      <m:r>
                        <a:rPr lang="en-US" altLang="zh-CN" i="1" dirty="0">
                          <a:latin typeface="Cambria Math" panose="02040503050406030204" pitchFamily="18" charset="0"/>
                        </a:rPr>
                        <m:t>𝑔</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1" i="1" dirty="0">
                          <a:latin typeface="Cambria Math" panose="02040503050406030204" pitchFamily="18" charset="0"/>
                        </a:rPr>
                        <m:t>𝑮</m:t>
                      </m:r>
                      <m:r>
                        <a:rPr lang="en-US" altLang="zh-CN" i="1" dirty="0">
                          <a:latin typeface="Cambria Math" panose="02040503050406030204" pitchFamily="18" charset="0"/>
                        </a:rPr>
                        <m:t>+</m:t>
                      </m:r>
                      <m:r>
                        <a:rPr lang="en-US" altLang="zh-CN" i="1" dirty="0">
                          <a:latin typeface="Cambria Math" panose="02040503050406030204" pitchFamily="18" charset="0"/>
                        </a:rPr>
                        <m:t>𝑏</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1" i="1" dirty="0">
                          <a:latin typeface="Cambria Math" panose="02040503050406030204" pitchFamily="18" charset="0"/>
                        </a:rPr>
                        <m:t>𝑩</m:t>
                      </m:r>
                    </m:oMath>
                  </m:oMathPara>
                </a14:m>
                <a:endParaRPr lang="en-US" altLang="zh-CN" b="1" dirty="0">
                  <a:latin typeface="Noto Sans SC" panose="020B0200000000000000" pitchFamily="34" charset="-122"/>
                  <a:ea typeface="Noto Sans SC" panose="020B0200000000000000" pitchFamily="34" charset="-122"/>
                </a:endParaRPr>
              </a:p>
              <a:p>
                <a:pPr algn="just"/>
                <a:r>
                  <a:rPr lang="en-US" altLang="zh-CN" b="1"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计算得到总亮度：</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𝜆</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𝑁</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𝑟</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𝑅</m:t>
                              </m:r>
                            </m:sub>
                          </m:sSub>
                          <m:r>
                            <a:rPr lang="en-US" altLang="zh-CN" i="1" dirty="0">
                              <a:latin typeface="Cambria Math" panose="02040503050406030204" pitchFamily="18" charset="0"/>
                            </a:rPr>
                            <m:t>+</m:t>
                          </m:r>
                          <m:r>
                            <a:rPr lang="en-US" altLang="zh-CN" i="1" dirty="0">
                              <a:latin typeface="Cambria Math" panose="02040503050406030204" pitchFamily="18" charset="0"/>
                            </a:rPr>
                            <m:t>𝑔</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𝐺</m:t>
                              </m:r>
                            </m:sub>
                          </m:sSub>
                          <m:r>
                            <a:rPr lang="en-US" altLang="zh-CN" i="1" dirty="0">
                              <a:latin typeface="Cambria Math" panose="02040503050406030204" pitchFamily="18" charset="0"/>
                            </a:rPr>
                            <m:t>+</m:t>
                          </m:r>
                          <m:r>
                            <a:rPr lang="en-US" altLang="zh-CN" i="1" dirty="0">
                              <a:latin typeface="Cambria Math" panose="02040503050406030204" pitchFamily="18" charset="0"/>
                            </a:rPr>
                            <m:t>𝑏</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𝐵</m:t>
                              </m:r>
                            </m:sub>
                          </m:sSub>
                        </m:e>
                      </m:d>
                    </m:oMath>
                  </m:oMathPara>
                </a14:m>
                <a:endParaRPr lang="zh-CN" altLang="en-US" sz="2000" dirty="0">
                  <a:latin typeface="Noto Sans SC" panose="020B0200000000000000" pitchFamily="34" charset="-122"/>
                  <a:ea typeface="Noto Sans SC" panose="020B0200000000000000" pitchFamily="34" charset="-122"/>
                </a:endParaRPr>
              </a:p>
            </p:txBody>
          </p:sp>
        </mc:Choice>
        <mc:Fallback xmlns="">
          <p:sp>
            <p:nvSpPr>
              <p:cNvPr id="7" name="文本框 6">
                <a:extLst>
                  <a:ext uri="{FF2B5EF4-FFF2-40B4-BE49-F238E27FC236}">
                    <a16:creationId xmlns:a16="http://schemas.microsoft.com/office/drawing/2014/main" id="{BC1553B5-28D6-49AC-2B0F-041EFA9D7C4B}"/>
                  </a:ext>
                </a:extLst>
              </p:cNvPr>
              <p:cNvSpPr txBox="1">
                <a:spLocks noRot="1" noChangeAspect="1" noMove="1" noResize="1" noEditPoints="1" noAdjustHandles="1" noChangeArrowheads="1" noChangeShapeType="1" noTextEdit="1"/>
              </p:cNvSpPr>
              <p:nvPr/>
            </p:nvSpPr>
            <p:spPr>
              <a:xfrm>
                <a:off x="7232216" y="3501379"/>
                <a:ext cx="4577740" cy="2585323"/>
              </a:xfrm>
              <a:prstGeom prst="rect">
                <a:avLst/>
              </a:prstGeom>
              <a:blipFill>
                <a:blip r:embed="rId3"/>
                <a:stretch>
                  <a:fillRect l="-1065" t="-1179" r="-1598" b="-28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1727D44-5FAA-B8D0-A9DB-754859491169}"/>
                  </a:ext>
                </a:extLst>
              </p:cNvPr>
              <p:cNvSpPr txBox="1"/>
              <p:nvPr/>
            </p:nvSpPr>
            <p:spPr>
              <a:xfrm>
                <a:off x="801666" y="3295850"/>
                <a:ext cx="5530241" cy="3286349"/>
              </a:xfrm>
              <a:prstGeom prst="rect">
                <a:avLst/>
              </a:prstGeom>
              <a:noFill/>
            </p:spPr>
            <p:txBody>
              <a:bodyPr wrap="square" rtlCol="0">
                <a:spAutoFit/>
              </a:bodyPr>
              <a:lstStyle/>
              <a:p>
                <a:r>
                  <a:rPr lang="zh-CN" altLang="en-US" dirty="0">
                    <a:latin typeface="Noto Sans SC" panose="020B0200000000000000" pitchFamily="34" charset="-122"/>
                    <a:ea typeface="Noto Sans SC" panose="020B0200000000000000" pitchFamily="34" charset="-122"/>
                  </a:rPr>
                  <a:t>         如果按照之前的定义，</a:t>
                </a:r>
                <a:r>
                  <a:rPr lang="en-US" altLang="zh-CN" dirty="0">
                    <a:latin typeface="Noto Sans SC" panose="020B0200000000000000" pitchFamily="34" charset="-122"/>
                    <a:ea typeface="Noto Sans SC" panose="020B0200000000000000" pitchFamily="34" charset="-122"/>
                  </a:rPr>
                  <a:t>N</a:t>
                </a:r>
                <a:r>
                  <a:rPr lang="zh-CN" altLang="en-US" dirty="0">
                    <a:latin typeface="Noto Sans SC" panose="020B0200000000000000" pitchFamily="34" charset="-122"/>
                    <a:ea typeface="Noto Sans SC" panose="020B0200000000000000" pitchFamily="34" charset="-122"/>
                  </a:rPr>
                  <a:t>的含义就应该是一单位红光的亮度。由于一单位的三原色可以匹配等能白光，所以</a:t>
                </a:r>
                <a:r>
                  <a:rPr lang="en-US" altLang="zh-CN" dirty="0">
                    <a:latin typeface="Noto Sans SC" panose="020B0200000000000000" pitchFamily="34" charset="-122"/>
                    <a:ea typeface="Noto Sans SC" panose="020B0200000000000000" pitchFamily="34" charset="-122"/>
                  </a:rPr>
                  <a:t>N</a:t>
                </a:r>
                <a:r>
                  <a:rPr lang="zh-CN" altLang="en-US" dirty="0">
                    <a:latin typeface="Noto Sans SC" panose="020B0200000000000000" pitchFamily="34" charset="-122"/>
                    <a:ea typeface="Noto Sans SC" panose="020B0200000000000000" pitchFamily="34" charset="-122"/>
                  </a:rPr>
                  <a:t>的值就取决于单位等能白光有多亮。</a:t>
                </a:r>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由于只要求了等能白光时各个波长的功率相同，没规定具体是多少，所以说上面的等式中的</a:t>
                </a:r>
                <a:r>
                  <a:rPr lang="en-US" altLang="zh-CN" dirty="0">
                    <a:latin typeface="Noto Sans SC" panose="020B0200000000000000" pitchFamily="34" charset="-122"/>
                    <a:ea typeface="Noto Sans SC" panose="020B0200000000000000" pitchFamily="34" charset="-122"/>
                  </a:rPr>
                  <a:t>N</a:t>
                </a:r>
                <a:r>
                  <a:rPr lang="zh-CN" altLang="en-US" dirty="0">
                    <a:latin typeface="Noto Sans SC" panose="020B0200000000000000" pitchFamily="34" charset="-122"/>
                    <a:ea typeface="Noto Sans SC" panose="020B0200000000000000" pitchFamily="34" charset="-122"/>
                  </a:rPr>
                  <a:t>实际上是一个没有被确定的缩放自由度。</a:t>
                </a:r>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于是，为了方便，就直接规定</a:t>
                </a:r>
                <a:r>
                  <a:rPr lang="en-US" altLang="zh-CN" dirty="0">
                    <a:latin typeface="Noto Sans SC" panose="020B0200000000000000" pitchFamily="34" charset="-122"/>
                    <a:ea typeface="Noto Sans SC" panose="020B0200000000000000" pitchFamily="34" charset="-122"/>
                  </a:rPr>
                  <a:t>Distribution Curves</a:t>
                </a:r>
                <a:r>
                  <a:rPr lang="zh-CN" altLang="en-US" dirty="0">
                    <a:latin typeface="Noto Sans SC" panose="020B0200000000000000" pitchFamily="34" charset="-122"/>
                    <a:ea typeface="Noto Sans SC" panose="020B0200000000000000" pitchFamily="34" charset="-122"/>
                  </a:rPr>
                  <a:t>曲线的面积等于视见函数的面积：</a:t>
                </a:r>
                <a:endParaRPr lang="en-US" altLang="zh-CN"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𝑅</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i="1">
                          <a:latin typeface="Cambria Math" panose="02040503050406030204" pitchFamily="18" charset="0"/>
                        </a:rPr>
                        <m:t>=</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ea typeface="Cambria Math" panose="02040503050406030204" pitchFamily="18" charset="0"/>
                                </a:rPr>
                              </m:ctrlPr>
                            </m:sSupPr>
                            <m:e>
                              <m:r>
                                <a:rPr lang="zh-CN" altLang="en-US" i="1" dirty="0">
                                  <a:latin typeface="Cambria Math" panose="02040503050406030204" pitchFamily="18" charset="0"/>
                                  <a:ea typeface="Cambria Math" panose="02040503050406030204" pitchFamily="18" charset="0"/>
                                </a:rPr>
                                <m:t>𝐺</m:t>
                              </m:r>
                            </m:e>
                            <m:sup>
                              <m:r>
                                <a:rPr lang="en-US" altLang="zh-CN" i="1" dirty="0">
                                  <a:latin typeface="Cambria Math" panose="02040503050406030204" pitchFamily="18" charset="0"/>
                                  <a:ea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i="1">
                          <a:latin typeface="Cambria Math" panose="02040503050406030204" pitchFamily="18" charset="0"/>
                        </a:rPr>
                        <m:t>=</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ea typeface="Cambria Math" panose="02040503050406030204" pitchFamily="18" charset="0"/>
                                </a:rPr>
                              </m:ctrlPr>
                            </m:sSupPr>
                            <m:e>
                              <m:r>
                                <a:rPr lang="zh-CN" altLang="en-US" i="1" dirty="0">
                                  <a:latin typeface="Cambria Math" panose="02040503050406030204" pitchFamily="18" charset="0"/>
                                  <a:ea typeface="Cambria Math" panose="02040503050406030204" pitchFamily="18" charset="0"/>
                                </a:rPr>
                                <m:t>𝐵</m:t>
                              </m:r>
                            </m:e>
                            <m:sup>
                              <m:r>
                                <a:rPr lang="en-US" altLang="zh-CN" i="1" dirty="0">
                                  <a:latin typeface="Cambria Math" panose="02040503050406030204" pitchFamily="18" charset="0"/>
                                  <a:ea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b="0" i="0" dirty="0" smtClean="0">
                          <a:latin typeface="Cambria Math" panose="02040503050406030204" pitchFamily="18" charset="0"/>
                        </a:rPr>
                        <m:t>=</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r>
                            <a:rPr lang="en-US" altLang="zh-CN" b="0" i="1" dirty="0" smtClean="0">
                              <a:latin typeface="Cambria Math" panose="02040503050406030204" pitchFamily="18" charset="0"/>
                              <a:ea typeface="Cambria Math" panose="02040503050406030204" pitchFamily="18" charset="0"/>
                            </a:rPr>
                            <m:t>𝑉</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oMath>
                  </m:oMathPara>
                </a14:m>
                <a:endParaRPr lang="zh-CN" altLang="en-US" sz="1600" dirty="0">
                  <a:latin typeface="Noto Sans SC" panose="020B0200000000000000" pitchFamily="34" charset="-122"/>
                  <a:ea typeface="Noto Sans SC" panose="020B0200000000000000" pitchFamily="34" charset="-122"/>
                </a:endParaRPr>
              </a:p>
            </p:txBody>
          </p:sp>
        </mc:Choice>
        <mc:Fallback xmlns="">
          <p:sp>
            <p:nvSpPr>
              <p:cNvPr id="8" name="文本框 7">
                <a:extLst>
                  <a:ext uri="{FF2B5EF4-FFF2-40B4-BE49-F238E27FC236}">
                    <a16:creationId xmlns:a16="http://schemas.microsoft.com/office/drawing/2014/main" id="{D1727D44-5FAA-B8D0-A9DB-754859491169}"/>
                  </a:ext>
                </a:extLst>
              </p:cNvPr>
              <p:cNvSpPr txBox="1">
                <a:spLocks noRot="1" noChangeAspect="1" noMove="1" noResize="1" noEditPoints="1" noAdjustHandles="1" noChangeArrowheads="1" noChangeShapeType="1" noTextEdit="1"/>
              </p:cNvSpPr>
              <p:nvPr/>
            </p:nvSpPr>
            <p:spPr>
              <a:xfrm>
                <a:off x="801666" y="3295850"/>
                <a:ext cx="5530241" cy="3286349"/>
              </a:xfrm>
              <a:prstGeom prst="rect">
                <a:avLst/>
              </a:prstGeom>
              <a:blipFill>
                <a:blip r:embed="rId4"/>
                <a:stretch>
                  <a:fillRect l="-992" t="-11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81057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03C5E-895F-DDA5-1F53-44C962CF32D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24C0848-7B21-F8A6-5802-398AC09697BA}"/>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B23B8A1-F089-5F93-2540-C4FCCBC4BA00}"/>
                  </a:ext>
                </a:extLst>
              </p:cNvPr>
              <p:cNvSpPr txBox="1"/>
              <p:nvPr/>
            </p:nvSpPr>
            <p:spPr>
              <a:xfrm>
                <a:off x="350729" y="1954731"/>
                <a:ext cx="11611627" cy="4919680"/>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nary>
                        <m:naryPr>
                          <m:limLoc m:val="undOvr"/>
                          <m:subHide m:val="on"/>
                          <m:supHide m:val="on"/>
                          <m:ctrlPr>
                            <a:rPr lang="en-US" altLang="zh-CN" i="1" dirty="0" smtClean="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𝑅</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i="1">
                          <a:latin typeface="Cambria Math" panose="02040503050406030204" pitchFamily="18" charset="0"/>
                        </a:rPr>
                        <m:t>=</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ea typeface="Cambria Math" panose="02040503050406030204" pitchFamily="18" charset="0"/>
                                </a:rPr>
                              </m:ctrlPr>
                            </m:sSupPr>
                            <m:e>
                              <m:r>
                                <a:rPr lang="zh-CN" altLang="en-US" i="1" dirty="0">
                                  <a:latin typeface="Cambria Math" panose="02040503050406030204" pitchFamily="18" charset="0"/>
                                  <a:ea typeface="Cambria Math" panose="02040503050406030204" pitchFamily="18" charset="0"/>
                                </a:rPr>
                                <m:t>𝐺</m:t>
                              </m:r>
                            </m:e>
                            <m:sup>
                              <m:r>
                                <a:rPr lang="en-US" altLang="zh-CN" i="1" dirty="0">
                                  <a:latin typeface="Cambria Math" panose="02040503050406030204" pitchFamily="18" charset="0"/>
                                  <a:ea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i="1">
                          <a:latin typeface="Cambria Math" panose="02040503050406030204" pitchFamily="18" charset="0"/>
                        </a:rPr>
                        <m:t>=</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sSup>
                            <m:sSupPr>
                              <m:ctrlPr>
                                <a:rPr lang="zh-CN" altLang="en-US" i="1" dirty="0">
                                  <a:latin typeface="Cambria Math" panose="02040503050406030204" pitchFamily="18" charset="0"/>
                                  <a:ea typeface="Cambria Math" panose="02040503050406030204" pitchFamily="18" charset="0"/>
                                </a:rPr>
                              </m:ctrlPr>
                            </m:sSupPr>
                            <m:e>
                              <m:r>
                                <a:rPr lang="zh-CN" altLang="en-US" i="1" dirty="0">
                                  <a:latin typeface="Cambria Math" panose="02040503050406030204" pitchFamily="18" charset="0"/>
                                  <a:ea typeface="Cambria Math" panose="02040503050406030204" pitchFamily="18" charset="0"/>
                                </a:rPr>
                                <m:t>𝐵</m:t>
                              </m:r>
                            </m:e>
                            <m:sup>
                              <m:r>
                                <a:rPr lang="en-US" altLang="zh-CN" i="1" dirty="0">
                                  <a:latin typeface="Cambria Math" panose="02040503050406030204" pitchFamily="18" charset="0"/>
                                  <a:ea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b="0" i="1" smtClean="0">
                              <a:latin typeface="Cambria Math" panose="02040503050406030204" pitchFamily="18" charset="0"/>
                            </a:rPr>
                            <m:t>3</m:t>
                          </m:r>
                          <m:r>
                            <a:rPr lang="zh-CN" altLang="en-US" i="1">
                              <a:latin typeface="Cambria Math" panose="02040503050406030204" pitchFamily="18" charset="0"/>
                            </a:rPr>
                            <m:t>𝑁</m:t>
                          </m:r>
                        </m:den>
                      </m:f>
                      <m:nary>
                        <m:naryPr>
                          <m:limLoc m:val="undOvr"/>
                          <m:subHide m:val="on"/>
                          <m:supHide m:val="on"/>
                          <m:ctrlPr>
                            <a:rPr lang="en-US" altLang="zh-CN" i="1">
                              <a:latin typeface="Cambria Math" panose="02040503050406030204" pitchFamily="18" charset="0"/>
                            </a:rPr>
                          </m:ctrlPr>
                        </m:naryPr>
                        <m:sub/>
                        <m:sup/>
                        <m:e>
                          <m:f>
                            <m:fPr>
                              <m:ctrlPr>
                                <a:rPr lang="zh-CN" altLang="en-US" i="1" dirty="0">
                                  <a:latin typeface="Cambria Math" panose="02040503050406030204" pitchFamily="18" charset="0"/>
                                </a:rPr>
                              </m:ctrlPr>
                            </m:fPr>
                            <m:num>
                              <m:r>
                                <a:rPr lang="zh-CN" altLang="en-US" i="1" dirty="0">
                                  <a:latin typeface="Cambria Math" panose="02040503050406030204" pitchFamily="18" charset="0"/>
                                </a:rPr>
                                <m:t>𝑉</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num>
                            <m:den>
                              <m:r>
                                <a:rPr lang="zh-CN" altLang="en-US" i="1" dirty="0">
                                  <a:latin typeface="Cambria Math" panose="02040503050406030204" pitchFamily="18" charset="0"/>
                                </a:rPr>
                                <m:t>𝑟</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𝑅</m:t>
                                  </m:r>
                                </m:sub>
                              </m:sSub>
                              <m:r>
                                <a:rPr lang="en-US" altLang="zh-CN" i="1" dirty="0">
                                  <a:latin typeface="Cambria Math" panose="02040503050406030204" pitchFamily="18" charset="0"/>
                                </a:rPr>
                                <m:t>+</m:t>
                              </m:r>
                              <m:r>
                                <a:rPr lang="zh-CN" altLang="en-US" i="1" dirty="0">
                                  <a:latin typeface="Cambria Math" panose="02040503050406030204" pitchFamily="18" charset="0"/>
                                </a:rPr>
                                <m:t>𝑔</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𝐺</m:t>
                                  </m:r>
                                </m:sub>
                              </m:sSub>
                              <m:r>
                                <a:rPr lang="en-US" altLang="zh-CN" i="1" dirty="0">
                                  <a:latin typeface="Cambria Math" panose="02040503050406030204" pitchFamily="18" charset="0"/>
                                </a:rPr>
                                <m:t>+</m:t>
                              </m:r>
                              <m:r>
                                <a:rPr lang="zh-CN" altLang="en-US" i="1" dirty="0">
                                  <a:latin typeface="Cambria Math" panose="02040503050406030204" pitchFamily="18" charset="0"/>
                                </a:rPr>
                                <m:t>𝑏</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𝐵</m:t>
                                  </m:r>
                                </m:sub>
                              </m:sSub>
                            </m:den>
                          </m:f>
                          <m:r>
                            <a:rPr lang="en-US" altLang="zh-CN" i="1" dirty="0">
                              <a:latin typeface="Cambria Math" panose="02040503050406030204" pitchFamily="18" charset="0"/>
                            </a:rPr>
                            <m:t>𝑑</m:t>
                          </m:r>
                          <m:r>
                            <a:rPr lang="en-US" altLang="zh-CN" i="1" dirty="0">
                              <a:latin typeface="Cambria Math" panose="02040503050406030204" pitchFamily="18" charset="0"/>
                            </a:rPr>
                            <m:t>𝜆</m:t>
                          </m:r>
                        </m:e>
                      </m:nary>
                      <m:r>
                        <a:rPr lang="en-US" altLang="zh-CN" dirty="0">
                          <a:latin typeface="Cambria Math" panose="02040503050406030204" pitchFamily="18" charset="0"/>
                        </a:rPr>
                        <m:t>=</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r>
                            <a:rPr lang="en-US" altLang="zh-CN" i="1" dirty="0">
                              <a:latin typeface="Cambria Math" panose="02040503050406030204" pitchFamily="18" charset="0"/>
                              <a:ea typeface="Cambria Math" panose="02040503050406030204" pitchFamily="18" charset="0"/>
                            </a:rPr>
                            <m:t>𝑉</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m:rPr>
                          <m:sty m:val="p"/>
                        </m:rPr>
                        <a:rPr lang="en-US" altLang="zh-CN" b="0" i="0" dirty="0" smtClean="0">
                          <a:latin typeface="Cambria Math" panose="02040503050406030204" pitchFamily="18" charset="0"/>
                        </a:rPr>
                        <m:t>N</m:t>
                      </m:r>
                      <m:r>
                        <a:rPr lang="en-US" altLang="zh-CN" b="0" i="0" dirty="0" smtClean="0">
                          <a:latin typeface="Cambria Math" panose="02040503050406030204" pitchFamily="18" charset="0"/>
                        </a:rPr>
                        <m:t>=</m:t>
                      </m:r>
                      <m:f>
                        <m:fPr>
                          <m:ctrlPr>
                            <a:rPr lang="en-US" altLang="zh-CN" i="1">
                              <a:latin typeface="Cambria Math" panose="02040503050406030204" pitchFamily="18" charset="0"/>
                            </a:rPr>
                          </m:ctrlPr>
                        </m:fPr>
                        <m:num>
                          <m:nary>
                            <m:naryPr>
                              <m:limLoc m:val="undOvr"/>
                              <m:subHide m:val="on"/>
                              <m:supHide m:val="on"/>
                              <m:ctrlPr>
                                <a:rPr lang="en-US" altLang="zh-CN" i="1">
                                  <a:latin typeface="Cambria Math" panose="02040503050406030204" pitchFamily="18" charset="0"/>
                                </a:rPr>
                              </m:ctrlPr>
                            </m:naryPr>
                            <m:sub/>
                            <m:sup/>
                            <m:e>
                              <m:f>
                                <m:fPr>
                                  <m:ctrlPr>
                                    <a:rPr lang="zh-CN" altLang="en-US" i="1" dirty="0">
                                      <a:latin typeface="Cambria Math" panose="02040503050406030204" pitchFamily="18" charset="0"/>
                                    </a:rPr>
                                  </m:ctrlPr>
                                </m:fPr>
                                <m:num>
                                  <m:r>
                                    <a:rPr lang="zh-CN" altLang="en-US" i="1" dirty="0">
                                      <a:latin typeface="Cambria Math" panose="02040503050406030204" pitchFamily="18" charset="0"/>
                                    </a:rPr>
                                    <m:t>𝑉</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num>
                                <m:den>
                                  <m:r>
                                    <a:rPr lang="zh-CN" altLang="en-US" i="1" dirty="0">
                                      <a:latin typeface="Cambria Math" panose="02040503050406030204" pitchFamily="18" charset="0"/>
                                    </a:rPr>
                                    <m:t>𝑟</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𝑅</m:t>
                                      </m:r>
                                    </m:sub>
                                  </m:sSub>
                                  <m:r>
                                    <a:rPr lang="en-US" altLang="zh-CN" i="1" dirty="0">
                                      <a:latin typeface="Cambria Math" panose="02040503050406030204" pitchFamily="18" charset="0"/>
                                    </a:rPr>
                                    <m:t>+</m:t>
                                  </m:r>
                                  <m:r>
                                    <a:rPr lang="zh-CN" altLang="en-US" i="1" dirty="0">
                                      <a:latin typeface="Cambria Math" panose="02040503050406030204" pitchFamily="18" charset="0"/>
                                    </a:rPr>
                                    <m:t>𝑔</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𝐺</m:t>
                                      </m:r>
                                    </m:sub>
                                  </m:sSub>
                                  <m:r>
                                    <a:rPr lang="en-US" altLang="zh-CN" i="1" dirty="0">
                                      <a:latin typeface="Cambria Math" panose="02040503050406030204" pitchFamily="18" charset="0"/>
                                    </a:rPr>
                                    <m:t>+</m:t>
                                  </m:r>
                                  <m:r>
                                    <a:rPr lang="zh-CN" altLang="en-US" i="1" dirty="0">
                                      <a:latin typeface="Cambria Math" panose="02040503050406030204" pitchFamily="18" charset="0"/>
                                    </a:rPr>
                                    <m:t>𝑏</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𝐵</m:t>
                                      </m:r>
                                    </m:sub>
                                  </m:sSub>
                                </m:den>
                              </m:f>
                              <m:r>
                                <a:rPr lang="en-US" altLang="zh-CN" i="1" dirty="0">
                                  <a:latin typeface="Cambria Math" panose="02040503050406030204" pitchFamily="18" charset="0"/>
                                </a:rPr>
                                <m:t>𝑑</m:t>
                              </m:r>
                              <m:r>
                                <a:rPr lang="en-US" altLang="zh-CN" i="1" dirty="0">
                                  <a:latin typeface="Cambria Math" panose="02040503050406030204" pitchFamily="18" charset="0"/>
                                </a:rPr>
                                <m:t>𝜆</m:t>
                              </m:r>
                            </m:e>
                          </m:nary>
                        </m:num>
                        <m:den>
                          <m:r>
                            <a:rPr lang="en-US" altLang="zh-CN" b="0" i="1" dirty="0" smtClean="0">
                              <a:latin typeface="Cambria Math" panose="02040503050406030204" pitchFamily="18" charset="0"/>
                            </a:rPr>
                            <m:t>3</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r>
                                <a:rPr lang="en-US" altLang="zh-CN" i="1" dirty="0">
                                  <a:latin typeface="Cambria Math" panose="02040503050406030204" pitchFamily="18" charset="0"/>
                                  <a:ea typeface="Cambria Math" panose="02040503050406030204" pitchFamily="18" charset="0"/>
                                </a:rPr>
                                <m:t>𝑉</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den>
                      </m:f>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b="1" dirty="0">
                    <a:latin typeface="Noto Sans SC" panose="020B0200000000000000" pitchFamily="34" charset="-122"/>
                    <a:ea typeface="Noto Sans SC" panose="020B0200000000000000" pitchFamily="34" charset="-122"/>
                  </a:rPr>
                  <a:t>Distribution Curves</a:t>
                </a:r>
                <a:r>
                  <a:rPr lang="zh-CN" altLang="en-US" b="1" dirty="0">
                    <a:latin typeface="Noto Sans SC" panose="020B0200000000000000" pitchFamily="34" charset="-122"/>
                    <a:ea typeface="Noto Sans SC" panose="020B0200000000000000" pitchFamily="34" charset="-122"/>
                  </a:rPr>
                  <a:t>的实际意义：</a:t>
                </a:r>
                <a:endParaRPr lang="en-US" altLang="zh-CN" b="1"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以往，根据光谱色度函数，我们只能知道单色光对应的三原色比例为多少，</a:t>
                </a:r>
                <a:r>
                  <a:rPr lang="en-US" altLang="zh-CN" dirty="0">
                    <a:latin typeface="Noto Sans SC" panose="020B0200000000000000" pitchFamily="34" charset="-122"/>
                    <a:ea typeface="Noto Sans SC" panose="020B0200000000000000" pitchFamily="34" charset="-122"/>
                  </a:rPr>
                  <a:t>Distribution Curves</a:t>
                </a:r>
                <a:r>
                  <a:rPr lang="zh-CN" altLang="en-US" dirty="0">
                    <a:latin typeface="Noto Sans SC" panose="020B0200000000000000" pitchFamily="34" charset="-122"/>
                    <a:ea typeface="Noto Sans SC" panose="020B0200000000000000" pitchFamily="34" charset="-122"/>
                  </a:rPr>
                  <a:t>则可以帮助我们确认一束复合光对应的三原色单位数为多少。只要我们知道了这束复合光的能量分布，就可以通过如下的积分，得到需要几单位的三原色，并且规定一单位的红光亮度为</a:t>
                </a:r>
                <a:r>
                  <a:rPr lang="en-US" altLang="zh-CN" dirty="0">
                    <a:latin typeface="Noto Sans SC" panose="020B0200000000000000" pitchFamily="34" charset="-122"/>
                    <a:ea typeface="Noto Sans SC" panose="020B0200000000000000" pitchFamily="34" charset="-122"/>
                  </a:rPr>
                  <a:t>N</a:t>
                </a:r>
                <a:r>
                  <a:rPr lang="zh-CN" altLang="en-US" dirty="0">
                    <a:latin typeface="Noto Sans SC" panose="020B0200000000000000" pitchFamily="34" charset="-122"/>
                    <a:ea typeface="Noto Sans SC" panose="020B0200000000000000" pitchFamily="34" charset="-122"/>
                  </a:rPr>
                  <a:t>，一单位三原色光的亮度比例为</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zh-CN" altLang="en-US" i="1" dirty="0">
                            <a:latin typeface="Cambria Math" panose="02040503050406030204" pitchFamily="18" charset="0"/>
                          </a:rPr>
                          <m:t>𝑅</m:t>
                        </m:r>
                      </m:sub>
                    </m:sSub>
                    <m:r>
                      <a:rPr lang="en-US" altLang="zh-CN" b="0"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en-US" altLang="zh-CN" b="0" i="1" dirty="0" smtClean="0">
                            <a:latin typeface="Cambria Math" panose="02040503050406030204" pitchFamily="18" charset="0"/>
                          </a:rPr>
                          <m:t>𝐺</m:t>
                        </m:r>
                      </m:sub>
                    </m:sSub>
                    <m:r>
                      <a:rPr lang="en-US" altLang="zh-CN" b="0" i="1" dirty="0" smtClean="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𝐿</m:t>
                        </m:r>
                      </m:e>
                      <m:sub>
                        <m:r>
                          <a:rPr lang="en-US" altLang="zh-CN" b="0" i="1" dirty="0" smtClean="0">
                            <a:latin typeface="Cambria Math" panose="02040503050406030204" pitchFamily="18" charset="0"/>
                          </a:rPr>
                          <m:t>𝐵</m:t>
                        </m:r>
                      </m:sub>
                    </m:sSub>
                  </m:oMath>
                </a14:m>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𝐶</m:t>
                          </m:r>
                        </m:e>
                        <m:sub>
                          <m:r>
                            <a:rPr lang="en-US" altLang="zh-CN" b="0" i="1" dirty="0" smtClean="0">
                              <a:latin typeface="Cambria Math" panose="02040503050406030204" pitchFamily="18" charset="0"/>
                              <a:ea typeface="Cambria Math" panose="02040503050406030204" pitchFamily="18" charset="0"/>
                            </a:rPr>
                            <m:t>𝐸</m:t>
                          </m:r>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𝜆</m:t>
                              </m:r>
                            </m:e>
                          </m:d>
                        </m:sub>
                      </m:sSub>
                      <m:r>
                        <a:rPr lang="en-US" altLang="zh-CN" b="0" i="1" dirty="0" smtClean="0">
                          <a:latin typeface="Cambria Math" panose="02040503050406030204" pitchFamily="18" charset="0"/>
                          <a:ea typeface="Cambria Math" panose="02040503050406030204" pitchFamily="18" charset="0"/>
                        </a:rPr>
                        <m:t>≡</m:t>
                      </m:r>
                      <m:r>
                        <a:rPr lang="en-US" altLang="zh-CN" b="1" i="1" dirty="0" smtClean="0">
                          <a:latin typeface="Cambria Math" panose="02040503050406030204" pitchFamily="18" charset="0"/>
                          <a:ea typeface="Cambria Math" panose="02040503050406030204" pitchFamily="18" charset="0"/>
                        </a:rPr>
                        <m:t>𝑹</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r>
                            <a:rPr lang="en-US" altLang="zh-CN" b="0" i="1" dirty="0" smtClean="0">
                              <a:latin typeface="Cambria Math" panose="02040503050406030204" pitchFamily="18" charset="0"/>
                              <a:ea typeface="Cambria Math" panose="02040503050406030204" pitchFamily="18" charset="0"/>
                            </a:rPr>
                            <m:t>𝐸</m:t>
                          </m:r>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𝜆</m:t>
                              </m:r>
                            </m:e>
                          </m:d>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𝑅</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b="0" i="1" dirty="0" smtClean="0">
                          <a:latin typeface="Cambria Math" panose="02040503050406030204" pitchFamily="18" charset="0"/>
                        </a:rPr>
                        <m:t>+</m:t>
                      </m:r>
                      <m:r>
                        <a:rPr lang="en-US" altLang="zh-CN" b="1" i="1" dirty="0" smtClean="0">
                          <a:latin typeface="Cambria Math" panose="02040503050406030204" pitchFamily="18" charset="0"/>
                        </a:rPr>
                        <m:t>𝑮</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r>
                            <a:rPr lang="en-US" altLang="zh-CN" i="1" dirty="0">
                              <a:latin typeface="Cambria Math" panose="02040503050406030204" pitchFamily="18" charset="0"/>
                              <a:ea typeface="Cambria Math" panose="02040503050406030204" pitchFamily="18" charset="0"/>
                            </a:rPr>
                            <m:t>𝐸</m:t>
                          </m:r>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𝜆</m:t>
                              </m:r>
                            </m:e>
                          </m:d>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𝐺</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r>
                        <a:rPr lang="en-US" altLang="zh-CN" b="0" i="0" dirty="0" smtClean="0">
                          <a:latin typeface="Cambria Math" panose="02040503050406030204" pitchFamily="18" charset="0"/>
                        </a:rPr>
                        <m:t>+</m:t>
                      </m:r>
                      <m:r>
                        <a:rPr lang="en-US" altLang="zh-CN" b="1" i="1" dirty="0" smtClean="0">
                          <a:latin typeface="Cambria Math" panose="02040503050406030204" pitchFamily="18" charset="0"/>
                        </a:rPr>
                        <m:t>𝑩</m:t>
                      </m:r>
                      <m:nary>
                        <m:naryPr>
                          <m:limLoc m:val="undOvr"/>
                          <m:subHide m:val="on"/>
                          <m:supHide m:val="on"/>
                          <m:ctrlPr>
                            <a:rPr lang="en-US" altLang="zh-CN" i="1" dirty="0">
                              <a:latin typeface="Cambria Math" panose="02040503050406030204" pitchFamily="18" charset="0"/>
                              <a:ea typeface="Cambria Math" panose="02040503050406030204" pitchFamily="18" charset="0"/>
                            </a:rPr>
                          </m:ctrlPr>
                        </m:naryPr>
                        <m:sub/>
                        <m:sup/>
                        <m:e>
                          <m:r>
                            <a:rPr lang="en-US" altLang="zh-CN" i="1" dirty="0">
                              <a:latin typeface="Cambria Math" panose="02040503050406030204" pitchFamily="18" charset="0"/>
                              <a:ea typeface="Cambria Math" panose="02040503050406030204" pitchFamily="18" charset="0"/>
                            </a:rPr>
                            <m:t>𝐸</m:t>
                          </m:r>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𝜆</m:t>
                              </m:r>
                            </m:e>
                          </m:d>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𝐵</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r>
                            <a:rPr lang="zh-CN" altLang="en-US" i="1" dirty="0">
                              <a:latin typeface="Cambria Math" panose="02040503050406030204" pitchFamily="18" charset="0"/>
                            </a:rPr>
                            <m:t>𝑑</m:t>
                          </m:r>
                          <m:r>
                            <a:rPr lang="zh-CN" altLang="en-US"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实际上，最后得到的</a:t>
                </a:r>
                <a14:m>
                  <m:oMath xmlns:m="http://schemas.openxmlformats.org/officeDocument/2006/math">
                    <m:r>
                      <a:rPr lang="en-US" altLang="zh-CN" b="0" i="1" dirty="0" smtClean="0">
                        <a:latin typeface="Cambria Math" panose="02040503050406030204" pitchFamily="18" charset="0"/>
                      </a:rPr>
                      <m:t>𝑅</m:t>
                    </m:r>
                    <m:r>
                      <a:rPr lang="en-US" altLang="zh-CN" b="0" i="1" dirty="0" smtClean="0">
                        <a:latin typeface="Cambria Math" panose="02040503050406030204" pitchFamily="18" charset="0"/>
                      </a:rPr>
                      <m:t>′</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𝐺</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𝐵</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，也叫做颜色匹配函数</a:t>
                </a:r>
                <a:r>
                  <a:rPr lang="en-US" altLang="zh-CN" dirty="0">
                    <a:latin typeface="Noto Sans SC" panose="020B0200000000000000" pitchFamily="34" charset="-122"/>
                    <a:ea typeface="Noto Sans SC" panose="020B0200000000000000" pitchFamily="34" charset="-122"/>
                  </a:rPr>
                  <a:t>(color-matching functions</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CMFs)</a:t>
                </a:r>
                <a:r>
                  <a:rPr lang="zh-CN" altLang="en-US" dirty="0">
                    <a:latin typeface="Noto Sans SC" panose="020B0200000000000000" pitchFamily="34" charset="-122"/>
                    <a:ea typeface="Noto Sans SC" panose="020B0200000000000000" pitchFamily="34" charset="-122"/>
                  </a:rPr>
                  <a:t>，</a:t>
                </a:r>
                <a14:m>
                  <m:oMath xmlns:m="http://schemas.openxmlformats.org/officeDocument/2006/math">
                    <m:r>
                      <a:rPr lang="en-US" altLang="zh-CN" b="1" i="1" dirty="0">
                        <a:latin typeface="Cambria Math" panose="02040503050406030204" pitchFamily="18" charset="0"/>
                        <a:ea typeface="Cambria Math" panose="02040503050406030204" pitchFamily="18" charset="0"/>
                      </a:rPr>
                      <m:t>𝑹</m:t>
                    </m:r>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rPr>
                      <m:t>𝑮</m:t>
                    </m:r>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rPr>
                      <m:t>𝑩</m:t>
                    </m:r>
                  </m:oMath>
                </a14:m>
                <a:r>
                  <a:rPr lang="zh-CN" altLang="en-US" dirty="0">
                    <a:latin typeface="Noto Sans SC" panose="020B0200000000000000" pitchFamily="34" charset="-122"/>
                    <a:ea typeface="Noto Sans SC" panose="020B0200000000000000" pitchFamily="34" charset="-122"/>
                  </a:rPr>
                  <a:t>则是</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色彩空间的基，由积分算出的三原色单位数，就是颜色这个色彩空间的坐标，也叫做三刺激值。</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三个分量相同的点，就对应了空间的参考白光，也就是等能白光</a:t>
                </a:r>
                <a:r>
                  <a:rPr lang="en-US" altLang="zh-CN" dirty="0">
                    <a:latin typeface="Noto Sans SC" panose="020B0200000000000000" pitchFamily="34" charset="-122"/>
                    <a:ea typeface="Noto Sans SC" panose="020B0200000000000000" pitchFamily="34" charset="-122"/>
                  </a:rPr>
                  <a:t>EEW</a:t>
                </a:r>
                <a:r>
                  <a:rPr lang="zh-CN" altLang="en-US" dirty="0">
                    <a:latin typeface="Noto Sans SC" panose="020B0200000000000000" pitchFamily="34" charset="-122"/>
                    <a:ea typeface="Noto Sans SC" panose="020B0200000000000000" pitchFamily="34" charset="-122"/>
                  </a:rPr>
                  <a:t>。这个色彩空间，就是</a:t>
                </a:r>
                <a:r>
                  <a:rPr lang="en-US" altLang="zh-CN" dirty="0">
                    <a:latin typeface="Noto Sans SC" panose="020B0200000000000000" pitchFamily="34" charset="-122"/>
                    <a:ea typeface="Noto Sans SC" panose="020B0200000000000000" pitchFamily="34" charset="-122"/>
                  </a:rPr>
                  <a:t>CIE 1931 RGB color space</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mc:Choice>
        <mc:Fallback xmlns="">
          <p:sp>
            <p:nvSpPr>
              <p:cNvPr id="9" name="文本框 8">
                <a:extLst>
                  <a:ext uri="{FF2B5EF4-FFF2-40B4-BE49-F238E27FC236}">
                    <a16:creationId xmlns:a16="http://schemas.microsoft.com/office/drawing/2014/main" id="{DB23B8A1-F089-5F93-2540-C4FCCBC4BA00}"/>
                  </a:ext>
                </a:extLst>
              </p:cNvPr>
              <p:cNvSpPr txBox="1">
                <a:spLocks noRot="1" noChangeAspect="1" noMove="1" noResize="1" noEditPoints="1" noAdjustHandles="1" noChangeArrowheads="1" noChangeShapeType="1" noTextEdit="1"/>
              </p:cNvSpPr>
              <p:nvPr/>
            </p:nvSpPr>
            <p:spPr>
              <a:xfrm>
                <a:off x="350729" y="1954731"/>
                <a:ext cx="11611627" cy="4919680"/>
              </a:xfrm>
              <a:prstGeom prst="rect">
                <a:avLst/>
              </a:prstGeom>
              <a:blipFill>
                <a:blip r:embed="rId2"/>
                <a:stretch>
                  <a:fillRect l="-473" r="-893" b="-99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01413132-A1EB-BC37-2747-9BD4C97B130C}"/>
              </a:ext>
            </a:extLst>
          </p:cNvPr>
          <p:cNvSpPr txBox="1"/>
          <p:nvPr/>
        </p:nvSpPr>
        <p:spPr>
          <a:xfrm>
            <a:off x="457201" y="1405676"/>
            <a:ext cx="6100174"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Distribution Curves</a:t>
            </a:r>
            <a:endParaRPr lang="zh-CN" altLang="en-US" sz="11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2273142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04C9-A07B-3513-686A-F1DA568085C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4F92B67-3E49-551F-7458-EDF6EC5F2674}"/>
              </a:ext>
            </a:extLst>
          </p:cNvPr>
          <p:cNvSpPr>
            <a:spLocks noGrp="1"/>
          </p:cNvSpPr>
          <p:nvPr>
            <p:ph type="title" idx="1"/>
          </p:nvPr>
        </p:nvSpPr>
        <p:spPr/>
        <p:txBody>
          <a:bodyPr/>
          <a:lstStyle/>
          <a:p>
            <a:r>
              <a:rPr lang="zh-CN" altLang="en-US" dirty="0"/>
              <a:t>色彩科学的历史 </a:t>
            </a:r>
            <a:r>
              <a:rPr lang="en-US" altLang="zh-CN" dirty="0"/>
              <a:t>—— </a:t>
            </a:r>
            <a:r>
              <a:rPr lang="zh-CN" altLang="en-US" dirty="0"/>
              <a:t>有关色彩的研究</a:t>
            </a:r>
          </a:p>
        </p:txBody>
      </p:sp>
      <p:sp>
        <p:nvSpPr>
          <p:cNvPr id="6" name="文本框 5">
            <a:extLst>
              <a:ext uri="{FF2B5EF4-FFF2-40B4-BE49-F238E27FC236}">
                <a16:creationId xmlns:a16="http://schemas.microsoft.com/office/drawing/2014/main" id="{E0471556-E314-6844-BD9A-1D1345E739E5}"/>
              </a:ext>
            </a:extLst>
          </p:cNvPr>
          <p:cNvSpPr txBox="1"/>
          <p:nvPr/>
        </p:nvSpPr>
        <p:spPr>
          <a:xfrm>
            <a:off x="457201" y="1405676"/>
            <a:ext cx="6100174"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回顾一下</a:t>
            </a:r>
            <a:endParaRPr lang="zh-CN" altLang="en-US" sz="1100" b="1" dirty="0">
              <a:latin typeface="Noto Sans SC" panose="020B0200000000000000" pitchFamily="34" charset="-122"/>
              <a:ea typeface="Noto Sans SC" panose="020B0200000000000000" pitchFamily="34" charset="-122"/>
            </a:endParaRPr>
          </a:p>
        </p:txBody>
      </p:sp>
      <p:graphicFrame>
        <p:nvGraphicFramePr>
          <p:cNvPr id="2" name="表格 1">
            <a:extLst>
              <a:ext uri="{FF2B5EF4-FFF2-40B4-BE49-F238E27FC236}">
                <a16:creationId xmlns:a16="http://schemas.microsoft.com/office/drawing/2014/main" id="{A8104A4B-6B85-2261-FC42-FE8C401F13BF}"/>
              </a:ext>
            </a:extLst>
          </p:cNvPr>
          <p:cNvGraphicFramePr>
            <a:graphicFrameLocks noGrp="1"/>
          </p:cNvGraphicFramePr>
          <p:nvPr>
            <p:extLst>
              <p:ext uri="{D42A27DB-BD31-4B8C-83A1-F6EECF244321}">
                <p14:modId xmlns:p14="http://schemas.microsoft.com/office/powerpoint/2010/main" val="3713085575"/>
              </p:ext>
            </p:extLst>
          </p:nvPr>
        </p:nvGraphicFramePr>
        <p:xfrm>
          <a:off x="183465" y="1979370"/>
          <a:ext cx="11825069" cy="4206240"/>
        </p:xfrm>
        <a:graphic>
          <a:graphicData uri="http://schemas.openxmlformats.org/drawingml/2006/table">
            <a:tbl>
              <a:tblPr firstRow="1" bandRow="1">
                <a:tableStyleId>{5C22544A-7EE6-4342-B048-85BDC9FD1C3A}</a:tableStyleId>
              </a:tblPr>
              <a:tblGrid>
                <a:gridCol w="2376152">
                  <a:extLst>
                    <a:ext uri="{9D8B030D-6E8A-4147-A177-3AD203B41FA5}">
                      <a16:colId xmlns:a16="http://schemas.microsoft.com/office/drawing/2014/main" val="885903952"/>
                    </a:ext>
                  </a:extLst>
                </a:gridCol>
                <a:gridCol w="2614683">
                  <a:extLst>
                    <a:ext uri="{9D8B030D-6E8A-4147-A177-3AD203B41FA5}">
                      <a16:colId xmlns:a16="http://schemas.microsoft.com/office/drawing/2014/main" val="3449545283"/>
                    </a:ext>
                  </a:extLst>
                </a:gridCol>
                <a:gridCol w="1640910">
                  <a:extLst>
                    <a:ext uri="{9D8B030D-6E8A-4147-A177-3AD203B41FA5}">
                      <a16:colId xmlns:a16="http://schemas.microsoft.com/office/drawing/2014/main" val="3508711057"/>
                    </a:ext>
                  </a:extLst>
                </a:gridCol>
                <a:gridCol w="1328192">
                  <a:extLst>
                    <a:ext uri="{9D8B030D-6E8A-4147-A177-3AD203B41FA5}">
                      <a16:colId xmlns:a16="http://schemas.microsoft.com/office/drawing/2014/main" val="2824962426"/>
                    </a:ext>
                  </a:extLst>
                </a:gridCol>
                <a:gridCol w="1126909">
                  <a:extLst>
                    <a:ext uri="{9D8B030D-6E8A-4147-A177-3AD203B41FA5}">
                      <a16:colId xmlns:a16="http://schemas.microsoft.com/office/drawing/2014/main" val="519346702"/>
                    </a:ext>
                  </a:extLst>
                </a:gridCol>
                <a:gridCol w="2738223">
                  <a:extLst>
                    <a:ext uri="{9D8B030D-6E8A-4147-A177-3AD203B41FA5}">
                      <a16:colId xmlns:a16="http://schemas.microsoft.com/office/drawing/2014/main" val="3980277870"/>
                    </a:ext>
                  </a:extLst>
                </a:gridCol>
              </a:tblGrid>
              <a:tr h="355301">
                <a:tc>
                  <a:txBody>
                    <a:bodyPr/>
                    <a:lstStyle/>
                    <a:p>
                      <a:pPr algn="ctr"/>
                      <a:r>
                        <a:rPr lang="zh-CN" altLang="en-US" sz="1600" dirty="0">
                          <a:latin typeface="Noto Sans SC" panose="020B0200000000000000" pitchFamily="34" charset="-122"/>
                          <a:ea typeface="Noto Sans SC" panose="020B0200000000000000" pitchFamily="34" charset="-122"/>
                        </a:rPr>
                        <a:t>人物</a:t>
                      </a:r>
                      <a:r>
                        <a:rPr lang="en-US" altLang="zh-CN" sz="1600" dirty="0"/>
                        <a:t>/</a:t>
                      </a:r>
                      <a:r>
                        <a:rPr lang="zh-CN" altLang="en-US" sz="1600" dirty="0"/>
                        <a:t>时间</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三原色</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归一化方式</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参考白光</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实际做了实验？</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备注</a:t>
                      </a:r>
                    </a:p>
                  </a:txBody>
                  <a:tcPr anchor="ctr"/>
                </a:tc>
                <a:extLst>
                  <a:ext uri="{0D108BD9-81ED-4DB2-BD59-A6C34878D82A}">
                    <a16:rowId xmlns:a16="http://schemas.microsoft.com/office/drawing/2014/main" val="3550712760"/>
                  </a:ext>
                </a:extLst>
              </a:tr>
              <a:tr h="37084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1928</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650nm</a:t>
                      </a:r>
                      <a:r>
                        <a:rPr lang="zh-CN" altLang="en-US" sz="1400" dirty="0"/>
                        <a:t>、</a:t>
                      </a:r>
                      <a:r>
                        <a:rPr lang="en-US" altLang="zh-CN" sz="1400" dirty="0"/>
                        <a:t>530nm</a:t>
                      </a:r>
                      <a:r>
                        <a:rPr lang="zh-CN" altLang="en-US" sz="1400" dirty="0"/>
                        <a:t>、</a:t>
                      </a:r>
                      <a:r>
                        <a:rPr lang="en-US" altLang="zh-CN" sz="1400" dirty="0"/>
                        <a:t>460nm</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582.5nm</a:t>
                      </a:r>
                      <a:r>
                        <a:rPr lang="zh-CN" altLang="en-US" sz="1400" dirty="0"/>
                        <a:t>时</a:t>
                      </a:r>
                      <a:r>
                        <a:rPr lang="en-US" altLang="zh-CN" sz="1400" dirty="0"/>
                        <a:t>R=G</a:t>
                      </a:r>
                    </a:p>
                    <a:p>
                      <a:pPr algn="ctr"/>
                      <a:r>
                        <a:rPr lang="en-US" altLang="zh-CN" sz="1400" dirty="0"/>
                        <a:t>494.0nm</a:t>
                      </a:r>
                      <a:r>
                        <a:rPr lang="zh-CN" altLang="en-US" sz="1400" dirty="0"/>
                        <a:t>时</a:t>
                      </a:r>
                      <a:r>
                        <a:rPr lang="en-US" altLang="zh-CN" sz="1400" dirty="0"/>
                        <a:t>G=B</a:t>
                      </a:r>
                      <a:endParaRPr lang="zh-CN" altLang="en-US" sz="1400" dirty="0"/>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无</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endParaRPr lang="en-US" altLang="zh-CN" sz="1400" dirty="0"/>
                    </a:p>
                    <a:p>
                      <a:pPr algn="ctr"/>
                      <a:r>
                        <a:rPr lang="zh-CN" altLang="en-US" sz="1400" dirty="0"/>
                        <a:t>匹配单色光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400nm-700nm</a:t>
                      </a:r>
                      <a:r>
                        <a:rPr lang="zh-CN" altLang="en-US" sz="1400" dirty="0"/>
                        <a:t>，每</a:t>
                      </a:r>
                      <a:r>
                        <a:rPr lang="en-US" altLang="zh-CN" sz="1400" dirty="0"/>
                        <a:t>10nm</a:t>
                      </a:r>
                    </a:p>
                    <a:p>
                      <a:pPr algn="ctr"/>
                      <a:r>
                        <a:rPr lang="en-US" altLang="zh-CN" sz="1400" dirty="0"/>
                        <a:t>10</a:t>
                      </a:r>
                      <a:r>
                        <a:rPr lang="zh-CN" altLang="en-US" sz="1400" dirty="0"/>
                        <a:t>名观察者，</a:t>
                      </a:r>
                      <a:r>
                        <a:rPr lang="en-US" altLang="zh-CN" sz="1400" dirty="0"/>
                        <a:t>2°</a:t>
                      </a:r>
                      <a:r>
                        <a:rPr lang="zh-CN" altLang="en-US" sz="1400" dirty="0"/>
                        <a:t>视角</a:t>
                      </a:r>
                    </a:p>
                  </a:txBody>
                  <a:tcPr anchor="ctr"/>
                </a:tc>
                <a:extLst>
                  <a:ext uri="{0D108BD9-81ED-4DB2-BD59-A6C34878D82A}">
                    <a16:rowId xmlns:a16="http://schemas.microsoft.com/office/drawing/2014/main" val="3560496226"/>
                  </a:ext>
                </a:extLst>
              </a:tr>
              <a:tr h="37084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1929</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650nm</a:t>
                      </a:r>
                      <a:r>
                        <a:rPr lang="zh-CN" altLang="en-US" sz="1400" dirty="0"/>
                        <a:t>、</a:t>
                      </a:r>
                      <a:r>
                        <a:rPr lang="en-US" altLang="zh-CN" sz="1400" dirty="0"/>
                        <a:t>530nm</a:t>
                      </a:r>
                      <a:r>
                        <a:rPr lang="zh-CN" altLang="en-US" sz="1400" dirty="0"/>
                        <a:t>、</a:t>
                      </a:r>
                      <a:r>
                        <a:rPr lang="en-US" altLang="zh-CN" sz="1400" dirty="0"/>
                        <a:t>460nm</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endParaRPr lang="en-US" altLang="zh-CN" sz="1400" dirty="0"/>
                    </a:p>
                    <a:p>
                      <a:pPr algn="ctr"/>
                      <a:r>
                        <a:rPr lang="zh-CN" altLang="en-US" sz="1400" dirty="0"/>
                        <a:t>匹配白光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36</a:t>
                      </a:r>
                      <a:r>
                        <a:rPr lang="zh-CN" altLang="en-US" sz="1400" dirty="0"/>
                        <a:t>名观察者</a:t>
                      </a:r>
                    </a:p>
                  </a:txBody>
                  <a:tcPr anchor="ctr"/>
                </a:tc>
                <a:extLst>
                  <a:ext uri="{0D108BD9-81ED-4DB2-BD59-A6C34878D82A}">
                    <a16:rowId xmlns:a16="http://schemas.microsoft.com/office/drawing/2014/main" val="4274478958"/>
                  </a:ext>
                </a:extLst>
              </a:tr>
              <a:tr h="37084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1930</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p>
                      <a:pPr algn="ctr"/>
                      <a:r>
                        <a:rPr lang="en-US" altLang="zh-CN" sz="1400" dirty="0"/>
                        <a:t>700nm</a:t>
                      </a:r>
                      <a:r>
                        <a:rPr lang="zh-CN" altLang="en-US" sz="1400" dirty="0"/>
                        <a:t>、</a:t>
                      </a:r>
                      <a:r>
                        <a:rPr lang="en-US" altLang="zh-CN" sz="1400" dirty="0"/>
                        <a:t>546.1nm</a:t>
                      </a:r>
                      <a:r>
                        <a:rPr lang="zh-CN" altLang="en-US" sz="1400" dirty="0"/>
                        <a:t>、</a:t>
                      </a:r>
                      <a:r>
                        <a:rPr lang="en-US" altLang="zh-CN" sz="1400" dirty="0"/>
                        <a:t>435.8nm</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数学变换得到</a:t>
                      </a:r>
                    </a:p>
                  </a:txBody>
                  <a:tcPr anchor="ctr"/>
                </a:tc>
                <a:extLst>
                  <a:ext uri="{0D108BD9-81ED-4DB2-BD59-A6C34878D82A}">
                    <a16:rowId xmlns:a16="http://schemas.microsoft.com/office/drawing/2014/main" val="2438593325"/>
                  </a:ext>
                </a:extLst>
              </a:tr>
              <a:tr h="370840">
                <a:tc>
                  <a:txBody>
                    <a:bodyPr/>
                    <a:lstStyle/>
                    <a:p>
                      <a:pPr algn="ctr"/>
                      <a:r>
                        <a:rPr lang="zh-CN" altLang="en-US" sz="1400" b="1" dirty="0">
                          <a:solidFill>
                            <a:schemeClr val="accent4">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4">
                              <a:lumMod val="50000"/>
                            </a:schemeClr>
                          </a:solidFill>
                        </a:rPr>
                        <a:t>2</a:t>
                      </a:r>
                      <a:r>
                        <a:rPr lang="zh-CN" altLang="en-US" sz="1400" dirty="0"/>
                        <a:t>： </a:t>
                      </a:r>
                      <a:r>
                        <a:rPr lang="en-US" altLang="zh-CN" sz="1400" dirty="0"/>
                        <a:t>Guild   1931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400" dirty="0">
                          <a:latin typeface="Noto Sans SC" panose="020B0200000000000000" pitchFamily="34" charset="-122"/>
                          <a:ea typeface="Noto Sans SC" panose="020B0200000000000000" pitchFamily="34" charset="-122"/>
                        </a:rPr>
                        <a:t>充气乳白灯泡</a:t>
                      </a:r>
                      <a:r>
                        <a:rPr lang="zh-CN" altLang="en-US" sz="1400" dirty="0"/>
                        <a:t>配上红绿蓝三</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种</a:t>
                      </a:r>
                      <a:r>
                        <a:rPr lang="zh-CN" altLang="zh-CN" sz="1400" dirty="0"/>
                        <a:t>明胶滤镜</a:t>
                      </a:r>
                      <a:r>
                        <a:rPr lang="zh-CN" altLang="en-US" sz="1400" dirty="0"/>
                        <a:t>，具体光谱未知</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380nm-780nm</a:t>
                      </a:r>
                      <a:r>
                        <a:rPr lang="zh-CN" altLang="en-US" sz="1400" dirty="0"/>
                        <a:t>，每</a:t>
                      </a:r>
                      <a:r>
                        <a:rPr lang="en-US" altLang="zh-CN" sz="1400" dirty="0"/>
                        <a:t>5nm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7</a:t>
                      </a:r>
                      <a:r>
                        <a:rPr lang="zh-CN" altLang="en-US" sz="1400" dirty="0"/>
                        <a:t>名观察者，</a:t>
                      </a:r>
                      <a:r>
                        <a:rPr lang="en-US" altLang="zh-CN" sz="1400" dirty="0"/>
                        <a:t>2°</a:t>
                      </a:r>
                      <a:r>
                        <a:rPr lang="zh-CN" altLang="en-US" sz="1400" dirty="0"/>
                        <a:t>视角</a:t>
                      </a:r>
                    </a:p>
                  </a:txBody>
                  <a:tcPr anchor="ctr"/>
                </a:tc>
                <a:extLst>
                  <a:ext uri="{0D108BD9-81ED-4DB2-BD59-A6C34878D82A}">
                    <a16:rowId xmlns:a16="http://schemas.microsoft.com/office/drawing/2014/main" val="1108105045"/>
                  </a:ext>
                </a:extLst>
              </a:tr>
              <a:tr h="370840">
                <a:tc>
                  <a:txBody>
                    <a:bodyPr/>
                    <a:lstStyle/>
                    <a:p>
                      <a:pPr algn="ctr"/>
                      <a:r>
                        <a:rPr lang="zh-CN" altLang="en-US" sz="1400" b="1" dirty="0">
                          <a:solidFill>
                            <a:schemeClr val="accent4">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4">
                              <a:lumMod val="50000"/>
                            </a:schemeClr>
                          </a:solidFill>
                        </a:rPr>
                        <a:t>2</a:t>
                      </a:r>
                      <a:r>
                        <a:rPr lang="zh-CN" altLang="en-US" sz="1400" dirty="0"/>
                        <a:t>： </a:t>
                      </a:r>
                      <a:r>
                        <a:rPr lang="en-US" altLang="zh-CN" sz="1400" dirty="0"/>
                        <a:t>Guild   1931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数学变换得到</a:t>
                      </a:r>
                    </a:p>
                  </a:txBody>
                  <a:tcPr anchor="ctr"/>
                </a:tc>
                <a:extLst>
                  <a:ext uri="{0D108BD9-81ED-4DB2-BD59-A6C34878D82A}">
                    <a16:rowId xmlns:a16="http://schemas.microsoft.com/office/drawing/2014/main" val="1786092775"/>
                  </a:ext>
                </a:extLst>
              </a:tr>
              <a:tr h="370840">
                <a:tc>
                  <a:txBody>
                    <a:bodyPr/>
                    <a:lstStyle/>
                    <a:p>
                      <a:pPr algn="ctr"/>
                      <a:r>
                        <a:rPr lang="zh-CN" altLang="en-US" sz="1400" b="1" dirty="0">
                          <a:latin typeface="Noto Sans SC" panose="020B0200000000000000" pitchFamily="34" charset="-122"/>
                          <a:ea typeface="Noto Sans SC" panose="020B0200000000000000" pitchFamily="34" charset="-122"/>
                        </a:rPr>
                        <a:t>合并</a:t>
                      </a:r>
                      <a:r>
                        <a:rPr lang="zh-CN" altLang="en-US" sz="1400" dirty="0"/>
                        <a:t>：   </a:t>
                      </a:r>
                      <a:r>
                        <a:rPr lang="en-US" altLang="zh-CN" sz="1400" dirty="0"/>
                        <a:t>Guild   1931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380nm-780nm</a:t>
                      </a:r>
                      <a:r>
                        <a:rPr lang="zh-CN" altLang="en-US" sz="1400" dirty="0"/>
                        <a:t>，每</a:t>
                      </a:r>
                      <a:r>
                        <a:rPr lang="en-US" altLang="zh-CN" sz="1400" dirty="0"/>
                        <a:t>5nm,</a:t>
                      </a:r>
                    </a:p>
                    <a:p>
                      <a:pPr algn="ctr"/>
                      <a:r>
                        <a:rPr lang="zh-CN" altLang="en-US" sz="1400" dirty="0"/>
                        <a:t>两人数据平均、曲线拟合、平滑</a:t>
                      </a:r>
                    </a:p>
                  </a:txBody>
                  <a:tcPr anchor="ctr"/>
                </a:tc>
                <a:extLst>
                  <a:ext uri="{0D108BD9-81ED-4DB2-BD59-A6C34878D82A}">
                    <a16:rowId xmlns:a16="http://schemas.microsoft.com/office/drawing/2014/main" val="66859143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CIE 1931 RGB color space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等能白光</a:t>
                      </a:r>
                      <a:r>
                        <a:rPr lang="en-US" altLang="zh-CN" sz="1400" dirty="0"/>
                        <a:t>EEW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数学变换到参考白光为</a:t>
                      </a:r>
                      <a:r>
                        <a:rPr lang="en-US" altLang="zh-CN" sz="1400" dirty="0"/>
                        <a:t>EEW</a:t>
                      </a:r>
                    </a:p>
                    <a:p>
                      <a:pPr algn="ctr"/>
                      <a:r>
                        <a:rPr lang="zh-CN" altLang="en-US" sz="1400" dirty="0"/>
                        <a:t>计算得到</a:t>
                      </a:r>
                      <a:r>
                        <a:rPr lang="en-US" altLang="zh-CN" sz="1400" dirty="0"/>
                        <a:t>CMFs</a:t>
                      </a:r>
                      <a:endParaRPr lang="zh-CN" altLang="en-US" sz="1400" dirty="0"/>
                    </a:p>
                  </a:txBody>
                  <a:tcPr anchor="ctr"/>
                </a:tc>
                <a:extLst>
                  <a:ext uri="{0D108BD9-81ED-4DB2-BD59-A6C34878D82A}">
                    <a16:rowId xmlns:a16="http://schemas.microsoft.com/office/drawing/2014/main" val="2714924672"/>
                  </a:ext>
                </a:extLst>
              </a:tr>
            </a:tbl>
          </a:graphicData>
        </a:graphic>
      </p:graphicFrame>
    </p:spTree>
    <p:extLst>
      <p:ext uri="{BB962C8B-B14F-4D97-AF65-F5344CB8AC3E}">
        <p14:creationId xmlns:p14="http://schemas.microsoft.com/office/powerpoint/2010/main" val="33398322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B381A-A60D-8FA8-C48E-C01C483D6B0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5C24C8E-874D-8C2B-2AD9-57CEAB949056}"/>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BD93A109-5F4A-1713-7F57-58A99872A442}"/>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RGB Chromaticity Coefficients</a:t>
            </a:r>
            <a:endParaRPr lang="zh-CN" altLang="en-US" sz="1100" b="1" dirty="0">
              <a:latin typeface="Noto Sans SC" panose="020B0200000000000000" pitchFamily="34" charset="-122"/>
              <a:ea typeface="Noto Sans SC" panose="020B0200000000000000" pitchFamily="34" charset="-122"/>
            </a:endParaRPr>
          </a:p>
        </p:txBody>
      </p:sp>
      <p:sp>
        <p:nvSpPr>
          <p:cNvPr id="2" name="文本框 1">
            <a:extLst>
              <a:ext uri="{FF2B5EF4-FFF2-40B4-BE49-F238E27FC236}">
                <a16:creationId xmlns:a16="http://schemas.microsoft.com/office/drawing/2014/main" id="{EBE5654F-520E-F617-B0FF-39FB9D28FB75}"/>
              </a:ext>
            </a:extLst>
          </p:cNvPr>
          <p:cNvSpPr txBox="1"/>
          <p:nvPr/>
        </p:nvSpPr>
        <p:spPr>
          <a:xfrm>
            <a:off x="263048" y="1918867"/>
            <a:ext cx="7139834" cy="4539704"/>
          </a:xfrm>
          <a:prstGeom prst="rect">
            <a:avLst/>
          </a:prstGeom>
          <a:noFill/>
        </p:spPr>
        <p:txBody>
          <a:bodyPr wrap="square" rtlCol="0">
            <a:spAutoFit/>
          </a:bodyPr>
          <a:lstStyle/>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我们再回过头来看看之前计算得到的光谱色度系数（</a:t>
            </a:r>
            <a:r>
              <a:rPr lang="en-US" altLang="zh-CN" sz="1700" dirty="0">
                <a:latin typeface="Noto Sans SC" panose="020B0200000000000000" pitchFamily="34" charset="-122"/>
                <a:ea typeface="Noto Sans SC" panose="020B0200000000000000" pitchFamily="34" charset="-122"/>
              </a:rPr>
              <a:t>Wright</a:t>
            </a:r>
            <a:r>
              <a:rPr lang="zh-CN" altLang="en-US" sz="1700" dirty="0">
                <a:latin typeface="Noto Sans SC" panose="020B0200000000000000" pitchFamily="34" charset="-122"/>
                <a:ea typeface="Noto Sans SC" panose="020B0200000000000000" pitchFamily="34" charset="-122"/>
              </a:rPr>
              <a:t>和</a:t>
            </a:r>
            <a:r>
              <a:rPr lang="en-US" altLang="zh-CN" sz="1700" dirty="0">
                <a:latin typeface="Noto Sans SC" panose="020B0200000000000000" pitchFamily="34" charset="-122"/>
                <a:ea typeface="Noto Sans SC" panose="020B0200000000000000" pitchFamily="34" charset="-122"/>
              </a:rPr>
              <a:t>Guild</a:t>
            </a:r>
            <a:r>
              <a:rPr lang="zh-CN" altLang="en-US" sz="1700" dirty="0">
                <a:latin typeface="Noto Sans SC" panose="020B0200000000000000" pitchFamily="34" charset="-122"/>
                <a:ea typeface="Noto Sans SC" panose="020B0200000000000000" pitchFamily="34" charset="-122"/>
              </a:rPr>
              <a:t>的实验数据合并后，并转换到了</a:t>
            </a:r>
            <a:r>
              <a:rPr lang="en-US" altLang="zh-CN" sz="1700" dirty="0">
                <a:latin typeface="Noto Sans SC" panose="020B0200000000000000" pitchFamily="34" charset="-122"/>
                <a:ea typeface="Noto Sans SC" panose="020B0200000000000000" pitchFamily="34" charset="-122"/>
              </a:rPr>
              <a:t>NPL</a:t>
            </a:r>
            <a:r>
              <a:rPr lang="zh-CN" altLang="en-US" sz="1700" dirty="0">
                <a:latin typeface="Noto Sans SC" panose="020B0200000000000000" pitchFamily="34" charset="-122"/>
                <a:ea typeface="Noto Sans SC" panose="020B0200000000000000" pitchFamily="34" charset="-122"/>
              </a:rPr>
              <a:t>标准三原色与</a:t>
            </a:r>
            <a:r>
              <a:rPr lang="en-US" altLang="zh-CN" sz="1700" dirty="0">
                <a:latin typeface="Noto Sans SC" panose="020B0200000000000000" pitchFamily="34" charset="-122"/>
                <a:ea typeface="Noto Sans SC" panose="020B0200000000000000" pitchFamily="34" charset="-122"/>
              </a:rPr>
              <a:t>EEW</a:t>
            </a:r>
            <a:r>
              <a:rPr lang="zh-CN" altLang="en-US" sz="1700" dirty="0">
                <a:latin typeface="Noto Sans SC" panose="020B0200000000000000" pitchFamily="34" charset="-122"/>
                <a:ea typeface="Noto Sans SC" panose="020B0200000000000000" pitchFamily="34" charset="-122"/>
              </a:rPr>
              <a:t>参考白光）。</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因为三个系数之和始终为</a:t>
            </a:r>
            <a:r>
              <a:rPr lang="en-US" altLang="zh-CN" sz="1700" dirty="0">
                <a:latin typeface="Noto Sans SC" panose="020B0200000000000000" pitchFamily="34" charset="-122"/>
                <a:ea typeface="Noto Sans SC" panose="020B0200000000000000" pitchFamily="34" charset="-122"/>
              </a:rPr>
              <a:t>1</a:t>
            </a:r>
            <a:r>
              <a:rPr lang="zh-CN" altLang="en-US" sz="1700" dirty="0">
                <a:latin typeface="Noto Sans SC" panose="020B0200000000000000" pitchFamily="34" charset="-122"/>
                <a:ea typeface="Noto Sans SC" panose="020B0200000000000000" pitchFamily="34" charset="-122"/>
              </a:rPr>
              <a:t>，因此，当给定了</a:t>
            </a:r>
            <a:r>
              <a:rPr lang="en-US" altLang="zh-CN" sz="1700" dirty="0">
                <a:latin typeface="Noto Sans SC" panose="020B0200000000000000" pitchFamily="34" charset="-122"/>
                <a:ea typeface="Noto Sans SC" panose="020B0200000000000000" pitchFamily="34" charset="-122"/>
              </a:rPr>
              <a:t>r</a:t>
            </a:r>
            <a:r>
              <a:rPr lang="zh-CN" altLang="en-US" sz="1700" dirty="0">
                <a:latin typeface="Noto Sans SC" panose="020B0200000000000000" pitchFamily="34" charset="-122"/>
                <a:ea typeface="Noto Sans SC" panose="020B0200000000000000" pitchFamily="34" charset="-122"/>
              </a:rPr>
              <a:t>和</a:t>
            </a:r>
            <a:r>
              <a:rPr lang="en-US" altLang="zh-CN" sz="1700" dirty="0">
                <a:latin typeface="Noto Sans SC" panose="020B0200000000000000" pitchFamily="34" charset="-122"/>
                <a:ea typeface="Noto Sans SC" panose="020B0200000000000000" pitchFamily="34" charset="-122"/>
              </a:rPr>
              <a:t>g</a:t>
            </a:r>
            <a:r>
              <a:rPr lang="zh-CN" altLang="en-US" sz="1700" dirty="0">
                <a:latin typeface="Noto Sans SC" panose="020B0200000000000000" pitchFamily="34" charset="-122"/>
                <a:ea typeface="Noto Sans SC" panose="020B0200000000000000" pitchFamily="34" charset="-122"/>
              </a:rPr>
              <a:t>后，可以通过</a:t>
            </a:r>
            <a:r>
              <a:rPr lang="en-US" altLang="zh-CN" sz="1700" dirty="0">
                <a:latin typeface="Noto Sans SC" panose="020B0200000000000000" pitchFamily="34" charset="-122"/>
                <a:ea typeface="Noto Sans SC" panose="020B0200000000000000" pitchFamily="34" charset="-122"/>
              </a:rPr>
              <a:t>b=1-r-g</a:t>
            </a:r>
            <a:r>
              <a:rPr lang="zh-CN" altLang="en-US" sz="1700" dirty="0">
                <a:latin typeface="Noto Sans SC" panose="020B0200000000000000" pitchFamily="34" charset="-122"/>
                <a:ea typeface="Noto Sans SC" panose="020B0200000000000000" pitchFamily="34" charset="-122"/>
              </a:rPr>
              <a:t>直接计算得到</a:t>
            </a:r>
            <a:r>
              <a:rPr lang="en-US" altLang="zh-CN" sz="1700" dirty="0">
                <a:latin typeface="Noto Sans SC" panose="020B0200000000000000" pitchFamily="34" charset="-122"/>
                <a:ea typeface="Noto Sans SC" panose="020B0200000000000000" pitchFamily="34" charset="-122"/>
              </a:rPr>
              <a:t>b</a:t>
            </a:r>
            <a:r>
              <a:rPr lang="zh-CN" altLang="en-US" sz="1700" dirty="0">
                <a:latin typeface="Noto Sans SC" panose="020B0200000000000000" pitchFamily="34" charset="-122"/>
                <a:ea typeface="Noto Sans SC" panose="020B0200000000000000" pitchFamily="34" charset="-122"/>
              </a:rPr>
              <a:t>。于是，我们就可以用</a:t>
            </a:r>
            <a:r>
              <a:rPr lang="en-US" altLang="zh-CN" sz="1700" dirty="0">
                <a:latin typeface="Noto Sans SC" panose="020B0200000000000000" pitchFamily="34" charset="-122"/>
                <a:ea typeface="Noto Sans SC" panose="020B0200000000000000" pitchFamily="34" charset="-122"/>
              </a:rPr>
              <a:t>r</a:t>
            </a:r>
            <a:r>
              <a:rPr lang="zh-CN" altLang="en-US" sz="1700" dirty="0">
                <a:latin typeface="Noto Sans SC" panose="020B0200000000000000" pitchFamily="34" charset="-122"/>
                <a:ea typeface="Noto Sans SC" panose="020B0200000000000000" pitchFamily="34" charset="-122"/>
              </a:rPr>
              <a:t>和</a:t>
            </a:r>
            <a:r>
              <a:rPr lang="en-US" altLang="zh-CN" sz="1700" dirty="0">
                <a:latin typeface="Noto Sans SC" panose="020B0200000000000000" pitchFamily="34" charset="-122"/>
                <a:ea typeface="Noto Sans SC" panose="020B0200000000000000" pitchFamily="34" charset="-122"/>
              </a:rPr>
              <a:t>g</a:t>
            </a:r>
            <a:r>
              <a:rPr lang="zh-CN" altLang="en-US" sz="1700" dirty="0">
                <a:latin typeface="Noto Sans SC" panose="020B0200000000000000" pitchFamily="34" charset="-122"/>
                <a:ea typeface="Noto Sans SC" panose="020B0200000000000000" pitchFamily="34" charset="-122"/>
              </a:rPr>
              <a:t>两个参数，表示任意的色度。</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我们遍历可见光的波长，每个波长都可以得到对应的</a:t>
            </a:r>
            <a:r>
              <a:rPr lang="en-US" altLang="zh-CN" sz="1700" dirty="0">
                <a:latin typeface="Noto Sans SC" panose="020B0200000000000000" pitchFamily="34" charset="-122"/>
                <a:ea typeface="Noto Sans SC" panose="020B0200000000000000" pitchFamily="34" charset="-122"/>
              </a:rPr>
              <a:t>r</a:t>
            </a:r>
            <a:r>
              <a:rPr lang="zh-CN" altLang="en-US" sz="1700" dirty="0">
                <a:latin typeface="Noto Sans SC" panose="020B0200000000000000" pitchFamily="34" charset="-122"/>
                <a:ea typeface="Noto Sans SC" panose="020B0200000000000000" pitchFamily="34" charset="-122"/>
              </a:rPr>
              <a:t>、</a:t>
            </a:r>
            <a:r>
              <a:rPr lang="en-US" altLang="zh-CN" sz="1700" dirty="0">
                <a:latin typeface="Noto Sans SC" panose="020B0200000000000000" pitchFamily="34" charset="-122"/>
                <a:ea typeface="Noto Sans SC" panose="020B0200000000000000" pitchFamily="34" charset="-122"/>
              </a:rPr>
              <a:t>g</a:t>
            </a:r>
            <a:r>
              <a:rPr lang="zh-CN" altLang="en-US" sz="1700" dirty="0">
                <a:latin typeface="Noto Sans SC" panose="020B0200000000000000" pitchFamily="34" charset="-122"/>
                <a:ea typeface="Noto Sans SC" panose="020B0200000000000000" pitchFamily="34" charset="-122"/>
              </a:rPr>
              <a:t>系数。我们将他画在一个二维坐标系中。</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可以看到，单色光的轨迹形成的一个“凸形”，图中的</a:t>
            </a:r>
            <a:r>
              <a:rPr lang="en-US" altLang="zh-CN" sz="1700" dirty="0">
                <a:latin typeface="Noto Sans SC" panose="020B0200000000000000" pitchFamily="34" charset="-122"/>
                <a:ea typeface="Noto Sans SC" panose="020B0200000000000000" pitchFamily="34" charset="-122"/>
              </a:rPr>
              <a:t>W</a:t>
            </a:r>
            <a:r>
              <a:rPr lang="zh-CN" altLang="en-US" sz="1700" dirty="0">
                <a:latin typeface="Noto Sans SC" panose="020B0200000000000000" pitchFamily="34" charset="-122"/>
                <a:ea typeface="Noto Sans SC" panose="020B0200000000000000" pitchFamily="34" charset="-122"/>
              </a:rPr>
              <a:t>点，就是等能白光</a:t>
            </a:r>
            <a:r>
              <a:rPr lang="en-US" altLang="zh-CN" sz="1700" dirty="0">
                <a:latin typeface="Noto Sans SC" panose="020B0200000000000000" pitchFamily="34" charset="-122"/>
                <a:ea typeface="Noto Sans SC" panose="020B0200000000000000" pitchFamily="34" charset="-122"/>
              </a:rPr>
              <a:t>EEW</a:t>
            </a:r>
            <a:r>
              <a:rPr lang="zh-CN" altLang="en-US" sz="1700" dirty="0">
                <a:latin typeface="Noto Sans SC" panose="020B0200000000000000" pitchFamily="34" charset="-122"/>
                <a:ea typeface="Noto Sans SC" panose="020B0200000000000000" pitchFamily="34" charset="-122"/>
              </a:rPr>
              <a:t>的所在位置，它对应着</a:t>
            </a:r>
            <a:r>
              <a:rPr lang="en-US" altLang="zh-CN" sz="1700" dirty="0">
                <a:latin typeface="Noto Sans SC" panose="020B0200000000000000" pitchFamily="34" charset="-122"/>
                <a:ea typeface="Noto Sans SC" panose="020B0200000000000000" pitchFamily="34" charset="-122"/>
              </a:rPr>
              <a:t>r=g=b=1/3</a:t>
            </a:r>
            <a:r>
              <a:rPr lang="zh-CN" altLang="en-US" sz="1700" dirty="0">
                <a:latin typeface="Noto Sans SC" panose="020B0200000000000000" pitchFamily="34" charset="-122"/>
                <a:ea typeface="Noto Sans SC" panose="020B0200000000000000" pitchFamily="34" charset="-122"/>
              </a:rPr>
              <a:t>。任何的复合颜色光都是由单色光组合而成的，又因为颜色可以看作是线性的，所以 所有的颜色都是由单色光线性组合得到的，这隐含着，所有的颜色都位于单色光轨迹形成的“凸形”之内。此外，单色光的轨迹在两个边界波长处并不连着，因此，我们将两个端点连线，这条线被称为紫红线（</a:t>
            </a:r>
            <a:r>
              <a:rPr lang="zh-CN" altLang="zh-CN" sz="1700" dirty="0">
                <a:latin typeface="Noto Sans SC" panose="020B0200000000000000" pitchFamily="34" charset="-122"/>
                <a:ea typeface="Noto Sans SC" panose="020B0200000000000000" pitchFamily="34" charset="-122"/>
              </a:rPr>
              <a:t>Line of purples</a:t>
            </a:r>
            <a:r>
              <a:rPr lang="zh-CN" altLang="en-US" sz="1700" dirty="0">
                <a:latin typeface="Noto Sans SC" panose="020B0200000000000000" pitchFamily="34" charset="-122"/>
                <a:ea typeface="Noto Sans SC" panose="020B0200000000000000" pitchFamily="34" charset="-122"/>
              </a:rPr>
              <a:t>），而这两个端点则是人眼能看到的单色光的波长极值。</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此外，值得注意的一点是，如果将两个波长的单色光按照不同的比例混合，得到的颜色的色度会落在这两个波长单色光在色度图上的连线上，但是具体的位置并不会遵循混合的比例。</a:t>
            </a:r>
            <a:endParaRPr lang="en-US" altLang="zh-CN" sz="1700" dirty="0">
              <a:latin typeface="Noto Sans SC" panose="020B0200000000000000" pitchFamily="34" charset="-122"/>
              <a:ea typeface="Noto Sans SC" panose="020B0200000000000000" pitchFamily="34" charset="-122"/>
            </a:endParaRPr>
          </a:p>
        </p:txBody>
      </p:sp>
      <p:pic>
        <p:nvPicPr>
          <p:cNvPr id="8" name="图片 7">
            <a:extLst>
              <a:ext uri="{FF2B5EF4-FFF2-40B4-BE49-F238E27FC236}">
                <a16:creationId xmlns:a16="http://schemas.microsoft.com/office/drawing/2014/main" id="{DDBEC5E8-27B7-89CF-FB3A-C2E03C459E95}"/>
              </a:ext>
            </a:extLst>
          </p:cNvPr>
          <p:cNvPicPr>
            <a:picLocks noChangeAspect="1"/>
          </p:cNvPicPr>
          <p:nvPr/>
        </p:nvPicPr>
        <p:blipFill>
          <a:blip r:embed="rId2"/>
          <a:stretch>
            <a:fillRect/>
          </a:stretch>
        </p:blipFill>
        <p:spPr>
          <a:xfrm>
            <a:off x="7847555" y="4553038"/>
            <a:ext cx="3793297" cy="2320835"/>
          </a:xfrm>
          <a:prstGeom prst="rect">
            <a:avLst/>
          </a:prstGeom>
        </p:spPr>
      </p:pic>
      <p:pic>
        <p:nvPicPr>
          <p:cNvPr id="17" name="图片 16">
            <a:extLst>
              <a:ext uri="{FF2B5EF4-FFF2-40B4-BE49-F238E27FC236}">
                <a16:creationId xmlns:a16="http://schemas.microsoft.com/office/drawing/2014/main" id="{7C4A40A8-8F25-AA10-8EA4-10D0C530A414}"/>
              </a:ext>
            </a:extLst>
          </p:cNvPr>
          <p:cNvPicPr>
            <a:picLocks noChangeAspect="1"/>
          </p:cNvPicPr>
          <p:nvPr/>
        </p:nvPicPr>
        <p:blipFill>
          <a:blip r:embed="rId3"/>
          <a:stretch>
            <a:fillRect/>
          </a:stretch>
        </p:blipFill>
        <p:spPr>
          <a:xfrm>
            <a:off x="7784448" y="1311353"/>
            <a:ext cx="3950351" cy="3123643"/>
          </a:xfrm>
          <a:prstGeom prst="rect">
            <a:avLst/>
          </a:prstGeom>
        </p:spPr>
      </p:pic>
    </p:spTree>
    <p:extLst>
      <p:ext uri="{BB962C8B-B14F-4D97-AF65-F5344CB8AC3E}">
        <p14:creationId xmlns:p14="http://schemas.microsoft.com/office/powerpoint/2010/main" val="1105189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46AA-A7D1-2CF1-DAFF-C38C856E044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F1A428B-66AF-A82A-1F98-4356B5490762}"/>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67D6503E-6775-CDCD-4457-67B7100E1780}"/>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RGB Chromaticity Coefficients</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81A72920-EA8D-53C3-E706-71A8FB88FB67}"/>
                  </a:ext>
                </a:extLst>
              </p:cNvPr>
              <p:cNvSpPr txBox="1"/>
              <p:nvPr/>
            </p:nvSpPr>
            <p:spPr>
              <a:xfrm>
                <a:off x="81420" y="1918867"/>
                <a:ext cx="7615824" cy="4345420"/>
              </a:xfrm>
              <a:prstGeom prst="rect">
                <a:avLst/>
              </a:prstGeom>
              <a:noFill/>
            </p:spPr>
            <p:txBody>
              <a:bodyPr wrap="square" rtlCol="0">
                <a:spAutoFit/>
              </a:bodyPr>
              <a:lstStyle/>
              <a:p>
                <a:pPr algn="just"/>
                <a:r>
                  <a:rPr lang="zh-CN" altLang="en-US" sz="1600" dirty="0">
                    <a:latin typeface="Noto Sans SC" panose="020B0200000000000000" pitchFamily="34" charset="-122"/>
                    <a:ea typeface="Noto Sans SC" panose="020B0200000000000000" pitchFamily="34" charset="-122"/>
                  </a:rPr>
                  <a:t>         比如用相同的</a:t>
                </a:r>
                <a:r>
                  <a:rPr lang="en-US" altLang="zh-CN" sz="1600" dirty="0">
                    <a:latin typeface="Noto Sans SC" panose="020B0200000000000000" pitchFamily="34" charset="-122"/>
                    <a:ea typeface="Noto Sans SC" panose="020B0200000000000000" pitchFamily="34" charset="-122"/>
                  </a:rPr>
                  <a:t>500nm</a:t>
                </a:r>
                <a:r>
                  <a:rPr lang="zh-CN" altLang="en-US" sz="1600" dirty="0">
                    <a:latin typeface="Noto Sans SC" panose="020B0200000000000000" pitchFamily="34" charset="-122"/>
                    <a:ea typeface="Noto Sans SC" panose="020B0200000000000000" pitchFamily="34" charset="-122"/>
                  </a:rPr>
                  <a:t>和</a:t>
                </a:r>
                <a:r>
                  <a:rPr lang="en-US" altLang="zh-CN" sz="1600" dirty="0">
                    <a:latin typeface="Noto Sans SC" panose="020B0200000000000000" pitchFamily="34" charset="-122"/>
                    <a:ea typeface="Noto Sans SC" panose="020B0200000000000000" pitchFamily="34" charset="-122"/>
                  </a:rPr>
                  <a:t>560nm</a:t>
                </a:r>
                <a:r>
                  <a:rPr lang="zh-CN" altLang="en-US" sz="1600" dirty="0">
                    <a:latin typeface="Noto Sans SC" panose="020B0200000000000000" pitchFamily="34" charset="-122"/>
                    <a:ea typeface="Noto Sans SC" panose="020B0200000000000000" pitchFamily="34" charset="-122"/>
                  </a:rPr>
                  <a:t>的单色光等比例混合，得到的颜色会位于</a:t>
                </a:r>
                <a:r>
                  <a:rPr lang="en-US" altLang="zh-CN" sz="1600" dirty="0">
                    <a:latin typeface="Noto Sans SC" panose="020B0200000000000000" pitchFamily="34" charset="-122"/>
                    <a:ea typeface="Noto Sans SC" panose="020B0200000000000000" pitchFamily="34" charset="-122"/>
                  </a:rPr>
                  <a:t>500nm</a:t>
                </a:r>
                <a:r>
                  <a:rPr lang="zh-CN" altLang="en-US" sz="1600" dirty="0">
                    <a:latin typeface="Noto Sans SC" panose="020B0200000000000000" pitchFamily="34" charset="-122"/>
                    <a:ea typeface="Noto Sans SC" panose="020B0200000000000000" pitchFamily="34" charset="-122"/>
                  </a:rPr>
                  <a:t>和</a:t>
                </a:r>
                <a:r>
                  <a:rPr lang="en-US" altLang="zh-CN" sz="1600" dirty="0">
                    <a:latin typeface="Noto Sans SC" panose="020B0200000000000000" pitchFamily="34" charset="-122"/>
                    <a:ea typeface="Noto Sans SC" panose="020B0200000000000000" pitchFamily="34" charset="-122"/>
                  </a:rPr>
                  <a:t>560nm</a:t>
                </a:r>
                <a:r>
                  <a:rPr lang="zh-CN" altLang="en-US" sz="1600" dirty="0">
                    <a:latin typeface="Noto Sans SC" panose="020B0200000000000000" pitchFamily="34" charset="-122"/>
                    <a:ea typeface="Noto Sans SC" panose="020B0200000000000000" pitchFamily="34" charset="-122"/>
                  </a:rPr>
                  <a:t>的连线上，但是并不一定在连线的中点。具体位置为：</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sz="1600" i="1" dirty="0">
                          <a:latin typeface="Cambria Math" panose="02040503050406030204" pitchFamily="18" charset="0"/>
                        </a:rPr>
                        <m:t>令</m:t>
                      </m:r>
                      <m:r>
                        <a:rPr lang="zh-CN" altLang="en-US" sz="160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𝑟</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𝑅</m:t>
                          </m:r>
                        </m:e>
                        <m:sup>
                          <m:r>
                            <a:rPr lang="en-US" altLang="zh-CN" sz="1600" b="0" i="1" dirty="0" smtClean="0">
                              <a:latin typeface="Cambria Math" panose="02040503050406030204" pitchFamily="18" charset="0"/>
                            </a:rPr>
                            <m:t>′</m:t>
                          </m:r>
                        </m:sup>
                      </m:sSup>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500</m:t>
                          </m:r>
                          <m:r>
                            <a:rPr lang="en-US" altLang="zh-CN" sz="1600" b="0" i="1" dirty="0" smtClean="0">
                              <a:latin typeface="Cambria Math" panose="02040503050406030204" pitchFamily="18" charset="0"/>
                            </a:rPr>
                            <m:t>𝑛𝑚</m:t>
                          </m:r>
                        </m:e>
                      </m:d>
                      <m:r>
                        <a:rPr lang="en-US" altLang="zh-CN" sz="1600" b="0" i="1" dirty="0" smtClean="0">
                          <a:latin typeface="Cambria Math" panose="02040503050406030204" pitchFamily="18" charset="0"/>
                        </a:rPr>
                        <m:t>,  </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𝑔</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𝐺</m:t>
                          </m:r>
                        </m:e>
                        <m:sup>
                          <m:r>
                            <a:rPr lang="en-US" altLang="zh-CN" sz="1600" b="0" i="1" dirty="0" smtClean="0">
                              <a:latin typeface="Cambria Math" panose="02040503050406030204" pitchFamily="18" charset="0"/>
                            </a:rPr>
                            <m:t>′</m:t>
                          </m:r>
                        </m:sup>
                      </m:sSup>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500</m:t>
                          </m:r>
                          <m:r>
                            <a:rPr lang="en-US" altLang="zh-CN" sz="1600" i="1" dirty="0">
                              <a:latin typeface="Cambria Math" panose="02040503050406030204" pitchFamily="18" charset="0"/>
                            </a:rPr>
                            <m:t>𝑛𝑚</m:t>
                          </m:r>
                        </m:e>
                      </m:d>
                      <m:r>
                        <a:rPr lang="en-US" altLang="zh-CN" sz="1600" b="0" i="1" dirty="0" smtClean="0">
                          <a:latin typeface="Cambria Math" panose="02040503050406030204" pitchFamily="18" charset="0"/>
                        </a:rPr>
                        <m:t>,  </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𝑏</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𝐵</m:t>
                          </m:r>
                        </m:e>
                        <m:sup>
                          <m:r>
                            <a:rPr lang="en-US" altLang="zh-CN" sz="1600" b="0" i="1" dirty="0" smtClean="0">
                              <a:latin typeface="Cambria Math" panose="02040503050406030204" pitchFamily="18" charset="0"/>
                            </a:rPr>
                            <m:t>′</m:t>
                          </m:r>
                        </m:sup>
                      </m:sSup>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500</m:t>
                          </m:r>
                          <m:r>
                            <a:rPr lang="en-US" altLang="zh-CN" sz="1600" i="1" dirty="0">
                              <a:latin typeface="Cambria Math" panose="02040503050406030204" pitchFamily="18" charset="0"/>
                            </a:rPr>
                            <m:t>𝑛𝑚</m:t>
                          </m:r>
                        </m:e>
                      </m:d>
                    </m:oMath>
                  </m:oMathPara>
                </a14:m>
                <a:endParaRPr lang="en-US" altLang="zh-CN" sz="160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𝑟</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𝑔</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𝑏</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  </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𝑁</m:t>
                      </m:r>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𝑅</m:t>
                              </m:r>
                            </m:sub>
                          </m:sSub>
                          <m:r>
                            <a:rPr lang="en-US" altLang="zh-CN" sz="1600" i="1" dirty="0">
                              <a:latin typeface="Cambria Math" panose="02040503050406030204" pitchFamily="18" charset="0"/>
                              <a:ea typeface="Cambria Math" panose="02040503050406030204" pitchFamily="18" charset="0"/>
                            </a:rPr>
                            <m:t>∙</m:t>
                          </m:r>
                          <m:sSub>
                            <m:sSubPr>
                              <m:ctrlPr>
                                <a:rPr lang="en-US" altLang="zh-CN" sz="1600" b="0" i="1" dirty="0" smtClean="0">
                                  <a:latin typeface="Cambria Math" panose="02040503050406030204" pitchFamily="18" charset="0"/>
                                  <a:ea typeface="Cambria Math" panose="02040503050406030204" pitchFamily="18" charset="0"/>
                                </a:rPr>
                              </m:ctrlPr>
                            </m:sSubPr>
                            <m:e>
                              <m:r>
                                <a:rPr lang="en-US" altLang="zh-CN" sz="1600" b="0" i="1" dirty="0" smtClean="0">
                                  <a:latin typeface="Cambria Math" panose="02040503050406030204" pitchFamily="18" charset="0"/>
                                  <a:ea typeface="Cambria Math" panose="02040503050406030204" pitchFamily="18" charset="0"/>
                                </a:rPr>
                                <m:t>𝑟</m:t>
                              </m:r>
                            </m:e>
                            <m:sub>
                              <m:r>
                                <a:rPr lang="en-US" altLang="zh-CN" sz="1600" b="0" i="1" dirty="0" smtClean="0">
                                  <a:latin typeface="Cambria Math" panose="02040503050406030204" pitchFamily="18" charset="0"/>
                                  <a:ea typeface="Cambria Math" panose="02040503050406030204" pitchFamily="18" charset="0"/>
                                </a:rPr>
                                <m:t>1</m:t>
                              </m:r>
                            </m:sub>
                          </m:sSub>
                          <m:r>
                            <a:rPr lang="en-US" altLang="zh-CN" sz="1600" b="0" i="1" dirty="0" smtClean="0">
                              <a:latin typeface="Cambria Math" panose="02040503050406030204" pitchFamily="18" charset="0"/>
                              <a:ea typeface="Cambria Math" panose="02040503050406030204" pitchFamily="18" charset="0"/>
                            </a:rPr>
                            <m:t>+</m:t>
                          </m:r>
                          <m:sSub>
                            <m:sSubPr>
                              <m:ctrlPr>
                                <a:rPr lang="en-US" altLang="zh-CN" sz="1600" b="0" i="1" dirty="0" smtClean="0">
                                  <a:latin typeface="Cambria Math" panose="02040503050406030204" pitchFamily="18" charset="0"/>
                                  <a:ea typeface="Cambria Math" panose="02040503050406030204" pitchFamily="18" charset="0"/>
                                </a:rPr>
                              </m:ctrlPr>
                            </m:sSubPr>
                            <m:e>
                              <m:r>
                                <a:rPr lang="en-US" altLang="zh-CN" sz="1600" b="0" i="1" dirty="0" smtClean="0">
                                  <a:latin typeface="Cambria Math" panose="02040503050406030204" pitchFamily="18" charset="0"/>
                                  <a:ea typeface="Cambria Math" panose="02040503050406030204" pitchFamily="18" charset="0"/>
                                </a:rPr>
                                <m:t>𝐿</m:t>
                              </m:r>
                            </m:e>
                            <m:sub>
                              <m:r>
                                <a:rPr lang="en-US" altLang="zh-CN" sz="1600" b="0" i="1" dirty="0" smtClean="0">
                                  <a:latin typeface="Cambria Math" panose="02040503050406030204" pitchFamily="18" charset="0"/>
                                  <a:ea typeface="Cambria Math" panose="02040503050406030204" pitchFamily="18" charset="0"/>
                                </a:rPr>
                                <m:t>𝐺</m:t>
                              </m:r>
                            </m:sub>
                          </m:sSub>
                          <m:r>
                            <a:rPr lang="en-US" altLang="zh-CN" sz="1600" i="1" dirty="0">
                              <a:latin typeface="Cambria Math" panose="02040503050406030204" pitchFamily="18" charset="0"/>
                              <a:ea typeface="Cambria Math" panose="02040503050406030204" pitchFamily="18" charset="0"/>
                            </a:rPr>
                            <m:t>∙</m:t>
                          </m:r>
                          <m:sSub>
                            <m:sSubPr>
                              <m:ctrlPr>
                                <a:rPr lang="en-US" altLang="zh-CN" sz="1600" b="0" i="1" dirty="0" smtClean="0">
                                  <a:latin typeface="Cambria Math" panose="02040503050406030204" pitchFamily="18" charset="0"/>
                                  <a:ea typeface="Cambria Math" panose="02040503050406030204" pitchFamily="18" charset="0"/>
                                </a:rPr>
                              </m:ctrlPr>
                            </m:sSubPr>
                            <m:e>
                              <m:r>
                                <a:rPr lang="en-US" altLang="zh-CN" sz="1600" b="0" i="1" dirty="0" smtClean="0">
                                  <a:latin typeface="Cambria Math" panose="02040503050406030204" pitchFamily="18" charset="0"/>
                                  <a:ea typeface="Cambria Math" panose="02040503050406030204" pitchFamily="18" charset="0"/>
                                </a:rPr>
                                <m:t>𝑔</m:t>
                              </m:r>
                            </m:e>
                            <m:sub>
                              <m:r>
                                <a:rPr lang="en-US" altLang="zh-CN" sz="1600" b="0" i="1" dirty="0" smtClean="0">
                                  <a:latin typeface="Cambria Math" panose="02040503050406030204" pitchFamily="18" charset="0"/>
                                  <a:ea typeface="Cambria Math" panose="02040503050406030204" pitchFamily="18" charset="0"/>
                                </a:rPr>
                                <m:t>1</m:t>
                              </m:r>
                            </m:sub>
                          </m:sSub>
                          <m:r>
                            <a:rPr lang="en-US" altLang="zh-CN" sz="1600" b="0" i="1" dirty="0" smtClean="0">
                              <a:latin typeface="Cambria Math" panose="02040503050406030204" pitchFamily="18" charset="0"/>
                              <a:ea typeface="Cambria Math" panose="02040503050406030204" pitchFamily="18" charset="0"/>
                            </a:rPr>
                            <m:t>+</m:t>
                          </m:r>
                          <m:sSub>
                            <m:sSubPr>
                              <m:ctrlPr>
                                <a:rPr lang="en-US" altLang="zh-CN" sz="1600" b="0" i="1" dirty="0" smtClean="0">
                                  <a:latin typeface="Cambria Math" panose="02040503050406030204" pitchFamily="18" charset="0"/>
                                  <a:ea typeface="Cambria Math" panose="02040503050406030204" pitchFamily="18" charset="0"/>
                                </a:rPr>
                              </m:ctrlPr>
                            </m:sSubPr>
                            <m:e>
                              <m:r>
                                <a:rPr lang="en-US" altLang="zh-CN" sz="1600" b="0" i="1" dirty="0" smtClean="0">
                                  <a:latin typeface="Cambria Math" panose="02040503050406030204" pitchFamily="18" charset="0"/>
                                  <a:ea typeface="Cambria Math" panose="02040503050406030204" pitchFamily="18" charset="0"/>
                                </a:rPr>
                                <m:t>𝐿</m:t>
                              </m:r>
                            </m:e>
                            <m:sub>
                              <m:r>
                                <a:rPr lang="en-US" altLang="zh-CN" sz="1600" b="0" i="1" dirty="0" smtClean="0">
                                  <a:latin typeface="Cambria Math" panose="02040503050406030204" pitchFamily="18" charset="0"/>
                                  <a:ea typeface="Cambria Math" panose="02040503050406030204" pitchFamily="18" charset="0"/>
                                </a:rPr>
                                <m:t>𝐵</m:t>
                              </m:r>
                            </m:sub>
                          </m:sSub>
                          <m:r>
                            <a:rPr lang="en-US" altLang="zh-CN" sz="1600" i="1" dirty="0">
                              <a:latin typeface="Cambria Math" panose="02040503050406030204" pitchFamily="18" charset="0"/>
                              <a:ea typeface="Cambria Math" panose="02040503050406030204" pitchFamily="18" charset="0"/>
                            </a:rPr>
                            <m:t>∙</m:t>
                          </m:r>
                          <m:sSub>
                            <m:sSubPr>
                              <m:ctrlPr>
                                <a:rPr lang="en-US" altLang="zh-CN" sz="1600" b="0" i="1" dirty="0" smtClean="0">
                                  <a:latin typeface="Cambria Math" panose="02040503050406030204" pitchFamily="18" charset="0"/>
                                  <a:ea typeface="Cambria Math" panose="02040503050406030204" pitchFamily="18" charset="0"/>
                                </a:rPr>
                              </m:ctrlPr>
                            </m:sSubPr>
                            <m:e>
                              <m:r>
                                <a:rPr lang="en-US" altLang="zh-CN" sz="1600" b="0" i="1" dirty="0" smtClean="0">
                                  <a:latin typeface="Cambria Math" panose="02040503050406030204" pitchFamily="18" charset="0"/>
                                  <a:ea typeface="Cambria Math" panose="02040503050406030204" pitchFamily="18" charset="0"/>
                                </a:rPr>
                                <m:t>𝑏</m:t>
                              </m:r>
                            </m:e>
                            <m:sub>
                              <m:r>
                                <a:rPr lang="en-US" altLang="zh-CN" sz="1600" b="0" i="1" dirty="0" smtClean="0">
                                  <a:latin typeface="Cambria Math" panose="02040503050406030204" pitchFamily="18" charset="0"/>
                                  <a:ea typeface="Cambria Math" panose="02040503050406030204" pitchFamily="18" charset="0"/>
                                </a:rPr>
                                <m:t>1</m:t>
                              </m:r>
                            </m:sub>
                          </m:sSub>
                        </m:e>
                      </m:d>
                    </m:oMath>
                  </m:oMathPara>
                </a14:m>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sz="1600" i="1" dirty="0">
                          <a:latin typeface="Cambria Math" panose="02040503050406030204" pitchFamily="18" charset="0"/>
                        </a:rPr>
                        <m:t>令：</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𝑟</m:t>
                          </m:r>
                        </m:e>
                        <m:sub>
                          <m:r>
                            <a:rPr lang="en-US" altLang="zh-CN" sz="1600" b="0" i="1" dirty="0" smtClean="0">
                              <a:latin typeface="Cambria Math" panose="02040503050406030204" pitchFamily="18" charset="0"/>
                            </a:rPr>
                            <m:t>2</m:t>
                          </m:r>
                        </m:sub>
                      </m:sSub>
                      <m:r>
                        <a:rPr lang="en-US" altLang="zh-CN" sz="1600" i="1" dirty="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𝑅</m:t>
                          </m:r>
                        </m:e>
                        <m:sup>
                          <m:r>
                            <a:rPr lang="en-US" altLang="zh-CN" sz="1600" b="0" i="1" dirty="0" smtClean="0">
                              <a:latin typeface="Cambria Math" panose="02040503050406030204" pitchFamily="18" charset="0"/>
                            </a:rPr>
                            <m:t>′</m:t>
                          </m:r>
                        </m:sup>
                      </m:sSup>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5</m:t>
                          </m:r>
                          <m:r>
                            <a:rPr lang="en-US" altLang="zh-CN" sz="1600" b="0" i="1" dirty="0" smtClean="0">
                              <a:latin typeface="Cambria Math" panose="02040503050406030204" pitchFamily="18" charset="0"/>
                            </a:rPr>
                            <m:t>6</m:t>
                          </m:r>
                          <m:r>
                            <a:rPr lang="en-US" altLang="zh-CN" sz="1600" i="1" dirty="0">
                              <a:latin typeface="Cambria Math" panose="02040503050406030204" pitchFamily="18" charset="0"/>
                            </a:rPr>
                            <m:t>0</m:t>
                          </m:r>
                          <m:r>
                            <a:rPr lang="en-US" altLang="zh-CN" sz="1600" i="1" dirty="0">
                              <a:latin typeface="Cambria Math" panose="02040503050406030204" pitchFamily="18" charset="0"/>
                            </a:rPr>
                            <m:t>𝑛𝑚</m:t>
                          </m:r>
                        </m:e>
                      </m:d>
                      <m:r>
                        <a:rPr lang="en-US" altLang="zh-CN" sz="1600" i="1" dirty="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𝑔</m:t>
                          </m:r>
                        </m:e>
                        <m:sub>
                          <m:r>
                            <a:rPr lang="en-US" altLang="zh-CN" sz="1600" b="0" i="1" dirty="0" smtClean="0">
                              <a:latin typeface="Cambria Math" panose="02040503050406030204" pitchFamily="18" charset="0"/>
                            </a:rPr>
                            <m:t>2</m:t>
                          </m:r>
                        </m:sub>
                      </m:sSub>
                      <m:r>
                        <a:rPr lang="en-US" altLang="zh-CN" sz="1600" i="1" dirty="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𝐺</m:t>
                          </m:r>
                        </m:e>
                        <m:sup>
                          <m:r>
                            <a:rPr lang="en-US" altLang="zh-CN" sz="1600" b="0" i="1" dirty="0" smtClean="0">
                              <a:latin typeface="Cambria Math" panose="02040503050406030204" pitchFamily="18" charset="0"/>
                            </a:rPr>
                            <m:t>′</m:t>
                          </m:r>
                        </m:sup>
                      </m:sSup>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5</m:t>
                          </m:r>
                          <m:r>
                            <a:rPr lang="en-US" altLang="zh-CN" sz="1600" b="0" i="1" dirty="0" smtClean="0">
                              <a:latin typeface="Cambria Math" panose="02040503050406030204" pitchFamily="18" charset="0"/>
                            </a:rPr>
                            <m:t>6</m:t>
                          </m:r>
                          <m:r>
                            <a:rPr lang="en-US" altLang="zh-CN" sz="1600" i="1" dirty="0">
                              <a:latin typeface="Cambria Math" panose="02040503050406030204" pitchFamily="18" charset="0"/>
                            </a:rPr>
                            <m:t>0</m:t>
                          </m:r>
                          <m:r>
                            <a:rPr lang="en-US" altLang="zh-CN" sz="1600" i="1" dirty="0">
                              <a:latin typeface="Cambria Math" panose="02040503050406030204" pitchFamily="18" charset="0"/>
                            </a:rPr>
                            <m:t>𝑛𝑚</m:t>
                          </m:r>
                        </m:e>
                      </m:d>
                      <m:r>
                        <a:rPr lang="en-US" altLang="zh-CN" sz="1600" i="1" dirty="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𝑏</m:t>
                          </m:r>
                        </m:e>
                        <m:sub>
                          <m:r>
                            <a:rPr lang="en-US" altLang="zh-CN" sz="1600" b="0" i="1" dirty="0" smtClean="0">
                              <a:latin typeface="Cambria Math" panose="02040503050406030204" pitchFamily="18" charset="0"/>
                            </a:rPr>
                            <m:t>2</m:t>
                          </m:r>
                        </m:sub>
                      </m:sSub>
                      <m:r>
                        <a:rPr lang="en-US" altLang="zh-CN" sz="1600" i="1" dirty="0">
                          <a:latin typeface="Cambria Math" panose="02040503050406030204" pitchFamily="18" charset="0"/>
                        </a:rPr>
                        <m:t>=</m:t>
                      </m:r>
                      <m:sSup>
                        <m:sSupPr>
                          <m:ctrlPr>
                            <a:rPr lang="en-US" altLang="zh-CN" sz="1600" b="0" i="1" dirty="0" smtClean="0">
                              <a:latin typeface="Cambria Math" panose="02040503050406030204" pitchFamily="18" charset="0"/>
                            </a:rPr>
                          </m:ctrlPr>
                        </m:sSupPr>
                        <m:e>
                          <m:r>
                            <a:rPr lang="en-US" altLang="zh-CN" sz="1600" b="0" i="1" dirty="0" smtClean="0">
                              <a:latin typeface="Cambria Math" panose="02040503050406030204" pitchFamily="18" charset="0"/>
                            </a:rPr>
                            <m:t>𝐵</m:t>
                          </m:r>
                        </m:e>
                        <m:sup>
                          <m:r>
                            <a:rPr lang="en-US" altLang="zh-CN" sz="1600" b="0" i="1" dirty="0" smtClean="0">
                              <a:latin typeface="Cambria Math" panose="02040503050406030204" pitchFamily="18" charset="0"/>
                            </a:rPr>
                            <m:t>′</m:t>
                          </m:r>
                        </m:sup>
                      </m:sSup>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5</m:t>
                          </m:r>
                          <m:r>
                            <a:rPr lang="en-US" altLang="zh-CN" sz="1600" b="0" i="1" dirty="0" smtClean="0">
                              <a:latin typeface="Cambria Math" panose="02040503050406030204" pitchFamily="18" charset="0"/>
                            </a:rPr>
                            <m:t>6</m:t>
                          </m:r>
                          <m:r>
                            <a:rPr lang="en-US" altLang="zh-CN" sz="1600" i="1" dirty="0">
                              <a:latin typeface="Cambria Math" panose="02040503050406030204" pitchFamily="18" charset="0"/>
                            </a:rPr>
                            <m:t>0</m:t>
                          </m:r>
                          <m:r>
                            <a:rPr lang="en-US" altLang="zh-CN" sz="1600" i="1" dirty="0">
                              <a:latin typeface="Cambria Math" panose="02040503050406030204" pitchFamily="18" charset="0"/>
                            </a:rPr>
                            <m:t>𝑛𝑚</m:t>
                          </m:r>
                        </m:e>
                      </m:d>
                    </m:oMath>
                  </m:oMathPara>
                </a14:m>
                <a:endParaRPr lang="en-US" altLang="zh-CN" sz="160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b="0" i="1" dirty="0" smtClean="0">
                              <a:latin typeface="Cambria Math" panose="02040503050406030204" pitchFamily="18" charset="0"/>
                            </a:rPr>
                            <m:t>2</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𝑟</m:t>
                          </m:r>
                        </m:e>
                        <m:sub>
                          <m:r>
                            <a:rPr lang="en-US" altLang="zh-CN" sz="1600" b="0" i="1" dirty="0" smtClean="0">
                              <a:latin typeface="Cambria Math" panose="02040503050406030204" pitchFamily="18" charset="0"/>
                            </a:rPr>
                            <m:t>2</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𝑔</m:t>
                          </m:r>
                        </m:e>
                        <m:sub>
                          <m:r>
                            <a:rPr lang="en-US" altLang="zh-CN" sz="1600" b="0" i="1" dirty="0" smtClean="0">
                              <a:latin typeface="Cambria Math" panose="02040503050406030204" pitchFamily="18" charset="0"/>
                            </a:rPr>
                            <m:t>2</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𝑏</m:t>
                          </m:r>
                        </m:e>
                        <m:sub>
                          <m:r>
                            <a:rPr lang="en-US" altLang="zh-CN" sz="1600" b="0" i="1" dirty="0" smtClean="0">
                              <a:latin typeface="Cambria Math" panose="02040503050406030204" pitchFamily="18" charset="0"/>
                            </a:rPr>
                            <m:t>2</m:t>
                          </m:r>
                        </m:sub>
                      </m:sSub>
                      <m:r>
                        <a:rPr lang="en-US" altLang="zh-CN" sz="1600" i="1" dirty="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b="0" i="1" dirty="0" smtClean="0">
                              <a:latin typeface="Cambria Math" panose="02040503050406030204" pitchFamily="18" charset="0"/>
                            </a:rPr>
                            <m:t>2</m:t>
                          </m:r>
                        </m:sub>
                      </m:sSub>
                      <m:r>
                        <a:rPr lang="en-US" altLang="zh-CN" sz="1600" i="1" dirty="0">
                          <a:latin typeface="Cambria Math" panose="02040503050406030204" pitchFamily="18" charset="0"/>
                        </a:rPr>
                        <m:t>=</m:t>
                      </m:r>
                      <m:r>
                        <a:rPr lang="en-US" altLang="zh-CN" sz="1600" b="0" i="1" dirty="0" smtClean="0">
                          <a:latin typeface="Cambria Math" panose="02040503050406030204" pitchFamily="18" charset="0"/>
                        </a:rPr>
                        <m:t>𝑁</m:t>
                      </m:r>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𝐿</m:t>
                              </m:r>
                            </m:e>
                            <m:sub>
                              <m:r>
                                <a:rPr lang="en-US" altLang="zh-CN" sz="1600" i="1" dirty="0">
                                  <a:latin typeface="Cambria Math" panose="02040503050406030204" pitchFamily="18" charset="0"/>
                                </a:rPr>
                                <m:t>𝑅</m:t>
                              </m:r>
                            </m:sub>
                          </m:sSub>
                          <m:r>
                            <a:rPr lang="en-US" altLang="zh-CN" sz="1600" i="1" dirty="0">
                              <a:latin typeface="Cambria Math" panose="02040503050406030204" pitchFamily="18" charset="0"/>
                              <a:ea typeface="Cambria Math" panose="02040503050406030204" pitchFamily="18" charset="0"/>
                            </a:rPr>
                            <m:t>∙</m:t>
                          </m:r>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𝑟</m:t>
                              </m:r>
                            </m:e>
                            <m:sub>
                              <m:r>
                                <a:rPr lang="en-US" altLang="zh-CN" sz="1600" b="0" i="1" dirty="0" smtClean="0">
                                  <a:latin typeface="Cambria Math" panose="02040503050406030204" pitchFamily="18" charset="0"/>
                                  <a:ea typeface="Cambria Math" panose="02040503050406030204" pitchFamily="18" charset="0"/>
                                </a:rPr>
                                <m:t>2</m:t>
                              </m:r>
                            </m:sub>
                          </m:sSub>
                          <m:r>
                            <a:rPr lang="en-US" altLang="zh-CN" sz="1600" i="1" dirty="0">
                              <a:latin typeface="Cambria Math" panose="02040503050406030204" pitchFamily="18" charset="0"/>
                              <a:ea typeface="Cambria Math" panose="02040503050406030204" pitchFamily="18" charset="0"/>
                            </a:rPr>
                            <m:t>+</m:t>
                          </m:r>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𝐿</m:t>
                              </m:r>
                            </m:e>
                            <m:sub>
                              <m:r>
                                <a:rPr lang="en-US" altLang="zh-CN" sz="1600" i="1" dirty="0">
                                  <a:latin typeface="Cambria Math" panose="02040503050406030204" pitchFamily="18" charset="0"/>
                                  <a:ea typeface="Cambria Math" panose="02040503050406030204" pitchFamily="18" charset="0"/>
                                </a:rPr>
                                <m:t>𝐺</m:t>
                              </m:r>
                            </m:sub>
                          </m:sSub>
                          <m:r>
                            <a:rPr lang="en-US" altLang="zh-CN" sz="1600" i="1" dirty="0">
                              <a:latin typeface="Cambria Math" panose="02040503050406030204" pitchFamily="18" charset="0"/>
                              <a:ea typeface="Cambria Math" panose="02040503050406030204" pitchFamily="18" charset="0"/>
                            </a:rPr>
                            <m:t>∙</m:t>
                          </m:r>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𝑔</m:t>
                              </m:r>
                            </m:e>
                            <m:sub>
                              <m:r>
                                <a:rPr lang="en-US" altLang="zh-CN" sz="1600" b="0" i="1" dirty="0" smtClean="0">
                                  <a:latin typeface="Cambria Math" panose="02040503050406030204" pitchFamily="18" charset="0"/>
                                  <a:ea typeface="Cambria Math" panose="02040503050406030204" pitchFamily="18" charset="0"/>
                                </a:rPr>
                                <m:t>2</m:t>
                              </m:r>
                            </m:sub>
                          </m:sSub>
                          <m:r>
                            <a:rPr lang="en-US" altLang="zh-CN" sz="1600" i="1" dirty="0">
                              <a:latin typeface="Cambria Math" panose="02040503050406030204" pitchFamily="18" charset="0"/>
                              <a:ea typeface="Cambria Math" panose="02040503050406030204" pitchFamily="18" charset="0"/>
                            </a:rPr>
                            <m:t>+</m:t>
                          </m:r>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𝐿</m:t>
                              </m:r>
                            </m:e>
                            <m:sub>
                              <m:r>
                                <a:rPr lang="en-US" altLang="zh-CN" sz="1600" i="1" dirty="0">
                                  <a:latin typeface="Cambria Math" panose="02040503050406030204" pitchFamily="18" charset="0"/>
                                  <a:ea typeface="Cambria Math" panose="02040503050406030204" pitchFamily="18" charset="0"/>
                                </a:rPr>
                                <m:t>𝐵</m:t>
                              </m:r>
                            </m:sub>
                          </m:sSub>
                          <m:r>
                            <a:rPr lang="en-US" altLang="zh-CN" sz="1600" i="1" dirty="0">
                              <a:latin typeface="Cambria Math" panose="02040503050406030204" pitchFamily="18" charset="0"/>
                              <a:ea typeface="Cambria Math" panose="02040503050406030204" pitchFamily="18" charset="0"/>
                            </a:rPr>
                            <m:t>∙</m:t>
                          </m:r>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𝑏</m:t>
                              </m:r>
                            </m:e>
                            <m:sub>
                              <m:r>
                                <a:rPr lang="en-US" altLang="zh-CN" sz="1600" b="0" i="1" dirty="0" smtClean="0">
                                  <a:latin typeface="Cambria Math" panose="02040503050406030204" pitchFamily="18" charset="0"/>
                                  <a:ea typeface="Cambria Math" panose="02040503050406030204" pitchFamily="18" charset="0"/>
                                </a:rPr>
                                <m:t>2</m:t>
                              </m:r>
                            </m:sub>
                          </m:sSub>
                        </m:e>
                      </m:d>
                    </m:oMath>
                  </m:oMathPara>
                </a14:m>
                <a:endParaRPr lang="en-US" altLang="zh-CN" sz="160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0" i="1" dirty="0" smtClean="0">
                          <a:latin typeface="Cambria Math" panose="02040503050406030204" pitchFamily="18" charset="0"/>
                        </a:rPr>
                        <m:t>500</m:t>
                      </m:r>
                      <m:r>
                        <m:rPr>
                          <m:sty m:val="p"/>
                        </m:rPr>
                        <a:rPr lang="en-US" altLang="zh-CN" sz="1600" i="1" dirty="0">
                          <a:latin typeface="Cambria Math" panose="02040503050406030204" pitchFamily="18" charset="0"/>
                        </a:rPr>
                        <m:t>nm</m:t>
                      </m:r>
                      <m:r>
                        <a:rPr lang="zh-CN" altLang="en-US" sz="1600" i="1" dirty="0" smtClean="0">
                          <a:latin typeface="Cambria Math" panose="02040503050406030204" pitchFamily="18" charset="0"/>
                        </a:rPr>
                        <m:t>对应</m:t>
                      </m:r>
                      <m:r>
                        <a:rPr lang="zh-CN" altLang="en-US" sz="1600" i="1" dirty="0">
                          <a:latin typeface="Cambria Math" panose="02040503050406030204" pitchFamily="18" charset="0"/>
                        </a:rPr>
                        <m:t>坐标</m:t>
                      </m:r>
                      <m:r>
                        <a:rPr lang="zh-CN" altLang="en-US" sz="160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𝑃</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d>
                        <m:dPr>
                          <m:ctrlPr>
                            <a:rPr lang="en-US" altLang="zh-CN" sz="1600" b="0" i="1" dirty="0" smtClean="0">
                              <a:latin typeface="Cambria Math" panose="02040503050406030204" pitchFamily="18" charset="0"/>
                            </a:rPr>
                          </m:ctrlPr>
                        </m:dPr>
                        <m:e>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𝑟</m:t>
                                  </m:r>
                                </m:e>
                                <m:sub>
                                  <m:r>
                                    <a:rPr lang="en-US" altLang="zh-CN" sz="1600" b="0" i="1" dirty="0" smtClean="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1</m:t>
                                  </m:r>
                                </m:sub>
                              </m:sSub>
                            </m:den>
                          </m:f>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𝑔</m:t>
                                  </m:r>
                                </m:e>
                                <m:sub>
                                  <m:r>
                                    <a:rPr lang="en-US" altLang="zh-CN" sz="1600" b="0" i="1" dirty="0" smtClean="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1</m:t>
                                  </m:r>
                                </m:sub>
                              </m:sSub>
                            </m:den>
                          </m:f>
                        </m:e>
                      </m:d>
                      <m:r>
                        <a:rPr lang="en-US" altLang="zh-CN" sz="1600" b="0" i="1" dirty="0" smtClean="0">
                          <a:latin typeface="Cambria Math" panose="02040503050406030204" pitchFamily="18" charset="0"/>
                        </a:rPr>
                        <m:t>,  560</m:t>
                      </m:r>
                      <m:r>
                        <a:rPr lang="en-US" altLang="zh-CN" sz="1600" b="0" i="1" dirty="0" smtClean="0">
                          <a:latin typeface="Cambria Math" panose="02040503050406030204" pitchFamily="18" charset="0"/>
                        </a:rPr>
                        <m:t>𝑛𝑚</m:t>
                      </m:r>
                      <m:r>
                        <a:rPr lang="zh-CN" altLang="en-US" sz="1600" i="1" dirty="0">
                          <a:latin typeface="Cambria Math" panose="02040503050406030204" pitchFamily="18" charset="0"/>
                        </a:rPr>
                        <m:t>对应坐标</m:t>
                      </m:r>
                      <m:r>
                        <a:rPr lang="zh-CN" altLang="en-US" sz="160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𝑃</m:t>
                          </m:r>
                        </m:e>
                        <m:sub>
                          <m:r>
                            <a:rPr lang="en-US" altLang="zh-CN" sz="1600" b="0" i="1" dirty="0" smtClean="0">
                              <a:latin typeface="Cambria Math" panose="02040503050406030204" pitchFamily="18" charset="0"/>
                            </a:rPr>
                            <m:t>2</m:t>
                          </m:r>
                        </m:sub>
                      </m:sSub>
                      <m:r>
                        <a:rPr lang="en-US" altLang="zh-CN" sz="1600" b="0" i="1" dirty="0" smtClean="0">
                          <a:latin typeface="Cambria Math" panose="02040503050406030204" pitchFamily="18" charset="0"/>
                        </a:rPr>
                        <m:t>=</m:t>
                      </m:r>
                      <m:d>
                        <m:dPr>
                          <m:ctrlPr>
                            <a:rPr lang="en-US" altLang="zh-CN" sz="1600" b="0" i="1" dirty="0" smtClean="0">
                              <a:latin typeface="Cambria Math" panose="02040503050406030204" pitchFamily="18" charset="0"/>
                            </a:rPr>
                          </m:ctrlPr>
                        </m:dPr>
                        <m:e>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𝑟</m:t>
                                  </m:r>
                                </m:e>
                                <m:sub>
                                  <m:r>
                                    <a:rPr lang="en-US" altLang="zh-CN" sz="1600" b="0" i="1" dirty="0" smtClean="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2</m:t>
                                  </m:r>
                                </m:sub>
                              </m:sSub>
                            </m:den>
                          </m:f>
                          <m:r>
                            <a:rPr lang="en-US" altLang="zh-CN" sz="1600" b="0" i="1" dirty="0" smtClean="0">
                              <a:latin typeface="Cambria Math" panose="02040503050406030204" pitchFamily="18" charset="0"/>
                            </a:rPr>
                            <m:t>, </m:t>
                          </m:r>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𝑔</m:t>
                                  </m:r>
                                </m:e>
                                <m:sub>
                                  <m:r>
                                    <a:rPr lang="en-US" altLang="zh-CN" sz="1600" b="0" i="1" dirty="0" smtClean="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2</m:t>
                                  </m:r>
                                </m:sub>
                              </m:sSub>
                            </m:den>
                          </m:f>
                        </m:e>
                      </m:d>
                    </m:oMath>
                  </m:oMathPara>
                </a14:m>
                <a:endParaRPr lang="en-US" altLang="zh-CN" sz="1600" b="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sz="1600" i="1" dirty="0">
                          <a:latin typeface="Cambria Math" panose="02040503050406030204" pitchFamily="18" charset="0"/>
                        </a:rPr>
                        <m:t>等</m:t>
                      </m:r>
                      <m:r>
                        <a:rPr lang="zh-CN" altLang="en-US" sz="1600" i="1" dirty="0" smtClean="0">
                          <a:latin typeface="Cambria Math" panose="02040503050406030204" pitchFamily="18" charset="0"/>
                        </a:rPr>
                        <m:t>功率</m:t>
                      </m:r>
                      <m:r>
                        <a:rPr lang="zh-CN" altLang="en-US" sz="1600" i="1" dirty="0">
                          <a:latin typeface="Cambria Math" panose="02040503050406030204" pitchFamily="18" charset="0"/>
                        </a:rPr>
                        <m:t>混合</m:t>
                      </m:r>
                      <m:r>
                        <a:rPr lang="zh-CN" altLang="en-US" sz="1600" i="1" dirty="0" smtClean="0">
                          <a:latin typeface="Cambria Math" panose="02040503050406030204" pitchFamily="18" charset="0"/>
                        </a:rPr>
                        <m:t>色</m:t>
                      </m:r>
                      <m:r>
                        <a:rPr lang="zh-CN" altLang="en-US" sz="1600" i="1" dirty="0">
                          <a:latin typeface="Cambria Math" panose="02040503050406030204" pitchFamily="18" charset="0"/>
                        </a:rPr>
                        <m:t>对应坐标</m:t>
                      </m:r>
                      <m:r>
                        <a:rPr lang="zh-CN" altLang="en-US" sz="1600" i="1" dirty="0" smtClean="0">
                          <a:latin typeface="Cambria Math" panose="02040503050406030204" pitchFamily="18" charset="0"/>
                        </a:rPr>
                        <m:t>：</m:t>
                      </m:r>
                      <m:d>
                        <m:dPr>
                          <m:ctrlPr>
                            <a:rPr lang="en-US" altLang="zh-CN" sz="1600" b="0" i="1" dirty="0" smtClean="0">
                              <a:latin typeface="Cambria Math" panose="02040503050406030204" pitchFamily="18" charset="0"/>
                            </a:rPr>
                          </m:ctrlPr>
                        </m:dPr>
                        <m:e>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𝑟</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𝑟</m:t>
                                  </m:r>
                                </m:e>
                                <m:sub>
                                  <m:r>
                                    <a:rPr lang="en-US" altLang="zh-CN" sz="1600" b="0" i="1" dirty="0" smtClean="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2</m:t>
                                  </m:r>
                                </m:sub>
                              </m:sSub>
                            </m:den>
                          </m:f>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𝑔</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𝑔</m:t>
                                  </m:r>
                                </m:e>
                                <m:sub>
                                  <m:r>
                                    <a:rPr lang="en-US" altLang="zh-CN" sz="1600" b="0" i="1" dirty="0" smtClean="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2</m:t>
                                  </m:r>
                                </m:sub>
                              </m:sSub>
                            </m:den>
                          </m:f>
                        </m:e>
                      </m:d>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𝑃</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2</m:t>
                              </m:r>
                            </m:sub>
                          </m:sSub>
                        </m:den>
                      </m:f>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𝑃</m:t>
                          </m:r>
                        </m:e>
                        <m:sub>
                          <m:r>
                            <a:rPr lang="en-US" altLang="zh-CN" sz="1600" b="0" i="1" dirty="0" smtClean="0">
                              <a:latin typeface="Cambria Math" panose="02040503050406030204" pitchFamily="18" charset="0"/>
                            </a:rPr>
                            <m:t>2</m:t>
                          </m:r>
                        </m:sub>
                      </m:sSub>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𝑡</m:t>
                              </m:r>
                            </m:e>
                            <m:sub>
                              <m:r>
                                <a:rPr lang="en-US" altLang="zh-CN" sz="1600" b="0" i="1" dirty="0" smtClean="0">
                                  <a:latin typeface="Cambria Math" panose="02040503050406030204" pitchFamily="18" charset="0"/>
                                </a:rPr>
                                <m:t>2</m:t>
                              </m:r>
                            </m:sub>
                          </m:sSub>
                        </m:den>
                      </m:f>
                    </m:oMath>
                  </m:oMathPara>
                </a14:m>
                <a:endParaRPr lang="en-US" altLang="zh-CN" sz="1600" b="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sz="1600" i="1" dirty="0">
                          <a:latin typeface="Cambria Math" panose="02040503050406030204" pitchFamily="18" charset="0"/>
                        </a:rPr>
                        <m:t>等</m:t>
                      </m:r>
                      <m:r>
                        <a:rPr lang="zh-CN" altLang="en-US" sz="1600" i="1" dirty="0" smtClean="0">
                          <a:latin typeface="Cambria Math" panose="02040503050406030204" pitchFamily="18" charset="0"/>
                        </a:rPr>
                        <m:t>亮度</m:t>
                      </m:r>
                      <m:r>
                        <a:rPr lang="zh-CN" altLang="en-US" sz="1600" i="1" dirty="0">
                          <a:latin typeface="Cambria Math" panose="02040503050406030204" pitchFamily="18" charset="0"/>
                        </a:rPr>
                        <m:t>混合色对应坐标：</m:t>
                      </m:r>
                      <m:d>
                        <m:dPr>
                          <m:ctrlPr>
                            <a:rPr lang="en-US" altLang="zh-CN" sz="1600" i="1" dirty="0">
                              <a:latin typeface="Cambria Math" panose="02040503050406030204" pitchFamily="18" charset="0"/>
                            </a:rPr>
                          </m:ctrlPr>
                        </m:dPr>
                        <m:e>
                          <m:f>
                            <m:fPr>
                              <m:ctrlPr>
                                <a:rPr lang="en-US" altLang="zh-CN" sz="1600" i="1" dirty="0">
                                  <a:latin typeface="Cambria Math" panose="02040503050406030204" pitchFamily="18" charset="0"/>
                                </a:rPr>
                              </m:ctrlPr>
                            </m:fPr>
                            <m:num>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𝑟</m:t>
                                      </m:r>
                                    </m:e>
                                    <m:sub>
                                      <m:r>
                                        <a:rPr lang="en-US" altLang="zh-CN" sz="1600" i="1" dirty="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1</m:t>
                                      </m:r>
                                    </m:sub>
                                  </m:sSub>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𝑟</m:t>
                                      </m:r>
                                    </m:e>
                                    <m:sub>
                                      <m:r>
                                        <a:rPr lang="en-US" altLang="zh-CN" sz="1600" i="1" dirty="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2</m:t>
                                      </m:r>
                                    </m:sub>
                                  </m:sSub>
                                </m:den>
                              </m:f>
                            </m:num>
                            <m:den>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1</m:t>
                                      </m:r>
                                    </m:sub>
                                  </m:sSub>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2</m:t>
                                      </m:r>
                                    </m:sub>
                                  </m:sSub>
                                </m:den>
                              </m:f>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𝑔</m:t>
                                      </m:r>
                                    </m:e>
                                    <m:sub>
                                      <m:r>
                                        <a:rPr lang="en-US" altLang="zh-CN" sz="1600" i="1" dirty="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1</m:t>
                                      </m:r>
                                    </m:sub>
                                  </m:sSub>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𝑔</m:t>
                                      </m:r>
                                    </m:e>
                                    <m:sub>
                                      <m:r>
                                        <a:rPr lang="en-US" altLang="zh-CN" sz="1600" i="1" dirty="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2</m:t>
                                      </m:r>
                                    </m:sub>
                                  </m:sSub>
                                </m:den>
                              </m:f>
                            </m:num>
                            <m:den>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1</m:t>
                                      </m:r>
                                    </m:sub>
                                  </m:sSub>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2</m:t>
                                      </m:r>
                                    </m:sub>
                                  </m:sSub>
                                </m:den>
                              </m:f>
                            </m:den>
                          </m:f>
                        </m:e>
                      </m:d>
                      <m:r>
                        <a:rPr lang="en-US" altLang="zh-CN" sz="1600" b="0" i="1" dirty="0" smtClean="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𝑃</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1</m:t>
                                  </m:r>
                                </m:sub>
                              </m:sSub>
                            </m:den>
                          </m:f>
                        </m:num>
                        <m:den>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1</m:t>
                                  </m:r>
                                </m:sub>
                              </m:sSub>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2</m:t>
                                  </m:r>
                                </m:sub>
                              </m:sSub>
                            </m:den>
                          </m:f>
                        </m:den>
                      </m:f>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𝑃</m:t>
                          </m:r>
                        </m:e>
                        <m:sub>
                          <m:r>
                            <a:rPr lang="en-US" altLang="zh-CN" sz="1600" i="1" dirty="0">
                              <a:latin typeface="Cambria Math" panose="02040503050406030204" pitchFamily="18" charset="0"/>
                            </a:rPr>
                            <m:t>2</m:t>
                          </m:r>
                        </m:sub>
                      </m:sSub>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2</m:t>
                                  </m:r>
                                </m:sub>
                              </m:sSub>
                            </m:den>
                          </m:f>
                        </m:num>
                        <m:den>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1</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1</m:t>
                                  </m:r>
                                </m:sub>
                              </m:sSub>
                            </m:den>
                          </m:f>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𝑡</m:t>
                                  </m:r>
                                </m:e>
                                <m:sub>
                                  <m:r>
                                    <a:rPr lang="en-US" altLang="zh-CN" sz="1600" i="1" dirty="0">
                                      <a:latin typeface="Cambria Math" panose="02040503050406030204" pitchFamily="18" charset="0"/>
                                    </a:rPr>
                                    <m:t>2</m:t>
                                  </m:r>
                                </m:sub>
                              </m:sSub>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𝐿</m:t>
                                  </m:r>
                                </m:e>
                                <m:sub>
                                  <m:r>
                                    <a:rPr lang="en-US" altLang="zh-CN" sz="1600" b="0" i="1" dirty="0" smtClean="0">
                                      <a:latin typeface="Cambria Math" panose="02040503050406030204" pitchFamily="18" charset="0"/>
                                    </a:rPr>
                                    <m:t>2</m:t>
                                  </m:r>
                                </m:sub>
                              </m:sSub>
                            </m:den>
                          </m:f>
                        </m:den>
                      </m:f>
                    </m:oMath>
                  </m:oMathPara>
                </a14:m>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由此可见，不管是等功率混合还是等亮度混合，得到的结果都在连线上，但是都不满足混合时的比例。</a:t>
                </a:r>
                <a:endParaRPr lang="en-US" altLang="zh-CN" sz="1600"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81A72920-EA8D-53C3-E706-71A8FB88FB67}"/>
                  </a:ext>
                </a:extLst>
              </p:cNvPr>
              <p:cNvSpPr txBox="1">
                <a:spLocks noRot="1" noChangeAspect="1" noMove="1" noResize="1" noEditPoints="1" noAdjustHandles="1" noChangeArrowheads="1" noChangeShapeType="1" noTextEdit="1"/>
              </p:cNvSpPr>
              <p:nvPr/>
            </p:nvSpPr>
            <p:spPr>
              <a:xfrm>
                <a:off x="81420" y="1918867"/>
                <a:ext cx="7615824" cy="4345420"/>
              </a:xfrm>
              <a:prstGeom prst="rect">
                <a:avLst/>
              </a:prstGeom>
              <a:blipFill>
                <a:blip r:embed="rId2"/>
                <a:stretch>
                  <a:fillRect l="-400" t="-421" b="-701"/>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89D7E899-F1B3-EC7F-15C9-F75826388D96}"/>
              </a:ext>
            </a:extLst>
          </p:cNvPr>
          <p:cNvPicPr>
            <a:picLocks noChangeAspect="1"/>
          </p:cNvPicPr>
          <p:nvPr/>
        </p:nvPicPr>
        <p:blipFill>
          <a:blip r:embed="rId3"/>
          <a:stretch>
            <a:fillRect/>
          </a:stretch>
        </p:blipFill>
        <p:spPr>
          <a:xfrm>
            <a:off x="7847555" y="4553038"/>
            <a:ext cx="3793297" cy="2320835"/>
          </a:xfrm>
          <a:prstGeom prst="rect">
            <a:avLst/>
          </a:prstGeom>
        </p:spPr>
      </p:pic>
      <p:grpSp>
        <p:nvGrpSpPr>
          <p:cNvPr id="57" name="组合 56">
            <a:extLst>
              <a:ext uri="{FF2B5EF4-FFF2-40B4-BE49-F238E27FC236}">
                <a16:creationId xmlns:a16="http://schemas.microsoft.com/office/drawing/2014/main" id="{EAE71E00-8203-D1D9-4E69-160AB569D523}"/>
              </a:ext>
            </a:extLst>
          </p:cNvPr>
          <p:cNvGrpSpPr/>
          <p:nvPr/>
        </p:nvGrpSpPr>
        <p:grpSpPr>
          <a:xfrm>
            <a:off x="7784448" y="1311353"/>
            <a:ext cx="3950351" cy="3123643"/>
            <a:chOff x="7784448" y="1311353"/>
            <a:chExt cx="3950351" cy="3123643"/>
          </a:xfrm>
        </p:grpSpPr>
        <p:pic>
          <p:nvPicPr>
            <p:cNvPr id="54" name="图片 53">
              <a:extLst>
                <a:ext uri="{FF2B5EF4-FFF2-40B4-BE49-F238E27FC236}">
                  <a16:creationId xmlns:a16="http://schemas.microsoft.com/office/drawing/2014/main" id="{338C65E8-95BF-20D6-EE09-D378FB8DC137}"/>
                </a:ext>
              </a:extLst>
            </p:cNvPr>
            <p:cNvPicPr>
              <a:picLocks noChangeAspect="1"/>
            </p:cNvPicPr>
            <p:nvPr/>
          </p:nvPicPr>
          <p:blipFill>
            <a:blip r:embed="rId4"/>
            <a:stretch>
              <a:fillRect/>
            </a:stretch>
          </p:blipFill>
          <p:spPr>
            <a:xfrm>
              <a:off x="7784448" y="1311353"/>
              <a:ext cx="3950351" cy="3123643"/>
            </a:xfrm>
            <a:prstGeom prst="rect">
              <a:avLst/>
            </a:prstGeom>
          </p:spPr>
        </p:pic>
        <p:cxnSp>
          <p:nvCxnSpPr>
            <p:cNvPr id="4" name="直接连接符 3">
              <a:extLst>
                <a:ext uri="{FF2B5EF4-FFF2-40B4-BE49-F238E27FC236}">
                  <a16:creationId xmlns:a16="http://schemas.microsoft.com/office/drawing/2014/main" id="{D1D10345-6FC4-732D-7767-5E4475C5B8F8}"/>
                </a:ext>
              </a:extLst>
            </p:cNvPr>
            <p:cNvCxnSpPr>
              <a:cxnSpLocks/>
            </p:cNvCxnSpPr>
            <p:nvPr/>
          </p:nvCxnSpPr>
          <p:spPr>
            <a:xfrm>
              <a:off x="8555567" y="2465917"/>
              <a:ext cx="1852083" cy="69638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C3142133-A499-3930-F005-E8BE75E18B90}"/>
                </a:ext>
              </a:extLst>
            </p:cNvPr>
            <p:cNvSpPr/>
            <p:nvPr/>
          </p:nvSpPr>
          <p:spPr>
            <a:xfrm>
              <a:off x="8535055" y="2445905"/>
              <a:ext cx="56367" cy="5636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0" name="椭圆 9">
              <a:extLst>
                <a:ext uri="{FF2B5EF4-FFF2-40B4-BE49-F238E27FC236}">
                  <a16:creationId xmlns:a16="http://schemas.microsoft.com/office/drawing/2014/main" id="{5605EDC4-9922-836F-FB57-C9B649D3060F}"/>
                </a:ext>
              </a:extLst>
            </p:cNvPr>
            <p:cNvSpPr/>
            <p:nvPr/>
          </p:nvSpPr>
          <p:spPr>
            <a:xfrm>
              <a:off x="10376741" y="3137740"/>
              <a:ext cx="56367" cy="5636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D22550A-72F7-6D31-030A-F171B3E8E2FB}"/>
                    </a:ext>
                  </a:extLst>
                </p:cNvPr>
                <p:cNvSpPr txBox="1"/>
                <p:nvPr/>
              </p:nvSpPr>
              <p:spPr>
                <a:xfrm>
                  <a:off x="8291147" y="2553584"/>
                  <a:ext cx="28584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𝑷</m:t>
                            </m:r>
                          </m:e>
                          <m:sub>
                            <m:r>
                              <a:rPr lang="en-US" altLang="zh-CN" sz="1600" b="1" i="1" smtClean="0">
                                <a:latin typeface="Cambria Math" panose="02040503050406030204" pitchFamily="18" charset="0"/>
                              </a:rPr>
                              <m:t>𝟏</m:t>
                            </m:r>
                          </m:sub>
                        </m:sSub>
                      </m:oMath>
                    </m:oMathPara>
                  </a14:m>
                  <a:endParaRPr lang="zh-CN" altLang="en-US" sz="1600" b="1" dirty="0">
                    <a:latin typeface="Noto Sans SC" panose="020B0200000000000000" pitchFamily="34" charset="-122"/>
                    <a:ea typeface="Noto Sans SC" panose="020B0200000000000000" pitchFamily="34" charset="-122"/>
                  </a:endParaRPr>
                </a:p>
              </p:txBody>
            </p:sp>
          </mc:Choice>
          <mc:Fallback xmlns="">
            <p:sp>
              <p:nvSpPr>
                <p:cNvPr id="11" name="文本框 10">
                  <a:extLst>
                    <a:ext uri="{FF2B5EF4-FFF2-40B4-BE49-F238E27FC236}">
                      <a16:creationId xmlns:a16="http://schemas.microsoft.com/office/drawing/2014/main" id="{CD22550A-72F7-6D31-030A-F171B3E8E2FB}"/>
                    </a:ext>
                  </a:extLst>
                </p:cNvPr>
                <p:cNvSpPr txBox="1">
                  <a:spLocks noRot="1" noChangeAspect="1" noMove="1" noResize="1" noEditPoints="1" noAdjustHandles="1" noChangeArrowheads="1" noChangeShapeType="1" noTextEdit="1"/>
                </p:cNvSpPr>
                <p:nvPr/>
              </p:nvSpPr>
              <p:spPr>
                <a:xfrm>
                  <a:off x="8291147" y="2553584"/>
                  <a:ext cx="285847" cy="246221"/>
                </a:xfrm>
                <a:prstGeom prst="rect">
                  <a:avLst/>
                </a:prstGeom>
                <a:blipFill>
                  <a:blip r:embed="rId5"/>
                  <a:stretch>
                    <a:fillRect l="-14894" t="-27500" r="-51064"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7B20B54D-D234-1B1A-063C-9192BB17B3A7}"/>
                    </a:ext>
                  </a:extLst>
                </p:cNvPr>
                <p:cNvSpPr txBox="1"/>
                <p:nvPr/>
              </p:nvSpPr>
              <p:spPr>
                <a:xfrm>
                  <a:off x="10308298" y="3241514"/>
                  <a:ext cx="28584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𝑷</m:t>
                            </m:r>
                          </m:e>
                          <m:sub>
                            <m:r>
                              <a:rPr lang="en-US" altLang="zh-CN" sz="1600" b="1" i="1" smtClean="0">
                                <a:latin typeface="Cambria Math" panose="02040503050406030204" pitchFamily="18" charset="0"/>
                              </a:rPr>
                              <m:t>𝟐</m:t>
                            </m:r>
                          </m:sub>
                        </m:sSub>
                      </m:oMath>
                    </m:oMathPara>
                  </a14:m>
                  <a:endParaRPr lang="zh-CN" altLang="en-US" sz="1600" b="1" dirty="0">
                    <a:latin typeface="Noto Sans SC" panose="020B0200000000000000" pitchFamily="34" charset="-122"/>
                    <a:ea typeface="Noto Sans SC" panose="020B0200000000000000" pitchFamily="34" charset="-122"/>
                  </a:endParaRPr>
                </a:p>
              </p:txBody>
            </p:sp>
          </mc:Choice>
          <mc:Fallback xmlns="">
            <p:sp>
              <p:nvSpPr>
                <p:cNvPr id="13" name="文本框 12">
                  <a:extLst>
                    <a:ext uri="{FF2B5EF4-FFF2-40B4-BE49-F238E27FC236}">
                      <a16:creationId xmlns:a16="http://schemas.microsoft.com/office/drawing/2014/main" id="{7B20B54D-D234-1B1A-063C-9192BB17B3A7}"/>
                    </a:ext>
                  </a:extLst>
                </p:cNvPr>
                <p:cNvSpPr txBox="1">
                  <a:spLocks noRot="1" noChangeAspect="1" noMove="1" noResize="1" noEditPoints="1" noAdjustHandles="1" noChangeArrowheads="1" noChangeShapeType="1" noTextEdit="1"/>
                </p:cNvSpPr>
                <p:nvPr/>
              </p:nvSpPr>
              <p:spPr>
                <a:xfrm>
                  <a:off x="10308298" y="3241514"/>
                  <a:ext cx="285847" cy="246221"/>
                </a:xfrm>
                <a:prstGeom prst="rect">
                  <a:avLst/>
                </a:prstGeom>
                <a:blipFill>
                  <a:blip r:embed="rId6"/>
                  <a:stretch>
                    <a:fillRect l="-17021" t="-27500" r="-48936" b="-50000"/>
                  </a:stretch>
                </a:blipFill>
              </p:spPr>
              <p:txBody>
                <a:bodyPr/>
                <a:lstStyle/>
                <a:p>
                  <a:r>
                    <a:rPr lang="zh-CN" altLang="en-US">
                      <a:noFill/>
                    </a:rPr>
                    <a:t> </a:t>
                  </a:r>
                </a:p>
              </p:txBody>
            </p:sp>
          </mc:Fallback>
        </mc:AlternateContent>
        <p:sp>
          <p:nvSpPr>
            <p:cNvPr id="16" name="椭圆 15">
              <a:extLst>
                <a:ext uri="{FF2B5EF4-FFF2-40B4-BE49-F238E27FC236}">
                  <a16:creationId xmlns:a16="http://schemas.microsoft.com/office/drawing/2014/main" id="{3C28C942-8025-A1AF-E9DF-C53ACA91615A}"/>
                </a:ext>
              </a:extLst>
            </p:cNvPr>
            <p:cNvSpPr/>
            <p:nvPr/>
          </p:nvSpPr>
          <p:spPr>
            <a:xfrm>
              <a:off x="9453424" y="2785924"/>
              <a:ext cx="56367" cy="5636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8" name="椭圆 17">
              <a:extLst>
                <a:ext uri="{FF2B5EF4-FFF2-40B4-BE49-F238E27FC236}">
                  <a16:creationId xmlns:a16="http://schemas.microsoft.com/office/drawing/2014/main" id="{10AA0E8B-9157-0FFF-BD80-A791620F5AEB}"/>
                </a:ext>
              </a:extLst>
            </p:cNvPr>
            <p:cNvSpPr/>
            <p:nvPr/>
          </p:nvSpPr>
          <p:spPr>
            <a:xfrm>
              <a:off x="10024701" y="3001497"/>
              <a:ext cx="56367" cy="5636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20" name="椭圆 19">
              <a:extLst>
                <a:ext uri="{FF2B5EF4-FFF2-40B4-BE49-F238E27FC236}">
                  <a16:creationId xmlns:a16="http://schemas.microsoft.com/office/drawing/2014/main" id="{BB15406F-DBAA-2755-12B6-A8A7A6FB281E}"/>
                </a:ext>
              </a:extLst>
            </p:cNvPr>
            <p:cNvSpPr/>
            <p:nvPr/>
          </p:nvSpPr>
          <p:spPr>
            <a:xfrm>
              <a:off x="9629741" y="2849314"/>
              <a:ext cx="56367" cy="5636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22" name="直接箭头连接符 21">
              <a:extLst>
                <a:ext uri="{FF2B5EF4-FFF2-40B4-BE49-F238E27FC236}">
                  <a16:creationId xmlns:a16="http://schemas.microsoft.com/office/drawing/2014/main" id="{F38E7ED4-0845-7A82-C30C-190A43DDF172}"/>
                </a:ext>
              </a:extLst>
            </p:cNvPr>
            <p:cNvCxnSpPr>
              <a:cxnSpLocks/>
              <a:endCxn id="25" idx="2"/>
            </p:cNvCxnSpPr>
            <p:nvPr/>
          </p:nvCxnSpPr>
          <p:spPr>
            <a:xfrm flipH="1" flipV="1">
              <a:off x="9038081" y="1612042"/>
              <a:ext cx="423009" cy="110472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1DC73055-9130-07AC-D201-5E6811FB037D}"/>
                    </a:ext>
                  </a:extLst>
                </p:cNvPr>
                <p:cNvSpPr txBox="1"/>
                <p:nvPr/>
              </p:nvSpPr>
              <p:spPr>
                <a:xfrm>
                  <a:off x="8658169" y="1331452"/>
                  <a:ext cx="759823" cy="280590"/>
                </a:xfrm>
                <a:prstGeom prst="rect">
                  <a:avLst/>
                </a:prstGeom>
                <a:noFill/>
                <a:ln w="19050">
                  <a:solidFill>
                    <a:srgbClr val="FF0000"/>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中间点</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25" name="文本框 24">
                  <a:extLst>
                    <a:ext uri="{FF2B5EF4-FFF2-40B4-BE49-F238E27FC236}">
                      <a16:creationId xmlns:a16="http://schemas.microsoft.com/office/drawing/2014/main" id="{1DC73055-9130-07AC-D201-5E6811FB037D}"/>
                    </a:ext>
                  </a:extLst>
                </p:cNvPr>
                <p:cNvSpPr txBox="1">
                  <a:spLocks noRot="1" noChangeAspect="1" noMove="1" noResize="1" noEditPoints="1" noAdjustHandles="1" noChangeArrowheads="1" noChangeShapeType="1" noTextEdit="1"/>
                </p:cNvSpPr>
                <p:nvPr/>
              </p:nvSpPr>
              <p:spPr>
                <a:xfrm>
                  <a:off x="8658169" y="1331452"/>
                  <a:ext cx="759823" cy="280590"/>
                </a:xfrm>
                <a:prstGeom prst="rect">
                  <a:avLst/>
                </a:prstGeom>
                <a:blipFill>
                  <a:blip r:embed="rId7"/>
                  <a:stretch>
                    <a:fillRect l="-8594" t="-22449" r="-19531" b="-44898"/>
                  </a:stretch>
                </a:blipFill>
                <a:ln w="19050">
                  <a:solidFill>
                    <a:srgbClr val="FF0000"/>
                  </a:solidFill>
                </a:ln>
              </p:spPr>
              <p:txBody>
                <a:bodyPr/>
                <a:lstStyle/>
                <a:p>
                  <a:r>
                    <a:rPr lang="zh-CN" altLang="en-US">
                      <a:noFill/>
                    </a:rPr>
                    <a:t> </a:t>
                  </a:r>
                </a:p>
              </p:txBody>
            </p:sp>
          </mc:Fallback>
        </mc:AlternateContent>
        <p:cxnSp>
          <p:nvCxnSpPr>
            <p:cNvPr id="28" name="直接箭头连接符 27">
              <a:extLst>
                <a:ext uri="{FF2B5EF4-FFF2-40B4-BE49-F238E27FC236}">
                  <a16:creationId xmlns:a16="http://schemas.microsoft.com/office/drawing/2014/main" id="{9BF5546F-503F-E457-4F89-C6FD2F95132A}"/>
                </a:ext>
              </a:extLst>
            </p:cNvPr>
            <p:cNvCxnSpPr>
              <a:cxnSpLocks/>
              <a:endCxn id="35" idx="2"/>
            </p:cNvCxnSpPr>
            <p:nvPr/>
          </p:nvCxnSpPr>
          <p:spPr>
            <a:xfrm flipV="1">
              <a:off x="9693395" y="1618786"/>
              <a:ext cx="901853" cy="1158574"/>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772CF17E-E4DC-A72A-CCCC-F1128C70B7EF}"/>
                </a:ext>
              </a:extLst>
            </p:cNvPr>
            <p:cNvCxnSpPr>
              <a:cxnSpLocks/>
              <a:endCxn id="37" idx="2"/>
            </p:cNvCxnSpPr>
            <p:nvPr/>
          </p:nvCxnSpPr>
          <p:spPr>
            <a:xfrm flipV="1">
              <a:off x="10111805" y="2571422"/>
              <a:ext cx="818458" cy="393472"/>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D1407158-A1F6-97C5-2B80-1DDDB54F57D5}"/>
                    </a:ext>
                  </a:extLst>
                </p:cNvPr>
                <p:cNvSpPr txBox="1"/>
                <p:nvPr/>
              </p:nvSpPr>
              <p:spPr>
                <a:xfrm>
                  <a:off x="9984504" y="1336080"/>
                  <a:ext cx="1221488" cy="282706"/>
                </a:xfrm>
                <a:prstGeom prst="rect">
                  <a:avLst/>
                </a:prstGeom>
                <a:noFill/>
                <a:ln w="19050">
                  <a:solidFill>
                    <a:srgbClr val="F76409"/>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等亮度混合</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35" name="文本框 34">
                  <a:extLst>
                    <a:ext uri="{FF2B5EF4-FFF2-40B4-BE49-F238E27FC236}">
                      <a16:creationId xmlns:a16="http://schemas.microsoft.com/office/drawing/2014/main" id="{D1407158-A1F6-97C5-2B80-1DDDB54F57D5}"/>
                    </a:ext>
                  </a:extLst>
                </p:cNvPr>
                <p:cNvSpPr txBox="1">
                  <a:spLocks noRot="1" noChangeAspect="1" noMove="1" noResize="1" noEditPoints="1" noAdjustHandles="1" noChangeArrowheads="1" noChangeShapeType="1" noTextEdit="1"/>
                </p:cNvSpPr>
                <p:nvPr/>
              </p:nvSpPr>
              <p:spPr>
                <a:xfrm>
                  <a:off x="9984504" y="1336080"/>
                  <a:ext cx="1221488" cy="282706"/>
                </a:xfrm>
                <a:prstGeom prst="rect">
                  <a:avLst/>
                </a:prstGeom>
                <a:blipFill>
                  <a:blip r:embed="rId8"/>
                  <a:stretch>
                    <a:fillRect l="-5911" t="-22000" r="-11823" b="-42000"/>
                  </a:stretch>
                </a:blipFill>
                <a:ln w="19050">
                  <a:solidFill>
                    <a:srgbClr val="F76409"/>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8E48DB8-8B21-1466-EF44-70C4BE5B6844}"/>
                    </a:ext>
                  </a:extLst>
                </p:cNvPr>
                <p:cNvSpPr txBox="1"/>
                <p:nvPr/>
              </p:nvSpPr>
              <p:spPr>
                <a:xfrm>
                  <a:off x="10319519" y="2288716"/>
                  <a:ext cx="1221488" cy="282706"/>
                </a:xfrm>
                <a:prstGeom prst="rect">
                  <a:avLst/>
                </a:prstGeom>
                <a:noFill/>
                <a:ln w="19050">
                  <a:solidFill>
                    <a:srgbClr val="F76409"/>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等功率混合</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37" name="文本框 36">
                  <a:extLst>
                    <a:ext uri="{FF2B5EF4-FFF2-40B4-BE49-F238E27FC236}">
                      <a16:creationId xmlns:a16="http://schemas.microsoft.com/office/drawing/2014/main" id="{08E48DB8-8B21-1466-EF44-70C4BE5B6844}"/>
                    </a:ext>
                  </a:extLst>
                </p:cNvPr>
                <p:cNvSpPr txBox="1">
                  <a:spLocks noRot="1" noChangeAspect="1" noMove="1" noResize="1" noEditPoints="1" noAdjustHandles="1" noChangeArrowheads="1" noChangeShapeType="1" noTextEdit="1"/>
                </p:cNvSpPr>
                <p:nvPr/>
              </p:nvSpPr>
              <p:spPr>
                <a:xfrm>
                  <a:off x="10319519" y="2288716"/>
                  <a:ext cx="1221488" cy="282706"/>
                </a:xfrm>
                <a:prstGeom prst="rect">
                  <a:avLst/>
                </a:prstGeom>
                <a:blipFill>
                  <a:blip r:embed="rId9"/>
                  <a:stretch>
                    <a:fillRect l="-5911" t="-22000" r="-11823" b="-42000"/>
                  </a:stretch>
                </a:blipFill>
                <a:ln w="19050">
                  <a:solidFill>
                    <a:srgbClr val="F76409"/>
                  </a:solidFill>
                </a:ln>
              </p:spPr>
              <p:txBody>
                <a:bodyPr/>
                <a:lstStyle/>
                <a:p>
                  <a:r>
                    <a:rPr lang="zh-CN" altLang="en-US">
                      <a:noFill/>
                    </a:rPr>
                    <a:t> </a:t>
                  </a:r>
                </a:p>
              </p:txBody>
            </p:sp>
          </mc:Fallback>
        </mc:AlternateContent>
      </p:grpSp>
    </p:spTree>
    <p:extLst>
      <p:ext uri="{BB962C8B-B14F-4D97-AF65-F5344CB8AC3E}">
        <p14:creationId xmlns:p14="http://schemas.microsoft.com/office/powerpoint/2010/main" val="2411254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5E0F2-DE7B-0B63-0877-4985690E5DC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0EBACF2-A558-CE1E-2477-EA41E3BCAF66}"/>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C7054799-40EF-3D9D-5FCE-D05D1C7B0995}"/>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RGB Chromaticity Coefficients</a:t>
            </a:r>
            <a:endParaRPr lang="zh-CN" altLang="en-US" sz="1100" b="1" dirty="0">
              <a:latin typeface="Noto Sans SC" panose="020B0200000000000000" pitchFamily="34" charset="-122"/>
              <a:ea typeface="Noto Sans SC" panose="020B0200000000000000" pitchFamily="34" charset="-122"/>
            </a:endParaRPr>
          </a:p>
        </p:txBody>
      </p:sp>
      <p:sp>
        <p:nvSpPr>
          <p:cNvPr id="2" name="文本框 1">
            <a:extLst>
              <a:ext uri="{FF2B5EF4-FFF2-40B4-BE49-F238E27FC236}">
                <a16:creationId xmlns:a16="http://schemas.microsoft.com/office/drawing/2014/main" id="{C44A4ABC-B73E-7429-279D-AE546A18AD48}"/>
              </a:ext>
            </a:extLst>
          </p:cNvPr>
          <p:cNvSpPr txBox="1"/>
          <p:nvPr/>
        </p:nvSpPr>
        <p:spPr>
          <a:xfrm>
            <a:off x="263048" y="1918867"/>
            <a:ext cx="6766402" cy="2062103"/>
          </a:xfrm>
          <a:prstGeom prst="rect">
            <a:avLst/>
          </a:prstGeom>
          <a:noFill/>
        </p:spPr>
        <p:txBody>
          <a:bodyPr wrap="square" rtlCol="0">
            <a:spAutoFit/>
          </a:bodyPr>
          <a:lstStyle/>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现在我们把</a:t>
            </a:r>
            <a:r>
              <a:rPr lang="en-US" altLang="zh-CN" sz="1600" dirty="0">
                <a:latin typeface="Noto Sans SC" panose="020B0200000000000000" pitchFamily="34" charset="-122"/>
                <a:ea typeface="Noto Sans SC" panose="020B0200000000000000" pitchFamily="34" charset="-122"/>
              </a:rPr>
              <a:t>Wright</a:t>
            </a:r>
            <a:r>
              <a:rPr lang="zh-CN" altLang="en-US" sz="1600" dirty="0">
                <a:latin typeface="Noto Sans SC" panose="020B0200000000000000" pitchFamily="34" charset="-122"/>
                <a:ea typeface="Noto Sans SC" panose="020B0200000000000000" pitchFamily="34" charset="-122"/>
              </a:rPr>
              <a:t>选择的三原色</a:t>
            </a:r>
            <a:r>
              <a:rPr lang="en-US" altLang="zh-CN" sz="1600" dirty="0">
                <a:latin typeface="Noto Sans SC" panose="020B0200000000000000" pitchFamily="34" charset="-122"/>
                <a:ea typeface="Noto Sans SC" panose="020B0200000000000000" pitchFamily="34" charset="-122"/>
              </a:rPr>
              <a:t>(</a:t>
            </a:r>
            <a:r>
              <a:rPr lang="zh-CN" altLang="zh-CN" sz="1600" dirty="0">
                <a:latin typeface="Noto Sans SC" panose="020B0200000000000000" pitchFamily="34" charset="-122"/>
                <a:ea typeface="Noto Sans SC" panose="020B0200000000000000" pitchFamily="34" charset="-122"/>
              </a:rPr>
              <a:t>650</a:t>
            </a:r>
            <a:r>
              <a:rPr lang="en-US" altLang="zh-CN" sz="1600" dirty="0">
                <a:latin typeface="Noto Sans SC" panose="020B0200000000000000" pitchFamily="34" charset="-122"/>
                <a:ea typeface="Noto Sans SC" panose="020B0200000000000000" pitchFamily="34" charset="-122"/>
              </a:rPr>
              <a:t>nm</a:t>
            </a:r>
            <a:r>
              <a:rPr lang="zh-CN" altLang="en-US" sz="1600" dirty="0">
                <a:latin typeface="Noto Sans SC" panose="020B0200000000000000" pitchFamily="34" charset="-122"/>
                <a:ea typeface="Noto Sans SC" panose="020B0200000000000000" pitchFamily="34" charset="-122"/>
              </a:rPr>
              <a:t>、</a:t>
            </a:r>
            <a:r>
              <a:rPr lang="en-US" altLang="zh-CN" sz="1600" dirty="0">
                <a:latin typeface="Noto Sans SC" panose="020B0200000000000000" pitchFamily="34" charset="-122"/>
                <a:ea typeface="Noto Sans SC" panose="020B0200000000000000" pitchFamily="34" charset="-122"/>
              </a:rPr>
              <a:t>530nm</a:t>
            </a:r>
            <a:r>
              <a:rPr lang="zh-CN" altLang="en-US" sz="1600" dirty="0">
                <a:latin typeface="Noto Sans SC" panose="020B0200000000000000" pitchFamily="34" charset="-122"/>
                <a:ea typeface="Noto Sans SC" panose="020B0200000000000000" pitchFamily="34" charset="-122"/>
              </a:rPr>
              <a:t>、</a:t>
            </a:r>
            <a:r>
              <a:rPr lang="en-US" altLang="zh-CN" sz="1600" dirty="0">
                <a:latin typeface="Noto Sans SC" panose="020B0200000000000000" pitchFamily="34" charset="-122"/>
                <a:ea typeface="Noto Sans SC" panose="020B0200000000000000" pitchFamily="34" charset="-122"/>
              </a:rPr>
              <a:t>460nm)</a:t>
            </a:r>
            <a:r>
              <a:rPr lang="zh-CN" altLang="en-US" sz="1600" dirty="0">
                <a:latin typeface="Noto Sans SC" panose="020B0200000000000000" pitchFamily="34" charset="-122"/>
                <a:ea typeface="Noto Sans SC" panose="020B0200000000000000" pitchFamily="34" charset="-122"/>
              </a:rPr>
              <a:t>画在图上，可以看到他们围成了一个三角形。从这张图，我们就可以直观的看出为什么光谱色度系数会出现负数。</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如果颜色是线性的，那么理论上，三原色光的正系数只能组合出三角形内的颜色。又因为单色光的轨迹是个“凸形”，所以理论上，只有测试颜色为三原色对应的波长时，系数为两个</a:t>
            </a:r>
            <a:r>
              <a:rPr lang="en-US" altLang="zh-CN" sz="1600" dirty="0">
                <a:latin typeface="Noto Sans SC" panose="020B0200000000000000" pitchFamily="34" charset="-122"/>
                <a:ea typeface="Noto Sans SC" panose="020B0200000000000000" pitchFamily="34" charset="-122"/>
              </a:rPr>
              <a:t>0</a:t>
            </a:r>
            <a:r>
              <a:rPr lang="zh-CN" altLang="en-US" sz="1600" dirty="0">
                <a:latin typeface="Noto Sans SC" panose="020B0200000000000000" pitchFamily="34" charset="-122"/>
                <a:ea typeface="Noto Sans SC" panose="020B0200000000000000" pitchFamily="34" charset="-122"/>
              </a:rPr>
              <a:t>和一个</a:t>
            </a:r>
            <a:r>
              <a:rPr lang="en-US" altLang="zh-CN" sz="1600" dirty="0">
                <a:latin typeface="Noto Sans SC" panose="020B0200000000000000" pitchFamily="34" charset="-122"/>
                <a:ea typeface="Noto Sans SC" panose="020B0200000000000000" pitchFamily="34" charset="-122"/>
              </a:rPr>
              <a:t>1</a:t>
            </a:r>
            <a:r>
              <a:rPr lang="zh-CN" altLang="en-US" sz="1600" dirty="0">
                <a:latin typeface="Noto Sans SC" panose="020B0200000000000000" pitchFamily="34" charset="-122"/>
                <a:ea typeface="Noto Sans SC" panose="020B0200000000000000" pitchFamily="34" charset="-122"/>
              </a:rPr>
              <a:t>，其他所有单色光都应该有且仅有一种三原色对应的系数是负数。并且从图上可以看出，单色光波长为</a:t>
            </a:r>
            <a:r>
              <a:rPr lang="en-US" altLang="zh-CN" sz="1600" dirty="0">
                <a:latin typeface="Noto Sans SC" panose="020B0200000000000000" pitchFamily="34" charset="-122"/>
                <a:ea typeface="Noto Sans SC" panose="020B0200000000000000" pitchFamily="34" charset="-122"/>
              </a:rPr>
              <a:t>460nm~530nm</a:t>
            </a:r>
            <a:r>
              <a:rPr lang="zh-CN" altLang="en-US" sz="1600" dirty="0">
                <a:latin typeface="Noto Sans SC" panose="020B0200000000000000" pitchFamily="34" charset="-122"/>
                <a:ea typeface="Noto Sans SC" panose="020B0200000000000000" pitchFamily="34" charset="-122"/>
              </a:rPr>
              <a:t>时，红色系数是负的且负数更大。</a:t>
            </a:r>
            <a:endParaRPr lang="en-US" altLang="zh-CN" sz="1600" dirty="0">
              <a:latin typeface="Noto Sans SC" panose="020B0200000000000000" pitchFamily="34" charset="-122"/>
              <a:ea typeface="Noto Sans SC" panose="020B0200000000000000" pitchFamily="34" charset="-122"/>
            </a:endParaRPr>
          </a:p>
        </p:txBody>
      </p:sp>
      <p:pic>
        <p:nvPicPr>
          <p:cNvPr id="38" name="图片 37">
            <a:extLst>
              <a:ext uri="{FF2B5EF4-FFF2-40B4-BE49-F238E27FC236}">
                <a16:creationId xmlns:a16="http://schemas.microsoft.com/office/drawing/2014/main" id="{321C48BC-9EB3-0ED7-9F14-A85593F7169F}"/>
              </a:ext>
            </a:extLst>
          </p:cNvPr>
          <p:cNvPicPr>
            <a:picLocks noChangeAspect="1"/>
          </p:cNvPicPr>
          <p:nvPr/>
        </p:nvPicPr>
        <p:blipFill>
          <a:blip r:embed="rId2"/>
          <a:stretch>
            <a:fillRect/>
          </a:stretch>
        </p:blipFill>
        <p:spPr>
          <a:xfrm>
            <a:off x="1275282" y="3980970"/>
            <a:ext cx="4093354" cy="2840843"/>
          </a:xfrm>
          <a:prstGeom prst="rect">
            <a:avLst/>
          </a:prstGeom>
        </p:spPr>
      </p:pic>
      <p:grpSp>
        <p:nvGrpSpPr>
          <p:cNvPr id="66" name="组合 65">
            <a:extLst>
              <a:ext uri="{FF2B5EF4-FFF2-40B4-BE49-F238E27FC236}">
                <a16:creationId xmlns:a16="http://schemas.microsoft.com/office/drawing/2014/main" id="{BF19A715-C946-A97A-F40C-BF41236BBB8B}"/>
              </a:ext>
            </a:extLst>
          </p:cNvPr>
          <p:cNvGrpSpPr/>
          <p:nvPr/>
        </p:nvGrpSpPr>
        <p:grpSpPr>
          <a:xfrm>
            <a:off x="6935303" y="2015749"/>
            <a:ext cx="5256697" cy="4156604"/>
            <a:chOff x="6935303" y="2015749"/>
            <a:chExt cx="5256697" cy="4156604"/>
          </a:xfrm>
        </p:grpSpPr>
        <p:pic>
          <p:nvPicPr>
            <p:cNvPr id="48" name="图片 47">
              <a:extLst>
                <a:ext uri="{FF2B5EF4-FFF2-40B4-BE49-F238E27FC236}">
                  <a16:creationId xmlns:a16="http://schemas.microsoft.com/office/drawing/2014/main" id="{65CF9697-ADCC-4C02-3021-80B58149783D}"/>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49" name="椭圆 48">
              <a:extLst>
                <a:ext uri="{FF2B5EF4-FFF2-40B4-BE49-F238E27FC236}">
                  <a16:creationId xmlns:a16="http://schemas.microsoft.com/office/drawing/2014/main" id="{FF247149-39A8-580D-A084-EC1779FE8D8E}"/>
                </a:ext>
              </a:extLst>
            </p:cNvPr>
            <p:cNvSpPr/>
            <p:nvPr/>
          </p:nvSpPr>
          <p:spPr>
            <a:xfrm>
              <a:off x="11628031" y="5621802"/>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51" name="椭圆 50">
              <a:extLst>
                <a:ext uri="{FF2B5EF4-FFF2-40B4-BE49-F238E27FC236}">
                  <a16:creationId xmlns:a16="http://schemas.microsoft.com/office/drawing/2014/main" id="{7BB50D15-4327-21F9-ECEC-E64732E78C67}"/>
                </a:ext>
              </a:extLst>
            </p:cNvPr>
            <p:cNvSpPr/>
            <p:nvPr/>
          </p:nvSpPr>
          <p:spPr>
            <a:xfrm>
              <a:off x="9682321" y="5592574"/>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53" name="椭圆 52">
              <a:extLst>
                <a:ext uri="{FF2B5EF4-FFF2-40B4-BE49-F238E27FC236}">
                  <a16:creationId xmlns:a16="http://schemas.microsoft.com/office/drawing/2014/main" id="{AE4A321D-4AD4-4191-3CA6-F5FE33986B3F}"/>
                </a:ext>
              </a:extLst>
            </p:cNvPr>
            <p:cNvSpPr/>
            <p:nvPr/>
          </p:nvSpPr>
          <p:spPr>
            <a:xfrm>
              <a:off x="8907795" y="3139560"/>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55" name="直接连接符 54">
              <a:extLst>
                <a:ext uri="{FF2B5EF4-FFF2-40B4-BE49-F238E27FC236}">
                  <a16:creationId xmlns:a16="http://schemas.microsoft.com/office/drawing/2014/main" id="{6FD35A6F-2187-233F-CC8F-669C9E0F091A}"/>
                </a:ext>
              </a:extLst>
            </p:cNvPr>
            <p:cNvCxnSpPr>
              <a:cxnSpLocks/>
            </p:cNvCxnSpPr>
            <p:nvPr/>
          </p:nvCxnSpPr>
          <p:spPr>
            <a:xfrm flipH="1" flipV="1">
              <a:off x="9726083" y="5632450"/>
              <a:ext cx="1947334" cy="31750"/>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5A5FD2FC-43B9-938E-1E9F-C01C057D054A}"/>
                </a:ext>
              </a:extLst>
            </p:cNvPr>
            <p:cNvCxnSpPr>
              <a:cxnSpLocks/>
            </p:cNvCxnSpPr>
            <p:nvPr/>
          </p:nvCxnSpPr>
          <p:spPr>
            <a:xfrm>
              <a:off x="8951383" y="3179233"/>
              <a:ext cx="774700" cy="2453217"/>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797F8340-CCBA-9029-C398-51FECE68AC33}"/>
                </a:ext>
              </a:extLst>
            </p:cNvPr>
            <p:cNvCxnSpPr>
              <a:cxnSpLocks/>
            </p:cNvCxnSpPr>
            <p:nvPr/>
          </p:nvCxnSpPr>
          <p:spPr>
            <a:xfrm>
              <a:off x="8951383" y="3179232"/>
              <a:ext cx="2710392" cy="2491318"/>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01011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20C14-DF8C-3FFD-0B75-AAAD3406641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5830164-65A3-9ABA-D5D1-A9F371B26885}"/>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CC97E011-C40B-3DCF-64EA-5510E6350B8E}"/>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RGB Chromaticity Coefficients</a:t>
            </a:r>
            <a:endParaRPr lang="zh-CN" altLang="en-US" sz="1100" b="1" dirty="0">
              <a:latin typeface="Noto Sans SC" panose="020B0200000000000000" pitchFamily="34" charset="-122"/>
              <a:ea typeface="Noto Sans SC" panose="020B0200000000000000" pitchFamily="34" charset="-122"/>
            </a:endParaRPr>
          </a:p>
        </p:txBody>
      </p:sp>
      <p:sp>
        <p:nvSpPr>
          <p:cNvPr id="2" name="文本框 1">
            <a:extLst>
              <a:ext uri="{FF2B5EF4-FFF2-40B4-BE49-F238E27FC236}">
                <a16:creationId xmlns:a16="http://schemas.microsoft.com/office/drawing/2014/main" id="{CE1241E7-F1EB-0316-E030-7866FD739200}"/>
              </a:ext>
            </a:extLst>
          </p:cNvPr>
          <p:cNvSpPr txBox="1"/>
          <p:nvPr/>
        </p:nvSpPr>
        <p:spPr>
          <a:xfrm>
            <a:off x="263048" y="1918867"/>
            <a:ext cx="6766402" cy="1200329"/>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因为</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选用的三原色光并不是单色光，虽然具体的光谱已经无法考证，但是可以确定的一点是，</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的三原色会比</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的更加靠近色度图的中心，或者说是更加远离单色光轨迹。所以，</a:t>
            </a:r>
            <a:r>
              <a:rPr lang="en-US" altLang="zh-CN" dirty="0">
                <a:latin typeface="Noto Sans SC" panose="020B0200000000000000" pitchFamily="34" charset="-122"/>
                <a:ea typeface="Noto Sans SC" panose="020B0200000000000000" pitchFamily="34" charset="-122"/>
              </a:rPr>
              <a:t>Guild</a:t>
            </a:r>
            <a:r>
              <a:rPr lang="zh-CN" altLang="en-US" dirty="0">
                <a:latin typeface="Noto Sans SC" panose="020B0200000000000000" pitchFamily="34" charset="-122"/>
                <a:ea typeface="Noto Sans SC" panose="020B0200000000000000" pitchFamily="34" charset="-122"/>
              </a:rPr>
              <a:t>测得的负数系数会比</a:t>
            </a:r>
            <a:r>
              <a:rPr lang="en-US" altLang="zh-CN" dirty="0">
                <a:latin typeface="Noto Sans SC" panose="020B0200000000000000" pitchFamily="34" charset="-122"/>
                <a:ea typeface="Noto Sans SC" panose="020B0200000000000000" pitchFamily="34" charset="-122"/>
              </a:rPr>
              <a:t>Wright</a:t>
            </a:r>
            <a:r>
              <a:rPr lang="zh-CN" altLang="en-US" dirty="0">
                <a:latin typeface="Noto Sans SC" panose="020B0200000000000000" pitchFamily="34" charset="-122"/>
                <a:ea typeface="Noto Sans SC" panose="020B0200000000000000" pitchFamily="34" charset="-122"/>
              </a:rPr>
              <a:t>的更加夸张。</a:t>
            </a:r>
            <a:endParaRPr lang="en-US" altLang="zh-CN" dirty="0">
              <a:latin typeface="Noto Sans SC" panose="020B0200000000000000" pitchFamily="34" charset="-122"/>
              <a:ea typeface="Noto Sans SC" panose="020B0200000000000000" pitchFamily="34" charset="-122"/>
            </a:endParaRPr>
          </a:p>
        </p:txBody>
      </p:sp>
      <p:pic>
        <p:nvPicPr>
          <p:cNvPr id="38" name="图片 37">
            <a:extLst>
              <a:ext uri="{FF2B5EF4-FFF2-40B4-BE49-F238E27FC236}">
                <a16:creationId xmlns:a16="http://schemas.microsoft.com/office/drawing/2014/main" id="{870DECD5-2C6C-93DA-9E3E-12BDA723F776}"/>
              </a:ext>
            </a:extLst>
          </p:cNvPr>
          <p:cNvPicPr>
            <a:picLocks noChangeAspect="1"/>
          </p:cNvPicPr>
          <p:nvPr/>
        </p:nvPicPr>
        <p:blipFill>
          <a:blip r:embed="rId2"/>
          <a:stretch>
            <a:fillRect/>
          </a:stretch>
        </p:blipFill>
        <p:spPr>
          <a:xfrm>
            <a:off x="182121" y="3534131"/>
            <a:ext cx="3760516" cy="2609849"/>
          </a:xfrm>
          <a:prstGeom prst="rect">
            <a:avLst/>
          </a:prstGeom>
        </p:spPr>
      </p:pic>
      <p:pic>
        <p:nvPicPr>
          <p:cNvPr id="4" name="图片 3">
            <a:extLst>
              <a:ext uri="{FF2B5EF4-FFF2-40B4-BE49-F238E27FC236}">
                <a16:creationId xmlns:a16="http://schemas.microsoft.com/office/drawing/2014/main" id="{8BD15068-93D6-7C00-0C11-6862F3B1013F}"/>
              </a:ext>
            </a:extLst>
          </p:cNvPr>
          <p:cNvPicPr>
            <a:picLocks noChangeAspect="1"/>
          </p:cNvPicPr>
          <p:nvPr/>
        </p:nvPicPr>
        <p:blipFill>
          <a:blip r:embed="rId3"/>
          <a:stretch>
            <a:fillRect/>
          </a:stretch>
        </p:blipFill>
        <p:spPr>
          <a:xfrm>
            <a:off x="4156962" y="3534131"/>
            <a:ext cx="3309062" cy="2553568"/>
          </a:xfrm>
          <a:prstGeom prst="rect">
            <a:avLst/>
          </a:prstGeom>
        </p:spPr>
      </p:pic>
      <p:grpSp>
        <p:nvGrpSpPr>
          <p:cNvPr id="9" name="组合 8">
            <a:extLst>
              <a:ext uri="{FF2B5EF4-FFF2-40B4-BE49-F238E27FC236}">
                <a16:creationId xmlns:a16="http://schemas.microsoft.com/office/drawing/2014/main" id="{359CA8B0-6258-912C-CE66-1CF1B10C516D}"/>
              </a:ext>
            </a:extLst>
          </p:cNvPr>
          <p:cNvGrpSpPr/>
          <p:nvPr/>
        </p:nvGrpSpPr>
        <p:grpSpPr>
          <a:xfrm>
            <a:off x="7525092" y="1918867"/>
            <a:ext cx="4609757" cy="3645052"/>
            <a:chOff x="6935303" y="2015749"/>
            <a:chExt cx="5256697" cy="4156604"/>
          </a:xfrm>
        </p:grpSpPr>
        <p:pic>
          <p:nvPicPr>
            <p:cNvPr id="10" name="图片 9">
              <a:extLst>
                <a:ext uri="{FF2B5EF4-FFF2-40B4-BE49-F238E27FC236}">
                  <a16:creationId xmlns:a16="http://schemas.microsoft.com/office/drawing/2014/main" id="{8CFD22CA-43AE-BC1A-09F5-CDD1609CD5B3}"/>
                </a:ext>
              </a:extLst>
            </p:cNvPr>
            <p:cNvPicPr>
              <a:picLocks noChangeAspect="1"/>
            </p:cNvPicPr>
            <p:nvPr/>
          </p:nvPicPr>
          <p:blipFill>
            <a:blip r:embed="rId4"/>
            <a:stretch>
              <a:fillRect/>
            </a:stretch>
          </p:blipFill>
          <p:spPr>
            <a:xfrm>
              <a:off x="6935303" y="2015749"/>
              <a:ext cx="5256697" cy="4156604"/>
            </a:xfrm>
            <a:prstGeom prst="rect">
              <a:avLst/>
            </a:prstGeom>
          </p:spPr>
        </p:pic>
        <p:sp>
          <p:nvSpPr>
            <p:cNvPr id="11" name="椭圆 10">
              <a:extLst>
                <a:ext uri="{FF2B5EF4-FFF2-40B4-BE49-F238E27FC236}">
                  <a16:creationId xmlns:a16="http://schemas.microsoft.com/office/drawing/2014/main" id="{D2BEE331-FF32-00BA-6A48-2628394E6A89}"/>
                </a:ext>
              </a:extLst>
            </p:cNvPr>
            <p:cNvSpPr/>
            <p:nvPr/>
          </p:nvSpPr>
          <p:spPr>
            <a:xfrm>
              <a:off x="11334763" y="5521749"/>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2" name="椭圆 11">
              <a:extLst>
                <a:ext uri="{FF2B5EF4-FFF2-40B4-BE49-F238E27FC236}">
                  <a16:creationId xmlns:a16="http://schemas.microsoft.com/office/drawing/2014/main" id="{CF07FECE-E41D-B051-A5FC-385DC51AB647}"/>
                </a:ext>
              </a:extLst>
            </p:cNvPr>
            <p:cNvSpPr/>
            <p:nvPr/>
          </p:nvSpPr>
          <p:spPr>
            <a:xfrm>
              <a:off x="9747215" y="5429297"/>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3" name="椭圆 12">
              <a:extLst>
                <a:ext uri="{FF2B5EF4-FFF2-40B4-BE49-F238E27FC236}">
                  <a16:creationId xmlns:a16="http://schemas.microsoft.com/office/drawing/2014/main" id="{F6F9B858-2740-B6FB-7313-AD7416D9CD21}"/>
                </a:ext>
              </a:extLst>
            </p:cNvPr>
            <p:cNvSpPr/>
            <p:nvPr/>
          </p:nvSpPr>
          <p:spPr>
            <a:xfrm>
              <a:off x="9023654" y="343644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14" name="直接连接符 13">
              <a:extLst>
                <a:ext uri="{FF2B5EF4-FFF2-40B4-BE49-F238E27FC236}">
                  <a16:creationId xmlns:a16="http://schemas.microsoft.com/office/drawing/2014/main" id="{0CEFA78D-737A-65A5-14F0-B8FE29489888}"/>
                </a:ext>
              </a:extLst>
            </p:cNvPr>
            <p:cNvCxnSpPr>
              <a:cxnSpLocks/>
            </p:cNvCxnSpPr>
            <p:nvPr/>
          </p:nvCxnSpPr>
          <p:spPr>
            <a:xfrm flipH="1" flipV="1">
              <a:off x="9793365" y="5472076"/>
              <a:ext cx="1587626" cy="941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0874385D-E2C7-50CA-5764-817CA0F0FD33}"/>
                </a:ext>
              </a:extLst>
            </p:cNvPr>
            <p:cNvCxnSpPr>
              <a:cxnSpLocks/>
            </p:cNvCxnSpPr>
            <p:nvPr/>
          </p:nvCxnSpPr>
          <p:spPr>
            <a:xfrm>
              <a:off x="9067437" y="3480755"/>
              <a:ext cx="727737" cy="19913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7CB3B5E-5C67-1A98-904B-91E663D539FD}"/>
                </a:ext>
              </a:extLst>
            </p:cNvPr>
            <p:cNvCxnSpPr>
              <a:cxnSpLocks/>
            </p:cNvCxnSpPr>
            <p:nvPr/>
          </p:nvCxnSpPr>
          <p:spPr>
            <a:xfrm>
              <a:off x="9071058" y="3477134"/>
              <a:ext cx="2309933" cy="2089077"/>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35301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9C6BE-64B4-1BDF-8977-422ABD4B3C8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5E81696-F54C-731F-88D3-733ADD0381A4}"/>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A360DA02-8444-4790-B6A7-43D0B4B81EFA}"/>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RGB Chromaticity Coefficients</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08C7432-BC7E-DD07-2817-1323D37B1A29}"/>
                  </a:ext>
                </a:extLst>
              </p:cNvPr>
              <p:cNvSpPr txBox="1"/>
              <p:nvPr/>
            </p:nvSpPr>
            <p:spPr>
              <a:xfrm>
                <a:off x="263048" y="1918866"/>
                <a:ext cx="5204302" cy="4801314"/>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最后，我们可以发现的一点是，因为</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标准三原色的波长分别为</a:t>
                </a:r>
                <a:r>
                  <a:rPr lang="en-US" altLang="zh-CN" dirty="0">
                    <a:latin typeface="Noto Sans SC" panose="020B0200000000000000" pitchFamily="34" charset="-122"/>
                    <a:ea typeface="Noto Sans SC" panose="020B0200000000000000" pitchFamily="34" charset="-122"/>
                  </a:rPr>
                  <a:t>700nm</a:t>
                </a:r>
                <a:r>
                  <a:rPr lang="zh-CN" altLang="en-US"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546.1</a:t>
                </a:r>
                <a:r>
                  <a:rPr lang="en-US" altLang="zh-CN" dirty="0">
                    <a:latin typeface="Noto Sans SC" panose="020B0200000000000000" pitchFamily="34" charset="-122"/>
                    <a:ea typeface="Noto Sans SC" panose="020B0200000000000000" pitchFamily="34" charset="-122"/>
                  </a:rPr>
                  <a:t>nm</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435.8nm</a:t>
                </a:r>
                <a:r>
                  <a:rPr lang="zh-CN" altLang="en-US" dirty="0">
                    <a:latin typeface="Noto Sans SC" panose="020B0200000000000000" pitchFamily="34" charset="-122"/>
                    <a:ea typeface="Noto Sans SC" panose="020B0200000000000000" pitchFamily="34" charset="-122"/>
                  </a:rPr>
                  <a:t>，所以：</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700</m:t>
                      </m:r>
                      <m:r>
                        <a:rPr lang="en-US" altLang="zh-CN" i="1">
                          <a:latin typeface="Cambria Math" panose="02040503050406030204" pitchFamily="18" charset="0"/>
                        </a:rPr>
                        <m:t>𝑛𝑚</m:t>
                      </m:r>
                      <m:r>
                        <a:rPr lang="zh-CN" altLang="en-US"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=1,  </m:t>
                      </m:r>
                      <m:r>
                        <a:rPr lang="en-US" altLang="zh-CN" i="1">
                          <a:latin typeface="Cambria Math" panose="02040503050406030204" pitchFamily="18" charset="0"/>
                        </a:rPr>
                        <m:t>𝑔</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=0,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𝑅</m:t>
                          </m:r>
                        </m:sub>
                      </m:sSub>
                      <m:r>
                        <a:rPr lang="en-US" altLang="zh-CN" i="1">
                          <a:latin typeface="Cambria Math" panose="02040503050406030204" pitchFamily="18" charset="0"/>
                        </a:rPr>
                        <m:t>=(1, 0)</m:t>
                      </m:r>
                    </m:oMath>
                  </m:oMathPara>
                </a14:m>
                <a:endParaRPr lang="en-US" altLang="zh-CN"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5</m:t>
                      </m:r>
                      <m:r>
                        <a:rPr lang="en-US" altLang="zh-CN" b="0" i="1" smtClean="0">
                          <a:latin typeface="Cambria Math" panose="02040503050406030204" pitchFamily="18" charset="0"/>
                        </a:rPr>
                        <m:t>46.1</m:t>
                      </m:r>
                      <m:r>
                        <a:rPr lang="en-US" altLang="zh-CN" i="1">
                          <a:latin typeface="Cambria Math" panose="02040503050406030204" pitchFamily="18" charset="0"/>
                        </a:rPr>
                        <m:t>𝑛𝑚</m:t>
                      </m:r>
                      <m:r>
                        <a:rPr lang="zh-CN" altLang="en-US" i="1">
                          <a:latin typeface="Cambria Math" panose="02040503050406030204" pitchFamily="18" charset="0"/>
                        </a:rPr>
                        <m:t>：</m:t>
                      </m:r>
                      <m:r>
                        <a:rPr lang="en-US" altLang="zh-CN" b="0" i="1" smtClean="0">
                          <a:latin typeface="Cambria Math" panose="02040503050406030204" pitchFamily="18" charset="0"/>
                        </a:rPr>
                        <m:t>𝑔</m:t>
                      </m:r>
                      <m:r>
                        <a:rPr lang="en-US" altLang="zh-CN" i="1">
                          <a:latin typeface="Cambria Math" panose="02040503050406030204" pitchFamily="18" charset="0"/>
                        </a:rPr>
                        <m:t>=1,  </m:t>
                      </m:r>
                      <m:r>
                        <a:rPr lang="en-US" altLang="zh-CN" b="0" i="1" smtClean="0">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=0,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𝐺</m:t>
                          </m:r>
                        </m:sub>
                      </m:sSub>
                      <m:r>
                        <a:rPr lang="en-US" altLang="zh-CN"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 </m:t>
                      </m:r>
                      <m:r>
                        <a:rPr lang="en-US" altLang="zh-CN" b="0" i="1" smtClean="0">
                          <a:latin typeface="Cambria Math" panose="02040503050406030204" pitchFamily="18" charset="0"/>
                        </a:rPr>
                        <m:t>1</m:t>
                      </m:r>
                      <m:r>
                        <a:rPr lang="en-US" altLang="zh-CN" i="1">
                          <a:latin typeface="Cambria Math" panose="02040503050406030204" pitchFamily="18" charset="0"/>
                        </a:rPr>
                        <m:t>)</m:t>
                      </m:r>
                    </m:oMath>
                  </m:oMathPara>
                </a14:m>
                <a:endParaRPr lang="en-US" altLang="zh-CN"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4</m:t>
                      </m:r>
                      <m:r>
                        <a:rPr lang="en-US" altLang="zh-CN" b="0" i="1" smtClean="0">
                          <a:latin typeface="Cambria Math" panose="02040503050406030204" pitchFamily="18" charset="0"/>
                        </a:rPr>
                        <m:t>35.8</m:t>
                      </m:r>
                      <m:r>
                        <a:rPr lang="en-US" altLang="zh-CN" i="1">
                          <a:latin typeface="Cambria Math" panose="02040503050406030204" pitchFamily="18" charset="0"/>
                        </a:rPr>
                        <m:t>𝑛𝑚</m:t>
                      </m:r>
                      <m:r>
                        <a:rPr lang="zh-CN" altLang="en-US" i="1">
                          <a:latin typeface="Cambria Math" panose="02040503050406030204" pitchFamily="18" charset="0"/>
                        </a:rPr>
                        <m:t>：</m:t>
                      </m:r>
                      <m:r>
                        <a:rPr lang="en-US" altLang="zh-CN" b="0" i="1" smtClean="0">
                          <a:latin typeface="Cambria Math" panose="02040503050406030204" pitchFamily="18" charset="0"/>
                        </a:rPr>
                        <m:t>𝑏</m:t>
                      </m:r>
                      <m:r>
                        <a:rPr lang="en-US" altLang="zh-CN" i="1">
                          <a:latin typeface="Cambria Math" panose="02040503050406030204" pitchFamily="18" charset="0"/>
                        </a:rPr>
                        <m:t>=1,  </m:t>
                      </m:r>
                      <m:r>
                        <a:rPr lang="en-US" altLang="zh-CN" b="0" i="1" smtClean="0">
                          <a:latin typeface="Cambria Math" panose="02040503050406030204" pitchFamily="18" charset="0"/>
                        </a:rPr>
                        <m:t>𝑟</m:t>
                      </m:r>
                      <m:r>
                        <a:rPr lang="en-US" altLang="zh-CN" i="1">
                          <a:latin typeface="Cambria Math" panose="02040503050406030204" pitchFamily="18" charset="0"/>
                        </a:rPr>
                        <m:t>=</m:t>
                      </m:r>
                      <m:r>
                        <a:rPr lang="en-US" altLang="zh-CN" b="0" i="1" smtClean="0">
                          <a:latin typeface="Cambria Math" panose="02040503050406030204" pitchFamily="18" charset="0"/>
                        </a:rPr>
                        <m:t>𝑔</m:t>
                      </m:r>
                      <m:r>
                        <a:rPr lang="en-US" altLang="zh-CN" i="1">
                          <a:latin typeface="Cambria Math" panose="02040503050406030204" pitchFamily="18" charset="0"/>
                        </a:rPr>
                        <m:t>=0,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𝐵</m:t>
                          </m:r>
                        </m:sub>
                      </m:sSub>
                      <m:r>
                        <a:rPr lang="en-US" altLang="zh-CN"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 0)</m:t>
                      </m:r>
                    </m:oMath>
                  </m:oMathPara>
                </a14:m>
                <a:endParaRPr lang="en-US" altLang="zh-CN" i="1"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也就是说，一单位的</a:t>
                </a:r>
                <a:r>
                  <a:rPr lang="en-US" altLang="zh-CN" dirty="0">
                    <a:latin typeface="Noto Sans SC" panose="020B0200000000000000" pitchFamily="34" charset="-122"/>
                    <a:ea typeface="Noto Sans SC" panose="020B0200000000000000" pitchFamily="34" charset="-122"/>
                  </a:rPr>
                  <a:t>NPL</a:t>
                </a:r>
                <a:r>
                  <a:rPr lang="zh-CN" altLang="en-US" dirty="0">
                    <a:latin typeface="Noto Sans SC" panose="020B0200000000000000" pitchFamily="34" charset="-122"/>
                    <a:ea typeface="Noto Sans SC" panose="020B0200000000000000" pitchFamily="34" charset="-122"/>
                  </a:rPr>
                  <a:t>标准三原色，既是</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色彩空间的基，也是色度空间的基。</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这隐含着，如果我们改变色度空间三个基的坐标，就可以</a:t>
                </a:r>
                <a:r>
                  <a:rPr lang="zh-CN" altLang="en-US" b="1" dirty="0">
                    <a:latin typeface="Noto Sans SC" panose="020B0200000000000000" pitchFamily="34" charset="-122"/>
                    <a:ea typeface="Noto Sans SC" panose="020B0200000000000000" pitchFamily="34" charset="-122"/>
                  </a:rPr>
                  <a:t>基本看作</a:t>
                </a:r>
                <a:r>
                  <a:rPr lang="zh-CN" altLang="en-US" dirty="0">
                    <a:latin typeface="Noto Sans SC" panose="020B0200000000000000" pitchFamily="34" charset="-122"/>
                    <a:ea typeface="Noto Sans SC" panose="020B0200000000000000" pitchFamily="34" charset="-122"/>
                  </a:rPr>
                  <a:t>是我们对</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空间进行了线性变换，改变了</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空间的三个基。</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这里说“基本看作”是因为色度空间不包含亮度的信息，但是</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空间包含了亮度信息。因此，三个基，每个基有一个亮度自由度和两个色度自由度，一共九个自由度，仅改变色度空间三个基的坐标，就只能确定六个色度自由度，还有三个亮度无法确定。</a:t>
                </a:r>
                <a:endParaRPr lang="en-US" altLang="zh-CN"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308C7432-BC7E-DD07-2817-1323D37B1A29}"/>
                  </a:ext>
                </a:extLst>
              </p:cNvPr>
              <p:cNvSpPr txBox="1">
                <a:spLocks noRot="1" noChangeAspect="1" noMove="1" noResize="1" noEditPoints="1" noAdjustHandles="1" noChangeArrowheads="1" noChangeShapeType="1" noTextEdit="1"/>
              </p:cNvSpPr>
              <p:nvPr/>
            </p:nvSpPr>
            <p:spPr>
              <a:xfrm>
                <a:off x="263048" y="1918866"/>
                <a:ext cx="5204302" cy="4801314"/>
              </a:xfrm>
              <a:prstGeom prst="rect">
                <a:avLst/>
              </a:prstGeom>
              <a:blipFill>
                <a:blip r:embed="rId2"/>
                <a:stretch>
                  <a:fillRect l="-937" t="-762" r="-703" b="-1144"/>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13EEB0EF-CC3C-D577-D2C6-FB03D3D19F53}"/>
              </a:ext>
            </a:extLst>
          </p:cNvPr>
          <p:cNvGrpSpPr/>
          <p:nvPr/>
        </p:nvGrpSpPr>
        <p:grpSpPr>
          <a:xfrm>
            <a:off x="5899491" y="1805786"/>
            <a:ext cx="5835308" cy="4614126"/>
            <a:chOff x="6935303" y="2015749"/>
            <a:chExt cx="5256697" cy="4156604"/>
          </a:xfrm>
        </p:grpSpPr>
        <p:pic>
          <p:nvPicPr>
            <p:cNvPr id="4" name="图片 3">
              <a:extLst>
                <a:ext uri="{FF2B5EF4-FFF2-40B4-BE49-F238E27FC236}">
                  <a16:creationId xmlns:a16="http://schemas.microsoft.com/office/drawing/2014/main" id="{36FC6449-9512-B67D-2351-12EC33EB22BD}"/>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7" name="椭圆 6">
              <a:extLst>
                <a:ext uri="{FF2B5EF4-FFF2-40B4-BE49-F238E27FC236}">
                  <a16:creationId xmlns:a16="http://schemas.microsoft.com/office/drawing/2014/main" id="{1872B1CF-AC71-666C-1BBE-0FE6965CE2C8}"/>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8" name="椭圆 7">
              <a:extLst>
                <a:ext uri="{FF2B5EF4-FFF2-40B4-BE49-F238E27FC236}">
                  <a16:creationId xmlns:a16="http://schemas.microsoft.com/office/drawing/2014/main" id="{C3CC2714-9E0D-78FA-C252-615CAE91C038}"/>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9" name="椭圆 8">
              <a:extLst>
                <a:ext uri="{FF2B5EF4-FFF2-40B4-BE49-F238E27FC236}">
                  <a16:creationId xmlns:a16="http://schemas.microsoft.com/office/drawing/2014/main" id="{CA4C4433-5192-B3FE-D283-813CE1C53E3D}"/>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11" name="直接连接符 10">
              <a:extLst>
                <a:ext uri="{FF2B5EF4-FFF2-40B4-BE49-F238E27FC236}">
                  <a16:creationId xmlns:a16="http://schemas.microsoft.com/office/drawing/2014/main" id="{63CCD225-E5AE-C2C2-D282-6DAA157A661D}"/>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EA2341F-1250-91D1-9F04-06CE944556D0}"/>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9BAD03F-B6CA-1394-17C8-8AD132EE3144}"/>
                </a:ext>
              </a:extLst>
            </p:cNvPr>
            <p:cNvCxnSpPr>
              <a:cxnSpLocks/>
            </p:cNvCxnSpPr>
            <p:nvPr/>
          </p:nvCxnSpPr>
          <p:spPr>
            <a:xfrm>
              <a:off x="9869537" y="3960427"/>
              <a:ext cx="1830513" cy="1752335"/>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53172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1CC2F-E9FE-C251-642F-928E37AD24B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D86A6D6-5BF6-580C-2CAC-37B0534317CC}"/>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0070C282-5318-8A9B-3116-9F2F0EE374E5}"/>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6399CBF-B6C5-F8B3-9545-FC82E671C80B}"/>
                  </a:ext>
                </a:extLst>
              </p:cNvPr>
              <p:cNvSpPr txBox="1"/>
              <p:nvPr/>
            </p:nvSpPr>
            <p:spPr>
              <a:xfrm>
                <a:off x="263048" y="1918867"/>
                <a:ext cx="6820420" cy="4850687"/>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1931</a:t>
                </a:r>
                <a:r>
                  <a:rPr lang="zh-CN" altLang="en-US" dirty="0">
                    <a:latin typeface="Noto Sans SC" panose="020B0200000000000000" pitchFamily="34" charset="-122"/>
                    <a:ea typeface="Noto Sans SC" panose="020B0200000000000000" pitchFamily="34" charset="-122"/>
                  </a:rPr>
                  <a:t>年，有了</a:t>
                </a:r>
                <a:r>
                  <a:rPr lang="en-US" altLang="zh-CN" dirty="0">
                    <a:latin typeface="Noto Sans SC" panose="020B0200000000000000" pitchFamily="34" charset="-122"/>
                    <a:ea typeface="Noto Sans SC" panose="020B0200000000000000" pitchFamily="34" charset="-122"/>
                  </a:rPr>
                  <a:t>CIE 1931 RGB</a:t>
                </a:r>
                <a:r>
                  <a:rPr lang="zh-CN" altLang="en-US" dirty="0">
                    <a:latin typeface="Noto Sans SC" panose="020B0200000000000000" pitchFamily="34" charset="-122"/>
                    <a:ea typeface="Noto Sans SC" panose="020B0200000000000000" pitchFamily="34" charset="-122"/>
                  </a:rPr>
                  <a:t>色彩空间后，</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认为这个色彩空间用起来并不是很便利，比如红色匹配函数</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m:t>
                        </m:r>
                      </m:sup>
                    </m:sSup>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有很多分量都是负数，对当时还没有电子计算机的人们来说，这些负值并不是很方便计算。于是，</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决定对</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色彩空间进行线性变换，得到的新空间命名为</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于是，我们不妨设从</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色彩空间变换到</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色彩空间的变换矩阵为</a:t>
                </a:r>
                <a:r>
                  <a:rPr lang="en-US" altLang="zh-CN" dirty="0">
                    <a:latin typeface="Noto Sans SC" panose="020B0200000000000000" pitchFamily="34" charset="-122"/>
                    <a:ea typeface="Noto Sans SC" panose="020B0200000000000000" pitchFamily="34" charset="-122"/>
                  </a:rPr>
                  <a:t>T</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𝑋</m:t>
                              </m:r>
                            </m:e>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𝑍</m:t>
                              </m:r>
                            </m:e>
                          </m:eqArr>
                        </m:e>
                      </m:d>
                      <m:r>
                        <a:rPr lang="en-US" altLang="zh-CN" b="0" i="1" smtClean="0">
                          <a:latin typeface="Cambria Math" panose="02040503050406030204" pitchFamily="18" charset="0"/>
                        </a:rPr>
                        <m:t>=</m:t>
                      </m:r>
                      <m:r>
                        <a:rPr lang="en-US" altLang="zh-CN" b="0" i="1" smtClean="0">
                          <a:latin typeface="Cambria Math" panose="02040503050406030204" pitchFamily="18" charset="0"/>
                        </a:rPr>
                        <m:t>𝑇</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𝑅</m:t>
                              </m:r>
                            </m:e>
                            <m:e>
                              <m:r>
                                <a:rPr lang="en-US" altLang="zh-CN" b="0" i="1" smtClean="0">
                                  <a:latin typeface="Cambria Math" panose="02040503050406030204" pitchFamily="18" charset="0"/>
                                </a:rPr>
                                <m:t>𝐺</m:t>
                              </m:r>
                            </m:e>
                            <m:e>
                              <m:r>
                                <a:rPr lang="en-US" altLang="zh-CN" b="0" i="1" smtClean="0">
                                  <a:latin typeface="Cambria Math" panose="02040503050406030204" pitchFamily="18" charset="0"/>
                                </a:rPr>
                                <m:t>𝐵</m:t>
                              </m:r>
                            </m:e>
                          </m:eqArr>
                        </m:e>
                      </m:d>
                      <m:r>
                        <a:rPr lang="en-US" altLang="zh-CN" b="0" i="1" smtClean="0">
                          <a:latin typeface="Cambria Math" panose="02040503050406030204" pitchFamily="18" charset="0"/>
                        </a:rPr>
                        <m:t>,  </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3"/>
                                    <m:mcJc m:val="center"/>
                                  </m:mcPr>
                                </m:mc>
                              </m:mcs>
                              <m:ctrlPr>
                                <a:rPr lang="en-US" altLang="zh-CN" b="0"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m:rPr>
                                        <m:brk m:alnAt="7"/>
                                      </m:rPr>
                                      <a:rPr lang="en-US" altLang="zh-CN" b="0" i="1" smtClean="0">
                                        <a:latin typeface="Cambria Math" panose="02040503050406030204" pitchFamily="18" charset="0"/>
                                      </a:rPr>
                                      <m:t>𝑏</m:t>
                                    </m:r>
                                  </m:e>
                                  <m:sub>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13</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23</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31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32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33</m:t>
                                    </m:r>
                                  </m:sub>
                                </m:sSub>
                              </m:e>
                            </m:mr>
                          </m:m>
                        </m:e>
                      </m:d>
                      <m:r>
                        <a:rPr lang="en-US" altLang="zh-CN" b="0" i="1" smtClean="0">
                          <a:latin typeface="Cambria Math" panose="02040503050406030204" pitchFamily="18" charset="0"/>
                        </a:rPr>
                        <m:t>,  </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m:rPr>
                                        <m:brk m:alnAt="7"/>
                                      </m:rPr>
                                      <a:rPr lang="en-US" altLang="zh-CN" i="1">
                                        <a:latin typeface="Cambria Math" panose="02040503050406030204" pitchFamily="18" charset="0"/>
                                      </a:rPr>
                                      <m:t>1</m:t>
                                    </m:r>
                                    <m:r>
                                      <a:rPr lang="en-US" altLang="zh-CN" i="1">
                                        <a:latin typeface="Cambria Math" panose="02040503050406030204" pitchFamily="18" charset="0"/>
                                      </a:rPr>
                                      <m:t>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12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13</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21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22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23</m:t>
                                    </m:r>
                                  </m:sub>
                                </m:sSub>
                              </m:e>
                            </m:m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31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32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33</m:t>
                                    </m:r>
                                  </m:sub>
                                </m:sSub>
                              </m:e>
                            </m:mr>
                          </m:m>
                        </m:e>
                      </m:d>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CIE</a:t>
                </a:r>
                <a:r>
                  <a:rPr lang="zh-CN" altLang="en-US" dirty="0">
                    <a:latin typeface="Noto Sans SC" panose="020B0200000000000000" pitchFamily="34" charset="-122"/>
                    <a:ea typeface="Noto Sans SC" panose="020B0200000000000000" pitchFamily="34" charset="-122"/>
                  </a:rPr>
                  <a:t>想到的第一条约束就是，</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空间的</a:t>
                </a:r>
                <a:r>
                  <a:rPr lang="en-US" altLang="zh-CN" dirty="0">
                    <a:latin typeface="Noto Sans SC" panose="020B0200000000000000" pitchFamily="34" charset="-122"/>
                    <a:ea typeface="Noto Sans SC" panose="020B0200000000000000" pitchFamily="34" charset="-122"/>
                  </a:rPr>
                  <a:t>(1, 1, 1)</a:t>
                </a:r>
                <a:r>
                  <a:rPr lang="zh-CN" altLang="en-US" dirty="0">
                    <a:latin typeface="Noto Sans SC" panose="020B0200000000000000" pitchFamily="34" charset="-122"/>
                    <a:ea typeface="Noto Sans SC" panose="020B0200000000000000" pitchFamily="34" charset="-122"/>
                  </a:rPr>
                  <a:t>应该和</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空间的</a:t>
                </a:r>
                <a:r>
                  <a:rPr lang="en-US" altLang="zh-CN" dirty="0">
                    <a:latin typeface="Noto Sans SC" panose="020B0200000000000000" pitchFamily="34" charset="-122"/>
                    <a:ea typeface="Noto Sans SC" panose="020B0200000000000000" pitchFamily="34" charset="-122"/>
                  </a:rPr>
                  <a:t>(1, 1, 1)</a:t>
                </a:r>
                <a:r>
                  <a:rPr lang="zh-CN" altLang="en-US" dirty="0">
                    <a:latin typeface="Noto Sans SC" panose="020B0200000000000000" pitchFamily="34" charset="-122"/>
                    <a:ea typeface="Noto Sans SC" panose="020B0200000000000000" pitchFamily="34" charset="-122"/>
                  </a:rPr>
                  <a:t>对应，于是：</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13</m:t>
                          </m:r>
                        </m:sub>
                      </m:sSub>
                      <m:r>
                        <a:rPr lang="en-US" altLang="zh-CN" b="0" i="1" smtClean="0">
                          <a:latin typeface="Cambria Math" panose="02040503050406030204" pitchFamily="18" charset="0"/>
                        </a:rPr>
                        <m:t>=1,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13</m:t>
                          </m:r>
                        </m:sub>
                      </m:sSub>
                      <m:r>
                        <a:rPr lang="en-US" altLang="zh-CN" b="0" i="1" smtClean="0">
                          <a:latin typeface="Cambria Math" panose="02040503050406030204" pitchFamily="18" charset="0"/>
                        </a:rPr>
                        <m:t>=1</m:t>
                      </m:r>
                    </m:oMath>
                  </m:oMathPara>
                </a14:m>
                <a:endParaRPr lang="en-US" altLang="zh-CN" b="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23</m:t>
                          </m:r>
                        </m:sub>
                      </m:sSub>
                      <m:r>
                        <a:rPr lang="en-US" altLang="zh-CN" b="0" i="1" smtClean="0">
                          <a:latin typeface="Cambria Math" panose="02040503050406030204" pitchFamily="18" charset="0"/>
                        </a:rPr>
                        <m:t>=1,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r>
                            <a:rPr lang="en-US" altLang="zh-CN" i="1">
                              <a:latin typeface="Cambria Math" panose="02040503050406030204" pitchFamily="18" charset="0"/>
                            </a:rPr>
                            <m:t>3</m:t>
                          </m:r>
                        </m:sub>
                      </m:sSub>
                      <m:r>
                        <a:rPr lang="en-US" altLang="zh-CN" i="1">
                          <a:latin typeface="Cambria Math" panose="02040503050406030204" pitchFamily="18" charset="0"/>
                        </a:rPr>
                        <m:t>=1</m:t>
                      </m:r>
                    </m:oMath>
                  </m:oMathPara>
                </a14:m>
                <a:endParaRPr lang="en-US" altLang="zh-CN" b="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31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32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33</m:t>
                          </m:r>
                        </m:sub>
                      </m:sSub>
                      <m:r>
                        <a:rPr lang="en-US" altLang="zh-CN" b="0" i="1" smtClean="0">
                          <a:latin typeface="Cambria Math" panose="02040503050406030204" pitchFamily="18" charset="0"/>
                        </a:rPr>
                        <m:t>=1,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3</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3</m:t>
                          </m:r>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3</m:t>
                          </m:r>
                          <m:r>
                            <a:rPr lang="en-US" altLang="zh-CN" i="1">
                              <a:latin typeface="Cambria Math" panose="02040503050406030204" pitchFamily="18" charset="0"/>
                            </a:rPr>
                            <m:t>3</m:t>
                          </m:r>
                        </m:sub>
                      </m:sSub>
                      <m:r>
                        <a:rPr lang="en-US" altLang="zh-CN" i="1">
                          <a:latin typeface="Cambria Math" panose="02040503050406030204" pitchFamily="18" charset="0"/>
                        </a:rPr>
                        <m:t>=1</m:t>
                      </m:r>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A6399CBF-B6C5-F8B3-9545-FC82E671C80B}"/>
                  </a:ext>
                </a:extLst>
              </p:cNvPr>
              <p:cNvSpPr txBox="1">
                <a:spLocks noRot="1" noChangeAspect="1" noMove="1" noResize="1" noEditPoints="1" noAdjustHandles="1" noChangeArrowheads="1" noChangeShapeType="1" noTextEdit="1"/>
              </p:cNvSpPr>
              <p:nvPr/>
            </p:nvSpPr>
            <p:spPr>
              <a:xfrm>
                <a:off x="263048" y="1918867"/>
                <a:ext cx="6820420" cy="4850687"/>
              </a:xfrm>
              <a:prstGeom prst="rect">
                <a:avLst/>
              </a:prstGeom>
              <a:blipFill>
                <a:blip r:embed="rId2"/>
                <a:stretch>
                  <a:fillRect l="-715" t="-755" r="-1162" b="-1132"/>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70DAD300-9E71-C10A-D8E7-139808D23C3C}"/>
              </a:ext>
            </a:extLst>
          </p:cNvPr>
          <p:cNvGrpSpPr/>
          <p:nvPr/>
        </p:nvGrpSpPr>
        <p:grpSpPr>
          <a:xfrm>
            <a:off x="7029450" y="1805786"/>
            <a:ext cx="4941652" cy="3907489"/>
            <a:chOff x="6935303" y="2015749"/>
            <a:chExt cx="5256697" cy="4156604"/>
          </a:xfrm>
        </p:grpSpPr>
        <p:pic>
          <p:nvPicPr>
            <p:cNvPr id="9" name="图片 8">
              <a:extLst>
                <a:ext uri="{FF2B5EF4-FFF2-40B4-BE49-F238E27FC236}">
                  <a16:creationId xmlns:a16="http://schemas.microsoft.com/office/drawing/2014/main" id="{7682A9B1-8BDD-4784-A161-B40C3A7E670A}"/>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10" name="椭圆 9">
              <a:extLst>
                <a:ext uri="{FF2B5EF4-FFF2-40B4-BE49-F238E27FC236}">
                  <a16:creationId xmlns:a16="http://schemas.microsoft.com/office/drawing/2014/main" id="{A18EE6BD-E2D7-398E-246B-21712300A80B}"/>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1" name="椭圆 10">
              <a:extLst>
                <a:ext uri="{FF2B5EF4-FFF2-40B4-BE49-F238E27FC236}">
                  <a16:creationId xmlns:a16="http://schemas.microsoft.com/office/drawing/2014/main" id="{AB8CCF6A-CD97-B338-7371-694E0D62770A}"/>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2" name="椭圆 11">
              <a:extLst>
                <a:ext uri="{FF2B5EF4-FFF2-40B4-BE49-F238E27FC236}">
                  <a16:creationId xmlns:a16="http://schemas.microsoft.com/office/drawing/2014/main" id="{B4B776C7-8671-82A4-4BBD-5204BCF6D6E7}"/>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13" name="直接连接符 12">
              <a:extLst>
                <a:ext uri="{FF2B5EF4-FFF2-40B4-BE49-F238E27FC236}">
                  <a16:creationId xmlns:a16="http://schemas.microsoft.com/office/drawing/2014/main" id="{89B80BF0-6667-465B-F70F-D2B6BB1AC55D}"/>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F714C2D-02FB-B0F5-AF8E-5003FBC3B439}"/>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B5D7B39-7B67-9A39-E2CF-5CB8BF4BE89F}"/>
                </a:ext>
              </a:extLst>
            </p:cNvPr>
            <p:cNvCxnSpPr>
              <a:cxnSpLocks/>
            </p:cNvCxnSpPr>
            <p:nvPr/>
          </p:nvCxnSpPr>
          <p:spPr>
            <a:xfrm>
              <a:off x="9869537" y="3960427"/>
              <a:ext cx="1830513" cy="1752335"/>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25011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F0794-04D5-74FD-1D85-D956893F6E7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FDFAFE4-84B0-33FA-B03D-5CD18718A57D}"/>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620ACCB2-FFFE-6886-4F48-AB7B067EF736}"/>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25EE646-6CD1-329A-43DF-3F5D3A8E98CD}"/>
                  </a:ext>
                </a:extLst>
              </p:cNvPr>
              <p:cNvSpPr txBox="1"/>
              <p:nvPr/>
            </p:nvSpPr>
            <p:spPr>
              <a:xfrm>
                <a:off x="263048" y="1918867"/>
                <a:ext cx="6766402" cy="4690643"/>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前面提到过，颜色匹配函数积分的结果，就是色彩空间的坐标，也叫三刺激值：</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𝑅</m:t>
                              </m:r>
                            </m:e>
                            <m:e>
                              <m:r>
                                <a:rPr lang="en-US" altLang="zh-CN" b="0" i="1" smtClean="0">
                                  <a:latin typeface="Cambria Math" panose="02040503050406030204" pitchFamily="18" charset="0"/>
                                </a:rPr>
                                <m:t>𝐺</m:t>
                              </m:r>
                            </m:e>
                            <m:e>
                              <m:r>
                                <a:rPr lang="en-US" altLang="zh-CN" b="0" i="1" smtClean="0">
                                  <a:latin typeface="Cambria Math" panose="02040503050406030204" pitchFamily="18" charset="0"/>
                                </a:rPr>
                                <m:t>𝐵</m:t>
                              </m:r>
                            </m:e>
                          </m:eqAr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nary>
                            </m:e>
                            <m:e>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nary>
                            </m:e>
                            <m:e>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𝐸</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nary>
                            </m:e>
                          </m:eqArr>
                        </m:e>
                      </m:d>
                    </m:oMath>
                  </m:oMathPara>
                </a14:m>
                <a:endParaRPr lang="en-US" altLang="zh-CN" b="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因此，对色彩空间进行线性变换，就等价于对颜色匹配函数进行线性变换。</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𝜆</m:t>
                                  </m:r>
                                </m:e>
                              </m:d>
                            </m:e>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qArr>
                        </m:e>
                      </m:d>
                      <m:r>
                        <a:rPr lang="en-US" altLang="zh-CN" b="0" i="1" smtClean="0">
                          <a:latin typeface="Cambria Math" panose="02040503050406030204" pitchFamily="18" charset="0"/>
                        </a:rPr>
                        <m:t>=</m:t>
                      </m:r>
                      <m:r>
                        <a:rPr lang="en-US" altLang="zh-CN" b="0" i="1" smtClean="0">
                          <a:latin typeface="Cambria Math" panose="02040503050406030204" pitchFamily="18" charset="0"/>
                        </a:rPr>
                        <m:t>𝑇</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qArr>
                        </m:e>
                      </m:d>
                      <m:r>
                        <a:rPr lang="en-US" altLang="zh-CN" b="0" i="1" smtClean="0">
                          <a:latin typeface="Cambria Math" panose="02040503050406030204" pitchFamily="18" charset="0"/>
                        </a:rPr>
                        <m:t>,</m:t>
                      </m:r>
                      <m:r>
                        <a:rPr lang="en-US" altLang="zh-CN" i="1" smtClean="0">
                          <a:latin typeface="Cambria Math" panose="02040503050406030204" pitchFamily="18" charset="0"/>
                        </a:rPr>
                        <m:t> </m:t>
                      </m:r>
                      <m:r>
                        <a:rPr lang="en-US" altLang="zh-CN" b="0" i="1" smtClean="0">
                          <a:latin typeface="Cambria Math" panose="02040503050406030204" pitchFamily="18" charset="0"/>
                        </a:rPr>
                        <m:t> </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qAr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b="0" i="1" smtClean="0">
                              <a:latin typeface="Cambria Math" panose="02040503050406030204" pitchFamily="18" charset="0"/>
                            </a:rPr>
                            <m:t>−1</m:t>
                          </m:r>
                        </m:sup>
                      </m:sSup>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qArr>
                        </m:e>
                      </m:d>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其中，</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为</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色彩空间的颜色匹配函数，</a:t>
                </a:r>
                <a:r>
                  <a:rPr lang="en-US" altLang="zh-CN" dirty="0">
                    <a:latin typeface="Noto Sans SC" panose="020B0200000000000000" pitchFamily="34" charset="-122"/>
                    <a:ea typeface="Noto Sans SC" panose="020B0200000000000000" pitchFamily="34" charset="-122"/>
                  </a:rPr>
                  <a:t> </a:t>
                </a:r>
                <a14:m>
                  <m:oMath xmlns:m="http://schemas.openxmlformats.org/officeDocument/2006/math">
                    <m:r>
                      <a:rPr lang="en-US" altLang="zh-CN" i="1" dirty="0">
                        <a:latin typeface="Cambria Math" panose="02040503050406030204" pitchFamily="18" charset="0"/>
                      </a:rPr>
                      <m:t>𝑅</m:t>
                    </m:r>
                    <m:r>
                      <a:rPr lang="en-US" altLang="zh-CN" i="1" dirty="0">
                        <a:latin typeface="Cambria Math" panose="02040503050406030204" pitchFamily="18" charset="0"/>
                      </a:rPr>
                      <m:t>′</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𝐺</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𝐵</m:t>
                        </m:r>
                      </m:e>
                      <m:sup>
                        <m:r>
                          <a:rPr lang="en-US" altLang="zh-CN" i="1" dirty="0">
                            <a:latin typeface="Cambria Math" panose="02040503050406030204" pitchFamily="18" charset="0"/>
                          </a:rPr>
                          <m:t>′</m:t>
                        </m:r>
                      </m:sup>
                    </m:sSup>
                    <m:d>
                      <m:dPr>
                        <m:ctrlPr>
                          <a:rPr lang="zh-CN" altLang="en-US" i="1" dirty="0">
                            <a:latin typeface="Cambria Math" panose="02040503050406030204" pitchFamily="18" charset="0"/>
                          </a:rPr>
                        </m:ctrlPr>
                      </m:dPr>
                      <m:e>
                        <m:r>
                          <a:rPr lang="zh-CN" altLang="en-US"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为</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空间下的颜色匹配函数，也就是前面计算的</a:t>
                </a:r>
                <a:r>
                  <a:rPr lang="en-US" altLang="zh-CN" dirty="0">
                    <a:latin typeface="Noto Sans SC" panose="020B0200000000000000" pitchFamily="34" charset="-122"/>
                    <a:ea typeface="Noto Sans SC" panose="020B0200000000000000" pitchFamily="34" charset="-122"/>
                  </a:rPr>
                  <a:t>Distribution Function</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125EE646-6CD1-329A-43DF-3F5D3A8E98CD}"/>
                  </a:ext>
                </a:extLst>
              </p:cNvPr>
              <p:cNvSpPr txBox="1">
                <a:spLocks noRot="1" noChangeAspect="1" noMove="1" noResize="1" noEditPoints="1" noAdjustHandles="1" noChangeArrowheads="1" noChangeShapeType="1" noTextEdit="1"/>
              </p:cNvSpPr>
              <p:nvPr/>
            </p:nvSpPr>
            <p:spPr>
              <a:xfrm>
                <a:off x="263048" y="1918867"/>
                <a:ext cx="6766402" cy="4690643"/>
              </a:xfrm>
              <a:prstGeom prst="rect">
                <a:avLst/>
              </a:prstGeom>
              <a:blipFill>
                <a:blip r:embed="rId2"/>
                <a:stretch>
                  <a:fillRect l="-721" t="-780" r="-1532" b="-1170"/>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52B1CBF8-9963-89B3-E56E-0E2951FAF08F}"/>
              </a:ext>
            </a:extLst>
          </p:cNvPr>
          <p:cNvGrpSpPr/>
          <p:nvPr/>
        </p:nvGrpSpPr>
        <p:grpSpPr>
          <a:xfrm>
            <a:off x="7029450" y="1805786"/>
            <a:ext cx="4941652" cy="3907489"/>
            <a:chOff x="6935303" y="2015749"/>
            <a:chExt cx="5256697" cy="4156604"/>
          </a:xfrm>
        </p:grpSpPr>
        <p:pic>
          <p:nvPicPr>
            <p:cNvPr id="9" name="图片 8">
              <a:extLst>
                <a:ext uri="{FF2B5EF4-FFF2-40B4-BE49-F238E27FC236}">
                  <a16:creationId xmlns:a16="http://schemas.microsoft.com/office/drawing/2014/main" id="{61BA1BD8-6A81-6CC2-D23C-CB190D99120C}"/>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10" name="椭圆 9">
              <a:extLst>
                <a:ext uri="{FF2B5EF4-FFF2-40B4-BE49-F238E27FC236}">
                  <a16:creationId xmlns:a16="http://schemas.microsoft.com/office/drawing/2014/main" id="{B842B716-ECC7-2D7C-D347-6BCDEDD6F575}"/>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1" name="椭圆 10">
              <a:extLst>
                <a:ext uri="{FF2B5EF4-FFF2-40B4-BE49-F238E27FC236}">
                  <a16:creationId xmlns:a16="http://schemas.microsoft.com/office/drawing/2014/main" id="{BA5C4A07-066B-9035-1CFE-741D34588DFC}"/>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2" name="椭圆 11">
              <a:extLst>
                <a:ext uri="{FF2B5EF4-FFF2-40B4-BE49-F238E27FC236}">
                  <a16:creationId xmlns:a16="http://schemas.microsoft.com/office/drawing/2014/main" id="{747CB758-A4E6-AC7A-B34E-94CA51AFA3A1}"/>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13" name="直接连接符 12">
              <a:extLst>
                <a:ext uri="{FF2B5EF4-FFF2-40B4-BE49-F238E27FC236}">
                  <a16:creationId xmlns:a16="http://schemas.microsoft.com/office/drawing/2014/main" id="{FCCB02EE-5DE6-8A18-CBE7-9A2CAC5893D3}"/>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06BF1BF-43EE-4125-80FC-4659929956EE}"/>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95CF5D0-003C-1920-478D-4525BB78FEFD}"/>
                </a:ext>
              </a:extLst>
            </p:cNvPr>
            <p:cNvCxnSpPr>
              <a:cxnSpLocks/>
            </p:cNvCxnSpPr>
            <p:nvPr/>
          </p:nvCxnSpPr>
          <p:spPr>
            <a:xfrm>
              <a:off x="9869537" y="3960427"/>
              <a:ext cx="1830513" cy="1752335"/>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21088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70F0C-826A-8825-2297-8ABE78D2189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87AA093-E70F-7ED6-EF16-45ECA87B4A72}"/>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350D0F47-45CA-7175-6389-EFCCAB5105B8}"/>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12B74A1-BF48-29CD-7FAA-48055C277D30}"/>
                  </a:ext>
                </a:extLst>
              </p:cNvPr>
              <p:cNvSpPr txBox="1"/>
              <p:nvPr/>
            </p:nvSpPr>
            <p:spPr>
              <a:xfrm>
                <a:off x="263048" y="1918867"/>
                <a:ext cx="6766402" cy="3728713"/>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而后，</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希望在</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色彩空间下，</a:t>
                </a:r>
                <a:r>
                  <a:rPr lang="en-US" altLang="zh-CN" dirty="0">
                    <a:latin typeface="Noto Sans SC" panose="020B0200000000000000" pitchFamily="34" charset="-122"/>
                    <a:ea typeface="Noto Sans SC" panose="020B0200000000000000" pitchFamily="34" charset="-122"/>
                  </a:rPr>
                  <a:t>Y</a:t>
                </a:r>
                <a:r>
                  <a:rPr lang="zh-CN" altLang="en-US" dirty="0">
                    <a:latin typeface="Noto Sans SC" panose="020B0200000000000000" pitchFamily="34" charset="-122"/>
                    <a:ea typeface="Noto Sans SC" panose="020B0200000000000000" pitchFamily="34" charset="-122"/>
                  </a:rPr>
                  <a:t>分量能够直接表示亮度，而不是之前的用</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分量以及单位三原色的亮度计算得到。因此，</a:t>
                </a:r>
                <a:r>
                  <a:rPr lang="en-US" altLang="zh-CN" dirty="0">
                    <a:latin typeface="Noto Sans SC" panose="020B0200000000000000" pitchFamily="34" charset="-122"/>
                    <a:ea typeface="Noto Sans SC" panose="020B0200000000000000" pitchFamily="34" charset="-122"/>
                  </a:rPr>
                  <a:t>Y</a:t>
                </a:r>
                <a:r>
                  <a:rPr lang="zh-CN" altLang="en-US" dirty="0">
                    <a:latin typeface="Noto Sans SC" panose="020B0200000000000000" pitchFamily="34" charset="-122"/>
                    <a:ea typeface="Noto Sans SC" panose="020B0200000000000000" pitchFamily="34" charset="-122"/>
                  </a:rPr>
                  <a:t>分量对应的匹配函数</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在数值上应当等于</a:t>
                </a:r>
                <a14:m>
                  <m:oMath xmlns:m="http://schemas.openxmlformats.org/officeDocument/2006/math">
                    <m:r>
                      <a:rPr lang="en-US" altLang="zh-CN" i="1" dirty="0">
                        <a:latin typeface="Cambria Math" panose="02040503050406030204" pitchFamily="18" charset="0"/>
                      </a:rPr>
                      <m:t>𝑉</m:t>
                    </m:r>
                    <m:r>
                      <a:rPr lang="en-US" altLang="zh-CN" i="1" dirty="0">
                        <a:latin typeface="Cambria Math" panose="02040503050406030204" pitchFamily="18" charset="0"/>
                      </a:rPr>
                      <m:t>(</m:t>
                    </m:r>
                    <m:r>
                      <a:rPr lang="en-US" altLang="zh-CN" i="1" dirty="0">
                        <a:latin typeface="Cambria Math" panose="02040503050406030204" pitchFamily="18" charset="0"/>
                      </a:rPr>
                      <m:t>𝜆</m:t>
                    </m:r>
                    <m:r>
                      <a:rPr lang="en-US" altLang="zh-CN" i="1" dirty="0">
                        <a:latin typeface="Cambria Math" panose="02040503050406030204" pitchFamily="18" charset="0"/>
                      </a:rPr>
                      <m:t>)</m:t>
                    </m:r>
                  </m:oMath>
                </a14:m>
                <a:r>
                  <a:rPr lang="zh-CN" altLang="en-US" dirty="0">
                    <a:latin typeface="Noto Sans SC" panose="020B0200000000000000" pitchFamily="34" charset="-122"/>
                    <a:ea typeface="Noto Sans SC" panose="020B0200000000000000" pitchFamily="34" charset="-122"/>
                  </a:rPr>
                  <a:t>，根据转换矩阵，我们可以得到</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21</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m:t>
                          </m:r>
                        </m:sup>
                      </m:s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r>
                            <a:rPr lang="en-US" altLang="zh-CN" b="0" i="1" smtClean="0">
                              <a:latin typeface="Cambria Math" panose="02040503050406030204" pitchFamily="18" charset="0"/>
                            </a:rPr>
                            <m:t>2</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r>
                            <a:rPr lang="en-US" altLang="zh-CN" b="0" i="1" smtClean="0">
                              <a:latin typeface="Cambria Math" panose="02040503050406030204" pitchFamily="18" charset="0"/>
                            </a:rPr>
                            <m:t>3</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于是，只需要用最小二乘法，使得下式最小，就可以确定</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21</m:t>
                        </m:r>
                      </m:sub>
                    </m:sSub>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r>
                          <a:rPr lang="en-US" altLang="zh-CN" b="0" i="1" smtClean="0">
                            <a:latin typeface="Cambria Math" panose="02040503050406030204" pitchFamily="18" charset="0"/>
                          </a:rPr>
                          <m:t>2</m:t>
                        </m:r>
                      </m:sub>
                    </m:sSub>
                  </m:oMath>
                </a14:m>
                <a:r>
                  <a:rPr lang="zh-CN" altLang="en-US" dirty="0">
                    <a:latin typeface="Noto Sans SC" panose="020B0200000000000000" pitchFamily="34" charset="-122"/>
                    <a:ea typeface="Noto Sans SC" panose="020B0200000000000000" pitchFamily="34" charset="-122"/>
                  </a:rPr>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r>
                          <a:rPr lang="en-US" altLang="zh-CN" b="0" i="1" smtClean="0">
                            <a:latin typeface="Cambria Math" panose="02040503050406030204" pitchFamily="18" charset="0"/>
                          </a:rPr>
                          <m:t>3</m:t>
                        </m:r>
                      </m:sub>
                    </m:sSub>
                  </m:oMath>
                </a14:m>
                <a:r>
                  <a:rPr lang="zh-CN" altLang="en-US" dirty="0">
                    <a:latin typeface="Noto Sans SC" panose="020B0200000000000000" pitchFamily="34" charset="-122"/>
                    <a:ea typeface="Noto Sans SC" panose="020B0200000000000000" pitchFamily="34" charset="-122"/>
                  </a:rPr>
                  <a:t>的值：</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nary>
                        <m:naryPr>
                          <m:subHide m:val="on"/>
                          <m:supHide m:val="on"/>
                          <m:ctrlPr>
                            <a:rPr lang="en-US" altLang="zh-CN" b="0" i="1" smtClean="0">
                              <a:latin typeface="Cambria Math" panose="02040503050406030204" pitchFamily="18" charset="0"/>
                            </a:rPr>
                          </m:ctrlPr>
                        </m:naryPr>
                        <m:sub/>
                        <m:sup/>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21</m:t>
                                      </m:r>
                                    </m:sub>
                                  </m:sSub>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22</m:t>
                                      </m:r>
                                    </m:sub>
                                  </m:sSub>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23</m:t>
                                      </m:r>
                                    </m:sub>
                                  </m:sSub>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𝑑</m:t>
                          </m:r>
                          <m:r>
                            <a:rPr lang="en-US" altLang="zh-CN" b="0" i="1" smtClean="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𝑠𝑜𝑙𝑢𝑡𝑖𝑜𝑛</m:t>
                      </m:r>
                      <m:r>
                        <a:rPr lang="en-US" altLang="zh-CN" b="0" i="1" smtClean="0">
                          <a:latin typeface="Cambria Math" panose="02040503050406030204" pitchFamily="18" charset="0"/>
                        </a:rPr>
                        <m:t>: </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21</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22</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23</m:t>
                                  </m:r>
                                </m:sub>
                              </m:sSub>
                            </m:e>
                          </m:eqArr>
                        </m:e>
                      </m:d>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d>
                                      <m:dPr>
                                        <m:begChr m:val="⟨"/>
                                        <m:endChr m:val="⟩"/>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e>
                                          <m:sup>
                                            <m:r>
                                              <a:rPr lang="en-US" altLang="zh-CN" b="0" i="1" smtClean="0">
                                                <a:latin typeface="Cambria Math" panose="02040503050406030204" pitchFamily="18" charset="0"/>
                                              </a:rPr>
                                              <m:t>2</m:t>
                                            </m:r>
                                          </m:sup>
                                        </m:sSup>
                                      </m:e>
                                    </m:d>
                                  </m:e>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b="0" i="1" smtClean="0">
                                                <a:latin typeface="Cambria Math" panose="02040503050406030204" pitchFamily="18" charset="0"/>
                                              </a:rPr>
                                              <m:t>′</m:t>
                                            </m:r>
                                          </m:sup>
                                        </m:sSup>
                                      </m:e>
                                    </m:d>
                                  </m:e>
                                  <m:e>
                                    <m:d>
                                      <m:dPr>
                                        <m:begChr m:val="⟨"/>
                                        <m:endChr m:val="⟩"/>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i="1">
                                                <a:latin typeface="Cambria Math" panose="02040503050406030204" pitchFamily="18" charset="0"/>
                                              </a:rPr>
                                              <m:t>′</m:t>
                                            </m:r>
                                          </m:sup>
                                        </m:sSup>
                                      </m:e>
                                    </m:d>
                                  </m:e>
                                </m:mr>
                                <m:mr>
                                  <m:e>
                                    <m:d>
                                      <m:dPr>
                                        <m:begChr m:val="⟨"/>
                                        <m:endChr m:val="⟩"/>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e>
                                    </m:d>
                                  </m:e>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i="1">
                                                    <a:latin typeface="Cambria Math" panose="02040503050406030204" pitchFamily="18" charset="0"/>
                                                  </a:rPr>
                                                  <m:t>′</m:t>
                                                </m:r>
                                              </m:sup>
                                            </m:sSup>
                                          </m:e>
                                          <m:sup>
                                            <m:r>
                                              <a:rPr lang="en-US" altLang="zh-CN" i="1">
                                                <a:latin typeface="Cambria Math" panose="02040503050406030204" pitchFamily="18" charset="0"/>
                                              </a:rPr>
                                              <m:t>2</m:t>
                                            </m:r>
                                          </m:sup>
                                        </m:sSup>
                                      </m:e>
                                    </m:d>
                                  </m:e>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i="1">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i="1">
                                                <a:latin typeface="Cambria Math" panose="02040503050406030204" pitchFamily="18" charset="0"/>
                                              </a:rPr>
                                              <m:t>′</m:t>
                                            </m:r>
                                          </m:sup>
                                        </m:sSup>
                                      </m:e>
                                    </m:d>
                                  </m:e>
                                </m:mr>
                                <m:mr>
                                  <m:e>
                                    <m:d>
                                      <m:dPr>
                                        <m:begChr m:val="⟨"/>
                                        <m:endChr m:val="⟩"/>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i="1">
                                                <a:latin typeface="Cambria Math" panose="02040503050406030204" pitchFamily="18" charset="0"/>
                                              </a:rPr>
                                              <m:t>′</m:t>
                                            </m:r>
                                          </m:sup>
                                        </m:sSup>
                                      </m:e>
                                    </m:d>
                                  </m:e>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i="1">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i="1">
                                                <a:latin typeface="Cambria Math" panose="02040503050406030204" pitchFamily="18" charset="0"/>
                                              </a:rPr>
                                              <m:t>′</m:t>
                                            </m:r>
                                          </m:sup>
                                        </m:sSup>
                                      </m:e>
                                    </m:d>
                                  </m:e>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i="1">
                                                    <a:latin typeface="Cambria Math" panose="02040503050406030204" pitchFamily="18" charset="0"/>
                                                  </a:rPr>
                                                  <m:t>′</m:t>
                                                </m:r>
                                              </m:sup>
                                            </m:sSup>
                                          </m:e>
                                          <m:sup>
                                            <m:r>
                                              <a:rPr lang="en-US" altLang="zh-CN" i="1">
                                                <a:latin typeface="Cambria Math" panose="02040503050406030204" pitchFamily="18" charset="0"/>
                                              </a:rPr>
                                              <m:t>2</m:t>
                                            </m:r>
                                          </m:sup>
                                        </m:sSup>
                                      </m:e>
                                    </m:d>
                                  </m:e>
                                </m:mr>
                              </m:m>
                            </m:e>
                          </m:d>
                        </m:e>
                        <m:sup>
                          <m:r>
                            <a:rPr lang="en-US" altLang="zh-CN" b="0" i="1" smtClean="0">
                              <a:latin typeface="Cambria Math" panose="02040503050406030204" pitchFamily="18" charset="0"/>
                            </a:rPr>
                            <m:t>−1</m:t>
                          </m:r>
                        </m:sup>
                      </m:sSup>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𝑉</m:t>
                                  </m:r>
                                </m:e>
                              </m:d>
                            </m:e>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𝐺</m:t>
                                      </m:r>
                                    </m:e>
                                    <m:sup>
                                      <m:r>
                                        <a:rPr lang="en-US" altLang="zh-CN" i="1">
                                          <a:latin typeface="Cambria Math" panose="02040503050406030204" pitchFamily="18" charset="0"/>
                                        </a:rPr>
                                        <m:t>′</m:t>
                                      </m:r>
                                    </m:sup>
                                  </m:sSup>
                                  <m:r>
                                    <a:rPr lang="en-US" altLang="zh-CN" i="1">
                                      <a:latin typeface="Cambria Math" panose="02040503050406030204" pitchFamily="18" charset="0"/>
                                    </a:rPr>
                                    <m:t>𝑉</m:t>
                                  </m:r>
                                </m:e>
                              </m:d>
                            </m:e>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i="1">
                                          <a:latin typeface="Cambria Math" panose="02040503050406030204" pitchFamily="18" charset="0"/>
                                        </a:rPr>
                                        <m:t>′</m:t>
                                      </m:r>
                                    </m:sup>
                                  </m:sSup>
                                  <m:r>
                                    <a:rPr lang="en-US" altLang="zh-CN" i="1">
                                      <a:latin typeface="Cambria Math" panose="02040503050406030204" pitchFamily="18" charset="0"/>
                                    </a:rPr>
                                    <m:t>𝑉</m:t>
                                  </m:r>
                                </m:e>
                              </m:d>
                            </m:e>
                          </m:eqArr>
                        </m:e>
                      </m:d>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312B74A1-BF48-29CD-7FAA-48055C277D30}"/>
                  </a:ext>
                </a:extLst>
              </p:cNvPr>
              <p:cNvSpPr txBox="1">
                <a:spLocks noRot="1" noChangeAspect="1" noMove="1" noResize="1" noEditPoints="1" noAdjustHandles="1" noChangeArrowheads="1" noChangeShapeType="1" noTextEdit="1"/>
              </p:cNvSpPr>
              <p:nvPr/>
            </p:nvSpPr>
            <p:spPr>
              <a:xfrm>
                <a:off x="263048" y="1918867"/>
                <a:ext cx="6766402" cy="3728713"/>
              </a:xfrm>
              <a:prstGeom prst="rect">
                <a:avLst/>
              </a:prstGeom>
              <a:blipFill>
                <a:blip r:embed="rId2"/>
                <a:stretch>
                  <a:fillRect l="-721" t="-982" r="-811"/>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10AFD124-70CD-8A18-AF6C-22FEBC172A0B}"/>
              </a:ext>
            </a:extLst>
          </p:cNvPr>
          <p:cNvGrpSpPr/>
          <p:nvPr/>
        </p:nvGrpSpPr>
        <p:grpSpPr>
          <a:xfrm>
            <a:off x="7126667" y="1277627"/>
            <a:ext cx="4941652" cy="3907489"/>
            <a:chOff x="6935303" y="2015749"/>
            <a:chExt cx="5256697" cy="4156604"/>
          </a:xfrm>
        </p:grpSpPr>
        <p:pic>
          <p:nvPicPr>
            <p:cNvPr id="9" name="图片 8">
              <a:extLst>
                <a:ext uri="{FF2B5EF4-FFF2-40B4-BE49-F238E27FC236}">
                  <a16:creationId xmlns:a16="http://schemas.microsoft.com/office/drawing/2014/main" id="{31A5A586-4DBD-7A42-7ECF-D869C31F5574}"/>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10" name="椭圆 9">
              <a:extLst>
                <a:ext uri="{FF2B5EF4-FFF2-40B4-BE49-F238E27FC236}">
                  <a16:creationId xmlns:a16="http://schemas.microsoft.com/office/drawing/2014/main" id="{853DC6C8-3CA0-1A3B-00CD-7C57528CD860}"/>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1" name="椭圆 10">
              <a:extLst>
                <a:ext uri="{FF2B5EF4-FFF2-40B4-BE49-F238E27FC236}">
                  <a16:creationId xmlns:a16="http://schemas.microsoft.com/office/drawing/2014/main" id="{ADFDE989-7573-7CD2-844F-AC1C3196EE4B}"/>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2" name="椭圆 11">
              <a:extLst>
                <a:ext uri="{FF2B5EF4-FFF2-40B4-BE49-F238E27FC236}">
                  <a16:creationId xmlns:a16="http://schemas.microsoft.com/office/drawing/2014/main" id="{4F2054E7-5CF1-A513-7596-F5F74C43415B}"/>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13" name="直接连接符 12">
              <a:extLst>
                <a:ext uri="{FF2B5EF4-FFF2-40B4-BE49-F238E27FC236}">
                  <a16:creationId xmlns:a16="http://schemas.microsoft.com/office/drawing/2014/main" id="{E5ECD589-9FDA-0283-5E5D-99C32641C0FA}"/>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7A6D0737-D447-0AE9-69FF-46D069F66A73}"/>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E3B5791-172D-0D93-AAFF-9078BE5F371C}"/>
                </a:ext>
              </a:extLst>
            </p:cNvPr>
            <p:cNvCxnSpPr>
              <a:cxnSpLocks/>
            </p:cNvCxnSpPr>
            <p:nvPr/>
          </p:nvCxnSpPr>
          <p:spPr>
            <a:xfrm>
              <a:off x="9869537" y="3960427"/>
              <a:ext cx="1830513" cy="1752335"/>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6F64F40-BE3D-4DC0-F4AE-5BD8C4AA15E2}"/>
                  </a:ext>
                </a:extLst>
              </p:cNvPr>
              <p:cNvSpPr txBox="1"/>
              <p:nvPr/>
            </p:nvSpPr>
            <p:spPr>
              <a:xfrm>
                <a:off x="263048" y="5647580"/>
                <a:ext cx="6075315" cy="923330"/>
              </a:xfrm>
              <a:prstGeom prst="rect">
                <a:avLst/>
              </a:prstGeom>
              <a:noFill/>
            </p:spPr>
            <p:txBody>
              <a:bodyPr wrap="square">
                <a:spAutoFit/>
              </a:bodyPr>
              <a:lstStyle/>
              <a:p>
                <a:pPr algn="just"/>
                <a:r>
                  <a:rPr lang="zh-CN" altLang="en-US" sz="1800" dirty="0">
                    <a:latin typeface="Noto Sans SC" panose="020B0200000000000000" pitchFamily="34" charset="-122"/>
                    <a:ea typeface="Noto Sans SC" panose="020B0200000000000000" pitchFamily="34" charset="-122"/>
                  </a:rPr>
                  <a:t>         正式因为我们将</a:t>
                </a:r>
                <a:r>
                  <a:rPr lang="en-US" altLang="zh-CN" sz="1800" dirty="0">
                    <a:latin typeface="Noto Sans SC" panose="020B0200000000000000" pitchFamily="34" charset="-122"/>
                    <a:ea typeface="Noto Sans SC" panose="020B0200000000000000" pitchFamily="34" charset="-122"/>
                  </a:rPr>
                  <a:t>RGB</a:t>
                </a:r>
                <a:r>
                  <a:rPr lang="zh-CN" altLang="en-US" sz="1800" dirty="0">
                    <a:latin typeface="Noto Sans SC" panose="020B0200000000000000" pitchFamily="34" charset="-122"/>
                    <a:ea typeface="Noto Sans SC" panose="020B0200000000000000" pitchFamily="34" charset="-122"/>
                  </a:rPr>
                  <a:t>匹配函数的面积规定为视见函数</a:t>
                </a:r>
                <a:r>
                  <a:rPr lang="en-US" altLang="zh-CN" sz="1800" dirty="0">
                    <a:latin typeface="Noto Sans SC" panose="020B0200000000000000" pitchFamily="34" charset="-122"/>
                    <a:ea typeface="Noto Sans SC" panose="020B0200000000000000" pitchFamily="34" charset="-122"/>
                  </a:rPr>
                  <a:t>V</a:t>
                </a:r>
                <a:r>
                  <a:rPr lang="zh-CN" altLang="en-US" sz="1800" dirty="0">
                    <a:latin typeface="Noto Sans SC" panose="020B0200000000000000" pitchFamily="34" charset="-122"/>
                    <a:ea typeface="Noto Sans SC" panose="020B0200000000000000" pitchFamily="34" charset="-122"/>
                  </a:rPr>
                  <a:t>的面积，这里最小二乘法的解就能刚好满足</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21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22</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23</m:t>
                        </m:r>
                      </m:sub>
                    </m:sSub>
                    <m:r>
                      <a:rPr lang="en-US" altLang="zh-CN" sz="1800" i="1">
                        <a:latin typeface="Cambria Math" panose="02040503050406030204" pitchFamily="18" charset="0"/>
                      </a:rPr>
                      <m:t>=1</m:t>
                    </m:r>
                  </m:oMath>
                </a14:m>
                <a:r>
                  <a:rPr lang="zh-CN" altLang="en-US" sz="1800" dirty="0">
                    <a:latin typeface="Noto Sans SC" panose="020B0200000000000000" pitchFamily="34" charset="-122"/>
                    <a:ea typeface="Noto Sans SC" panose="020B0200000000000000" pitchFamily="34" charset="-122"/>
                  </a:rPr>
                  <a:t>，也就是满足之前提到的约束。</a:t>
                </a:r>
                <a:endParaRPr lang="en-US" altLang="zh-CN" sz="1800" dirty="0">
                  <a:latin typeface="Noto Sans SC" panose="020B0200000000000000" pitchFamily="34" charset="-122"/>
                  <a:ea typeface="Noto Sans SC" panose="020B0200000000000000" pitchFamily="34" charset="-122"/>
                </a:endParaRPr>
              </a:p>
            </p:txBody>
          </p:sp>
        </mc:Choice>
        <mc:Fallback xmlns="">
          <p:sp>
            <p:nvSpPr>
              <p:cNvPr id="16" name="文本框 15">
                <a:extLst>
                  <a:ext uri="{FF2B5EF4-FFF2-40B4-BE49-F238E27FC236}">
                    <a16:creationId xmlns:a16="http://schemas.microsoft.com/office/drawing/2014/main" id="{56F64F40-BE3D-4DC0-F4AE-5BD8C4AA15E2}"/>
                  </a:ext>
                </a:extLst>
              </p:cNvPr>
              <p:cNvSpPr txBox="1">
                <a:spLocks noRot="1" noChangeAspect="1" noMove="1" noResize="1" noEditPoints="1" noAdjustHandles="1" noChangeArrowheads="1" noChangeShapeType="1" noTextEdit="1"/>
              </p:cNvSpPr>
              <p:nvPr/>
            </p:nvSpPr>
            <p:spPr>
              <a:xfrm>
                <a:off x="263048" y="5647580"/>
                <a:ext cx="6075315" cy="923330"/>
              </a:xfrm>
              <a:prstGeom prst="rect">
                <a:avLst/>
              </a:prstGeom>
              <a:blipFill>
                <a:blip r:embed="rId4"/>
                <a:stretch>
                  <a:fillRect l="-802" t="-3289" b="-9211"/>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34441D11-E941-A706-B96A-66B961B79202}"/>
              </a:ext>
            </a:extLst>
          </p:cNvPr>
          <p:cNvPicPr>
            <a:picLocks noChangeAspect="1"/>
          </p:cNvPicPr>
          <p:nvPr/>
        </p:nvPicPr>
        <p:blipFill>
          <a:blip r:embed="rId5"/>
          <a:stretch>
            <a:fillRect/>
          </a:stretch>
        </p:blipFill>
        <p:spPr>
          <a:xfrm>
            <a:off x="6745113" y="5274585"/>
            <a:ext cx="5183839" cy="13129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635023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44CBF-09E5-4F50-74DD-3C7675E3C8F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1B1D388-9A72-A4E9-AB50-0C786CECA858}"/>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E1D54581-D955-6D5C-5A6A-EC080A2D782D}"/>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46094FB-1141-B757-3BC4-3CA2BDD963B0}"/>
                  </a:ext>
                </a:extLst>
              </p:cNvPr>
              <p:cNvSpPr txBox="1"/>
              <p:nvPr/>
            </p:nvSpPr>
            <p:spPr>
              <a:xfrm>
                <a:off x="263048" y="1918867"/>
                <a:ext cx="6764609" cy="4978479"/>
              </a:xfrm>
              <a:prstGeom prst="rect">
                <a:avLst/>
              </a:prstGeom>
              <a:noFill/>
            </p:spPr>
            <p:txBody>
              <a:bodyPr wrap="square" rtlCol="0">
                <a:spAutoFit/>
              </a:bodyPr>
              <a:lstStyle/>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经过计算，得到了：</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21</m:t>
                          </m:r>
                        </m:sub>
                      </m:sSub>
                      <m:r>
                        <a:rPr lang="en-US" altLang="zh-CN" sz="1600" b="0" i="1" smtClean="0">
                          <a:latin typeface="Cambria Math" panose="02040503050406030204" pitchFamily="18" charset="0"/>
                        </a:rPr>
                        <m:t>=0.17697,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22</m:t>
                          </m:r>
                        </m:sub>
                      </m:sSub>
                      <m:r>
                        <a:rPr lang="en-US" altLang="zh-CN" sz="1600" b="0" i="1" smtClean="0">
                          <a:latin typeface="Cambria Math" panose="02040503050406030204" pitchFamily="18" charset="0"/>
                        </a:rPr>
                        <m:t>=0.81240,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23</m:t>
                          </m:r>
                        </m:sub>
                      </m:sSub>
                      <m:r>
                        <a:rPr lang="en-US" altLang="zh-CN" sz="1600" b="0" i="1" smtClean="0">
                          <a:latin typeface="Cambria Math" panose="02040503050406030204" pitchFamily="18" charset="0"/>
                        </a:rPr>
                        <m:t>=0.01063</m:t>
                      </m:r>
                    </m:oMath>
                  </m:oMathPara>
                </a14:m>
                <a:endParaRPr lang="en-US" altLang="zh-CN" sz="1600" b="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这就意味着，</a:t>
                </a:r>
                <a:r>
                  <a:rPr lang="en-US" altLang="zh-CN" sz="1600" dirty="0">
                    <a:latin typeface="Noto Sans SC" panose="020B0200000000000000" pitchFamily="34" charset="-122"/>
                    <a:ea typeface="Noto Sans SC" panose="020B0200000000000000" pitchFamily="34" charset="-122"/>
                  </a:rPr>
                  <a:t>RGB</a:t>
                </a:r>
                <a:r>
                  <a:rPr lang="zh-CN" altLang="en-US" sz="1600" dirty="0">
                    <a:latin typeface="Noto Sans SC" panose="020B0200000000000000" pitchFamily="34" charset="-122"/>
                    <a:ea typeface="Noto Sans SC" panose="020B0200000000000000" pitchFamily="34" charset="-122"/>
                  </a:rPr>
                  <a:t>色彩空间中，坐标为</a:t>
                </a:r>
                <a:r>
                  <a:rPr lang="en-US" altLang="zh-CN" sz="1600" dirty="0">
                    <a:latin typeface="Noto Sans SC" panose="020B0200000000000000" pitchFamily="34" charset="-122"/>
                    <a:ea typeface="Noto Sans SC" panose="020B0200000000000000" pitchFamily="34" charset="-122"/>
                  </a:rPr>
                  <a:t>(R, G, B)</a:t>
                </a:r>
                <a:r>
                  <a:rPr lang="zh-CN" altLang="en-US" sz="1600" dirty="0">
                    <a:latin typeface="Noto Sans SC" panose="020B0200000000000000" pitchFamily="34" charset="-122"/>
                    <a:ea typeface="Noto Sans SC" panose="020B0200000000000000" pitchFamily="34" charset="-122"/>
                  </a:rPr>
                  <a:t>的颜色，其亮度为：</a:t>
                </a:r>
                <a:r>
                  <a:rPr lang="en-US" altLang="zh-CN" sz="1600" dirty="0">
                    <a:latin typeface="Noto Sans SC" panose="020B0200000000000000" pitchFamily="34" charset="-122"/>
                    <a:ea typeface="Noto Sans SC" panose="020B0200000000000000" pitchFamily="34" charset="-122"/>
                  </a:rPr>
                  <a:t> </a:t>
                </a:r>
                <a14:m>
                  <m:oMath xmlns:m="http://schemas.openxmlformats.org/officeDocument/2006/math">
                    <m:r>
                      <m:rPr>
                        <m:sty m:val="p"/>
                      </m:rPr>
                      <a:rPr lang="en-US" altLang="zh-CN" sz="1600" b="0" i="0" smtClean="0">
                        <a:latin typeface="Cambria Math" panose="02040503050406030204" pitchFamily="18" charset="0"/>
                      </a:rPr>
                      <m:t>Y</m:t>
                    </m:r>
                    <m:r>
                      <a:rPr lang="en-US" altLang="zh-CN" sz="1600" b="0" i="0" smtClean="0">
                        <a:latin typeface="Cambria Math" panose="02040503050406030204" pitchFamily="18" charset="0"/>
                      </a:rPr>
                      <m:t>=0.17697×</m:t>
                    </m:r>
                    <m:r>
                      <a:rPr lang="en-US" altLang="zh-CN" sz="1600" b="0" i="1" smtClean="0">
                        <a:latin typeface="Cambria Math" panose="02040503050406030204" pitchFamily="18" charset="0"/>
                      </a:rPr>
                      <m:t>𝑅</m:t>
                    </m:r>
                    <m:r>
                      <a:rPr lang="en-US" altLang="zh-CN" sz="1600" b="0" i="1" smtClean="0">
                        <a:latin typeface="Cambria Math" panose="02040503050406030204" pitchFamily="18" charset="0"/>
                      </a:rPr>
                      <m:t>+0.81240×</m:t>
                    </m:r>
                    <m:r>
                      <a:rPr lang="en-US" altLang="zh-CN" sz="1600" b="0" i="1" smtClean="0">
                        <a:latin typeface="Cambria Math" panose="02040503050406030204" pitchFamily="18" charset="0"/>
                      </a:rPr>
                      <m:t>𝐺</m:t>
                    </m:r>
                    <m:r>
                      <a:rPr lang="en-US" altLang="zh-CN" sz="1600" b="0" i="1" smtClean="0">
                        <a:latin typeface="Cambria Math" panose="02040503050406030204" pitchFamily="18" charset="0"/>
                      </a:rPr>
                      <m:t>+0.01063×</m:t>
                    </m:r>
                    <m:r>
                      <a:rPr lang="en-US" altLang="zh-CN" sz="1600" b="0" i="1" smtClean="0">
                        <a:latin typeface="Cambria Math" panose="02040503050406030204" pitchFamily="18" charset="0"/>
                      </a:rPr>
                      <m:t>𝐵</m:t>
                    </m:r>
                  </m:oMath>
                </a14:m>
                <a:r>
                  <a:rPr lang="zh-CN" altLang="en-US" sz="1600" b="0" dirty="0">
                    <a:latin typeface="Noto Sans SC" panose="020B0200000000000000" pitchFamily="34" charset="-122"/>
                    <a:ea typeface="Noto Sans SC" panose="020B0200000000000000" pitchFamily="34" charset="-122"/>
                  </a:rPr>
                  <a:t>。这样，亮度信息就由</a:t>
                </a:r>
                <a:r>
                  <a:rPr lang="en-US" altLang="zh-CN" sz="1600" b="0" dirty="0">
                    <a:latin typeface="Noto Sans SC" panose="020B0200000000000000" pitchFamily="34" charset="-122"/>
                    <a:ea typeface="Noto Sans SC" panose="020B0200000000000000" pitchFamily="34" charset="-122"/>
                  </a:rPr>
                  <a:t>Y</a:t>
                </a:r>
                <a:r>
                  <a:rPr lang="zh-CN" altLang="en-US" sz="1600" b="0" dirty="0">
                    <a:latin typeface="Noto Sans SC" panose="020B0200000000000000" pitchFamily="34" charset="-122"/>
                    <a:ea typeface="Noto Sans SC" panose="020B0200000000000000" pitchFamily="34" charset="-122"/>
                  </a:rPr>
                  <a:t>分量承担了。</a:t>
                </a:r>
                <a:endParaRPr lang="en-US" altLang="zh-CN" sz="1600" b="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同时，这就隐含着，一单位的</a:t>
                </a:r>
                <a:r>
                  <a:rPr lang="en-US" altLang="zh-CN" sz="1600" dirty="0">
                    <a:latin typeface="Noto Sans SC" panose="020B0200000000000000" pitchFamily="34" charset="-122"/>
                    <a:ea typeface="Noto Sans SC" panose="020B0200000000000000" pitchFamily="34" charset="-122"/>
                  </a:rPr>
                  <a:t>RGB</a:t>
                </a:r>
                <a:r>
                  <a:rPr lang="zh-CN" altLang="en-US" sz="1600" dirty="0">
                    <a:latin typeface="Noto Sans SC" panose="020B0200000000000000" pitchFamily="34" charset="-122"/>
                    <a:ea typeface="Noto Sans SC" panose="020B0200000000000000" pitchFamily="34" charset="-122"/>
                  </a:rPr>
                  <a:t>三原色光，其亮度比例为：</a:t>
                </a:r>
                <a:endParaRPr lang="en-US" altLang="zh-CN" sz="1600" b="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21</m:t>
                          </m:r>
                        </m:sub>
                      </m:sSub>
                      <m:r>
                        <a:rPr lang="en-US" altLang="zh-CN" sz="1600" b="0" i="1" smtClean="0">
                          <a:latin typeface="Cambria Math" panose="02040503050406030204" pitchFamily="18" charset="0"/>
                        </a:rPr>
                        <m:t> :</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2</m:t>
                          </m:r>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 :</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2</m:t>
                          </m:r>
                          <m:r>
                            <a:rPr lang="en-US" altLang="zh-CN" sz="1600" b="0" i="1" smtClean="0">
                              <a:latin typeface="Cambria Math" panose="02040503050406030204" pitchFamily="18" charset="0"/>
                            </a:rPr>
                            <m:t>3</m:t>
                          </m:r>
                        </m:sub>
                      </m:sSub>
                      <m:r>
                        <a:rPr lang="en-US" altLang="zh-CN" sz="1600" b="0" i="1" smtClean="0">
                          <a:latin typeface="Cambria Math" panose="02040503050406030204" pitchFamily="18" charset="0"/>
                        </a:rPr>
                        <m:t>=1 :4.5907 :0.0601</m:t>
                      </m:r>
                    </m:oMath>
                  </m:oMathPara>
                </a14:m>
                <a:endParaRPr lang="en-US" altLang="zh-CN" sz="1600" dirty="0">
                  <a:latin typeface="Noto Sans SC" panose="020B0200000000000000" pitchFamily="34" charset="-122"/>
                  <a:ea typeface="Noto Sans SC" panose="020B0200000000000000" pitchFamily="34" charset="-122"/>
                </a:endParaRPr>
              </a:p>
              <a:p>
                <a:pPr algn="just"/>
                <a:r>
                  <a:rPr lang="en-US" altLang="zh-CN" sz="1600" b="0" dirty="0">
                    <a:latin typeface="Noto Sans SC" panose="020B0200000000000000" pitchFamily="34" charset="-122"/>
                    <a:ea typeface="Noto Sans SC" panose="020B0200000000000000" pitchFamily="34" charset="-122"/>
                  </a:rPr>
                  <a:t>         </a:t>
                </a:r>
                <a:r>
                  <a:rPr lang="zh-CN" altLang="en-US" sz="1600" b="0" dirty="0">
                    <a:latin typeface="Noto Sans SC" panose="020B0200000000000000" pitchFamily="34" charset="-122"/>
                    <a:ea typeface="Noto Sans SC" panose="020B0200000000000000" pitchFamily="34" charset="-122"/>
                  </a:rPr>
                  <a:t>于是，我们就可以在</a:t>
                </a:r>
                <a:r>
                  <a:rPr lang="en-US" altLang="zh-CN" sz="1600" b="0" dirty="0">
                    <a:latin typeface="Noto Sans SC" panose="020B0200000000000000" pitchFamily="34" charset="-122"/>
                    <a:ea typeface="Noto Sans SC" panose="020B0200000000000000" pitchFamily="34" charset="-122"/>
                  </a:rPr>
                  <a:t>RGB</a:t>
                </a:r>
                <a:r>
                  <a:rPr lang="zh-CN" altLang="en-US" sz="1600" b="0" dirty="0">
                    <a:latin typeface="Noto Sans SC" panose="020B0200000000000000" pitchFamily="34" charset="-122"/>
                    <a:ea typeface="Noto Sans SC" panose="020B0200000000000000" pitchFamily="34" charset="-122"/>
                  </a:rPr>
                  <a:t>空间中得到一个</a:t>
                </a:r>
                <a:r>
                  <a:rPr lang="en-US" altLang="zh-CN" sz="1600" b="0" dirty="0">
                    <a:latin typeface="Noto Sans SC" panose="020B0200000000000000" pitchFamily="34" charset="-122"/>
                    <a:ea typeface="Noto Sans SC" panose="020B0200000000000000" pitchFamily="34" charset="-122"/>
                  </a:rPr>
                  <a:t>0</a:t>
                </a:r>
                <a:r>
                  <a:rPr lang="zh-CN" altLang="en-US" sz="1600" b="0" dirty="0">
                    <a:latin typeface="Noto Sans SC" panose="020B0200000000000000" pitchFamily="34" charset="-122"/>
                    <a:ea typeface="Noto Sans SC" panose="020B0200000000000000" pitchFamily="34" charset="-122"/>
                  </a:rPr>
                  <a:t>亮度平面，即：</a:t>
                </a:r>
                <a:endParaRPr lang="en-US" altLang="zh-CN" sz="1600" b="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𝑅</m:t>
                      </m:r>
                      <m:r>
                        <a:rPr lang="en-US" altLang="zh-CN" sz="1600" i="1">
                          <a:latin typeface="Cambria Math" panose="02040503050406030204" pitchFamily="18" charset="0"/>
                        </a:rPr>
                        <m:t>+4.5907</m:t>
                      </m:r>
                      <m:r>
                        <a:rPr lang="en-US" altLang="zh-CN" sz="1600" i="1">
                          <a:latin typeface="Cambria Math" panose="02040503050406030204" pitchFamily="18" charset="0"/>
                        </a:rPr>
                        <m:t>𝐺</m:t>
                      </m:r>
                      <m:r>
                        <a:rPr lang="en-US" altLang="zh-CN" sz="1600" i="1">
                          <a:latin typeface="Cambria Math" panose="02040503050406030204" pitchFamily="18" charset="0"/>
                        </a:rPr>
                        <m:t>+0.0601</m:t>
                      </m:r>
                      <m:r>
                        <a:rPr lang="en-US" altLang="zh-CN" sz="1600" i="1">
                          <a:latin typeface="Cambria Math" panose="02040503050406030204" pitchFamily="18" charset="0"/>
                        </a:rPr>
                        <m:t>𝐵</m:t>
                      </m:r>
                      <m:r>
                        <a:rPr lang="en-US" altLang="zh-CN" sz="1600" b="0" i="1" smtClean="0">
                          <a:latin typeface="Cambria Math" panose="02040503050406030204" pitchFamily="18" charset="0"/>
                        </a:rPr>
                        <m:t>=0    </m:t>
                      </m:r>
                      <m:r>
                        <a:rPr lang="zh-CN" altLang="en-US" sz="1600" i="1">
                          <a:latin typeface="Cambria Math" panose="02040503050406030204" pitchFamily="18" charset="0"/>
                        </a:rPr>
                        <m:t>或</m:t>
                      </m:r>
                      <m:r>
                        <a:rPr lang="en-US" altLang="zh-CN" sz="1600" b="0" i="1" smtClean="0">
                          <a:latin typeface="Cambria Math" panose="02040503050406030204" pitchFamily="18" charset="0"/>
                        </a:rPr>
                        <m:t>    0.17697</m:t>
                      </m:r>
                      <m:r>
                        <a:rPr lang="en-US" altLang="zh-CN" sz="1600" i="1">
                          <a:latin typeface="Cambria Math" panose="02040503050406030204" pitchFamily="18" charset="0"/>
                        </a:rPr>
                        <m:t>𝑅</m:t>
                      </m:r>
                      <m:r>
                        <a:rPr lang="en-US" altLang="zh-CN" sz="1600" i="1">
                          <a:latin typeface="Cambria Math" panose="02040503050406030204" pitchFamily="18" charset="0"/>
                        </a:rPr>
                        <m:t>+0.81240</m:t>
                      </m:r>
                      <m:r>
                        <a:rPr lang="en-US" altLang="zh-CN" sz="1600" i="1">
                          <a:latin typeface="Cambria Math" panose="02040503050406030204" pitchFamily="18" charset="0"/>
                        </a:rPr>
                        <m:t>𝐺</m:t>
                      </m:r>
                      <m:r>
                        <a:rPr lang="en-US" altLang="zh-CN" sz="1600" i="1">
                          <a:latin typeface="Cambria Math" panose="02040503050406030204" pitchFamily="18" charset="0"/>
                        </a:rPr>
                        <m:t>+0.01063</m:t>
                      </m:r>
                      <m:r>
                        <a:rPr lang="en-US" altLang="zh-CN" sz="1600" i="1">
                          <a:latin typeface="Cambria Math" panose="02040503050406030204" pitchFamily="18" charset="0"/>
                        </a:rPr>
                        <m:t>𝐵</m:t>
                      </m:r>
                      <m:r>
                        <a:rPr lang="en-US" altLang="zh-CN" sz="1600" i="1">
                          <a:latin typeface="Cambria Math" panose="02040503050406030204" pitchFamily="18" charset="0"/>
                        </a:rPr>
                        <m:t>=0</m:t>
                      </m:r>
                    </m:oMath>
                  </m:oMathPara>
                </a14:m>
                <a:endParaRPr lang="en-US" altLang="zh-CN" sz="1600" b="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不难想象，只要我们将</a:t>
                </a:r>
                <a:r>
                  <a:rPr lang="en-US" altLang="zh-CN" sz="1600" dirty="0">
                    <a:latin typeface="Noto Sans SC" panose="020B0200000000000000" pitchFamily="34" charset="-122"/>
                    <a:ea typeface="Noto Sans SC" panose="020B0200000000000000" pitchFamily="34" charset="-122"/>
                  </a:rPr>
                  <a:t>XYZ</a:t>
                </a:r>
                <a:r>
                  <a:rPr lang="zh-CN" altLang="en-US" sz="1600" dirty="0">
                    <a:latin typeface="Noto Sans SC" panose="020B0200000000000000" pitchFamily="34" charset="-122"/>
                    <a:ea typeface="Noto Sans SC" panose="020B0200000000000000" pitchFamily="34" charset="-122"/>
                  </a:rPr>
                  <a:t>空间的</a:t>
                </a:r>
                <a:r>
                  <a:rPr lang="en-US" altLang="zh-CN" sz="1600" dirty="0">
                    <a:latin typeface="Noto Sans SC" panose="020B0200000000000000" pitchFamily="34" charset="-122"/>
                    <a:ea typeface="Noto Sans SC" panose="020B0200000000000000" pitchFamily="34" charset="-122"/>
                  </a:rPr>
                  <a:t>X</a:t>
                </a:r>
                <a:r>
                  <a:rPr lang="zh-CN" altLang="en-US" sz="1600" dirty="0">
                    <a:latin typeface="Noto Sans SC" panose="020B0200000000000000" pitchFamily="34" charset="-122"/>
                    <a:ea typeface="Noto Sans SC" panose="020B0200000000000000" pitchFamily="34" charset="-122"/>
                  </a:rPr>
                  <a:t>、</a:t>
                </a:r>
                <a:r>
                  <a:rPr lang="en-US" altLang="zh-CN" sz="1600" dirty="0">
                    <a:latin typeface="Noto Sans SC" panose="020B0200000000000000" pitchFamily="34" charset="-122"/>
                    <a:ea typeface="Noto Sans SC" panose="020B0200000000000000" pitchFamily="34" charset="-122"/>
                  </a:rPr>
                  <a:t>Z</a:t>
                </a:r>
                <a:r>
                  <a:rPr lang="zh-CN" altLang="en-US" sz="1600" dirty="0">
                    <a:latin typeface="Noto Sans SC" panose="020B0200000000000000" pitchFamily="34" charset="-122"/>
                    <a:ea typeface="Noto Sans SC" panose="020B0200000000000000" pitchFamily="34" charset="-122"/>
                  </a:rPr>
                  <a:t>基，规定在</a:t>
                </a:r>
                <a:r>
                  <a:rPr lang="en-US" altLang="zh-CN" sz="1600" dirty="0">
                    <a:latin typeface="Noto Sans SC" panose="020B0200000000000000" pitchFamily="34" charset="-122"/>
                    <a:ea typeface="Noto Sans SC" panose="020B0200000000000000" pitchFamily="34" charset="-122"/>
                  </a:rPr>
                  <a:t>0</a:t>
                </a:r>
                <a:r>
                  <a:rPr lang="zh-CN" altLang="en-US" sz="1600" dirty="0">
                    <a:latin typeface="Noto Sans SC" panose="020B0200000000000000" pitchFamily="34" charset="-122"/>
                    <a:ea typeface="Noto Sans SC" panose="020B0200000000000000" pitchFamily="34" charset="-122"/>
                  </a:rPr>
                  <a:t>亮度平面上，而</a:t>
                </a:r>
                <a:r>
                  <a:rPr lang="en-US" altLang="zh-CN" sz="1600" dirty="0">
                    <a:latin typeface="Noto Sans SC" panose="020B0200000000000000" pitchFamily="34" charset="-122"/>
                    <a:ea typeface="Noto Sans SC" panose="020B0200000000000000" pitchFamily="34" charset="-122"/>
                  </a:rPr>
                  <a:t>Y</a:t>
                </a:r>
                <a:r>
                  <a:rPr lang="zh-CN" altLang="en-US" sz="1600" dirty="0">
                    <a:latin typeface="Noto Sans SC" panose="020B0200000000000000" pitchFamily="34" charset="-122"/>
                    <a:ea typeface="Noto Sans SC" panose="020B0200000000000000" pitchFamily="34" charset="-122"/>
                  </a:rPr>
                  <a:t>基在</a:t>
                </a:r>
                <a:r>
                  <a:rPr lang="en-US" altLang="zh-CN" sz="1600" dirty="0">
                    <a:latin typeface="Noto Sans SC" panose="020B0200000000000000" pitchFamily="34" charset="-122"/>
                    <a:ea typeface="Noto Sans SC" panose="020B0200000000000000" pitchFamily="34" charset="-122"/>
                  </a:rPr>
                  <a:t>0</a:t>
                </a:r>
                <a:r>
                  <a:rPr lang="zh-CN" altLang="en-US" sz="1600" dirty="0">
                    <a:latin typeface="Noto Sans SC" panose="020B0200000000000000" pitchFamily="34" charset="-122"/>
                    <a:ea typeface="Noto Sans SC" panose="020B0200000000000000" pitchFamily="34" charset="-122"/>
                  </a:rPr>
                  <a:t>亮度平面外，就可以让</a:t>
                </a:r>
                <a:r>
                  <a:rPr lang="en-US" altLang="zh-CN" sz="1600" dirty="0">
                    <a:latin typeface="Noto Sans SC" panose="020B0200000000000000" pitchFamily="34" charset="-122"/>
                    <a:ea typeface="Noto Sans SC" panose="020B0200000000000000" pitchFamily="34" charset="-122"/>
                  </a:rPr>
                  <a:t>Y</a:t>
                </a:r>
                <a:r>
                  <a:rPr lang="zh-CN" altLang="en-US" sz="1600" dirty="0">
                    <a:latin typeface="Noto Sans SC" panose="020B0200000000000000" pitchFamily="34" charset="-122"/>
                    <a:ea typeface="Noto Sans SC" panose="020B0200000000000000" pitchFamily="34" charset="-122"/>
                  </a:rPr>
                  <a:t>分量直接表示亮度；或者说，对于</a:t>
                </a:r>
                <a:r>
                  <a:rPr lang="en-US" altLang="zh-CN" sz="1600" dirty="0">
                    <a:latin typeface="Noto Sans SC" panose="020B0200000000000000" pitchFamily="34" charset="-122"/>
                    <a:ea typeface="Noto Sans SC" panose="020B0200000000000000" pitchFamily="34" charset="-122"/>
                  </a:rPr>
                  <a:t>XYZ</a:t>
                </a:r>
                <a:r>
                  <a:rPr lang="zh-CN" altLang="en-US" sz="1600" dirty="0">
                    <a:latin typeface="Noto Sans SC" panose="020B0200000000000000" pitchFamily="34" charset="-122"/>
                    <a:ea typeface="Noto Sans SC" panose="020B0200000000000000" pitchFamily="34" charset="-122"/>
                  </a:rPr>
                  <a:t>空间内的任意点（</a:t>
                </a:r>
                <a:r>
                  <a:rPr lang="en-US" altLang="zh-CN" sz="1600" dirty="0">
                    <a:latin typeface="Noto Sans SC" panose="020B0200000000000000" pitchFamily="34" charset="-122"/>
                    <a:ea typeface="Noto Sans SC" panose="020B0200000000000000" pitchFamily="34" charset="-122"/>
                  </a:rPr>
                  <a:t>X,</a:t>
                </a:r>
                <a:r>
                  <a:rPr lang="zh-CN" altLang="en-US" sz="1600" dirty="0">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0,</a:t>
                </a:r>
                <a:r>
                  <a:rPr lang="zh-CN" altLang="en-US" sz="1600" dirty="0">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Z</a:t>
                </a:r>
                <a:r>
                  <a:rPr lang="zh-CN" altLang="en-US" sz="1600" dirty="0">
                    <a:latin typeface="Noto Sans SC" panose="020B0200000000000000" pitchFamily="34" charset="-122"/>
                    <a:ea typeface="Noto Sans SC" panose="020B0200000000000000" pitchFamily="34" charset="-122"/>
                  </a:rPr>
                  <a:t>），其亮度始终为</a:t>
                </a:r>
                <a:r>
                  <a:rPr lang="en-US" altLang="zh-CN" sz="1600" dirty="0">
                    <a:latin typeface="Noto Sans SC" panose="020B0200000000000000" pitchFamily="34" charset="-122"/>
                    <a:ea typeface="Noto Sans SC" panose="020B0200000000000000" pitchFamily="34" charset="-122"/>
                  </a:rPr>
                  <a:t>0</a:t>
                </a:r>
                <a:r>
                  <a:rPr lang="zh-CN" altLang="en-US" sz="1600" dirty="0">
                    <a:latin typeface="Noto Sans SC" panose="020B0200000000000000" pitchFamily="34" charset="-122"/>
                    <a:ea typeface="Noto Sans SC" panose="020B0200000000000000" pitchFamily="34" charset="-122"/>
                  </a:rPr>
                  <a:t>。</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我们在</a:t>
                </a:r>
                <a:r>
                  <a:rPr lang="en-US" altLang="zh-CN" sz="1600" dirty="0">
                    <a:latin typeface="Noto Sans SC" panose="020B0200000000000000" pitchFamily="34" charset="-122"/>
                    <a:ea typeface="Noto Sans SC" panose="020B0200000000000000" pitchFamily="34" charset="-122"/>
                  </a:rPr>
                  <a:t>0</a:t>
                </a:r>
                <a:r>
                  <a:rPr lang="zh-CN" altLang="en-US" sz="1600" dirty="0">
                    <a:latin typeface="Noto Sans SC" panose="020B0200000000000000" pitchFamily="34" charset="-122"/>
                    <a:ea typeface="Noto Sans SC" panose="020B0200000000000000" pitchFamily="34" charset="-122"/>
                  </a:rPr>
                  <a:t>亮度平面方程的两边同时除以</a:t>
                </a:r>
                <a14:m>
                  <m:oMath xmlns:m="http://schemas.openxmlformats.org/officeDocument/2006/math">
                    <m:r>
                      <a:rPr lang="en-US" altLang="zh-CN" sz="1600" i="1">
                        <a:latin typeface="Cambria Math" panose="02040503050406030204" pitchFamily="18" charset="0"/>
                      </a:rPr>
                      <m:t>𝑅</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𝐺</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𝐵</m:t>
                    </m:r>
                  </m:oMath>
                </a14:m>
                <a:r>
                  <a:rPr lang="zh-CN" altLang="en-US" sz="1600" b="0" dirty="0">
                    <a:latin typeface="Noto Sans SC" panose="020B0200000000000000" pitchFamily="34" charset="-122"/>
                    <a:ea typeface="Noto Sans SC" panose="020B0200000000000000" pitchFamily="34" charset="-122"/>
                  </a:rPr>
                  <a:t>，就得到了色度平面上的一条</a:t>
                </a:r>
                <a:r>
                  <a:rPr lang="en-US" altLang="zh-CN" sz="1600" dirty="0">
                    <a:latin typeface="Noto Sans SC" panose="020B0200000000000000" pitchFamily="34" charset="-122"/>
                    <a:ea typeface="Noto Sans SC" panose="020B0200000000000000" pitchFamily="34" charset="-122"/>
                  </a:rPr>
                  <a:t>0</a:t>
                </a:r>
                <a:r>
                  <a:rPr lang="zh-CN" altLang="en-US" sz="1600" dirty="0">
                    <a:latin typeface="Noto Sans SC" panose="020B0200000000000000" pitchFamily="34" charset="-122"/>
                    <a:ea typeface="Noto Sans SC" panose="020B0200000000000000" pitchFamily="34" charset="-122"/>
                  </a:rPr>
                  <a:t>亮度线</a:t>
                </a:r>
                <a:r>
                  <a:rPr lang="en-US" altLang="zh-CN" sz="1600" dirty="0">
                    <a:latin typeface="Noto Sans SC" panose="020B0200000000000000" pitchFamily="34" charset="-122"/>
                    <a:ea typeface="Noto Sans SC" panose="020B0200000000000000" pitchFamily="34" charset="-122"/>
                  </a:rPr>
                  <a:t>(</a:t>
                </a:r>
                <a:r>
                  <a:rPr lang="zh-CN" altLang="zh-CN" sz="1600" dirty="0">
                    <a:latin typeface="Noto Sans SC" panose="020B0200000000000000" pitchFamily="34" charset="-122"/>
                    <a:ea typeface="Noto Sans SC" panose="020B0200000000000000" pitchFamily="34" charset="-122"/>
                  </a:rPr>
                  <a:t>alychne</a:t>
                </a:r>
                <a:r>
                  <a:rPr lang="en-US" altLang="zh-CN" sz="1600" dirty="0">
                    <a:latin typeface="Noto Sans SC" panose="020B0200000000000000" pitchFamily="34" charset="-122"/>
                    <a:ea typeface="Noto Sans SC" panose="020B0200000000000000" pitchFamily="34" charset="-122"/>
                  </a:rPr>
                  <a:t>)</a:t>
                </a:r>
                <a:r>
                  <a:rPr lang="zh-CN" altLang="en-US" sz="1600" dirty="0">
                    <a:latin typeface="Noto Sans SC" panose="020B0200000000000000" pitchFamily="34" charset="-122"/>
                    <a:ea typeface="Noto Sans SC" panose="020B0200000000000000" pitchFamily="34" charset="-122"/>
                  </a:rPr>
                  <a:t>，也就是说，</a:t>
                </a:r>
                <a:r>
                  <a:rPr lang="en-US" altLang="zh-CN" sz="1600" dirty="0">
                    <a:latin typeface="Noto Sans SC" panose="020B0200000000000000" pitchFamily="34" charset="-122"/>
                    <a:ea typeface="Noto Sans SC" panose="020B0200000000000000" pitchFamily="34" charset="-122"/>
                  </a:rPr>
                  <a:t>XZ</a:t>
                </a:r>
                <a:r>
                  <a:rPr lang="zh-CN" altLang="en-US" sz="1600" dirty="0">
                    <a:latin typeface="Noto Sans SC" panose="020B0200000000000000" pitchFamily="34" charset="-122"/>
                    <a:ea typeface="Noto Sans SC" panose="020B0200000000000000" pitchFamily="34" charset="-122"/>
                  </a:rPr>
                  <a:t>基一定在色度空间的这条线上：</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0.17697</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𝑅</m:t>
                          </m:r>
                        </m:num>
                        <m:den>
                          <m:r>
                            <a:rPr lang="en-US" altLang="zh-CN" sz="1600" b="0" i="1" smtClean="0">
                              <a:latin typeface="Cambria Math" panose="02040503050406030204" pitchFamily="18" charset="0"/>
                            </a:rPr>
                            <m:t>𝑅</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𝐺</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𝐵</m:t>
                          </m:r>
                        </m:den>
                      </m:f>
                      <m:r>
                        <a:rPr lang="en-US" altLang="zh-CN" sz="1600" i="1">
                          <a:latin typeface="Cambria Math" panose="02040503050406030204" pitchFamily="18" charset="0"/>
                        </a:rPr>
                        <m:t>+0.81240</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𝐺</m:t>
                          </m:r>
                        </m:num>
                        <m:den>
                          <m:r>
                            <a:rPr lang="en-US" altLang="zh-CN" sz="1600" i="1">
                              <a:latin typeface="Cambria Math" panose="02040503050406030204" pitchFamily="18" charset="0"/>
                            </a:rPr>
                            <m:t>𝑅</m:t>
                          </m:r>
                          <m:r>
                            <a:rPr lang="en-US" altLang="zh-CN" sz="1600" i="1">
                              <a:latin typeface="Cambria Math" panose="02040503050406030204" pitchFamily="18" charset="0"/>
                            </a:rPr>
                            <m:t>+</m:t>
                          </m:r>
                          <m:r>
                            <a:rPr lang="en-US" altLang="zh-CN" sz="1600" i="1">
                              <a:latin typeface="Cambria Math" panose="02040503050406030204" pitchFamily="18" charset="0"/>
                            </a:rPr>
                            <m:t>𝐺</m:t>
                          </m:r>
                          <m:r>
                            <a:rPr lang="en-US" altLang="zh-CN" sz="1600" i="1">
                              <a:latin typeface="Cambria Math" panose="02040503050406030204" pitchFamily="18" charset="0"/>
                            </a:rPr>
                            <m:t>+</m:t>
                          </m:r>
                          <m:r>
                            <a:rPr lang="en-US" altLang="zh-CN" sz="1600" i="1">
                              <a:latin typeface="Cambria Math" panose="02040503050406030204" pitchFamily="18" charset="0"/>
                            </a:rPr>
                            <m:t>𝐵</m:t>
                          </m:r>
                        </m:den>
                      </m:f>
                      <m:r>
                        <a:rPr lang="en-US" altLang="zh-CN" sz="1600" i="1">
                          <a:latin typeface="Cambria Math" panose="02040503050406030204" pitchFamily="18" charset="0"/>
                        </a:rPr>
                        <m:t>+0.01063</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𝐵</m:t>
                          </m:r>
                        </m:num>
                        <m:den>
                          <m:r>
                            <a:rPr lang="en-US" altLang="zh-CN" sz="1600" i="1">
                              <a:latin typeface="Cambria Math" panose="02040503050406030204" pitchFamily="18" charset="0"/>
                            </a:rPr>
                            <m:t>𝑅</m:t>
                          </m:r>
                          <m:r>
                            <a:rPr lang="en-US" altLang="zh-CN" sz="1600" i="1">
                              <a:latin typeface="Cambria Math" panose="02040503050406030204" pitchFamily="18" charset="0"/>
                            </a:rPr>
                            <m:t>+</m:t>
                          </m:r>
                          <m:r>
                            <a:rPr lang="en-US" altLang="zh-CN" sz="1600" i="1">
                              <a:latin typeface="Cambria Math" panose="02040503050406030204" pitchFamily="18" charset="0"/>
                            </a:rPr>
                            <m:t>𝐺</m:t>
                          </m:r>
                          <m:r>
                            <a:rPr lang="en-US" altLang="zh-CN" sz="1600" i="1">
                              <a:latin typeface="Cambria Math" panose="02040503050406030204" pitchFamily="18" charset="0"/>
                            </a:rPr>
                            <m:t>+</m:t>
                          </m:r>
                          <m:r>
                            <a:rPr lang="en-US" altLang="zh-CN" sz="1600" i="1">
                              <a:latin typeface="Cambria Math" panose="02040503050406030204" pitchFamily="18" charset="0"/>
                            </a:rPr>
                            <m:t>𝐵</m:t>
                          </m:r>
                        </m:den>
                      </m:f>
                      <m:r>
                        <a:rPr lang="en-US" altLang="zh-CN" sz="1600" i="1">
                          <a:latin typeface="Cambria Math" panose="02040503050406030204" pitchFamily="18" charset="0"/>
                        </a:rPr>
                        <m:t>=0</m:t>
                      </m:r>
                    </m:oMath>
                  </m:oMathPara>
                </a14:m>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500" i="1">
                          <a:latin typeface="Cambria Math" panose="02040503050406030204" pitchFamily="18" charset="0"/>
                        </a:rPr>
                        <m:t>0.17697</m:t>
                      </m:r>
                      <m:r>
                        <a:rPr lang="en-US" altLang="zh-CN" sz="1500" b="0" i="1" smtClean="0">
                          <a:latin typeface="Cambria Math" panose="02040503050406030204" pitchFamily="18" charset="0"/>
                        </a:rPr>
                        <m:t>𝑟</m:t>
                      </m:r>
                      <m:r>
                        <a:rPr lang="en-US" altLang="zh-CN" sz="1500" i="1">
                          <a:latin typeface="Cambria Math" panose="02040503050406030204" pitchFamily="18" charset="0"/>
                        </a:rPr>
                        <m:t>+0.81240</m:t>
                      </m:r>
                      <m:r>
                        <a:rPr lang="en-US" altLang="zh-CN" sz="1500" b="0" i="1" smtClean="0">
                          <a:latin typeface="Cambria Math" panose="02040503050406030204" pitchFamily="18" charset="0"/>
                        </a:rPr>
                        <m:t>𝑔</m:t>
                      </m:r>
                      <m:r>
                        <a:rPr lang="en-US" altLang="zh-CN" sz="1500" i="1">
                          <a:latin typeface="Cambria Math" panose="02040503050406030204" pitchFamily="18" charset="0"/>
                        </a:rPr>
                        <m:t>+0.01063</m:t>
                      </m:r>
                      <m:d>
                        <m:dPr>
                          <m:ctrlPr>
                            <a:rPr lang="en-US" altLang="zh-CN" sz="1500" b="0" i="1" smtClean="0">
                              <a:latin typeface="Cambria Math" panose="02040503050406030204" pitchFamily="18" charset="0"/>
                            </a:rPr>
                          </m:ctrlPr>
                        </m:dPr>
                        <m:e>
                          <m:r>
                            <a:rPr lang="en-US" altLang="zh-CN" sz="1500" b="0" i="1" smtClean="0">
                              <a:latin typeface="Cambria Math" panose="02040503050406030204" pitchFamily="18" charset="0"/>
                            </a:rPr>
                            <m:t>1−</m:t>
                          </m:r>
                          <m:r>
                            <a:rPr lang="en-US" altLang="zh-CN" sz="1500" b="0" i="1" smtClean="0">
                              <a:latin typeface="Cambria Math" panose="02040503050406030204" pitchFamily="18" charset="0"/>
                            </a:rPr>
                            <m:t>𝑟</m:t>
                          </m:r>
                          <m:r>
                            <a:rPr lang="en-US" altLang="zh-CN" sz="1500" b="0" i="1" smtClean="0">
                              <a:latin typeface="Cambria Math" panose="02040503050406030204" pitchFamily="18" charset="0"/>
                            </a:rPr>
                            <m:t>−</m:t>
                          </m:r>
                          <m:r>
                            <a:rPr lang="en-US" altLang="zh-CN" sz="1500" b="0" i="1" smtClean="0">
                              <a:latin typeface="Cambria Math" panose="02040503050406030204" pitchFamily="18" charset="0"/>
                            </a:rPr>
                            <m:t>𝑔</m:t>
                          </m:r>
                        </m:e>
                      </m:d>
                      <m:r>
                        <a:rPr lang="en-US" altLang="zh-CN" sz="1500" i="1">
                          <a:latin typeface="Cambria Math" panose="02040503050406030204" pitchFamily="18" charset="0"/>
                        </a:rPr>
                        <m:t>=0</m:t>
                      </m:r>
                      <m:r>
                        <a:rPr lang="en-US" altLang="zh-CN" sz="1500" b="0" i="1" smtClean="0">
                          <a:latin typeface="Cambria Math" panose="02040503050406030204" pitchFamily="18" charset="0"/>
                        </a:rPr>
                        <m:t>,  </m:t>
                      </m:r>
                      <m:r>
                        <a:rPr lang="en-US" altLang="zh-CN" sz="1500" b="0" i="1" smtClean="0">
                          <a:solidFill>
                            <a:schemeClr val="tx2"/>
                          </a:solidFill>
                          <a:latin typeface="Cambria Math" panose="02040503050406030204" pitchFamily="18" charset="0"/>
                        </a:rPr>
                        <m:t>𝑔</m:t>
                      </m:r>
                      <m:r>
                        <a:rPr lang="en-US" altLang="zh-CN" sz="1500" b="0" i="1" smtClean="0">
                          <a:solidFill>
                            <a:schemeClr val="tx2"/>
                          </a:solidFill>
                          <a:latin typeface="Cambria Math" panose="02040503050406030204" pitchFamily="18" charset="0"/>
                        </a:rPr>
                        <m:t>=−0.20747</m:t>
                      </m:r>
                      <m:r>
                        <a:rPr lang="en-US" altLang="zh-CN" sz="1500" b="0" i="1" smtClean="0">
                          <a:solidFill>
                            <a:schemeClr val="tx2"/>
                          </a:solidFill>
                          <a:latin typeface="Cambria Math" panose="02040503050406030204" pitchFamily="18" charset="0"/>
                        </a:rPr>
                        <m:t>𝑟</m:t>
                      </m:r>
                      <m:r>
                        <a:rPr lang="en-US" altLang="zh-CN" sz="1500" b="0" i="1" smtClean="0">
                          <a:solidFill>
                            <a:schemeClr val="tx2"/>
                          </a:solidFill>
                          <a:latin typeface="Cambria Math" panose="02040503050406030204" pitchFamily="18" charset="0"/>
                        </a:rPr>
                        <m:t>−0.01326</m:t>
                      </m:r>
                    </m:oMath>
                  </m:oMathPara>
                </a14:m>
                <a:endParaRPr lang="en-US" altLang="zh-CN" sz="15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其中，</a:t>
                </a:r>
                <a14:m>
                  <m:oMath xmlns:m="http://schemas.openxmlformats.org/officeDocument/2006/math">
                    <m:r>
                      <a:rPr lang="en-US" altLang="zh-CN" sz="1600" i="1">
                        <a:latin typeface="Cambria Math" panose="02040503050406030204" pitchFamily="18" charset="0"/>
                      </a:rPr>
                      <m:t>𝑟</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b="0" i="1" dirty="0" smtClean="0">
                        <a:latin typeface="Cambria Math" panose="02040503050406030204" pitchFamily="18" charset="0"/>
                      </a:rPr>
                      <m:t>𝑔</m:t>
                    </m:r>
                  </m:oMath>
                </a14:m>
                <a:r>
                  <a:rPr lang="zh-CN" altLang="en-US" sz="1600" dirty="0">
                    <a:latin typeface="Noto Sans SC" panose="020B0200000000000000" pitchFamily="34" charset="-122"/>
                    <a:ea typeface="Noto Sans SC" panose="020B0200000000000000" pitchFamily="34" charset="-122"/>
                  </a:rPr>
                  <a:t>为色度坐标。</a:t>
                </a:r>
                <a:endParaRPr lang="en-US" altLang="zh-CN" sz="1600"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C46094FB-1141-B757-3BC4-3CA2BDD963B0}"/>
                  </a:ext>
                </a:extLst>
              </p:cNvPr>
              <p:cNvSpPr txBox="1">
                <a:spLocks noRot="1" noChangeAspect="1" noMove="1" noResize="1" noEditPoints="1" noAdjustHandles="1" noChangeArrowheads="1" noChangeShapeType="1" noTextEdit="1"/>
              </p:cNvSpPr>
              <p:nvPr/>
            </p:nvSpPr>
            <p:spPr>
              <a:xfrm>
                <a:off x="263048" y="1918867"/>
                <a:ext cx="6764609" cy="4978479"/>
              </a:xfrm>
              <a:prstGeom prst="rect">
                <a:avLst/>
              </a:prstGeom>
              <a:blipFill>
                <a:blip r:embed="rId2"/>
                <a:stretch>
                  <a:fillRect l="-450" t="-368" r="-1171" b="-735"/>
                </a:stretch>
              </a:blipFill>
            </p:spPr>
            <p:txBody>
              <a:bodyPr/>
              <a:lstStyle/>
              <a:p>
                <a:r>
                  <a:rPr lang="zh-CN" altLang="en-US">
                    <a:noFill/>
                  </a:rPr>
                  <a:t> </a:t>
                </a:r>
              </a:p>
            </p:txBody>
          </p:sp>
        </mc:Fallback>
      </mc:AlternateContent>
      <p:grpSp>
        <p:nvGrpSpPr>
          <p:cNvPr id="25" name="组合 24">
            <a:extLst>
              <a:ext uri="{FF2B5EF4-FFF2-40B4-BE49-F238E27FC236}">
                <a16:creationId xmlns:a16="http://schemas.microsoft.com/office/drawing/2014/main" id="{1F289C1A-09C8-F4A0-1134-A4A94167837F}"/>
              </a:ext>
            </a:extLst>
          </p:cNvPr>
          <p:cNvGrpSpPr/>
          <p:nvPr/>
        </p:nvGrpSpPr>
        <p:grpSpPr>
          <a:xfrm>
            <a:off x="7029450" y="1805786"/>
            <a:ext cx="5137407" cy="4325508"/>
            <a:chOff x="7029450" y="1805786"/>
            <a:chExt cx="5137407" cy="4325508"/>
          </a:xfrm>
        </p:grpSpPr>
        <p:grpSp>
          <p:nvGrpSpPr>
            <p:cNvPr id="8" name="组合 7">
              <a:extLst>
                <a:ext uri="{FF2B5EF4-FFF2-40B4-BE49-F238E27FC236}">
                  <a16:creationId xmlns:a16="http://schemas.microsoft.com/office/drawing/2014/main" id="{ABDF8F6D-6538-957F-D4E9-DB2C3B6F78A1}"/>
                </a:ext>
              </a:extLst>
            </p:cNvPr>
            <p:cNvGrpSpPr/>
            <p:nvPr/>
          </p:nvGrpSpPr>
          <p:grpSpPr>
            <a:xfrm>
              <a:off x="7029450" y="1805786"/>
              <a:ext cx="4941652" cy="3907489"/>
              <a:chOff x="6935303" y="2015749"/>
              <a:chExt cx="5256697" cy="4156604"/>
            </a:xfrm>
          </p:grpSpPr>
          <p:pic>
            <p:nvPicPr>
              <p:cNvPr id="9" name="图片 8">
                <a:extLst>
                  <a:ext uri="{FF2B5EF4-FFF2-40B4-BE49-F238E27FC236}">
                    <a16:creationId xmlns:a16="http://schemas.microsoft.com/office/drawing/2014/main" id="{6268BB3E-76C1-3B51-0181-6D15CF765870}"/>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10" name="椭圆 9">
                <a:extLst>
                  <a:ext uri="{FF2B5EF4-FFF2-40B4-BE49-F238E27FC236}">
                    <a16:creationId xmlns:a16="http://schemas.microsoft.com/office/drawing/2014/main" id="{5571FAE0-65F0-D848-40AC-0466263A7CF4}"/>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1" name="椭圆 10">
                <a:extLst>
                  <a:ext uri="{FF2B5EF4-FFF2-40B4-BE49-F238E27FC236}">
                    <a16:creationId xmlns:a16="http://schemas.microsoft.com/office/drawing/2014/main" id="{1A783BE7-6EFD-5BA6-9DB6-CA3D17F78E0B}"/>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2" name="椭圆 11">
                <a:extLst>
                  <a:ext uri="{FF2B5EF4-FFF2-40B4-BE49-F238E27FC236}">
                    <a16:creationId xmlns:a16="http://schemas.microsoft.com/office/drawing/2014/main" id="{2FD194D6-173E-D598-A414-0385423DA226}"/>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13" name="直接连接符 12">
                <a:extLst>
                  <a:ext uri="{FF2B5EF4-FFF2-40B4-BE49-F238E27FC236}">
                    <a16:creationId xmlns:a16="http://schemas.microsoft.com/office/drawing/2014/main" id="{04761D34-57DB-A5D3-48C1-E47B048BBD5A}"/>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0E7FC16-0DEB-41A1-4B6E-F08DD6D6EB65}"/>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A76CDDF-B3D8-C557-9ACF-6F510059744D}"/>
                  </a:ext>
                </a:extLst>
              </p:cNvPr>
              <p:cNvCxnSpPr>
                <a:cxnSpLocks/>
              </p:cNvCxnSpPr>
              <p:nvPr/>
            </p:nvCxnSpPr>
            <p:spPr>
              <a:xfrm>
                <a:off x="9869537" y="3960427"/>
                <a:ext cx="1830513" cy="1752335"/>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cxnSp>
          <p:nvCxnSpPr>
            <p:cNvPr id="4" name="直接连接符 3">
              <a:extLst>
                <a:ext uri="{FF2B5EF4-FFF2-40B4-BE49-F238E27FC236}">
                  <a16:creationId xmlns:a16="http://schemas.microsoft.com/office/drawing/2014/main" id="{23D4F52D-616B-891F-28ED-934AF50AA882}"/>
                </a:ext>
              </a:extLst>
            </p:cNvPr>
            <p:cNvCxnSpPr>
              <a:cxnSpLocks/>
            </p:cNvCxnSpPr>
            <p:nvPr/>
          </p:nvCxnSpPr>
          <p:spPr>
            <a:xfrm>
              <a:off x="7158625" y="4770934"/>
              <a:ext cx="5008232" cy="99102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AC2D9B88-BB76-962A-D64F-03C20164F55D}"/>
                </a:ext>
              </a:extLst>
            </p:cNvPr>
            <p:cNvSpPr txBox="1"/>
            <p:nvPr/>
          </p:nvSpPr>
          <p:spPr>
            <a:xfrm>
              <a:off x="10482555" y="5761962"/>
              <a:ext cx="1078804" cy="369332"/>
            </a:xfrm>
            <a:prstGeom prst="rect">
              <a:avLst/>
            </a:prstGeom>
            <a:noFill/>
          </p:spPr>
          <p:txBody>
            <a:bodyPr wrap="square">
              <a:spAutoFit/>
            </a:bodyPr>
            <a:lstStyle/>
            <a:p>
              <a:pPr algn="ctr"/>
              <a:r>
                <a:rPr lang="zh-CN" altLang="zh-CN" b="1" dirty="0">
                  <a:solidFill>
                    <a:schemeClr val="tx2"/>
                  </a:solidFill>
                  <a:latin typeface="Noto Sans SC" panose="020B0200000000000000" pitchFamily="34" charset="-122"/>
                  <a:ea typeface="Noto Sans SC" panose="020B0200000000000000" pitchFamily="34" charset="-122"/>
                </a:rPr>
                <a:t>alychne</a:t>
              </a:r>
              <a:endParaRPr lang="zh-CN" altLang="en-US" b="1" dirty="0">
                <a:solidFill>
                  <a:schemeClr val="tx2"/>
                </a:solidFill>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18206635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DCC31-444F-CD21-D776-7DE9D69D133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E26246F-D68B-AF7F-9449-51D3BA9506A2}"/>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1A16AF12-0543-739E-24FA-13D9DD788D2D}"/>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4822B26-02BA-0E16-F5A7-44CE39AE5A4F}"/>
                  </a:ext>
                </a:extLst>
              </p:cNvPr>
              <p:cNvSpPr txBox="1"/>
              <p:nvPr/>
            </p:nvSpPr>
            <p:spPr>
              <a:xfrm>
                <a:off x="263048" y="1918867"/>
                <a:ext cx="6764609" cy="4801314"/>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得到了</a:t>
                </a:r>
                <a:r>
                  <a:rPr lang="en-US" altLang="zh-CN" dirty="0">
                    <a:latin typeface="Noto Sans SC" panose="020B0200000000000000" pitchFamily="34" charset="-122"/>
                    <a:ea typeface="Noto Sans SC" panose="020B0200000000000000" pitchFamily="34" charset="-122"/>
                  </a:rPr>
                  <a:t>0</a:t>
                </a:r>
                <a:r>
                  <a:rPr lang="zh-CN" altLang="en-US" dirty="0">
                    <a:latin typeface="Noto Sans SC" panose="020B0200000000000000" pitchFamily="34" charset="-122"/>
                    <a:ea typeface="Noto Sans SC" panose="020B0200000000000000" pitchFamily="34" charset="-122"/>
                  </a:rPr>
                  <a:t>亮度亮度线</a:t>
                </a:r>
                <a:r>
                  <a:rPr lang="en-US" altLang="zh-CN"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alychne</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之后，我们就可以知道</a:t>
                </a:r>
                <a:r>
                  <a:rPr lang="en-US" altLang="zh-CN" dirty="0">
                    <a:latin typeface="Noto Sans SC" panose="020B0200000000000000" pitchFamily="34" charset="-122"/>
                    <a:ea typeface="Noto Sans SC" panose="020B0200000000000000" pitchFamily="34" charset="-122"/>
                  </a:rPr>
                  <a:t>XZ</a:t>
                </a:r>
                <a:r>
                  <a:rPr lang="zh-CN" altLang="en-US" dirty="0">
                    <a:latin typeface="Noto Sans SC" panose="020B0200000000000000" pitchFamily="34" charset="-122"/>
                    <a:ea typeface="Noto Sans SC" panose="020B0200000000000000" pitchFamily="34" charset="-122"/>
                  </a:rPr>
                  <a:t>基在色度平面中，肯定位于这条线上，所以我们也叫这条</a:t>
                </a:r>
                <a:r>
                  <a:rPr lang="en-US" altLang="zh-CN" dirty="0">
                    <a:latin typeface="Noto Sans SC" panose="020B0200000000000000" pitchFamily="34" charset="-122"/>
                    <a:ea typeface="Noto Sans SC" panose="020B0200000000000000" pitchFamily="34" charset="-122"/>
                  </a:rPr>
                  <a:t>0</a:t>
                </a:r>
                <a:r>
                  <a:rPr lang="zh-CN" altLang="en-US" dirty="0">
                    <a:latin typeface="Noto Sans SC" panose="020B0200000000000000" pitchFamily="34" charset="-122"/>
                    <a:ea typeface="Noto Sans SC" panose="020B0200000000000000" pitchFamily="34" charset="-122"/>
                  </a:rPr>
                  <a:t>亮度线为</a:t>
                </a:r>
                <a:r>
                  <a:rPr lang="en-US" altLang="zh-CN" dirty="0">
                    <a:latin typeface="Noto Sans SC" panose="020B0200000000000000" pitchFamily="34" charset="-122"/>
                    <a:ea typeface="Noto Sans SC" panose="020B0200000000000000" pitchFamily="34" charset="-122"/>
                  </a:rPr>
                  <a:t>XZ</a:t>
                </a:r>
                <a:r>
                  <a:rPr lang="zh-CN" altLang="en-US" dirty="0">
                    <a:latin typeface="Noto Sans SC" panose="020B0200000000000000" pitchFamily="34" charset="-122"/>
                    <a:ea typeface="Noto Sans SC" panose="020B0200000000000000" pitchFamily="34" charset="-122"/>
                  </a:rPr>
                  <a:t>线，并且在这条线上，</a:t>
                </a:r>
                <a:r>
                  <a:rPr lang="en-US" altLang="zh-CN" dirty="0">
                    <a:latin typeface="Noto Sans SC" panose="020B0200000000000000" pitchFamily="34" charset="-122"/>
                    <a:ea typeface="Noto Sans SC" panose="020B0200000000000000" pitchFamily="34" charset="-122"/>
                  </a:rPr>
                  <a:t>Y</a:t>
                </a:r>
                <a:r>
                  <a:rPr lang="zh-CN" altLang="en-US" dirty="0">
                    <a:latin typeface="Noto Sans SC" panose="020B0200000000000000" pitchFamily="34" charset="-122"/>
                    <a:ea typeface="Noto Sans SC" panose="020B0200000000000000" pitchFamily="34" charset="-122"/>
                  </a:rPr>
                  <a:t>分量始终为</a:t>
                </a:r>
                <a:r>
                  <a:rPr lang="en-US" altLang="zh-CN" dirty="0">
                    <a:latin typeface="Noto Sans SC" panose="020B0200000000000000" pitchFamily="34" charset="-122"/>
                    <a:ea typeface="Noto Sans SC" panose="020B0200000000000000" pitchFamily="34" charset="-122"/>
                  </a:rPr>
                  <a:t>0</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为了进一步确定</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基在色度空间的坐标，我们需要进一步找到</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线以及</a:t>
                </a:r>
                <a:r>
                  <a:rPr lang="en-US" altLang="zh-CN" dirty="0">
                    <a:latin typeface="Noto Sans SC" panose="020B0200000000000000" pitchFamily="34" charset="-122"/>
                    <a:ea typeface="Noto Sans SC" panose="020B0200000000000000" pitchFamily="34" charset="-122"/>
                  </a:rPr>
                  <a:t>YZ</a:t>
                </a:r>
                <a:r>
                  <a:rPr lang="zh-CN" altLang="en-US" dirty="0">
                    <a:latin typeface="Noto Sans SC" panose="020B0200000000000000" pitchFamily="34" charset="-122"/>
                    <a:ea typeface="Noto Sans SC" panose="020B0200000000000000" pitchFamily="34" charset="-122"/>
                  </a:rPr>
                  <a:t>线，于是，</a:t>
                </a:r>
                <a:r>
                  <a:rPr lang="en-US" altLang="zh-CN" dirty="0">
                    <a:latin typeface="Noto Sans SC" panose="020B0200000000000000" pitchFamily="34" charset="-122"/>
                    <a:ea typeface="Noto Sans SC" panose="020B0200000000000000" pitchFamily="34" charset="-122"/>
                  </a:rPr>
                  <a:t>XZ</a:t>
                </a:r>
                <a:r>
                  <a:rPr lang="zh-CN" altLang="en-US" dirty="0">
                    <a:latin typeface="Noto Sans SC" panose="020B0200000000000000" pitchFamily="34" charset="-122"/>
                    <a:ea typeface="Noto Sans SC" panose="020B0200000000000000" pitchFamily="34" charset="-122"/>
                  </a:rPr>
                  <a:t>线与</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线的交点就是</a:t>
                </a:r>
                <a:r>
                  <a:rPr lang="en-US" altLang="zh-CN" dirty="0">
                    <a:latin typeface="Noto Sans SC" panose="020B0200000000000000" pitchFamily="34" charset="-122"/>
                    <a:ea typeface="Noto Sans SC" panose="020B0200000000000000" pitchFamily="34" charset="-122"/>
                  </a:rPr>
                  <a:t>X</a:t>
                </a:r>
                <a:r>
                  <a:rPr lang="zh-CN" altLang="en-US" dirty="0">
                    <a:latin typeface="Noto Sans SC" panose="020B0200000000000000" pitchFamily="34" charset="-122"/>
                    <a:ea typeface="Noto Sans SC" panose="020B0200000000000000" pitchFamily="34" charset="-122"/>
                  </a:rPr>
                  <a:t>基在色度平面的位置，以此类推，就能确定</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三个基在色度平面的位置。</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观察色度图不难发现，单色光轨迹在红光区域接近非常一条直线。所以，如果我们让</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线尽可能地与单色光轨迹重合，那重合的部分（即在单色光轨迹上，也在</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线上），他的</a:t>
                </a:r>
                <a:r>
                  <a:rPr lang="en-US" altLang="zh-CN" dirty="0">
                    <a:latin typeface="Noto Sans SC" panose="020B0200000000000000" pitchFamily="34" charset="-122"/>
                    <a:ea typeface="Noto Sans SC" panose="020B0200000000000000" pitchFamily="34" charset="-122"/>
                  </a:rPr>
                  <a:t>Z</a:t>
                </a:r>
                <a:r>
                  <a:rPr lang="zh-CN" altLang="en-US" dirty="0">
                    <a:latin typeface="Noto Sans SC" panose="020B0200000000000000" pitchFamily="34" charset="-122"/>
                    <a:ea typeface="Noto Sans SC" panose="020B0200000000000000" pitchFamily="34" charset="-122"/>
                  </a:rPr>
                  <a:t>分量就应该是</a:t>
                </a:r>
                <a:r>
                  <a:rPr lang="en-US" altLang="zh-CN" dirty="0">
                    <a:latin typeface="Noto Sans SC" panose="020B0200000000000000" pitchFamily="34" charset="-122"/>
                    <a:ea typeface="Noto Sans SC" panose="020B0200000000000000" pitchFamily="34" charset="-122"/>
                  </a:rPr>
                  <a:t>0</a:t>
                </a:r>
                <a:r>
                  <a:rPr lang="zh-CN" altLang="en-US" dirty="0">
                    <a:latin typeface="Noto Sans SC" panose="020B0200000000000000" pitchFamily="34" charset="-122"/>
                    <a:ea typeface="Noto Sans SC" panose="020B0200000000000000" pitchFamily="34" charset="-122"/>
                  </a:rPr>
                  <a:t>，并且由于它属于单色光轨迹，所以对应的色度函数</a:t>
                </a:r>
                <a14:m>
                  <m:oMath xmlns:m="http://schemas.openxmlformats.org/officeDocument/2006/math">
                    <m:r>
                      <a:rPr lang="en-US" altLang="zh-CN" i="1" dirty="0">
                        <a:latin typeface="Cambria Math" panose="02040503050406030204" pitchFamily="18" charset="0"/>
                      </a:rPr>
                      <m:t>𝑧</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也应该为</a:t>
                </a:r>
                <a:r>
                  <a:rPr lang="en-US" altLang="zh-CN" dirty="0">
                    <a:latin typeface="Noto Sans SC" panose="020B0200000000000000" pitchFamily="34" charset="-122"/>
                    <a:ea typeface="Noto Sans SC" panose="020B0200000000000000" pitchFamily="34" charset="-122"/>
                  </a:rPr>
                  <a:t>0</a:t>
                </a:r>
                <a:r>
                  <a:rPr lang="zh-CN" altLang="en-US" dirty="0">
                    <a:latin typeface="Noto Sans SC" panose="020B0200000000000000" pitchFamily="34" charset="-122"/>
                    <a:ea typeface="Noto Sans SC" panose="020B0200000000000000" pitchFamily="34" charset="-122"/>
                  </a:rPr>
                  <a:t>，这要的话就十分方便计算了。 </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同时，因为</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空间的定义之初就是不希望出现负系数，因此还需要保证</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线能够包括住整个单色光轨迹；或者说，单色光轨迹应当在</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线的同一侧或正好在</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线上。</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那么问题来了，该如何选择</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线，才能同时满足以上这两个条件呢？</a:t>
                </a:r>
                <a:endParaRPr lang="en-US" altLang="zh-CN"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E4822B26-02BA-0E16-F5A7-44CE39AE5A4F}"/>
                  </a:ext>
                </a:extLst>
              </p:cNvPr>
              <p:cNvSpPr txBox="1">
                <a:spLocks noRot="1" noChangeAspect="1" noMove="1" noResize="1" noEditPoints="1" noAdjustHandles="1" noChangeArrowheads="1" noChangeShapeType="1" noTextEdit="1"/>
              </p:cNvSpPr>
              <p:nvPr/>
            </p:nvSpPr>
            <p:spPr>
              <a:xfrm>
                <a:off x="263048" y="1918867"/>
                <a:ext cx="6764609" cy="4801314"/>
              </a:xfrm>
              <a:prstGeom prst="rect">
                <a:avLst/>
              </a:prstGeom>
              <a:blipFill>
                <a:blip r:embed="rId2"/>
                <a:stretch>
                  <a:fillRect l="-721" t="-762" r="-721" b="-1144"/>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E6B3D5AC-4E45-2974-4AC9-176E6A3299B0}"/>
              </a:ext>
            </a:extLst>
          </p:cNvPr>
          <p:cNvGrpSpPr/>
          <p:nvPr/>
        </p:nvGrpSpPr>
        <p:grpSpPr>
          <a:xfrm>
            <a:off x="7029450" y="1805786"/>
            <a:ext cx="5137407" cy="4325508"/>
            <a:chOff x="7029450" y="1805786"/>
            <a:chExt cx="5137407" cy="4325508"/>
          </a:xfrm>
        </p:grpSpPr>
        <p:grpSp>
          <p:nvGrpSpPr>
            <p:cNvPr id="16" name="组合 15">
              <a:extLst>
                <a:ext uri="{FF2B5EF4-FFF2-40B4-BE49-F238E27FC236}">
                  <a16:creationId xmlns:a16="http://schemas.microsoft.com/office/drawing/2014/main" id="{E68A7B7D-0767-719D-4157-690A5CDEF700}"/>
                </a:ext>
              </a:extLst>
            </p:cNvPr>
            <p:cNvGrpSpPr/>
            <p:nvPr/>
          </p:nvGrpSpPr>
          <p:grpSpPr>
            <a:xfrm>
              <a:off x="7029450" y="1805786"/>
              <a:ext cx="4941652" cy="3907489"/>
              <a:chOff x="6935303" y="2015749"/>
              <a:chExt cx="5256697" cy="4156604"/>
            </a:xfrm>
          </p:grpSpPr>
          <p:pic>
            <p:nvPicPr>
              <p:cNvPr id="19" name="图片 18">
                <a:extLst>
                  <a:ext uri="{FF2B5EF4-FFF2-40B4-BE49-F238E27FC236}">
                    <a16:creationId xmlns:a16="http://schemas.microsoft.com/office/drawing/2014/main" id="{0F7AF6A6-F6A0-9E83-231C-1D432FF43783}"/>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20" name="椭圆 19">
                <a:extLst>
                  <a:ext uri="{FF2B5EF4-FFF2-40B4-BE49-F238E27FC236}">
                    <a16:creationId xmlns:a16="http://schemas.microsoft.com/office/drawing/2014/main" id="{FC55968A-4EAB-E36C-FC9C-F67273051F95}"/>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21" name="椭圆 20">
                <a:extLst>
                  <a:ext uri="{FF2B5EF4-FFF2-40B4-BE49-F238E27FC236}">
                    <a16:creationId xmlns:a16="http://schemas.microsoft.com/office/drawing/2014/main" id="{C7F3976B-EEA9-5AD7-1F89-534F14A47044}"/>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22" name="椭圆 21">
                <a:extLst>
                  <a:ext uri="{FF2B5EF4-FFF2-40B4-BE49-F238E27FC236}">
                    <a16:creationId xmlns:a16="http://schemas.microsoft.com/office/drawing/2014/main" id="{CB47CC96-BD8F-45EE-0E16-C6DD520925E4}"/>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23" name="直接连接符 22">
                <a:extLst>
                  <a:ext uri="{FF2B5EF4-FFF2-40B4-BE49-F238E27FC236}">
                    <a16:creationId xmlns:a16="http://schemas.microsoft.com/office/drawing/2014/main" id="{27D7F9CF-22B7-A681-37F4-604352159F1B}"/>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93FCB65-BFD1-EF04-DE38-C1575C9CEF39}"/>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75A11281-0B7A-3D42-D00B-9F7B723EF445}"/>
                  </a:ext>
                </a:extLst>
              </p:cNvPr>
              <p:cNvCxnSpPr>
                <a:cxnSpLocks/>
              </p:cNvCxnSpPr>
              <p:nvPr/>
            </p:nvCxnSpPr>
            <p:spPr>
              <a:xfrm>
                <a:off x="9869537" y="3960427"/>
                <a:ext cx="1830513" cy="1752335"/>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cxnSp>
          <p:nvCxnSpPr>
            <p:cNvPr id="17" name="直接连接符 16">
              <a:extLst>
                <a:ext uri="{FF2B5EF4-FFF2-40B4-BE49-F238E27FC236}">
                  <a16:creationId xmlns:a16="http://schemas.microsoft.com/office/drawing/2014/main" id="{876C9725-AD44-07BA-D277-8309B2F57B2F}"/>
                </a:ext>
              </a:extLst>
            </p:cNvPr>
            <p:cNvCxnSpPr>
              <a:cxnSpLocks/>
            </p:cNvCxnSpPr>
            <p:nvPr/>
          </p:nvCxnSpPr>
          <p:spPr>
            <a:xfrm>
              <a:off x="7158625" y="4770934"/>
              <a:ext cx="5008232" cy="99102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A5C4EBB-1F87-D6EE-133C-F6EF4544168B}"/>
                </a:ext>
              </a:extLst>
            </p:cNvPr>
            <p:cNvSpPr txBox="1"/>
            <p:nvPr/>
          </p:nvSpPr>
          <p:spPr>
            <a:xfrm>
              <a:off x="10482554" y="5761962"/>
              <a:ext cx="1592535" cy="369332"/>
            </a:xfrm>
            <a:prstGeom prst="rect">
              <a:avLst/>
            </a:prstGeom>
            <a:noFill/>
          </p:spPr>
          <p:txBody>
            <a:bodyPr wrap="square">
              <a:spAutoFit/>
            </a:bodyPr>
            <a:lstStyle/>
            <a:p>
              <a:pPr algn="ctr"/>
              <a:r>
                <a:rPr lang="en-US" altLang="zh-CN" b="1" dirty="0">
                  <a:solidFill>
                    <a:schemeClr val="tx2"/>
                  </a:solidFill>
                  <a:latin typeface="Noto Sans SC" panose="020B0200000000000000" pitchFamily="34" charset="-122"/>
                  <a:ea typeface="Noto Sans SC" panose="020B0200000000000000" pitchFamily="34" charset="-122"/>
                </a:rPr>
                <a:t>a</a:t>
              </a:r>
              <a:r>
                <a:rPr lang="zh-CN" altLang="zh-CN" b="1" dirty="0">
                  <a:solidFill>
                    <a:schemeClr val="tx2"/>
                  </a:solidFill>
                  <a:latin typeface="Noto Sans SC" panose="020B0200000000000000" pitchFamily="34" charset="-122"/>
                  <a:ea typeface="Noto Sans SC" panose="020B0200000000000000" pitchFamily="34" charset="-122"/>
                </a:rPr>
                <a:t>lychne</a:t>
              </a:r>
              <a:r>
                <a:rPr lang="en-US" altLang="zh-CN" b="1" dirty="0">
                  <a:solidFill>
                    <a:schemeClr val="tx2"/>
                  </a:solidFill>
                  <a:latin typeface="Noto Sans SC" panose="020B0200000000000000" pitchFamily="34" charset="-122"/>
                  <a:ea typeface="Noto Sans SC" panose="020B0200000000000000" pitchFamily="34" charset="-122"/>
                </a:rPr>
                <a:t>/XZ</a:t>
              </a:r>
              <a:endParaRPr lang="zh-CN" altLang="en-US" b="1" dirty="0">
                <a:solidFill>
                  <a:schemeClr val="tx2"/>
                </a:solidFill>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22861275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2D469-6192-F39F-3F2D-95F3D1C94DF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A064F13-795C-A6D5-0034-B9DA56EA7212}"/>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C4741DB2-7E80-C1D0-070E-3FC24C06278D}"/>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75E2053-C916-412F-446C-0C9B898C41A0}"/>
                  </a:ext>
                </a:extLst>
              </p:cNvPr>
              <p:cNvSpPr txBox="1"/>
              <p:nvPr/>
            </p:nvSpPr>
            <p:spPr>
              <a:xfrm>
                <a:off x="263048" y="1918867"/>
                <a:ext cx="6766402" cy="4801314"/>
              </a:xfrm>
              <a:prstGeom prst="rect">
                <a:avLst/>
              </a:prstGeom>
              <a:noFill/>
            </p:spPr>
            <p:txBody>
              <a:bodyPr wrap="square" rtlCol="0">
                <a:spAutoFit/>
              </a:bodyPr>
              <a:lstStyle/>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那么问题来了，该如何选择</a:t>
                </a:r>
                <a:r>
                  <a:rPr lang="en-US" altLang="zh-CN" sz="1700" dirty="0">
                    <a:latin typeface="Noto Sans SC" panose="020B0200000000000000" pitchFamily="34" charset="-122"/>
                    <a:ea typeface="Noto Sans SC" panose="020B0200000000000000" pitchFamily="34" charset="-122"/>
                  </a:rPr>
                  <a:t>XY</a:t>
                </a:r>
                <a:r>
                  <a:rPr lang="zh-CN" altLang="en-US" sz="1700" dirty="0">
                    <a:latin typeface="Noto Sans SC" panose="020B0200000000000000" pitchFamily="34" charset="-122"/>
                    <a:ea typeface="Noto Sans SC" panose="020B0200000000000000" pitchFamily="34" charset="-122"/>
                  </a:rPr>
                  <a:t>线，才能同时满足以上这两个条件呢？（以下想法为</a:t>
                </a:r>
                <a:r>
                  <a:rPr lang="en-US" altLang="zh-CN" sz="1700" dirty="0">
                    <a:latin typeface="Noto Sans SC" panose="020B0200000000000000" pitchFamily="34" charset="-122"/>
                    <a:ea typeface="Noto Sans SC" panose="020B0200000000000000" pitchFamily="34" charset="-122"/>
                  </a:rPr>
                  <a:t>Fairman 1997</a:t>
                </a:r>
                <a:r>
                  <a:rPr lang="zh-CN" altLang="en-US" sz="1700" dirty="0">
                    <a:latin typeface="Noto Sans SC" panose="020B0200000000000000" pitchFamily="34" charset="-122"/>
                    <a:ea typeface="Noto Sans SC" panose="020B0200000000000000" pitchFamily="34" charset="-122"/>
                  </a:rPr>
                  <a:t>论文中的推测，</a:t>
                </a:r>
                <a:r>
                  <a:rPr lang="en-US" altLang="zh-CN" sz="1700" dirty="0">
                    <a:latin typeface="Noto Sans SC" panose="020B0200000000000000" pitchFamily="34" charset="-122"/>
                    <a:ea typeface="Noto Sans SC" panose="020B0200000000000000" pitchFamily="34" charset="-122"/>
                  </a:rPr>
                  <a:t>CIE</a:t>
                </a:r>
                <a:r>
                  <a:rPr lang="zh-CN" altLang="en-US" sz="1700" dirty="0">
                    <a:latin typeface="Noto Sans SC" panose="020B0200000000000000" pitchFamily="34" charset="-122"/>
                    <a:ea typeface="Noto Sans SC" panose="020B0200000000000000" pitchFamily="34" charset="-122"/>
                  </a:rPr>
                  <a:t>选择</a:t>
                </a:r>
                <a:r>
                  <a:rPr lang="en-US" altLang="zh-CN" sz="1700" dirty="0">
                    <a:latin typeface="Noto Sans SC" panose="020B0200000000000000" pitchFamily="34" charset="-122"/>
                    <a:ea typeface="Noto Sans SC" panose="020B0200000000000000" pitchFamily="34" charset="-122"/>
                  </a:rPr>
                  <a:t>XY</a:t>
                </a:r>
                <a:r>
                  <a:rPr lang="zh-CN" altLang="en-US" sz="1700" dirty="0">
                    <a:latin typeface="Noto Sans SC" panose="020B0200000000000000" pitchFamily="34" charset="-122"/>
                    <a:ea typeface="Noto Sans SC" panose="020B0200000000000000" pitchFamily="34" charset="-122"/>
                  </a:rPr>
                  <a:t>线的具体原因没有被记录，已经无法考究）</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一个简单的想法是，直接让</a:t>
                </a:r>
                <a:r>
                  <a:rPr lang="en-US" altLang="zh-CN" sz="1700" dirty="0">
                    <a:latin typeface="Noto Sans SC" panose="020B0200000000000000" pitchFamily="34" charset="-122"/>
                    <a:ea typeface="Noto Sans SC" panose="020B0200000000000000" pitchFamily="34" charset="-122"/>
                  </a:rPr>
                  <a:t>XY</a:t>
                </a:r>
                <a:r>
                  <a:rPr lang="zh-CN" altLang="en-US" sz="1700" dirty="0">
                    <a:latin typeface="Noto Sans SC" panose="020B0200000000000000" pitchFamily="34" charset="-122"/>
                    <a:ea typeface="Noto Sans SC" panose="020B0200000000000000" pitchFamily="34" charset="-122"/>
                  </a:rPr>
                  <a:t>线穿过</a:t>
                </a:r>
                <a:r>
                  <a:rPr lang="en-US" altLang="zh-CN" sz="1700" dirty="0">
                    <a:latin typeface="Noto Sans SC" panose="020B0200000000000000" pitchFamily="34" charset="-122"/>
                    <a:ea typeface="Noto Sans SC" panose="020B0200000000000000" pitchFamily="34" charset="-122"/>
                  </a:rPr>
                  <a:t>(1, 0)</a:t>
                </a:r>
                <a:r>
                  <a:rPr lang="zh-CN" altLang="en-US" sz="1700" dirty="0">
                    <a:latin typeface="Noto Sans SC" panose="020B0200000000000000" pitchFamily="34" charset="-122"/>
                    <a:ea typeface="Noto Sans SC" panose="020B0200000000000000" pitchFamily="34" charset="-122"/>
                  </a:rPr>
                  <a:t>和</a:t>
                </a:r>
                <a:r>
                  <a:rPr lang="en-US" altLang="zh-CN" sz="1700" dirty="0">
                    <a:latin typeface="Noto Sans SC" panose="020B0200000000000000" pitchFamily="34" charset="-122"/>
                    <a:ea typeface="Noto Sans SC" panose="020B0200000000000000" pitchFamily="34" charset="-122"/>
                  </a:rPr>
                  <a:t>(0, 1)</a:t>
                </a:r>
                <a:r>
                  <a:rPr lang="zh-CN" altLang="en-US" sz="1700" dirty="0">
                    <a:latin typeface="Noto Sans SC" panose="020B0200000000000000" pitchFamily="34" charset="-122"/>
                    <a:ea typeface="Noto Sans SC" panose="020B0200000000000000" pitchFamily="34" charset="-122"/>
                  </a:rPr>
                  <a:t>。</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但这显然是不行的。前面讲过，单色光的轨迹是一个凸形，同时单色光的轨迹穿过了</a:t>
                </a:r>
                <a:r>
                  <a:rPr lang="en-US" altLang="zh-CN" sz="1700" dirty="0">
                    <a:latin typeface="Noto Sans SC" panose="020B0200000000000000" pitchFamily="34" charset="-122"/>
                    <a:ea typeface="Noto Sans SC" panose="020B0200000000000000" pitchFamily="34" charset="-122"/>
                  </a:rPr>
                  <a:t>(1, 0)</a:t>
                </a:r>
                <a:r>
                  <a:rPr lang="zh-CN" altLang="en-US" sz="1700" dirty="0">
                    <a:latin typeface="Noto Sans SC" panose="020B0200000000000000" pitchFamily="34" charset="-122"/>
                    <a:ea typeface="Noto Sans SC" panose="020B0200000000000000" pitchFamily="34" charset="-122"/>
                  </a:rPr>
                  <a:t>和</a:t>
                </a:r>
                <a:r>
                  <a:rPr lang="en-US" altLang="zh-CN" sz="1700" dirty="0">
                    <a:latin typeface="Noto Sans SC" panose="020B0200000000000000" pitchFamily="34" charset="-122"/>
                    <a:ea typeface="Noto Sans SC" panose="020B0200000000000000" pitchFamily="34" charset="-122"/>
                  </a:rPr>
                  <a:t>(0, 1)</a:t>
                </a:r>
                <a:r>
                  <a:rPr lang="zh-CN" altLang="en-US" sz="1700" dirty="0">
                    <a:latin typeface="Noto Sans SC" panose="020B0200000000000000" pitchFamily="34" charset="-122"/>
                    <a:ea typeface="Noto Sans SC" panose="020B0200000000000000" pitchFamily="34" charset="-122"/>
                  </a:rPr>
                  <a:t>。因此，如果</a:t>
                </a:r>
                <a:r>
                  <a:rPr lang="en-US" altLang="zh-CN" sz="1700" dirty="0">
                    <a:latin typeface="Noto Sans SC" panose="020B0200000000000000" pitchFamily="34" charset="-122"/>
                    <a:ea typeface="Noto Sans SC" panose="020B0200000000000000" pitchFamily="34" charset="-122"/>
                  </a:rPr>
                  <a:t>XY</a:t>
                </a:r>
                <a:r>
                  <a:rPr lang="zh-CN" altLang="en-US" sz="1700" dirty="0">
                    <a:latin typeface="Noto Sans SC" panose="020B0200000000000000" pitchFamily="34" charset="-122"/>
                    <a:ea typeface="Noto Sans SC" panose="020B0200000000000000" pitchFamily="34" charset="-122"/>
                  </a:rPr>
                  <a:t>线过</a:t>
                </a:r>
                <a:r>
                  <a:rPr lang="en-US" altLang="zh-CN" sz="1700" dirty="0">
                    <a:latin typeface="Noto Sans SC" panose="020B0200000000000000" pitchFamily="34" charset="-122"/>
                    <a:ea typeface="Noto Sans SC" panose="020B0200000000000000" pitchFamily="34" charset="-122"/>
                  </a:rPr>
                  <a:t>(1, 0)</a:t>
                </a:r>
                <a:r>
                  <a:rPr lang="zh-CN" altLang="en-US" sz="1700" dirty="0">
                    <a:latin typeface="Noto Sans SC" panose="020B0200000000000000" pitchFamily="34" charset="-122"/>
                    <a:ea typeface="Noto Sans SC" panose="020B0200000000000000" pitchFamily="34" charset="-122"/>
                  </a:rPr>
                  <a:t>和</a:t>
                </a:r>
                <a:r>
                  <a:rPr lang="en-US" altLang="zh-CN" sz="1700" dirty="0">
                    <a:latin typeface="Noto Sans SC" panose="020B0200000000000000" pitchFamily="34" charset="-122"/>
                    <a:ea typeface="Noto Sans SC" panose="020B0200000000000000" pitchFamily="34" charset="-122"/>
                  </a:rPr>
                  <a:t>(0, 1)</a:t>
                </a:r>
                <a:r>
                  <a:rPr lang="zh-CN" altLang="en-US" sz="1700" dirty="0">
                    <a:latin typeface="Noto Sans SC" panose="020B0200000000000000" pitchFamily="34" charset="-122"/>
                    <a:ea typeface="Noto Sans SC" panose="020B0200000000000000" pitchFamily="34" charset="-122"/>
                  </a:rPr>
                  <a:t>，那么除非单色光轨迹在这区间是完美的直线，不然单色光轨迹就一会出现在直线的另一侧，导致这一段对应着负数的</a:t>
                </a:r>
                <a:r>
                  <a:rPr lang="en-US" altLang="zh-CN" sz="1700" dirty="0">
                    <a:latin typeface="Noto Sans SC" panose="020B0200000000000000" pitchFamily="34" charset="-122"/>
                    <a:ea typeface="Noto Sans SC" panose="020B0200000000000000" pitchFamily="34" charset="-122"/>
                  </a:rPr>
                  <a:t>Z</a:t>
                </a:r>
                <a:r>
                  <a:rPr lang="zh-CN" altLang="en-US" sz="1700" dirty="0">
                    <a:latin typeface="Noto Sans SC" panose="020B0200000000000000" pitchFamily="34" charset="-122"/>
                    <a:ea typeface="Noto Sans SC" panose="020B0200000000000000" pitchFamily="34" charset="-122"/>
                  </a:rPr>
                  <a:t>分量系数。</a:t>
                </a:r>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所以，让我们回到这一段的具体数值，从绿色原色</a:t>
                </a:r>
                <a:r>
                  <a:rPr lang="en-US" altLang="zh-CN" sz="1700" dirty="0">
                    <a:latin typeface="Noto Sans SC" panose="020B0200000000000000" pitchFamily="34" charset="-122"/>
                    <a:ea typeface="Noto Sans SC" panose="020B0200000000000000" pitchFamily="34" charset="-122"/>
                  </a:rPr>
                  <a:t>(546.1nm)</a:t>
                </a:r>
                <a:r>
                  <a:rPr lang="zh-CN" altLang="en-US" sz="1700" dirty="0">
                    <a:latin typeface="Noto Sans SC" panose="020B0200000000000000" pitchFamily="34" charset="-122"/>
                    <a:ea typeface="Noto Sans SC" panose="020B0200000000000000" pitchFamily="34" charset="-122"/>
                  </a:rPr>
                  <a:t>到红色原色</a:t>
                </a:r>
                <a:r>
                  <a:rPr lang="en-US" altLang="zh-CN" sz="1700" dirty="0">
                    <a:latin typeface="Noto Sans SC" panose="020B0200000000000000" pitchFamily="34" charset="-122"/>
                    <a:ea typeface="Noto Sans SC" panose="020B0200000000000000" pitchFamily="34" charset="-122"/>
                  </a:rPr>
                  <a:t>(700nm)</a:t>
                </a:r>
                <a:r>
                  <a:rPr lang="zh-CN" altLang="en-US" sz="1700" dirty="0">
                    <a:latin typeface="Noto Sans SC" panose="020B0200000000000000" pitchFamily="34" charset="-122"/>
                    <a:ea typeface="Noto Sans SC" panose="020B0200000000000000" pitchFamily="34" charset="-122"/>
                  </a:rPr>
                  <a:t>的这段单色光轨迹，色度</a:t>
                </a:r>
                <a:r>
                  <a:rPr lang="en-US" altLang="zh-CN" sz="1700" dirty="0">
                    <a:latin typeface="Noto Sans SC" panose="020B0200000000000000" pitchFamily="34" charset="-122"/>
                    <a:ea typeface="Noto Sans SC" panose="020B0200000000000000" pitchFamily="34" charset="-122"/>
                  </a:rPr>
                  <a:t>b</a:t>
                </a:r>
                <a:r>
                  <a:rPr lang="zh-CN" altLang="en-US" sz="1700" dirty="0">
                    <a:latin typeface="Noto Sans SC" panose="020B0200000000000000" pitchFamily="34" charset="-122"/>
                    <a:ea typeface="Noto Sans SC" panose="020B0200000000000000" pitchFamily="34" charset="-122"/>
                  </a:rPr>
                  <a:t>的绝对值总是小于</a:t>
                </a:r>
                <a:r>
                  <a:rPr lang="en-US" altLang="zh-CN" sz="1700" dirty="0">
                    <a:latin typeface="Noto Sans SC" panose="020B0200000000000000" pitchFamily="34" charset="-122"/>
                    <a:ea typeface="Noto Sans SC" panose="020B0200000000000000" pitchFamily="34" charset="-122"/>
                  </a:rPr>
                  <a:t>0.01g</a:t>
                </a:r>
                <a:r>
                  <a:rPr lang="zh-CN" altLang="en-US" sz="1700" dirty="0">
                    <a:latin typeface="Noto Sans SC" panose="020B0200000000000000" pitchFamily="34" charset="-122"/>
                    <a:ea typeface="Noto Sans SC" panose="020B0200000000000000" pitchFamily="34" charset="-122"/>
                  </a:rPr>
                  <a:t>。同时因为在这个轨迹上</a:t>
                </a:r>
                <a:r>
                  <a:rPr lang="en-US" altLang="zh-CN" sz="1700" dirty="0">
                    <a:latin typeface="Noto Sans SC" panose="020B0200000000000000" pitchFamily="34" charset="-122"/>
                    <a:ea typeface="Noto Sans SC" panose="020B0200000000000000" pitchFamily="34" charset="-122"/>
                  </a:rPr>
                  <a:t>r</a:t>
                </a:r>
                <a:r>
                  <a:rPr lang="zh-CN" altLang="en-US" sz="1700" dirty="0">
                    <a:latin typeface="Noto Sans SC" panose="020B0200000000000000" pitchFamily="34" charset="-122"/>
                    <a:ea typeface="Noto Sans SC" panose="020B0200000000000000" pitchFamily="34" charset="-122"/>
                  </a:rPr>
                  <a:t>、</a:t>
                </a:r>
                <a:r>
                  <a:rPr lang="en-US" altLang="zh-CN" sz="1700" dirty="0">
                    <a:latin typeface="Noto Sans SC" panose="020B0200000000000000" pitchFamily="34" charset="-122"/>
                    <a:ea typeface="Noto Sans SC" panose="020B0200000000000000" pitchFamily="34" charset="-122"/>
                  </a:rPr>
                  <a:t>g</a:t>
                </a:r>
                <a:r>
                  <a:rPr lang="zh-CN" altLang="en-US" sz="1700" dirty="0">
                    <a:latin typeface="Noto Sans SC" panose="020B0200000000000000" pitchFamily="34" charset="-122"/>
                    <a:ea typeface="Noto Sans SC" panose="020B0200000000000000" pitchFamily="34" charset="-122"/>
                  </a:rPr>
                  <a:t>都是正值，因此</a:t>
                </a:r>
                <a:r>
                  <a:rPr lang="en-US" altLang="zh-CN" sz="1700" dirty="0">
                    <a:latin typeface="Noto Sans SC" panose="020B0200000000000000" pitchFamily="34" charset="-122"/>
                    <a:ea typeface="Noto Sans SC" panose="020B0200000000000000" pitchFamily="34" charset="-122"/>
                  </a:rPr>
                  <a:t>b</a:t>
                </a:r>
                <a:r>
                  <a:rPr lang="zh-CN" altLang="en-US" sz="1700" dirty="0">
                    <a:latin typeface="Noto Sans SC" panose="020B0200000000000000" pitchFamily="34" charset="-122"/>
                    <a:ea typeface="Noto Sans SC" panose="020B0200000000000000" pitchFamily="34" charset="-122"/>
                  </a:rPr>
                  <a:t>一定是负值，于是：</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i="1">
                          <a:latin typeface="Cambria Math" panose="02040503050406030204" pitchFamily="18" charset="0"/>
                        </a:rPr>
                        <m:t>−</m:t>
                      </m:r>
                      <m:r>
                        <a:rPr lang="en-US" altLang="zh-CN" sz="1700" i="1">
                          <a:latin typeface="Cambria Math" panose="02040503050406030204" pitchFamily="18" charset="0"/>
                        </a:rPr>
                        <m:t>𝑏</m:t>
                      </m:r>
                      <m:r>
                        <a:rPr lang="en-US" altLang="zh-CN" sz="1700" i="1">
                          <a:latin typeface="Cambria Math" panose="02040503050406030204" pitchFamily="18" charset="0"/>
                        </a:rPr>
                        <m:t>&lt;0.01</m:t>
                      </m:r>
                      <m:r>
                        <a:rPr lang="en-US" altLang="zh-CN" sz="1700" i="1">
                          <a:latin typeface="Cambria Math" panose="02040503050406030204" pitchFamily="18" charset="0"/>
                        </a:rPr>
                        <m:t>𝑔</m:t>
                      </m:r>
                    </m:oMath>
                  </m:oMathPara>
                </a14:m>
                <a:endParaRPr lang="en-US" altLang="zh-CN" sz="170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i="1">
                          <a:latin typeface="Cambria Math" panose="02040503050406030204" pitchFamily="18" charset="0"/>
                        </a:rPr>
                        <m:t>−</m:t>
                      </m:r>
                      <m:d>
                        <m:dPr>
                          <m:ctrlPr>
                            <a:rPr lang="en-US" altLang="zh-CN" sz="1700" i="1">
                              <a:latin typeface="Cambria Math" panose="02040503050406030204" pitchFamily="18" charset="0"/>
                            </a:rPr>
                          </m:ctrlPr>
                        </m:dPr>
                        <m:e>
                          <m:r>
                            <a:rPr lang="en-US" altLang="zh-CN" sz="1700" i="1">
                              <a:latin typeface="Cambria Math" panose="02040503050406030204" pitchFamily="18" charset="0"/>
                            </a:rPr>
                            <m:t>1−</m:t>
                          </m:r>
                          <m:r>
                            <a:rPr lang="en-US" altLang="zh-CN" sz="1700" i="1">
                              <a:latin typeface="Cambria Math" panose="02040503050406030204" pitchFamily="18" charset="0"/>
                            </a:rPr>
                            <m:t>𝑟</m:t>
                          </m:r>
                          <m:r>
                            <a:rPr lang="en-US" altLang="zh-CN" sz="1700" i="1">
                              <a:latin typeface="Cambria Math" panose="02040503050406030204" pitchFamily="18" charset="0"/>
                            </a:rPr>
                            <m:t>−</m:t>
                          </m:r>
                          <m:r>
                            <a:rPr lang="en-US" altLang="zh-CN" sz="1700" i="1">
                              <a:latin typeface="Cambria Math" panose="02040503050406030204" pitchFamily="18" charset="0"/>
                            </a:rPr>
                            <m:t>𝑔</m:t>
                          </m:r>
                        </m:e>
                      </m:d>
                      <m:r>
                        <a:rPr lang="en-US" altLang="zh-CN" sz="1700" i="1">
                          <a:latin typeface="Cambria Math" panose="02040503050406030204" pitchFamily="18" charset="0"/>
                        </a:rPr>
                        <m:t>&lt;0.01</m:t>
                      </m:r>
                      <m:r>
                        <a:rPr lang="en-US" altLang="zh-CN" sz="1700" i="1">
                          <a:latin typeface="Cambria Math" panose="02040503050406030204" pitchFamily="18" charset="0"/>
                        </a:rPr>
                        <m:t>𝑔</m:t>
                      </m:r>
                    </m:oMath>
                  </m:oMathPara>
                </a14:m>
                <a:endParaRPr lang="en-US" altLang="zh-CN" sz="170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i="1">
                          <a:latin typeface="Cambria Math" panose="02040503050406030204" pitchFamily="18" charset="0"/>
                        </a:rPr>
                        <m:t>𝑟</m:t>
                      </m:r>
                      <m:r>
                        <a:rPr lang="en-US" altLang="zh-CN" sz="1700" i="1">
                          <a:latin typeface="Cambria Math" panose="02040503050406030204" pitchFamily="18" charset="0"/>
                        </a:rPr>
                        <m:t>+0.99</m:t>
                      </m:r>
                      <m:r>
                        <a:rPr lang="en-US" altLang="zh-CN" sz="1700" i="1">
                          <a:latin typeface="Cambria Math" panose="02040503050406030204" pitchFamily="18" charset="0"/>
                        </a:rPr>
                        <m:t>𝑔</m:t>
                      </m:r>
                      <m:r>
                        <a:rPr lang="en-US" altLang="zh-CN" sz="1700" i="1">
                          <a:latin typeface="Cambria Math" panose="02040503050406030204" pitchFamily="18" charset="0"/>
                        </a:rPr>
                        <m:t>&lt;1</m:t>
                      </m:r>
                    </m:oMath>
                  </m:oMathPara>
                </a14:m>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为了使</a:t>
                </a:r>
                <a:r>
                  <a:rPr lang="en-US" altLang="zh-CN" sz="1700" dirty="0">
                    <a:latin typeface="Noto Sans SC" panose="020B0200000000000000" pitchFamily="34" charset="-122"/>
                    <a:ea typeface="Noto Sans SC" panose="020B0200000000000000" pitchFamily="34" charset="-122"/>
                  </a:rPr>
                  <a:t>XY</a:t>
                </a:r>
                <a:r>
                  <a:rPr lang="zh-CN" altLang="en-US" sz="1700" dirty="0">
                    <a:latin typeface="Noto Sans SC" panose="020B0200000000000000" pitchFamily="34" charset="-122"/>
                    <a:ea typeface="Noto Sans SC" panose="020B0200000000000000" pitchFamily="34" charset="-122"/>
                  </a:rPr>
                  <a:t>线在任何情况下都能包括住单色光轨迹，所以需要取最坏的情况，也就是：</a:t>
                </a:r>
                <a14:m>
                  <m:oMath xmlns:m="http://schemas.openxmlformats.org/officeDocument/2006/math">
                    <m:r>
                      <a:rPr lang="en-US" altLang="zh-CN" sz="1700" i="1">
                        <a:latin typeface="Cambria Math" panose="02040503050406030204" pitchFamily="18" charset="0"/>
                      </a:rPr>
                      <m:t>𝑟</m:t>
                    </m:r>
                    <m:r>
                      <a:rPr lang="en-US" altLang="zh-CN" sz="1700" i="1">
                        <a:latin typeface="Cambria Math" panose="02040503050406030204" pitchFamily="18" charset="0"/>
                      </a:rPr>
                      <m:t>+0.99</m:t>
                    </m:r>
                    <m:r>
                      <a:rPr lang="en-US" altLang="zh-CN" sz="1700" i="1">
                        <a:latin typeface="Cambria Math" panose="02040503050406030204" pitchFamily="18" charset="0"/>
                      </a:rPr>
                      <m:t>𝑔</m:t>
                    </m:r>
                    <m:r>
                      <a:rPr lang="en-US" altLang="zh-CN" sz="1700" b="0" i="1" smtClean="0">
                        <a:latin typeface="Cambria Math" panose="02040503050406030204" pitchFamily="18" charset="0"/>
                      </a:rPr>
                      <m:t>=</m:t>
                    </m:r>
                    <m:r>
                      <a:rPr lang="en-US" altLang="zh-CN" sz="1700" i="1">
                        <a:latin typeface="Cambria Math" panose="02040503050406030204" pitchFamily="18" charset="0"/>
                      </a:rPr>
                      <m:t>1</m:t>
                    </m:r>
                  </m:oMath>
                </a14:m>
                <a:r>
                  <a:rPr lang="zh-CN" altLang="en-US" sz="1700" dirty="0">
                    <a:latin typeface="Noto Sans SC" panose="020B0200000000000000" pitchFamily="34" charset="-122"/>
                    <a:ea typeface="Noto Sans SC" panose="020B0200000000000000" pitchFamily="34" charset="-122"/>
                  </a:rPr>
                  <a:t>，于是我们就得到了</a:t>
                </a:r>
                <a:r>
                  <a:rPr lang="en-US" altLang="zh-CN" sz="1700" dirty="0">
                    <a:latin typeface="Noto Sans SC" panose="020B0200000000000000" pitchFamily="34" charset="-122"/>
                    <a:ea typeface="Noto Sans SC" panose="020B0200000000000000" pitchFamily="34" charset="-122"/>
                  </a:rPr>
                  <a:t>XY</a:t>
                </a:r>
                <a:r>
                  <a:rPr lang="zh-CN" altLang="en-US" sz="1700" dirty="0">
                    <a:latin typeface="Noto Sans SC" panose="020B0200000000000000" pitchFamily="34" charset="-122"/>
                    <a:ea typeface="Noto Sans SC" panose="020B0200000000000000" pitchFamily="34" charset="-122"/>
                  </a:rPr>
                  <a:t>线。</a:t>
                </a:r>
                <a:endParaRPr lang="en-US" altLang="zh-CN" sz="1700"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475E2053-C916-412F-446C-0C9B898C41A0}"/>
                  </a:ext>
                </a:extLst>
              </p:cNvPr>
              <p:cNvSpPr txBox="1">
                <a:spLocks noRot="1" noChangeAspect="1" noMove="1" noResize="1" noEditPoints="1" noAdjustHandles="1" noChangeArrowheads="1" noChangeShapeType="1" noTextEdit="1"/>
              </p:cNvSpPr>
              <p:nvPr/>
            </p:nvSpPr>
            <p:spPr>
              <a:xfrm>
                <a:off x="263048" y="1918867"/>
                <a:ext cx="6766402" cy="4801314"/>
              </a:xfrm>
              <a:prstGeom prst="rect">
                <a:avLst/>
              </a:prstGeom>
              <a:blipFill>
                <a:blip r:embed="rId2"/>
                <a:stretch>
                  <a:fillRect l="-541" t="-508" r="-631" b="-889"/>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E8AC71CC-5275-32BE-2082-31EAE1FEC125}"/>
              </a:ext>
            </a:extLst>
          </p:cNvPr>
          <p:cNvGrpSpPr/>
          <p:nvPr/>
        </p:nvGrpSpPr>
        <p:grpSpPr>
          <a:xfrm>
            <a:off x="7029450" y="1453019"/>
            <a:ext cx="5137407" cy="4678275"/>
            <a:chOff x="7029450" y="1453019"/>
            <a:chExt cx="5137407" cy="4678275"/>
          </a:xfrm>
        </p:grpSpPr>
        <p:grpSp>
          <p:nvGrpSpPr>
            <p:cNvPr id="16" name="组合 15">
              <a:extLst>
                <a:ext uri="{FF2B5EF4-FFF2-40B4-BE49-F238E27FC236}">
                  <a16:creationId xmlns:a16="http://schemas.microsoft.com/office/drawing/2014/main" id="{69875CD1-2338-1671-2394-F6F43E7316EA}"/>
                </a:ext>
              </a:extLst>
            </p:cNvPr>
            <p:cNvGrpSpPr/>
            <p:nvPr/>
          </p:nvGrpSpPr>
          <p:grpSpPr>
            <a:xfrm>
              <a:off x="7029450" y="1453019"/>
              <a:ext cx="5099141" cy="4421688"/>
              <a:chOff x="6935303" y="1640492"/>
              <a:chExt cx="5424226" cy="4703585"/>
            </a:xfrm>
          </p:grpSpPr>
          <p:pic>
            <p:nvPicPr>
              <p:cNvPr id="19" name="图片 18">
                <a:extLst>
                  <a:ext uri="{FF2B5EF4-FFF2-40B4-BE49-F238E27FC236}">
                    <a16:creationId xmlns:a16="http://schemas.microsoft.com/office/drawing/2014/main" id="{EDCA67B6-E187-8C9B-D191-2218921AFAF2}"/>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20" name="椭圆 19">
                <a:extLst>
                  <a:ext uri="{FF2B5EF4-FFF2-40B4-BE49-F238E27FC236}">
                    <a16:creationId xmlns:a16="http://schemas.microsoft.com/office/drawing/2014/main" id="{524D1098-5E24-CFA1-8FB7-EA194B4289A9}"/>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21" name="椭圆 20">
                <a:extLst>
                  <a:ext uri="{FF2B5EF4-FFF2-40B4-BE49-F238E27FC236}">
                    <a16:creationId xmlns:a16="http://schemas.microsoft.com/office/drawing/2014/main" id="{BAD8B7BB-E6C9-CAE2-78CF-64DBAAEC12D3}"/>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22" name="椭圆 21">
                <a:extLst>
                  <a:ext uri="{FF2B5EF4-FFF2-40B4-BE49-F238E27FC236}">
                    <a16:creationId xmlns:a16="http://schemas.microsoft.com/office/drawing/2014/main" id="{FA4642F2-FD53-14EA-D395-FB6A235C3829}"/>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23" name="直接连接符 22">
                <a:extLst>
                  <a:ext uri="{FF2B5EF4-FFF2-40B4-BE49-F238E27FC236}">
                    <a16:creationId xmlns:a16="http://schemas.microsoft.com/office/drawing/2014/main" id="{D3C38D11-D374-25D2-CF3A-922B2645FB50}"/>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CE7A62FC-C0DA-A0CD-A793-0BC0DF7BD5A8}"/>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B95AD2B-7AD4-EBCB-1BF6-68BB2453E582}"/>
                  </a:ext>
                </a:extLst>
              </p:cNvPr>
              <p:cNvCxnSpPr>
                <a:cxnSpLocks/>
              </p:cNvCxnSpPr>
              <p:nvPr/>
            </p:nvCxnSpPr>
            <p:spPr>
              <a:xfrm>
                <a:off x="7446101" y="1640492"/>
                <a:ext cx="4913428" cy="4703585"/>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a:extLst>
                <a:ext uri="{FF2B5EF4-FFF2-40B4-BE49-F238E27FC236}">
                  <a16:creationId xmlns:a16="http://schemas.microsoft.com/office/drawing/2014/main" id="{10AF73F9-8093-BA77-E13E-4D4BE5008019}"/>
                </a:ext>
              </a:extLst>
            </p:cNvPr>
            <p:cNvCxnSpPr>
              <a:cxnSpLocks/>
            </p:cNvCxnSpPr>
            <p:nvPr/>
          </p:nvCxnSpPr>
          <p:spPr>
            <a:xfrm>
              <a:off x="7158625" y="4770934"/>
              <a:ext cx="5008232" cy="99102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C0E182D-4A7C-3924-D8B2-BA0FDAEAEA84}"/>
                </a:ext>
              </a:extLst>
            </p:cNvPr>
            <p:cNvSpPr txBox="1"/>
            <p:nvPr/>
          </p:nvSpPr>
          <p:spPr>
            <a:xfrm>
              <a:off x="10482554" y="5761962"/>
              <a:ext cx="1592535" cy="369332"/>
            </a:xfrm>
            <a:prstGeom prst="rect">
              <a:avLst/>
            </a:prstGeom>
            <a:noFill/>
          </p:spPr>
          <p:txBody>
            <a:bodyPr wrap="square">
              <a:spAutoFit/>
            </a:bodyPr>
            <a:lstStyle/>
            <a:p>
              <a:pPr algn="ctr"/>
              <a:r>
                <a:rPr lang="en-US" altLang="zh-CN" b="1" dirty="0">
                  <a:solidFill>
                    <a:schemeClr val="tx2"/>
                  </a:solidFill>
                  <a:latin typeface="Noto Sans SC" panose="020B0200000000000000" pitchFamily="34" charset="-122"/>
                  <a:ea typeface="Noto Sans SC" panose="020B0200000000000000" pitchFamily="34" charset="-122"/>
                </a:rPr>
                <a:t>a</a:t>
              </a:r>
              <a:r>
                <a:rPr lang="zh-CN" altLang="zh-CN" b="1" dirty="0">
                  <a:solidFill>
                    <a:schemeClr val="tx2"/>
                  </a:solidFill>
                  <a:latin typeface="Noto Sans SC" panose="020B0200000000000000" pitchFamily="34" charset="-122"/>
                  <a:ea typeface="Noto Sans SC" panose="020B0200000000000000" pitchFamily="34" charset="-122"/>
                </a:rPr>
                <a:t>lychne</a:t>
              </a:r>
              <a:r>
                <a:rPr lang="en-US" altLang="zh-CN" b="1" dirty="0">
                  <a:solidFill>
                    <a:schemeClr val="tx2"/>
                  </a:solidFill>
                  <a:latin typeface="Noto Sans SC" panose="020B0200000000000000" pitchFamily="34" charset="-122"/>
                  <a:ea typeface="Noto Sans SC" panose="020B0200000000000000" pitchFamily="34" charset="-122"/>
                </a:rPr>
                <a:t>/XZ</a:t>
              </a:r>
              <a:endParaRPr lang="zh-CN" altLang="en-US" b="1" dirty="0">
                <a:solidFill>
                  <a:schemeClr val="tx2"/>
                </a:solidFill>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19019537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869D3-5B06-983E-48ED-5FCD1A7E0CE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6078313-B2B8-5F31-3715-3A36A576DF51}"/>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E7969BD0-8972-282B-D2E7-7C80314E7AD5}"/>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3C7D4CE-B3D5-7C19-5A5A-9D9CBF6F7ACC}"/>
                  </a:ext>
                </a:extLst>
              </p:cNvPr>
              <p:cNvSpPr txBox="1"/>
              <p:nvPr/>
            </p:nvSpPr>
            <p:spPr>
              <a:xfrm>
                <a:off x="263048" y="1918867"/>
                <a:ext cx="6766402" cy="4524315"/>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确定了</a:t>
                </a:r>
                <a:r>
                  <a:rPr lang="en-US" altLang="zh-CN" dirty="0">
                    <a:latin typeface="Noto Sans SC" panose="020B0200000000000000" pitchFamily="34" charset="-122"/>
                    <a:ea typeface="Noto Sans SC" panose="020B0200000000000000" pitchFamily="34" charset="-122"/>
                  </a:rPr>
                  <a:t>XZ</a:t>
                </a:r>
                <a:r>
                  <a:rPr lang="zh-CN" altLang="en-US" dirty="0">
                    <a:latin typeface="Noto Sans SC" panose="020B0200000000000000" pitchFamily="34" charset="-122"/>
                    <a:ea typeface="Noto Sans SC" panose="020B0200000000000000" pitchFamily="34" charset="-122"/>
                  </a:rPr>
                  <a:t>线以及</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线后，</a:t>
                </a:r>
                <a:r>
                  <a:rPr lang="en-US" altLang="zh-CN" dirty="0">
                    <a:latin typeface="Noto Sans SC" panose="020B0200000000000000" pitchFamily="34" charset="-122"/>
                    <a:ea typeface="Noto Sans SC" panose="020B0200000000000000" pitchFamily="34" charset="-122"/>
                  </a:rPr>
                  <a:t>X</a:t>
                </a:r>
                <a:r>
                  <a:rPr lang="zh-CN" altLang="en-US" dirty="0">
                    <a:latin typeface="Noto Sans SC" panose="020B0200000000000000" pitchFamily="34" charset="-122"/>
                    <a:ea typeface="Noto Sans SC" panose="020B0200000000000000" pitchFamily="34" charset="-122"/>
                  </a:rPr>
                  <a:t>基在色度平面上的坐标就被确定下来了：</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𝑋</m:t>
                        </m:r>
                      </m:sub>
                    </m:sSub>
                    <m:r>
                      <a:rPr lang="en-US" altLang="zh-CN" b="0" i="1" smtClean="0">
                        <a:latin typeface="Cambria Math" panose="02040503050406030204" pitchFamily="18" charset="0"/>
                      </a:rPr>
                      <m:t>=1.2749,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𝑋</m:t>
                        </m:r>
                      </m:sub>
                    </m:sSub>
                    <m:r>
                      <a:rPr lang="en-US" altLang="zh-CN" b="0" i="1" smtClean="0">
                        <a:latin typeface="Cambria Math" panose="02040503050406030204" pitchFamily="18" charset="0"/>
                      </a:rPr>
                      <m:t>=−0.2777</m:t>
                    </m:r>
                  </m:oMath>
                </a14:m>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最后就只剩下</a:t>
                </a:r>
                <a:r>
                  <a:rPr lang="en-US" altLang="zh-CN" dirty="0">
                    <a:latin typeface="Noto Sans SC" panose="020B0200000000000000" pitchFamily="34" charset="-122"/>
                    <a:ea typeface="Noto Sans SC" panose="020B0200000000000000" pitchFamily="34" charset="-122"/>
                  </a:rPr>
                  <a:t>YZ</a:t>
                </a:r>
                <a:r>
                  <a:rPr lang="zh-CN" altLang="en-US" dirty="0">
                    <a:latin typeface="Noto Sans SC" panose="020B0200000000000000" pitchFamily="34" charset="-122"/>
                    <a:ea typeface="Noto Sans SC" panose="020B0200000000000000" pitchFamily="34" charset="-122"/>
                  </a:rPr>
                  <a:t>线没有确定了。</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对于</a:t>
                </a:r>
                <a:r>
                  <a:rPr lang="en-US" altLang="zh-CN" dirty="0">
                    <a:latin typeface="Noto Sans SC" panose="020B0200000000000000" pitchFamily="34" charset="-122"/>
                    <a:ea typeface="Noto Sans SC" panose="020B0200000000000000" pitchFamily="34" charset="-122"/>
                  </a:rPr>
                  <a:t>YZ</a:t>
                </a:r>
                <a:r>
                  <a:rPr lang="zh-CN" altLang="en-US" dirty="0">
                    <a:latin typeface="Noto Sans SC" panose="020B0200000000000000" pitchFamily="34" charset="-122"/>
                    <a:ea typeface="Noto Sans SC" panose="020B0200000000000000" pitchFamily="34" charset="-122"/>
                  </a:rPr>
                  <a:t>线的确定，</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有两方面的考量。一是前面提到过的</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空间下所有颜色的坐标都是正数，二是应当使</a:t>
                </a:r>
                <a:r>
                  <a:rPr lang="en-US" altLang="zh-CN" dirty="0">
                    <a:latin typeface="Noto Sans SC" panose="020B0200000000000000" pitchFamily="34" charset="-122"/>
                    <a:ea typeface="Noto Sans SC" panose="020B0200000000000000" pitchFamily="34" charset="-122"/>
                  </a:rPr>
                  <a:t>YZ</a:t>
                </a:r>
                <a:r>
                  <a:rPr lang="zh-CN" altLang="en-US" dirty="0">
                    <a:latin typeface="Noto Sans SC" panose="020B0200000000000000" pitchFamily="34" charset="-122"/>
                    <a:ea typeface="Noto Sans SC" panose="020B0200000000000000" pitchFamily="34" charset="-122"/>
                  </a:rPr>
                  <a:t>线尽量贴近单色光轨迹，以减小</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三角形中非真实颜色的面积。</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右图中，如果用红色的虚线作为</a:t>
                </a:r>
                <a:r>
                  <a:rPr lang="en-US" altLang="zh-CN" dirty="0">
                    <a:latin typeface="Noto Sans SC" panose="020B0200000000000000" pitchFamily="34" charset="-122"/>
                    <a:ea typeface="Noto Sans SC" panose="020B0200000000000000" pitchFamily="34" charset="-122"/>
                  </a:rPr>
                  <a:t>YZ</a:t>
                </a:r>
                <a:r>
                  <a:rPr lang="zh-CN" altLang="en-US" dirty="0">
                    <a:latin typeface="Noto Sans SC" panose="020B0200000000000000" pitchFamily="34" charset="-122"/>
                    <a:ea typeface="Noto Sans SC" panose="020B0200000000000000" pitchFamily="34" charset="-122"/>
                  </a:rPr>
                  <a:t>线，违反了上述的第一个考量。对比黄色和紫色的虚线，明显紫色的虚线围成的</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三角形中非真实颜色的面积要小于黄的的虚线。</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我们能很明显的发现，仅凭上述的两个约束，并不能确定出唯一的</a:t>
                </a:r>
                <a:r>
                  <a:rPr lang="en-US" altLang="zh-CN" dirty="0">
                    <a:latin typeface="Noto Sans SC" panose="020B0200000000000000" pitchFamily="34" charset="-122"/>
                    <a:ea typeface="Noto Sans SC" panose="020B0200000000000000" pitchFamily="34" charset="-122"/>
                  </a:rPr>
                  <a:t>YZ</a:t>
                </a:r>
                <a:r>
                  <a:rPr lang="zh-CN" altLang="en-US" dirty="0">
                    <a:latin typeface="Noto Sans SC" panose="020B0200000000000000" pitchFamily="34" charset="-122"/>
                    <a:ea typeface="Noto Sans SC" panose="020B0200000000000000" pitchFamily="34" charset="-122"/>
                  </a:rPr>
                  <a:t>线。</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当年决定</a:t>
                </a:r>
                <a:r>
                  <a:rPr lang="en-US" altLang="zh-CN" dirty="0">
                    <a:latin typeface="Noto Sans SC" panose="020B0200000000000000" pitchFamily="34" charset="-122"/>
                    <a:ea typeface="Noto Sans SC" panose="020B0200000000000000" pitchFamily="34" charset="-122"/>
                  </a:rPr>
                  <a:t>YZ</a:t>
                </a:r>
                <a:r>
                  <a:rPr lang="zh-CN" altLang="en-US" dirty="0">
                    <a:latin typeface="Noto Sans SC" panose="020B0200000000000000" pitchFamily="34" charset="-122"/>
                    <a:ea typeface="Noto Sans SC" panose="020B0200000000000000" pitchFamily="34" charset="-122"/>
                  </a:rPr>
                  <a:t>线的过程也没有被完整的记录，因此现在也无法考证。</a:t>
                </a:r>
                <a:endParaRPr lang="en-US" altLang="zh-CN"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E3C7D4CE-B3D5-7C19-5A5A-9D9CBF6F7ACC}"/>
                  </a:ext>
                </a:extLst>
              </p:cNvPr>
              <p:cNvSpPr txBox="1">
                <a:spLocks noRot="1" noChangeAspect="1" noMove="1" noResize="1" noEditPoints="1" noAdjustHandles="1" noChangeArrowheads="1" noChangeShapeType="1" noTextEdit="1"/>
              </p:cNvSpPr>
              <p:nvPr/>
            </p:nvSpPr>
            <p:spPr>
              <a:xfrm>
                <a:off x="263048" y="1918867"/>
                <a:ext cx="6766402" cy="4524315"/>
              </a:xfrm>
              <a:prstGeom prst="rect">
                <a:avLst/>
              </a:prstGeom>
              <a:blipFill>
                <a:blip r:embed="rId2"/>
                <a:stretch>
                  <a:fillRect l="-721" t="-809" r="-721" b="-1213"/>
                </a:stretch>
              </a:blipFill>
            </p:spPr>
            <p:txBody>
              <a:bodyPr/>
              <a:lstStyle/>
              <a:p>
                <a:r>
                  <a:rPr lang="zh-CN" altLang="en-US">
                    <a:noFill/>
                  </a:rPr>
                  <a:t> </a:t>
                </a:r>
              </a:p>
            </p:txBody>
          </p:sp>
        </mc:Fallback>
      </mc:AlternateContent>
      <p:grpSp>
        <p:nvGrpSpPr>
          <p:cNvPr id="48" name="组合 47">
            <a:extLst>
              <a:ext uri="{FF2B5EF4-FFF2-40B4-BE49-F238E27FC236}">
                <a16:creationId xmlns:a16="http://schemas.microsoft.com/office/drawing/2014/main" id="{E1DE597B-BC29-C9AF-BB09-F925E9177EA0}"/>
              </a:ext>
            </a:extLst>
          </p:cNvPr>
          <p:cNvGrpSpPr/>
          <p:nvPr/>
        </p:nvGrpSpPr>
        <p:grpSpPr>
          <a:xfrm>
            <a:off x="7054593" y="1319343"/>
            <a:ext cx="5137407" cy="5150219"/>
            <a:chOff x="7029450" y="981075"/>
            <a:chExt cx="5137407" cy="5150219"/>
          </a:xfrm>
        </p:grpSpPr>
        <p:grpSp>
          <p:nvGrpSpPr>
            <p:cNvPr id="8" name="组合 7">
              <a:extLst>
                <a:ext uri="{FF2B5EF4-FFF2-40B4-BE49-F238E27FC236}">
                  <a16:creationId xmlns:a16="http://schemas.microsoft.com/office/drawing/2014/main" id="{A2003BA0-C27B-61D4-6845-2509DE83056F}"/>
                </a:ext>
              </a:extLst>
            </p:cNvPr>
            <p:cNvGrpSpPr/>
            <p:nvPr/>
          </p:nvGrpSpPr>
          <p:grpSpPr>
            <a:xfrm>
              <a:off x="7029450" y="1805786"/>
              <a:ext cx="4941652" cy="3907489"/>
              <a:chOff x="6935303" y="2015749"/>
              <a:chExt cx="5256697" cy="4156604"/>
            </a:xfrm>
          </p:grpSpPr>
          <p:pic>
            <p:nvPicPr>
              <p:cNvPr id="11" name="图片 10">
                <a:extLst>
                  <a:ext uri="{FF2B5EF4-FFF2-40B4-BE49-F238E27FC236}">
                    <a16:creationId xmlns:a16="http://schemas.microsoft.com/office/drawing/2014/main" id="{BD3ADF97-A7EC-F017-0F7A-5AF587134D52}"/>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12" name="椭圆 11">
                <a:extLst>
                  <a:ext uri="{FF2B5EF4-FFF2-40B4-BE49-F238E27FC236}">
                    <a16:creationId xmlns:a16="http://schemas.microsoft.com/office/drawing/2014/main" id="{996381D4-96C1-9179-EEA1-29F60DF12792}"/>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3" name="椭圆 12">
                <a:extLst>
                  <a:ext uri="{FF2B5EF4-FFF2-40B4-BE49-F238E27FC236}">
                    <a16:creationId xmlns:a16="http://schemas.microsoft.com/office/drawing/2014/main" id="{76F4FF3E-B036-49DD-82C2-D9F3E769900E}"/>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4" name="椭圆 13">
                <a:extLst>
                  <a:ext uri="{FF2B5EF4-FFF2-40B4-BE49-F238E27FC236}">
                    <a16:creationId xmlns:a16="http://schemas.microsoft.com/office/drawing/2014/main" id="{274AAE60-6DE2-3D13-ACF7-3034B5FE74FF}"/>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15" name="直接连接符 14">
                <a:extLst>
                  <a:ext uri="{FF2B5EF4-FFF2-40B4-BE49-F238E27FC236}">
                    <a16:creationId xmlns:a16="http://schemas.microsoft.com/office/drawing/2014/main" id="{B8BBE31D-5A16-5BB4-2347-35589A4C741A}"/>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47582892-5685-204F-D1BA-4762ABCE7EA9}"/>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13B185B-B466-7818-FE50-9653FACD000E}"/>
                  </a:ext>
                </a:extLst>
              </p:cNvPr>
              <p:cNvCxnSpPr>
                <a:cxnSpLocks/>
              </p:cNvCxnSpPr>
              <p:nvPr/>
            </p:nvCxnSpPr>
            <p:spPr>
              <a:xfrm>
                <a:off x="9869537" y="3960427"/>
                <a:ext cx="1830513" cy="1752335"/>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cxnSp>
          <p:nvCxnSpPr>
            <p:cNvPr id="9" name="直接连接符 8">
              <a:extLst>
                <a:ext uri="{FF2B5EF4-FFF2-40B4-BE49-F238E27FC236}">
                  <a16:creationId xmlns:a16="http://schemas.microsoft.com/office/drawing/2014/main" id="{AB178F04-10A6-349A-9A97-3184A90162E7}"/>
                </a:ext>
              </a:extLst>
            </p:cNvPr>
            <p:cNvCxnSpPr>
              <a:cxnSpLocks/>
            </p:cNvCxnSpPr>
            <p:nvPr/>
          </p:nvCxnSpPr>
          <p:spPr>
            <a:xfrm>
              <a:off x="7158625" y="4770934"/>
              <a:ext cx="5008232" cy="99102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5013D2D6-0695-10D4-0552-F785BCA00CE4}"/>
                </a:ext>
              </a:extLst>
            </p:cNvPr>
            <p:cNvSpPr txBox="1"/>
            <p:nvPr/>
          </p:nvSpPr>
          <p:spPr>
            <a:xfrm>
              <a:off x="10482554" y="5761962"/>
              <a:ext cx="1592535" cy="369332"/>
            </a:xfrm>
            <a:prstGeom prst="rect">
              <a:avLst/>
            </a:prstGeom>
            <a:noFill/>
          </p:spPr>
          <p:txBody>
            <a:bodyPr wrap="square">
              <a:spAutoFit/>
            </a:bodyPr>
            <a:lstStyle/>
            <a:p>
              <a:pPr algn="ctr"/>
              <a:r>
                <a:rPr lang="en-US" altLang="zh-CN" b="1" dirty="0">
                  <a:solidFill>
                    <a:schemeClr val="tx2"/>
                  </a:solidFill>
                  <a:latin typeface="Noto Sans SC" panose="020B0200000000000000" pitchFamily="34" charset="-122"/>
                  <a:ea typeface="Noto Sans SC" panose="020B0200000000000000" pitchFamily="34" charset="-122"/>
                </a:rPr>
                <a:t>a</a:t>
              </a:r>
              <a:r>
                <a:rPr lang="zh-CN" altLang="zh-CN" b="1" dirty="0">
                  <a:solidFill>
                    <a:schemeClr val="tx2"/>
                  </a:solidFill>
                  <a:latin typeface="Noto Sans SC" panose="020B0200000000000000" pitchFamily="34" charset="-122"/>
                  <a:ea typeface="Noto Sans SC" panose="020B0200000000000000" pitchFamily="34" charset="-122"/>
                </a:rPr>
                <a:t>lychne</a:t>
              </a:r>
              <a:r>
                <a:rPr lang="en-US" altLang="zh-CN" b="1" dirty="0">
                  <a:solidFill>
                    <a:schemeClr val="tx2"/>
                  </a:solidFill>
                  <a:latin typeface="Noto Sans SC" panose="020B0200000000000000" pitchFamily="34" charset="-122"/>
                  <a:ea typeface="Noto Sans SC" panose="020B0200000000000000" pitchFamily="34" charset="-122"/>
                </a:rPr>
                <a:t>/XZ</a:t>
              </a:r>
              <a:endParaRPr lang="zh-CN" altLang="en-US" b="1" dirty="0">
                <a:solidFill>
                  <a:schemeClr val="tx2"/>
                </a:solidFill>
                <a:latin typeface="Noto Sans SC" panose="020B0200000000000000" pitchFamily="34" charset="-122"/>
                <a:ea typeface="Noto Sans SC" panose="020B0200000000000000" pitchFamily="34" charset="-122"/>
              </a:endParaRPr>
            </a:p>
          </p:txBody>
        </p:sp>
        <p:cxnSp>
          <p:nvCxnSpPr>
            <p:cNvPr id="29" name="直接连接符 28">
              <a:extLst>
                <a:ext uri="{FF2B5EF4-FFF2-40B4-BE49-F238E27FC236}">
                  <a16:creationId xmlns:a16="http://schemas.microsoft.com/office/drawing/2014/main" id="{7A69DF3E-2A76-6BC6-87FB-D1DC357141FE}"/>
                </a:ext>
              </a:extLst>
            </p:cNvPr>
            <p:cNvCxnSpPr>
              <a:cxnSpLocks/>
            </p:cNvCxnSpPr>
            <p:nvPr/>
          </p:nvCxnSpPr>
          <p:spPr>
            <a:xfrm>
              <a:off x="7329971" y="1252791"/>
              <a:ext cx="4801242" cy="4624134"/>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803D2C18-FF80-0885-362D-419D0C3C316D}"/>
                </a:ext>
              </a:extLst>
            </p:cNvPr>
            <p:cNvSpPr txBox="1"/>
            <p:nvPr/>
          </p:nvSpPr>
          <p:spPr>
            <a:xfrm>
              <a:off x="9381365" y="2992916"/>
              <a:ext cx="1592535" cy="369332"/>
            </a:xfrm>
            <a:prstGeom prst="rect">
              <a:avLst/>
            </a:prstGeom>
            <a:noFill/>
          </p:spPr>
          <p:txBody>
            <a:bodyPr wrap="square">
              <a:spAutoFit/>
            </a:bodyPr>
            <a:lstStyle/>
            <a:p>
              <a:pPr algn="ctr"/>
              <a:r>
                <a:rPr lang="en-US" altLang="zh-CN" b="1" dirty="0">
                  <a:solidFill>
                    <a:schemeClr val="tx2"/>
                  </a:solidFill>
                  <a:latin typeface="Noto Sans SC" panose="020B0200000000000000" pitchFamily="34" charset="-122"/>
                  <a:ea typeface="Noto Sans SC" panose="020B0200000000000000" pitchFamily="34" charset="-122"/>
                </a:rPr>
                <a:t>XY</a:t>
              </a:r>
              <a:endParaRPr lang="zh-CN" altLang="en-US" b="1" dirty="0">
                <a:solidFill>
                  <a:schemeClr val="tx2"/>
                </a:solidFill>
                <a:latin typeface="Noto Sans SC" panose="020B0200000000000000" pitchFamily="34" charset="-122"/>
                <a:ea typeface="Noto Sans SC" panose="020B0200000000000000" pitchFamily="34" charset="-122"/>
              </a:endParaRPr>
            </a:p>
          </p:txBody>
        </p:sp>
        <p:cxnSp>
          <p:nvCxnSpPr>
            <p:cNvPr id="38" name="直接连接符 37">
              <a:extLst>
                <a:ext uri="{FF2B5EF4-FFF2-40B4-BE49-F238E27FC236}">
                  <a16:creationId xmlns:a16="http://schemas.microsoft.com/office/drawing/2014/main" id="{A23B45C1-20E7-8B8A-ECEC-8326C17A506D}"/>
                </a:ext>
              </a:extLst>
            </p:cNvPr>
            <p:cNvCxnSpPr>
              <a:cxnSpLocks/>
            </p:cNvCxnSpPr>
            <p:nvPr/>
          </p:nvCxnSpPr>
          <p:spPr>
            <a:xfrm>
              <a:off x="7482371" y="1035050"/>
              <a:ext cx="0" cy="4277630"/>
            </a:xfrm>
            <a:prstGeom prst="line">
              <a:avLst/>
            </a:prstGeom>
            <a:ln w="38100">
              <a:solidFill>
                <a:srgbClr val="FFC000"/>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278C679-C124-8FAF-8329-CBCD519E629B}"/>
                </a:ext>
              </a:extLst>
            </p:cNvPr>
            <p:cNvCxnSpPr>
              <a:cxnSpLocks/>
            </p:cNvCxnSpPr>
            <p:nvPr/>
          </p:nvCxnSpPr>
          <p:spPr>
            <a:xfrm>
              <a:off x="7721682" y="1144725"/>
              <a:ext cx="907968" cy="446867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155E992-2306-88CD-0258-0E89358AF162}"/>
                </a:ext>
              </a:extLst>
            </p:cNvPr>
            <p:cNvCxnSpPr>
              <a:cxnSpLocks/>
            </p:cNvCxnSpPr>
            <p:nvPr/>
          </p:nvCxnSpPr>
          <p:spPr>
            <a:xfrm>
              <a:off x="7329971" y="981075"/>
              <a:ext cx="1050567" cy="4504396"/>
            </a:xfrm>
            <a:prstGeom prst="line">
              <a:avLst/>
            </a:prstGeom>
            <a:ln w="38100">
              <a:solidFill>
                <a:schemeClr val="accent4">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885340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7F6D-ACC1-09B8-69A6-5A945D09796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62882BE-E88A-A018-F662-F79953FB1D08}"/>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CF10DE69-6027-A61C-2F48-3148D3FB111B}"/>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D9D649D-89E1-C3A6-03EA-18B2D90AF87C}"/>
                  </a:ext>
                </a:extLst>
              </p:cNvPr>
              <p:cNvSpPr txBox="1"/>
              <p:nvPr/>
            </p:nvSpPr>
            <p:spPr>
              <a:xfrm>
                <a:off x="263048" y="1918867"/>
                <a:ext cx="6472437" cy="4706673"/>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总之，</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最后选择了</a:t>
                </a:r>
                <a:r>
                  <a:rPr lang="en-US" altLang="zh-CN" dirty="0">
                    <a:latin typeface="Noto Sans SC" panose="020B0200000000000000" pitchFamily="34" charset="-122"/>
                    <a:ea typeface="Noto Sans SC" panose="020B0200000000000000" pitchFamily="34" charset="-122"/>
                  </a:rPr>
                  <a:t>XZ</a:t>
                </a:r>
                <a:r>
                  <a:rPr lang="zh-CN" altLang="en-US" dirty="0">
                    <a:latin typeface="Noto Sans SC" panose="020B0200000000000000" pitchFamily="34" charset="-122"/>
                    <a:ea typeface="Noto Sans SC" panose="020B0200000000000000" pitchFamily="34" charset="-122"/>
                  </a:rPr>
                  <a:t>线上的</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𝑍</m:t>
                        </m:r>
                      </m:sub>
                    </m:sSub>
                    <m:r>
                      <a:rPr lang="en-US" altLang="zh-CN" b="0" i="1" smtClean="0">
                        <a:latin typeface="Cambria Math" panose="02040503050406030204" pitchFamily="18" charset="0"/>
                      </a:rPr>
                      <m:t>=−0.7430</m:t>
                    </m:r>
                  </m:oMath>
                </a14:m>
                <a:r>
                  <a:rPr lang="zh-CN" altLang="en-US" dirty="0">
                    <a:latin typeface="Noto Sans SC" panose="020B0200000000000000" pitchFamily="34" charset="-122"/>
                    <a:ea typeface="Noto Sans SC" panose="020B0200000000000000" pitchFamily="34" charset="-122"/>
                  </a:rPr>
                  <a:t>以及</a:t>
                </a:r>
                <a:r>
                  <a:rPr lang="en-US" altLang="zh-CN" dirty="0">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线上的</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𝑌</m:t>
                        </m:r>
                      </m:sub>
                    </m:sSub>
                    <m:r>
                      <a:rPr lang="en-US" altLang="zh-CN" b="0" i="1" smtClean="0">
                        <a:latin typeface="Cambria Math" panose="02040503050406030204" pitchFamily="18" charset="0"/>
                      </a:rPr>
                      <m:t>=−1.7400</m:t>
                    </m:r>
                  </m:oMath>
                </a14:m>
                <a:r>
                  <a:rPr lang="zh-CN" altLang="en-US" dirty="0">
                    <a:latin typeface="Noto Sans SC" panose="020B0200000000000000" pitchFamily="34" charset="-122"/>
                    <a:ea typeface="Noto Sans SC" panose="020B0200000000000000" pitchFamily="34" charset="-122"/>
                  </a:rPr>
                  <a:t>作为两个端点，连线得到了</a:t>
                </a:r>
                <a:r>
                  <a:rPr lang="en-US" altLang="zh-CN" dirty="0">
                    <a:latin typeface="Noto Sans SC" panose="020B0200000000000000" pitchFamily="34" charset="-122"/>
                    <a:ea typeface="Noto Sans SC" panose="020B0200000000000000" pitchFamily="34" charset="-122"/>
                  </a:rPr>
                  <a:t>YZ</a:t>
                </a:r>
                <a:r>
                  <a:rPr lang="zh-CN" altLang="en-US" dirty="0">
                    <a:latin typeface="Noto Sans SC" panose="020B0200000000000000" pitchFamily="34" charset="-122"/>
                    <a:ea typeface="Noto Sans SC" panose="020B0200000000000000" pitchFamily="34" charset="-122"/>
                  </a:rPr>
                  <a:t>线。</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最终，我们就得到了</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基在</a:t>
                </a:r>
                <a:r>
                  <a:rPr lang="en-US" altLang="zh-CN" dirty="0" err="1">
                    <a:latin typeface="Noto Sans SC" panose="020B0200000000000000" pitchFamily="34" charset="-122"/>
                    <a:ea typeface="Noto Sans SC" panose="020B0200000000000000" pitchFamily="34" charset="-122"/>
                  </a:rPr>
                  <a:t>rg</a:t>
                </a:r>
                <a:r>
                  <a:rPr lang="zh-CN" altLang="en-US" dirty="0">
                    <a:latin typeface="Noto Sans SC" panose="020B0200000000000000" pitchFamily="34" charset="-122"/>
                    <a:ea typeface="Noto Sans SC" panose="020B0200000000000000" pitchFamily="34" charset="-122"/>
                  </a:rPr>
                  <a:t>色度平面上的坐标：</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𝑋</m:t>
                      </m:r>
                      <m:r>
                        <a:rPr lang="zh-CN" altLang="en-US" i="1">
                          <a:latin typeface="Cambria Math" panose="02040503050406030204" pitchFamily="18" charset="0"/>
                        </a:rPr>
                        <m:t>基：</m:t>
                      </m:r>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𝑋</m:t>
                          </m:r>
                        </m:sub>
                      </m:sSub>
                      <m:r>
                        <a:rPr lang="en-US" altLang="zh-CN" i="1">
                          <a:latin typeface="Cambria Math" panose="02040503050406030204" pitchFamily="18" charset="0"/>
                        </a:rPr>
                        <m:t>=</m:t>
                      </m:r>
                      <m:r>
                        <a:rPr lang="en-US" altLang="zh-CN" b="0" i="1" smtClean="0">
                          <a:latin typeface="Cambria Math" panose="02040503050406030204" pitchFamily="18" charset="0"/>
                        </a:rPr>
                        <m:t>   1</m:t>
                      </m:r>
                      <m:r>
                        <a:rPr lang="en-US" altLang="zh-CN" i="1">
                          <a:latin typeface="Cambria Math" panose="02040503050406030204" pitchFamily="18" charset="0"/>
                        </a:rPr>
                        <m:t>.2749,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𝑋</m:t>
                          </m:r>
                        </m:sub>
                      </m:sSub>
                      <m:r>
                        <a:rPr lang="en-US" altLang="zh-CN" i="1">
                          <a:latin typeface="Cambria Math" panose="02040503050406030204" pitchFamily="18" charset="0"/>
                        </a:rPr>
                        <m:t>=−0.2777</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𝑌</m:t>
                      </m:r>
                      <m:r>
                        <a:rPr lang="zh-CN" altLang="en-US" i="1">
                          <a:latin typeface="Cambria Math" panose="02040503050406030204" pitchFamily="18" charset="0"/>
                        </a:rPr>
                        <m:t>基：</m:t>
                      </m:r>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𝑌</m:t>
                          </m:r>
                        </m:sub>
                      </m:sSub>
                      <m:r>
                        <a:rPr lang="en-US" altLang="zh-CN" i="1">
                          <a:latin typeface="Cambria Math" panose="02040503050406030204" pitchFamily="18" charset="0"/>
                        </a:rPr>
                        <m:t>=</m:t>
                      </m:r>
                      <m:r>
                        <a:rPr lang="en-US" altLang="zh-CN" b="0" i="1" smtClean="0">
                          <a:latin typeface="Cambria Math" panose="02040503050406030204" pitchFamily="18" charset="0"/>
                        </a:rPr>
                        <m:t>−1.7400</m:t>
                      </m:r>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b="0" i="1" smtClean="0">
                              <a:latin typeface="Cambria Math" panose="02040503050406030204" pitchFamily="18" charset="0"/>
                            </a:rPr>
                            <m:t>𝑌</m:t>
                          </m:r>
                        </m:sub>
                      </m:sSub>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2.7677</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𝑍</m:t>
                      </m:r>
                      <m:r>
                        <a:rPr lang="zh-CN" altLang="en-US" i="1">
                          <a:latin typeface="Cambria Math" panose="02040503050406030204" pitchFamily="18" charset="0"/>
                        </a:rPr>
                        <m:t>基：</m:t>
                      </m:r>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𝑍</m:t>
                          </m:r>
                        </m:sub>
                      </m:sSub>
                      <m:r>
                        <a:rPr lang="en-US" altLang="zh-CN"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.74</m:t>
                      </m:r>
                      <m:r>
                        <a:rPr lang="en-US" altLang="zh-CN" b="0" i="1" smtClean="0">
                          <a:latin typeface="Cambria Math" panose="02040503050406030204" pitchFamily="18" charset="0"/>
                        </a:rPr>
                        <m:t>3</m:t>
                      </m:r>
                      <m:r>
                        <a:rPr lang="en-US" altLang="zh-CN" i="1">
                          <a:latin typeface="Cambria Math" panose="02040503050406030204" pitchFamily="18" charset="0"/>
                        </a:rPr>
                        <m:t>0,  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b="0" i="1" smtClean="0">
                              <a:latin typeface="Cambria Math" panose="02040503050406030204" pitchFamily="18" charset="0"/>
                            </a:rPr>
                            <m:t>𝑍</m:t>
                          </m:r>
                        </m:sub>
                      </m:sSub>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0.1408</m:t>
                      </m:r>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进一步的，我们可以用转换矩阵算出</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基在</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色彩空间中的坐标：</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𝑅</m:t>
                              </m:r>
                            </m:e>
                            <m:e>
                              <m:r>
                                <a:rPr lang="en-US" altLang="zh-CN" b="0" i="1" smtClean="0">
                                  <a:latin typeface="Cambria Math" panose="02040503050406030204" pitchFamily="18" charset="0"/>
                                </a:rPr>
                                <m:t>𝐺</m:t>
                              </m:r>
                            </m:e>
                            <m:e>
                              <m:r>
                                <a:rPr lang="en-US" altLang="zh-CN" b="0" i="1" smtClean="0">
                                  <a:latin typeface="Cambria Math" panose="02040503050406030204" pitchFamily="18" charset="0"/>
                                </a:rPr>
                                <m:t>𝐵</m:t>
                              </m:r>
                            </m:e>
                          </m:eqAr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b="0" i="1" smtClean="0">
                              <a:latin typeface="Cambria Math" panose="02040503050406030204" pitchFamily="18" charset="0"/>
                            </a:rPr>
                            <m:t>−1</m:t>
                          </m:r>
                        </m:sup>
                      </m:sSup>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𝑋</m:t>
                              </m:r>
                            </m:e>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𝑍</m:t>
                              </m:r>
                            </m:e>
                          </m:eqArr>
                        </m:e>
                      </m:d>
                      <m:r>
                        <a:rPr lang="en-US" altLang="zh-CN" b="0" i="1" smtClean="0">
                          <a:latin typeface="Cambria Math" panose="02040503050406030204" pitchFamily="18" charset="0"/>
                        </a:rPr>
                        <m:t>,  </m:t>
                      </m:r>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−1</m:t>
                          </m:r>
                        </m:sup>
                      </m:sSup>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m:rPr>
                                        <m:brk m:alnAt="7"/>
                                      </m:rPr>
                                      <a:rPr lang="en-US" altLang="zh-CN" i="1">
                                        <a:latin typeface="Cambria Math" panose="02040503050406030204" pitchFamily="18" charset="0"/>
                                      </a:rPr>
                                      <m:t>1</m:t>
                                    </m:r>
                                    <m:r>
                                      <a:rPr lang="en-US" altLang="zh-CN" i="1">
                                        <a:latin typeface="Cambria Math" panose="02040503050406030204" pitchFamily="18" charset="0"/>
                                      </a:rPr>
                                      <m:t>1</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12</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13</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21</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22</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23</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31</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32</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33</m:t>
                                    </m:r>
                                  </m:sub>
                                </m:sSub>
                              </m:e>
                            </m:mr>
                          </m:m>
                        </m:e>
                      </m:d>
                    </m:oMath>
                  </m:oMathPara>
                </a14:m>
                <a:endParaRPr lang="en-US" altLang="zh-CN" b="0" i="1" dirty="0">
                  <a:latin typeface="Cambria Math" panose="02040503050406030204" pitchFamily="18" charset="0"/>
                  <a:ea typeface="Noto Sans SC" panose="020B0200000000000000" pitchFamily="34" charset="-122"/>
                </a:endParaRPr>
              </a:p>
              <a:p>
                <a:pPr algn="just"/>
                <a:endParaRPr lang="en-US" altLang="zh-CN" b="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dirty="0">
                          <a:latin typeface="Cambria Math" panose="02040503050406030204" pitchFamily="18" charset="0"/>
                        </a:rPr>
                        <m:t>𝑋</m:t>
                      </m:r>
                      <m:r>
                        <a:rPr lang="zh-CN" altLang="en-US" b="0" i="1" dirty="0" smtClean="0">
                          <a:latin typeface="Cambria Math" panose="02040503050406030204" pitchFamily="18" charset="0"/>
                        </a:rPr>
                        <m:t>基</m:t>
                      </m:r>
                      <m:r>
                        <a:rPr lang="zh-CN" altLang="en-US" i="1" dirty="0">
                          <a:latin typeface="Cambria Math" panose="02040503050406030204" pitchFamily="18" charset="0"/>
                        </a:rPr>
                        <m:t>：</m:t>
                      </m:r>
                      <m:r>
                        <a:rPr lang="en-US" altLang="zh-CN" b="0" i="1" dirty="0" smtClean="0">
                          <a:latin typeface="Cambria Math" panose="02040503050406030204" pitchFamily="18" charset="0"/>
                        </a:rPr>
                        <m:t>     </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31</m:t>
                              </m:r>
                            </m:sub>
                          </m:sSub>
                        </m:e>
                      </m:d>
                    </m:oMath>
                  </m:oMathPara>
                </a14:m>
                <a:endParaRPr lang="en-US" altLang="zh-CN" b="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𝑌</m:t>
                      </m:r>
                      <m:r>
                        <a:rPr lang="zh-CN" altLang="en-US" i="1" dirty="0">
                          <a:latin typeface="Cambria Math" panose="02040503050406030204" pitchFamily="18" charset="0"/>
                        </a:rPr>
                        <m:t>基：</m:t>
                      </m:r>
                      <m:r>
                        <a:rPr lang="en-US" altLang="zh-CN" b="0" i="1" dirty="0" smtClean="0">
                          <a:latin typeface="Cambria Math" panose="02040503050406030204" pitchFamily="18" charset="0"/>
                        </a:rPr>
                        <m:t>     </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r>
                                <a:rPr lang="en-US" altLang="zh-CN" b="0" i="1" smtClean="0">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r>
                                <a:rPr lang="en-US" altLang="zh-CN" b="0" i="1" smtClean="0">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m:t>
                              </m:r>
                              <m:r>
                                <a:rPr lang="en-US" altLang="zh-CN" b="0" i="1" smtClean="0">
                                  <a:latin typeface="Cambria Math" panose="02040503050406030204" pitchFamily="18" charset="0"/>
                                </a:rPr>
                                <m:t>2</m:t>
                              </m:r>
                            </m:sub>
                          </m:sSub>
                        </m:e>
                      </m:d>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𝑍</m:t>
                      </m:r>
                      <m:r>
                        <a:rPr lang="zh-CN" altLang="en-US" i="1" dirty="0">
                          <a:latin typeface="Cambria Math" panose="02040503050406030204" pitchFamily="18" charset="0"/>
                        </a:rPr>
                        <m:t>基：</m:t>
                      </m:r>
                      <m:r>
                        <a:rPr lang="en-US" altLang="zh-CN" b="0" i="1" dirty="0" smtClean="0">
                          <a:latin typeface="Cambria Math" panose="02040503050406030204" pitchFamily="18" charset="0"/>
                        </a:rPr>
                        <m:t>     </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r>
                                <a:rPr lang="en-US" altLang="zh-CN" b="0" i="1" smtClean="0">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r>
                                <a:rPr lang="en-US" altLang="zh-CN" b="0" i="1" smtClean="0">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m:t>
                              </m:r>
                              <m:r>
                                <a:rPr lang="en-US" altLang="zh-CN" b="0" i="1" smtClean="0">
                                  <a:latin typeface="Cambria Math" panose="02040503050406030204" pitchFamily="18" charset="0"/>
                                </a:rPr>
                                <m:t>3</m:t>
                              </m:r>
                            </m:sub>
                          </m:sSub>
                        </m:e>
                      </m:d>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1D9D649D-89E1-C3A6-03EA-18B2D90AF87C}"/>
                  </a:ext>
                </a:extLst>
              </p:cNvPr>
              <p:cNvSpPr txBox="1">
                <a:spLocks noRot="1" noChangeAspect="1" noMove="1" noResize="1" noEditPoints="1" noAdjustHandles="1" noChangeArrowheads="1" noChangeShapeType="1" noTextEdit="1"/>
              </p:cNvSpPr>
              <p:nvPr/>
            </p:nvSpPr>
            <p:spPr>
              <a:xfrm>
                <a:off x="263048" y="1918867"/>
                <a:ext cx="6472437" cy="4706673"/>
              </a:xfrm>
              <a:prstGeom prst="rect">
                <a:avLst/>
              </a:prstGeom>
              <a:blipFill>
                <a:blip r:embed="rId2"/>
                <a:stretch>
                  <a:fillRect l="-753" t="-777" r="-847" b="-1425"/>
                </a:stretch>
              </a:blipFill>
            </p:spPr>
            <p:txBody>
              <a:bodyPr/>
              <a:lstStyle/>
              <a:p>
                <a:r>
                  <a:rPr lang="zh-CN" altLang="en-US">
                    <a:noFill/>
                  </a:rPr>
                  <a:t> </a:t>
                </a:r>
              </a:p>
            </p:txBody>
          </p:sp>
        </mc:Fallback>
      </mc:AlternateContent>
      <p:grpSp>
        <p:nvGrpSpPr>
          <p:cNvPr id="30" name="组合 29">
            <a:extLst>
              <a:ext uri="{FF2B5EF4-FFF2-40B4-BE49-F238E27FC236}">
                <a16:creationId xmlns:a16="http://schemas.microsoft.com/office/drawing/2014/main" id="{1EC00661-18C4-3A9C-0A70-FDD1696BC434}"/>
              </a:ext>
            </a:extLst>
          </p:cNvPr>
          <p:cNvGrpSpPr/>
          <p:nvPr/>
        </p:nvGrpSpPr>
        <p:grpSpPr>
          <a:xfrm>
            <a:off x="6915150" y="1405676"/>
            <a:ext cx="5080000" cy="5208198"/>
            <a:chOff x="7112000" y="1688325"/>
            <a:chExt cx="5080000" cy="5208198"/>
          </a:xfrm>
        </p:grpSpPr>
        <p:grpSp>
          <p:nvGrpSpPr>
            <p:cNvPr id="8" name="组合 7">
              <a:extLst>
                <a:ext uri="{FF2B5EF4-FFF2-40B4-BE49-F238E27FC236}">
                  <a16:creationId xmlns:a16="http://schemas.microsoft.com/office/drawing/2014/main" id="{1F85FDE5-9A84-04C3-E621-E04F38FF8B97}"/>
                </a:ext>
              </a:extLst>
            </p:cNvPr>
            <p:cNvGrpSpPr/>
            <p:nvPr/>
          </p:nvGrpSpPr>
          <p:grpSpPr>
            <a:xfrm>
              <a:off x="7590454" y="2983667"/>
              <a:ext cx="4426209" cy="3499916"/>
              <a:chOff x="6935303" y="2015749"/>
              <a:chExt cx="5256697" cy="4156604"/>
            </a:xfrm>
          </p:grpSpPr>
          <p:pic>
            <p:nvPicPr>
              <p:cNvPr id="11" name="图片 10">
                <a:extLst>
                  <a:ext uri="{FF2B5EF4-FFF2-40B4-BE49-F238E27FC236}">
                    <a16:creationId xmlns:a16="http://schemas.microsoft.com/office/drawing/2014/main" id="{38189C8B-5FEA-9371-F8CF-0ACB69FFDFAB}"/>
                  </a:ext>
                </a:extLst>
              </p:cNvPr>
              <p:cNvPicPr>
                <a:picLocks noChangeAspect="1"/>
              </p:cNvPicPr>
              <p:nvPr/>
            </p:nvPicPr>
            <p:blipFill>
              <a:blip r:embed="rId3"/>
              <a:stretch>
                <a:fillRect/>
              </a:stretch>
            </p:blipFill>
            <p:spPr>
              <a:xfrm>
                <a:off x="6935303" y="2015749"/>
                <a:ext cx="5256697" cy="4156604"/>
              </a:xfrm>
              <a:prstGeom prst="rect">
                <a:avLst/>
              </a:prstGeom>
            </p:spPr>
          </p:pic>
          <p:sp>
            <p:nvSpPr>
              <p:cNvPr id="12" name="椭圆 11">
                <a:extLst>
                  <a:ext uri="{FF2B5EF4-FFF2-40B4-BE49-F238E27FC236}">
                    <a16:creationId xmlns:a16="http://schemas.microsoft.com/office/drawing/2014/main" id="{FEF3115B-C75A-D797-3D29-4537E613202A}"/>
                  </a:ext>
                </a:extLst>
              </p:cNvPr>
              <p:cNvSpPr/>
              <p:nvPr/>
            </p:nvSpPr>
            <p:spPr>
              <a:xfrm>
                <a:off x="11663683" y="5670478"/>
                <a:ext cx="92452" cy="9245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3" name="椭圆 12">
                <a:extLst>
                  <a:ext uri="{FF2B5EF4-FFF2-40B4-BE49-F238E27FC236}">
                    <a16:creationId xmlns:a16="http://schemas.microsoft.com/office/drawing/2014/main" id="{0C2B9464-7E2F-278B-DE1C-223B7972944A}"/>
                  </a:ext>
                </a:extLst>
              </p:cNvPr>
              <p:cNvSpPr/>
              <p:nvPr/>
            </p:nvSpPr>
            <p:spPr>
              <a:xfrm>
                <a:off x="9801559" y="5660971"/>
                <a:ext cx="92452" cy="92452"/>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4" name="椭圆 13">
                <a:extLst>
                  <a:ext uri="{FF2B5EF4-FFF2-40B4-BE49-F238E27FC236}">
                    <a16:creationId xmlns:a16="http://schemas.microsoft.com/office/drawing/2014/main" id="{483050BB-0B6D-96CB-9485-8AB01F786B8F}"/>
                  </a:ext>
                </a:extLst>
              </p:cNvPr>
              <p:cNvSpPr/>
              <p:nvPr/>
            </p:nvSpPr>
            <p:spPr>
              <a:xfrm>
                <a:off x="9821643" y="3916958"/>
                <a:ext cx="92452" cy="92452"/>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cxnSp>
            <p:nvCxnSpPr>
              <p:cNvPr id="15" name="直接连接符 14">
                <a:extLst>
                  <a:ext uri="{FF2B5EF4-FFF2-40B4-BE49-F238E27FC236}">
                    <a16:creationId xmlns:a16="http://schemas.microsoft.com/office/drawing/2014/main" id="{0641C7ED-6436-F876-B8A3-3D4ECE1C207D}"/>
                  </a:ext>
                </a:extLst>
              </p:cNvPr>
              <p:cNvCxnSpPr>
                <a:cxnSpLocks/>
              </p:cNvCxnSpPr>
              <p:nvPr/>
            </p:nvCxnSpPr>
            <p:spPr>
              <a:xfrm flipH="1" flipV="1">
                <a:off x="9835215" y="5712762"/>
                <a:ext cx="1866742" cy="9535"/>
              </a:xfrm>
              <a:prstGeom prst="line">
                <a:avLst/>
              </a:prstGeom>
              <a:ln w="12700">
                <a:gradFill flip="none" rotWithShape="1">
                  <a:gsLst>
                    <a:gs pos="0">
                      <a:srgbClr val="00B0F0"/>
                    </a:gs>
                    <a:gs pos="100000">
                      <a:srgbClr val="FF0000"/>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240B63C-C243-6EDC-8D61-3589E45073BC}"/>
                  </a:ext>
                </a:extLst>
              </p:cNvPr>
              <p:cNvCxnSpPr>
                <a:cxnSpLocks/>
              </p:cNvCxnSpPr>
              <p:nvPr/>
            </p:nvCxnSpPr>
            <p:spPr>
              <a:xfrm flipH="1">
                <a:off x="9850469" y="3960427"/>
                <a:ext cx="19067" cy="1748521"/>
              </a:xfrm>
              <a:prstGeom prst="line">
                <a:avLst/>
              </a:prstGeom>
              <a:ln w="12700">
                <a:gradFill>
                  <a:gsLst>
                    <a:gs pos="0">
                      <a:srgbClr val="00B050"/>
                    </a:gs>
                    <a:gs pos="100000">
                      <a:srgbClr val="00B0F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86B17E3-4724-8D8F-3594-3AB56E5DF797}"/>
                  </a:ext>
                </a:extLst>
              </p:cNvPr>
              <p:cNvCxnSpPr>
                <a:cxnSpLocks/>
              </p:cNvCxnSpPr>
              <p:nvPr/>
            </p:nvCxnSpPr>
            <p:spPr>
              <a:xfrm>
                <a:off x="9869537" y="3960427"/>
                <a:ext cx="1830513" cy="1752335"/>
              </a:xfrm>
              <a:prstGeom prst="line">
                <a:avLst/>
              </a:prstGeom>
              <a:ln w="12700">
                <a:gradFill>
                  <a:gsLst>
                    <a:gs pos="100000">
                      <a:srgbClr val="FF0000"/>
                    </a:gs>
                    <a:gs pos="0">
                      <a:srgbClr val="00B050"/>
                    </a:gs>
                  </a:gsLst>
                  <a:lin ang="5400000" scaled="1"/>
                </a:gradFill>
              </a:ln>
            </p:spPr>
            <p:style>
              <a:lnRef idx="1">
                <a:schemeClr val="accent1"/>
              </a:lnRef>
              <a:fillRef idx="0">
                <a:schemeClr val="accent1"/>
              </a:fillRef>
              <a:effectRef idx="0">
                <a:schemeClr val="accent1"/>
              </a:effectRef>
              <a:fontRef idx="minor">
                <a:schemeClr val="tx1"/>
              </a:fontRef>
            </p:style>
          </p:cxnSp>
        </p:grpSp>
        <p:cxnSp>
          <p:nvCxnSpPr>
            <p:cNvPr id="9" name="直接连接符 8">
              <a:extLst>
                <a:ext uri="{FF2B5EF4-FFF2-40B4-BE49-F238E27FC236}">
                  <a16:creationId xmlns:a16="http://schemas.microsoft.com/office/drawing/2014/main" id="{81C0FFFA-F217-9730-94C7-C8D49CC5A1B2}"/>
                </a:ext>
              </a:extLst>
            </p:cNvPr>
            <p:cNvCxnSpPr>
              <a:cxnSpLocks/>
            </p:cNvCxnSpPr>
            <p:nvPr/>
          </p:nvCxnSpPr>
          <p:spPr>
            <a:xfrm>
              <a:off x="7706155" y="5639533"/>
              <a:ext cx="4485845" cy="88765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E7ADC40-4EB3-B756-69C8-4551B90E3B94}"/>
                </a:ext>
              </a:extLst>
            </p:cNvPr>
            <p:cNvSpPr txBox="1"/>
            <p:nvPr/>
          </p:nvSpPr>
          <p:spPr>
            <a:xfrm>
              <a:off x="10515601" y="6527191"/>
              <a:ext cx="1594204" cy="369332"/>
            </a:xfrm>
            <a:prstGeom prst="rect">
              <a:avLst/>
            </a:prstGeom>
            <a:noFill/>
          </p:spPr>
          <p:txBody>
            <a:bodyPr wrap="square">
              <a:spAutoFit/>
            </a:bodyPr>
            <a:lstStyle/>
            <a:p>
              <a:pPr algn="ctr"/>
              <a:r>
                <a:rPr lang="en-US" altLang="zh-CN" b="1" dirty="0">
                  <a:solidFill>
                    <a:schemeClr val="tx2"/>
                  </a:solidFill>
                  <a:latin typeface="Noto Sans SC" panose="020B0200000000000000" pitchFamily="34" charset="-122"/>
                  <a:ea typeface="Noto Sans SC" panose="020B0200000000000000" pitchFamily="34" charset="-122"/>
                </a:rPr>
                <a:t>a</a:t>
              </a:r>
              <a:r>
                <a:rPr lang="zh-CN" altLang="zh-CN" b="1" dirty="0">
                  <a:solidFill>
                    <a:schemeClr val="tx2"/>
                  </a:solidFill>
                  <a:latin typeface="Noto Sans SC" panose="020B0200000000000000" pitchFamily="34" charset="-122"/>
                  <a:ea typeface="Noto Sans SC" panose="020B0200000000000000" pitchFamily="34" charset="-122"/>
                </a:rPr>
                <a:t>lychne</a:t>
              </a:r>
              <a:r>
                <a:rPr lang="en-US" altLang="zh-CN" b="1" dirty="0">
                  <a:solidFill>
                    <a:schemeClr val="tx2"/>
                  </a:solidFill>
                  <a:latin typeface="Noto Sans SC" panose="020B0200000000000000" pitchFamily="34" charset="-122"/>
                  <a:ea typeface="Noto Sans SC" panose="020B0200000000000000" pitchFamily="34" charset="-122"/>
                </a:rPr>
                <a:t>/XZ</a:t>
              </a:r>
              <a:endParaRPr lang="zh-CN" altLang="en-US" b="1" dirty="0">
                <a:solidFill>
                  <a:schemeClr val="tx2"/>
                </a:solidFill>
                <a:latin typeface="Noto Sans SC" panose="020B0200000000000000" pitchFamily="34" charset="-122"/>
                <a:ea typeface="Noto Sans SC" panose="020B0200000000000000" pitchFamily="34" charset="-122"/>
              </a:endParaRPr>
            </a:p>
          </p:txBody>
        </p:sp>
        <p:cxnSp>
          <p:nvCxnSpPr>
            <p:cNvPr id="29" name="直接连接符 28">
              <a:extLst>
                <a:ext uri="{FF2B5EF4-FFF2-40B4-BE49-F238E27FC236}">
                  <a16:creationId xmlns:a16="http://schemas.microsoft.com/office/drawing/2014/main" id="{E3E48E67-FDD2-81BC-1380-A719C1587EA7}"/>
                </a:ext>
              </a:extLst>
            </p:cNvPr>
            <p:cNvCxnSpPr>
              <a:cxnSpLocks/>
            </p:cNvCxnSpPr>
            <p:nvPr/>
          </p:nvCxnSpPr>
          <p:spPr>
            <a:xfrm>
              <a:off x="7112000" y="1768302"/>
              <a:ext cx="5048074" cy="4861861"/>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863F7239-A32E-3340-2299-BD89CE5AB250}"/>
                </a:ext>
              </a:extLst>
            </p:cNvPr>
            <p:cNvSpPr txBox="1"/>
            <p:nvPr/>
          </p:nvSpPr>
          <p:spPr>
            <a:xfrm>
              <a:off x="9802388" y="4354324"/>
              <a:ext cx="1426425" cy="369332"/>
            </a:xfrm>
            <a:prstGeom prst="rect">
              <a:avLst/>
            </a:prstGeom>
            <a:noFill/>
          </p:spPr>
          <p:txBody>
            <a:bodyPr wrap="square">
              <a:spAutoFit/>
            </a:bodyPr>
            <a:lstStyle/>
            <a:p>
              <a:pPr algn="ctr"/>
              <a:r>
                <a:rPr lang="en-US" altLang="zh-CN" b="1" dirty="0">
                  <a:solidFill>
                    <a:schemeClr val="tx2"/>
                  </a:solidFill>
                  <a:latin typeface="Noto Sans SC" panose="020B0200000000000000" pitchFamily="34" charset="-122"/>
                  <a:ea typeface="Noto Sans SC" panose="020B0200000000000000" pitchFamily="34" charset="-122"/>
                </a:rPr>
                <a:t>XY</a:t>
              </a:r>
              <a:endParaRPr lang="zh-CN" altLang="en-US" b="1" dirty="0">
                <a:solidFill>
                  <a:schemeClr val="tx2"/>
                </a:solidFill>
                <a:latin typeface="Noto Sans SC" panose="020B0200000000000000" pitchFamily="34" charset="-122"/>
                <a:ea typeface="Noto Sans SC" panose="020B0200000000000000" pitchFamily="34" charset="-122"/>
              </a:endParaRPr>
            </a:p>
          </p:txBody>
        </p:sp>
        <p:cxnSp>
          <p:nvCxnSpPr>
            <p:cNvPr id="3" name="直接连接符 2">
              <a:extLst>
                <a:ext uri="{FF2B5EF4-FFF2-40B4-BE49-F238E27FC236}">
                  <a16:creationId xmlns:a16="http://schemas.microsoft.com/office/drawing/2014/main" id="{65AF9184-5775-2747-8F82-D099FB68A63D}"/>
                </a:ext>
              </a:extLst>
            </p:cNvPr>
            <p:cNvCxnSpPr>
              <a:cxnSpLocks/>
            </p:cNvCxnSpPr>
            <p:nvPr/>
          </p:nvCxnSpPr>
          <p:spPr>
            <a:xfrm>
              <a:off x="7283450" y="1688325"/>
              <a:ext cx="1855372" cy="4712475"/>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3B3D21C3-79AF-7CBF-00DD-CAEB1777989D}"/>
                </a:ext>
              </a:extLst>
            </p:cNvPr>
            <p:cNvSpPr txBox="1"/>
            <p:nvPr/>
          </p:nvSpPr>
          <p:spPr>
            <a:xfrm>
              <a:off x="7206299" y="4276986"/>
              <a:ext cx="1426425" cy="369332"/>
            </a:xfrm>
            <a:prstGeom prst="rect">
              <a:avLst/>
            </a:prstGeom>
            <a:noFill/>
          </p:spPr>
          <p:txBody>
            <a:bodyPr wrap="square">
              <a:spAutoFit/>
            </a:bodyPr>
            <a:lstStyle/>
            <a:p>
              <a:pPr algn="ctr"/>
              <a:r>
                <a:rPr lang="en-US" altLang="zh-CN" b="1" dirty="0">
                  <a:solidFill>
                    <a:schemeClr val="tx2"/>
                  </a:solidFill>
                  <a:latin typeface="Noto Sans SC" panose="020B0200000000000000" pitchFamily="34" charset="-122"/>
                  <a:ea typeface="Noto Sans SC" panose="020B0200000000000000" pitchFamily="34" charset="-122"/>
                </a:rPr>
                <a:t>YZ</a:t>
              </a:r>
              <a:endParaRPr lang="zh-CN" altLang="en-US" b="1" dirty="0">
                <a:solidFill>
                  <a:schemeClr val="tx2"/>
                </a:solidFill>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12024580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C06E6-13E5-B42D-E1CC-1BBE0FAB647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57D41AE-1CFD-2CA5-533E-6182697C18DD}"/>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AE11D98B-1DE1-7A06-4048-82EE41F48379}"/>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DB05329-42AA-7D7E-28A0-462E91666F87}"/>
                  </a:ext>
                </a:extLst>
              </p:cNvPr>
              <p:cNvSpPr txBox="1"/>
              <p:nvPr/>
            </p:nvSpPr>
            <p:spPr>
              <a:xfrm>
                <a:off x="327034" y="1964074"/>
                <a:ext cx="6264752" cy="924869"/>
              </a:xfrm>
              <a:prstGeom prst="rect">
                <a:avLst/>
              </a:prstGeom>
              <a:noFill/>
            </p:spPr>
            <p:txBody>
              <a:bodyPr wrap="square" rtlCol="0">
                <a:spAutoFit/>
              </a:bodyPr>
              <a:lstStyle/>
              <a:p>
                <a:pPr algn="just"/>
                <a14:m>
                  <m:oMathPara xmlns:m="http://schemas.openxmlformats.org/officeDocument/2006/math">
                    <m:oMathParaPr>
                      <m:jc m:val="center"/>
                    </m:oMathParaPr>
                    <m:oMath xmlns:m="http://schemas.openxmlformats.org/officeDocument/2006/math">
                      <m:r>
                        <a:rPr lang="en-US" altLang="zh-CN" i="1" smtClean="0">
                          <a:latin typeface="Cambria Math" panose="02040503050406030204" pitchFamily="18" charset="0"/>
                        </a:rPr>
                        <m:t>𝑋</m:t>
                      </m:r>
                      <m:r>
                        <a:rPr lang="zh-CN" altLang="en-US" i="1">
                          <a:latin typeface="Cambria Math" panose="02040503050406030204" pitchFamily="18" charset="0"/>
                        </a:rPr>
                        <m:t>基：</m:t>
                      </m:r>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𝑋</m:t>
                          </m:r>
                        </m:sub>
                      </m:sSub>
                      <m:r>
                        <a:rPr lang="en-US" altLang="zh-CN" i="1">
                          <a:latin typeface="Cambria Math" panose="02040503050406030204" pitchFamily="18" charset="0"/>
                        </a:rPr>
                        <m:t>=</m:t>
                      </m:r>
                      <m:r>
                        <a:rPr lang="en-US" altLang="zh-CN" b="0" i="1" smtClean="0">
                          <a:latin typeface="Cambria Math" panose="02040503050406030204" pitchFamily="18" charset="0"/>
                        </a:rPr>
                        <m:t>   1</m:t>
                      </m:r>
                      <m:r>
                        <a:rPr lang="en-US" altLang="zh-CN" i="1">
                          <a:latin typeface="Cambria Math" panose="02040503050406030204" pitchFamily="18" charset="0"/>
                        </a:rPr>
                        <m:t>.2749,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i="1">
                              <a:latin typeface="Cambria Math" panose="02040503050406030204" pitchFamily="18" charset="0"/>
                            </a:rPr>
                            <m:t>𝑋</m:t>
                          </m:r>
                        </m:sub>
                      </m:sSub>
                      <m:r>
                        <a:rPr lang="en-US" altLang="zh-CN" i="1">
                          <a:latin typeface="Cambria Math" panose="02040503050406030204" pitchFamily="18" charset="0"/>
                        </a:rPr>
                        <m:t>=−0.2777</m:t>
                      </m:r>
                      <m:r>
                        <a:rPr lang="en-US" altLang="zh-CN" b="0" i="1" smtClean="0">
                          <a:latin typeface="Cambria Math" panose="02040503050406030204" pitchFamily="18" charset="0"/>
                        </a:rPr>
                        <m:t>,  </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31</m:t>
                              </m:r>
                            </m:sub>
                          </m:sSub>
                        </m:e>
                      </m:d>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𝑌</m:t>
                      </m:r>
                      <m:r>
                        <a:rPr lang="zh-CN" altLang="en-US" i="1">
                          <a:latin typeface="Cambria Math" panose="02040503050406030204" pitchFamily="18" charset="0"/>
                        </a:rPr>
                        <m:t>基：</m:t>
                      </m:r>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𝑌</m:t>
                          </m:r>
                        </m:sub>
                      </m:sSub>
                      <m:r>
                        <a:rPr lang="en-US" altLang="zh-CN" i="1">
                          <a:latin typeface="Cambria Math" panose="02040503050406030204" pitchFamily="18" charset="0"/>
                        </a:rPr>
                        <m:t>=</m:t>
                      </m:r>
                      <m:r>
                        <a:rPr lang="en-US" altLang="zh-CN" b="0" i="1" smtClean="0">
                          <a:latin typeface="Cambria Math" panose="02040503050406030204" pitchFamily="18" charset="0"/>
                        </a:rPr>
                        <m:t>−1.7400</m:t>
                      </m:r>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b="0" i="1" smtClean="0">
                              <a:latin typeface="Cambria Math" panose="02040503050406030204" pitchFamily="18" charset="0"/>
                            </a:rPr>
                            <m:t>𝑌</m:t>
                          </m:r>
                        </m:sub>
                      </m:sSub>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2.7677</m:t>
                      </m:r>
                      <m:r>
                        <a:rPr lang="en-US" altLang="zh-CN" b="0" i="1" smtClean="0">
                          <a:latin typeface="Cambria Math" panose="02040503050406030204" pitchFamily="18" charset="0"/>
                        </a:rPr>
                        <m:t>,  </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32</m:t>
                              </m:r>
                            </m:sub>
                          </m:sSub>
                        </m:e>
                      </m:d>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𝑍</m:t>
                      </m:r>
                      <m:r>
                        <a:rPr lang="zh-CN" altLang="en-US" i="1">
                          <a:latin typeface="Cambria Math" panose="02040503050406030204" pitchFamily="18" charset="0"/>
                        </a:rPr>
                        <m:t>基：</m:t>
                      </m:r>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𝑍</m:t>
                          </m:r>
                        </m:sub>
                      </m:sSub>
                      <m:r>
                        <a:rPr lang="en-US" altLang="zh-CN"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.74</m:t>
                      </m:r>
                      <m:r>
                        <a:rPr lang="en-US" altLang="zh-CN" b="0" i="1" smtClean="0">
                          <a:latin typeface="Cambria Math" panose="02040503050406030204" pitchFamily="18" charset="0"/>
                        </a:rPr>
                        <m:t>3</m:t>
                      </m:r>
                      <m:r>
                        <a:rPr lang="en-US" altLang="zh-CN" i="1">
                          <a:latin typeface="Cambria Math" panose="02040503050406030204" pitchFamily="18" charset="0"/>
                        </a:rPr>
                        <m:t>0,  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𝑔</m:t>
                          </m:r>
                        </m:e>
                        <m:sub>
                          <m:r>
                            <a:rPr lang="en-US" altLang="zh-CN" b="0" i="1" smtClean="0">
                              <a:latin typeface="Cambria Math" panose="02040503050406030204" pitchFamily="18" charset="0"/>
                            </a:rPr>
                            <m:t>𝑍</m:t>
                          </m:r>
                        </m:sub>
                      </m:sSub>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0.1408</m:t>
                      </m:r>
                      <m:r>
                        <a:rPr lang="en-US" altLang="zh-CN" b="0" i="1" smtClean="0">
                          <a:latin typeface="Cambria Math" panose="02040503050406030204" pitchFamily="18" charset="0"/>
                        </a:rPr>
                        <m:t>,  </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33</m:t>
                              </m:r>
                            </m:sub>
                          </m:sSub>
                        </m:e>
                      </m:d>
                    </m:oMath>
                  </m:oMathPara>
                </a14:m>
                <a:endParaRPr lang="en-US" altLang="zh-CN" b="0" i="1" dirty="0">
                  <a:latin typeface="Cambria Math" panose="02040503050406030204" pitchFamily="18" charset="0"/>
                  <a:ea typeface="Noto Sans SC" panose="020B0200000000000000" pitchFamily="34" charset="-122"/>
                </a:endParaRPr>
              </a:p>
            </p:txBody>
          </p:sp>
        </mc:Choice>
        <mc:Fallback xmlns="">
          <p:sp>
            <p:nvSpPr>
              <p:cNvPr id="2" name="文本框 1">
                <a:extLst>
                  <a:ext uri="{FF2B5EF4-FFF2-40B4-BE49-F238E27FC236}">
                    <a16:creationId xmlns:a16="http://schemas.microsoft.com/office/drawing/2014/main" id="{6DB05329-42AA-7D7E-28A0-462E91666F87}"/>
                  </a:ext>
                </a:extLst>
              </p:cNvPr>
              <p:cNvSpPr txBox="1">
                <a:spLocks noRot="1" noChangeAspect="1" noMove="1" noResize="1" noEditPoints="1" noAdjustHandles="1" noChangeArrowheads="1" noChangeShapeType="1" noTextEdit="1"/>
              </p:cNvSpPr>
              <p:nvPr/>
            </p:nvSpPr>
            <p:spPr>
              <a:xfrm>
                <a:off x="327034" y="1964074"/>
                <a:ext cx="6264752" cy="924869"/>
              </a:xfrm>
              <a:prstGeom prst="rect">
                <a:avLst/>
              </a:prstGeom>
              <a:blipFill>
                <a:blip r:embed="rId2"/>
                <a:stretch>
                  <a:fillRect t="-2632" r="-1168" b="-98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7134250-32D5-E4D0-E355-590FDE7F8847}"/>
                  </a:ext>
                </a:extLst>
              </p:cNvPr>
              <p:cNvSpPr txBox="1"/>
              <p:nvPr/>
            </p:nvSpPr>
            <p:spPr>
              <a:xfrm>
                <a:off x="327033" y="3110766"/>
                <a:ext cx="10999935" cy="3594638"/>
              </a:xfrm>
              <a:prstGeom prst="rect">
                <a:avLst/>
              </a:prstGeom>
              <a:noFill/>
            </p:spPr>
            <p:txBody>
              <a:bodyPr wrap="square">
                <a:spAutoFit/>
              </a:bodyPr>
              <a:lstStyle/>
              <a:p>
                <a:pPr algn="just"/>
                <a:r>
                  <a:rPr lang="zh-CN" altLang="en-US" sz="1800" dirty="0">
                    <a:latin typeface="Noto Sans SC" panose="020B0200000000000000" pitchFamily="34" charset="-122"/>
                    <a:ea typeface="Noto Sans SC" panose="020B0200000000000000" pitchFamily="34" charset="-122"/>
                  </a:rPr>
                  <a:t>         得到了</a:t>
                </a:r>
                <a:r>
                  <a:rPr lang="en-US" altLang="zh-CN" sz="1800" dirty="0">
                    <a:latin typeface="Noto Sans SC" panose="020B0200000000000000" pitchFamily="34" charset="-122"/>
                    <a:ea typeface="Noto Sans SC" panose="020B0200000000000000" pitchFamily="34" charset="-122"/>
                  </a:rPr>
                  <a:t>XYZ</a:t>
                </a:r>
                <a:r>
                  <a:rPr lang="zh-CN" altLang="en-US" sz="1800" dirty="0">
                    <a:latin typeface="Noto Sans SC" panose="020B0200000000000000" pitchFamily="34" charset="-122"/>
                    <a:ea typeface="Noto Sans SC" panose="020B0200000000000000" pitchFamily="34" charset="-122"/>
                  </a:rPr>
                  <a:t>基在色彩空间以及色度平面的坐标后，再结合前面提到过的约束，我们就得到了九个方程：</a:t>
                </a:r>
                <a:endParaRPr lang="en-US" altLang="zh-CN" sz="18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1</m:t>
                              </m:r>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31</m:t>
                              </m:r>
                            </m:sub>
                          </m:sSub>
                        </m:den>
                      </m:f>
                      <m:r>
                        <a:rPr lang="en-US" altLang="zh-CN" b="0" i="1" smtClean="0">
                          <a:latin typeface="Cambria Math" panose="02040503050406030204" pitchFamily="18" charset="0"/>
                        </a:rPr>
                        <m:t>=   1.2749,  </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21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31</m:t>
                              </m:r>
                            </m:sub>
                          </m:sSub>
                        </m:den>
                      </m:f>
                      <m:r>
                        <a:rPr lang="en-US" altLang="zh-CN"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.27</m:t>
                      </m:r>
                      <m:r>
                        <a:rPr lang="en-US" altLang="zh-CN" b="0" i="0" smtClean="0">
                          <a:latin typeface="Cambria Math" panose="02040503050406030204" pitchFamily="18" charset="0"/>
                        </a:rPr>
                        <m:t>77</m:t>
                      </m:r>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r>
                                <a:rPr lang="en-US" altLang="zh-CN" b="0" i="1" smtClean="0">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r>
                                <a:rPr lang="en-US" altLang="zh-CN" b="0" i="1" smtClean="0">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r>
                                <a:rPr lang="en-US" altLang="zh-CN" b="0" i="1" smtClean="0">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m:t>
                              </m:r>
                              <m:r>
                                <a:rPr lang="en-US" altLang="zh-CN" b="0" i="1" smtClean="0">
                                  <a:latin typeface="Cambria Math" panose="02040503050406030204" pitchFamily="18" charset="0"/>
                                </a:rPr>
                                <m:t>2</m:t>
                              </m:r>
                            </m:sub>
                          </m:sSub>
                        </m:den>
                      </m:f>
                      <m:r>
                        <a:rPr lang="en-US" altLang="zh-CN" i="1">
                          <a:latin typeface="Cambria Math" panose="02040503050406030204" pitchFamily="18" charset="0"/>
                        </a:rPr>
                        <m:t>=</m:t>
                      </m:r>
                      <m:r>
                        <a:rPr lang="en-US" altLang="zh-CN" b="0" i="1" smtClean="0">
                          <a:latin typeface="Cambria Math" panose="02040503050406030204" pitchFamily="18" charset="0"/>
                        </a:rPr>
                        <m:t>−1.7400</m:t>
                      </m:r>
                      <m:r>
                        <a:rPr lang="en-US" altLang="zh-CN" i="1">
                          <a:latin typeface="Cambria Math" panose="02040503050406030204" pitchFamily="18" charset="0"/>
                        </a:rPr>
                        <m:t>,</m:t>
                      </m:r>
                      <m:r>
                        <a:rPr lang="en-US" altLang="zh-CN" b="0" i="1" smtClean="0">
                          <a:latin typeface="Cambria Math" panose="02040503050406030204" pitchFamily="18" charset="0"/>
                        </a:rPr>
                        <m:t>  </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32</m:t>
                              </m:r>
                            </m:sub>
                          </m:sSub>
                        </m:den>
                      </m:f>
                      <m:r>
                        <a:rPr lang="en-US" altLang="zh-CN" i="1">
                          <a:latin typeface="Cambria Math" panose="02040503050406030204" pitchFamily="18" charset="0"/>
                        </a:rPr>
                        <m:t>=</m:t>
                      </m:r>
                      <m:r>
                        <a:rPr lang="en-US" altLang="zh-CN" b="0" i="1" smtClean="0">
                          <a:latin typeface="Cambria Math" panose="02040503050406030204" pitchFamily="18" charset="0"/>
                        </a:rPr>
                        <m:t>   2.7677</m:t>
                      </m:r>
                    </m:oMath>
                  </m:oMathPara>
                </a14:m>
                <a:endParaRPr lang="en-US" altLang="zh-CN" b="0"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r>
                                <a:rPr lang="en-US" altLang="zh-CN" b="0" i="1" smtClean="0">
                                  <a:latin typeface="Cambria Math" panose="02040503050406030204" pitchFamily="18" charset="0"/>
                                </a:rPr>
                                <m:t>3</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r>
                                <a:rPr lang="en-US" altLang="zh-CN" b="0" i="1" smtClean="0">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r>
                                <a:rPr lang="en-US" altLang="zh-CN" b="0" i="1" smtClean="0">
                                  <a:latin typeface="Cambria Math" panose="02040503050406030204" pitchFamily="18" charset="0"/>
                                </a:rPr>
                                <m:t>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m:t>
                              </m:r>
                              <m:r>
                                <a:rPr lang="en-US" altLang="zh-CN" b="0" i="1" smtClean="0">
                                  <a:latin typeface="Cambria Math" panose="02040503050406030204" pitchFamily="18" charset="0"/>
                                </a:rPr>
                                <m:t>3</m:t>
                              </m:r>
                            </m:sub>
                          </m:sSub>
                        </m:den>
                      </m:f>
                      <m:r>
                        <a:rPr lang="en-US" altLang="zh-CN" i="1">
                          <a:latin typeface="Cambria Math" panose="02040503050406030204" pitchFamily="18" charset="0"/>
                        </a:rPr>
                        <m:t>=</m:t>
                      </m:r>
                      <m:r>
                        <a:rPr lang="en-US" altLang="zh-CN" b="0" i="1" smtClean="0">
                          <a:latin typeface="Cambria Math" panose="02040503050406030204" pitchFamily="18" charset="0"/>
                        </a:rPr>
                        <m:t>−0.7430</m:t>
                      </m:r>
                      <m:r>
                        <a:rPr lang="en-US" altLang="zh-CN" i="1">
                          <a:latin typeface="Cambria Math" panose="02040503050406030204" pitchFamily="18" charset="0"/>
                        </a:rPr>
                        <m:t>,</m:t>
                      </m:r>
                      <m:r>
                        <a:rPr lang="en-US" altLang="zh-CN" b="0" i="1" smtClean="0">
                          <a:latin typeface="Cambria Math" panose="02040503050406030204" pitchFamily="18" charset="0"/>
                        </a:rPr>
                        <m:t>  </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23</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23</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33</m:t>
                              </m:r>
                            </m:sub>
                          </m:sSub>
                        </m:den>
                      </m:f>
                      <m:r>
                        <a:rPr lang="en-US" altLang="zh-CN" i="1">
                          <a:latin typeface="Cambria Math" panose="02040503050406030204" pitchFamily="18" charset="0"/>
                        </a:rPr>
                        <m:t>=</m:t>
                      </m:r>
                      <m:r>
                        <a:rPr lang="en-US" altLang="zh-CN" b="0" i="1" smtClean="0">
                          <a:latin typeface="Cambria Math" panose="02040503050406030204" pitchFamily="18" charset="0"/>
                        </a:rPr>
                        <m:t>   0.1408</m:t>
                      </m:r>
                    </m:oMath>
                  </m:oMathPara>
                </a14:m>
                <a:endParaRPr lang="en-US" altLang="zh-CN" i="1" dirty="0">
                  <a:latin typeface="Cambria Math" panose="02040503050406030204" pitchFamily="18" charset="0"/>
                  <a:ea typeface="Noto Sans SC" panose="020B0200000000000000" pitchFamily="34" charset="-122"/>
                </a:endParaRPr>
              </a:p>
              <a:p>
                <a:pPr algn="just"/>
                <a:endParaRPr lang="en-US" altLang="zh-CN" b="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13</m:t>
                          </m:r>
                        </m:sub>
                      </m:sSub>
                      <m:r>
                        <a:rPr lang="en-US" altLang="zh-CN" b="0" i="1" smtClean="0">
                          <a:latin typeface="Cambria Math" panose="02040503050406030204" pitchFamily="18" charset="0"/>
                        </a:rPr>
                        <m:t>=1</m:t>
                      </m:r>
                    </m:oMath>
                  </m:oMathPara>
                </a14:m>
                <a:endParaRPr lang="en-US" altLang="zh-CN" b="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r>
                            <a:rPr lang="en-US" altLang="zh-CN" i="1">
                              <a:latin typeface="Cambria Math" panose="02040503050406030204" pitchFamily="18" charset="0"/>
                            </a:rPr>
                            <m:t>3</m:t>
                          </m:r>
                        </m:sub>
                      </m:sSub>
                      <m:r>
                        <a:rPr lang="en-US" altLang="zh-CN" i="1">
                          <a:latin typeface="Cambria Math" panose="02040503050406030204" pitchFamily="18" charset="0"/>
                        </a:rPr>
                        <m:t>=1</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3</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3</m:t>
                          </m:r>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3</m:t>
                          </m:r>
                          <m:r>
                            <a:rPr lang="en-US" altLang="zh-CN" i="1">
                              <a:latin typeface="Cambria Math" panose="02040503050406030204" pitchFamily="18" charset="0"/>
                            </a:rPr>
                            <m:t>3</m:t>
                          </m:r>
                        </m:sub>
                      </m:sSub>
                      <m:r>
                        <a:rPr lang="en-US" altLang="zh-CN" i="1">
                          <a:latin typeface="Cambria Math" panose="02040503050406030204" pitchFamily="18" charset="0"/>
                        </a:rPr>
                        <m:t>=1</m:t>
                      </m:r>
                    </m:oMath>
                  </m:oMathPara>
                </a14:m>
                <a:endParaRPr lang="zh-CN" altLang="en-US" dirty="0">
                  <a:latin typeface="Noto Sans SC" panose="020B0200000000000000" pitchFamily="34" charset="-122"/>
                  <a:ea typeface="Noto Sans SC" panose="020B0200000000000000" pitchFamily="34" charset="-122"/>
                </a:endParaRPr>
              </a:p>
            </p:txBody>
          </p:sp>
        </mc:Choice>
        <mc:Fallback xmlns="">
          <p:sp>
            <p:nvSpPr>
              <p:cNvPr id="7" name="文本框 6">
                <a:extLst>
                  <a:ext uri="{FF2B5EF4-FFF2-40B4-BE49-F238E27FC236}">
                    <a16:creationId xmlns:a16="http://schemas.microsoft.com/office/drawing/2014/main" id="{17134250-32D5-E4D0-E355-590FDE7F8847}"/>
                  </a:ext>
                </a:extLst>
              </p:cNvPr>
              <p:cNvSpPr txBox="1">
                <a:spLocks noRot="1" noChangeAspect="1" noMove="1" noResize="1" noEditPoints="1" noAdjustHandles="1" noChangeArrowheads="1" noChangeShapeType="1" noTextEdit="1"/>
              </p:cNvSpPr>
              <p:nvPr/>
            </p:nvSpPr>
            <p:spPr>
              <a:xfrm>
                <a:off x="327033" y="3110766"/>
                <a:ext cx="10999935" cy="3594638"/>
              </a:xfrm>
              <a:prstGeom prst="rect">
                <a:avLst/>
              </a:prstGeom>
              <a:blipFill>
                <a:blip r:embed="rId3"/>
                <a:stretch>
                  <a:fillRect l="-499" t="-847" b="-169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08180665-AB7F-F78F-AB00-B9A172EDD944}"/>
              </a:ext>
            </a:extLst>
          </p:cNvPr>
          <p:cNvPicPr>
            <a:picLocks noChangeAspect="1"/>
          </p:cNvPicPr>
          <p:nvPr/>
        </p:nvPicPr>
        <p:blipFill>
          <a:blip r:embed="rId4"/>
          <a:stretch>
            <a:fillRect/>
          </a:stretch>
        </p:blipFill>
        <p:spPr>
          <a:xfrm>
            <a:off x="6909516" y="1734997"/>
            <a:ext cx="4955450" cy="11539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857918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BD115-0AE0-E57C-03E6-F81BB54F7C7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84F825E-1FA7-C644-F761-0BDAD6230EE2}"/>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0CE6B56E-9906-D15B-4599-15E87D947192}"/>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1D38426-BA1B-920E-C00C-8A89CF3B9806}"/>
                  </a:ext>
                </a:extLst>
              </p:cNvPr>
              <p:cNvSpPr txBox="1"/>
              <p:nvPr/>
            </p:nvSpPr>
            <p:spPr>
              <a:xfrm>
                <a:off x="295284" y="1891566"/>
                <a:ext cx="11312516" cy="5147178"/>
              </a:xfrm>
              <a:prstGeom prst="rect">
                <a:avLst/>
              </a:prstGeom>
              <a:noFill/>
            </p:spPr>
            <p:txBody>
              <a:bodyPr wrap="square">
                <a:spAutoFit/>
              </a:bodyPr>
              <a:lstStyle/>
              <a:p>
                <a:pPr algn="just"/>
                <a:r>
                  <a:rPr lang="en-US" altLang="zh-CN" sz="1800"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解方程后</a:t>
                </a:r>
                <a:r>
                  <a:rPr lang="zh-CN" altLang="en-US" dirty="0">
                    <a:latin typeface="Noto Sans SC" panose="020B0200000000000000" pitchFamily="34" charset="-122"/>
                    <a:ea typeface="Noto Sans SC" panose="020B0200000000000000" pitchFamily="34" charset="-122"/>
                  </a:rPr>
                  <a:t>，就得到了</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−1</m:t>
                        </m:r>
                      </m:sup>
                    </m:sSup>
                  </m:oMath>
                </a14:m>
                <a:r>
                  <a:rPr lang="zh-CN" altLang="en-US" dirty="0">
                    <a:latin typeface="Noto Sans SC" panose="020B0200000000000000" pitchFamily="34" charset="-122"/>
                    <a:ea typeface="Noto Sans SC" panose="020B0200000000000000" pitchFamily="34" charset="-122"/>
                  </a:rPr>
                  <a:t>，再求其逆矩阵，并对第一行和第三行只保留两位小数</a:t>
                </a:r>
                <a:r>
                  <a:rPr lang="zh-CN" altLang="en-US" sz="1800" dirty="0">
                    <a:latin typeface="Noto Sans SC" panose="020B0200000000000000" pitchFamily="34" charset="-122"/>
                    <a:ea typeface="Noto Sans SC" panose="020B0200000000000000" pitchFamily="34" charset="-122"/>
                  </a:rPr>
                  <a:t>，就得到了</a:t>
                </a:r>
                <a:r>
                  <a:rPr lang="zh-CN" altLang="en-US" dirty="0">
                    <a:latin typeface="Noto Sans SC" panose="020B0200000000000000" pitchFamily="34" charset="-122"/>
                    <a:ea typeface="Noto Sans SC" panose="020B0200000000000000" pitchFamily="34" charset="-122"/>
                  </a:rPr>
                  <a:t>从</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色彩空间变换到</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色彩空间的变换矩阵</a:t>
                </a:r>
                <a:r>
                  <a:rPr lang="en-US" altLang="zh-CN" dirty="0">
                    <a:latin typeface="Noto Sans SC" panose="020B0200000000000000" pitchFamily="34" charset="-122"/>
                    <a:ea typeface="Noto Sans SC" panose="020B0200000000000000" pitchFamily="34" charset="-122"/>
                  </a:rPr>
                  <a:t>T</a:t>
                </a:r>
                <a:r>
                  <a:rPr lang="zh-CN" altLang="en-US" sz="1800" dirty="0">
                    <a:latin typeface="Noto Sans SC" panose="020B0200000000000000" pitchFamily="34" charset="-122"/>
                    <a:ea typeface="Noto Sans SC" panose="020B0200000000000000" pitchFamily="34" charset="-122"/>
                  </a:rPr>
                  <a:t>：</a:t>
                </a:r>
                <a:endParaRPr lang="en-US" altLang="zh-CN" sz="1800" dirty="0">
                  <a:latin typeface="Noto Sans SC" panose="020B0200000000000000" pitchFamily="34" charset="-122"/>
                  <a:ea typeface="Noto Sans SC" panose="020B0200000000000000" pitchFamily="34" charset="-122"/>
                </a:endParaRPr>
              </a:p>
              <a:p>
                <a:pPr algn="just"/>
                <a:endParaRPr lang="en-US" altLang="zh-CN" sz="18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9</m:t>
                      </m:r>
                      <m:r>
                        <a:rPr lang="zh-CN" altLang="en-US" i="1">
                          <a:latin typeface="Cambria Math" panose="02040503050406030204" pitchFamily="18" charset="0"/>
                        </a:rPr>
                        <m:t>个</m:t>
                      </m:r>
                      <m:r>
                        <a:rPr lang="zh-CN" altLang="en-US" i="1" smtClean="0">
                          <a:latin typeface="Cambria Math" panose="02040503050406030204" pitchFamily="18" charset="0"/>
                        </a:rPr>
                        <m:t>方程</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31</m:t>
                                      </m:r>
                                    </m:sub>
                                  </m:sSub>
                                </m:den>
                              </m:f>
                              <m:r>
                                <a:rPr lang="en-US" altLang="zh-CN" i="1">
                                  <a:latin typeface="Cambria Math" panose="02040503050406030204" pitchFamily="18" charset="0"/>
                                </a:rPr>
                                <m:t>=   1.2749</m:t>
                              </m:r>
                            </m:e>
                            <m:e>
                              <m:r>
                                <a:rPr lang="en-US" altLang="zh-CN" b="0" i="1" smtClean="0">
                                  <a:latin typeface="Cambria Math" panose="02040503050406030204" pitchFamily="18" charset="0"/>
                                </a:rPr>
                                <m:t> </m:t>
                              </m:r>
                            </m:e>
                            <m:e>
                              <m:r>
                                <a:rPr lang="en-US" altLang="zh-CN" b="0" i="1" smtClean="0">
                                  <a:latin typeface="Cambria Math" panose="02040503050406030204" pitchFamily="18" charset="0"/>
                                </a:rPr>
                                <m:t>…</m:t>
                              </m:r>
                            </m:e>
                            <m:e>
                              <m:r>
                                <a:rPr lang="en-US" altLang="zh-CN" b="0" i="1" smtClean="0">
                                  <a:latin typeface="Cambria Math" panose="02040503050406030204" pitchFamily="18" charset="0"/>
                                </a:rPr>
                                <m:t> </m:t>
                              </m:r>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33</m:t>
                                  </m:r>
                                </m:sub>
                              </m:sSub>
                              <m:r>
                                <a:rPr lang="en-US" altLang="zh-CN" i="1">
                                  <a:latin typeface="Cambria Math" panose="02040503050406030204" pitchFamily="18" charset="0"/>
                                </a:rPr>
                                <m:t>=1</m:t>
                              </m:r>
                            </m:e>
                          </m:eqArr>
                        </m:e>
                      </m:d>
                      <m:r>
                        <a:rPr lang="en-US" altLang="zh-CN" b="0" i="1" smtClean="0">
                          <a:latin typeface="Cambria Math" panose="02040503050406030204" pitchFamily="18" charset="0"/>
                        </a:rPr>
                        <m:t>  ⇒ </m:t>
                      </m:r>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−1</m:t>
                          </m:r>
                        </m:sup>
                      </m:sSup>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m:rPr>
                                        <m:brk m:alnAt="7"/>
                                      </m:rPr>
                                      <a:rPr lang="en-US" altLang="zh-CN" i="1">
                                        <a:latin typeface="Cambria Math" panose="02040503050406030204" pitchFamily="18" charset="0"/>
                                      </a:rPr>
                                      <m:t>1</m:t>
                                    </m:r>
                                    <m:r>
                                      <a:rPr lang="en-US" altLang="zh-CN" i="1">
                                        <a:latin typeface="Cambria Math" panose="02040503050406030204" pitchFamily="18" charset="0"/>
                                      </a:rPr>
                                      <m:t>1</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12</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13</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21</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22</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23</m:t>
                                    </m:r>
                                  </m:sub>
                                </m:sSub>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31</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32</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33</m:t>
                                    </m:r>
                                  </m:sub>
                                </m:sSub>
                              </m:e>
                            </m:mr>
                          </m:m>
                        </m:e>
                      </m:d>
                    </m:oMath>
                  </m:oMathPara>
                </a14:m>
                <a:endParaRPr lang="en-US" altLang="zh-CN" i="1" dirty="0">
                  <a:latin typeface="Cambria Math" panose="02040503050406030204" pitchFamily="18" charset="0"/>
                  <a:ea typeface="Noto Sans SC" panose="020B0200000000000000" pitchFamily="34" charset="-122"/>
                </a:endParaRPr>
              </a:p>
              <a:p>
                <a:pPr algn="just"/>
                <a:endParaRPr lang="en-US" altLang="zh-CN"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−1</m:t>
                          </m:r>
                        </m:sup>
                      </m:sSup>
                      <m:r>
                        <a:rPr lang="en-US" altLang="zh-CN" b="0" i="1" smtClean="0">
                          <a:latin typeface="Cambria Math" panose="02040503050406030204" pitchFamily="18" charset="0"/>
                        </a:rPr>
                        <m:t>⇒</m:t>
                      </m:r>
                      <m:r>
                        <a:rPr lang="en-US" altLang="zh-CN" i="1">
                          <a:latin typeface="Cambria Math" panose="02040503050406030204" pitchFamily="18" charset="0"/>
                        </a:rPr>
                        <m:t>𝑇</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a:rPr lang="en-US" altLang="zh-CN" b="0" i="1" smtClean="0">
                                    <a:latin typeface="Cambria Math" panose="02040503050406030204" pitchFamily="18" charset="0"/>
                                  </a:rPr>
                                  <m:t>0.49</m:t>
                                </m:r>
                              </m:e>
                              <m:e>
                                <m:r>
                                  <a:rPr lang="en-US" altLang="zh-CN" b="0" i="1" smtClean="0">
                                    <a:latin typeface="Cambria Math" panose="02040503050406030204" pitchFamily="18" charset="0"/>
                                  </a:rPr>
                                  <m:t>0.31</m:t>
                                </m:r>
                              </m:e>
                              <m:e>
                                <m:r>
                                  <a:rPr lang="en-US" altLang="zh-CN" b="0" i="1" smtClean="0">
                                    <a:latin typeface="Cambria Math" panose="02040503050406030204" pitchFamily="18" charset="0"/>
                                  </a:rPr>
                                  <m:t>0.20</m:t>
                                </m:r>
                              </m:e>
                            </m:mr>
                            <m:mr>
                              <m:e>
                                <m:r>
                                  <a:rPr lang="en-US" altLang="zh-CN" b="0" i="1" smtClean="0">
                                    <a:latin typeface="Cambria Math" panose="02040503050406030204" pitchFamily="18" charset="0"/>
                                  </a:rPr>
                                  <m:t>0.17697</m:t>
                                </m:r>
                              </m:e>
                              <m:e>
                                <m:r>
                                  <a:rPr lang="en-US" altLang="zh-CN" b="0" i="1" smtClean="0">
                                    <a:latin typeface="Cambria Math" panose="02040503050406030204" pitchFamily="18" charset="0"/>
                                  </a:rPr>
                                  <m:t>0.81240</m:t>
                                </m:r>
                              </m:e>
                              <m:e>
                                <m:r>
                                  <a:rPr lang="en-US" altLang="zh-CN" b="0" i="1" smtClean="0">
                                    <a:latin typeface="Cambria Math" panose="02040503050406030204" pitchFamily="18" charset="0"/>
                                  </a:rPr>
                                  <m:t>0.01063</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0.01</m:t>
                                </m:r>
                              </m:e>
                              <m:e>
                                <m:r>
                                  <a:rPr lang="en-US" altLang="zh-CN" b="0" i="1" smtClean="0">
                                    <a:latin typeface="Cambria Math" panose="02040503050406030204" pitchFamily="18" charset="0"/>
                                  </a:rPr>
                                  <m:t>0.99</m:t>
                                </m:r>
                              </m:e>
                            </m:mr>
                          </m:m>
                        </m:e>
                      </m:d>
                    </m:oMath>
                  </m:oMathPara>
                </a14:m>
                <a:endParaRPr lang="en-US" altLang="zh-CN" sz="1800" dirty="0">
                  <a:latin typeface="Noto Sans SC" panose="020B0200000000000000" pitchFamily="34" charset="-122"/>
                  <a:ea typeface="Noto Sans SC" panose="020B0200000000000000" pitchFamily="34" charset="-122"/>
                </a:endParaRPr>
              </a:p>
              <a:p>
                <a:pPr algn="just"/>
                <a:endParaRPr lang="en-US" altLang="zh-CN" sz="1800" dirty="0">
                  <a:latin typeface="Noto Sans SC" panose="020B0200000000000000" pitchFamily="34" charset="-122"/>
                  <a:ea typeface="Noto Sans SC" panose="020B0200000000000000" pitchFamily="34" charset="-122"/>
                </a:endParaRPr>
              </a:p>
              <a:p>
                <a:pPr algn="just"/>
                <a:r>
                  <a:rPr lang="en-US" altLang="zh-CN" sz="1800"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再用这个变换矩阵，就能得到</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色彩空间的匹配函数：</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qArr>
                        </m:e>
                      </m:d>
                      <m:r>
                        <a:rPr lang="en-US" altLang="zh-CN" i="1">
                          <a:latin typeface="Cambria Math" panose="02040503050406030204" pitchFamily="18" charset="0"/>
                        </a:rPr>
                        <m:t>=</m:t>
                      </m:r>
                      <m:r>
                        <a:rPr lang="en-US" altLang="zh-CN" i="1">
                          <a:latin typeface="Cambria Math" panose="02040503050406030204" pitchFamily="18" charset="0"/>
                        </a:rPr>
                        <m:t>𝑇</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qArr>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0.49</m:t>
                                </m:r>
                              </m:e>
                              <m:e>
                                <m:r>
                                  <a:rPr lang="en-US" altLang="zh-CN" i="1">
                                    <a:latin typeface="Cambria Math" panose="02040503050406030204" pitchFamily="18" charset="0"/>
                                  </a:rPr>
                                  <m:t>0.31</m:t>
                                </m:r>
                              </m:e>
                              <m:e>
                                <m:r>
                                  <a:rPr lang="en-US" altLang="zh-CN" i="1">
                                    <a:latin typeface="Cambria Math" panose="02040503050406030204" pitchFamily="18" charset="0"/>
                                  </a:rPr>
                                  <m:t>0.20</m:t>
                                </m:r>
                              </m:e>
                            </m:mr>
                            <m:mr>
                              <m:e>
                                <m:r>
                                  <a:rPr lang="en-US" altLang="zh-CN" i="1">
                                    <a:latin typeface="Cambria Math" panose="02040503050406030204" pitchFamily="18" charset="0"/>
                                  </a:rPr>
                                  <m:t>0.17697</m:t>
                                </m:r>
                              </m:e>
                              <m:e>
                                <m:r>
                                  <a:rPr lang="en-US" altLang="zh-CN" i="1">
                                    <a:latin typeface="Cambria Math" panose="02040503050406030204" pitchFamily="18" charset="0"/>
                                  </a:rPr>
                                  <m:t>0.81240</m:t>
                                </m:r>
                              </m:e>
                              <m:e>
                                <m:r>
                                  <a:rPr lang="en-US" altLang="zh-CN" i="1">
                                    <a:latin typeface="Cambria Math" panose="02040503050406030204" pitchFamily="18" charset="0"/>
                                  </a:rPr>
                                  <m:t>0.01063</m:t>
                                </m:r>
                              </m:e>
                            </m:mr>
                            <m:mr>
                              <m:e>
                                <m:r>
                                  <a:rPr lang="en-US" altLang="zh-CN" i="1">
                                    <a:latin typeface="Cambria Math" panose="02040503050406030204" pitchFamily="18" charset="0"/>
                                  </a:rPr>
                                  <m:t>0</m:t>
                                </m:r>
                              </m:e>
                              <m:e>
                                <m:r>
                                  <a:rPr lang="en-US" altLang="zh-CN" i="1">
                                    <a:latin typeface="Cambria Math" panose="02040503050406030204" pitchFamily="18" charset="0"/>
                                  </a:rPr>
                                  <m:t>0.01</m:t>
                                </m:r>
                              </m:e>
                              <m:e>
                                <m:r>
                                  <a:rPr lang="en-US" altLang="zh-CN" i="1">
                                    <a:latin typeface="Cambria Math" panose="02040503050406030204" pitchFamily="18" charset="0"/>
                                  </a:rPr>
                                  <m:t>0.99</m:t>
                                </m:r>
                              </m:e>
                            </m:mr>
                          </m:m>
                        </m:e>
                      </m:d>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qArr>
                        </m:e>
                      </m:d>
                    </m:oMath>
                  </m:oMathPara>
                </a14:m>
                <a:endParaRPr lang="en-US" altLang="zh-CN" sz="1800" dirty="0">
                  <a:latin typeface="Noto Sans SC" panose="020B0200000000000000" pitchFamily="34" charset="-122"/>
                  <a:ea typeface="Noto Sans SC" panose="020B0200000000000000" pitchFamily="34" charset="-122"/>
                </a:endParaRPr>
              </a:p>
              <a:p>
                <a:pPr algn="just"/>
                <a:endParaRPr lang="zh-CN" altLang="en-US" dirty="0">
                  <a:latin typeface="Noto Sans SC" panose="020B0200000000000000" pitchFamily="34" charset="-122"/>
                  <a:ea typeface="Noto Sans SC" panose="020B0200000000000000" pitchFamily="34" charset="-122"/>
                </a:endParaRPr>
              </a:p>
            </p:txBody>
          </p:sp>
        </mc:Choice>
        <mc:Fallback xmlns="">
          <p:sp>
            <p:nvSpPr>
              <p:cNvPr id="7" name="文本框 6">
                <a:extLst>
                  <a:ext uri="{FF2B5EF4-FFF2-40B4-BE49-F238E27FC236}">
                    <a16:creationId xmlns:a16="http://schemas.microsoft.com/office/drawing/2014/main" id="{31D38426-BA1B-920E-C00C-8A89CF3B9806}"/>
                  </a:ext>
                </a:extLst>
              </p:cNvPr>
              <p:cNvSpPr txBox="1">
                <a:spLocks noRot="1" noChangeAspect="1" noMove="1" noResize="1" noEditPoints="1" noAdjustHandles="1" noChangeArrowheads="1" noChangeShapeType="1" noTextEdit="1"/>
              </p:cNvSpPr>
              <p:nvPr/>
            </p:nvSpPr>
            <p:spPr>
              <a:xfrm>
                <a:off x="295284" y="1891566"/>
                <a:ext cx="11312516" cy="5147178"/>
              </a:xfrm>
              <a:prstGeom prst="rect">
                <a:avLst/>
              </a:prstGeom>
              <a:blipFill>
                <a:blip r:embed="rId2"/>
                <a:stretch>
                  <a:fillRect l="-431" t="-592" r="-485" b="-8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109705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6759A-8A1C-B271-EBB5-CDC1682B617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C5B25A4-BB73-56CB-70E1-889FFF5E74E7}"/>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B0DDD944-4DA8-BD79-84B4-3EBDEF9D86E3}"/>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5AA15BB-3BC5-434F-8F64-684FF1D9A877}"/>
                  </a:ext>
                </a:extLst>
              </p:cNvPr>
              <p:cNvSpPr txBox="1"/>
              <p:nvPr/>
            </p:nvSpPr>
            <p:spPr>
              <a:xfrm>
                <a:off x="237329" y="2297251"/>
                <a:ext cx="7127866" cy="3745769"/>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qArr>
                        </m:e>
                      </m:d>
                      <m:r>
                        <a:rPr lang="en-US" altLang="zh-CN" i="1">
                          <a:latin typeface="Cambria Math" panose="02040503050406030204" pitchFamily="18" charset="0"/>
                        </a:rPr>
                        <m:t>=</m:t>
                      </m:r>
                      <m:r>
                        <a:rPr lang="en-US" altLang="zh-CN" i="1">
                          <a:latin typeface="Cambria Math" panose="02040503050406030204" pitchFamily="18" charset="0"/>
                        </a:rPr>
                        <m:t>𝑇</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qArr>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0.49</m:t>
                                </m:r>
                              </m:e>
                              <m:e>
                                <m:r>
                                  <a:rPr lang="en-US" altLang="zh-CN" i="1">
                                    <a:latin typeface="Cambria Math" panose="02040503050406030204" pitchFamily="18" charset="0"/>
                                  </a:rPr>
                                  <m:t>0.31</m:t>
                                </m:r>
                              </m:e>
                              <m:e>
                                <m:r>
                                  <a:rPr lang="en-US" altLang="zh-CN" i="1">
                                    <a:latin typeface="Cambria Math" panose="02040503050406030204" pitchFamily="18" charset="0"/>
                                  </a:rPr>
                                  <m:t>0.20</m:t>
                                </m:r>
                              </m:e>
                            </m:mr>
                            <m:mr>
                              <m:e>
                                <m:r>
                                  <a:rPr lang="en-US" altLang="zh-CN" i="1">
                                    <a:latin typeface="Cambria Math" panose="02040503050406030204" pitchFamily="18" charset="0"/>
                                  </a:rPr>
                                  <m:t>0.17697</m:t>
                                </m:r>
                              </m:e>
                              <m:e>
                                <m:r>
                                  <a:rPr lang="en-US" altLang="zh-CN" i="1">
                                    <a:latin typeface="Cambria Math" panose="02040503050406030204" pitchFamily="18" charset="0"/>
                                  </a:rPr>
                                  <m:t>0.81240</m:t>
                                </m:r>
                              </m:e>
                              <m:e>
                                <m:r>
                                  <a:rPr lang="en-US" altLang="zh-CN" i="1">
                                    <a:latin typeface="Cambria Math" panose="02040503050406030204" pitchFamily="18" charset="0"/>
                                  </a:rPr>
                                  <m:t>0.01063</m:t>
                                </m:r>
                              </m:e>
                            </m:mr>
                            <m:mr>
                              <m:e>
                                <m:r>
                                  <a:rPr lang="en-US" altLang="zh-CN" i="1">
                                    <a:latin typeface="Cambria Math" panose="02040503050406030204" pitchFamily="18" charset="0"/>
                                  </a:rPr>
                                  <m:t>0</m:t>
                                </m:r>
                              </m:e>
                              <m:e>
                                <m:r>
                                  <a:rPr lang="en-US" altLang="zh-CN" i="1">
                                    <a:latin typeface="Cambria Math" panose="02040503050406030204" pitchFamily="18" charset="0"/>
                                  </a:rPr>
                                  <m:t>0.01</m:t>
                                </m:r>
                              </m:e>
                              <m:e>
                                <m:r>
                                  <a:rPr lang="en-US" altLang="zh-CN" i="1">
                                    <a:latin typeface="Cambria Math" panose="02040503050406030204" pitchFamily="18" charset="0"/>
                                  </a:rPr>
                                  <m:t>0.99</m:t>
                                </m:r>
                              </m:e>
                            </m:mr>
                          </m:m>
                        </m:e>
                      </m:d>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p>
                                <m:sSupPr>
                                  <m:ctrlPr>
                                    <a:rPr lang="en-US" altLang="zh-CN" i="1">
                                      <a:latin typeface="Cambria Math" panose="02040503050406030204" pitchFamily="18" charset="0"/>
                                    </a:rPr>
                                  </m:ctrlPr>
                                </m:sSupPr>
                                <m:e>
                                  <m:r>
                                    <a:rPr lang="en-US" altLang="zh-CN" i="1">
                                      <a:latin typeface="Cambria Math" panose="02040503050406030204" pitchFamily="18" charset="0"/>
                                    </a:rPr>
                                    <m:t>𝑅</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
                              <m:sSup>
                                <m:sSupPr>
                                  <m:ctrlPr>
                                    <a:rPr lang="en-US" altLang="zh-CN" i="1">
                                      <a:latin typeface="Cambria Math" panose="02040503050406030204" pitchFamily="18" charset="0"/>
                                    </a:rPr>
                                  </m:ctrlPr>
                                </m:sSupPr>
                                <m:e>
                                  <m:r>
                                    <a:rPr lang="en-US" altLang="zh-CN" i="1">
                                      <a:latin typeface="Cambria Math" panose="02040503050406030204" pitchFamily="18" charset="0"/>
                                    </a:rPr>
                                    <m:t>𝐵</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e>
                          </m:eqArr>
                        </m:e>
                      </m:d>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sz="1800"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让我们来看匹配函数</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sz="1800" dirty="0">
                    <a:latin typeface="Noto Sans SC" panose="020B0200000000000000" pitchFamily="34" charset="-122"/>
                    <a:ea typeface="Noto Sans SC" panose="020B0200000000000000" pitchFamily="34" charset="-122"/>
                  </a:rPr>
                  <a:t>：</a:t>
                </a:r>
                <a:endParaRPr lang="en-US" altLang="zh-CN" sz="18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0" i="1" dirty="0" smtClean="0">
                          <a:latin typeface="Cambria Math" panose="02040503050406030204" pitchFamily="18" charset="0"/>
                        </a:rPr>
                        <m:t>=</m:t>
                      </m:r>
                      <m:r>
                        <a:rPr lang="en-US" altLang="zh-CN" i="1">
                          <a:latin typeface="Cambria Math" panose="02040503050406030204" pitchFamily="18" charset="0"/>
                        </a:rPr>
                        <m:t>0.17697</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m:t>
                          </m:r>
                        </m:sup>
                      </m:s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r>
                        <a:rPr lang="en-US" altLang="zh-CN" b="0" i="1" smtClean="0">
                          <a:latin typeface="Cambria Math" panose="02040503050406030204" pitchFamily="18" charset="0"/>
                        </a:rPr>
                        <m:t>+0.81240</m:t>
                      </m:r>
                      <m:sSup>
                        <m:sSupPr>
                          <m:ctrlPr>
                            <a:rPr lang="en-US" altLang="zh-CN" i="1">
                              <a:latin typeface="Cambria Math" panose="02040503050406030204" pitchFamily="18" charset="0"/>
                            </a:rPr>
                          </m:ctrlPr>
                        </m:sSupPr>
                        <m:e>
                          <m:r>
                            <a:rPr lang="en-US" altLang="zh-CN" i="1">
                              <a:latin typeface="Cambria Math" panose="02040503050406030204" pitchFamily="18" charset="0"/>
                            </a:rPr>
                            <m:t>𝐺</m:t>
                          </m:r>
                        </m:e>
                        <m:sup>
                          <m:r>
                            <a:rPr lang="en-US" altLang="zh-CN" i="1">
                              <a:latin typeface="Cambria Math" panose="02040503050406030204" pitchFamily="18" charset="0"/>
                            </a:rPr>
                            <m:t>′</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m:t>
                      </m:r>
                      <m:r>
                        <a:rPr lang="en-US" altLang="zh-CN" i="1">
                          <a:latin typeface="Cambria Math" panose="02040503050406030204" pitchFamily="18" charset="0"/>
                        </a:rPr>
                        <m:t>0.01063</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𝐵</m:t>
                          </m:r>
                        </m:e>
                        <m:sup>
                          <m:r>
                            <a:rPr lang="en-US" altLang="zh-CN" b="0" i="1" smtClean="0">
                              <a:latin typeface="Cambria Math" panose="02040503050406030204" pitchFamily="18" charset="0"/>
                            </a:rPr>
                            <m:t>′</m:t>
                          </m:r>
                        </m:sup>
                      </m:sSup>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oMath>
                  </m:oMathPara>
                </a14:m>
                <a:endParaRPr lang="en-US" altLang="zh-CN" sz="1800" dirty="0">
                  <a:latin typeface="Noto Sans SC" panose="020B0200000000000000" pitchFamily="34" charset="-122"/>
                  <a:ea typeface="Noto Sans SC" panose="020B0200000000000000" pitchFamily="34" charset="-122"/>
                </a:endParaRPr>
              </a:p>
              <a:p>
                <a:pPr algn="just"/>
                <a:endParaRPr lang="en-US" altLang="zh-CN" sz="180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它的系数是之前使用最小二乘法得到的，因此</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与</a:t>
                </a:r>
                <a14:m>
                  <m:oMath xmlns:m="http://schemas.openxmlformats.org/officeDocument/2006/math">
                    <m:r>
                      <a:rPr lang="en-US" altLang="zh-CN" i="1">
                        <a:latin typeface="Cambria Math" panose="02040503050406030204" pitchFamily="18" charset="0"/>
                      </a:rPr>
                      <m:t>𝑉</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还是存在一定微小的误差。</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从右图我们可以看到，各个波长的</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和</a:t>
                </a:r>
                <a14:m>
                  <m:oMath xmlns:m="http://schemas.openxmlformats.org/officeDocument/2006/math">
                    <m:r>
                      <a:rPr lang="en-US" altLang="zh-CN" i="1">
                        <a:latin typeface="Cambria Math" panose="02040503050406030204" pitchFamily="18" charset="0"/>
                      </a:rPr>
                      <m:t>𝑉</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的差值是多少。其中，纵坐标的尺度是</a:t>
                </a:r>
                <a14:m>
                  <m:oMath xmlns:m="http://schemas.openxmlformats.org/officeDocument/2006/math">
                    <m:r>
                      <a:rPr lang="en-US" altLang="zh-CN" b="0" i="0" smtClean="0">
                        <a:latin typeface="Cambria Math" panose="02040503050406030204" pitchFamily="18" charset="0"/>
                      </a:rPr>
                      <m:t>1</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zh-CN" altLang="en-US" dirty="0">
                    <a:latin typeface="Noto Sans SC" panose="020B0200000000000000" pitchFamily="34" charset="-122"/>
                    <a:ea typeface="Noto Sans SC" panose="020B0200000000000000" pitchFamily="34" charset="-122"/>
                  </a:rPr>
                  <a:t>。可以看到，误差最大处在</a:t>
                </a:r>
                <a:r>
                  <a:rPr lang="en-US" altLang="zh-CN" dirty="0">
                    <a:latin typeface="Noto Sans SC" panose="020B0200000000000000" pitchFamily="34" charset="-122"/>
                    <a:ea typeface="Noto Sans SC" panose="020B0200000000000000" pitchFamily="34" charset="-122"/>
                  </a:rPr>
                  <a:t>555nm</a:t>
                </a:r>
                <a:r>
                  <a:rPr lang="zh-CN" altLang="en-US" dirty="0">
                    <a:latin typeface="Noto Sans SC" panose="020B0200000000000000" pitchFamily="34" charset="-122"/>
                    <a:ea typeface="Noto Sans SC" panose="020B0200000000000000" pitchFamily="34" charset="-122"/>
                  </a:rPr>
                  <a:t>，误差值为</a:t>
                </a:r>
                <a:r>
                  <a:rPr lang="en-US" altLang="zh-CN" dirty="0">
                    <a:latin typeface="Noto Sans SC" panose="020B0200000000000000" pitchFamily="34" charset="-122"/>
                    <a:ea typeface="Noto Sans SC" panose="020B0200000000000000" pitchFamily="34" charset="-122"/>
                  </a:rPr>
                  <a:t>0.0002</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mc:Choice>
        <mc:Fallback xmlns="">
          <p:sp>
            <p:nvSpPr>
              <p:cNvPr id="7" name="文本框 6">
                <a:extLst>
                  <a:ext uri="{FF2B5EF4-FFF2-40B4-BE49-F238E27FC236}">
                    <a16:creationId xmlns:a16="http://schemas.microsoft.com/office/drawing/2014/main" id="{65AA15BB-3BC5-434F-8F64-684FF1D9A877}"/>
                  </a:ext>
                </a:extLst>
              </p:cNvPr>
              <p:cNvSpPr txBox="1">
                <a:spLocks noRot="1" noChangeAspect="1" noMove="1" noResize="1" noEditPoints="1" noAdjustHandles="1" noChangeArrowheads="1" noChangeShapeType="1" noTextEdit="1"/>
              </p:cNvSpPr>
              <p:nvPr/>
            </p:nvSpPr>
            <p:spPr>
              <a:xfrm>
                <a:off x="237329" y="2297251"/>
                <a:ext cx="7127866" cy="3745769"/>
              </a:xfrm>
              <a:prstGeom prst="rect">
                <a:avLst/>
              </a:prstGeom>
              <a:blipFill>
                <a:blip r:embed="rId2"/>
                <a:stretch>
                  <a:fillRect l="-770" r="-684" b="-179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C0C31F4C-307F-DE1C-EFE6-376C1B7EB41E}"/>
              </a:ext>
            </a:extLst>
          </p:cNvPr>
          <p:cNvPicPr>
            <a:picLocks noChangeAspect="1"/>
          </p:cNvPicPr>
          <p:nvPr/>
        </p:nvPicPr>
        <p:blipFill>
          <a:blip r:embed="rId3"/>
          <a:stretch>
            <a:fillRect/>
          </a:stretch>
        </p:blipFill>
        <p:spPr>
          <a:xfrm>
            <a:off x="7667395" y="2735329"/>
            <a:ext cx="3935875" cy="4015226"/>
          </a:xfrm>
          <a:prstGeom prst="rect">
            <a:avLst/>
          </a:prstGeom>
        </p:spPr>
      </p:pic>
      <p:pic>
        <p:nvPicPr>
          <p:cNvPr id="4" name="图片 3">
            <a:extLst>
              <a:ext uri="{FF2B5EF4-FFF2-40B4-BE49-F238E27FC236}">
                <a16:creationId xmlns:a16="http://schemas.microsoft.com/office/drawing/2014/main" id="{1356542F-B98D-8CA0-7E8C-CCACE689F031}"/>
              </a:ext>
            </a:extLst>
          </p:cNvPr>
          <p:cNvPicPr>
            <a:picLocks noChangeAspect="1"/>
          </p:cNvPicPr>
          <p:nvPr/>
        </p:nvPicPr>
        <p:blipFill>
          <a:blip r:embed="rId4"/>
          <a:stretch>
            <a:fillRect/>
          </a:stretch>
        </p:blipFill>
        <p:spPr>
          <a:xfrm>
            <a:off x="7535864" y="1148127"/>
            <a:ext cx="4198935" cy="15512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15689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78C3E-6C1E-1595-6A18-347A19C3AC8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2A4C3CE-415F-E6EF-D02A-40980F03E028}"/>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49BFE51A-E176-2781-A312-786B3B183D5D}"/>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endParaRPr lang="zh-CN" altLang="en-US" sz="11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78F2986-A056-24CF-7F6E-CE3789CBFE6B}"/>
                  </a:ext>
                </a:extLst>
              </p:cNvPr>
              <p:cNvSpPr txBox="1"/>
              <p:nvPr/>
            </p:nvSpPr>
            <p:spPr>
              <a:xfrm>
                <a:off x="295284" y="1891566"/>
                <a:ext cx="7127866" cy="4866076"/>
              </a:xfrm>
              <a:prstGeom prst="rect">
                <a:avLst/>
              </a:prstGeom>
              <a:noFill/>
            </p:spPr>
            <p:txBody>
              <a:bodyPr wrap="square">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但是，</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希望</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和</a:t>
                </a:r>
                <a14:m>
                  <m:oMath xmlns:m="http://schemas.openxmlformats.org/officeDocument/2006/math">
                    <m:r>
                      <a:rPr lang="en-US" altLang="zh-CN" i="1">
                        <a:latin typeface="Cambria Math" panose="02040503050406030204" pitchFamily="18" charset="0"/>
                      </a:rPr>
                      <m:t>𝑉</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的函数值完全一致，于是他们逐个波长对</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的函数值进行了修正：</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𝑘</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𝑉</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𝜆</m:t>
                              </m:r>
                            </m:e>
                          </m:d>
                        </m:num>
                        <m:den>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den>
                      </m:f>
                    </m:oMath>
                  </m:oMathPara>
                </a14:m>
                <a:endParaRPr lang="en-US" altLang="zh-CN" b="0"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b="0" i="1" dirty="0" smtClean="0">
                              <a:latin typeface="Cambria Math" panose="02040503050406030204" pitchFamily="18" charset="0"/>
                            </a:rPr>
                          </m:ctrlPr>
                        </m:s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𝑦</m:t>
                              </m:r>
                            </m:e>
                          </m:acc>
                        </m:e>
                        <m:sup>
                          <m:r>
                            <a:rPr lang="en-US" altLang="zh-CN" b="0" i="1" dirty="0" smtClean="0">
                              <a:latin typeface="Cambria Math" panose="02040503050406030204" pitchFamily="18" charset="0"/>
                            </a:rPr>
                            <m:t>′</m:t>
                          </m:r>
                        </m:sup>
                      </m:sSup>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𝜆</m:t>
                          </m:r>
                        </m:e>
                      </m:d>
                      <m:r>
                        <a:rPr lang="en-US" altLang="zh-CN" b="0" i="1" dirty="0" smtClean="0">
                          <a:latin typeface="Cambria Math" panose="02040503050406030204" pitchFamily="18" charset="0"/>
                        </a:rPr>
                        <m:t>=</m:t>
                      </m:r>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ea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𝑦</m:t>
                          </m:r>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𝜆</m:t>
                          </m:r>
                        </m:e>
                      </m:d>
                    </m:oMath>
                  </m:oMathPara>
                </a14:m>
                <a:endParaRPr lang="en-US" altLang="zh-CN" b="0" dirty="0">
                  <a:latin typeface="Noto Sans SC" panose="020B0200000000000000" pitchFamily="34" charset="-122"/>
                  <a:ea typeface="Noto Sans SC" panose="020B0200000000000000" pitchFamily="34" charset="-122"/>
                </a:endParaRPr>
              </a:p>
              <a:p>
                <a:pPr algn="just"/>
                <a:r>
                  <a:rPr lang="en-US" altLang="zh-CN" b="0"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并且，为了不影响</a:t>
                </a:r>
                <a:r>
                  <a:rPr lang="zh-CN" altLang="en-US" dirty="0">
                    <a:latin typeface="Noto Sans SC" panose="020B0200000000000000" pitchFamily="34" charset="-122"/>
                    <a:ea typeface="Noto Sans SC" panose="020B0200000000000000" pitchFamily="34" charset="-122"/>
                  </a:rPr>
                  <a:t>单色光轨迹的</a:t>
                </a:r>
                <a:r>
                  <a:rPr lang="zh-CN" altLang="en-US" b="0" dirty="0">
                    <a:latin typeface="Noto Sans SC" panose="020B0200000000000000" pitchFamily="34" charset="-122"/>
                    <a:ea typeface="Noto Sans SC" panose="020B0200000000000000" pitchFamily="34" charset="-122"/>
                  </a:rPr>
                  <a:t>色度，还需要对</a:t>
                </a:r>
                <a14:m>
                  <m:oMath xmlns:m="http://schemas.openxmlformats.org/officeDocument/2006/math">
                    <m:acc>
                      <m:accPr>
                        <m:chr m:val="̅"/>
                        <m:ctrlPr>
                          <a:rPr lang="en-US" altLang="zh-CN" b="0" i="1" smtClean="0">
                            <a:latin typeface="Cambria Math" panose="02040503050406030204" pitchFamily="18" charset="0"/>
                          </a:rPr>
                        </m:ctrlPr>
                      </m:accPr>
                      <m:e>
                        <m:r>
                          <m:rPr>
                            <m:sty m:val="p"/>
                          </m:rPr>
                          <a:rPr lang="en-US" altLang="zh-CN" b="0" i="0" smtClean="0">
                            <a:latin typeface="Cambria Math" panose="02040503050406030204" pitchFamily="18" charset="0"/>
                          </a:rPr>
                          <m:t>x</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和</a:t>
                </a: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𝑧</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进行同样的修正：</a:t>
                </a:r>
                <a:endParaRPr lang="en-US" altLang="zh-CN"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b="0" i="1" dirty="0" smtClean="0">
                              <a:latin typeface="Cambria Math" panose="02040503050406030204" pitchFamily="18" charset="0"/>
                            </a:rPr>
                          </m:ctrlPr>
                        </m:s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𝑥</m:t>
                              </m:r>
                            </m:e>
                          </m:acc>
                        </m:e>
                        <m:sup>
                          <m:r>
                            <a:rPr lang="en-US" altLang="zh-CN" i="1" dirty="0">
                              <a:latin typeface="Cambria Math" panose="02040503050406030204" pitchFamily="18" charset="0"/>
                            </a:rPr>
                            <m:t>′</m:t>
                          </m:r>
                        </m:sup>
                      </m:sSup>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m:t>
                      </m:r>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ea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m:oMathPara>
                </a14:m>
                <a:endParaRPr lang="en-US" altLang="zh-CN"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b="0" i="1" dirty="0" smtClean="0">
                              <a:latin typeface="Cambria Math" panose="02040503050406030204" pitchFamily="18" charset="0"/>
                            </a:rPr>
                          </m:ctrlPr>
                        </m:s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𝑧</m:t>
                              </m:r>
                            </m:e>
                          </m:acc>
                        </m:e>
                        <m:sup>
                          <m:r>
                            <a:rPr lang="en-US" altLang="zh-CN" i="1" dirty="0">
                              <a:latin typeface="Cambria Math" panose="02040503050406030204" pitchFamily="18" charset="0"/>
                            </a:rPr>
                            <m:t>′</m:t>
                          </m:r>
                        </m:sup>
                      </m:sSup>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m:t>
                      </m:r>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ea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b="0"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这样的话，单色光轨迹的色度坐标就不会受到影响了。以色度坐标</a:t>
                </a:r>
                <a:r>
                  <a:rPr lang="en-US" altLang="zh-CN" dirty="0">
                    <a:latin typeface="Noto Sans SC" panose="020B0200000000000000" pitchFamily="34" charset="-122"/>
                    <a:ea typeface="Noto Sans SC" panose="020B0200000000000000" pitchFamily="34" charset="-122"/>
                  </a:rPr>
                  <a:t>x</a:t>
                </a:r>
                <a:r>
                  <a:rPr lang="zh-CN" altLang="en-US" b="0" dirty="0">
                    <a:latin typeface="Noto Sans SC" panose="020B0200000000000000" pitchFamily="34" charset="-122"/>
                    <a:ea typeface="Noto Sans SC" panose="020B0200000000000000" pitchFamily="34" charset="-122"/>
                  </a:rPr>
                  <a:t>为例：</a:t>
                </a:r>
                <a:endParaRPr lang="en-US" altLang="zh-CN" i="1" dirty="0">
                  <a:latin typeface="Cambria Math" panose="02040503050406030204" pitchFamily="18" charset="0"/>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𝑥</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𝜆</m:t>
                          </m:r>
                        </m:e>
                      </m:d>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num>
                        <m:den>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den>
                      </m:f>
                      <m:r>
                        <a:rPr lang="en-US" altLang="zh-CN" b="0" i="1" dirty="0"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num>
                        <m:den>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m:t>
                          </m:r>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m:t>
                          </m:r>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den>
                      </m:f>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b="0"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不过需要注意的是，复合光的色度坐标还是会受到些许影响的。</a:t>
                </a:r>
                <a:endParaRPr lang="en-US" altLang="zh-CN" b="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此外，右图还给出了</a:t>
                </a:r>
                <a14:m>
                  <m:oMath xmlns:m="http://schemas.openxmlformats.org/officeDocument/2006/math">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的曲线</a:t>
                </a:r>
                <a:r>
                  <a:rPr lang="zh-CN" altLang="en-US" dirty="0">
                    <a:latin typeface="Noto Sans SC" panose="020B0200000000000000" pitchFamily="34" charset="-122"/>
                    <a:ea typeface="Noto Sans SC" panose="020B0200000000000000" pitchFamily="34" charset="-122"/>
                  </a:rPr>
                  <a:t>。可以看到，大部分范围内</a:t>
                </a:r>
                <a14:m>
                  <m:oMath xmlns:m="http://schemas.openxmlformats.org/officeDocument/2006/math">
                    <m:r>
                      <a:rPr lang="en-US" altLang="zh-CN" i="1">
                        <a:latin typeface="Cambria Math" panose="02040503050406030204" pitchFamily="18" charset="0"/>
                      </a:rPr>
                      <m:t>𝑘</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的函数值都接近</a:t>
                </a:r>
                <a:r>
                  <a:rPr lang="en-US" altLang="zh-CN" b="0" dirty="0">
                    <a:latin typeface="Noto Sans SC" panose="020B0200000000000000" pitchFamily="34" charset="-122"/>
                    <a:ea typeface="Noto Sans SC" panose="020B0200000000000000" pitchFamily="34" charset="-122"/>
                  </a:rPr>
                  <a:t>1</a:t>
                </a:r>
                <a:r>
                  <a:rPr lang="zh-CN" altLang="en-US" b="0" dirty="0">
                    <a:latin typeface="Noto Sans SC" panose="020B0200000000000000" pitchFamily="34" charset="-122"/>
                    <a:ea typeface="Noto Sans SC" panose="020B0200000000000000" pitchFamily="34" charset="-122"/>
                  </a:rPr>
                  <a:t>，但是在短波段，由于</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和</a:t>
                </a:r>
                <a14:m>
                  <m:oMath xmlns:m="http://schemas.openxmlformats.org/officeDocument/2006/math">
                    <m:r>
                      <a:rPr lang="en-US" altLang="zh-CN" i="1">
                        <a:latin typeface="Cambria Math" panose="02040503050406030204" pitchFamily="18" charset="0"/>
                      </a:rPr>
                      <m:t>𝑉</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的数值接近于</a:t>
                </a:r>
                <a:r>
                  <a:rPr lang="en-US" altLang="zh-CN" b="0" dirty="0">
                    <a:latin typeface="Noto Sans SC" panose="020B0200000000000000" pitchFamily="34" charset="-122"/>
                    <a:ea typeface="Noto Sans SC" panose="020B0200000000000000" pitchFamily="34" charset="-122"/>
                  </a:rPr>
                  <a:t>0</a:t>
                </a:r>
                <a:r>
                  <a:rPr lang="zh-CN" altLang="en-US" b="0" dirty="0">
                    <a:latin typeface="Noto Sans SC" panose="020B0200000000000000" pitchFamily="34" charset="-122"/>
                    <a:ea typeface="Noto Sans SC" panose="020B0200000000000000" pitchFamily="34" charset="-122"/>
                  </a:rPr>
                  <a:t>，所以即便绝对误差在</a:t>
                </a:r>
                <a14:m>
                  <m:oMath xmlns:m="http://schemas.openxmlformats.org/officeDocument/2006/math">
                    <m:r>
                      <a:rPr lang="en-US" altLang="zh-CN">
                        <a:latin typeface="Cambria Math" panose="02040503050406030204" pitchFamily="18" charset="0"/>
                      </a:rPr>
                      <m:t>1</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−5</m:t>
                        </m:r>
                      </m:sup>
                    </m:sSup>
                  </m:oMath>
                </a14:m>
                <a:r>
                  <a:rPr lang="zh-CN" altLang="en-US" b="0" dirty="0">
                    <a:latin typeface="Noto Sans SC" panose="020B0200000000000000" pitchFamily="34" charset="-122"/>
                    <a:ea typeface="Noto Sans SC" panose="020B0200000000000000" pitchFamily="34" charset="-122"/>
                  </a:rPr>
                  <a:t>量级，相对误差也来到了</a:t>
                </a:r>
                <a:r>
                  <a:rPr lang="en-US" altLang="zh-CN" dirty="0">
                    <a:latin typeface="Noto Sans SC" panose="020B0200000000000000" pitchFamily="34" charset="-122"/>
                    <a:ea typeface="Noto Sans SC" panose="020B0200000000000000" pitchFamily="34" charset="-122"/>
                  </a:rPr>
                  <a:t>2</a:t>
                </a:r>
                <a:r>
                  <a:rPr lang="en-US" altLang="zh-CN" b="0" dirty="0">
                    <a:latin typeface="Noto Sans SC" panose="020B0200000000000000" pitchFamily="34" charset="-122"/>
                    <a:ea typeface="Noto Sans SC" panose="020B0200000000000000" pitchFamily="34" charset="-122"/>
                  </a:rPr>
                  <a:t>0%</a:t>
                </a:r>
                <a:r>
                  <a:rPr lang="zh-CN" altLang="en-US" b="0" dirty="0">
                    <a:latin typeface="Noto Sans SC" panose="020B0200000000000000" pitchFamily="34" charset="-122"/>
                    <a:ea typeface="Noto Sans SC" panose="020B0200000000000000" pitchFamily="34" charset="-122"/>
                  </a:rPr>
                  <a:t>附近。</a:t>
                </a:r>
                <a:endParaRPr lang="en-US" altLang="zh-CN" b="0" dirty="0">
                  <a:latin typeface="Noto Sans SC" panose="020B0200000000000000" pitchFamily="34" charset="-122"/>
                  <a:ea typeface="Noto Sans SC" panose="020B0200000000000000" pitchFamily="34" charset="-122"/>
                </a:endParaRPr>
              </a:p>
            </p:txBody>
          </p:sp>
        </mc:Choice>
        <mc:Fallback xmlns="">
          <p:sp>
            <p:nvSpPr>
              <p:cNvPr id="7" name="文本框 6">
                <a:extLst>
                  <a:ext uri="{FF2B5EF4-FFF2-40B4-BE49-F238E27FC236}">
                    <a16:creationId xmlns:a16="http://schemas.microsoft.com/office/drawing/2014/main" id="{578F2986-A056-24CF-7F6E-CE3789CBFE6B}"/>
                  </a:ext>
                </a:extLst>
              </p:cNvPr>
              <p:cNvSpPr txBox="1">
                <a:spLocks noRot="1" noChangeAspect="1" noMove="1" noResize="1" noEditPoints="1" noAdjustHandles="1" noChangeArrowheads="1" noChangeShapeType="1" noTextEdit="1"/>
              </p:cNvSpPr>
              <p:nvPr/>
            </p:nvSpPr>
            <p:spPr>
              <a:xfrm>
                <a:off x="295284" y="1891566"/>
                <a:ext cx="7127866" cy="4866076"/>
              </a:xfrm>
              <a:prstGeom prst="rect">
                <a:avLst/>
              </a:prstGeom>
              <a:blipFill>
                <a:blip r:embed="rId2"/>
                <a:stretch>
                  <a:fillRect l="-684" t="-626" r="-684" b="-100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8CD229C9-E5AE-6273-6979-68C10F6148FF}"/>
              </a:ext>
            </a:extLst>
          </p:cNvPr>
          <p:cNvPicPr>
            <a:picLocks noChangeAspect="1"/>
          </p:cNvPicPr>
          <p:nvPr/>
        </p:nvPicPr>
        <p:blipFill>
          <a:blip r:embed="rId3"/>
          <a:stretch>
            <a:fillRect/>
          </a:stretch>
        </p:blipFill>
        <p:spPr>
          <a:xfrm>
            <a:off x="7557283" y="2767527"/>
            <a:ext cx="4156096" cy="3948079"/>
          </a:xfrm>
          <a:prstGeom prst="rect">
            <a:avLst/>
          </a:prstGeom>
        </p:spPr>
      </p:pic>
      <p:pic>
        <p:nvPicPr>
          <p:cNvPr id="12" name="图片 11">
            <a:extLst>
              <a:ext uri="{FF2B5EF4-FFF2-40B4-BE49-F238E27FC236}">
                <a16:creationId xmlns:a16="http://schemas.microsoft.com/office/drawing/2014/main" id="{4F86F97F-06D2-5579-2250-19484465F762}"/>
              </a:ext>
            </a:extLst>
          </p:cNvPr>
          <p:cNvPicPr>
            <a:picLocks noChangeAspect="1"/>
          </p:cNvPicPr>
          <p:nvPr/>
        </p:nvPicPr>
        <p:blipFill>
          <a:blip r:embed="rId4"/>
          <a:stretch>
            <a:fillRect/>
          </a:stretch>
        </p:blipFill>
        <p:spPr>
          <a:xfrm>
            <a:off x="7535864" y="1148127"/>
            <a:ext cx="4198935" cy="15512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409948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FC57-E9D0-2BC6-BB55-2AAE2481EFF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45D91D1-80E2-343C-D38E-F97E7EDF5361}"/>
              </a:ext>
            </a:extLst>
          </p:cNvPr>
          <p:cNvSpPr>
            <a:spLocks noGrp="1"/>
          </p:cNvSpPr>
          <p:nvPr>
            <p:ph type="title" idx="1"/>
          </p:nvPr>
        </p:nvSpPr>
        <p:spPr/>
        <p:txBody>
          <a:bodyPr/>
          <a:lstStyle/>
          <a:p>
            <a:r>
              <a:rPr lang="zh-CN" altLang="en-US" dirty="0"/>
              <a:t>色彩科学的历史 </a:t>
            </a:r>
            <a:r>
              <a:rPr lang="en-US" altLang="zh-CN" dirty="0"/>
              <a:t>—— CIE1931</a:t>
            </a:r>
            <a:r>
              <a:rPr lang="zh-CN" altLang="en-US" dirty="0"/>
              <a:t>色彩空间</a:t>
            </a:r>
          </a:p>
        </p:txBody>
      </p:sp>
      <p:sp>
        <p:nvSpPr>
          <p:cNvPr id="6" name="文本框 5">
            <a:extLst>
              <a:ext uri="{FF2B5EF4-FFF2-40B4-BE49-F238E27FC236}">
                <a16:creationId xmlns:a16="http://schemas.microsoft.com/office/drawing/2014/main" id="{53779F00-F9D1-7CFE-50AB-F4071734B87F}"/>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CIE 1931 XYZ color space</a:t>
            </a:r>
          </a:p>
        </p:txBody>
      </p:sp>
      <p:pic>
        <p:nvPicPr>
          <p:cNvPr id="11" name="图片 10">
            <a:extLst>
              <a:ext uri="{FF2B5EF4-FFF2-40B4-BE49-F238E27FC236}">
                <a16:creationId xmlns:a16="http://schemas.microsoft.com/office/drawing/2014/main" id="{CD7107FD-7B2E-C26A-BC07-C02DD9AA620A}"/>
              </a:ext>
            </a:extLst>
          </p:cNvPr>
          <p:cNvPicPr>
            <a:picLocks noChangeAspect="1"/>
          </p:cNvPicPr>
          <p:nvPr/>
        </p:nvPicPr>
        <p:blipFill>
          <a:blip r:embed="rId2"/>
          <a:stretch>
            <a:fillRect/>
          </a:stretch>
        </p:blipFill>
        <p:spPr>
          <a:xfrm>
            <a:off x="1064712" y="3916909"/>
            <a:ext cx="4588311" cy="2789693"/>
          </a:xfrm>
          <a:prstGeom prst="rect">
            <a:avLst/>
          </a:prstGeom>
        </p:spPr>
      </p:pic>
      <p:pic>
        <p:nvPicPr>
          <p:cNvPr id="12" name="图片 11" descr="CIE XYZ color space">
            <a:extLst>
              <a:ext uri="{FF2B5EF4-FFF2-40B4-BE49-F238E27FC236}">
                <a16:creationId xmlns:a16="http://schemas.microsoft.com/office/drawing/2014/main" id="{4C4AA419-62C8-49BB-C56E-738543B1F775}"/>
              </a:ext>
            </a:extLst>
          </p:cNvPr>
          <p:cNvPicPr>
            <a:picLocks noChangeAspect="1"/>
          </p:cNvPicPr>
          <p:nvPr/>
        </p:nvPicPr>
        <p:blipFill>
          <a:blip r:embed="rId3"/>
          <a:stretch>
            <a:fillRect/>
          </a:stretch>
        </p:blipFill>
        <p:spPr>
          <a:xfrm>
            <a:off x="7606300" y="1989812"/>
            <a:ext cx="4133850" cy="4381500"/>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21E9BB2-A4E5-6A68-6CD3-08B6D4F7F773}"/>
                  </a:ext>
                </a:extLst>
              </p:cNvPr>
              <p:cNvSpPr txBox="1"/>
              <p:nvPr/>
            </p:nvSpPr>
            <p:spPr>
              <a:xfrm>
                <a:off x="295284" y="1891566"/>
                <a:ext cx="7127866" cy="1200329"/>
              </a:xfrm>
              <a:prstGeom prst="rect">
                <a:avLst/>
              </a:prstGeom>
              <a:noFill/>
            </p:spPr>
            <p:txBody>
              <a:bodyPr wrap="square">
                <a:spAutoFit/>
              </a:bodyPr>
              <a:lstStyle/>
              <a:p>
                <a:pPr algn="just"/>
                <a:r>
                  <a:rPr lang="en-US" altLang="zh-CN" b="0"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从</a:t>
                </a:r>
                <a:r>
                  <a:rPr lang="en-US" altLang="zh-CN" b="0" dirty="0">
                    <a:latin typeface="Noto Sans SC" panose="020B0200000000000000" pitchFamily="34" charset="-122"/>
                    <a:ea typeface="Noto Sans SC" panose="020B0200000000000000" pitchFamily="34" charset="-122"/>
                  </a:rPr>
                  <a:t>Wright</a:t>
                </a:r>
                <a:r>
                  <a:rPr lang="zh-CN" altLang="en-US" b="0" dirty="0">
                    <a:latin typeface="Noto Sans SC" panose="020B0200000000000000" pitchFamily="34" charset="-122"/>
                    <a:ea typeface="Noto Sans SC" panose="020B0200000000000000" pitchFamily="34" charset="-122"/>
                  </a:rPr>
                  <a:t>和</a:t>
                </a:r>
                <a:r>
                  <a:rPr lang="en-US" altLang="zh-CN" b="0" dirty="0">
                    <a:latin typeface="Noto Sans SC" panose="020B0200000000000000" pitchFamily="34" charset="-122"/>
                    <a:ea typeface="Noto Sans SC" panose="020B0200000000000000" pitchFamily="34" charset="-122"/>
                  </a:rPr>
                  <a:t>Guild</a:t>
                </a:r>
                <a:r>
                  <a:rPr lang="zh-CN" altLang="en-US" b="0" dirty="0">
                    <a:latin typeface="Noto Sans SC" panose="020B0200000000000000" pitchFamily="34" charset="-122"/>
                    <a:ea typeface="Noto Sans SC" panose="020B0200000000000000" pitchFamily="34" charset="-122"/>
                  </a:rPr>
                  <a:t>的颜色匹配实验，到实验数据的合并</a:t>
                </a:r>
                <a:r>
                  <a:rPr lang="zh-CN" altLang="en-US" dirty="0">
                    <a:latin typeface="Noto Sans SC" panose="020B0200000000000000" pitchFamily="34" charset="-122"/>
                    <a:ea typeface="Noto Sans SC" panose="020B0200000000000000" pitchFamily="34" charset="-122"/>
                  </a:rPr>
                  <a:t>统一</a:t>
                </a:r>
                <a:r>
                  <a:rPr lang="zh-CN" altLang="en-US" b="0" dirty="0">
                    <a:latin typeface="Noto Sans SC" panose="020B0200000000000000" pitchFamily="34" charset="-122"/>
                    <a:ea typeface="Noto Sans SC" panose="020B0200000000000000" pitchFamily="34" charset="-122"/>
                  </a:rPr>
                  <a:t>，再到</a:t>
                </a:r>
                <a:r>
                  <a:rPr lang="en-US" altLang="zh-CN" b="0" dirty="0">
                    <a:latin typeface="Noto Sans SC" panose="020B0200000000000000" pitchFamily="34" charset="-122"/>
                    <a:ea typeface="Noto Sans SC" panose="020B0200000000000000" pitchFamily="34" charset="-122"/>
                  </a:rPr>
                  <a:t>Distribution Curves</a:t>
                </a:r>
                <a:r>
                  <a:rPr lang="zh-CN" altLang="en-US" dirty="0">
                    <a:latin typeface="Noto Sans SC" panose="020B0200000000000000" pitchFamily="34" charset="-122"/>
                    <a:ea typeface="Noto Sans SC" panose="020B0200000000000000" pitchFamily="34" charset="-122"/>
                  </a:rPr>
                  <a:t>和</a:t>
                </a:r>
                <a:r>
                  <a:rPr lang="en-US" altLang="zh-CN" dirty="0">
                    <a:latin typeface="Noto Sans SC" panose="020B0200000000000000" pitchFamily="34" charset="-122"/>
                    <a:ea typeface="Noto Sans SC" panose="020B0200000000000000" pitchFamily="34" charset="-122"/>
                  </a:rPr>
                  <a:t>CIE 1931 </a:t>
                </a:r>
                <a:r>
                  <a:rPr lang="en-US" altLang="zh-CN" b="0"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色彩空间，</a:t>
                </a:r>
                <a:r>
                  <a:rPr lang="zh-CN" altLang="en-US" b="0" dirty="0">
                    <a:latin typeface="Noto Sans SC" panose="020B0200000000000000" pitchFamily="34" charset="-122"/>
                    <a:ea typeface="Noto Sans SC" panose="020B0200000000000000" pitchFamily="34" charset="-122"/>
                  </a:rPr>
                  <a:t>最终，</a:t>
                </a:r>
                <a:r>
                  <a:rPr lang="zh-CN" altLang="en-US" dirty="0">
                    <a:latin typeface="Noto Sans SC" panose="020B0200000000000000" pitchFamily="34" charset="-122"/>
                    <a:ea typeface="Noto Sans SC" panose="020B0200000000000000" pitchFamily="34" charset="-122"/>
                  </a:rPr>
                  <a:t>我们得到</a:t>
                </a:r>
                <a:r>
                  <a:rPr lang="zh-CN" altLang="en-US" b="0" dirty="0">
                    <a:latin typeface="Noto Sans SC" panose="020B0200000000000000" pitchFamily="34" charset="-122"/>
                    <a:ea typeface="Noto Sans SC" panose="020B0200000000000000" pitchFamily="34" charset="-122"/>
                  </a:rPr>
                  <a:t>了</a:t>
                </a:r>
                <a:r>
                  <a:rPr lang="en-US" altLang="zh-CN" b="0" dirty="0">
                    <a:latin typeface="Noto Sans SC" panose="020B0200000000000000" pitchFamily="34" charset="-122"/>
                    <a:ea typeface="Noto Sans SC" panose="020B0200000000000000" pitchFamily="34" charset="-122"/>
                  </a:rPr>
                  <a:t>XYZ</a:t>
                </a:r>
                <a:r>
                  <a:rPr lang="zh-CN" altLang="en-US" b="0" dirty="0">
                    <a:latin typeface="Noto Sans SC" panose="020B0200000000000000" pitchFamily="34" charset="-122"/>
                    <a:ea typeface="Noto Sans SC" panose="020B0200000000000000" pitchFamily="34" charset="-122"/>
                  </a:rPr>
                  <a:t>色彩空间、匹配函数</a:t>
                </a:r>
                <a14:m>
                  <m:oMath xmlns:m="http://schemas.openxmlformats.org/officeDocument/2006/math">
                    <m:acc>
                      <m:accPr>
                        <m:chr m:val="̅"/>
                        <m:ctrlPr>
                          <a:rPr lang="en-US" altLang="zh-CN" i="1">
                            <a:latin typeface="Cambria Math" panose="02040503050406030204" pitchFamily="18" charset="0"/>
                          </a:rPr>
                        </m:ctrlPr>
                      </m:accPr>
                      <m:e>
                        <m:r>
                          <m:rPr>
                            <m:sty m:val="p"/>
                          </m:rPr>
                          <a:rPr lang="en-US" altLang="zh-CN">
                            <a:latin typeface="Cambria Math" panose="02040503050406030204" pitchFamily="18" charset="0"/>
                          </a:rPr>
                          <m:t>x</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a:t>
                </a:r>
                <a14:m>
                  <m:oMath xmlns:m="http://schemas.openxmlformats.org/officeDocument/2006/math">
                    <m:acc>
                      <m:accPr>
                        <m:chr m:val="̅"/>
                        <m:ctrlPr>
                          <a:rPr lang="en-US" altLang="zh-CN" b="0" i="1" smtClean="0">
                            <a:latin typeface="Cambria Math" panose="02040503050406030204" pitchFamily="18" charset="0"/>
                          </a:rPr>
                        </m:ctrlPr>
                      </m:accPr>
                      <m:e>
                        <m:r>
                          <m:rPr>
                            <m:sty m:val="p"/>
                          </m:rPr>
                          <a:rPr lang="en-US" altLang="zh-CN" b="0" i="0" smtClean="0">
                            <a:latin typeface="Cambria Math" panose="02040503050406030204" pitchFamily="18" charset="0"/>
                          </a:rPr>
                          <m:t>y</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a:t>
                </a:r>
                <a14:m>
                  <m:oMath xmlns:m="http://schemas.openxmlformats.org/officeDocument/2006/math">
                    <m:acc>
                      <m:accPr>
                        <m:chr m:val="̅"/>
                        <m:ctrlPr>
                          <a:rPr lang="en-US" altLang="zh-CN" b="0" i="1" smtClean="0">
                            <a:latin typeface="Cambria Math" panose="02040503050406030204" pitchFamily="18" charset="0"/>
                          </a:rPr>
                        </m:ctrlPr>
                      </m:accPr>
                      <m:e>
                        <m:r>
                          <m:rPr>
                            <m:sty m:val="p"/>
                          </m:rPr>
                          <a:rPr lang="en-US" altLang="zh-CN" b="0" i="0" smtClean="0">
                            <a:latin typeface="Cambria Math" panose="02040503050406030204" pitchFamily="18" charset="0"/>
                          </a:rPr>
                          <m:t>z</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b="0" dirty="0">
                    <a:latin typeface="Noto Sans SC" panose="020B0200000000000000" pitchFamily="34" charset="-122"/>
                    <a:ea typeface="Noto Sans SC" panose="020B0200000000000000" pitchFamily="34" charset="-122"/>
                  </a:rPr>
                  <a:t>以及</a:t>
                </a:r>
                <a:r>
                  <a:rPr lang="en-US" altLang="zh-CN" b="0" dirty="0">
                    <a:latin typeface="Noto Sans SC" panose="020B0200000000000000" pitchFamily="34" charset="-122"/>
                    <a:ea typeface="Noto Sans SC" panose="020B0200000000000000" pitchFamily="34" charset="-122"/>
                  </a:rPr>
                  <a:t>XYZ</a:t>
                </a:r>
                <a:r>
                  <a:rPr lang="zh-CN" altLang="en-US" b="0" dirty="0">
                    <a:latin typeface="Noto Sans SC" panose="020B0200000000000000" pitchFamily="34" charset="-122"/>
                    <a:ea typeface="Noto Sans SC" panose="020B0200000000000000" pitchFamily="34" charset="-122"/>
                  </a:rPr>
                  <a:t>色彩空间对应的</a:t>
                </a:r>
                <a:r>
                  <a:rPr lang="en-US" altLang="zh-CN" b="0" dirty="0" err="1">
                    <a:latin typeface="Noto Sans SC" panose="020B0200000000000000" pitchFamily="34" charset="-122"/>
                    <a:ea typeface="Noto Sans SC" panose="020B0200000000000000" pitchFamily="34" charset="-122"/>
                  </a:rPr>
                  <a:t>xy</a:t>
                </a:r>
                <a:r>
                  <a:rPr lang="zh-CN" altLang="en-US" b="0" dirty="0">
                    <a:latin typeface="Noto Sans SC" panose="020B0200000000000000" pitchFamily="34" charset="-122"/>
                    <a:ea typeface="Noto Sans SC" panose="020B0200000000000000" pitchFamily="34" charset="-122"/>
                  </a:rPr>
                  <a:t>色度平面</a:t>
                </a:r>
                <a:r>
                  <a:rPr lang="zh-CN" altLang="en-US" dirty="0">
                    <a:latin typeface="Noto Sans SC" panose="020B0200000000000000" pitchFamily="34" charset="-122"/>
                    <a:ea typeface="Noto Sans SC" panose="020B0200000000000000" pitchFamily="34" charset="-122"/>
                  </a:rPr>
                  <a:t>。</a:t>
                </a:r>
                <a:endParaRPr lang="en-US" altLang="zh-CN" b="0" dirty="0">
                  <a:latin typeface="Noto Sans SC" panose="020B0200000000000000" pitchFamily="34" charset="-122"/>
                  <a:ea typeface="Noto Sans SC" panose="020B0200000000000000" pitchFamily="34" charset="-122"/>
                </a:endParaRPr>
              </a:p>
            </p:txBody>
          </p:sp>
        </mc:Choice>
        <mc:Fallback xmlns="">
          <p:sp>
            <p:nvSpPr>
              <p:cNvPr id="14" name="文本框 13">
                <a:extLst>
                  <a:ext uri="{FF2B5EF4-FFF2-40B4-BE49-F238E27FC236}">
                    <a16:creationId xmlns:a16="http://schemas.microsoft.com/office/drawing/2014/main" id="{321E9BB2-A4E5-6A68-6CD3-08B6D4F7F773}"/>
                  </a:ext>
                </a:extLst>
              </p:cNvPr>
              <p:cNvSpPr txBox="1">
                <a:spLocks noRot="1" noChangeAspect="1" noMove="1" noResize="1" noEditPoints="1" noAdjustHandles="1" noChangeArrowheads="1" noChangeShapeType="1" noTextEdit="1"/>
              </p:cNvSpPr>
              <p:nvPr/>
            </p:nvSpPr>
            <p:spPr>
              <a:xfrm>
                <a:off x="295284" y="1891566"/>
                <a:ext cx="7127866" cy="1200329"/>
              </a:xfrm>
              <a:prstGeom prst="rect">
                <a:avLst/>
              </a:prstGeom>
              <a:blipFill>
                <a:blip r:embed="rId4"/>
                <a:stretch>
                  <a:fillRect l="-684" t="-2538" r="-684" b="-7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805139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1831-BDB5-CBAD-1F53-315ECE150FD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D6B22D2-5C6F-2D23-1299-8778C07C330D}"/>
              </a:ext>
            </a:extLst>
          </p:cNvPr>
          <p:cNvSpPr>
            <a:spLocks noGrp="1"/>
          </p:cNvSpPr>
          <p:nvPr>
            <p:ph type="title" idx="1"/>
          </p:nvPr>
        </p:nvSpPr>
        <p:spPr/>
        <p:txBody>
          <a:bodyPr/>
          <a:lstStyle/>
          <a:p>
            <a:r>
              <a:rPr lang="zh-CN" altLang="en-US" dirty="0"/>
              <a:t>色彩科学的历史</a:t>
            </a:r>
          </a:p>
        </p:txBody>
      </p:sp>
      <mc:AlternateContent xmlns:mc="http://schemas.openxmlformats.org/markup-compatibility/2006">
        <mc:Choice xmlns:a14="http://schemas.microsoft.com/office/drawing/2010/main" Requires="a14">
          <p:graphicFrame>
            <p:nvGraphicFramePr>
              <p:cNvPr id="2" name="表格 1">
                <a:extLst>
                  <a:ext uri="{FF2B5EF4-FFF2-40B4-BE49-F238E27FC236}">
                    <a16:creationId xmlns:a16="http://schemas.microsoft.com/office/drawing/2014/main" id="{AF64E69E-A629-10F8-6B87-17ED00B3FEDE}"/>
                  </a:ext>
                </a:extLst>
              </p:cNvPr>
              <p:cNvGraphicFramePr>
                <a:graphicFrameLocks noGrp="1"/>
              </p:cNvGraphicFramePr>
              <p:nvPr>
                <p:extLst>
                  <p:ext uri="{D42A27DB-BD31-4B8C-83A1-F6EECF244321}">
                    <p14:modId xmlns:p14="http://schemas.microsoft.com/office/powerpoint/2010/main" val="3696861003"/>
                  </p:ext>
                </p:extLst>
              </p:nvPr>
            </p:nvGraphicFramePr>
            <p:xfrm>
              <a:off x="144829" y="1155157"/>
              <a:ext cx="11902342" cy="5577840"/>
            </p:xfrm>
            <a:graphic>
              <a:graphicData uri="http://schemas.openxmlformats.org/drawingml/2006/table">
                <a:tbl>
                  <a:tblPr firstRow="1" bandRow="1">
                    <a:tableStyleId>{5C22544A-7EE6-4342-B048-85BDC9FD1C3A}</a:tableStyleId>
                  </a:tblPr>
                  <a:tblGrid>
                    <a:gridCol w="2356657">
                      <a:extLst>
                        <a:ext uri="{9D8B030D-6E8A-4147-A177-3AD203B41FA5}">
                          <a16:colId xmlns:a16="http://schemas.microsoft.com/office/drawing/2014/main" val="885903952"/>
                        </a:ext>
                      </a:extLst>
                    </a:gridCol>
                    <a:gridCol w="2711451">
                      <a:extLst>
                        <a:ext uri="{9D8B030D-6E8A-4147-A177-3AD203B41FA5}">
                          <a16:colId xmlns:a16="http://schemas.microsoft.com/office/drawing/2014/main" val="3449545283"/>
                        </a:ext>
                      </a:extLst>
                    </a:gridCol>
                    <a:gridCol w="1640910">
                      <a:extLst>
                        <a:ext uri="{9D8B030D-6E8A-4147-A177-3AD203B41FA5}">
                          <a16:colId xmlns:a16="http://schemas.microsoft.com/office/drawing/2014/main" val="3508711057"/>
                        </a:ext>
                      </a:extLst>
                    </a:gridCol>
                    <a:gridCol w="1328192">
                      <a:extLst>
                        <a:ext uri="{9D8B030D-6E8A-4147-A177-3AD203B41FA5}">
                          <a16:colId xmlns:a16="http://schemas.microsoft.com/office/drawing/2014/main" val="2824962426"/>
                        </a:ext>
                      </a:extLst>
                    </a:gridCol>
                    <a:gridCol w="1126909">
                      <a:extLst>
                        <a:ext uri="{9D8B030D-6E8A-4147-A177-3AD203B41FA5}">
                          <a16:colId xmlns:a16="http://schemas.microsoft.com/office/drawing/2014/main" val="519346702"/>
                        </a:ext>
                      </a:extLst>
                    </a:gridCol>
                    <a:gridCol w="2738223">
                      <a:extLst>
                        <a:ext uri="{9D8B030D-6E8A-4147-A177-3AD203B41FA5}">
                          <a16:colId xmlns:a16="http://schemas.microsoft.com/office/drawing/2014/main" val="3980277870"/>
                        </a:ext>
                      </a:extLst>
                    </a:gridCol>
                  </a:tblGrid>
                  <a:tr h="355301">
                    <a:tc>
                      <a:txBody>
                        <a:bodyPr/>
                        <a:lstStyle/>
                        <a:p>
                          <a:pPr algn="ctr"/>
                          <a:r>
                            <a:rPr lang="zh-CN" altLang="en-US" sz="1600" dirty="0">
                              <a:latin typeface="Noto Sans SC" panose="020B0200000000000000" pitchFamily="34" charset="-122"/>
                              <a:ea typeface="Noto Sans SC" panose="020B0200000000000000" pitchFamily="34" charset="-122"/>
                            </a:rPr>
                            <a:t>人物</a:t>
                          </a:r>
                          <a:r>
                            <a:rPr lang="en-US" altLang="zh-CN" sz="1600" dirty="0"/>
                            <a:t>/</a:t>
                          </a:r>
                          <a:r>
                            <a:rPr lang="zh-CN" altLang="en-US" sz="1600" dirty="0"/>
                            <a:t>时间</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三原色</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归一化方式</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参考白光</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实际做了</a:t>
                          </a:r>
                          <a:endParaRPr lang="en-US" altLang="zh-CN" sz="1600" dirty="0"/>
                        </a:p>
                        <a:p>
                          <a:pPr algn="ctr"/>
                          <a:r>
                            <a:rPr lang="zh-CN" altLang="en-US" sz="1600" dirty="0"/>
                            <a:t>实验？</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备注</a:t>
                          </a:r>
                        </a:p>
                      </a:txBody>
                      <a:tcPr anchor="ctr"/>
                    </a:tc>
                    <a:extLst>
                      <a:ext uri="{0D108BD9-81ED-4DB2-BD59-A6C34878D82A}">
                        <a16:rowId xmlns:a16="http://schemas.microsoft.com/office/drawing/2014/main" val="3550712760"/>
                      </a:ext>
                    </a:extLst>
                  </a:tr>
                  <a:tr h="37084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1928</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650nm</a:t>
                          </a:r>
                          <a:r>
                            <a:rPr lang="zh-CN" altLang="en-US" sz="1400" dirty="0"/>
                            <a:t>、</a:t>
                          </a:r>
                          <a:r>
                            <a:rPr lang="en-US" altLang="zh-CN" sz="1400" dirty="0"/>
                            <a:t>530nm</a:t>
                          </a:r>
                          <a:r>
                            <a:rPr lang="zh-CN" altLang="en-US" sz="1400" dirty="0"/>
                            <a:t>、</a:t>
                          </a:r>
                          <a:r>
                            <a:rPr lang="en-US" altLang="zh-CN" sz="1400" dirty="0"/>
                            <a:t>460nm</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582.5nm</a:t>
                          </a:r>
                          <a:r>
                            <a:rPr lang="zh-CN" altLang="en-US" sz="1400" dirty="0"/>
                            <a:t>时</a:t>
                          </a:r>
                          <a:r>
                            <a:rPr lang="en-US" altLang="zh-CN" sz="1400" dirty="0"/>
                            <a:t>R=G</a:t>
                          </a:r>
                        </a:p>
                        <a:p>
                          <a:pPr algn="ctr"/>
                          <a:r>
                            <a:rPr lang="en-US" altLang="zh-CN" sz="1400" dirty="0"/>
                            <a:t>494.0nm</a:t>
                          </a:r>
                          <a:r>
                            <a:rPr lang="zh-CN" altLang="en-US" sz="1400" dirty="0"/>
                            <a:t>时</a:t>
                          </a:r>
                          <a:r>
                            <a:rPr lang="en-US" altLang="zh-CN" sz="1400" dirty="0"/>
                            <a:t>G=B</a:t>
                          </a:r>
                          <a:endParaRPr lang="zh-CN" altLang="en-US" sz="1400" dirty="0"/>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无</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endParaRPr lang="en-US" altLang="zh-CN" sz="1400" dirty="0"/>
                        </a:p>
                        <a:p>
                          <a:pPr algn="ctr"/>
                          <a:r>
                            <a:rPr lang="zh-CN" altLang="en-US" sz="1400" dirty="0"/>
                            <a:t>匹配单色光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400nm-700nm</a:t>
                          </a:r>
                          <a:r>
                            <a:rPr lang="zh-CN" altLang="en-US" sz="1400" dirty="0"/>
                            <a:t>，每</a:t>
                          </a:r>
                          <a:r>
                            <a:rPr lang="en-US" altLang="zh-CN" sz="1400" dirty="0"/>
                            <a:t>10nm</a:t>
                          </a:r>
                        </a:p>
                        <a:p>
                          <a:pPr algn="ctr"/>
                          <a:r>
                            <a:rPr lang="en-US" altLang="zh-CN" sz="1400" dirty="0"/>
                            <a:t>10</a:t>
                          </a:r>
                          <a:r>
                            <a:rPr lang="zh-CN" altLang="en-US" sz="1400" dirty="0"/>
                            <a:t>名观察者，</a:t>
                          </a:r>
                          <a:r>
                            <a:rPr lang="en-US" altLang="zh-CN" sz="1400" dirty="0"/>
                            <a:t>2°</a:t>
                          </a:r>
                          <a:r>
                            <a:rPr lang="zh-CN" altLang="en-US" sz="1400" dirty="0"/>
                            <a:t>视角</a:t>
                          </a:r>
                        </a:p>
                      </a:txBody>
                      <a:tcPr anchor="ctr"/>
                    </a:tc>
                    <a:extLst>
                      <a:ext uri="{0D108BD9-81ED-4DB2-BD59-A6C34878D82A}">
                        <a16:rowId xmlns:a16="http://schemas.microsoft.com/office/drawing/2014/main" val="3560496226"/>
                      </a:ext>
                    </a:extLst>
                  </a:tr>
                  <a:tr h="37084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1929</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650nm</a:t>
                          </a:r>
                          <a:r>
                            <a:rPr lang="zh-CN" altLang="en-US" sz="1400" dirty="0"/>
                            <a:t>、</a:t>
                          </a:r>
                          <a:r>
                            <a:rPr lang="en-US" altLang="zh-CN" sz="1400" dirty="0"/>
                            <a:t>530nm</a:t>
                          </a:r>
                          <a:r>
                            <a:rPr lang="zh-CN" altLang="en-US" sz="1400" dirty="0"/>
                            <a:t>、</a:t>
                          </a:r>
                          <a:r>
                            <a:rPr lang="en-US" altLang="zh-CN" sz="1400" dirty="0"/>
                            <a:t>460nm</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endParaRPr lang="en-US" altLang="zh-CN" sz="1400" dirty="0"/>
                        </a:p>
                        <a:p>
                          <a:pPr algn="ctr"/>
                          <a:r>
                            <a:rPr lang="zh-CN" altLang="en-US" sz="1400" dirty="0"/>
                            <a:t>匹配白光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36</a:t>
                          </a:r>
                          <a:r>
                            <a:rPr lang="zh-CN" altLang="en-US" sz="1400" dirty="0"/>
                            <a:t>名观察者</a:t>
                          </a:r>
                        </a:p>
                      </a:txBody>
                      <a:tcPr anchor="ctr"/>
                    </a:tc>
                    <a:extLst>
                      <a:ext uri="{0D108BD9-81ED-4DB2-BD59-A6C34878D82A}">
                        <a16:rowId xmlns:a16="http://schemas.microsoft.com/office/drawing/2014/main" val="4274478958"/>
                      </a:ext>
                    </a:extLst>
                  </a:tr>
                  <a:tr h="37084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1930</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p>
                          <a:pPr algn="ctr"/>
                          <a:r>
                            <a:rPr lang="en-US" altLang="zh-CN" sz="1400" dirty="0"/>
                            <a:t>700nm</a:t>
                          </a:r>
                          <a:r>
                            <a:rPr lang="zh-CN" altLang="en-US" sz="1400" dirty="0"/>
                            <a:t>、</a:t>
                          </a:r>
                          <a:r>
                            <a:rPr lang="en-US" altLang="zh-CN" sz="1400" dirty="0"/>
                            <a:t>546.1nm</a:t>
                          </a:r>
                          <a:r>
                            <a:rPr lang="zh-CN" altLang="en-US" sz="1400" dirty="0"/>
                            <a:t>、</a:t>
                          </a:r>
                          <a:r>
                            <a:rPr lang="en-US" altLang="zh-CN" sz="1400" dirty="0"/>
                            <a:t>435.8nm</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数学变换得到</a:t>
                          </a:r>
                        </a:p>
                      </a:txBody>
                      <a:tcPr anchor="ctr"/>
                    </a:tc>
                    <a:extLst>
                      <a:ext uri="{0D108BD9-81ED-4DB2-BD59-A6C34878D82A}">
                        <a16:rowId xmlns:a16="http://schemas.microsoft.com/office/drawing/2014/main" val="2438593325"/>
                      </a:ext>
                    </a:extLst>
                  </a:tr>
                  <a:tr h="370840">
                    <a:tc>
                      <a:txBody>
                        <a:bodyPr/>
                        <a:lstStyle/>
                        <a:p>
                          <a:pPr algn="ctr"/>
                          <a:r>
                            <a:rPr lang="zh-CN" altLang="en-US" sz="1400" b="1" dirty="0">
                              <a:solidFill>
                                <a:schemeClr val="accent4">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4">
                                  <a:lumMod val="50000"/>
                                </a:schemeClr>
                              </a:solidFill>
                            </a:rPr>
                            <a:t>2</a:t>
                          </a:r>
                          <a:r>
                            <a:rPr lang="zh-CN" altLang="en-US" sz="1400" dirty="0"/>
                            <a:t>： </a:t>
                          </a:r>
                          <a:r>
                            <a:rPr lang="en-US" altLang="zh-CN" sz="1400" dirty="0"/>
                            <a:t>Guild   1931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400" dirty="0">
                              <a:latin typeface="Noto Sans SC" panose="020B0200000000000000" pitchFamily="34" charset="-122"/>
                              <a:ea typeface="Noto Sans SC" panose="020B0200000000000000" pitchFamily="34" charset="-122"/>
                            </a:rPr>
                            <a:t>充气乳白灯泡</a:t>
                          </a:r>
                          <a:r>
                            <a:rPr lang="zh-CN" altLang="en-US" sz="1400" dirty="0"/>
                            <a:t>配上红绿蓝三</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种</a:t>
                          </a:r>
                          <a:r>
                            <a:rPr lang="zh-CN" altLang="zh-CN" sz="1400" dirty="0"/>
                            <a:t>明胶滤镜</a:t>
                          </a:r>
                          <a:r>
                            <a:rPr lang="zh-CN" altLang="en-US" sz="1400" dirty="0"/>
                            <a:t>，具体光谱未知</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380nm-780nm</a:t>
                          </a:r>
                          <a:r>
                            <a:rPr lang="zh-CN" altLang="en-US" sz="1400" dirty="0"/>
                            <a:t>，每</a:t>
                          </a:r>
                          <a:r>
                            <a:rPr lang="en-US" altLang="zh-CN" sz="1400" dirty="0"/>
                            <a:t>5nm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7</a:t>
                          </a:r>
                          <a:r>
                            <a:rPr lang="zh-CN" altLang="en-US" sz="1400" dirty="0"/>
                            <a:t>名观察者，</a:t>
                          </a:r>
                          <a:r>
                            <a:rPr lang="en-US" altLang="zh-CN" sz="1400" dirty="0"/>
                            <a:t>2°</a:t>
                          </a:r>
                          <a:r>
                            <a:rPr lang="zh-CN" altLang="en-US" sz="1400" dirty="0"/>
                            <a:t>视角</a:t>
                          </a:r>
                        </a:p>
                      </a:txBody>
                      <a:tcPr anchor="ctr"/>
                    </a:tc>
                    <a:extLst>
                      <a:ext uri="{0D108BD9-81ED-4DB2-BD59-A6C34878D82A}">
                        <a16:rowId xmlns:a16="http://schemas.microsoft.com/office/drawing/2014/main" val="1108105045"/>
                      </a:ext>
                    </a:extLst>
                  </a:tr>
                  <a:tr h="370840">
                    <a:tc>
                      <a:txBody>
                        <a:bodyPr/>
                        <a:lstStyle/>
                        <a:p>
                          <a:pPr algn="ctr"/>
                          <a:r>
                            <a:rPr lang="zh-CN" altLang="en-US" sz="1400" b="1" dirty="0">
                              <a:solidFill>
                                <a:schemeClr val="accent4">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4">
                                  <a:lumMod val="50000"/>
                                </a:schemeClr>
                              </a:solidFill>
                            </a:rPr>
                            <a:t>2</a:t>
                          </a:r>
                          <a:r>
                            <a:rPr lang="zh-CN" altLang="en-US" sz="1400" dirty="0"/>
                            <a:t>： </a:t>
                          </a:r>
                          <a:r>
                            <a:rPr lang="en-US" altLang="zh-CN" sz="1400" dirty="0"/>
                            <a:t>Guild   1931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数学变换得到</a:t>
                          </a:r>
                        </a:p>
                      </a:txBody>
                      <a:tcPr anchor="ctr"/>
                    </a:tc>
                    <a:extLst>
                      <a:ext uri="{0D108BD9-81ED-4DB2-BD59-A6C34878D82A}">
                        <a16:rowId xmlns:a16="http://schemas.microsoft.com/office/drawing/2014/main" val="1786092775"/>
                      </a:ext>
                    </a:extLst>
                  </a:tr>
                  <a:tr h="370840">
                    <a:tc>
                      <a:txBody>
                        <a:bodyPr/>
                        <a:lstStyle/>
                        <a:p>
                          <a:pPr algn="ctr"/>
                          <a:r>
                            <a:rPr lang="zh-CN" altLang="en-US" sz="1400" b="1" dirty="0">
                              <a:latin typeface="Noto Sans SC" panose="020B0200000000000000" pitchFamily="34" charset="-122"/>
                              <a:ea typeface="Noto Sans SC" panose="020B0200000000000000" pitchFamily="34" charset="-122"/>
                            </a:rPr>
                            <a:t>合并</a:t>
                          </a:r>
                          <a:r>
                            <a:rPr lang="zh-CN" altLang="en-US" sz="1400" dirty="0"/>
                            <a:t>：   </a:t>
                          </a:r>
                          <a:r>
                            <a:rPr lang="en-US" altLang="zh-CN" sz="1400" dirty="0"/>
                            <a:t>Guild   1931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380nm-780nm</a:t>
                          </a:r>
                          <a:r>
                            <a:rPr lang="zh-CN" altLang="en-US" sz="1400" dirty="0"/>
                            <a:t>，每</a:t>
                          </a:r>
                          <a:r>
                            <a:rPr lang="en-US" altLang="zh-CN" sz="1400" dirty="0"/>
                            <a:t>5nm,</a:t>
                          </a:r>
                        </a:p>
                        <a:p>
                          <a:pPr algn="ctr"/>
                          <a:r>
                            <a:rPr lang="zh-CN" altLang="en-US" sz="1400" dirty="0"/>
                            <a:t>两人数据平均、曲线拟合、平滑</a:t>
                          </a:r>
                        </a:p>
                      </a:txBody>
                      <a:tcPr anchor="ctr"/>
                    </a:tc>
                    <a:extLst>
                      <a:ext uri="{0D108BD9-81ED-4DB2-BD59-A6C34878D82A}">
                        <a16:rowId xmlns:a16="http://schemas.microsoft.com/office/drawing/2014/main" val="66859143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CIE 1931 RGB color space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等能白光</a:t>
                          </a:r>
                          <a:r>
                            <a:rPr lang="en-US" altLang="zh-CN" sz="1400" dirty="0"/>
                            <a:t>EEW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a:t>
                          </a:r>
                          <a:endParaRPr lang="zh-CN" altLang="en-US" sz="1400" dirty="0"/>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数学变换到参考白光为</a:t>
                          </a:r>
                          <a:r>
                            <a:rPr lang="en-US" altLang="zh-CN" sz="1400" dirty="0"/>
                            <a:t>EEW</a:t>
                          </a:r>
                        </a:p>
                        <a:p>
                          <a:pPr algn="ctr"/>
                          <a:r>
                            <a:rPr lang="zh-CN" altLang="en-US" sz="1400" dirty="0"/>
                            <a:t>计算得到</a:t>
                          </a:r>
                          <a:r>
                            <a:rPr lang="en-US" altLang="zh-CN" sz="1400" dirty="0"/>
                            <a:t>CMFs</a:t>
                          </a:r>
                          <a:endParaRPr lang="zh-CN" altLang="en-US" sz="1400" dirty="0"/>
                        </a:p>
                      </a:txBody>
                      <a:tcPr anchor="ctr"/>
                    </a:tc>
                    <a:extLst>
                      <a:ext uri="{0D108BD9-81ED-4DB2-BD59-A6C34878D82A}">
                        <a16:rowId xmlns:a16="http://schemas.microsoft.com/office/drawing/2014/main" val="271492467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CIE    1931</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得到变换矩阵</a:t>
                          </a:r>
                          <a:r>
                            <a:rPr lang="en-US" altLang="zh-CN" sz="1400" dirty="0"/>
                            <a:t>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XYZ</a:t>
                          </a:r>
                          <a:r>
                            <a:rPr lang="zh-CN" altLang="en-US" sz="1400" dirty="0"/>
                            <a:t>空间虚拟三原色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XYZ</a:t>
                          </a:r>
                          <a:r>
                            <a:rPr lang="zh-CN" altLang="en-US" sz="1400" dirty="0"/>
                            <a:t>空间</a:t>
                          </a:r>
                          <a:r>
                            <a:rPr lang="en-US" altLang="zh-CN" sz="1400" dirty="0"/>
                            <a:t>(1, 1, 1)</a:t>
                          </a:r>
                        </a:p>
                        <a:p>
                          <a:pPr algn="ctr"/>
                          <a:r>
                            <a:rPr lang="zh-CN" altLang="en-US" sz="1100" dirty="0"/>
                            <a:t>对应</a:t>
                          </a:r>
                          <a:endParaRPr lang="en-US" altLang="zh-CN" sz="1400" dirty="0"/>
                        </a:p>
                        <a:p>
                          <a:pPr algn="ctr"/>
                          <a:r>
                            <a:rPr lang="en-US" altLang="zh-CN" sz="1400" dirty="0"/>
                            <a:t>RGB</a:t>
                          </a:r>
                          <a:r>
                            <a:rPr lang="zh-CN" altLang="en-US" sz="1400" dirty="0"/>
                            <a:t>空间</a:t>
                          </a:r>
                          <a:r>
                            <a:rPr lang="en-US" altLang="zh-CN" sz="1400" dirty="0"/>
                            <a:t>(1, 1, 1)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等能白光</a:t>
                          </a:r>
                          <a:r>
                            <a:rPr lang="en-US" altLang="zh-CN" sz="1400" dirty="0"/>
                            <a:t>EEW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CIE</a:t>
                          </a:r>
                          <a:r>
                            <a:rPr lang="zh-CN" altLang="en-US" sz="1400" dirty="0"/>
                            <a:t>设计了</a:t>
                          </a:r>
                          <a:r>
                            <a:rPr lang="en-US" altLang="zh-CN" sz="1400" dirty="0"/>
                            <a:t>XYZ</a:t>
                          </a:r>
                          <a:r>
                            <a:rPr lang="zh-CN" altLang="en-US" sz="1400" dirty="0"/>
                            <a:t>色彩空间</a:t>
                          </a:r>
                          <a:endParaRPr lang="en-US" altLang="zh-CN" sz="1400" dirty="0"/>
                        </a:p>
                        <a:p>
                          <a:pPr algn="ctr"/>
                          <a:r>
                            <a:rPr lang="zh-CN" altLang="en-US" sz="1400" dirty="0"/>
                            <a:t>得到了初步的转换矩阵</a:t>
                          </a:r>
                          <a:r>
                            <a:rPr lang="en-US" altLang="zh-CN" sz="1400" dirty="0"/>
                            <a:t>T</a:t>
                          </a:r>
                          <a:endParaRPr lang="zh-CN" altLang="en-US" sz="1400" dirty="0"/>
                        </a:p>
                      </a:txBody>
                      <a:tcPr anchor="ctr"/>
                    </a:tc>
                    <a:extLst>
                      <a:ext uri="{0D108BD9-81ED-4DB2-BD59-A6C34878D82A}">
                        <a16:rowId xmlns:a16="http://schemas.microsoft.com/office/drawing/2014/main" val="237301266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CIE 1931 XYZ color space</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调整使得</a:t>
                          </a:r>
                          <a14:m>
                            <m:oMath xmlns:m="http://schemas.openxmlformats.org/officeDocument/2006/math">
                              <m:acc>
                                <m:accPr>
                                  <m:chr m:val="̅"/>
                                  <m:ctrlPr>
                                    <a:rPr lang="en-US" altLang="zh-CN" sz="1400" i="1">
                                      <a:latin typeface="Cambria Math" panose="02040503050406030204" pitchFamily="18" charset="0"/>
                                    </a:rPr>
                                  </m:ctrlPr>
                                </m:accPr>
                                <m:e>
                                  <m:r>
                                    <a:rPr lang="en-US" altLang="zh-CN" sz="1400" i="1">
                                      <a:latin typeface="Cambria Math" panose="02040503050406030204" pitchFamily="18" charset="0"/>
                                    </a:rPr>
                                    <m:t>𝑦</m:t>
                                  </m:r>
                                </m:e>
                              </m:acc>
                              <m:d>
                                <m:dPr>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𝜆</m:t>
                                  </m:r>
                                </m:e>
                              </m:d>
                              <m:r>
                                <a:rPr lang="en-US" altLang="zh-CN" sz="1400" b="0" i="1" dirty="0" smtClean="0">
                                  <a:latin typeface="Cambria Math" panose="02040503050406030204" pitchFamily="18" charset="0"/>
                                </a:rPr>
                                <m:t>=</m:t>
                              </m:r>
                              <m:r>
                                <a:rPr lang="en-US" altLang="zh-CN" sz="1400" b="0" i="1" smtClean="0">
                                  <a:latin typeface="Cambria Math" panose="02040503050406030204" pitchFamily="18" charset="0"/>
                                </a:rPr>
                                <m:t>𝑉</m:t>
                              </m:r>
                              <m:d>
                                <m:dPr>
                                  <m:ctrlPr>
                                    <a:rPr lang="en-US" altLang="zh-CN" sz="1400" i="1" dirty="0">
                                      <a:latin typeface="Cambria Math" panose="02040503050406030204" pitchFamily="18" charset="0"/>
                                    </a:rPr>
                                  </m:ctrlPr>
                                </m:dPr>
                                <m:e>
                                  <m:r>
                                    <a:rPr lang="en-US" altLang="zh-CN" sz="1400" i="1" dirty="0">
                                      <a:latin typeface="Cambria Math" panose="02040503050406030204" pitchFamily="18" charset="0"/>
                                    </a:rPr>
                                    <m:t>𝜆</m:t>
                                  </m:r>
                                </m:e>
                              </m:d>
                            </m:oMath>
                          </a14:m>
                          <a:endParaRPr lang="en-US" altLang="zh-CN"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XYZ</a:t>
                          </a:r>
                          <a:r>
                            <a:rPr lang="zh-CN" altLang="en-US" sz="1400" dirty="0"/>
                            <a:t>空间虚拟三原色</a:t>
                          </a:r>
                          <a:endParaRPr lang="en-US" altLang="zh-CN" sz="1400" dirty="0"/>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新</a:t>
                          </a:r>
                          <a:r>
                            <a:rPr lang="en-US" altLang="zh-CN" sz="1400" dirty="0"/>
                            <a:t>XYZ</a:t>
                          </a:r>
                          <a:r>
                            <a:rPr lang="zh-CN" altLang="en-US" sz="1400" dirty="0"/>
                            <a:t>空间</a:t>
                          </a:r>
                          <a:r>
                            <a:rPr lang="en-US" altLang="zh-CN" sz="1400" dirty="0"/>
                            <a:t>(1, 1, 1)</a:t>
                          </a:r>
                        </a:p>
                        <a:p>
                          <a:pPr algn="ctr"/>
                          <a:r>
                            <a:rPr lang="zh-CN" altLang="en-US" sz="1100" b="1" dirty="0"/>
                            <a:t>基本</a:t>
                          </a:r>
                          <a:r>
                            <a:rPr lang="zh-CN" altLang="en-US" sz="1100" dirty="0"/>
                            <a:t>对应</a:t>
                          </a:r>
                          <a:endParaRPr lang="en-US" altLang="zh-CN" sz="1100" dirty="0"/>
                        </a:p>
                        <a:p>
                          <a:pPr algn="ctr"/>
                          <a:r>
                            <a:rPr lang="zh-CN" altLang="en-US" sz="1400" dirty="0"/>
                            <a:t>旧</a:t>
                          </a:r>
                          <a:r>
                            <a:rPr lang="en-US" altLang="zh-CN" sz="1400" dirty="0"/>
                            <a:t>XYZ</a:t>
                          </a:r>
                          <a:r>
                            <a:rPr lang="zh-CN" altLang="en-US" sz="1400" dirty="0"/>
                            <a:t>空间</a:t>
                          </a:r>
                          <a:r>
                            <a:rPr lang="en-US" altLang="zh-CN" sz="1400" dirty="0"/>
                            <a:t>(1, 1, 1)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等能白光</a:t>
                          </a:r>
                          <a:r>
                            <a:rPr lang="en-US" altLang="zh-CN" sz="1400" dirty="0"/>
                            <a:t>EEW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a:t>
                          </a:r>
                          <a:endParaRPr lang="zh-CN" altLang="en-US" sz="1400" dirty="0"/>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微调</a:t>
                          </a:r>
                          <a14:m>
                            <m:oMath xmlns:m="http://schemas.openxmlformats.org/officeDocument/2006/math">
                              <m:acc>
                                <m:accPr>
                                  <m:chr m:val="̅"/>
                                  <m:ctrlPr>
                                    <a:rPr lang="en-US" altLang="zh-CN" sz="1400" i="1">
                                      <a:latin typeface="Cambria Math" panose="02040503050406030204" pitchFamily="18" charset="0"/>
                                    </a:rPr>
                                  </m:ctrlPr>
                                </m:accPr>
                                <m:e>
                                  <m:r>
                                    <m:rPr>
                                      <m:sty m:val="p"/>
                                    </m:rPr>
                                    <a:rPr lang="en-US" altLang="zh-CN" sz="1400">
                                      <a:latin typeface="Cambria Math" panose="02040503050406030204" pitchFamily="18" charset="0"/>
                                    </a:rPr>
                                    <m:t>x</m:t>
                                  </m:r>
                                </m:e>
                              </m:acc>
                              <m:d>
                                <m:dPr>
                                  <m:ctrlPr>
                                    <a:rPr lang="en-US" altLang="zh-CN" sz="1400" i="1">
                                      <a:latin typeface="Cambria Math" panose="02040503050406030204" pitchFamily="18" charset="0"/>
                                    </a:rPr>
                                  </m:ctrlPr>
                                </m:dPr>
                                <m:e>
                                  <m:r>
                                    <a:rPr lang="en-US" altLang="zh-CN" sz="1400" i="1">
                                      <a:latin typeface="Cambria Math" panose="02040503050406030204" pitchFamily="18" charset="0"/>
                                    </a:rPr>
                                    <m:t>𝜆</m:t>
                                  </m:r>
                                </m:e>
                              </m:d>
                            </m:oMath>
                          </a14:m>
                          <a:r>
                            <a:rPr lang="zh-CN" altLang="en-US" sz="1400" b="0" dirty="0"/>
                            <a:t>、</a:t>
                          </a:r>
                          <a14:m>
                            <m:oMath xmlns:m="http://schemas.openxmlformats.org/officeDocument/2006/math">
                              <m:acc>
                                <m:accPr>
                                  <m:chr m:val="̅"/>
                                  <m:ctrlPr>
                                    <a:rPr lang="en-US" altLang="zh-CN" sz="1400" b="0" i="1" smtClean="0">
                                      <a:latin typeface="Cambria Math" panose="02040503050406030204" pitchFamily="18" charset="0"/>
                                    </a:rPr>
                                  </m:ctrlPr>
                                </m:accPr>
                                <m:e>
                                  <m:r>
                                    <m:rPr>
                                      <m:sty m:val="p"/>
                                    </m:rPr>
                                    <a:rPr lang="en-US" altLang="zh-CN" sz="1400" b="0" i="0" smtClean="0">
                                      <a:latin typeface="Cambria Math" panose="02040503050406030204" pitchFamily="18" charset="0"/>
                                    </a:rPr>
                                    <m:t>y</m:t>
                                  </m:r>
                                </m:e>
                              </m:acc>
                              <m:d>
                                <m:dPr>
                                  <m:ctrlPr>
                                    <a:rPr lang="en-US" altLang="zh-CN" sz="1400" i="1">
                                      <a:latin typeface="Cambria Math" panose="02040503050406030204" pitchFamily="18" charset="0"/>
                                    </a:rPr>
                                  </m:ctrlPr>
                                </m:dPr>
                                <m:e>
                                  <m:r>
                                    <a:rPr lang="en-US" altLang="zh-CN" sz="1400" i="1">
                                      <a:latin typeface="Cambria Math" panose="02040503050406030204" pitchFamily="18" charset="0"/>
                                    </a:rPr>
                                    <m:t>𝜆</m:t>
                                  </m:r>
                                </m:e>
                              </m:d>
                            </m:oMath>
                          </a14:m>
                          <a:r>
                            <a:rPr lang="zh-CN" altLang="en-US" sz="1400" b="0" dirty="0"/>
                            <a:t>、</a:t>
                          </a:r>
                          <a14:m>
                            <m:oMath xmlns:m="http://schemas.openxmlformats.org/officeDocument/2006/math">
                              <m:acc>
                                <m:accPr>
                                  <m:chr m:val="̅"/>
                                  <m:ctrlPr>
                                    <a:rPr lang="en-US" altLang="zh-CN" sz="1400" b="0" i="1" smtClean="0">
                                      <a:latin typeface="Cambria Math" panose="02040503050406030204" pitchFamily="18" charset="0"/>
                                    </a:rPr>
                                  </m:ctrlPr>
                                </m:accPr>
                                <m:e>
                                  <m:r>
                                    <m:rPr>
                                      <m:sty m:val="p"/>
                                    </m:rPr>
                                    <a:rPr lang="en-US" altLang="zh-CN" sz="1400" b="0" i="0" smtClean="0">
                                      <a:latin typeface="Cambria Math" panose="02040503050406030204" pitchFamily="18" charset="0"/>
                                    </a:rPr>
                                    <m:t>z</m:t>
                                  </m:r>
                                </m:e>
                              </m:acc>
                              <m:d>
                                <m:dPr>
                                  <m:ctrlPr>
                                    <a:rPr lang="en-US" altLang="zh-CN" sz="1400" i="1">
                                      <a:latin typeface="Cambria Math" panose="02040503050406030204" pitchFamily="18" charset="0"/>
                                    </a:rPr>
                                  </m:ctrlPr>
                                </m:dPr>
                                <m:e>
                                  <m:r>
                                    <a:rPr lang="en-US" altLang="zh-CN" sz="1400" i="1">
                                      <a:latin typeface="Cambria Math" panose="02040503050406030204" pitchFamily="18" charset="0"/>
                                    </a:rPr>
                                    <m:t>𝜆</m:t>
                                  </m:r>
                                </m:e>
                              </m:d>
                            </m:oMath>
                          </a14:m>
                          <a:endParaRPr lang="en-US" altLang="zh-CN" sz="1400" dirty="0"/>
                        </a:p>
                        <a:p>
                          <a:pPr algn="ctr"/>
                          <a:r>
                            <a:rPr lang="zh-CN" altLang="en-US" sz="1400" dirty="0"/>
                            <a:t>不改变</a:t>
                          </a:r>
                          <a:r>
                            <a:rPr lang="en-US" altLang="zh-CN" sz="1400" dirty="0" err="1"/>
                            <a:t>xy</a:t>
                          </a:r>
                          <a:r>
                            <a:rPr lang="zh-CN" altLang="en-US" sz="1400" dirty="0"/>
                            <a:t>色度平面</a:t>
                          </a:r>
                        </a:p>
                      </a:txBody>
                      <a:tcPr anchor="ctr"/>
                    </a:tc>
                    <a:extLst>
                      <a:ext uri="{0D108BD9-81ED-4DB2-BD59-A6C34878D82A}">
                        <a16:rowId xmlns:a16="http://schemas.microsoft.com/office/drawing/2014/main" val="3734125631"/>
                      </a:ext>
                    </a:extLst>
                  </a:tr>
                </a:tbl>
              </a:graphicData>
            </a:graphic>
          </p:graphicFrame>
        </mc:Choice>
        <mc:Fallback>
          <p:graphicFrame>
            <p:nvGraphicFramePr>
              <p:cNvPr id="2" name="表格 1">
                <a:extLst>
                  <a:ext uri="{FF2B5EF4-FFF2-40B4-BE49-F238E27FC236}">
                    <a16:creationId xmlns:a16="http://schemas.microsoft.com/office/drawing/2014/main" id="{AF64E69E-A629-10F8-6B87-17ED00B3FEDE}"/>
                  </a:ext>
                </a:extLst>
              </p:cNvPr>
              <p:cNvGraphicFramePr>
                <a:graphicFrameLocks noGrp="1"/>
              </p:cNvGraphicFramePr>
              <p:nvPr>
                <p:extLst>
                  <p:ext uri="{D42A27DB-BD31-4B8C-83A1-F6EECF244321}">
                    <p14:modId xmlns:p14="http://schemas.microsoft.com/office/powerpoint/2010/main" val="3696861003"/>
                  </p:ext>
                </p:extLst>
              </p:nvPr>
            </p:nvGraphicFramePr>
            <p:xfrm>
              <a:off x="144829" y="1155157"/>
              <a:ext cx="11902342" cy="5577840"/>
            </p:xfrm>
            <a:graphic>
              <a:graphicData uri="http://schemas.openxmlformats.org/drawingml/2006/table">
                <a:tbl>
                  <a:tblPr firstRow="1" bandRow="1">
                    <a:tableStyleId>{5C22544A-7EE6-4342-B048-85BDC9FD1C3A}</a:tableStyleId>
                  </a:tblPr>
                  <a:tblGrid>
                    <a:gridCol w="2356657">
                      <a:extLst>
                        <a:ext uri="{9D8B030D-6E8A-4147-A177-3AD203B41FA5}">
                          <a16:colId xmlns:a16="http://schemas.microsoft.com/office/drawing/2014/main" val="885903952"/>
                        </a:ext>
                      </a:extLst>
                    </a:gridCol>
                    <a:gridCol w="2711451">
                      <a:extLst>
                        <a:ext uri="{9D8B030D-6E8A-4147-A177-3AD203B41FA5}">
                          <a16:colId xmlns:a16="http://schemas.microsoft.com/office/drawing/2014/main" val="3449545283"/>
                        </a:ext>
                      </a:extLst>
                    </a:gridCol>
                    <a:gridCol w="1640910">
                      <a:extLst>
                        <a:ext uri="{9D8B030D-6E8A-4147-A177-3AD203B41FA5}">
                          <a16:colId xmlns:a16="http://schemas.microsoft.com/office/drawing/2014/main" val="3508711057"/>
                        </a:ext>
                      </a:extLst>
                    </a:gridCol>
                    <a:gridCol w="1328192">
                      <a:extLst>
                        <a:ext uri="{9D8B030D-6E8A-4147-A177-3AD203B41FA5}">
                          <a16:colId xmlns:a16="http://schemas.microsoft.com/office/drawing/2014/main" val="2824962426"/>
                        </a:ext>
                      </a:extLst>
                    </a:gridCol>
                    <a:gridCol w="1126909">
                      <a:extLst>
                        <a:ext uri="{9D8B030D-6E8A-4147-A177-3AD203B41FA5}">
                          <a16:colId xmlns:a16="http://schemas.microsoft.com/office/drawing/2014/main" val="519346702"/>
                        </a:ext>
                      </a:extLst>
                    </a:gridCol>
                    <a:gridCol w="2738223">
                      <a:extLst>
                        <a:ext uri="{9D8B030D-6E8A-4147-A177-3AD203B41FA5}">
                          <a16:colId xmlns:a16="http://schemas.microsoft.com/office/drawing/2014/main" val="3980277870"/>
                        </a:ext>
                      </a:extLst>
                    </a:gridCol>
                  </a:tblGrid>
                  <a:tr h="579120">
                    <a:tc>
                      <a:txBody>
                        <a:bodyPr/>
                        <a:lstStyle/>
                        <a:p>
                          <a:pPr algn="ctr"/>
                          <a:r>
                            <a:rPr lang="zh-CN" altLang="en-US" sz="1600" dirty="0">
                              <a:latin typeface="Noto Sans SC" panose="020B0200000000000000" pitchFamily="34" charset="-122"/>
                              <a:ea typeface="Noto Sans SC" panose="020B0200000000000000" pitchFamily="34" charset="-122"/>
                            </a:rPr>
                            <a:t>人物</a:t>
                          </a:r>
                          <a:r>
                            <a:rPr lang="en-US" altLang="zh-CN" sz="1600" dirty="0"/>
                            <a:t>/</a:t>
                          </a:r>
                          <a:r>
                            <a:rPr lang="zh-CN" altLang="en-US" sz="1600" dirty="0"/>
                            <a:t>时间</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三原色</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归一化方式</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参考白光</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实际做了</a:t>
                          </a:r>
                          <a:endParaRPr lang="en-US" altLang="zh-CN" sz="1600" dirty="0"/>
                        </a:p>
                        <a:p>
                          <a:pPr algn="ctr"/>
                          <a:r>
                            <a:rPr lang="zh-CN" altLang="en-US" sz="1600" dirty="0"/>
                            <a:t>实验？</a:t>
                          </a:r>
                        </a:p>
                      </a:txBody>
                      <a:tcPr anchor="ctr"/>
                    </a:tc>
                    <a:tc>
                      <a:txBody>
                        <a:bodyPr/>
                        <a:lstStyle/>
                        <a:p>
                          <a:pPr algn="ctr"/>
                          <a:r>
                            <a:rPr lang="zh-CN" altLang="en-US" sz="1600" dirty="0">
                              <a:latin typeface="Noto Sans SC" panose="020B0200000000000000" pitchFamily="34" charset="-122"/>
                              <a:ea typeface="Noto Sans SC" panose="020B0200000000000000" pitchFamily="34" charset="-122"/>
                            </a:rPr>
                            <a:t>备注</a:t>
                          </a:r>
                        </a:p>
                      </a:txBody>
                      <a:tcPr anchor="ctr"/>
                    </a:tc>
                    <a:extLst>
                      <a:ext uri="{0D108BD9-81ED-4DB2-BD59-A6C34878D82A}">
                        <a16:rowId xmlns:a16="http://schemas.microsoft.com/office/drawing/2014/main" val="3550712760"/>
                      </a:ext>
                    </a:extLst>
                  </a:tr>
                  <a:tr h="51816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1928</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650nm</a:t>
                          </a:r>
                          <a:r>
                            <a:rPr lang="zh-CN" altLang="en-US" sz="1400" dirty="0"/>
                            <a:t>、</a:t>
                          </a:r>
                          <a:r>
                            <a:rPr lang="en-US" altLang="zh-CN" sz="1400" dirty="0"/>
                            <a:t>530nm</a:t>
                          </a:r>
                          <a:r>
                            <a:rPr lang="zh-CN" altLang="en-US" sz="1400" dirty="0"/>
                            <a:t>、</a:t>
                          </a:r>
                          <a:r>
                            <a:rPr lang="en-US" altLang="zh-CN" sz="1400" dirty="0"/>
                            <a:t>460nm</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582.5nm</a:t>
                          </a:r>
                          <a:r>
                            <a:rPr lang="zh-CN" altLang="en-US" sz="1400" dirty="0"/>
                            <a:t>时</a:t>
                          </a:r>
                          <a:r>
                            <a:rPr lang="en-US" altLang="zh-CN" sz="1400" dirty="0"/>
                            <a:t>R=G</a:t>
                          </a:r>
                        </a:p>
                        <a:p>
                          <a:pPr algn="ctr"/>
                          <a:r>
                            <a:rPr lang="en-US" altLang="zh-CN" sz="1400" dirty="0"/>
                            <a:t>494.0nm</a:t>
                          </a:r>
                          <a:r>
                            <a:rPr lang="zh-CN" altLang="en-US" sz="1400" dirty="0"/>
                            <a:t>时</a:t>
                          </a:r>
                          <a:r>
                            <a:rPr lang="en-US" altLang="zh-CN" sz="1400" dirty="0"/>
                            <a:t>G=B</a:t>
                          </a:r>
                          <a:endParaRPr lang="zh-CN" altLang="en-US" sz="1400" dirty="0"/>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无</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endParaRPr lang="en-US" altLang="zh-CN" sz="1400" dirty="0"/>
                        </a:p>
                        <a:p>
                          <a:pPr algn="ctr"/>
                          <a:r>
                            <a:rPr lang="zh-CN" altLang="en-US" sz="1400" dirty="0"/>
                            <a:t>匹配单色光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400nm-700nm</a:t>
                          </a:r>
                          <a:r>
                            <a:rPr lang="zh-CN" altLang="en-US" sz="1400" dirty="0"/>
                            <a:t>，每</a:t>
                          </a:r>
                          <a:r>
                            <a:rPr lang="en-US" altLang="zh-CN" sz="1400" dirty="0"/>
                            <a:t>10nm</a:t>
                          </a:r>
                        </a:p>
                        <a:p>
                          <a:pPr algn="ctr"/>
                          <a:r>
                            <a:rPr lang="en-US" altLang="zh-CN" sz="1400" dirty="0"/>
                            <a:t>10</a:t>
                          </a:r>
                          <a:r>
                            <a:rPr lang="zh-CN" altLang="en-US" sz="1400" dirty="0"/>
                            <a:t>名观察者，</a:t>
                          </a:r>
                          <a:r>
                            <a:rPr lang="en-US" altLang="zh-CN" sz="1400" dirty="0"/>
                            <a:t>2°</a:t>
                          </a:r>
                          <a:r>
                            <a:rPr lang="zh-CN" altLang="en-US" sz="1400" dirty="0"/>
                            <a:t>视角</a:t>
                          </a:r>
                        </a:p>
                      </a:txBody>
                      <a:tcPr anchor="ctr"/>
                    </a:tc>
                    <a:extLst>
                      <a:ext uri="{0D108BD9-81ED-4DB2-BD59-A6C34878D82A}">
                        <a16:rowId xmlns:a16="http://schemas.microsoft.com/office/drawing/2014/main" val="3560496226"/>
                      </a:ext>
                    </a:extLst>
                  </a:tr>
                  <a:tr h="51816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1929</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650nm</a:t>
                          </a:r>
                          <a:r>
                            <a:rPr lang="zh-CN" altLang="en-US" sz="1400" dirty="0"/>
                            <a:t>、</a:t>
                          </a:r>
                          <a:r>
                            <a:rPr lang="en-US" altLang="zh-CN" sz="1400" dirty="0"/>
                            <a:t>530nm</a:t>
                          </a:r>
                          <a:r>
                            <a:rPr lang="zh-CN" altLang="en-US" sz="1400" dirty="0"/>
                            <a:t>、</a:t>
                          </a:r>
                          <a:r>
                            <a:rPr lang="en-US" altLang="zh-CN" sz="1400" dirty="0"/>
                            <a:t>460nm</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endParaRPr lang="en-US" altLang="zh-CN" sz="1400" dirty="0"/>
                        </a:p>
                        <a:p>
                          <a:pPr algn="ctr"/>
                          <a:r>
                            <a:rPr lang="zh-CN" altLang="en-US" sz="1400" dirty="0"/>
                            <a:t>匹配白光</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36</a:t>
                          </a:r>
                          <a:r>
                            <a:rPr lang="zh-CN" altLang="en-US" sz="1400" dirty="0"/>
                            <a:t>名观察者</a:t>
                          </a:r>
                        </a:p>
                      </a:txBody>
                      <a:tcPr anchor="ctr"/>
                    </a:tc>
                    <a:extLst>
                      <a:ext uri="{0D108BD9-81ED-4DB2-BD59-A6C34878D82A}">
                        <a16:rowId xmlns:a16="http://schemas.microsoft.com/office/drawing/2014/main" val="4274478958"/>
                      </a:ext>
                    </a:extLst>
                  </a:tr>
                  <a:tr h="518160">
                    <a:tc>
                      <a:txBody>
                        <a:bodyPr/>
                        <a:lstStyle/>
                        <a:p>
                          <a:pPr algn="ctr"/>
                          <a:r>
                            <a:rPr lang="zh-CN" altLang="en-US" sz="1400" b="1" dirty="0">
                              <a:solidFill>
                                <a:schemeClr val="accent2">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2">
                                  <a:lumMod val="50000"/>
                                </a:schemeClr>
                              </a:solidFill>
                            </a:rPr>
                            <a:t>1</a:t>
                          </a:r>
                          <a:r>
                            <a:rPr lang="zh-CN" altLang="en-US" sz="1400" dirty="0"/>
                            <a:t>：</a:t>
                          </a:r>
                          <a:r>
                            <a:rPr lang="en-US" altLang="zh-CN" sz="1400" dirty="0"/>
                            <a:t>Wright 1930</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p>
                          <a:pPr algn="ctr"/>
                          <a:r>
                            <a:rPr lang="en-US" altLang="zh-CN" sz="1400" dirty="0"/>
                            <a:t>700nm</a:t>
                          </a:r>
                          <a:r>
                            <a:rPr lang="zh-CN" altLang="en-US" sz="1400" dirty="0"/>
                            <a:t>、</a:t>
                          </a:r>
                          <a:r>
                            <a:rPr lang="en-US" altLang="zh-CN" sz="1400" dirty="0"/>
                            <a:t>546.1nm</a:t>
                          </a:r>
                          <a:r>
                            <a:rPr lang="zh-CN" altLang="en-US" sz="1400" dirty="0"/>
                            <a:t>、</a:t>
                          </a:r>
                          <a:r>
                            <a:rPr lang="en-US" altLang="zh-CN" sz="1400" dirty="0"/>
                            <a:t>435.8nm</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数学变换得到</a:t>
                          </a:r>
                        </a:p>
                      </a:txBody>
                      <a:tcPr anchor="ctr"/>
                    </a:tc>
                    <a:extLst>
                      <a:ext uri="{0D108BD9-81ED-4DB2-BD59-A6C34878D82A}">
                        <a16:rowId xmlns:a16="http://schemas.microsoft.com/office/drawing/2014/main" val="2438593325"/>
                      </a:ext>
                    </a:extLst>
                  </a:tr>
                  <a:tr h="518160">
                    <a:tc>
                      <a:txBody>
                        <a:bodyPr/>
                        <a:lstStyle/>
                        <a:p>
                          <a:pPr algn="ctr"/>
                          <a:r>
                            <a:rPr lang="zh-CN" altLang="en-US" sz="1400" b="1" dirty="0">
                              <a:solidFill>
                                <a:schemeClr val="accent4">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4">
                                  <a:lumMod val="50000"/>
                                </a:schemeClr>
                              </a:solidFill>
                            </a:rPr>
                            <a:t>2</a:t>
                          </a:r>
                          <a:r>
                            <a:rPr lang="zh-CN" altLang="en-US" sz="1400" dirty="0"/>
                            <a:t>： </a:t>
                          </a:r>
                          <a:r>
                            <a:rPr lang="en-US" altLang="zh-CN" sz="1400" dirty="0"/>
                            <a:t>Guild   1931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400" dirty="0">
                              <a:latin typeface="Noto Sans SC" panose="020B0200000000000000" pitchFamily="34" charset="-122"/>
                              <a:ea typeface="Noto Sans SC" panose="020B0200000000000000" pitchFamily="34" charset="-122"/>
                            </a:rPr>
                            <a:t>充气乳白灯泡</a:t>
                          </a:r>
                          <a:r>
                            <a:rPr lang="zh-CN" altLang="en-US" sz="1400" dirty="0"/>
                            <a:t>配上红绿蓝三</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种</a:t>
                          </a:r>
                          <a:r>
                            <a:rPr lang="zh-CN" altLang="zh-CN" sz="1400" dirty="0"/>
                            <a:t>明胶滤镜</a:t>
                          </a:r>
                          <a:r>
                            <a:rPr lang="zh-CN" altLang="en-US" sz="1400" dirty="0"/>
                            <a:t>，具体光谱未知</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是</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380nm-780nm</a:t>
                          </a:r>
                          <a:r>
                            <a:rPr lang="zh-CN" altLang="en-US" sz="1400" dirty="0"/>
                            <a:t>，每</a:t>
                          </a:r>
                          <a:r>
                            <a:rPr lang="en-US" altLang="zh-CN" sz="1400" dirty="0"/>
                            <a:t>5nm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7</a:t>
                          </a:r>
                          <a:r>
                            <a:rPr lang="zh-CN" altLang="en-US" sz="1400" dirty="0"/>
                            <a:t>名观察者，</a:t>
                          </a:r>
                          <a:r>
                            <a:rPr lang="en-US" altLang="zh-CN" sz="1400" dirty="0"/>
                            <a:t>2°</a:t>
                          </a:r>
                          <a:r>
                            <a:rPr lang="zh-CN" altLang="en-US" sz="1400" dirty="0"/>
                            <a:t>视角</a:t>
                          </a:r>
                        </a:p>
                      </a:txBody>
                      <a:tcPr anchor="ctr"/>
                    </a:tc>
                    <a:extLst>
                      <a:ext uri="{0D108BD9-81ED-4DB2-BD59-A6C34878D82A}">
                        <a16:rowId xmlns:a16="http://schemas.microsoft.com/office/drawing/2014/main" val="1108105045"/>
                      </a:ext>
                    </a:extLst>
                  </a:tr>
                  <a:tr h="518160">
                    <a:tc>
                      <a:txBody>
                        <a:bodyPr/>
                        <a:lstStyle/>
                        <a:p>
                          <a:pPr algn="ctr"/>
                          <a:r>
                            <a:rPr lang="zh-CN" altLang="en-US" sz="1400" b="1" dirty="0">
                              <a:solidFill>
                                <a:schemeClr val="accent4">
                                  <a:lumMod val="50000"/>
                                </a:schemeClr>
                              </a:solidFill>
                              <a:latin typeface="Noto Sans SC" panose="020B0200000000000000" pitchFamily="34" charset="-122"/>
                              <a:ea typeface="Noto Sans SC" panose="020B0200000000000000" pitchFamily="34" charset="-122"/>
                            </a:rPr>
                            <a:t>路线</a:t>
                          </a:r>
                          <a:r>
                            <a:rPr lang="en-US" altLang="zh-CN" sz="1400" b="1" dirty="0">
                              <a:solidFill>
                                <a:schemeClr val="accent4">
                                  <a:lumMod val="50000"/>
                                </a:schemeClr>
                              </a:solidFill>
                            </a:rPr>
                            <a:t>2</a:t>
                          </a:r>
                          <a:r>
                            <a:rPr lang="zh-CN" altLang="en-US" sz="1400" dirty="0"/>
                            <a:t>： </a:t>
                          </a:r>
                          <a:r>
                            <a:rPr lang="en-US" altLang="zh-CN" sz="1400" dirty="0"/>
                            <a:t>Guild   1931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数学变换得到</a:t>
                          </a:r>
                        </a:p>
                      </a:txBody>
                      <a:tcPr anchor="ctr"/>
                    </a:tc>
                    <a:extLst>
                      <a:ext uri="{0D108BD9-81ED-4DB2-BD59-A6C34878D82A}">
                        <a16:rowId xmlns:a16="http://schemas.microsoft.com/office/drawing/2014/main" val="1786092775"/>
                      </a:ext>
                    </a:extLst>
                  </a:tr>
                  <a:tr h="518160">
                    <a:tc>
                      <a:txBody>
                        <a:bodyPr/>
                        <a:lstStyle/>
                        <a:p>
                          <a:pPr algn="ctr"/>
                          <a:r>
                            <a:rPr lang="zh-CN" altLang="en-US" sz="1400" b="1" dirty="0">
                              <a:latin typeface="Noto Sans SC" panose="020B0200000000000000" pitchFamily="34" charset="-122"/>
                              <a:ea typeface="Noto Sans SC" panose="020B0200000000000000" pitchFamily="34" charset="-122"/>
                            </a:rPr>
                            <a:t>合并</a:t>
                          </a:r>
                          <a:r>
                            <a:rPr lang="zh-CN" altLang="en-US" sz="1400" dirty="0"/>
                            <a:t>：   </a:t>
                          </a:r>
                          <a:r>
                            <a:rPr lang="en-US" altLang="zh-CN" sz="1400" dirty="0"/>
                            <a:t>Guild   1931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否</a:t>
                          </a:r>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380nm-780nm</a:t>
                          </a:r>
                          <a:r>
                            <a:rPr lang="zh-CN" altLang="en-US" sz="1400" dirty="0"/>
                            <a:t>，每</a:t>
                          </a:r>
                          <a:r>
                            <a:rPr lang="en-US" altLang="zh-CN" sz="1400" dirty="0"/>
                            <a:t>5nm,</a:t>
                          </a:r>
                        </a:p>
                        <a:p>
                          <a:pPr algn="ctr"/>
                          <a:r>
                            <a:rPr lang="zh-CN" altLang="en-US" sz="1400" dirty="0"/>
                            <a:t>两人数据平均、曲线拟合、平滑</a:t>
                          </a:r>
                        </a:p>
                      </a:txBody>
                      <a:tcPr anchor="ctr"/>
                    </a:tc>
                    <a:extLst>
                      <a:ext uri="{0D108BD9-81ED-4DB2-BD59-A6C34878D82A}">
                        <a16:rowId xmlns:a16="http://schemas.microsoft.com/office/drawing/2014/main" val="668591439"/>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CIE 1931 RGB color space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NPL</a:t>
                          </a:r>
                          <a:r>
                            <a:rPr lang="zh-CN" altLang="en-US" sz="1400" dirty="0"/>
                            <a:t>标准三原色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R=G=B</a:t>
                          </a:r>
                          <a:r>
                            <a:rPr lang="zh-CN" altLang="en-US" sz="1400" dirty="0"/>
                            <a:t>时</a:t>
                          </a:r>
                          <a:endParaRPr lang="en-US" altLang="zh-CN" sz="1400" dirty="0"/>
                        </a:p>
                        <a:p>
                          <a:pPr algn="ctr"/>
                          <a:r>
                            <a:rPr lang="zh-CN" altLang="en-US" sz="1400" dirty="0"/>
                            <a:t>对应参考白光</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等能白光</a:t>
                          </a:r>
                          <a:r>
                            <a:rPr lang="en-US" altLang="zh-CN" sz="1400" dirty="0"/>
                            <a:t>EEW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a:t>
                          </a:r>
                          <a:endParaRPr lang="zh-CN" altLang="en-US" sz="1400" dirty="0"/>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数学变换到参考白光为</a:t>
                          </a:r>
                          <a:r>
                            <a:rPr lang="en-US" altLang="zh-CN" sz="1400" dirty="0"/>
                            <a:t>EEW</a:t>
                          </a:r>
                        </a:p>
                        <a:p>
                          <a:pPr algn="ctr"/>
                          <a:r>
                            <a:rPr lang="zh-CN" altLang="en-US" sz="1400" dirty="0"/>
                            <a:t>计算得到</a:t>
                          </a:r>
                          <a:r>
                            <a:rPr lang="en-US" altLang="zh-CN" sz="1400" dirty="0"/>
                            <a:t>CMFs</a:t>
                          </a:r>
                          <a:endParaRPr lang="zh-CN" altLang="en-US" sz="1400" dirty="0"/>
                        </a:p>
                      </a:txBody>
                      <a:tcPr anchor="ctr"/>
                    </a:tc>
                    <a:extLst>
                      <a:ext uri="{0D108BD9-81ED-4DB2-BD59-A6C34878D82A}">
                        <a16:rowId xmlns:a16="http://schemas.microsoft.com/office/drawing/2014/main" val="2714924672"/>
                      </a:ext>
                    </a:extLst>
                  </a:tr>
                  <a:tr h="6858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CIE    1931</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得到变换矩阵</a:t>
                          </a:r>
                          <a:r>
                            <a:rPr lang="en-US" altLang="zh-CN" sz="1400" dirty="0"/>
                            <a:t>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XYZ</a:t>
                          </a:r>
                          <a:r>
                            <a:rPr lang="zh-CN" altLang="en-US" sz="1400" dirty="0"/>
                            <a:t>空间虚拟三原色</a:t>
                          </a:r>
                          <a:endParaRPr lang="en-US" altLang="zh-CN"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XYZ</a:t>
                          </a:r>
                          <a:r>
                            <a:rPr lang="zh-CN" altLang="en-US" sz="1400" dirty="0"/>
                            <a:t>空间</a:t>
                          </a:r>
                          <a:r>
                            <a:rPr lang="en-US" altLang="zh-CN" sz="1400" dirty="0"/>
                            <a:t>(1, 1, 1)</a:t>
                          </a:r>
                        </a:p>
                        <a:p>
                          <a:pPr algn="ctr"/>
                          <a:r>
                            <a:rPr lang="zh-CN" altLang="en-US" sz="1100" dirty="0"/>
                            <a:t>对应</a:t>
                          </a:r>
                          <a:endParaRPr lang="en-US" altLang="zh-CN" sz="1400" dirty="0"/>
                        </a:p>
                        <a:p>
                          <a:pPr algn="ctr"/>
                          <a:r>
                            <a:rPr lang="en-US" altLang="zh-CN" sz="1400" dirty="0"/>
                            <a:t>RGB</a:t>
                          </a:r>
                          <a:r>
                            <a:rPr lang="zh-CN" altLang="en-US" sz="1400" dirty="0"/>
                            <a:t>空间</a:t>
                          </a:r>
                          <a:r>
                            <a:rPr lang="en-US" altLang="zh-CN" sz="1400" dirty="0"/>
                            <a:t>(1, 1, 1)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latin typeface="Noto Sans SC" panose="020B0200000000000000" pitchFamily="34" charset="-122"/>
                              <a:ea typeface="Noto Sans SC" panose="020B0200000000000000" pitchFamily="34" charset="-122"/>
                            </a:rPr>
                            <a:t>等能白光</a:t>
                          </a:r>
                          <a:r>
                            <a:rPr lang="en-US" altLang="zh-CN" sz="1400" dirty="0"/>
                            <a:t>EEW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a:t>
                          </a:r>
                          <a:endParaRPr lang="zh-CN" altLang="en-US" sz="1400" dirty="0"/>
                        </a:p>
                      </a:txBody>
                      <a:tcPr anchor="ctr"/>
                    </a:tc>
                    <a:tc>
                      <a:txBody>
                        <a:bodyPr/>
                        <a:lstStyle/>
                        <a:p>
                          <a:pPr algn="ctr"/>
                          <a:r>
                            <a:rPr lang="en-US" altLang="zh-CN" sz="1400" dirty="0">
                              <a:latin typeface="Noto Sans SC" panose="020B0200000000000000" pitchFamily="34" charset="-122"/>
                              <a:ea typeface="Noto Sans SC" panose="020B0200000000000000" pitchFamily="34" charset="-122"/>
                            </a:rPr>
                            <a:t>CIE</a:t>
                          </a:r>
                          <a:r>
                            <a:rPr lang="zh-CN" altLang="en-US" sz="1400" dirty="0"/>
                            <a:t>设计了</a:t>
                          </a:r>
                          <a:r>
                            <a:rPr lang="en-US" altLang="zh-CN" sz="1400" dirty="0"/>
                            <a:t>XYZ</a:t>
                          </a:r>
                          <a:r>
                            <a:rPr lang="zh-CN" altLang="en-US" sz="1400" dirty="0"/>
                            <a:t>色彩空间</a:t>
                          </a:r>
                          <a:endParaRPr lang="en-US" altLang="zh-CN" sz="1400" dirty="0"/>
                        </a:p>
                        <a:p>
                          <a:pPr algn="ctr"/>
                          <a:r>
                            <a:rPr lang="zh-CN" altLang="en-US" sz="1400" dirty="0"/>
                            <a:t>得到了初步的转换矩阵</a:t>
                          </a:r>
                          <a:r>
                            <a:rPr lang="en-US" altLang="zh-CN" sz="1400" dirty="0"/>
                            <a:t>T</a:t>
                          </a:r>
                          <a:endParaRPr lang="zh-CN" altLang="en-US" sz="1400" dirty="0"/>
                        </a:p>
                      </a:txBody>
                      <a:tcPr anchor="ctr"/>
                    </a:tc>
                    <a:extLst>
                      <a:ext uri="{0D108BD9-81ED-4DB2-BD59-A6C34878D82A}">
                        <a16:rowId xmlns:a16="http://schemas.microsoft.com/office/drawing/2014/main" val="2373012665"/>
                      </a:ext>
                    </a:extLst>
                  </a:tr>
                  <a:tr h="685800">
                    <a:tc>
                      <a:txBody>
                        <a:bodyPr/>
                        <a:lstStyle/>
                        <a:p>
                          <a:endParaRPr lang="zh-CN"/>
                        </a:p>
                      </a:txBody>
                      <a:tcPr anchor="ctr">
                        <a:blipFill>
                          <a:blip r:embed="rId2"/>
                          <a:stretch>
                            <a:fillRect l="-258" t="-713274" r="-405943" b="-796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XYZ</a:t>
                          </a:r>
                          <a:r>
                            <a:rPr lang="zh-CN" altLang="en-US" sz="1400" dirty="0"/>
                            <a:t>空间虚拟三原色</a:t>
                          </a:r>
                          <a:endParaRPr lang="en-US" altLang="zh-CN" sz="1400" dirty="0"/>
                        </a:p>
                      </a:txBody>
                      <a:tcPr anchor="ctr"/>
                    </a:tc>
                    <a:tc>
                      <a:txBody>
                        <a:bodyPr/>
                        <a:lstStyle/>
                        <a:p>
                          <a:pPr algn="ctr"/>
                          <a:r>
                            <a:rPr lang="zh-CN" altLang="en-US" sz="1400" dirty="0">
                              <a:latin typeface="Noto Sans SC" panose="020B0200000000000000" pitchFamily="34" charset="-122"/>
                              <a:ea typeface="Noto Sans SC" panose="020B0200000000000000" pitchFamily="34" charset="-122"/>
                            </a:rPr>
                            <a:t>新</a:t>
                          </a:r>
                          <a:r>
                            <a:rPr lang="en-US" altLang="zh-CN" sz="1400" dirty="0"/>
                            <a:t>XYZ</a:t>
                          </a:r>
                          <a:r>
                            <a:rPr lang="zh-CN" altLang="en-US" sz="1400" dirty="0"/>
                            <a:t>空间</a:t>
                          </a:r>
                          <a:r>
                            <a:rPr lang="en-US" altLang="zh-CN" sz="1400" dirty="0"/>
                            <a:t>(1, 1, 1)</a:t>
                          </a:r>
                        </a:p>
                        <a:p>
                          <a:pPr algn="ctr"/>
                          <a:r>
                            <a:rPr lang="zh-CN" altLang="en-US" sz="1100" b="1" dirty="0"/>
                            <a:t>基本</a:t>
                          </a:r>
                          <a:r>
                            <a:rPr lang="zh-CN" altLang="en-US" sz="1100" dirty="0"/>
                            <a:t>对应</a:t>
                          </a:r>
                          <a:endParaRPr lang="en-US" altLang="zh-CN" sz="1100" dirty="0"/>
                        </a:p>
                        <a:p>
                          <a:pPr algn="ctr"/>
                          <a:r>
                            <a:rPr lang="zh-CN" altLang="en-US" sz="1400" dirty="0"/>
                            <a:t>旧</a:t>
                          </a:r>
                          <a:r>
                            <a:rPr lang="en-US" altLang="zh-CN" sz="1400" dirty="0"/>
                            <a:t>XYZ</a:t>
                          </a:r>
                          <a:r>
                            <a:rPr lang="zh-CN" altLang="en-US" sz="1400" dirty="0"/>
                            <a:t>空间</a:t>
                          </a:r>
                          <a:r>
                            <a:rPr lang="en-US" altLang="zh-CN" sz="1400" dirty="0"/>
                            <a:t>(1, 1, 1)</a:t>
                          </a:r>
                          <a:endParaRPr lang="zh-CN"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等能白光</a:t>
                          </a:r>
                          <a:r>
                            <a:rPr lang="en-US" altLang="zh-CN" sz="1400" dirty="0"/>
                            <a:t>EEW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Noto Sans SC" panose="020B0200000000000000" pitchFamily="34" charset="-122"/>
                              <a:ea typeface="Noto Sans SC" panose="020B0200000000000000" pitchFamily="34" charset="-122"/>
                            </a:rPr>
                            <a:t>/</a:t>
                          </a:r>
                          <a:endParaRPr lang="zh-CN" altLang="en-US" sz="1400" dirty="0"/>
                        </a:p>
                      </a:txBody>
                      <a:tcPr anchor="ctr"/>
                    </a:tc>
                    <a:tc>
                      <a:txBody>
                        <a:bodyPr/>
                        <a:lstStyle/>
                        <a:p>
                          <a:endParaRPr lang="zh-CN"/>
                        </a:p>
                      </a:txBody>
                      <a:tcPr anchor="ctr">
                        <a:blipFill>
                          <a:blip r:embed="rId2"/>
                          <a:stretch>
                            <a:fillRect l="-334444" t="-713274" r="-889" b="-7965"/>
                          </a:stretch>
                        </a:blipFill>
                      </a:tcPr>
                    </a:tc>
                    <a:extLst>
                      <a:ext uri="{0D108BD9-81ED-4DB2-BD59-A6C34878D82A}">
                        <a16:rowId xmlns:a16="http://schemas.microsoft.com/office/drawing/2014/main" val="3734125631"/>
                      </a:ext>
                    </a:extLst>
                  </a:tr>
                </a:tbl>
              </a:graphicData>
            </a:graphic>
          </p:graphicFrame>
        </mc:Fallback>
      </mc:AlternateContent>
    </p:spTree>
    <p:extLst>
      <p:ext uri="{BB962C8B-B14F-4D97-AF65-F5344CB8AC3E}">
        <p14:creationId xmlns:p14="http://schemas.microsoft.com/office/powerpoint/2010/main" val="25472153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0C9FB-43CF-EF3C-EBF7-75B5DD7B62F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83419B0-BFDA-8D9D-BA54-15F3CD00093E}"/>
              </a:ext>
            </a:extLst>
          </p:cNvPr>
          <p:cNvSpPr>
            <a:spLocks noGrp="1"/>
          </p:cNvSpPr>
          <p:nvPr>
            <p:ph type="title" idx="1"/>
          </p:nvPr>
        </p:nvSpPr>
        <p:spPr/>
        <p:txBody>
          <a:bodyPr/>
          <a:lstStyle/>
          <a:p>
            <a:r>
              <a:rPr lang="zh-CN" altLang="en-US" dirty="0"/>
              <a:t>色彩科学的历史 </a:t>
            </a:r>
            <a:r>
              <a:rPr lang="en-US" altLang="zh-CN" dirty="0"/>
              <a:t>—— </a:t>
            </a:r>
            <a:r>
              <a:rPr lang="zh-CN" altLang="en-US" dirty="0"/>
              <a:t>生物学进一步发展</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081ACD2-1704-4437-3865-AC6BA5B3FF81}"/>
                  </a:ext>
                </a:extLst>
              </p:cNvPr>
              <p:cNvSpPr txBox="1"/>
              <p:nvPr/>
            </p:nvSpPr>
            <p:spPr>
              <a:xfrm>
                <a:off x="840166" y="1409314"/>
                <a:ext cx="10182738" cy="5292090"/>
              </a:xfrm>
              <a:prstGeom prst="rect">
                <a:avLst/>
              </a:prstGeom>
              <a:noFill/>
            </p:spPr>
            <p:txBody>
              <a:bodyPr wrap="square">
                <a:spAutoFit/>
              </a:bodyPr>
              <a:lstStyle/>
              <a:p>
                <a:pPr algn="just"/>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1964</a:t>
                </a:r>
                <a:r>
                  <a:rPr lang="zh-CN" altLang="en-US" dirty="0">
                    <a:latin typeface="Noto Sans SC" panose="020B0200000000000000" pitchFamily="34" charset="-122"/>
                    <a:ea typeface="Noto Sans SC" panose="020B0200000000000000" pitchFamily="34" charset="-122"/>
                  </a:rPr>
                  <a:t>年，在</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色彩空间确立的</a:t>
                </a:r>
                <a:r>
                  <a:rPr lang="en-US" altLang="zh-CN" dirty="0">
                    <a:latin typeface="Noto Sans SC" panose="020B0200000000000000" pitchFamily="34" charset="-122"/>
                    <a:ea typeface="Noto Sans SC" panose="020B0200000000000000" pitchFamily="34" charset="-122"/>
                  </a:rPr>
                  <a:t>33</a:t>
                </a:r>
                <a:r>
                  <a:rPr lang="zh-CN" altLang="en-US" dirty="0">
                    <a:latin typeface="Noto Sans SC" panose="020B0200000000000000" pitchFamily="34" charset="-122"/>
                    <a:ea typeface="Noto Sans SC" panose="020B0200000000000000" pitchFamily="34" charset="-122"/>
                  </a:rPr>
                  <a:t>年后，</a:t>
                </a:r>
                <a:r>
                  <a:rPr lang="zh-CN" altLang="zh-CN" b="1" dirty="0">
                    <a:latin typeface="Noto Sans SC" panose="020B0200000000000000" pitchFamily="34" charset="-122"/>
                    <a:ea typeface="Noto Sans SC" panose="020B0200000000000000" pitchFamily="34" charset="-122"/>
                  </a:rPr>
                  <a:t>Brown</a:t>
                </a:r>
                <a:r>
                  <a:rPr lang="en-US" altLang="zh-CN" b="1" dirty="0">
                    <a:latin typeface="Noto Sans SC" panose="020B0200000000000000" pitchFamily="34" charset="-122"/>
                    <a:ea typeface="Noto Sans SC" panose="020B0200000000000000" pitchFamily="34" charset="-122"/>
                  </a:rPr>
                  <a:t>-</a:t>
                </a:r>
                <a:r>
                  <a:rPr lang="zh-CN" altLang="zh-CN" b="1" dirty="0">
                    <a:latin typeface="Noto Sans SC" panose="020B0200000000000000" pitchFamily="34" charset="-122"/>
                    <a:ea typeface="Noto Sans SC" panose="020B0200000000000000" pitchFamily="34" charset="-122"/>
                  </a:rPr>
                  <a:t>Wald</a:t>
                </a:r>
                <a:r>
                  <a:rPr lang="zh-CN" altLang="en-US" dirty="0">
                    <a:latin typeface="Noto Sans SC" panose="020B0200000000000000" pitchFamily="34" charset="-122"/>
                    <a:ea typeface="Noto Sans SC" panose="020B0200000000000000" pitchFamily="34" charset="-122"/>
                  </a:rPr>
                  <a:t>以及</a:t>
                </a:r>
                <a:r>
                  <a:rPr lang="zh-CN" altLang="zh-CN" b="1" dirty="0">
                    <a:latin typeface="Noto Sans SC" panose="020B0200000000000000" pitchFamily="34" charset="-122"/>
                    <a:ea typeface="Noto Sans SC" panose="020B0200000000000000" pitchFamily="34" charset="-122"/>
                  </a:rPr>
                  <a:t>Marks</a:t>
                </a:r>
                <a:r>
                  <a:rPr lang="en-US" altLang="zh-CN" b="1" dirty="0">
                    <a:latin typeface="Noto Sans SC" panose="020B0200000000000000" pitchFamily="34" charset="-122"/>
                    <a:ea typeface="Noto Sans SC" panose="020B0200000000000000" pitchFamily="34" charset="-122"/>
                  </a:rPr>
                  <a:t>-</a:t>
                </a:r>
                <a:r>
                  <a:rPr lang="zh-CN" altLang="zh-CN" b="1" dirty="0">
                    <a:latin typeface="Noto Sans SC" panose="020B0200000000000000" pitchFamily="34" charset="-122"/>
                    <a:ea typeface="Noto Sans SC" panose="020B0200000000000000" pitchFamily="34" charset="-122"/>
                  </a:rPr>
                  <a:t>Dobelle</a:t>
                </a:r>
                <a:r>
                  <a:rPr lang="en-US" altLang="zh-CN" b="1" dirty="0">
                    <a:latin typeface="Noto Sans SC" panose="020B0200000000000000" pitchFamily="34" charset="-122"/>
                    <a:ea typeface="Noto Sans SC" panose="020B0200000000000000" pitchFamily="34" charset="-122"/>
                  </a:rPr>
                  <a:t>-</a:t>
                </a:r>
                <a:r>
                  <a:rPr lang="zh-CN" altLang="zh-CN" b="1" dirty="0">
                    <a:latin typeface="Noto Sans SC" panose="020B0200000000000000" pitchFamily="34" charset="-122"/>
                    <a:ea typeface="Noto Sans SC" panose="020B0200000000000000" pitchFamily="34" charset="-122"/>
                  </a:rPr>
                  <a:t>MacNichol</a:t>
                </a:r>
                <a:r>
                  <a:rPr lang="zh-CN" altLang="en-US" dirty="0">
                    <a:latin typeface="Noto Sans SC" panose="020B0200000000000000" pitchFamily="34" charset="-122"/>
                    <a:ea typeface="Noto Sans SC" panose="020B0200000000000000" pitchFamily="34" charset="-122"/>
                  </a:rPr>
                  <a:t>两支独立的科研团队，几乎同时</a:t>
                </a:r>
                <a:r>
                  <a:rPr lang="zh-CN" altLang="zh-CN" dirty="0">
                    <a:latin typeface="Noto Sans SC" panose="020B0200000000000000" pitchFamily="34" charset="-122"/>
                    <a:ea typeface="Noto Sans SC" panose="020B0200000000000000" pitchFamily="34" charset="-122"/>
                  </a:rPr>
                  <a:t>直接测量到三类视锥细胞</a:t>
                </a:r>
                <a:r>
                  <a:rPr lang="zh-CN" altLang="en-US"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其中，Brown和Wald测得三类视锥色素的吸收峰约为450nm、525nm和555nm。</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1980—1983年，</a:t>
                </a:r>
                <a:r>
                  <a:rPr lang="zh-CN" altLang="zh-CN" b="1" dirty="0">
                    <a:latin typeface="Noto Sans SC" panose="020B0200000000000000" pitchFamily="34" charset="-122"/>
                    <a:ea typeface="Noto Sans SC" panose="020B0200000000000000" pitchFamily="34" charset="-122"/>
                  </a:rPr>
                  <a:t>Bowmaker</a:t>
                </a:r>
                <a:r>
                  <a:rPr lang="zh-CN" altLang="zh-CN" dirty="0">
                    <a:latin typeface="Noto Sans SC" panose="020B0200000000000000" pitchFamily="34" charset="-122"/>
                    <a:ea typeface="Noto Sans SC" panose="020B0200000000000000" pitchFamily="34" charset="-122"/>
                  </a:rPr>
                  <a:t>、</a:t>
                </a:r>
                <a:r>
                  <a:rPr lang="zh-CN" altLang="zh-CN" b="1" dirty="0">
                    <a:latin typeface="Noto Sans SC" panose="020B0200000000000000" pitchFamily="34" charset="-122"/>
                    <a:ea typeface="Noto Sans SC" panose="020B0200000000000000" pitchFamily="34" charset="-122"/>
                  </a:rPr>
                  <a:t>Dartnall</a:t>
                </a:r>
                <a:r>
                  <a:rPr lang="zh-CN" altLang="zh-CN" dirty="0">
                    <a:latin typeface="Noto Sans SC" panose="020B0200000000000000" pitchFamily="34" charset="-122"/>
                    <a:ea typeface="Noto Sans SC" panose="020B0200000000000000" pitchFamily="34" charset="-122"/>
                  </a:rPr>
                  <a:t>和</a:t>
                </a:r>
                <a:r>
                  <a:rPr lang="zh-CN" altLang="zh-CN" b="1" dirty="0">
                    <a:latin typeface="Noto Sans SC" panose="020B0200000000000000" pitchFamily="34" charset="-122"/>
                    <a:ea typeface="Noto Sans SC" panose="020B0200000000000000" pitchFamily="34" charset="-122"/>
                  </a:rPr>
                  <a:t>Mollon</a:t>
                </a:r>
                <a:r>
                  <a:rPr lang="zh-CN" altLang="zh-CN" dirty="0">
                    <a:latin typeface="Noto Sans SC" panose="020B0200000000000000" pitchFamily="34" charset="-122"/>
                    <a:ea typeface="Noto Sans SC" panose="020B0200000000000000" pitchFamily="34" charset="-122"/>
                  </a:rPr>
                  <a:t>等人进一步测量了人类三类视锥色素的吸收光谱</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b="0" dirty="0">
                  <a:latin typeface="Noto Sans SC" panose="020B0200000000000000" pitchFamily="34" charset="-122"/>
                  <a:ea typeface="Noto Sans SC" panose="020B0200000000000000" pitchFamily="34" charset="-122"/>
                </a:endParaRPr>
              </a:p>
              <a:p>
                <a:pPr algn="just"/>
                <a:r>
                  <a:rPr lang="en-US" altLang="zh-CN" b="0"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前面提到，</a:t>
                </a:r>
                <a:r>
                  <a:rPr lang="en-US" altLang="zh-CN" dirty="0">
                    <a:latin typeface="Noto Sans SC" panose="020B0200000000000000" pitchFamily="34" charset="-122"/>
                    <a:ea typeface="Noto Sans SC" panose="020B0200000000000000" pitchFamily="34" charset="-122"/>
                  </a:rPr>
                  <a:t>1854</a:t>
                </a:r>
                <a:r>
                  <a:rPr lang="zh-CN" altLang="en-US" dirty="0">
                    <a:latin typeface="Noto Sans SC" panose="020B0200000000000000" pitchFamily="34" charset="-122"/>
                    <a:ea typeface="Noto Sans SC" panose="020B0200000000000000" pitchFamily="34" charset="-122"/>
                  </a:rPr>
                  <a:t>年的</a:t>
                </a:r>
                <a:r>
                  <a:rPr lang="zh-CN" altLang="zh-CN" dirty="0">
                    <a:latin typeface="Noto Sans SC" panose="020B0200000000000000" pitchFamily="34" charset="-122"/>
                    <a:ea typeface="Noto Sans SC" panose="020B0200000000000000" pitchFamily="34" charset="-122"/>
                  </a:rPr>
                  <a:t>卡尔·伯格曼</a:t>
                </a:r>
                <a:r>
                  <a:rPr lang="en-US" altLang="zh-CN"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Carl Bergmann</a:t>
                </a: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刚刚发现了视锥细胞和视杆细胞。而后</a:t>
                </a:r>
                <a:r>
                  <a:rPr lang="en-US" altLang="zh-CN" dirty="0">
                    <a:latin typeface="Noto Sans SC" panose="020B0200000000000000" pitchFamily="34" charset="-122"/>
                    <a:ea typeface="Noto Sans SC" panose="020B0200000000000000" pitchFamily="34" charset="-122"/>
                  </a:rPr>
                  <a:t>1866</a:t>
                </a:r>
                <a:r>
                  <a:rPr lang="zh-CN" altLang="en-US" dirty="0">
                    <a:latin typeface="Noto Sans SC" panose="020B0200000000000000" pitchFamily="34" charset="-122"/>
                    <a:ea typeface="Noto Sans SC" panose="020B0200000000000000" pitchFamily="34" charset="-122"/>
                  </a:rPr>
                  <a:t>年的</a:t>
                </a:r>
                <a:r>
                  <a:rPr lang="zh-CN" altLang="zh-CN" dirty="0">
                    <a:latin typeface="Noto Sans SC" panose="020B0200000000000000" pitchFamily="34" charset="-122"/>
                    <a:ea typeface="Noto Sans SC" panose="020B0200000000000000" pitchFamily="34" charset="-122"/>
                  </a:rPr>
                  <a:t>马克斯·舒尔茨</a:t>
                </a:r>
                <a:r>
                  <a:rPr lang="en-US" altLang="zh-CN"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Max Schultze</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提出了双重视觉说</a:t>
                </a:r>
                <a:r>
                  <a:rPr lang="en-US" altLang="zh-CN"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duplicity theory of vision</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，认为视杆细胞用于</a:t>
                </a:r>
                <a:r>
                  <a:rPr lang="zh-CN" altLang="zh-CN" dirty="0">
                    <a:latin typeface="Noto Sans SC" panose="020B0200000000000000" pitchFamily="34" charset="-122"/>
                    <a:ea typeface="Noto Sans SC" panose="020B0200000000000000" pitchFamily="34" charset="-122"/>
                  </a:rPr>
                  <a:t>暗视觉</a:t>
                </a:r>
                <a:r>
                  <a:rPr lang="zh-CN" altLang="en-US" dirty="0">
                    <a:latin typeface="Noto Sans SC" panose="020B0200000000000000" pitchFamily="34" charset="-122"/>
                    <a:ea typeface="Noto Sans SC" panose="020B0200000000000000" pitchFamily="34" charset="-122"/>
                  </a:rPr>
                  <a:t>，视锥细胞用于明视觉。</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值得注意的是，CIE在尚未直接发现三类视锥细胞时，仅根据心理物理学颜色匹配实验，就建立了三维的XYZ色彩空间。后来对三类视锥细胞的生理学测量，解释了人类颜色匹配为什么近似只需要三个变量，为三色视觉提供了直接的生理证据。此后，</a:t>
                </a:r>
                <a:r>
                  <a:rPr lang="zh-CN" altLang="zh-CN" b="1" dirty="0">
                    <a:latin typeface="Noto Sans SC" panose="020B0200000000000000" pitchFamily="34" charset="-122"/>
                    <a:ea typeface="Noto Sans SC" panose="020B0200000000000000" pitchFamily="34" charset="-122"/>
                  </a:rPr>
                  <a:t>E</a:t>
                </a:r>
                <a:r>
                  <a:rPr lang="zh-CN" altLang="zh-CN" dirty="0">
                    <a:latin typeface="Noto Sans SC" panose="020B0200000000000000" pitchFamily="34" charset="-122"/>
                    <a:ea typeface="Noto Sans SC" panose="020B0200000000000000" pitchFamily="34" charset="-122"/>
                  </a:rPr>
                  <a:t>stévez、</a:t>
                </a:r>
                <a:r>
                  <a:rPr lang="zh-CN" altLang="zh-CN" b="1" dirty="0">
                    <a:latin typeface="Noto Sans SC" panose="020B0200000000000000" pitchFamily="34" charset="-122"/>
                    <a:ea typeface="Noto Sans SC" panose="020B0200000000000000" pitchFamily="34" charset="-122"/>
                  </a:rPr>
                  <a:t>H</a:t>
                </a:r>
                <a:r>
                  <a:rPr lang="zh-CN" altLang="zh-CN" dirty="0">
                    <a:latin typeface="Noto Sans SC" panose="020B0200000000000000" pitchFamily="34" charset="-122"/>
                    <a:ea typeface="Noto Sans SC" panose="020B0200000000000000" pitchFamily="34" charset="-122"/>
                  </a:rPr>
                  <a:t>unt和</a:t>
                </a:r>
                <a:r>
                  <a:rPr lang="zh-CN" altLang="zh-CN" b="1" dirty="0">
                    <a:latin typeface="Noto Sans SC" panose="020B0200000000000000" pitchFamily="34" charset="-122"/>
                    <a:ea typeface="Noto Sans SC" panose="020B0200000000000000" pitchFamily="34" charset="-122"/>
                  </a:rPr>
                  <a:t>P</a:t>
                </a:r>
                <a:r>
                  <a:rPr lang="zh-CN" altLang="zh-CN" dirty="0">
                    <a:latin typeface="Noto Sans SC" panose="020B0200000000000000" pitchFamily="34" charset="-122"/>
                    <a:ea typeface="Noto Sans SC" panose="020B0200000000000000" pitchFamily="34" charset="-122"/>
                  </a:rPr>
                  <a:t>ointer又建立了HPE锥响应与XYZ三刺激值之间的近似线性关系： </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𝑋</m:t>
                              </m:r>
                            </m:e>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𝑍</m:t>
                              </m:r>
                            </m:e>
                          </m:eqArr>
                        </m:e>
                      </m:d>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.91020</m:t>
                                </m:r>
                              </m:e>
                              <m:e>
                                <m:r>
                                  <a:rPr lang="en-US" altLang="zh-CN" b="0" i="1" smtClean="0">
                                    <a:latin typeface="Cambria Math" panose="02040503050406030204" pitchFamily="18" charset="0"/>
                                  </a:rPr>
                                  <m:t>−1.11212</m:t>
                                </m:r>
                              </m:e>
                              <m:e>
                                <m:r>
                                  <a:rPr lang="en-US" altLang="zh-CN" i="1">
                                    <a:latin typeface="Cambria Math" panose="02040503050406030204" pitchFamily="18" charset="0"/>
                                  </a:rPr>
                                  <m:t>0.20</m:t>
                                </m:r>
                                <m:r>
                                  <a:rPr lang="en-US" altLang="zh-CN" b="0" i="1" smtClean="0">
                                    <a:latin typeface="Cambria Math" panose="02040503050406030204" pitchFamily="18" charset="0"/>
                                  </a:rPr>
                                  <m:t>191</m:t>
                                </m:r>
                              </m:e>
                            </m:mr>
                            <m:mr>
                              <m:e>
                                <m:r>
                                  <a:rPr lang="en-US" altLang="zh-CN" i="1">
                                    <a:latin typeface="Cambria Math" panose="02040503050406030204" pitchFamily="18" charset="0"/>
                                  </a:rPr>
                                  <m:t>0.</m:t>
                                </m:r>
                                <m:r>
                                  <a:rPr lang="en-US" altLang="zh-CN" b="0" i="1" smtClean="0">
                                    <a:latin typeface="Cambria Math" panose="02040503050406030204" pitchFamily="18" charset="0"/>
                                  </a:rPr>
                                  <m:t>37095</m:t>
                                </m:r>
                              </m:e>
                              <m:e>
                                <m:r>
                                  <a:rPr lang="en-US" altLang="zh-CN" i="1">
                                    <a:latin typeface="Cambria Math" panose="02040503050406030204" pitchFamily="18" charset="0"/>
                                  </a:rPr>
                                  <m:t>0.</m:t>
                                </m:r>
                                <m:r>
                                  <a:rPr lang="en-US" altLang="zh-CN" b="0" i="1" smtClean="0">
                                    <a:latin typeface="Cambria Math" panose="02040503050406030204" pitchFamily="18" charset="0"/>
                                  </a:rPr>
                                  <m:t>62905</m:t>
                                </m:r>
                              </m:e>
                              <m:e>
                                <m:r>
                                  <a:rPr lang="en-US" altLang="zh-CN" i="1">
                                    <a:latin typeface="Cambria Math" panose="02040503050406030204" pitchFamily="18" charset="0"/>
                                  </a:rPr>
                                  <m:t>0</m:t>
                                </m:r>
                              </m:e>
                            </m:mr>
                            <m:mr>
                              <m:e>
                                <m:r>
                                  <a:rPr lang="en-US" altLang="zh-CN" i="1">
                                    <a:latin typeface="Cambria Math" panose="02040503050406030204" pitchFamily="18" charset="0"/>
                                  </a:rPr>
                                  <m:t>0</m:t>
                                </m:r>
                              </m:e>
                              <m:e>
                                <m:r>
                                  <a:rPr lang="en-US" altLang="zh-CN" i="1">
                                    <a:latin typeface="Cambria Math" panose="02040503050406030204" pitchFamily="18" charset="0"/>
                                  </a:rPr>
                                  <m:t>0</m:t>
                                </m:r>
                              </m:e>
                              <m:e>
                                <m:r>
                                  <a:rPr lang="en-US" altLang="zh-CN" b="0" i="1" smtClean="0">
                                    <a:latin typeface="Cambria Math" panose="02040503050406030204" pitchFamily="18" charset="0"/>
                                  </a:rPr>
                                  <m:t>1</m:t>
                                </m:r>
                              </m:e>
                            </m:mr>
                          </m:m>
                        </m:e>
                      </m:d>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𝐿</m:t>
                                  </m:r>
                                </m:e>
                                <m:e>
                                  <m:r>
                                    <a:rPr lang="en-US" altLang="zh-CN" b="0" i="1" smtClean="0">
                                      <a:latin typeface="Cambria Math" panose="02040503050406030204" pitchFamily="18" charset="0"/>
                                    </a:rPr>
                                    <m:t>𝑀</m:t>
                                  </m:r>
                                </m:e>
                                <m:e>
                                  <m:r>
                                    <a:rPr lang="en-US" altLang="zh-CN" b="0" i="1" smtClean="0">
                                      <a:latin typeface="Cambria Math" panose="02040503050406030204" pitchFamily="18" charset="0"/>
                                    </a:rPr>
                                    <m:t>𝑆</m:t>
                                  </m:r>
                                </m:e>
                              </m:eqArr>
                            </m:e>
                          </m:d>
                        </m:e>
                        <m:sub>
                          <m:r>
                            <a:rPr lang="en-US" altLang="zh-CN" b="0" i="1" smtClean="0">
                              <a:latin typeface="Cambria Math" panose="02040503050406030204" pitchFamily="18" charset="0"/>
                            </a:rPr>
                            <m:t>𝐻𝑃𝐸</m:t>
                          </m:r>
                        </m:sub>
                      </m:sSub>
                    </m:oMath>
                  </m:oMathPara>
                </a14:m>
                <a:endParaRPr lang="en-US" altLang="zh-CN" b="0" dirty="0">
                  <a:latin typeface="Noto Sans SC" panose="020B0200000000000000" pitchFamily="34" charset="-122"/>
                  <a:ea typeface="Noto Sans SC" panose="020B0200000000000000" pitchFamily="34" charset="-122"/>
                </a:endParaRPr>
              </a:p>
            </p:txBody>
          </p:sp>
        </mc:Choice>
        <mc:Fallback xmlns="">
          <p:sp>
            <p:nvSpPr>
              <p:cNvPr id="14" name="文本框 13">
                <a:extLst>
                  <a:ext uri="{FF2B5EF4-FFF2-40B4-BE49-F238E27FC236}">
                    <a16:creationId xmlns:a16="http://schemas.microsoft.com/office/drawing/2014/main" id="{6081ACD2-1704-4437-3865-AC6BA5B3FF81}"/>
                  </a:ext>
                </a:extLst>
              </p:cNvPr>
              <p:cNvSpPr txBox="1">
                <a:spLocks noRot="1" noChangeAspect="1" noMove="1" noResize="1" noEditPoints="1" noAdjustHandles="1" noChangeArrowheads="1" noChangeShapeType="1" noTextEdit="1"/>
              </p:cNvSpPr>
              <p:nvPr/>
            </p:nvSpPr>
            <p:spPr>
              <a:xfrm>
                <a:off x="840166" y="1409314"/>
                <a:ext cx="10182738" cy="5292090"/>
              </a:xfrm>
              <a:prstGeom prst="rect">
                <a:avLst/>
              </a:prstGeom>
              <a:blipFill>
                <a:blip r:embed="rId2"/>
                <a:stretch>
                  <a:fillRect l="-539" t="-576" r="-4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504276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618F-9420-1011-3E26-004801A2997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9BB859E-CB18-720B-C360-FB92EC283CA1}"/>
              </a:ext>
            </a:extLst>
          </p:cNvPr>
          <p:cNvSpPr>
            <a:spLocks noGrp="1"/>
          </p:cNvSpPr>
          <p:nvPr>
            <p:ph type="title" idx="1"/>
          </p:nvPr>
        </p:nvSpPr>
        <p:spPr/>
        <p:txBody>
          <a:bodyPr/>
          <a:lstStyle/>
          <a:p>
            <a:r>
              <a:rPr lang="zh-CN" altLang="en-US" dirty="0"/>
              <a:t>色彩科学</a:t>
            </a:r>
            <a:r>
              <a:rPr lang="en-US" altLang="zh-CN" dirty="0"/>
              <a:t> —— </a:t>
            </a:r>
            <a:r>
              <a:rPr lang="zh-CN" altLang="en-US" dirty="0"/>
              <a:t>光谱转颜色</a:t>
            </a:r>
          </a:p>
        </p:txBody>
      </p:sp>
      <p:sp>
        <p:nvSpPr>
          <p:cNvPr id="6" name="文本框 5">
            <a:extLst>
              <a:ext uri="{FF2B5EF4-FFF2-40B4-BE49-F238E27FC236}">
                <a16:creationId xmlns:a16="http://schemas.microsoft.com/office/drawing/2014/main" id="{B981C967-6D14-E9FC-C9F4-74664A76C1CE}"/>
              </a:ext>
            </a:extLst>
          </p:cNvPr>
          <p:cNvSpPr txBox="1"/>
          <p:nvPr/>
        </p:nvSpPr>
        <p:spPr>
          <a:xfrm>
            <a:off x="451704" y="2131462"/>
            <a:ext cx="5587162" cy="3693319"/>
          </a:xfrm>
          <a:prstGeom prst="rect">
            <a:avLst/>
          </a:prstGeom>
          <a:noFill/>
        </p:spPr>
        <p:txBody>
          <a:bodyPr wrap="square">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现代显示器屏幕，都是由一个个的发光像素组成，如果放大了去看，像素又是由红绿蓝三种颜色的发光光源组成的，通过改变三原色的亮度比例，就可以呈现出不同的颜色。</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因此，显示器的工作原理并不是发出给定的光谱，而是发出一定亮度的三原色，所以需要将渲染得到的光谱转换成颜色，也就是我们常说的</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既然需要转换成</a:t>
            </a:r>
            <a:r>
              <a:rPr lang="en-US" altLang="zh-CN" b="1"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，那究竟什么是</a:t>
            </a:r>
            <a:r>
              <a:rPr lang="en-US" altLang="zh-CN" b="1"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前面不是已经把</a:t>
            </a:r>
            <a:r>
              <a:rPr lang="en-US" altLang="zh-CN" b="1"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转换为</a:t>
            </a:r>
            <a:r>
              <a:rPr lang="en-US" altLang="zh-CN" b="1"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了吗？</a:t>
            </a:r>
            <a:endParaRPr lang="en-US" altLang="zh-CN" dirty="0">
              <a:latin typeface="Noto Sans SC" panose="020B0200000000000000" pitchFamily="34" charset="-122"/>
              <a:ea typeface="Noto Sans SC" panose="020B0200000000000000" pitchFamily="34" charset="-122"/>
            </a:endParaRPr>
          </a:p>
        </p:txBody>
      </p:sp>
      <p:sp>
        <p:nvSpPr>
          <p:cNvPr id="10" name="文本框 9">
            <a:extLst>
              <a:ext uri="{FF2B5EF4-FFF2-40B4-BE49-F238E27FC236}">
                <a16:creationId xmlns:a16="http://schemas.microsoft.com/office/drawing/2014/main" id="{C07CE3C9-4416-2559-FF40-BFEC837B25EE}"/>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为什么要把光谱转换成颜色？</a:t>
            </a:r>
            <a:endParaRPr lang="en-US" altLang="zh-CN" sz="2000" b="1" dirty="0">
              <a:latin typeface="Noto Sans SC" panose="020B0200000000000000" pitchFamily="34" charset="-122"/>
              <a:ea typeface="Noto Sans SC" panose="020B0200000000000000" pitchFamily="34" charset="-122"/>
            </a:endParaRPr>
          </a:p>
        </p:txBody>
      </p:sp>
      <p:pic>
        <p:nvPicPr>
          <p:cNvPr id="12" name="图片 11">
            <a:extLst>
              <a:ext uri="{FF2B5EF4-FFF2-40B4-BE49-F238E27FC236}">
                <a16:creationId xmlns:a16="http://schemas.microsoft.com/office/drawing/2014/main" id="{323D6F14-84AE-2D0F-134A-3386B4DDBEF7}"/>
              </a:ext>
            </a:extLst>
          </p:cNvPr>
          <p:cNvPicPr>
            <a:picLocks noChangeAspect="1"/>
          </p:cNvPicPr>
          <p:nvPr/>
        </p:nvPicPr>
        <p:blipFill>
          <a:blip r:embed="rId2"/>
          <a:stretch>
            <a:fillRect/>
          </a:stretch>
        </p:blipFill>
        <p:spPr>
          <a:xfrm>
            <a:off x="7190615" y="3856377"/>
            <a:ext cx="4171043" cy="2563211"/>
          </a:xfrm>
          <a:prstGeom prst="rect">
            <a:avLst/>
          </a:prstGeom>
        </p:spPr>
      </p:pic>
      <p:pic>
        <p:nvPicPr>
          <p:cNvPr id="4" name="图片 3">
            <a:extLst>
              <a:ext uri="{FF2B5EF4-FFF2-40B4-BE49-F238E27FC236}">
                <a16:creationId xmlns:a16="http://schemas.microsoft.com/office/drawing/2014/main" id="{04A95811-89B4-4539-1013-75BEBBD4AB7B}"/>
              </a:ext>
            </a:extLst>
          </p:cNvPr>
          <p:cNvPicPr>
            <a:picLocks noChangeAspect="1"/>
          </p:cNvPicPr>
          <p:nvPr/>
        </p:nvPicPr>
        <p:blipFill>
          <a:blip r:embed="rId3"/>
          <a:stretch>
            <a:fillRect/>
          </a:stretch>
        </p:blipFill>
        <p:spPr>
          <a:xfrm>
            <a:off x="7051136" y="923378"/>
            <a:ext cx="4450003" cy="25056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269545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8B312-CA5A-F286-F73E-1E9854892EB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7E49A91-C2AA-1B34-B600-5DF7CC4BB1EB}"/>
              </a:ext>
            </a:extLst>
          </p:cNvPr>
          <p:cNvSpPr>
            <a:spLocks noGrp="1"/>
          </p:cNvSpPr>
          <p:nvPr>
            <p:ph type="title" idx="1"/>
          </p:nvPr>
        </p:nvSpPr>
        <p:spPr/>
        <p:txBody>
          <a:bodyPr/>
          <a:lstStyle/>
          <a:p>
            <a:r>
              <a:rPr lang="zh-CN" altLang="en-US" dirty="0"/>
              <a:t>色彩科学 </a:t>
            </a:r>
            <a:r>
              <a:rPr lang="en-US" altLang="zh-CN" dirty="0"/>
              <a:t>—— </a:t>
            </a:r>
            <a:r>
              <a:rPr lang="zh-CN" altLang="en-US" dirty="0"/>
              <a:t>色域</a:t>
            </a:r>
          </a:p>
        </p:txBody>
      </p:sp>
      <p:sp>
        <p:nvSpPr>
          <p:cNvPr id="6" name="文本框 5">
            <a:extLst>
              <a:ext uri="{FF2B5EF4-FFF2-40B4-BE49-F238E27FC236}">
                <a16:creationId xmlns:a16="http://schemas.microsoft.com/office/drawing/2014/main" id="{3D6CF987-BB59-A82F-29F5-E2EB819FB7E4}"/>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色域</a:t>
            </a:r>
            <a:endParaRPr lang="en-US" altLang="zh-CN" sz="2000" b="1" dirty="0">
              <a:latin typeface="Noto Sans SC" panose="020B0200000000000000" pitchFamily="34" charset="-122"/>
              <a:ea typeface="Noto Sans SC" panose="020B0200000000000000" pitchFamily="34" charset="-122"/>
            </a:endParaRPr>
          </a:p>
        </p:txBody>
      </p:sp>
      <p:sp>
        <p:nvSpPr>
          <p:cNvPr id="14" name="文本框 13">
            <a:extLst>
              <a:ext uri="{FF2B5EF4-FFF2-40B4-BE49-F238E27FC236}">
                <a16:creationId xmlns:a16="http://schemas.microsoft.com/office/drawing/2014/main" id="{26D77028-CD04-5350-C638-4DD38E83EFE6}"/>
              </a:ext>
            </a:extLst>
          </p:cNvPr>
          <p:cNvSpPr txBox="1"/>
          <p:nvPr/>
        </p:nvSpPr>
        <p:spPr>
          <a:xfrm>
            <a:off x="346800" y="2282490"/>
            <a:ext cx="7127866" cy="3139321"/>
          </a:xfrm>
          <a:prstGeom prst="rect">
            <a:avLst/>
          </a:prstGeom>
          <a:noFill/>
        </p:spPr>
        <p:txBody>
          <a:bodyPr wrap="square">
            <a:spAutoFit/>
          </a:bodyPr>
          <a:lstStyle/>
          <a:p>
            <a:pPr algn="just"/>
            <a:r>
              <a:rPr lang="en-US" altLang="zh-CN" b="0"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显示器的原理是用三原色组合出颜色，因此，根据前面的知识，我们不难发现，在不引入负系数的前提下，显示器能显示的颜色的色度范围是被它的三原色的色度所限制的。</a:t>
            </a:r>
            <a:endParaRPr lang="en-US" altLang="zh-CN" dirty="0">
              <a:latin typeface="Noto Sans SC" panose="020B0200000000000000" pitchFamily="34" charset="-122"/>
              <a:ea typeface="Noto Sans SC" panose="020B0200000000000000" pitchFamily="34" charset="-122"/>
            </a:endParaRPr>
          </a:p>
          <a:p>
            <a:pPr algn="just"/>
            <a:endParaRPr lang="en-US" altLang="zh-CN" b="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换句话说，所有三原色原理的显示器，不可能表示全部的色度。</a:t>
            </a:r>
            <a:endParaRPr lang="en-US" altLang="zh-CN" dirty="0">
              <a:latin typeface="Noto Sans SC" panose="020B0200000000000000" pitchFamily="34" charset="-122"/>
              <a:ea typeface="Noto Sans SC" panose="020B0200000000000000" pitchFamily="34" charset="-122"/>
            </a:endParaRPr>
          </a:p>
          <a:p>
            <a:pPr algn="just"/>
            <a:endParaRPr lang="en-US" altLang="zh-CN" b="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更具体地说，如果一个显示器的三原色的色度如右图所示，那由他们组合出的颜色必定只能出现在这个三角形内。</a:t>
            </a:r>
            <a:endParaRPr lang="en-US" altLang="zh-CN" dirty="0">
              <a:latin typeface="Noto Sans SC" panose="020B0200000000000000" pitchFamily="34" charset="-122"/>
              <a:ea typeface="Noto Sans SC" panose="020B0200000000000000" pitchFamily="34" charset="-122"/>
            </a:endParaRPr>
          </a:p>
          <a:p>
            <a:pPr algn="just"/>
            <a:endParaRPr lang="en-US" altLang="zh-CN" b="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于是，为了给显示器显示的颜色定义一个统一的范围标准，出现了</a:t>
            </a:r>
            <a:r>
              <a:rPr lang="zh-CN" altLang="en-US" b="1" dirty="0">
                <a:latin typeface="Noto Sans SC" panose="020B0200000000000000" pitchFamily="34" charset="-122"/>
                <a:ea typeface="Noto Sans SC" panose="020B0200000000000000" pitchFamily="34" charset="-122"/>
              </a:rPr>
              <a:t>显示色域</a:t>
            </a:r>
            <a:r>
              <a:rPr lang="zh-CN" altLang="en-US" dirty="0">
                <a:latin typeface="Noto Sans SC" panose="020B0200000000000000" pitchFamily="34" charset="-122"/>
                <a:ea typeface="Noto Sans SC" panose="020B0200000000000000" pitchFamily="34" charset="-122"/>
              </a:rPr>
              <a:t>的概念。</a:t>
            </a:r>
            <a:endParaRPr lang="en-US" altLang="zh-CN" b="0" dirty="0">
              <a:latin typeface="Noto Sans SC" panose="020B0200000000000000" pitchFamily="34" charset="-122"/>
              <a:ea typeface="Noto Sans SC" panose="020B0200000000000000" pitchFamily="34" charset="-122"/>
            </a:endParaRPr>
          </a:p>
        </p:txBody>
      </p:sp>
      <p:grpSp>
        <p:nvGrpSpPr>
          <p:cNvPr id="3" name="组合 2">
            <a:extLst>
              <a:ext uri="{FF2B5EF4-FFF2-40B4-BE49-F238E27FC236}">
                <a16:creationId xmlns:a16="http://schemas.microsoft.com/office/drawing/2014/main" id="{300DD2A5-17A5-106E-4427-FDE023A0D945}"/>
              </a:ext>
            </a:extLst>
          </p:cNvPr>
          <p:cNvGrpSpPr/>
          <p:nvPr/>
        </p:nvGrpSpPr>
        <p:grpSpPr>
          <a:xfrm>
            <a:off x="7600949" y="1661401"/>
            <a:ext cx="4133850" cy="4381500"/>
            <a:chOff x="7606300" y="1989812"/>
            <a:chExt cx="4133850" cy="4381500"/>
          </a:xfrm>
        </p:grpSpPr>
        <p:pic>
          <p:nvPicPr>
            <p:cNvPr id="12" name="图片 11" descr="CIE XYZ color space">
              <a:extLst>
                <a:ext uri="{FF2B5EF4-FFF2-40B4-BE49-F238E27FC236}">
                  <a16:creationId xmlns:a16="http://schemas.microsoft.com/office/drawing/2014/main" id="{400E2A20-3709-33C2-879B-61BF5C2416B0}"/>
                </a:ext>
              </a:extLst>
            </p:cNvPr>
            <p:cNvPicPr>
              <a:picLocks noChangeAspect="1"/>
            </p:cNvPicPr>
            <p:nvPr/>
          </p:nvPicPr>
          <p:blipFill>
            <a:blip r:embed="rId2"/>
            <a:stretch>
              <a:fillRect/>
            </a:stretch>
          </p:blipFill>
          <p:spPr>
            <a:xfrm>
              <a:off x="7606300" y="1989812"/>
              <a:ext cx="4133850" cy="4381500"/>
            </a:xfrm>
            <a:prstGeom prst="rect">
              <a:avLst/>
            </a:prstGeom>
          </p:spPr>
        </p:pic>
        <p:cxnSp>
          <p:nvCxnSpPr>
            <p:cNvPr id="10" name="直接连接符 9">
              <a:extLst>
                <a:ext uri="{FF2B5EF4-FFF2-40B4-BE49-F238E27FC236}">
                  <a16:creationId xmlns:a16="http://schemas.microsoft.com/office/drawing/2014/main" id="{004519E2-7779-4C82-6CA4-61B587150DB5}"/>
                </a:ext>
              </a:extLst>
            </p:cNvPr>
            <p:cNvCxnSpPr>
              <a:cxnSpLocks/>
            </p:cNvCxnSpPr>
            <p:nvPr/>
          </p:nvCxnSpPr>
          <p:spPr>
            <a:xfrm>
              <a:off x="9457267" y="3352800"/>
              <a:ext cx="1212850" cy="1318683"/>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502E83E-1B05-0CDE-CCF9-89B0A031C2B2}"/>
                </a:ext>
              </a:extLst>
            </p:cNvPr>
            <p:cNvCxnSpPr>
              <a:cxnSpLocks/>
            </p:cNvCxnSpPr>
            <p:nvPr/>
          </p:nvCxnSpPr>
          <p:spPr>
            <a:xfrm flipH="1">
              <a:off x="8828617" y="3352800"/>
              <a:ext cx="626019" cy="178435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4C76BEC9-9220-B798-236C-68E52FE18C20}"/>
                </a:ext>
              </a:extLst>
            </p:cNvPr>
            <p:cNvCxnSpPr>
              <a:cxnSpLocks/>
            </p:cNvCxnSpPr>
            <p:nvPr/>
          </p:nvCxnSpPr>
          <p:spPr>
            <a:xfrm flipH="1">
              <a:off x="8825986" y="4671483"/>
              <a:ext cx="1844131" cy="465667"/>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 name="椭圆 1">
              <a:extLst>
                <a:ext uri="{FF2B5EF4-FFF2-40B4-BE49-F238E27FC236}">
                  <a16:creationId xmlns:a16="http://schemas.microsoft.com/office/drawing/2014/main" id="{108F38B6-A3FA-8BAD-34C5-2BABBA92D2A2}"/>
                </a:ext>
              </a:extLst>
            </p:cNvPr>
            <p:cNvSpPr/>
            <p:nvPr/>
          </p:nvSpPr>
          <p:spPr>
            <a:xfrm>
              <a:off x="9388258" y="3291214"/>
              <a:ext cx="137786" cy="137786"/>
            </a:xfrm>
            <a:prstGeom prst="ellipse">
              <a:avLst/>
            </a:prstGeom>
            <a:solidFill>
              <a:schemeClr val="bg2">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4" name="椭圆 3">
              <a:extLst>
                <a:ext uri="{FF2B5EF4-FFF2-40B4-BE49-F238E27FC236}">
                  <a16:creationId xmlns:a16="http://schemas.microsoft.com/office/drawing/2014/main" id="{1EBA4917-547B-D11A-B15D-8FDC9A2C0B02}"/>
                </a:ext>
              </a:extLst>
            </p:cNvPr>
            <p:cNvSpPr/>
            <p:nvPr/>
          </p:nvSpPr>
          <p:spPr>
            <a:xfrm>
              <a:off x="10599107" y="4608534"/>
              <a:ext cx="137786" cy="137786"/>
            </a:xfrm>
            <a:prstGeom prst="ellipse">
              <a:avLst/>
            </a:prstGeom>
            <a:solidFill>
              <a:schemeClr val="bg2">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8" name="椭圆 7">
              <a:extLst>
                <a:ext uri="{FF2B5EF4-FFF2-40B4-BE49-F238E27FC236}">
                  <a16:creationId xmlns:a16="http://schemas.microsoft.com/office/drawing/2014/main" id="{DD9A55D5-FBD0-E77F-B603-52E543A3169C}"/>
                </a:ext>
              </a:extLst>
            </p:cNvPr>
            <p:cNvSpPr/>
            <p:nvPr/>
          </p:nvSpPr>
          <p:spPr>
            <a:xfrm>
              <a:off x="8757781" y="5071997"/>
              <a:ext cx="137786" cy="137786"/>
            </a:xfrm>
            <a:prstGeom prst="ellipse">
              <a:avLst/>
            </a:prstGeom>
            <a:solidFill>
              <a:schemeClr val="bg2">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17044435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C4983-7039-0266-01BD-F32F472799D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ADD38C2-8FBB-9B42-DF8C-E3F16D6ECE09}"/>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7922702A-1EDA-9ABF-7B2B-62E39CAA2A43}"/>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色域 与 色彩空间</a:t>
            </a:r>
            <a:endParaRPr lang="en-US" altLang="zh-CN" sz="2000" b="1" dirty="0">
              <a:latin typeface="Noto Sans SC" panose="020B0200000000000000" pitchFamily="34" charset="-122"/>
              <a:ea typeface="Noto Sans SC" panose="020B0200000000000000" pitchFamily="34" charset="-122"/>
            </a:endParaRPr>
          </a:p>
        </p:txBody>
      </p:sp>
      <p:sp>
        <p:nvSpPr>
          <p:cNvPr id="14" name="文本框 13">
            <a:extLst>
              <a:ext uri="{FF2B5EF4-FFF2-40B4-BE49-F238E27FC236}">
                <a16:creationId xmlns:a16="http://schemas.microsoft.com/office/drawing/2014/main" id="{BD3F71F5-CBD9-5124-164D-798A5896C749}"/>
              </a:ext>
            </a:extLst>
          </p:cNvPr>
          <p:cNvSpPr txBox="1"/>
          <p:nvPr/>
        </p:nvSpPr>
        <p:spPr>
          <a:xfrm>
            <a:off x="295284" y="1891566"/>
            <a:ext cx="7127866" cy="3970318"/>
          </a:xfrm>
          <a:prstGeom prst="rect">
            <a:avLst/>
          </a:prstGeom>
          <a:noFill/>
        </p:spPr>
        <p:txBody>
          <a:bodyPr wrap="square">
            <a:spAutoFit/>
          </a:bodyPr>
          <a:lstStyle/>
          <a:p>
            <a:pPr algn="just"/>
            <a:r>
              <a:rPr lang="en-US" altLang="zh-CN" b="0"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常见的显示色域有</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DCI-P3</a:t>
            </a:r>
            <a:r>
              <a:rPr lang="zh-CN" altLang="en-US" dirty="0">
                <a:latin typeface="Noto Sans SC" panose="020B0200000000000000" pitchFamily="34" charset="-122"/>
                <a:ea typeface="Noto Sans SC" panose="020B0200000000000000" pitchFamily="34" charset="-122"/>
              </a:rPr>
              <a:t>以及</a:t>
            </a:r>
            <a:r>
              <a:rPr lang="en-US" altLang="zh-CN" dirty="0">
                <a:latin typeface="Noto Sans SC" panose="020B0200000000000000" pitchFamily="34" charset="-122"/>
                <a:ea typeface="Noto Sans SC" panose="020B0200000000000000" pitchFamily="34" charset="-122"/>
              </a:rPr>
              <a:t>Rec.2020</a:t>
            </a:r>
            <a:r>
              <a:rPr lang="zh-CN" altLang="en-US" dirty="0">
                <a:latin typeface="Noto Sans SC" panose="020B0200000000000000" pitchFamily="34" charset="-122"/>
                <a:ea typeface="Noto Sans SC" panose="020B0200000000000000" pitchFamily="34" charset="-122"/>
              </a:rPr>
              <a:t>等。右图中从小到大的色域分别是</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DCI-P3</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Rec.2020</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b="0"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如果说色域标定了颜色色度的范围，那色域所对应的色彩空间</a:t>
            </a:r>
            <a:r>
              <a:rPr lang="zh-CN" altLang="en-US" b="0" dirty="0">
                <a:latin typeface="Noto Sans SC" panose="020B0200000000000000" pitchFamily="34" charset="-122"/>
                <a:ea typeface="Noto Sans SC" panose="020B0200000000000000" pitchFamily="34" charset="-122"/>
              </a:rPr>
              <a:t>，才真正对应着我们常说的</a:t>
            </a:r>
            <a:r>
              <a:rPr lang="en-US" altLang="zh-CN" b="1" dirty="0">
                <a:latin typeface="Noto Sans SC" panose="020B0200000000000000" pitchFamily="34" charset="-122"/>
                <a:ea typeface="Noto Sans SC" panose="020B0200000000000000" pitchFamily="34" charset="-122"/>
              </a:rPr>
              <a:t>RGB</a:t>
            </a:r>
            <a:r>
              <a:rPr lang="zh-CN" altLang="en-US" b="1" dirty="0">
                <a:latin typeface="Noto Sans SC" panose="020B0200000000000000" pitchFamily="34" charset="-122"/>
                <a:ea typeface="Noto Sans SC" panose="020B0200000000000000" pitchFamily="34" charset="-122"/>
              </a:rPr>
              <a:t>颜色</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当我们提到</a:t>
            </a:r>
            <a:r>
              <a:rPr lang="en-US" altLang="zh-CN" dirty="0">
                <a:latin typeface="Noto Sans SC" panose="020B0200000000000000" pitchFamily="34" charset="-122"/>
                <a:ea typeface="Noto Sans SC" panose="020B0200000000000000" pitchFamily="34" charset="-122"/>
              </a:rPr>
              <a:t>RGB(1, 0, 0)</a:t>
            </a:r>
            <a:r>
              <a:rPr lang="zh-CN" altLang="en-US" dirty="0">
                <a:latin typeface="Noto Sans SC" panose="020B0200000000000000" pitchFamily="34" charset="-122"/>
                <a:ea typeface="Noto Sans SC" panose="020B0200000000000000" pitchFamily="34" charset="-122"/>
              </a:rPr>
              <a:t>时，都知道这个对应的是红色，但是究竟具体是什么红色呢？对于</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和</a:t>
            </a:r>
            <a:r>
              <a:rPr lang="en-US" altLang="zh-CN" dirty="0">
                <a:latin typeface="Noto Sans SC" panose="020B0200000000000000" pitchFamily="34" charset="-122"/>
                <a:ea typeface="Noto Sans SC" panose="020B0200000000000000" pitchFamily="34" charset="-122"/>
              </a:rPr>
              <a:t>Rec.2020</a:t>
            </a:r>
            <a:r>
              <a:rPr lang="zh-CN" altLang="en-US" dirty="0">
                <a:latin typeface="Noto Sans SC" panose="020B0200000000000000" pitchFamily="34" charset="-122"/>
                <a:ea typeface="Noto Sans SC" panose="020B0200000000000000" pitchFamily="34" charset="-122"/>
              </a:rPr>
              <a:t>两个色彩空间来说，他们对应的颜色各不相同。因此当我们提到一个</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三维坐标后，必须指定他所在的色彩空间，才能对应到对应的颜色。</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色彩空间的概念前面已经提到过了，</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色彩空间就是通过转换矩阵</a:t>
            </a:r>
            <a:r>
              <a:rPr lang="en-US" altLang="zh-CN" dirty="0">
                <a:latin typeface="Noto Sans SC" panose="020B0200000000000000" pitchFamily="34" charset="-122"/>
                <a:ea typeface="Noto Sans SC" panose="020B0200000000000000" pitchFamily="34" charset="-122"/>
              </a:rPr>
              <a:t>T</a:t>
            </a:r>
            <a:r>
              <a:rPr lang="zh-CN" altLang="en-US" dirty="0">
                <a:latin typeface="Noto Sans SC" panose="020B0200000000000000" pitchFamily="34" charset="-122"/>
                <a:ea typeface="Noto Sans SC" panose="020B0200000000000000" pitchFamily="34" charset="-122"/>
              </a:rPr>
              <a:t>从</a:t>
            </a:r>
            <a:r>
              <a:rPr lang="en-US" altLang="zh-CN" dirty="0">
                <a:latin typeface="Noto Sans SC" panose="020B0200000000000000" pitchFamily="34" charset="-122"/>
                <a:ea typeface="Noto Sans SC" panose="020B0200000000000000" pitchFamily="34" charset="-122"/>
              </a:rPr>
              <a:t>CIE 1931</a:t>
            </a:r>
            <a:r>
              <a:rPr lang="zh-CN" altLang="en-US" dirty="0">
                <a:latin typeface="Noto Sans SC" panose="020B0200000000000000" pitchFamily="34" charset="-122"/>
                <a:ea typeface="Noto Sans SC" panose="020B0200000000000000" pitchFamily="34" charset="-122"/>
              </a:rPr>
              <a:t> </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色彩空间转换来的。因此，</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DCI-P3</a:t>
            </a:r>
            <a:r>
              <a:rPr lang="zh-CN" altLang="en-US" dirty="0">
                <a:latin typeface="Noto Sans SC" panose="020B0200000000000000" pitchFamily="34" charset="-122"/>
                <a:ea typeface="Noto Sans SC" panose="020B0200000000000000" pitchFamily="34" charset="-122"/>
              </a:rPr>
              <a:t>、</a:t>
            </a:r>
            <a:r>
              <a:rPr lang="en-US" altLang="zh-CN" dirty="0">
                <a:latin typeface="Noto Sans SC" panose="020B0200000000000000" pitchFamily="34" charset="-122"/>
                <a:ea typeface="Noto Sans SC" panose="020B0200000000000000" pitchFamily="34" charset="-122"/>
              </a:rPr>
              <a:t>Rec.2020</a:t>
            </a:r>
            <a:r>
              <a:rPr lang="zh-CN" altLang="en-US" dirty="0">
                <a:latin typeface="Noto Sans SC" panose="020B0200000000000000" pitchFamily="34" charset="-122"/>
                <a:ea typeface="Noto Sans SC" panose="020B0200000000000000" pitchFamily="34" charset="-122"/>
              </a:rPr>
              <a:t>之类的色彩空间，肯定也存在对应的转换矩阵，可以将</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颜色转换到指定色域的色彩空间。</a:t>
            </a:r>
            <a:endParaRPr lang="en-US" altLang="zh-CN" dirty="0">
              <a:latin typeface="Noto Sans SC" panose="020B0200000000000000" pitchFamily="34" charset="-122"/>
              <a:ea typeface="Noto Sans SC" panose="020B0200000000000000" pitchFamily="34" charset="-122"/>
            </a:endParaRPr>
          </a:p>
        </p:txBody>
      </p:sp>
      <p:grpSp>
        <p:nvGrpSpPr>
          <p:cNvPr id="2" name="组合 1">
            <a:extLst>
              <a:ext uri="{FF2B5EF4-FFF2-40B4-BE49-F238E27FC236}">
                <a16:creationId xmlns:a16="http://schemas.microsoft.com/office/drawing/2014/main" id="{98E0D1E4-538C-DA38-D5E3-6632EEF2B173}"/>
              </a:ext>
            </a:extLst>
          </p:cNvPr>
          <p:cNvGrpSpPr/>
          <p:nvPr/>
        </p:nvGrpSpPr>
        <p:grpSpPr>
          <a:xfrm>
            <a:off x="7619179" y="1891566"/>
            <a:ext cx="4133850" cy="4381500"/>
            <a:chOff x="7606300" y="1989812"/>
            <a:chExt cx="4133850" cy="4381500"/>
          </a:xfrm>
        </p:grpSpPr>
        <p:pic>
          <p:nvPicPr>
            <p:cNvPr id="12" name="图片 11" descr="CIE XYZ color space">
              <a:extLst>
                <a:ext uri="{FF2B5EF4-FFF2-40B4-BE49-F238E27FC236}">
                  <a16:creationId xmlns:a16="http://schemas.microsoft.com/office/drawing/2014/main" id="{464C48E8-7512-774D-32F1-B5F94517E24D}"/>
                </a:ext>
              </a:extLst>
            </p:cNvPr>
            <p:cNvPicPr>
              <a:picLocks noChangeAspect="1"/>
            </p:cNvPicPr>
            <p:nvPr/>
          </p:nvPicPr>
          <p:blipFill>
            <a:blip r:embed="rId2"/>
            <a:stretch>
              <a:fillRect/>
            </a:stretch>
          </p:blipFill>
          <p:spPr>
            <a:xfrm>
              <a:off x="7606300" y="1989812"/>
              <a:ext cx="4133850" cy="4381500"/>
            </a:xfrm>
            <a:prstGeom prst="rect">
              <a:avLst/>
            </a:prstGeom>
          </p:spPr>
        </p:pic>
        <p:sp>
          <p:nvSpPr>
            <p:cNvPr id="3" name="等腰三角形 2">
              <a:extLst>
                <a:ext uri="{FF2B5EF4-FFF2-40B4-BE49-F238E27FC236}">
                  <a16:creationId xmlns:a16="http://schemas.microsoft.com/office/drawing/2014/main" id="{C56FA2FE-0BDF-718F-D565-BB4A865F314B}"/>
                </a:ext>
              </a:extLst>
            </p:cNvPr>
            <p:cNvSpPr/>
            <p:nvPr/>
          </p:nvSpPr>
          <p:spPr>
            <a:xfrm>
              <a:off x="8747152" y="3393820"/>
              <a:ext cx="2103503" cy="2294872"/>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Lst>
              <a:ahLst/>
              <a:cxnLst>
                <a:cxn ang="0">
                  <a:pos x="csX0" y="csY0"/>
                </a:cxn>
                <a:cxn ang="0">
                  <a:pos x="csX1" y="csY1"/>
                </a:cxn>
                <a:cxn ang="0">
                  <a:pos x="csX2" y="csY2"/>
                </a:cxn>
                <a:cxn ang="0">
                  <a:pos x="csX3" y="csY3"/>
                </a:cxn>
              </a:cxnLst>
              <a:rect l="l" t="t" r="r" b="b"/>
              <a:pathLst>
                <a:path w="2103503" h="2294872">
                  <a:moveTo>
                    <a:pt x="2103503" y="1175475"/>
                  </a:moveTo>
                  <a:lnTo>
                    <a:pt x="0" y="2294872"/>
                  </a:lnTo>
                  <a:lnTo>
                    <a:pt x="657211" y="0"/>
                  </a:lnTo>
                  <a:lnTo>
                    <a:pt x="2103503" y="1175475"/>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9" name="等腰三角形 2">
              <a:extLst>
                <a:ext uri="{FF2B5EF4-FFF2-40B4-BE49-F238E27FC236}">
                  <a16:creationId xmlns:a16="http://schemas.microsoft.com/office/drawing/2014/main" id="{4CA58277-1AA2-53E8-5EFC-36E2EE18921C}"/>
                </a:ext>
              </a:extLst>
            </p:cNvPr>
            <p:cNvSpPr/>
            <p:nvPr/>
          </p:nvSpPr>
          <p:spPr>
            <a:xfrm>
              <a:off x="8747152" y="3050919"/>
              <a:ext cx="2251669" cy="2637773"/>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 name="csX0" fmla="*/ 2260136 w 2260136"/>
                <a:gd name="csY0" fmla="*/ 1277075 h 2294872"/>
                <a:gd name="csX1" fmla="*/ 0 w 2260136"/>
                <a:gd name="csY1" fmla="*/ 2294872 h 2294872"/>
                <a:gd name="csX2" fmla="*/ 657211 w 2260136"/>
                <a:gd name="csY2" fmla="*/ 0 h 2294872"/>
                <a:gd name="csX3" fmla="*/ 2260136 w 2260136"/>
                <a:gd name="csY3" fmla="*/ 1277075 h 2294872"/>
                <a:gd name="csX0" fmla="*/ 2251669 w 2251669"/>
                <a:gd name="csY0" fmla="*/ 1226275 h 2294872"/>
                <a:gd name="csX1" fmla="*/ 0 w 2251669"/>
                <a:gd name="csY1" fmla="*/ 2294872 h 2294872"/>
                <a:gd name="csX2" fmla="*/ 657211 w 2251669"/>
                <a:gd name="csY2" fmla="*/ 0 h 2294872"/>
                <a:gd name="csX3" fmla="*/ 2251669 w 2251669"/>
                <a:gd name="csY3" fmla="*/ 1226275 h 2294872"/>
                <a:gd name="csX0" fmla="*/ 2251669 w 2251669"/>
                <a:gd name="csY0" fmla="*/ 1598809 h 2667406"/>
                <a:gd name="csX1" fmla="*/ 0 w 2251669"/>
                <a:gd name="csY1" fmla="*/ 2667406 h 2667406"/>
                <a:gd name="csX2" fmla="*/ 644511 w 2251669"/>
                <a:gd name="csY2" fmla="*/ 0 h 2667406"/>
                <a:gd name="csX3" fmla="*/ 2251669 w 2251669"/>
                <a:gd name="csY3" fmla="*/ 1598809 h 2667406"/>
                <a:gd name="csX0" fmla="*/ 2251669 w 2251669"/>
                <a:gd name="csY0" fmla="*/ 1624209 h 2692806"/>
                <a:gd name="csX1" fmla="*/ 0 w 2251669"/>
                <a:gd name="csY1" fmla="*/ 2692806 h 2692806"/>
                <a:gd name="csX2" fmla="*/ 530211 w 2251669"/>
                <a:gd name="csY2" fmla="*/ 0 h 2692806"/>
                <a:gd name="csX3" fmla="*/ 2251669 w 2251669"/>
                <a:gd name="csY3" fmla="*/ 1624209 h 2692806"/>
                <a:gd name="csX0" fmla="*/ 2251669 w 2251669"/>
                <a:gd name="csY0" fmla="*/ 1569176 h 2637773"/>
                <a:gd name="csX1" fmla="*/ 0 w 2251669"/>
                <a:gd name="csY1" fmla="*/ 2637773 h 2637773"/>
                <a:gd name="csX2" fmla="*/ 530211 w 2251669"/>
                <a:gd name="csY2" fmla="*/ 0 h 2637773"/>
                <a:gd name="csX3" fmla="*/ 2251669 w 2251669"/>
                <a:gd name="csY3" fmla="*/ 1569176 h 2637773"/>
              </a:gdLst>
              <a:ahLst/>
              <a:cxnLst>
                <a:cxn ang="0">
                  <a:pos x="csX0" y="csY0"/>
                </a:cxn>
                <a:cxn ang="0">
                  <a:pos x="csX1" y="csY1"/>
                </a:cxn>
                <a:cxn ang="0">
                  <a:pos x="csX2" y="csY2"/>
                </a:cxn>
                <a:cxn ang="0">
                  <a:pos x="csX3" y="csY3"/>
                </a:cxn>
              </a:cxnLst>
              <a:rect l="l" t="t" r="r" b="b"/>
              <a:pathLst>
                <a:path w="2251669" h="2637773">
                  <a:moveTo>
                    <a:pt x="2251669" y="1569176"/>
                  </a:moveTo>
                  <a:lnTo>
                    <a:pt x="0" y="2637773"/>
                  </a:lnTo>
                  <a:lnTo>
                    <a:pt x="530211" y="0"/>
                  </a:lnTo>
                  <a:lnTo>
                    <a:pt x="2251669" y="1569176"/>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3" name="等腰三角形 2">
              <a:extLst>
                <a:ext uri="{FF2B5EF4-FFF2-40B4-BE49-F238E27FC236}">
                  <a16:creationId xmlns:a16="http://schemas.microsoft.com/office/drawing/2014/main" id="{051205D9-2F8F-A1E3-FB8C-E9FFFF5FEC03}"/>
                </a:ext>
              </a:extLst>
            </p:cNvPr>
            <p:cNvSpPr/>
            <p:nvPr/>
          </p:nvSpPr>
          <p:spPr>
            <a:xfrm>
              <a:off x="8679419" y="2551386"/>
              <a:ext cx="2429469" cy="3209272"/>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 name="csX0" fmla="*/ 2260136 w 2260136"/>
                <a:gd name="csY0" fmla="*/ 1277075 h 2294872"/>
                <a:gd name="csX1" fmla="*/ 0 w 2260136"/>
                <a:gd name="csY1" fmla="*/ 2294872 h 2294872"/>
                <a:gd name="csX2" fmla="*/ 657211 w 2260136"/>
                <a:gd name="csY2" fmla="*/ 0 h 2294872"/>
                <a:gd name="csX3" fmla="*/ 2260136 w 2260136"/>
                <a:gd name="csY3" fmla="*/ 1277075 h 2294872"/>
                <a:gd name="csX0" fmla="*/ 2251669 w 2251669"/>
                <a:gd name="csY0" fmla="*/ 1226275 h 2294872"/>
                <a:gd name="csX1" fmla="*/ 0 w 2251669"/>
                <a:gd name="csY1" fmla="*/ 2294872 h 2294872"/>
                <a:gd name="csX2" fmla="*/ 657211 w 2251669"/>
                <a:gd name="csY2" fmla="*/ 0 h 2294872"/>
                <a:gd name="csX3" fmla="*/ 2251669 w 2251669"/>
                <a:gd name="csY3" fmla="*/ 1226275 h 2294872"/>
                <a:gd name="csX0" fmla="*/ 2251669 w 2251669"/>
                <a:gd name="csY0" fmla="*/ 1598809 h 2667406"/>
                <a:gd name="csX1" fmla="*/ 0 w 2251669"/>
                <a:gd name="csY1" fmla="*/ 2667406 h 2667406"/>
                <a:gd name="csX2" fmla="*/ 644511 w 2251669"/>
                <a:gd name="csY2" fmla="*/ 0 h 2667406"/>
                <a:gd name="csX3" fmla="*/ 2251669 w 2251669"/>
                <a:gd name="csY3" fmla="*/ 1598809 h 2667406"/>
                <a:gd name="csX0" fmla="*/ 2251669 w 2251669"/>
                <a:gd name="csY0" fmla="*/ 1624209 h 2692806"/>
                <a:gd name="csX1" fmla="*/ 0 w 2251669"/>
                <a:gd name="csY1" fmla="*/ 2692806 h 2692806"/>
                <a:gd name="csX2" fmla="*/ 530211 w 2251669"/>
                <a:gd name="csY2" fmla="*/ 0 h 2692806"/>
                <a:gd name="csX3" fmla="*/ 2251669 w 2251669"/>
                <a:gd name="csY3" fmla="*/ 1624209 h 2692806"/>
                <a:gd name="csX0" fmla="*/ 2399836 w 2399836"/>
                <a:gd name="csY0" fmla="*/ 1713109 h 2692806"/>
                <a:gd name="csX1" fmla="*/ 0 w 2399836"/>
                <a:gd name="csY1" fmla="*/ 2692806 h 2692806"/>
                <a:gd name="csX2" fmla="*/ 530211 w 2399836"/>
                <a:gd name="csY2" fmla="*/ 0 h 2692806"/>
                <a:gd name="csX3" fmla="*/ 2399836 w 2399836"/>
                <a:gd name="csY3" fmla="*/ 1713109 h 2692806"/>
                <a:gd name="csX0" fmla="*/ 2361736 w 2361736"/>
                <a:gd name="csY0" fmla="*/ 1713109 h 2692806"/>
                <a:gd name="csX1" fmla="*/ 0 w 2361736"/>
                <a:gd name="csY1" fmla="*/ 2692806 h 2692806"/>
                <a:gd name="csX2" fmla="*/ 530211 w 2361736"/>
                <a:gd name="csY2" fmla="*/ 0 h 2692806"/>
                <a:gd name="csX3" fmla="*/ 2361736 w 2361736"/>
                <a:gd name="csY3" fmla="*/ 1713109 h 2692806"/>
                <a:gd name="csX0" fmla="*/ 2361736 w 2361736"/>
                <a:gd name="csY0" fmla="*/ 2094109 h 3073806"/>
                <a:gd name="csX1" fmla="*/ 0 w 2361736"/>
                <a:gd name="csY1" fmla="*/ 3073806 h 3073806"/>
                <a:gd name="csX2" fmla="*/ 132278 w 2361736"/>
                <a:gd name="csY2" fmla="*/ 0 h 3073806"/>
                <a:gd name="csX3" fmla="*/ 2361736 w 2361736"/>
                <a:gd name="csY3" fmla="*/ 2094109 h 3073806"/>
                <a:gd name="csX0" fmla="*/ 2361736 w 2361736"/>
                <a:gd name="csY0" fmla="*/ 2119509 h 3099206"/>
                <a:gd name="csX1" fmla="*/ 0 w 2361736"/>
                <a:gd name="csY1" fmla="*/ 3099206 h 3099206"/>
                <a:gd name="csX2" fmla="*/ 102644 w 2361736"/>
                <a:gd name="csY2" fmla="*/ 0 h 3099206"/>
                <a:gd name="csX3" fmla="*/ 2361736 w 2361736"/>
                <a:gd name="csY3" fmla="*/ 2119509 h 3099206"/>
                <a:gd name="csX0" fmla="*/ 2361736 w 2361736"/>
                <a:gd name="csY0" fmla="*/ 2157609 h 3137306"/>
                <a:gd name="csX1" fmla="*/ 0 w 2361736"/>
                <a:gd name="csY1" fmla="*/ 3137306 h 3137306"/>
                <a:gd name="csX2" fmla="*/ 102644 w 2361736"/>
                <a:gd name="csY2" fmla="*/ 0 h 3137306"/>
                <a:gd name="csX3" fmla="*/ 2361736 w 2361736"/>
                <a:gd name="csY3" fmla="*/ 2157609 h 3137306"/>
                <a:gd name="csX0" fmla="*/ 2429469 w 2429469"/>
                <a:gd name="csY0" fmla="*/ 2157609 h 3124606"/>
                <a:gd name="csX1" fmla="*/ 0 w 2429469"/>
                <a:gd name="csY1" fmla="*/ 3124606 h 3124606"/>
                <a:gd name="csX2" fmla="*/ 170377 w 2429469"/>
                <a:gd name="csY2" fmla="*/ 0 h 3124606"/>
                <a:gd name="csX3" fmla="*/ 2429469 w 2429469"/>
                <a:gd name="csY3" fmla="*/ 2157609 h 3124606"/>
                <a:gd name="csX0" fmla="*/ 2429469 w 2429469"/>
                <a:gd name="csY0" fmla="*/ 2157609 h 3209272"/>
                <a:gd name="csX1" fmla="*/ 0 w 2429469"/>
                <a:gd name="csY1" fmla="*/ 3209272 h 3209272"/>
                <a:gd name="csX2" fmla="*/ 170377 w 2429469"/>
                <a:gd name="csY2" fmla="*/ 0 h 3209272"/>
                <a:gd name="csX3" fmla="*/ 2429469 w 2429469"/>
                <a:gd name="csY3" fmla="*/ 2157609 h 3209272"/>
              </a:gdLst>
              <a:ahLst/>
              <a:cxnLst>
                <a:cxn ang="0">
                  <a:pos x="csX0" y="csY0"/>
                </a:cxn>
                <a:cxn ang="0">
                  <a:pos x="csX1" y="csY1"/>
                </a:cxn>
                <a:cxn ang="0">
                  <a:pos x="csX2" y="csY2"/>
                </a:cxn>
                <a:cxn ang="0">
                  <a:pos x="csX3" y="csY3"/>
                </a:cxn>
              </a:cxnLst>
              <a:rect l="l" t="t" r="r" b="b"/>
              <a:pathLst>
                <a:path w="2429469" h="3209272">
                  <a:moveTo>
                    <a:pt x="2429469" y="2157609"/>
                  </a:moveTo>
                  <a:lnTo>
                    <a:pt x="0" y="3209272"/>
                  </a:lnTo>
                  <a:lnTo>
                    <a:pt x="170377" y="0"/>
                  </a:lnTo>
                  <a:lnTo>
                    <a:pt x="2429469" y="2157609"/>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4051641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F48E5-0355-1A8A-AC19-480496953C0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909E251-9641-2E71-10C8-0DF02885FC75}"/>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6D4E1FE3-FDEC-9253-1378-D68FC7EC4017}"/>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色彩空间的转换</a:t>
            </a:r>
            <a:endParaRPr lang="en-US" altLang="zh-CN" sz="20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AB8A429-08A7-E54C-8867-AEC61225DAD7}"/>
                  </a:ext>
                </a:extLst>
              </p:cNvPr>
              <p:cNvSpPr txBox="1"/>
              <p:nvPr/>
            </p:nvSpPr>
            <p:spPr>
              <a:xfrm>
                <a:off x="295284" y="1891566"/>
                <a:ext cx="7127866" cy="3759106"/>
              </a:xfrm>
              <a:prstGeom prst="rect">
                <a:avLst/>
              </a:prstGeom>
              <a:noFill/>
            </p:spPr>
            <p:txBody>
              <a:bodyPr wrap="square">
                <a:spAutoFit/>
              </a:bodyPr>
              <a:lstStyle/>
              <a:p>
                <a:pPr algn="just"/>
                <a:r>
                  <a:rPr lang="en-US" altLang="zh-CN" b="0"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就以</a:t>
                </a:r>
                <a:r>
                  <a:rPr lang="en-US" altLang="zh-CN" b="0" dirty="0">
                    <a:latin typeface="Noto Sans SC" panose="020B0200000000000000" pitchFamily="34" charset="-122"/>
                    <a:ea typeface="Noto Sans SC" panose="020B0200000000000000" pitchFamily="34" charset="-122"/>
                  </a:rPr>
                  <a:t>sRGB</a:t>
                </a:r>
                <a:r>
                  <a:rPr lang="zh-CN" altLang="en-US" b="0" dirty="0">
                    <a:latin typeface="Noto Sans SC" panose="020B0200000000000000" pitchFamily="34" charset="-122"/>
                    <a:ea typeface="Noto Sans SC" panose="020B0200000000000000" pitchFamily="34" charset="-122"/>
                  </a:rPr>
                  <a:t>色彩空间为例。已知，在</a:t>
                </a:r>
                <a:r>
                  <a:rPr lang="en-US" altLang="zh-CN" b="0" dirty="0">
                    <a:latin typeface="Noto Sans SC" panose="020B0200000000000000" pitchFamily="34" charset="-122"/>
                    <a:ea typeface="Noto Sans SC" panose="020B0200000000000000" pitchFamily="34" charset="-122"/>
                  </a:rPr>
                  <a:t>sRGB</a:t>
                </a:r>
                <a:r>
                  <a:rPr lang="zh-CN" altLang="en-US" b="0" dirty="0">
                    <a:latin typeface="Noto Sans SC" panose="020B0200000000000000" pitchFamily="34" charset="-122"/>
                    <a:ea typeface="Noto Sans SC" panose="020B0200000000000000" pitchFamily="34" charset="-122"/>
                  </a:rPr>
                  <a:t>色域定义的时候，就定下来了三原色</a:t>
                </a:r>
                <a:r>
                  <a:rPr lang="zh-CN" altLang="en-US" dirty="0">
                    <a:latin typeface="Noto Sans SC" panose="020B0200000000000000" pitchFamily="34" charset="-122"/>
                    <a:ea typeface="Noto Sans SC" panose="020B0200000000000000" pitchFamily="34" charset="-122"/>
                  </a:rPr>
                  <a:t>在色度图上的坐标：</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𝑥</m:t>
                          </m:r>
                        </m:sub>
                      </m:sSub>
                      <m:r>
                        <a:rPr lang="en-US" altLang="zh-CN" i="1">
                          <a:latin typeface="Cambria Math" panose="02040503050406030204" pitchFamily="18" charset="0"/>
                        </a:rPr>
                        <m:t>=0.64</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𝑦</m:t>
                          </m:r>
                        </m:sub>
                      </m:sSub>
                      <m:r>
                        <a:rPr lang="en-US" altLang="zh-CN" i="1">
                          <a:latin typeface="Cambria Math" panose="02040503050406030204" pitchFamily="18" charset="0"/>
                        </a:rPr>
                        <m:t>=0.33</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i="1">
                              <a:latin typeface="Cambria Math" panose="02040503050406030204" pitchFamily="18" charset="0"/>
                            </a:rPr>
                            <m:t>𝑥</m:t>
                          </m:r>
                        </m:sub>
                      </m:sSub>
                      <m:r>
                        <a:rPr lang="en-US" altLang="zh-CN" i="1">
                          <a:latin typeface="Cambria Math" panose="02040503050406030204" pitchFamily="18" charset="0"/>
                        </a:rPr>
                        <m:t>=0.</m:t>
                      </m:r>
                      <m:r>
                        <a:rPr lang="en-US" altLang="zh-CN" b="0" i="1" smtClean="0">
                          <a:latin typeface="Cambria Math" panose="02040503050406030204" pitchFamily="18" charset="0"/>
                        </a:rPr>
                        <m:t>30,  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i="1">
                              <a:latin typeface="Cambria Math" panose="02040503050406030204" pitchFamily="18" charset="0"/>
                            </a:rPr>
                            <m:t>𝑦</m:t>
                          </m:r>
                        </m:sub>
                      </m:sSub>
                      <m:r>
                        <a:rPr lang="en-US" altLang="zh-CN" i="1">
                          <a:latin typeface="Cambria Math" panose="02040503050406030204" pitchFamily="18" charset="0"/>
                        </a:rPr>
                        <m:t>=0.</m:t>
                      </m:r>
                      <m:r>
                        <a:rPr lang="en-US" altLang="zh-CN" b="0" i="1" smtClean="0">
                          <a:latin typeface="Cambria Math" panose="02040503050406030204" pitchFamily="18" charset="0"/>
                        </a:rPr>
                        <m:t>60</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𝑥</m:t>
                          </m:r>
                        </m:sub>
                      </m:sSub>
                      <m:r>
                        <a:rPr lang="en-US" altLang="zh-CN" i="1">
                          <a:latin typeface="Cambria Math" panose="02040503050406030204" pitchFamily="18" charset="0"/>
                        </a:rPr>
                        <m:t>=0.</m:t>
                      </m:r>
                      <m:r>
                        <a:rPr lang="en-US" altLang="zh-CN" b="0" i="1" smtClean="0">
                          <a:latin typeface="Cambria Math" panose="02040503050406030204" pitchFamily="18" charset="0"/>
                        </a:rPr>
                        <m:t>15,  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𝑦</m:t>
                          </m:r>
                        </m:sub>
                      </m:sSub>
                      <m:r>
                        <a:rPr lang="en-US" altLang="zh-CN" i="1">
                          <a:latin typeface="Cambria Math" panose="02040503050406030204" pitchFamily="18" charset="0"/>
                        </a:rPr>
                        <m:t>=0.</m:t>
                      </m:r>
                      <m:r>
                        <a:rPr lang="en-US" altLang="zh-CN" b="0" i="1" smtClean="0">
                          <a:latin typeface="Cambria Math" panose="02040503050406030204" pitchFamily="18" charset="0"/>
                        </a:rPr>
                        <m:t>06</m:t>
                      </m:r>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这样就能得到确定转换矩阵的</a:t>
                </a:r>
                <a:r>
                  <a:rPr lang="en-US" altLang="zh-CN" dirty="0">
                    <a:latin typeface="Noto Sans SC" panose="020B0200000000000000" pitchFamily="34" charset="-122"/>
                    <a:ea typeface="Noto Sans SC" panose="020B0200000000000000" pitchFamily="34" charset="-122"/>
                  </a:rPr>
                  <a:t>6</a:t>
                </a:r>
                <a:r>
                  <a:rPr lang="zh-CN" altLang="en-US" dirty="0">
                    <a:latin typeface="Noto Sans SC" panose="020B0200000000000000" pitchFamily="34" charset="-122"/>
                    <a:ea typeface="Noto Sans SC" panose="020B0200000000000000" pitchFamily="34" charset="-122"/>
                  </a:rPr>
                  <a:t>个方程了。但是对于</a:t>
                </a:r>
                <a:r>
                  <a:rPr lang="en-US" altLang="zh-CN" dirty="0">
                    <a:latin typeface="Noto Sans SC" panose="020B0200000000000000" pitchFamily="34" charset="-122"/>
                    <a:ea typeface="Noto Sans SC" panose="020B0200000000000000" pitchFamily="34" charset="-122"/>
                  </a:rPr>
                  <a:t>3*3</a:t>
                </a:r>
                <a:r>
                  <a:rPr lang="zh-CN" altLang="en-US" dirty="0">
                    <a:latin typeface="Noto Sans SC" panose="020B0200000000000000" pitchFamily="34" charset="-122"/>
                    <a:ea typeface="Noto Sans SC" panose="020B0200000000000000" pitchFamily="34" charset="-122"/>
                  </a:rPr>
                  <a:t>矩阵来说，还需要</a:t>
                </a:r>
                <a:r>
                  <a:rPr lang="en-US" altLang="zh-CN" dirty="0">
                    <a:latin typeface="Noto Sans SC" panose="020B0200000000000000" pitchFamily="34" charset="-122"/>
                    <a:ea typeface="Noto Sans SC" panose="020B0200000000000000" pitchFamily="34" charset="-122"/>
                  </a:rPr>
                  <a:t>3</a:t>
                </a:r>
                <a:r>
                  <a:rPr lang="zh-CN" altLang="en-US" dirty="0">
                    <a:latin typeface="Noto Sans SC" panose="020B0200000000000000" pitchFamily="34" charset="-122"/>
                    <a:ea typeface="Noto Sans SC" panose="020B0200000000000000" pitchFamily="34" charset="-122"/>
                  </a:rPr>
                  <a:t>个方程才可以。</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回顾</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变换矩阵，当时规定</a:t>
                </a:r>
                <a:r>
                  <a:rPr lang="en-US" altLang="zh-CN" dirty="0">
                    <a:latin typeface="Noto Sans SC" panose="020B0200000000000000" pitchFamily="34" charset="-122"/>
                    <a:ea typeface="Noto Sans SC" panose="020B0200000000000000" pitchFamily="34" charset="-122"/>
                  </a:rPr>
                  <a:t>CIE 1931 RGB</a:t>
                </a:r>
                <a:r>
                  <a:rPr lang="zh-CN" altLang="en-US" dirty="0">
                    <a:latin typeface="Noto Sans SC" panose="020B0200000000000000" pitchFamily="34" charset="-122"/>
                    <a:ea typeface="Noto Sans SC" panose="020B0200000000000000" pitchFamily="34" charset="-122"/>
                  </a:rPr>
                  <a:t>色彩空间的</a:t>
                </a:r>
                <a:r>
                  <a:rPr lang="en-US" altLang="zh-CN" dirty="0">
                    <a:latin typeface="Noto Sans SC" panose="020B0200000000000000" pitchFamily="34" charset="-122"/>
                    <a:ea typeface="Noto Sans SC" panose="020B0200000000000000" pitchFamily="34" charset="-122"/>
                  </a:rPr>
                  <a:t>(1, 1, 1)</a:t>
                </a:r>
                <a:r>
                  <a:rPr lang="zh-CN" altLang="en-US" dirty="0">
                    <a:latin typeface="Noto Sans SC" panose="020B0200000000000000" pitchFamily="34" charset="-122"/>
                    <a:ea typeface="Noto Sans SC" panose="020B0200000000000000" pitchFamily="34" charset="-122"/>
                  </a:rPr>
                  <a:t>对应</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a:t>
                </a:r>
                <a:r>
                  <a:rPr lang="en-US" altLang="zh-CN" dirty="0">
                    <a:latin typeface="Noto Sans SC" panose="020B0200000000000000" pitchFamily="34" charset="-122"/>
                    <a:ea typeface="Noto Sans SC" panose="020B0200000000000000" pitchFamily="34" charset="-122"/>
                  </a:rPr>
                  <a:t>(1, 1, 1)</a:t>
                </a:r>
                <a:r>
                  <a:rPr lang="zh-CN" altLang="en-US" dirty="0">
                    <a:latin typeface="Noto Sans SC" panose="020B0200000000000000" pitchFamily="34" charset="-122"/>
                    <a:ea typeface="Noto Sans SC" panose="020B0200000000000000" pitchFamily="34" charset="-122"/>
                  </a:rPr>
                  <a:t>，于是得到了</a:t>
                </a:r>
                <a:r>
                  <a:rPr lang="en-US" altLang="zh-CN" dirty="0">
                    <a:latin typeface="Noto Sans SC" panose="020B0200000000000000" pitchFamily="34" charset="-122"/>
                    <a:ea typeface="Noto Sans SC" panose="020B0200000000000000" pitchFamily="34" charset="-122"/>
                  </a:rPr>
                  <a:t>3</a:t>
                </a:r>
                <a:r>
                  <a:rPr lang="zh-CN" altLang="en-US" dirty="0">
                    <a:latin typeface="Noto Sans SC" panose="020B0200000000000000" pitchFamily="34" charset="-122"/>
                    <a:ea typeface="Noto Sans SC" panose="020B0200000000000000" pitchFamily="34" charset="-122"/>
                  </a:rPr>
                  <a:t>个方程。</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我们都知道色彩空间的</a:t>
                </a:r>
                <a:r>
                  <a:rPr lang="en-US" altLang="zh-CN" dirty="0">
                    <a:latin typeface="Noto Sans SC" panose="020B0200000000000000" pitchFamily="34" charset="-122"/>
                    <a:ea typeface="Noto Sans SC" panose="020B0200000000000000" pitchFamily="34" charset="-122"/>
                  </a:rPr>
                  <a:t>(1, 1, 1)</a:t>
                </a:r>
                <a:r>
                  <a:rPr lang="zh-CN" altLang="en-US" dirty="0">
                    <a:latin typeface="Noto Sans SC" panose="020B0200000000000000" pitchFamily="34" charset="-122"/>
                    <a:ea typeface="Noto Sans SC" panose="020B0200000000000000" pitchFamily="34" charset="-122"/>
                  </a:rPr>
                  <a:t>对应着白色，但其实人眼对白色的定义是十分宽泛的。</a:t>
                </a:r>
                <a:endParaRPr lang="en-US" altLang="zh-CN" dirty="0">
                  <a:latin typeface="Noto Sans SC" panose="020B0200000000000000" pitchFamily="34" charset="-122"/>
                  <a:ea typeface="Noto Sans SC" panose="020B0200000000000000" pitchFamily="34" charset="-122"/>
                </a:endParaRPr>
              </a:p>
            </p:txBody>
          </p:sp>
        </mc:Choice>
        <mc:Fallback xmlns="">
          <p:sp>
            <p:nvSpPr>
              <p:cNvPr id="14" name="文本框 13">
                <a:extLst>
                  <a:ext uri="{FF2B5EF4-FFF2-40B4-BE49-F238E27FC236}">
                    <a16:creationId xmlns:a16="http://schemas.microsoft.com/office/drawing/2014/main" id="{CAB8A429-08A7-E54C-8867-AEC61225DAD7}"/>
                  </a:ext>
                </a:extLst>
              </p:cNvPr>
              <p:cNvSpPr txBox="1">
                <a:spLocks noRot="1" noChangeAspect="1" noMove="1" noResize="1" noEditPoints="1" noAdjustHandles="1" noChangeArrowheads="1" noChangeShapeType="1" noTextEdit="1"/>
              </p:cNvSpPr>
              <p:nvPr/>
            </p:nvSpPr>
            <p:spPr>
              <a:xfrm>
                <a:off x="295284" y="1891566"/>
                <a:ext cx="7127866" cy="3759106"/>
              </a:xfrm>
              <a:prstGeom prst="rect">
                <a:avLst/>
              </a:prstGeom>
              <a:blipFill>
                <a:blip r:embed="rId2"/>
                <a:stretch>
                  <a:fillRect l="-684" t="-810" r="-684" b="-162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5ADEBD2-1C8B-D746-978E-FE600C0CFC06}"/>
              </a:ext>
            </a:extLst>
          </p:cNvPr>
          <p:cNvPicPr>
            <a:picLocks noChangeAspect="1"/>
          </p:cNvPicPr>
          <p:nvPr/>
        </p:nvPicPr>
        <p:blipFill>
          <a:blip r:embed="rId3"/>
          <a:stretch>
            <a:fillRect/>
          </a:stretch>
        </p:blipFill>
        <p:spPr>
          <a:xfrm>
            <a:off x="7064690" y="360000"/>
            <a:ext cx="4670109" cy="10609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8" name="组合 7">
            <a:extLst>
              <a:ext uri="{FF2B5EF4-FFF2-40B4-BE49-F238E27FC236}">
                <a16:creationId xmlns:a16="http://schemas.microsoft.com/office/drawing/2014/main" id="{53A6212D-6BB7-7F6C-E93A-BCB08A6C5CB1}"/>
              </a:ext>
            </a:extLst>
          </p:cNvPr>
          <p:cNvGrpSpPr/>
          <p:nvPr/>
        </p:nvGrpSpPr>
        <p:grpSpPr>
          <a:xfrm>
            <a:off x="7619179" y="1891566"/>
            <a:ext cx="4133850" cy="4381500"/>
            <a:chOff x="7606300" y="1989812"/>
            <a:chExt cx="4133850" cy="4381500"/>
          </a:xfrm>
        </p:grpSpPr>
        <p:pic>
          <p:nvPicPr>
            <p:cNvPr id="9" name="图片 8" descr="CIE XYZ color space">
              <a:extLst>
                <a:ext uri="{FF2B5EF4-FFF2-40B4-BE49-F238E27FC236}">
                  <a16:creationId xmlns:a16="http://schemas.microsoft.com/office/drawing/2014/main" id="{56B4E51D-ECE4-74D0-F6BD-70D7D7F94125}"/>
                </a:ext>
              </a:extLst>
            </p:cNvPr>
            <p:cNvPicPr>
              <a:picLocks noChangeAspect="1"/>
            </p:cNvPicPr>
            <p:nvPr/>
          </p:nvPicPr>
          <p:blipFill>
            <a:blip r:embed="rId4"/>
            <a:stretch>
              <a:fillRect/>
            </a:stretch>
          </p:blipFill>
          <p:spPr>
            <a:xfrm>
              <a:off x="7606300" y="1989812"/>
              <a:ext cx="4133850" cy="4381500"/>
            </a:xfrm>
            <a:prstGeom prst="rect">
              <a:avLst/>
            </a:prstGeom>
          </p:spPr>
        </p:pic>
        <p:sp>
          <p:nvSpPr>
            <p:cNvPr id="10" name="等腰三角形 2">
              <a:extLst>
                <a:ext uri="{FF2B5EF4-FFF2-40B4-BE49-F238E27FC236}">
                  <a16:creationId xmlns:a16="http://schemas.microsoft.com/office/drawing/2014/main" id="{41FCDDD0-9E66-02AC-BE9F-DD4BB7F574FE}"/>
                </a:ext>
              </a:extLst>
            </p:cNvPr>
            <p:cNvSpPr/>
            <p:nvPr/>
          </p:nvSpPr>
          <p:spPr>
            <a:xfrm>
              <a:off x="8747152" y="3393820"/>
              <a:ext cx="2103503" cy="2294872"/>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Lst>
              <a:ahLst/>
              <a:cxnLst>
                <a:cxn ang="0">
                  <a:pos x="csX0" y="csY0"/>
                </a:cxn>
                <a:cxn ang="0">
                  <a:pos x="csX1" y="csY1"/>
                </a:cxn>
                <a:cxn ang="0">
                  <a:pos x="csX2" y="csY2"/>
                </a:cxn>
                <a:cxn ang="0">
                  <a:pos x="csX3" y="csY3"/>
                </a:cxn>
              </a:cxnLst>
              <a:rect l="l" t="t" r="r" b="b"/>
              <a:pathLst>
                <a:path w="2103503" h="2294872">
                  <a:moveTo>
                    <a:pt x="2103503" y="1175475"/>
                  </a:moveTo>
                  <a:lnTo>
                    <a:pt x="0" y="2294872"/>
                  </a:lnTo>
                  <a:lnTo>
                    <a:pt x="657211" y="0"/>
                  </a:lnTo>
                  <a:lnTo>
                    <a:pt x="2103503" y="1175475"/>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7554682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8B45A-12FE-07E3-A615-950EB86362D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318B26D-AEBB-F1CC-5FC0-A32C9EE05BEB}"/>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7A7A4A27-9F06-5728-A4D9-18C898969F60}"/>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色彩空间的转换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色温</a:t>
            </a:r>
            <a:endParaRPr lang="en-US" altLang="zh-CN" sz="2000" b="1" dirty="0">
              <a:latin typeface="Noto Sans SC" panose="020B0200000000000000" pitchFamily="34" charset="-122"/>
              <a:ea typeface="Noto Sans SC" panose="020B0200000000000000" pitchFamily="34" charset="-122"/>
            </a:endParaRPr>
          </a:p>
        </p:txBody>
      </p:sp>
      <p:sp>
        <p:nvSpPr>
          <p:cNvPr id="14" name="文本框 13">
            <a:extLst>
              <a:ext uri="{FF2B5EF4-FFF2-40B4-BE49-F238E27FC236}">
                <a16:creationId xmlns:a16="http://schemas.microsoft.com/office/drawing/2014/main" id="{611F691F-0DEE-E4CD-8371-0985DA5478B4}"/>
              </a:ext>
            </a:extLst>
          </p:cNvPr>
          <p:cNvSpPr txBox="1"/>
          <p:nvPr/>
        </p:nvSpPr>
        <p:spPr>
          <a:xfrm>
            <a:off x="295284" y="1891566"/>
            <a:ext cx="7127866" cy="923330"/>
          </a:xfrm>
          <a:prstGeom prst="rect">
            <a:avLst/>
          </a:prstGeom>
          <a:noFill/>
        </p:spPr>
        <p:txBody>
          <a:bodyPr wrap="square">
            <a:spAutoFit/>
          </a:bodyPr>
          <a:lstStyle/>
          <a:p>
            <a:pPr algn="just"/>
            <a:r>
              <a:rPr lang="en-US" altLang="zh-CN" b="0"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前面讲到过，黑体辐射会随着黑体温度的变高而逐渐发蓝</a:t>
            </a:r>
            <a:r>
              <a:rPr lang="zh-CN" altLang="en-US" dirty="0">
                <a:latin typeface="Noto Sans SC" panose="020B0200000000000000" pitchFamily="34" charset="-122"/>
                <a:ea typeface="Noto Sans SC" panose="020B0200000000000000" pitchFamily="34" charset="-122"/>
              </a:rPr>
              <a:t>，因此，一般用</a:t>
            </a:r>
            <a:r>
              <a:rPr lang="zh-CN" altLang="en-US" b="1" dirty="0">
                <a:latin typeface="Noto Sans SC" panose="020B0200000000000000" pitchFamily="34" charset="-122"/>
                <a:ea typeface="Noto Sans SC" panose="020B0200000000000000" pitchFamily="34" charset="-122"/>
              </a:rPr>
              <a:t>色温</a:t>
            </a:r>
            <a:r>
              <a:rPr lang="zh-CN" altLang="en-US" dirty="0">
                <a:latin typeface="Noto Sans SC" panose="020B0200000000000000" pitchFamily="34" charset="-122"/>
                <a:ea typeface="Noto Sans SC" panose="020B0200000000000000" pitchFamily="34" charset="-122"/>
              </a:rPr>
              <a:t>来代表不同的白色。右图中展示了不同色温在色度图中的轨迹。</a:t>
            </a:r>
            <a:endParaRPr lang="en-US" altLang="zh-CN" dirty="0">
              <a:latin typeface="Noto Sans SC" panose="020B0200000000000000" pitchFamily="34" charset="-122"/>
              <a:ea typeface="Noto Sans SC" panose="020B0200000000000000" pitchFamily="34" charset="-122"/>
            </a:endParaRPr>
          </a:p>
        </p:txBody>
      </p:sp>
      <p:pic>
        <p:nvPicPr>
          <p:cNvPr id="7" name="图片 6" descr="重写版光的学习笔记（四）：色温、黑体、色度坐标、SDCM、白点白平衡和实际亮度和色彩明度的关系、校色卡的作用- 知乎">
            <a:extLst>
              <a:ext uri="{FF2B5EF4-FFF2-40B4-BE49-F238E27FC236}">
                <a16:creationId xmlns:a16="http://schemas.microsoft.com/office/drawing/2014/main" id="{872A1F9D-84BA-CE53-FD45-646AB8F1B1BB}"/>
              </a:ext>
            </a:extLst>
          </p:cNvPr>
          <p:cNvPicPr>
            <a:picLocks noChangeAspect="1"/>
          </p:cNvPicPr>
          <p:nvPr/>
        </p:nvPicPr>
        <p:blipFill>
          <a:blip r:embed="rId2"/>
          <a:stretch>
            <a:fillRect/>
          </a:stretch>
        </p:blipFill>
        <p:spPr>
          <a:xfrm>
            <a:off x="7547020" y="1641653"/>
            <a:ext cx="4028432" cy="4508007"/>
          </a:xfrm>
          <a:prstGeom prst="rect">
            <a:avLst/>
          </a:prstGeom>
        </p:spPr>
      </p:pic>
      <p:pic>
        <p:nvPicPr>
          <p:cNvPr id="11" name="图片 10">
            <a:extLst>
              <a:ext uri="{FF2B5EF4-FFF2-40B4-BE49-F238E27FC236}">
                <a16:creationId xmlns:a16="http://schemas.microsoft.com/office/drawing/2014/main" id="{0026A1E2-1C2A-80BD-6A32-F3B70A634E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9246" y="3145665"/>
            <a:ext cx="6889159" cy="2951983"/>
          </a:xfrm>
          <a:prstGeom prst="rect">
            <a:avLst/>
          </a:prstGeom>
        </p:spPr>
      </p:pic>
    </p:spTree>
    <p:extLst>
      <p:ext uri="{BB962C8B-B14F-4D97-AF65-F5344CB8AC3E}">
        <p14:creationId xmlns:p14="http://schemas.microsoft.com/office/powerpoint/2010/main" val="34604958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2974C-AC7E-443F-0D68-A96DD2CB270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DF7A808-A52E-92D8-992F-A41A2213A0B9}"/>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88AC315B-7FA5-CF22-2076-5DBD24E8DF1A}"/>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色彩空间的转换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参考白点转换</a:t>
            </a:r>
            <a:endParaRPr lang="en-US" altLang="zh-CN" sz="20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4FB64E8-11B7-C84A-9724-1630775CF13A}"/>
                  </a:ext>
                </a:extLst>
              </p:cNvPr>
              <p:cNvSpPr txBox="1"/>
              <p:nvPr/>
            </p:nvSpPr>
            <p:spPr>
              <a:xfrm>
                <a:off x="295284" y="1891566"/>
                <a:ext cx="7127866" cy="4723024"/>
              </a:xfrm>
              <a:prstGeom prst="rect">
                <a:avLst/>
              </a:prstGeom>
              <a:noFill/>
            </p:spPr>
            <p:txBody>
              <a:bodyPr wrap="square">
                <a:spAutoFit/>
              </a:bodyPr>
              <a:lstStyle/>
              <a:p>
                <a:pPr algn="just"/>
                <a:r>
                  <a:rPr lang="en-US" altLang="zh-CN" b="0"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参考白点的作用就是标定色彩空间中坐标为</a:t>
                </a:r>
                <a:r>
                  <a:rPr lang="en-US" altLang="zh-CN" b="0" dirty="0">
                    <a:latin typeface="Noto Sans SC" panose="020B0200000000000000" pitchFamily="34" charset="-122"/>
                    <a:ea typeface="Noto Sans SC" panose="020B0200000000000000" pitchFamily="34" charset="-122"/>
                  </a:rPr>
                  <a:t>(1, 1, 1</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的白色，在</a:t>
                </a:r>
                <a:r>
                  <a:rPr lang="en-US" altLang="zh-CN" dirty="0" err="1">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色度图上应该对应着什么样的白色。</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以</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为例，</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选用了</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制定的</a:t>
                </a:r>
                <a:r>
                  <a:rPr lang="en-US" altLang="zh-CN" dirty="0">
                    <a:latin typeface="Noto Sans SC" panose="020B0200000000000000" pitchFamily="34" charset="-122"/>
                    <a:ea typeface="Noto Sans SC" panose="020B0200000000000000" pitchFamily="34" charset="-122"/>
                  </a:rPr>
                  <a:t>D65</a:t>
                </a:r>
                <a:r>
                  <a:rPr lang="zh-CN" altLang="en-US" dirty="0">
                    <a:latin typeface="Noto Sans SC" panose="020B0200000000000000" pitchFamily="34" charset="-122"/>
                    <a:ea typeface="Noto Sans SC" panose="020B0200000000000000" pitchFamily="34" charset="-122"/>
                  </a:rPr>
                  <a:t>光源作为白色。大概对应着色温为</a:t>
                </a:r>
                <a:r>
                  <a:rPr lang="zh-CN" altLang="zh-CN" dirty="0">
                    <a:latin typeface="Noto Sans SC" panose="020B0200000000000000" pitchFamily="34" charset="-122"/>
                    <a:ea typeface="Noto Sans SC" panose="020B0200000000000000" pitchFamily="34" charset="-122"/>
                  </a:rPr>
                  <a:t>6504</a:t>
                </a:r>
                <a:r>
                  <a:rPr lang="en-US" altLang="zh-CN" dirty="0">
                    <a:latin typeface="Noto Sans SC" panose="020B0200000000000000" pitchFamily="34" charset="-122"/>
                    <a:ea typeface="Noto Sans SC" panose="020B0200000000000000" pitchFamily="34" charset="-122"/>
                  </a:rPr>
                  <a:t>K</a:t>
                </a:r>
                <a:r>
                  <a:rPr lang="zh-CN" altLang="en-US" dirty="0">
                    <a:latin typeface="Noto Sans SC" panose="020B0200000000000000" pitchFamily="34" charset="-122"/>
                    <a:ea typeface="Noto Sans SC" panose="020B0200000000000000" pitchFamily="34" charset="-122"/>
                  </a:rPr>
                  <a:t>的日光。其对应的</a:t>
                </a:r>
                <a:r>
                  <a:rPr lang="en-US" altLang="zh-CN" dirty="0" err="1">
                    <a:latin typeface="Noto Sans SC" panose="020B0200000000000000" pitchFamily="34" charset="-122"/>
                    <a:ea typeface="Noto Sans SC" panose="020B0200000000000000" pitchFamily="34" charset="-122"/>
                  </a:rPr>
                  <a:t>xy</a:t>
                </a:r>
                <a:r>
                  <a:rPr lang="zh-CN" altLang="en-US" dirty="0">
                    <a:latin typeface="Noto Sans SC" panose="020B0200000000000000" pitchFamily="34" charset="-122"/>
                    <a:ea typeface="Noto Sans SC" panose="020B0200000000000000" pitchFamily="34" charset="-122"/>
                  </a:rPr>
                  <a:t>色度平面的坐标约为：</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i="1">
                              <a:latin typeface="Cambria Math" panose="02040503050406030204" pitchFamily="18" charset="0"/>
                            </a:rPr>
                            <m:t>𝑥</m:t>
                          </m:r>
                        </m:sub>
                      </m:sSub>
                      <m:r>
                        <a:rPr lang="en-US" altLang="zh-CN" i="1">
                          <a:latin typeface="Cambria Math" panose="02040503050406030204" pitchFamily="18" charset="0"/>
                        </a:rPr>
                        <m:t>=0.</m:t>
                      </m:r>
                      <m:r>
                        <a:rPr lang="en-US" altLang="zh-CN" b="0" i="1" smtClean="0">
                          <a:latin typeface="Cambria Math" panose="02040503050406030204" pitchFamily="18" charset="0"/>
                        </a:rPr>
                        <m:t>3127</m:t>
                      </m:r>
                      <m:r>
                        <a:rPr lang="en-US" altLang="zh-CN" i="1">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i="1">
                              <a:latin typeface="Cambria Math" panose="02040503050406030204" pitchFamily="18" charset="0"/>
                            </a:rPr>
                            <m:t>𝑦</m:t>
                          </m:r>
                        </m:sub>
                      </m:sSub>
                      <m:r>
                        <a:rPr lang="en-US" altLang="zh-CN" i="1">
                          <a:latin typeface="Cambria Math" panose="02040503050406030204" pitchFamily="18" charset="0"/>
                        </a:rPr>
                        <m:t>=0.</m:t>
                      </m:r>
                      <m:r>
                        <a:rPr lang="en-US" altLang="zh-CN" b="0" i="1" smtClean="0">
                          <a:latin typeface="Cambria Math" panose="02040503050406030204" pitchFamily="18" charset="0"/>
                        </a:rPr>
                        <m:t>3290</m:t>
                      </m:r>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这样，我们就又能得到</a:t>
                </a:r>
                <a:r>
                  <a:rPr lang="en-US" altLang="zh-CN" dirty="0">
                    <a:latin typeface="Noto Sans SC" panose="020B0200000000000000" pitchFamily="34" charset="-122"/>
                    <a:ea typeface="Noto Sans SC" panose="020B0200000000000000" pitchFamily="34" charset="-122"/>
                  </a:rPr>
                  <a:t>2</a:t>
                </a:r>
                <a:r>
                  <a:rPr lang="zh-CN" altLang="en-US" dirty="0">
                    <a:latin typeface="Noto Sans SC" panose="020B0200000000000000" pitchFamily="34" charset="-122"/>
                    <a:ea typeface="Noto Sans SC" panose="020B0200000000000000" pitchFamily="34" charset="-122"/>
                  </a:rPr>
                  <a:t>个方程，还差最后</a:t>
                </a:r>
                <a:r>
                  <a:rPr lang="en-US" altLang="zh-CN" dirty="0">
                    <a:latin typeface="Noto Sans SC" panose="020B0200000000000000" pitchFamily="34" charset="-122"/>
                    <a:ea typeface="Noto Sans SC" panose="020B0200000000000000" pitchFamily="34" charset="-122"/>
                  </a:rPr>
                  <a:t>1</a:t>
                </a:r>
                <a:r>
                  <a:rPr lang="zh-CN" altLang="en-US" dirty="0">
                    <a:latin typeface="Noto Sans SC" panose="020B0200000000000000" pitchFamily="34" charset="-122"/>
                    <a:ea typeface="Noto Sans SC" panose="020B0200000000000000" pitchFamily="34" charset="-122"/>
                  </a:rPr>
                  <a:t>个方程就能解出转换矩阵了。</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与前面类似，最后一个约束是对亮度的约束，我们希望</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色彩空间中的</a:t>
                </a:r>
                <a:r>
                  <a:rPr lang="en-US" altLang="zh-CN" dirty="0">
                    <a:latin typeface="Noto Sans SC" panose="020B0200000000000000" pitchFamily="34" charset="-122"/>
                    <a:ea typeface="Noto Sans SC" panose="020B0200000000000000" pitchFamily="34" charset="-122"/>
                  </a:rPr>
                  <a:t>(1, 1, 1)</a:t>
                </a:r>
                <a:r>
                  <a:rPr lang="zh-CN" altLang="en-US" dirty="0">
                    <a:latin typeface="Noto Sans SC" panose="020B0200000000000000" pitchFamily="34" charset="-122"/>
                    <a:ea typeface="Noto Sans SC" panose="020B0200000000000000" pitchFamily="34" charset="-122"/>
                  </a:rPr>
                  <a:t>能够对应</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色彩空间的</a:t>
                </a:r>
                <a:r>
                  <a:rPr lang="en-US" altLang="zh-CN" dirty="0">
                    <a:latin typeface="Noto Sans SC" panose="020B0200000000000000" pitchFamily="34" charset="-122"/>
                    <a:ea typeface="Noto Sans SC" panose="020B0200000000000000" pitchFamily="34" charset="-122"/>
                  </a:rPr>
                  <a:t>Y=1</a:t>
                </a:r>
                <a:r>
                  <a:rPr lang="zh-CN" altLang="en-US" dirty="0">
                    <a:latin typeface="Noto Sans SC" panose="020B0200000000000000" pitchFamily="34" charset="-122"/>
                    <a:ea typeface="Noto Sans SC" panose="020B0200000000000000" pitchFamily="34" charset="-122"/>
                  </a:rPr>
                  <a:t>，也就是：</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𝑋</m:t>
                              </m:r>
                            </m:e>
                            <m:e>
                              <m:r>
                                <a:rPr lang="en-US" altLang="zh-CN" b="0" i="1" smtClean="0">
                                  <a:latin typeface="Cambria Math" panose="02040503050406030204" pitchFamily="18" charset="0"/>
                                </a:rPr>
                                <m:t>1</m:t>
                              </m:r>
                            </m:e>
                            <m:e>
                              <m:r>
                                <a:rPr lang="en-US" altLang="zh-CN" b="0" i="1" smtClean="0">
                                  <a:latin typeface="Cambria Math" panose="02040503050406030204" pitchFamily="18" charset="0"/>
                                </a:rPr>
                                <m:t>𝑍</m:t>
                              </m:r>
                            </m:e>
                          </m:eqArr>
                        </m:e>
                      </m:d>
                      <m:r>
                        <a:rPr lang="en-US" altLang="zh-CN" i="1">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−1</m:t>
                          </m:r>
                        </m:sup>
                      </m:sSup>
                      <m:sSub>
                        <m:sSubPr>
                          <m:ctrlPr>
                            <a:rPr lang="en-US" altLang="zh-CN" i="1" smtClean="0">
                              <a:latin typeface="Cambria Math" panose="02040503050406030204" pitchFamily="18" charset="0"/>
                            </a:rPr>
                          </m:ctrlPr>
                        </m:sSubPr>
                        <m:e>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1</m:t>
                                  </m:r>
                                </m:e>
                                <m:e>
                                  <m:r>
                                    <a:rPr lang="en-US" altLang="zh-CN" b="0" i="1" smtClean="0">
                                      <a:latin typeface="Cambria Math" panose="02040503050406030204" pitchFamily="18" charset="0"/>
                                    </a:rPr>
                                    <m:t>1</m:t>
                                  </m:r>
                                </m:e>
                                <m:e>
                                  <m:r>
                                    <a:rPr lang="en-US" altLang="zh-CN" b="0" i="1" smtClean="0">
                                      <a:latin typeface="Cambria Math" panose="02040503050406030204" pitchFamily="18" charset="0"/>
                                    </a:rPr>
                                    <m:t>1</m:t>
                                  </m:r>
                                </m:e>
                              </m:eqArr>
                            </m:e>
                          </m:d>
                        </m:e>
                        <m:sub>
                          <m:r>
                            <a:rPr lang="en-US" altLang="zh-CN" b="0" i="1" smtClean="0">
                              <a:latin typeface="Cambria Math" panose="02040503050406030204" pitchFamily="18" charset="0"/>
                            </a:rPr>
                            <m:t>𝑠𝑅𝐺𝐵</m:t>
                          </m:r>
                        </m:sub>
                      </m:sSub>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其中，</a:t>
                </a:r>
                <a14:m>
                  <m:oMath xmlns:m="http://schemas.openxmlformats.org/officeDocument/2006/math">
                    <m:r>
                      <a:rPr lang="en-US" altLang="zh-CN" i="1">
                        <a:latin typeface="Cambria Math" panose="02040503050406030204" pitchFamily="18" charset="0"/>
                      </a:rPr>
                      <m:t>𝑇</m:t>
                    </m:r>
                  </m:oMath>
                </a14:m>
                <a:r>
                  <a:rPr lang="zh-CN" altLang="en-US" dirty="0">
                    <a:latin typeface="Noto Sans SC" panose="020B0200000000000000" pitchFamily="34" charset="-122"/>
                    <a:ea typeface="Noto Sans SC" panose="020B0200000000000000" pitchFamily="34" charset="-122"/>
                  </a:rPr>
                  <a:t>为</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色彩空间到</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色彩空间的转换矩阵，</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−1</m:t>
                        </m:r>
                      </m:sup>
                    </m:sSup>
                  </m:oMath>
                </a14:m>
                <a:r>
                  <a:rPr lang="zh-CN" altLang="en-US" dirty="0">
                    <a:latin typeface="Noto Sans SC" panose="020B0200000000000000" pitchFamily="34" charset="-122"/>
                    <a:ea typeface="Noto Sans SC" panose="020B0200000000000000" pitchFamily="34" charset="-122"/>
                  </a:rPr>
                  <a:t>为</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色彩空间到</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色彩空间的转换矩阵。</a:t>
                </a:r>
                <a:endParaRPr lang="en-US" altLang="zh-CN" dirty="0">
                  <a:latin typeface="Noto Sans SC" panose="020B0200000000000000" pitchFamily="34" charset="-122"/>
                  <a:ea typeface="Noto Sans SC" panose="020B0200000000000000" pitchFamily="34" charset="-122"/>
                </a:endParaRPr>
              </a:p>
            </p:txBody>
          </p:sp>
        </mc:Choice>
        <mc:Fallback xmlns="">
          <p:sp>
            <p:nvSpPr>
              <p:cNvPr id="14" name="文本框 13">
                <a:extLst>
                  <a:ext uri="{FF2B5EF4-FFF2-40B4-BE49-F238E27FC236}">
                    <a16:creationId xmlns:a16="http://schemas.microsoft.com/office/drawing/2014/main" id="{D4FB64E8-11B7-C84A-9724-1630775CF13A}"/>
                  </a:ext>
                </a:extLst>
              </p:cNvPr>
              <p:cNvSpPr txBox="1">
                <a:spLocks noRot="1" noChangeAspect="1" noMove="1" noResize="1" noEditPoints="1" noAdjustHandles="1" noChangeArrowheads="1" noChangeShapeType="1" noTextEdit="1"/>
              </p:cNvSpPr>
              <p:nvPr/>
            </p:nvSpPr>
            <p:spPr>
              <a:xfrm>
                <a:off x="295284" y="1891566"/>
                <a:ext cx="7127866" cy="4723024"/>
              </a:xfrm>
              <a:prstGeom prst="rect">
                <a:avLst/>
              </a:prstGeom>
              <a:blipFill>
                <a:blip r:embed="rId2"/>
                <a:stretch>
                  <a:fillRect l="-684" t="-645" r="-684" b="-1806"/>
                </a:stretch>
              </a:blipFill>
            </p:spPr>
            <p:txBody>
              <a:bodyPr/>
              <a:lstStyle/>
              <a:p>
                <a:r>
                  <a:rPr lang="zh-CN" altLang="en-US">
                    <a:noFill/>
                  </a:rPr>
                  <a:t> </a:t>
                </a:r>
              </a:p>
            </p:txBody>
          </p:sp>
        </mc:Fallback>
      </mc:AlternateContent>
      <p:pic>
        <p:nvPicPr>
          <p:cNvPr id="7" name="图片 6" descr="重写版光的学习笔记（四）：色温、黑体、色度坐标、SDCM、白点白平衡和实际亮度和色彩明度的关系、校色卡的作用- 知乎">
            <a:extLst>
              <a:ext uri="{FF2B5EF4-FFF2-40B4-BE49-F238E27FC236}">
                <a16:creationId xmlns:a16="http://schemas.microsoft.com/office/drawing/2014/main" id="{38B54071-7B42-502A-FD7A-6B32BFD12AB0}"/>
              </a:ext>
            </a:extLst>
          </p:cNvPr>
          <p:cNvPicPr>
            <a:picLocks noChangeAspect="1"/>
          </p:cNvPicPr>
          <p:nvPr/>
        </p:nvPicPr>
        <p:blipFill>
          <a:blip r:embed="rId3"/>
          <a:stretch>
            <a:fillRect/>
          </a:stretch>
        </p:blipFill>
        <p:spPr>
          <a:xfrm>
            <a:off x="7903923" y="2907228"/>
            <a:ext cx="3475650" cy="3889418"/>
          </a:xfrm>
          <a:prstGeom prst="rect">
            <a:avLst/>
          </a:prstGeom>
        </p:spPr>
      </p:pic>
      <p:pic>
        <p:nvPicPr>
          <p:cNvPr id="3" name="图片 2">
            <a:extLst>
              <a:ext uri="{FF2B5EF4-FFF2-40B4-BE49-F238E27FC236}">
                <a16:creationId xmlns:a16="http://schemas.microsoft.com/office/drawing/2014/main" id="{E6BD16F6-8BF5-63FC-2901-E29B9CC7E874}"/>
              </a:ext>
            </a:extLst>
          </p:cNvPr>
          <p:cNvPicPr>
            <a:picLocks noChangeAspect="1"/>
          </p:cNvPicPr>
          <p:nvPr/>
        </p:nvPicPr>
        <p:blipFill>
          <a:blip r:embed="rId4"/>
          <a:stretch>
            <a:fillRect/>
          </a:stretch>
        </p:blipFill>
        <p:spPr>
          <a:xfrm>
            <a:off x="7694587" y="585991"/>
            <a:ext cx="3684986" cy="2246824"/>
          </a:xfrm>
          <a:prstGeom prst="rect">
            <a:avLst/>
          </a:prstGeom>
        </p:spPr>
      </p:pic>
    </p:spTree>
    <p:extLst>
      <p:ext uri="{BB962C8B-B14F-4D97-AF65-F5344CB8AC3E}">
        <p14:creationId xmlns:p14="http://schemas.microsoft.com/office/powerpoint/2010/main" val="26757336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1D6BC-47A7-2A98-1E0C-FAB5644EE3B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7E0D7A0-6DB9-8622-C44E-E8B95AB23DC4}"/>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CD535459-7BF6-C349-EB78-91E45E52F3D4}"/>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色彩空间的转换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得到转换矩阵</a:t>
            </a:r>
            <a:endParaRPr lang="en-US" altLang="zh-CN" sz="20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BADDE07-B456-0368-76C2-9E5BCCAD064C}"/>
                  </a:ext>
                </a:extLst>
              </p:cNvPr>
              <p:cNvSpPr txBox="1"/>
              <p:nvPr/>
            </p:nvSpPr>
            <p:spPr>
              <a:xfrm>
                <a:off x="295284" y="1891566"/>
                <a:ext cx="7127866" cy="3936142"/>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𝑥</m:t>
                          </m:r>
                        </m:sub>
                      </m:sSub>
                      <m:r>
                        <a:rPr lang="en-US" altLang="zh-CN" i="1">
                          <a:latin typeface="Cambria Math" panose="02040503050406030204" pitchFamily="18" charset="0"/>
                        </a:rPr>
                        <m:t>=0.64</m:t>
                      </m:r>
                      <m:r>
                        <a:rPr lang="en-US" altLang="zh-CN"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𝑦</m:t>
                          </m:r>
                        </m:sub>
                      </m:sSub>
                      <m:r>
                        <a:rPr lang="en-US" altLang="zh-CN" i="1">
                          <a:latin typeface="Cambria Math" panose="02040503050406030204" pitchFamily="18" charset="0"/>
                        </a:rPr>
                        <m:t>=0.33</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i="1">
                              <a:latin typeface="Cambria Math" panose="02040503050406030204" pitchFamily="18" charset="0"/>
                            </a:rPr>
                            <m:t>𝑥</m:t>
                          </m:r>
                        </m:sub>
                      </m:sSub>
                      <m:r>
                        <a:rPr lang="en-US" altLang="zh-CN" i="1">
                          <a:latin typeface="Cambria Math" panose="02040503050406030204" pitchFamily="18" charset="0"/>
                        </a:rPr>
                        <m:t>=0.</m:t>
                      </m:r>
                      <m:r>
                        <a:rPr lang="en-US" altLang="zh-CN" b="0" i="1" smtClean="0">
                          <a:latin typeface="Cambria Math" panose="02040503050406030204" pitchFamily="18" charset="0"/>
                        </a:rPr>
                        <m:t>30,  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i="1">
                              <a:latin typeface="Cambria Math" panose="02040503050406030204" pitchFamily="18" charset="0"/>
                            </a:rPr>
                            <m:t>𝑦</m:t>
                          </m:r>
                        </m:sub>
                      </m:sSub>
                      <m:r>
                        <a:rPr lang="en-US" altLang="zh-CN" i="1">
                          <a:latin typeface="Cambria Math" panose="02040503050406030204" pitchFamily="18" charset="0"/>
                        </a:rPr>
                        <m:t>=0.</m:t>
                      </m:r>
                      <m:r>
                        <a:rPr lang="en-US" altLang="zh-CN" b="0" i="1" smtClean="0">
                          <a:latin typeface="Cambria Math" panose="02040503050406030204" pitchFamily="18" charset="0"/>
                        </a:rPr>
                        <m:t>60</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𝑥</m:t>
                          </m:r>
                        </m:sub>
                      </m:sSub>
                      <m:r>
                        <a:rPr lang="en-US" altLang="zh-CN" i="1">
                          <a:latin typeface="Cambria Math" panose="02040503050406030204" pitchFamily="18" charset="0"/>
                        </a:rPr>
                        <m:t>=0.</m:t>
                      </m:r>
                      <m:r>
                        <a:rPr lang="en-US" altLang="zh-CN" b="0" i="1" smtClean="0">
                          <a:latin typeface="Cambria Math" panose="02040503050406030204" pitchFamily="18" charset="0"/>
                        </a:rPr>
                        <m:t>15,  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𝑦</m:t>
                          </m:r>
                        </m:sub>
                      </m:sSub>
                      <m:r>
                        <a:rPr lang="en-US" altLang="zh-CN" i="1">
                          <a:latin typeface="Cambria Math" panose="02040503050406030204" pitchFamily="18" charset="0"/>
                        </a:rPr>
                        <m:t>=0.</m:t>
                      </m:r>
                      <m:r>
                        <a:rPr lang="en-US" altLang="zh-CN" b="0" i="1" smtClean="0">
                          <a:latin typeface="Cambria Math" panose="02040503050406030204" pitchFamily="18" charset="0"/>
                        </a:rPr>
                        <m:t>06</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𝑥</m:t>
                          </m:r>
                        </m:sub>
                      </m:sSub>
                      <m:r>
                        <a:rPr lang="en-US" altLang="zh-CN" i="1">
                          <a:latin typeface="Cambria Math" panose="02040503050406030204" pitchFamily="18" charset="0"/>
                        </a:rPr>
                        <m:t>=0.3127,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𝑦</m:t>
                          </m:r>
                        </m:sub>
                      </m:sSub>
                      <m:r>
                        <a:rPr lang="en-US" altLang="zh-CN" i="1">
                          <a:latin typeface="Cambria Math" panose="02040503050406030204" pitchFamily="18" charset="0"/>
                        </a:rPr>
                        <m:t>=0.3290</m:t>
                      </m:r>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𝑋</m:t>
                              </m:r>
                            </m:e>
                            <m:e>
                              <m:r>
                                <a:rPr lang="en-US" altLang="zh-CN" i="1">
                                  <a:latin typeface="Cambria Math" panose="02040503050406030204" pitchFamily="18" charset="0"/>
                                </a:rPr>
                                <m:t>1</m:t>
                              </m:r>
                            </m:e>
                            <m:e>
                              <m:r>
                                <a:rPr lang="en-US" altLang="zh-CN" i="1">
                                  <a:latin typeface="Cambria Math" panose="02040503050406030204" pitchFamily="18" charset="0"/>
                                </a:rPr>
                                <m:t>𝑍</m:t>
                              </m:r>
                            </m:e>
                          </m:eqArr>
                        </m:e>
                      </m:d>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−1</m:t>
                          </m:r>
                        </m:sup>
                      </m:sSup>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1</m:t>
                                  </m:r>
                                </m:e>
                                <m:e>
                                  <m:r>
                                    <a:rPr lang="en-US" altLang="zh-CN" i="1">
                                      <a:latin typeface="Cambria Math" panose="02040503050406030204" pitchFamily="18" charset="0"/>
                                    </a:rPr>
                                    <m:t>1</m:t>
                                  </m:r>
                                </m:e>
                                <m:e>
                                  <m:r>
                                    <a:rPr lang="en-US" altLang="zh-CN" i="1">
                                      <a:latin typeface="Cambria Math" panose="02040503050406030204" pitchFamily="18" charset="0"/>
                                    </a:rPr>
                                    <m:t>1</m:t>
                                  </m:r>
                                </m:e>
                              </m:eqArr>
                            </m:e>
                          </m:d>
                        </m:e>
                        <m:sub>
                          <m:r>
                            <a:rPr lang="en-US" altLang="zh-CN" b="0" i="1" smtClean="0">
                              <a:latin typeface="Cambria Math" panose="02040503050406030204" pitchFamily="18" charset="0"/>
                            </a:rPr>
                            <m:t>𝑠𝑅𝐺𝐵</m:t>
                          </m:r>
                        </m:sub>
                      </m:sSub>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于是，根据上面这</a:t>
                </a:r>
                <a:r>
                  <a:rPr lang="en-US" altLang="zh-CN" dirty="0">
                    <a:latin typeface="Noto Sans SC" panose="020B0200000000000000" pitchFamily="34" charset="-122"/>
                    <a:ea typeface="Noto Sans SC" panose="020B0200000000000000" pitchFamily="34" charset="-122"/>
                  </a:rPr>
                  <a:t>9</a:t>
                </a:r>
                <a:r>
                  <a:rPr lang="zh-CN" altLang="en-US" dirty="0">
                    <a:latin typeface="Noto Sans SC" panose="020B0200000000000000" pitchFamily="34" charset="-122"/>
                    <a:ea typeface="Noto Sans SC" panose="020B0200000000000000" pitchFamily="34" charset="-122"/>
                  </a:rPr>
                  <a:t>个方程，就可以解得</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空间到</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色彩空间的转换矩阵了，数值上约为：</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𝑅</m:t>
                                  </m:r>
                                </m:e>
                                <m:e>
                                  <m:r>
                                    <a:rPr lang="en-US" altLang="zh-CN" b="0" i="1" smtClean="0">
                                      <a:latin typeface="Cambria Math" panose="02040503050406030204" pitchFamily="18" charset="0"/>
                                    </a:rPr>
                                    <m:t>𝐺</m:t>
                                  </m:r>
                                </m:e>
                                <m:e>
                                  <m:r>
                                    <a:rPr lang="en-US" altLang="zh-CN" b="0" i="1" smtClean="0">
                                      <a:latin typeface="Cambria Math" panose="02040503050406030204" pitchFamily="18" charset="0"/>
                                    </a:rPr>
                                    <m:t>𝐵</m:t>
                                  </m:r>
                                </m:e>
                              </m:eqArr>
                            </m:e>
                          </m:d>
                        </m:e>
                        <m:sub>
                          <m:r>
                            <a:rPr lang="en-US" altLang="zh-CN" b="0" i="1" smtClean="0">
                              <a:latin typeface="Cambria Math" panose="02040503050406030204" pitchFamily="18" charset="0"/>
                            </a:rPr>
                            <m:t>𝑠𝑅𝐺𝐵</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3</m:t>
                                </m:r>
                                <m:r>
                                  <a:rPr lang="en-US" altLang="zh-CN" b="0" i="1" smtClean="0">
                                    <a:latin typeface="Cambria Math" panose="02040503050406030204" pitchFamily="18" charset="0"/>
                                  </a:rPr>
                                  <m:t>.24</m:t>
                                </m:r>
                              </m:e>
                              <m:e>
                                <m:r>
                                  <a:rPr lang="en-US" altLang="zh-CN" i="1">
                                    <a:latin typeface="Cambria Math" panose="02040503050406030204" pitchFamily="18" charset="0"/>
                                  </a:rPr>
                                  <m:t>−1.</m:t>
                                </m:r>
                                <m:r>
                                  <a:rPr lang="en-US" altLang="zh-CN" b="0" i="1" smtClean="0">
                                    <a:latin typeface="Cambria Math" panose="02040503050406030204" pitchFamily="18" charset="0"/>
                                  </a:rPr>
                                  <m:t>54</m:t>
                                </m:r>
                              </m:e>
                              <m:e>
                                <m:r>
                                  <a:rPr lang="en-US" altLang="zh-CN" b="0" i="1" smtClean="0">
                                    <a:latin typeface="Cambria Math" panose="02040503050406030204" pitchFamily="18" charset="0"/>
                                  </a:rPr>
                                  <m:t>−0.50</m:t>
                                </m:r>
                              </m:e>
                            </m:mr>
                            <m:mr>
                              <m:e>
                                <m:r>
                                  <a:rPr lang="en-US" altLang="zh-CN" b="0" i="1" smtClean="0">
                                    <a:latin typeface="Cambria Math" panose="02040503050406030204" pitchFamily="18" charset="0"/>
                                  </a:rPr>
                                  <m:t>−0.97</m:t>
                                </m:r>
                              </m:e>
                              <m:e>
                                <m:r>
                                  <a:rPr lang="en-US" altLang="zh-CN" b="0" i="1" smtClean="0">
                                    <a:latin typeface="Cambria Math" panose="02040503050406030204" pitchFamily="18" charset="0"/>
                                  </a:rPr>
                                  <m:t>1.88</m:t>
                                </m:r>
                              </m:e>
                              <m:e>
                                <m:r>
                                  <a:rPr lang="en-US" altLang="zh-CN" b="0" i="1" smtClean="0">
                                    <a:latin typeface="Cambria Math" panose="02040503050406030204" pitchFamily="18" charset="0"/>
                                  </a:rPr>
                                  <m:t>0.04</m:t>
                                </m:r>
                              </m:e>
                            </m:mr>
                            <m:mr>
                              <m:e>
                                <m:r>
                                  <a:rPr lang="en-US" altLang="zh-CN" i="1">
                                    <a:latin typeface="Cambria Math" panose="02040503050406030204" pitchFamily="18" charset="0"/>
                                  </a:rPr>
                                  <m:t>0</m:t>
                                </m:r>
                                <m:r>
                                  <a:rPr lang="en-US" altLang="zh-CN" b="0" i="1" smtClean="0">
                                    <a:latin typeface="Cambria Math" panose="02040503050406030204" pitchFamily="18" charset="0"/>
                                  </a:rPr>
                                  <m:t>.06</m:t>
                                </m:r>
                              </m:e>
                              <m:e>
                                <m:r>
                                  <a:rPr lang="en-US" altLang="zh-CN" b="0" i="1" smtClean="0">
                                    <a:latin typeface="Cambria Math" panose="02040503050406030204" pitchFamily="18" charset="0"/>
                                  </a:rPr>
                                  <m:t>−0.20</m:t>
                                </m:r>
                              </m:e>
                              <m:e>
                                <m:r>
                                  <a:rPr lang="en-US" altLang="zh-CN" b="0" i="1" smtClean="0">
                                    <a:latin typeface="Cambria Math" panose="02040503050406030204" pitchFamily="18" charset="0"/>
                                  </a:rPr>
                                  <m:t>1.06</m:t>
                                </m:r>
                              </m:e>
                            </m:mr>
                          </m:m>
                        </m:e>
                      </m:d>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𝑋</m:t>
                              </m:r>
                            </m:e>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𝑍</m:t>
                              </m:r>
                            </m:e>
                          </m:eqArr>
                        </m:e>
                      </m:d>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14" name="文本框 13">
                <a:extLst>
                  <a:ext uri="{FF2B5EF4-FFF2-40B4-BE49-F238E27FC236}">
                    <a16:creationId xmlns:a16="http://schemas.microsoft.com/office/drawing/2014/main" id="{BBADDE07-B456-0368-76C2-9E5BCCAD064C}"/>
                  </a:ext>
                </a:extLst>
              </p:cNvPr>
              <p:cNvSpPr txBox="1">
                <a:spLocks noRot="1" noChangeAspect="1" noMove="1" noResize="1" noEditPoints="1" noAdjustHandles="1" noChangeArrowheads="1" noChangeShapeType="1" noTextEdit="1"/>
              </p:cNvSpPr>
              <p:nvPr/>
            </p:nvSpPr>
            <p:spPr>
              <a:xfrm>
                <a:off x="295284" y="1891566"/>
                <a:ext cx="7127866" cy="3936142"/>
              </a:xfrm>
              <a:prstGeom prst="rect">
                <a:avLst/>
              </a:prstGeom>
              <a:blipFill>
                <a:blip r:embed="rId2"/>
                <a:stretch>
                  <a:fillRect l="-684" t="-774"/>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CF803978-4AAB-21CE-077B-BE61F66B6FAB}"/>
              </a:ext>
            </a:extLst>
          </p:cNvPr>
          <p:cNvGrpSpPr/>
          <p:nvPr/>
        </p:nvGrpSpPr>
        <p:grpSpPr>
          <a:xfrm>
            <a:off x="7619179" y="1891566"/>
            <a:ext cx="4133850" cy="4381500"/>
            <a:chOff x="7606300" y="1989812"/>
            <a:chExt cx="4133850" cy="4381500"/>
          </a:xfrm>
        </p:grpSpPr>
        <p:pic>
          <p:nvPicPr>
            <p:cNvPr id="3" name="图片 2" descr="CIE XYZ color space">
              <a:extLst>
                <a:ext uri="{FF2B5EF4-FFF2-40B4-BE49-F238E27FC236}">
                  <a16:creationId xmlns:a16="http://schemas.microsoft.com/office/drawing/2014/main" id="{12E834B4-C10F-213A-1EF3-B644DC25F9CD}"/>
                </a:ext>
              </a:extLst>
            </p:cNvPr>
            <p:cNvPicPr>
              <a:picLocks noChangeAspect="1"/>
            </p:cNvPicPr>
            <p:nvPr/>
          </p:nvPicPr>
          <p:blipFill>
            <a:blip r:embed="rId3"/>
            <a:stretch>
              <a:fillRect/>
            </a:stretch>
          </p:blipFill>
          <p:spPr>
            <a:xfrm>
              <a:off x="7606300" y="1989812"/>
              <a:ext cx="4133850" cy="4381500"/>
            </a:xfrm>
            <a:prstGeom prst="rect">
              <a:avLst/>
            </a:prstGeom>
          </p:spPr>
        </p:pic>
        <p:sp>
          <p:nvSpPr>
            <p:cNvPr id="7" name="等腰三角形 2">
              <a:extLst>
                <a:ext uri="{FF2B5EF4-FFF2-40B4-BE49-F238E27FC236}">
                  <a16:creationId xmlns:a16="http://schemas.microsoft.com/office/drawing/2014/main" id="{D9767D5E-EA5B-7813-D8A7-824C0DBB590A}"/>
                </a:ext>
              </a:extLst>
            </p:cNvPr>
            <p:cNvSpPr/>
            <p:nvPr/>
          </p:nvSpPr>
          <p:spPr>
            <a:xfrm>
              <a:off x="8747152" y="3393820"/>
              <a:ext cx="2103503" cy="2294872"/>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Lst>
              <a:ahLst/>
              <a:cxnLst>
                <a:cxn ang="0">
                  <a:pos x="csX0" y="csY0"/>
                </a:cxn>
                <a:cxn ang="0">
                  <a:pos x="csX1" y="csY1"/>
                </a:cxn>
                <a:cxn ang="0">
                  <a:pos x="csX2" y="csY2"/>
                </a:cxn>
                <a:cxn ang="0">
                  <a:pos x="csX3" y="csY3"/>
                </a:cxn>
              </a:cxnLst>
              <a:rect l="l" t="t" r="r" b="b"/>
              <a:pathLst>
                <a:path w="2103503" h="2294872">
                  <a:moveTo>
                    <a:pt x="2103503" y="1175475"/>
                  </a:moveTo>
                  <a:lnTo>
                    <a:pt x="0" y="2294872"/>
                  </a:lnTo>
                  <a:lnTo>
                    <a:pt x="657211" y="0"/>
                  </a:lnTo>
                  <a:lnTo>
                    <a:pt x="2103503" y="1175475"/>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42648854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2DF6-012E-43D5-ABEA-C96D39F65E4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7233FFF-33A4-2118-4263-A5FBCD28FE8E}"/>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79F10906-1C18-4F97-0BC8-1D17DBF4672A}"/>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色彩空间的转换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几何理解</a:t>
            </a:r>
            <a:endParaRPr lang="en-US" altLang="zh-CN" sz="20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8206189-9124-4292-1440-20527D1FF115}"/>
                  </a:ext>
                </a:extLst>
              </p:cNvPr>
              <p:cNvSpPr txBox="1"/>
              <p:nvPr/>
            </p:nvSpPr>
            <p:spPr>
              <a:xfrm>
                <a:off x="295284" y="1891566"/>
                <a:ext cx="7446722" cy="4148187"/>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刚才，我们从代数的层面得到了色彩空间的转换矩阵，下面我们从几何的层面直观理解一下色彩空间的转换。</a:t>
                </a:r>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sz="1600" b="0" i="1" dirty="0">
                          <a:latin typeface="Cambria Math" panose="02040503050406030204" pitchFamily="18" charset="0"/>
                        </a:rPr>
                        <m:t>对于</m:t>
                      </m:r>
                      <m:r>
                        <m:rPr>
                          <m:sty m:val="p"/>
                        </m:rPr>
                        <a:rPr lang="en-US" altLang="zh-CN" sz="1600" i="1" dirty="0" smtClean="0">
                          <a:latin typeface="Cambria Math" panose="02040503050406030204" pitchFamily="18" charset="0"/>
                        </a:rPr>
                        <m:t>XYZ</m:t>
                      </m:r>
                      <m:r>
                        <a:rPr lang="zh-CN" altLang="en-US" sz="1600" i="1" dirty="0">
                          <a:latin typeface="Cambria Math" panose="02040503050406030204" pitchFamily="18" charset="0"/>
                        </a:rPr>
                        <m:t>色彩</m:t>
                      </m:r>
                      <m:r>
                        <a:rPr lang="zh-CN" altLang="en-US" sz="1600" i="1" dirty="0" smtClean="0">
                          <a:latin typeface="Cambria Math" panose="02040503050406030204" pitchFamily="18" charset="0"/>
                        </a:rPr>
                        <m:t>空间</m:t>
                      </m:r>
                      <m:r>
                        <a:rPr lang="zh-CN" altLang="en-US" sz="1600" i="1" dirty="0">
                          <a:latin typeface="Cambria Math" panose="02040503050406030204" pitchFamily="18" charset="0"/>
                        </a:rPr>
                        <m:t>一点</m:t>
                      </m:r>
                      <m:d>
                        <m:dPr>
                          <m:begChr m:val="["/>
                          <m:endChr m:val="]"/>
                          <m:ctrlPr>
                            <a:rPr lang="en-US" altLang="zh-CN" sz="1600" b="0" i="1" smtClean="0">
                              <a:latin typeface="Cambria Math" panose="02040503050406030204" pitchFamily="18" charset="0"/>
                            </a:rPr>
                          </m:ctrlPr>
                        </m:dPr>
                        <m:e>
                          <m:eqArr>
                            <m:eqArrPr>
                              <m:ctrlPr>
                                <a:rPr lang="en-US" altLang="zh-CN" sz="1600" b="0" i="1" smtClean="0">
                                  <a:latin typeface="Cambria Math" panose="02040503050406030204" pitchFamily="18" charset="0"/>
                                </a:rPr>
                              </m:ctrlPr>
                            </m:eqArrPr>
                            <m:e>
                              <m:r>
                                <a:rPr lang="en-US" altLang="zh-CN" sz="1600" b="0" i="1" smtClean="0">
                                  <a:latin typeface="Cambria Math" panose="02040503050406030204" pitchFamily="18" charset="0"/>
                                </a:rPr>
                                <m:t>𝑋</m:t>
                              </m:r>
                            </m:e>
                            <m:e>
                              <m:r>
                                <a:rPr lang="en-US" altLang="zh-CN" sz="1600" b="0" i="1" smtClean="0">
                                  <a:latin typeface="Cambria Math" panose="02040503050406030204" pitchFamily="18" charset="0"/>
                                </a:rPr>
                                <m:t>𝑌</m:t>
                              </m:r>
                            </m:e>
                            <m:e>
                              <m:r>
                                <a:rPr lang="en-US" altLang="zh-CN" sz="1600" b="0" i="1" smtClean="0">
                                  <a:latin typeface="Cambria Math" panose="02040503050406030204" pitchFamily="18" charset="0"/>
                                </a:rPr>
                                <m:t>𝑍</m:t>
                              </m:r>
                            </m:e>
                          </m:eqArr>
                        </m:e>
                      </m:d>
                      <m:r>
                        <a:rPr lang="en-US" altLang="zh-CN" sz="1600" b="0" i="1" smtClean="0">
                          <a:latin typeface="Cambria Math" panose="02040503050406030204" pitchFamily="18" charset="0"/>
                        </a:rPr>
                        <m:t>,  </m:t>
                      </m:r>
                      <m:r>
                        <a:rPr lang="zh-CN" altLang="en-US" sz="1600" i="1" smtClean="0">
                          <a:latin typeface="Cambria Math" panose="02040503050406030204" pitchFamily="18" charset="0"/>
                        </a:rPr>
                        <m:t>其</m:t>
                      </m:r>
                      <m:r>
                        <a:rPr lang="zh-CN" altLang="en-US" sz="1600" i="1">
                          <a:latin typeface="Cambria Math" panose="02040503050406030204" pitchFamily="18" charset="0"/>
                        </a:rPr>
                        <m:t>色度坐标</m:t>
                      </m:r>
                      <m:r>
                        <a:rPr lang="zh-CN" altLang="en-US" sz="1600" i="1" smtClean="0">
                          <a:latin typeface="Cambria Math" panose="02040503050406030204" pitchFamily="18" charset="0"/>
                        </a:rPr>
                        <m:t>为</m:t>
                      </m:r>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𝑋</m:t>
                              </m:r>
                            </m:num>
                            <m:den>
                              <m:r>
                                <a:rPr lang="en-US" altLang="zh-CN" sz="1600" b="0" i="1" smtClean="0">
                                  <a:latin typeface="Cambria Math" panose="02040503050406030204" pitchFamily="18" charset="0"/>
                                </a:rPr>
                                <m:t>𝑋</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𝑍</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𝑌</m:t>
                              </m:r>
                            </m:num>
                            <m:den>
                              <m:r>
                                <a:rPr lang="en-US" altLang="zh-CN" sz="1600" b="0" i="1" smtClean="0">
                                  <a:latin typeface="Cambria Math" panose="02040503050406030204" pitchFamily="18" charset="0"/>
                                </a:rPr>
                                <m:t>𝑋</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𝑍</m:t>
                              </m:r>
                            </m:den>
                          </m:f>
                        </m:e>
                      </m:d>
                    </m:oMath>
                  </m:oMathPara>
                </a14:m>
                <a:endParaRPr lang="en-US" altLang="zh-CN" sz="1600" b="0" i="1" dirty="0">
                  <a:latin typeface="Cambria Math" panose="02040503050406030204" pitchFamily="18" charset="0"/>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在这里省略了色度</a:t>
                </a:r>
                <a:r>
                  <a:rPr lang="en-US" altLang="zh-CN" sz="1600" dirty="0">
                    <a:latin typeface="Noto Sans SC" panose="020B0200000000000000" pitchFamily="34" charset="-122"/>
                    <a:ea typeface="Noto Sans SC" panose="020B0200000000000000" pitchFamily="34" charset="-122"/>
                  </a:rPr>
                  <a:t>z</a:t>
                </a:r>
                <a:r>
                  <a:rPr lang="zh-CN" altLang="en-US" sz="1600" dirty="0">
                    <a:latin typeface="Noto Sans SC" panose="020B0200000000000000" pitchFamily="34" charset="-122"/>
                    <a:ea typeface="Noto Sans SC" panose="020B0200000000000000" pitchFamily="34" charset="-122"/>
                  </a:rPr>
                  <a:t>坐标，因为</a:t>
                </a:r>
                <a:r>
                  <a:rPr lang="en-US" altLang="zh-CN" sz="1600" dirty="0">
                    <a:latin typeface="Noto Sans SC" panose="020B0200000000000000" pitchFamily="34" charset="-122"/>
                    <a:ea typeface="Noto Sans SC" panose="020B0200000000000000" pitchFamily="34" charset="-122"/>
                  </a:rPr>
                  <a:t>z</a:t>
                </a:r>
                <a:r>
                  <a:rPr lang="zh-CN" altLang="en-US" sz="1600" dirty="0">
                    <a:latin typeface="Noto Sans SC" panose="020B0200000000000000" pitchFamily="34" charset="-122"/>
                    <a:ea typeface="Noto Sans SC" panose="020B0200000000000000" pitchFamily="34" charset="-122"/>
                  </a:rPr>
                  <a:t>坐标可以用</a:t>
                </a:r>
                <a:r>
                  <a:rPr lang="en-US" altLang="zh-CN" sz="1600" dirty="0">
                    <a:latin typeface="Noto Sans SC" panose="020B0200000000000000" pitchFamily="34" charset="-122"/>
                    <a:ea typeface="Noto Sans SC" panose="020B0200000000000000" pitchFamily="34" charset="-122"/>
                  </a:rPr>
                  <a:t>1-x-y</a:t>
                </a:r>
                <a:r>
                  <a:rPr lang="zh-CN" altLang="en-US" sz="1600" dirty="0">
                    <a:latin typeface="Noto Sans SC" panose="020B0200000000000000" pitchFamily="34" charset="-122"/>
                    <a:ea typeface="Noto Sans SC" panose="020B0200000000000000" pitchFamily="34" charset="-122"/>
                  </a:rPr>
                  <a:t>计算得到，如果我们将</a:t>
                </a:r>
                <a:r>
                  <a:rPr lang="en-US" altLang="zh-CN" sz="1600" dirty="0">
                    <a:latin typeface="Noto Sans SC" panose="020B0200000000000000" pitchFamily="34" charset="-122"/>
                    <a:ea typeface="Noto Sans SC" panose="020B0200000000000000" pitchFamily="34" charset="-122"/>
                  </a:rPr>
                  <a:t>z</a:t>
                </a:r>
                <a:r>
                  <a:rPr lang="zh-CN" altLang="en-US" sz="1600" dirty="0">
                    <a:latin typeface="Noto Sans SC" panose="020B0200000000000000" pitchFamily="34" charset="-122"/>
                    <a:ea typeface="Noto Sans SC" panose="020B0200000000000000" pitchFamily="34" charset="-122"/>
                  </a:rPr>
                  <a:t>坐标补全：</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𝑋</m:t>
                              </m:r>
                            </m:num>
                            <m:den>
                              <m:r>
                                <a:rPr lang="en-US" altLang="zh-CN" sz="1600" i="1">
                                  <a:latin typeface="Cambria Math" panose="02040503050406030204" pitchFamily="18" charset="0"/>
                                </a:rPr>
                                <m:t>𝑋</m:t>
                              </m:r>
                              <m:r>
                                <a:rPr lang="en-US" altLang="zh-CN" sz="1600" i="1">
                                  <a:latin typeface="Cambria Math" panose="02040503050406030204" pitchFamily="18" charset="0"/>
                                </a:rPr>
                                <m:t>+</m:t>
                              </m:r>
                              <m:r>
                                <a:rPr lang="en-US" altLang="zh-CN" sz="1600" i="1">
                                  <a:latin typeface="Cambria Math" panose="02040503050406030204" pitchFamily="18" charset="0"/>
                                </a:rPr>
                                <m:t>𝑌</m:t>
                              </m:r>
                              <m:r>
                                <a:rPr lang="en-US" altLang="zh-CN" sz="1600" i="1">
                                  <a:latin typeface="Cambria Math" panose="02040503050406030204" pitchFamily="18" charset="0"/>
                                </a:rPr>
                                <m:t>+</m:t>
                              </m:r>
                              <m:r>
                                <a:rPr lang="en-US" altLang="zh-CN" sz="1600" i="1">
                                  <a:latin typeface="Cambria Math" panose="02040503050406030204" pitchFamily="18" charset="0"/>
                                </a:rPr>
                                <m:t>𝑍</m:t>
                              </m:r>
                            </m:den>
                          </m:f>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𝑌</m:t>
                              </m:r>
                            </m:num>
                            <m:den>
                              <m:r>
                                <a:rPr lang="en-US" altLang="zh-CN" sz="1600" i="1">
                                  <a:latin typeface="Cambria Math" panose="02040503050406030204" pitchFamily="18" charset="0"/>
                                </a:rPr>
                                <m:t>𝑋</m:t>
                              </m:r>
                              <m:r>
                                <a:rPr lang="en-US" altLang="zh-CN" sz="1600" i="1">
                                  <a:latin typeface="Cambria Math" panose="02040503050406030204" pitchFamily="18" charset="0"/>
                                </a:rPr>
                                <m:t>+</m:t>
                              </m:r>
                              <m:r>
                                <a:rPr lang="en-US" altLang="zh-CN" sz="1600" i="1">
                                  <a:latin typeface="Cambria Math" panose="02040503050406030204" pitchFamily="18" charset="0"/>
                                </a:rPr>
                                <m:t>𝑌</m:t>
                              </m:r>
                              <m:r>
                                <a:rPr lang="en-US" altLang="zh-CN" sz="1600" i="1">
                                  <a:latin typeface="Cambria Math" panose="02040503050406030204" pitchFamily="18" charset="0"/>
                                </a:rPr>
                                <m:t>+</m:t>
                              </m:r>
                              <m:r>
                                <a:rPr lang="en-US" altLang="zh-CN" sz="1600" i="1">
                                  <a:latin typeface="Cambria Math" panose="02040503050406030204" pitchFamily="18" charset="0"/>
                                </a:rPr>
                                <m:t>𝑍</m:t>
                              </m:r>
                            </m:den>
                          </m:f>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𝑍</m:t>
                              </m:r>
                            </m:num>
                            <m:den>
                              <m:r>
                                <a:rPr lang="en-US" altLang="zh-CN" sz="1600" b="0" i="1" smtClean="0">
                                  <a:latin typeface="Cambria Math" panose="02040503050406030204" pitchFamily="18" charset="0"/>
                                </a:rPr>
                                <m:t>𝑋</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𝑍</m:t>
                              </m:r>
                            </m:den>
                          </m:f>
                        </m:e>
                      </m:d>
                    </m:oMath>
                  </m:oMathPara>
                </a14:m>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en-US" altLang="zh-CN" sz="1600" b="0" dirty="0">
                    <a:latin typeface="Noto Sans SC" panose="020B0200000000000000" pitchFamily="34" charset="-122"/>
                    <a:ea typeface="Noto Sans SC" panose="020B0200000000000000" pitchFamily="34" charset="-122"/>
                  </a:rPr>
                  <a:t>         </a:t>
                </a:r>
                <a:r>
                  <a:rPr lang="zh-CN" altLang="en-US" sz="1600" b="0" dirty="0">
                    <a:latin typeface="Noto Sans SC" panose="020B0200000000000000" pitchFamily="34" charset="-122"/>
                    <a:ea typeface="Noto Sans SC" panose="020B0200000000000000" pitchFamily="34" charset="-122"/>
                  </a:rPr>
                  <a:t>可以发现，色度坐标</a:t>
                </a:r>
                <a:r>
                  <a:rPr lang="zh-CN" altLang="en-US" sz="1600" dirty="0">
                    <a:latin typeface="Noto Sans SC" panose="020B0200000000000000" pitchFamily="34" charset="-122"/>
                    <a:ea typeface="Noto Sans SC" panose="020B0200000000000000" pitchFamily="34" charset="-122"/>
                  </a:rPr>
                  <a:t>其实就是缩放后的</a:t>
                </a:r>
                <a:r>
                  <a:rPr lang="en-US" altLang="zh-CN" sz="1600" b="0" dirty="0">
                    <a:latin typeface="Noto Sans SC" panose="020B0200000000000000" pitchFamily="34" charset="-122"/>
                    <a:ea typeface="Noto Sans SC" panose="020B0200000000000000" pitchFamily="34" charset="-122"/>
                  </a:rPr>
                  <a:t>XYZ</a:t>
                </a:r>
                <a:r>
                  <a:rPr lang="zh-CN" altLang="en-US" sz="1600" b="0" dirty="0">
                    <a:latin typeface="Noto Sans SC" panose="020B0200000000000000" pitchFamily="34" charset="-122"/>
                    <a:ea typeface="Noto Sans SC" panose="020B0200000000000000" pitchFamily="34" charset="-122"/>
                  </a:rPr>
                  <a:t>色彩向量，并且满足</a:t>
                </a:r>
                <a:r>
                  <a:rPr lang="en-US" altLang="zh-CN" sz="1600" b="0" dirty="0" err="1">
                    <a:latin typeface="Noto Sans SC" panose="020B0200000000000000" pitchFamily="34" charset="-122"/>
                    <a:ea typeface="Noto Sans SC" panose="020B0200000000000000" pitchFamily="34" charset="-122"/>
                  </a:rPr>
                  <a:t>x+y+z</a:t>
                </a:r>
                <a:r>
                  <a:rPr lang="en-US" altLang="zh-CN" sz="1600" b="0" dirty="0">
                    <a:latin typeface="Noto Sans SC" panose="020B0200000000000000" pitchFamily="34" charset="-122"/>
                    <a:ea typeface="Noto Sans SC" panose="020B0200000000000000" pitchFamily="34" charset="-122"/>
                  </a:rPr>
                  <a:t>=1</a:t>
                </a:r>
                <a:r>
                  <a:rPr lang="zh-CN" altLang="en-US" sz="1600" b="0" dirty="0">
                    <a:latin typeface="Noto Sans SC" panose="020B0200000000000000" pitchFamily="34" charset="-122"/>
                    <a:ea typeface="Noto Sans SC" panose="020B0200000000000000" pitchFamily="34" charset="-122"/>
                  </a:rPr>
                  <a:t>。</a:t>
                </a:r>
                <a:r>
                  <a:rPr lang="zh-CN" altLang="en-US" sz="1600" dirty="0">
                    <a:latin typeface="Noto Sans SC" panose="020B0200000000000000" pitchFamily="34" charset="-122"/>
                    <a:ea typeface="Noto Sans SC" panose="020B0200000000000000" pitchFamily="34" charset="-122"/>
                  </a:rPr>
                  <a:t>于是，对于任意色度平面上的点 </a:t>
                </a:r>
                <a:r>
                  <a:rPr lang="en-US" altLang="zh-CN" sz="1600" dirty="0">
                    <a:latin typeface="Noto Sans SC" panose="020B0200000000000000" pitchFamily="34" charset="-122"/>
                    <a:ea typeface="Noto Sans SC" panose="020B0200000000000000" pitchFamily="34" charset="-122"/>
                  </a:rPr>
                  <a:t>(x, y)</a:t>
                </a:r>
                <a:r>
                  <a:rPr lang="zh-CN" altLang="en-US" sz="1600" dirty="0">
                    <a:latin typeface="Noto Sans SC" panose="020B0200000000000000" pitchFamily="34" charset="-122"/>
                    <a:ea typeface="Noto Sans SC" panose="020B0200000000000000" pitchFamily="34" charset="-122"/>
                  </a:rPr>
                  <a:t>，</a:t>
                </a:r>
                <a:r>
                  <a:rPr lang="en-US" altLang="zh-CN" sz="1600" dirty="0">
                    <a:latin typeface="Noto Sans SC" panose="020B0200000000000000" pitchFamily="34" charset="-122"/>
                    <a:ea typeface="Noto Sans SC" panose="020B0200000000000000" pitchFamily="34" charset="-122"/>
                  </a:rPr>
                  <a:t>XYZ</a:t>
                </a:r>
                <a:r>
                  <a:rPr lang="zh-CN" altLang="en-US" sz="1600" dirty="0">
                    <a:latin typeface="Noto Sans SC" panose="020B0200000000000000" pitchFamily="34" charset="-122"/>
                    <a:ea typeface="Noto Sans SC" panose="020B0200000000000000" pitchFamily="34" charset="-122"/>
                  </a:rPr>
                  <a:t>空间中所有坐标为</a:t>
                </a:r>
                <a14:m>
                  <m:oMath xmlns:m="http://schemas.openxmlformats.org/officeDocument/2006/math">
                    <m:r>
                      <a:rPr lang="en-US" altLang="zh-CN" sz="1600" b="0" i="1" smtClean="0">
                        <a:latin typeface="Cambria Math" panose="02040503050406030204" pitchFamily="18" charset="0"/>
                      </a:rPr>
                      <m:t>𝑘</m:t>
                    </m:r>
                    <m:d>
                      <m:dPr>
                        <m:begChr m:val="["/>
                        <m:endChr m:val="]"/>
                        <m:ctrlPr>
                          <a:rPr lang="en-US" altLang="zh-CN" sz="1600" b="0" i="1" smtClean="0">
                            <a:latin typeface="Cambria Math" panose="02040503050406030204" pitchFamily="18" charset="0"/>
                          </a:rPr>
                        </m:ctrlPr>
                      </m:dPr>
                      <m:e>
                        <m:eqArr>
                          <m:eqArrPr>
                            <m:ctrlPr>
                              <a:rPr lang="en-US" altLang="zh-CN" sz="1600" b="0" i="1" smtClean="0">
                                <a:latin typeface="Cambria Math" panose="02040503050406030204" pitchFamily="18" charset="0"/>
                              </a:rPr>
                            </m:ctrlPr>
                          </m:eqArrPr>
                          <m:e>
                            <m:r>
                              <a:rPr lang="en-US" altLang="zh-CN" sz="1600" b="0" i="1" smtClean="0">
                                <a:latin typeface="Cambria Math" panose="02040503050406030204" pitchFamily="18" charset="0"/>
                              </a:rPr>
                              <m:t>𝑥</m:t>
                            </m:r>
                          </m:e>
                          <m:e>
                            <m:r>
                              <a:rPr lang="en-US" altLang="zh-CN" b="0" i="1" smtClean="0">
                                <a:latin typeface="Cambria Math" panose="02040503050406030204" pitchFamily="18" charset="0"/>
                              </a:rPr>
                              <m:t>𝑦</m:t>
                            </m:r>
                          </m:e>
                          <m:e>
                            <m:r>
                              <m:rPr>
                                <m:sty m:val="p"/>
                              </m:rPr>
                              <a:rPr lang="en-US" altLang="zh-CN" b="0" i="1" smtClean="0">
                                <a:latin typeface="Cambria Math" panose="02040503050406030204" pitchFamily="18" charset="0"/>
                              </a:rPr>
                              <m:t>z</m:t>
                            </m:r>
                          </m:e>
                        </m:eqArr>
                      </m:e>
                    </m:d>
                  </m:oMath>
                </a14:m>
                <a:r>
                  <a:rPr lang="zh-CN" altLang="en-US" sz="1600" b="0" dirty="0">
                    <a:latin typeface="Noto Sans SC" panose="020B0200000000000000" pitchFamily="34" charset="-122"/>
                    <a:ea typeface="Noto Sans SC" panose="020B0200000000000000" pitchFamily="34" charset="-122"/>
                  </a:rPr>
                  <a:t>的点，必定有着相同的色度。换句话说，色度平面上每一个点都对应着</a:t>
                </a:r>
                <a:r>
                  <a:rPr lang="en-US" altLang="zh-CN" sz="1600" b="0" dirty="0">
                    <a:latin typeface="Noto Sans SC" panose="020B0200000000000000" pitchFamily="34" charset="-122"/>
                    <a:ea typeface="Noto Sans SC" panose="020B0200000000000000" pitchFamily="34" charset="-122"/>
                  </a:rPr>
                  <a:t>XYZ</a:t>
                </a:r>
                <a:r>
                  <a:rPr lang="zh-CN" altLang="en-US" sz="1600" b="0" dirty="0">
                    <a:latin typeface="Noto Sans SC" panose="020B0200000000000000" pitchFamily="34" charset="-122"/>
                    <a:ea typeface="Noto Sans SC" panose="020B0200000000000000" pitchFamily="34" charset="-122"/>
                  </a:rPr>
                  <a:t>空间中从原点发出的一条射线。</a:t>
                </a:r>
                <a:endParaRPr lang="en-US" altLang="zh-CN" sz="1600" b="0" dirty="0">
                  <a:latin typeface="Noto Sans SC" panose="020B0200000000000000" pitchFamily="34" charset="-122"/>
                  <a:ea typeface="Noto Sans SC" panose="020B0200000000000000" pitchFamily="34" charset="-122"/>
                </a:endParaRPr>
              </a:p>
            </p:txBody>
          </p:sp>
        </mc:Choice>
        <mc:Fallback xmlns="">
          <p:sp>
            <p:nvSpPr>
              <p:cNvPr id="14" name="文本框 13">
                <a:extLst>
                  <a:ext uri="{FF2B5EF4-FFF2-40B4-BE49-F238E27FC236}">
                    <a16:creationId xmlns:a16="http://schemas.microsoft.com/office/drawing/2014/main" id="{E8206189-9124-4292-1440-20527D1FF115}"/>
                  </a:ext>
                </a:extLst>
              </p:cNvPr>
              <p:cNvSpPr txBox="1">
                <a:spLocks noRot="1" noChangeAspect="1" noMove="1" noResize="1" noEditPoints="1" noAdjustHandles="1" noChangeArrowheads="1" noChangeShapeType="1" noTextEdit="1"/>
              </p:cNvSpPr>
              <p:nvPr/>
            </p:nvSpPr>
            <p:spPr>
              <a:xfrm>
                <a:off x="295284" y="1891566"/>
                <a:ext cx="7446722" cy="4148187"/>
              </a:xfrm>
              <a:prstGeom prst="rect">
                <a:avLst/>
              </a:prstGeom>
              <a:blipFill>
                <a:blip r:embed="rId2"/>
                <a:stretch>
                  <a:fillRect l="-409" t="-441" r="-409" b="-881"/>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CB8D7398-41C8-D2C1-FF44-444C5F305A8F}"/>
              </a:ext>
            </a:extLst>
          </p:cNvPr>
          <p:cNvGrpSpPr/>
          <p:nvPr/>
        </p:nvGrpSpPr>
        <p:grpSpPr>
          <a:xfrm>
            <a:off x="7831680" y="1658253"/>
            <a:ext cx="4133850" cy="4381500"/>
            <a:chOff x="7606300" y="1989812"/>
            <a:chExt cx="4133850" cy="4381500"/>
          </a:xfrm>
        </p:grpSpPr>
        <p:pic>
          <p:nvPicPr>
            <p:cNvPr id="3" name="图片 2" descr="CIE XYZ color space">
              <a:extLst>
                <a:ext uri="{FF2B5EF4-FFF2-40B4-BE49-F238E27FC236}">
                  <a16:creationId xmlns:a16="http://schemas.microsoft.com/office/drawing/2014/main" id="{7E2B9672-25E8-B894-DACB-496DFDE95E0D}"/>
                </a:ext>
              </a:extLst>
            </p:cNvPr>
            <p:cNvPicPr>
              <a:picLocks noChangeAspect="1"/>
            </p:cNvPicPr>
            <p:nvPr/>
          </p:nvPicPr>
          <p:blipFill>
            <a:blip r:embed="rId3"/>
            <a:stretch>
              <a:fillRect/>
            </a:stretch>
          </p:blipFill>
          <p:spPr>
            <a:xfrm>
              <a:off x="7606300" y="1989812"/>
              <a:ext cx="4133850" cy="4381500"/>
            </a:xfrm>
            <a:prstGeom prst="rect">
              <a:avLst/>
            </a:prstGeom>
          </p:spPr>
        </p:pic>
        <p:sp>
          <p:nvSpPr>
            <p:cNvPr id="4" name="等腰三角形 2">
              <a:extLst>
                <a:ext uri="{FF2B5EF4-FFF2-40B4-BE49-F238E27FC236}">
                  <a16:creationId xmlns:a16="http://schemas.microsoft.com/office/drawing/2014/main" id="{1499B97D-2C66-1AD2-288F-EBDA46196136}"/>
                </a:ext>
              </a:extLst>
            </p:cNvPr>
            <p:cNvSpPr/>
            <p:nvPr/>
          </p:nvSpPr>
          <p:spPr>
            <a:xfrm>
              <a:off x="8747152" y="3393820"/>
              <a:ext cx="2103503" cy="2294872"/>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Lst>
              <a:ahLst/>
              <a:cxnLst>
                <a:cxn ang="0">
                  <a:pos x="csX0" y="csY0"/>
                </a:cxn>
                <a:cxn ang="0">
                  <a:pos x="csX1" y="csY1"/>
                </a:cxn>
                <a:cxn ang="0">
                  <a:pos x="csX2" y="csY2"/>
                </a:cxn>
                <a:cxn ang="0">
                  <a:pos x="csX3" y="csY3"/>
                </a:cxn>
              </a:cxnLst>
              <a:rect l="l" t="t" r="r" b="b"/>
              <a:pathLst>
                <a:path w="2103503" h="2294872">
                  <a:moveTo>
                    <a:pt x="2103503" y="1175475"/>
                  </a:moveTo>
                  <a:lnTo>
                    <a:pt x="0" y="2294872"/>
                  </a:lnTo>
                  <a:lnTo>
                    <a:pt x="657211" y="0"/>
                  </a:lnTo>
                  <a:lnTo>
                    <a:pt x="2103503" y="1175475"/>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14680615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096C3-1BA8-4A04-EC75-4B08A4BE32F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2E03B9A-E114-F566-6DCE-48FDF25A7FC4}"/>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0F57796E-8201-536D-A758-CBFB1F40ED1B}"/>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色彩空间的转换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几何理解</a:t>
            </a:r>
            <a:endParaRPr lang="en-US" altLang="zh-CN" sz="2000" b="1" dirty="0">
              <a:latin typeface="Noto Sans SC" panose="020B0200000000000000" pitchFamily="34" charset="-122"/>
              <a:ea typeface="Noto Sans SC" panose="020B0200000000000000" pitchFamily="34" charset="-122"/>
            </a:endParaRPr>
          </a:p>
        </p:txBody>
      </p:sp>
      <p:sp>
        <p:nvSpPr>
          <p:cNvPr id="14" name="文本框 13">
            <a:extLst>
              <a:ext uri="{FF2B5EF4-FFF2-40B4-BE49-F238E27FC236}">
                <a16:creationId xmlns:a16="http://schemas.microsoft.com/office/drawing/2014/main" id="{09CE798C-E1BE-4833-B1F9-F62724018FE5}"/>
              </a:ext>
            </a:extLst>
          </p:cNvPr>
          <p:cNvSpPr txBox="1"/>
          <p:nvPr/>
        </p:nvSpPr>
        <p:spPr>
          <a:xfrm>
            <a:off x="295284" y="1891566"/>
            <a:ext cx="7446722" cy="338554"/>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endParaRPr lang="en-US" altLang="zh-CN" sz="1600" b="0"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E070577-6504-395F-51E5-CB42B464D864}"/>
                  </a:ext>
                </a:extLst>
              </p:cNvPr>
              <p:cNvSpPr txBox="1"/>
              <p:nvPr/>
            </p:nvSpPr>
            <p:spPr>
              <a:xfrm>
                <a:off x="295283" y="1891566"/>
                <a:ext cx="7535071" cy="4344394"/>
              </a:xfrm>
              <a:prstGeom prst="rect">
                <a:avLst/>
              </a:prstGeom>
              <a:noFill/>
            </p:spPr>
            <p:txBody>
              <a:bodyPr wrap="square">
                <a:spAutoFit/>
              </a:bodyPr>
              <a:lstStyle/>
              <a:p>
                <a:pPr algn="just"/>
                <a:r>
                  <a:rPr lang="zh-CN" altLang="en-US" sz="1800" b="0" dirty="0">
                    <a:latin typeface="Noto Sans SC" panose="020B0200000000000000" pitchFamily="34" charset="-122"/>
                    <a:ea typeface="Noto Sans SC" panose="020B0200000000000000" pitchFamily="34" charset="-122"/>
                  </a:rPr>
                  <a:t>         以</a:t>
                </a:r>
                <a:r>
                  <a:rPr lang="en-US" altLang="zh-CN" sz="1800" b="0" dirty="0">
                    <a:latin typeface="Noto Sans SC" panose="020B0200000000000000" pitchFamily="34" charset="-122"/>
                    <a:ea typeface="Noto Sans SC" panose="020B0200000000000000" pitchFamily="34" charset="-122"/>
                  </a:rPr>
                  <a:t>sRGB</a:t>
                </a:r>
                <a:r>
                  <a:rPr lang="zh-CN" altLang="en-US" sz="1800" b="0" dirty="0">
                    <a:latin typeface="Noto Sans SC" panose="020B0200000000000000" pitchFamily="34" charset="-122"/>
                    <a:ea typeface="Noto Sans SC" panose="020B0200000000000000" pitchFamily="34" charset="-122"/>
                  </a:rPr>
                  <a:t>色彩空间为例。</a:t>
                </a:r>
                <a:r>
                  <a:rPr lang="en-US" altLang="zh-CN" sz="1800" b="0" dirty="0">
                    <a:latin typeface="Noto Sans SC" panose="020B0200000000000000" pitchFamily="34" charset="-122"/>
                    <a:ea typeface="Noto Sans SC" panose="020B0200000000000000" pitchFamily="34" charset="-122"/>
                  </a:rPr>
                  <a:t>sRGB</a:t>
                </a:r>
                <a:r>
                  <a:rPr lang="zh-CN" altLang="en-US" sz="1800" b="0" dirty="0">
                    <a:latin typeface="Noto Sans SC" panose="020B0200000000000000" pitchFamily="34" charset="-122"/>
                    <a:ea typeface="Noto Sans SC" panose="020B0200000000000000" pitchFamily="34" charset="-122"/>
                  </a:rPr>
                  <a:t>色域的三原色以及白点的色度坐标为</a:t>
                </a:r>
                <a:r>
                  <a:rPr lang="zh-CN" altLang="en-US" sz="1800" dirty="0">
                    <a:latin typeface="Noto Sans SC" panose="020B0200000000000000" pitchFamily="34" charset="-122"/>
                    <a:ea typeface="Noto Sans SC" panose="020B0200000000000000" pitchFamily="34" charset="-122"/>
                  </a:rPr>
                  <a:t>：</a:t>
                </a:r>
                <a:endParaRPr lang="en-US" altLang="zh-CN" sz="18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rPr>
                        <m:t> </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𝑟</m:t>
                          </m:r>
                        </m:e>
                        <m:sub>
                          <m:r>
                            <a:rPr lang="en-US" altLang="zh-CN" sz="1800" i="1">
                              <a:latin typeface="Cambria Math" panose="02040503050406030204" pitchFamily="18" charset="0"/>
                            </a:rPr>
                            <m:t>𝑥</m:t>
                          </m:r>
                        </m:sub>
                      </m:sSub>
                      <m:r>
                        <a:rPr lang="en-US" altLang="zh-CN" sz="1800" i="1">
                          <a:latin typeface="Cambria Math" panose="02040503050406030204" pitchFamily="18" charset="0"/>
                        </a:rPr>
                        <m:t>=0.64</m:t>
                      </m:r>
                      <m:r>
                        <a:rPr lang="en-US" altLang="zh-CN" sz="1800" b="0" i="1" smtClean="0">
                          <a:latin typeface="Cambria Math" panose="02040503050406030204" pitchFamily="18" charset="0"/>
                        </a:rPr>
                        <m:t>,   </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𝑟</m:t>
                          </m:r>
                        </m:e>
                        <m:sub>
                          <m:r>
                            <a:rPr lang="en-US" altLang="zh-CN" sz="1800" i="1">
                              <a:latin typeface="Cambria Math" panose="02040503050406030204" pitchFamily="18" charset="0"/>
                            </a:rPr>
                            <m:t>𝑦</m:t>
                          </m:r>
                        </m:sub>
                      </m:sSub>
                      <m:r>
                        <a:rPr lang="en-US" altLang="zh-CN" sz="1800" i="1">
                          <a:latin typeface="Cambria Math" panose="02040503050406030204" pitchFamily="18" charset="0"/>
                        </a:rPr>
                        <m:t>=0.33</m:t>
                      </m:r>
                    </m:oMath>
                  </m:oMathPara>
                </a14:m>
                <a:endParaRPr lang="en-US" altLang="zh-CN" sz="18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𝑔</m:t>
                          </m:r>
                        </m:e>
                        <m:sub>
                          <m:r>
                            <a:rPr lang="en-US" altLang="zh-CN" sz="1800" i="1">
                              <a:latin typeface="Cambria Math" panose="02040503050406030204" pitchFamily="18" charset="0"/>
                            </a:rPr>
                            <m:t>𝑥</m:t>
                          </m:r>
                        </m:sub>
                      </m:sSub>
                      <m:r>
                        <a:rPr lang="en-US" altLang="zh-CN" sz="1800" i="1">
                          <a:latin typeface="Cambria Math" panose="02040503050406030204" pitchFamily="18" charset="0"/>
                        </a:rPr>
                        <m:t>=0.</m:t>
                      </m:r>
                      <m:r>
                        <a:rPr lang="en-US" altLang="zh-CN" sz="1800" b="0" i="1" smtClean="0">
                          <a:latin typeface="Cambria Math" panose="02040503050406030204" pitchFamily="18" charset="0"/>
                        </a:rPr>
                        <m:t>30,  </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𝑔</m:t>
                          </m:r>
                        </m:e>
                        <m:sub>
                          <m:r>
                            <a:rPr lang="en-US" altLang="zh-CN" sz="1800" i="1">
                              <a:latin typeface="Cambria Math" panose="02040503050406030204" pitchFamily="18" charset="0"/>
                            </a:rPr>
                            <m:t>𝑦</m:t>
                          </m:r>
                        </m:sub>
                      </m:sSub>
                      <m:r>
                        <a:rPr lang="en-US" altLang="zh-CN" sz="1800" i="1">
                          <a:latin typeface="Cambria Math" panose="02040503050406030204" pitchFamily="18" charset="0"/>
                        </a:rPr>
                        <m:t>=0.</m:t>
                      </m:r>
                      <m:r>
                        <a:rPr lang="en-US" altLang="zh-CN" sz="1800" b="0" i="1" smtClean="0">
                          <a:latin typeface="Cambria Math" panose="02040503050406030204" pitchFamily="18" charset="0"/>
                        </a:rPr>
                        <m:t>60</m:t>
                      </m:r>
                    </m:oMath>
                  </m:oMathPara>
                </a14:m>
                <a:endParaRPr lang="en-US" altLang="zh-CN" sz="18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i="1">
                              <a:latin typeface="Cambria Math" panose="02040503050406030204" pitchFamily="18" charset="0"/>
                            </a:rPr>
                            <m:t>𝑥</m:t>
                          </m:r>
                        </m:sub>
                      </m:sSub>
                      <m:r>
                        <a:rPr lang="en-US" altLang="zh-CN" sz="1800" i="1">
                          <a:latin typeface="Cambria Math" panose="02040503050406030204" pitchFamily="18" charset="0"/>
                        </a:rPr>
                        <m:t>=0.</m:t>
                      </m:r>
                      <m:r>
                        <a:rPr lang="en-US" altLang="zh-CN" sz="1800" b="0" i="1" smtClean="0">
                          <a:latin typeface="Cambria Math" panose="02040503050406030204" pitchFamily="18" charset="0"/>
                        </a:rPr>
                        <m:t>15,  </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i="1">
                              <a:latin typeface="Cambria Math" panose="02040503050406030204" pitchFamily="18" charset="0"/>
                            </a:rPr>
                            <m:t>𝑦</m:t>
                          </m:r>
                        </m:sub>
                      </m:sSub>
                      <m:r>
                        <a:rPr lang="en-US" altLang="zh-CN" sz="1800" i="1">
                          <a:latin typeface="Cambria Math" panose="02040503050406030204" pitchFamily="18" charset="0"/>
                        </a:rPr>
                        <m:t>=0.</m:t>
                      </m:r>
                      <m:r>
                        <a:rPr lang="en-US" altLang="zh-CN" sz="1800" b="0" i="1" smtClean="0">
                          <a:latin typeface="Cambria Math" panose="02040503050406030204" pitchFamily="18" charset="0"/>
                        </a:rPr>
                        <m:t>06</m:t>
                      </m:r>
                    </m:oMath>
                  </m:oMathPara>
                </a14:m>
                <a:endParaRPr lang="en-US" altLang="zh-CN" sz="18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𝑥</m:t>
                          </m:r>
                        </m:sub>
                      </m:sSub>
                      <m:r>
                        <a:rPr lang="en-US" altLang="zh-CN" i="1">
                          <a:latin typeface="Cambria Math" panose="02040503050406030204" pitchFamily="18" charset="0"/>
                        </a:rPr>
                        <m:t>=0.3127,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𝑦</m:t>
                          </m:r>
                        </m:sub>
                      </m:sSub>
                      <m:r>
                        <a:rPr lang="en-US" altLang="zh-CN" i="1">
                          <a:latin typeface="Cambria Math" panose="02040503050406030204" pitchFamily="18" charset="0"/>
                        </a:rPr>
                        <m:t>=0.3290</m:t>
                      </m:r>
                    </m:oMath>
                  </m:oMathPara>
                </a14:m>
                <a:endParaRPr lang="en-US" altLang="zh-CN" dirty="0">
                  <a:latin typeface="Noto Sans SC" panose="020B0200000000000000" pitchFamily="34" charset="-122"/>
                  <a:ea typeface="Noto Sans SC" panose="020B0200000000000000" pitchFamily="34" charset="-122"/>
                </a:endParaRPr>
              </a:p>
              <a:p>
                <a:pPr algn="just"/>
                <a:endParaRPr lang="en-US" altLang="zh-CN" sz="1800"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于是，我们就能够得到</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空间三个基向量在</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空间的坐标：</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 </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𝑹</m:t>
                          </m:r>
                        </m:e>
                        <m:sub>
                          <m:r>
                            <a:rPr lang="en-US" altLang="zh-CN" b="1" i="1" smtClean="0">
                              <a:latin typeface="Cambria Math" panose="02040503050406030204" pitchFamily="18" charset="0"/>
                            </a:rPr>
                            <m:t>𝒔𝑹𝑮𝑩</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1</m:t>
                          </m:r>
                        </m:sub>
                      </m:sSub>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0.64</m:t>
                              </m:r>
                            </m:e>
                            <m:e>
                              <m:r>
                                <a:rPr lang="en-US" altLang="zh-CN" b="0" i="1" smtClean="0">
                                  <a:latin typeface="Cambria Math" panose="02040503050406030204" pitchFamily="18" charset="0"/>
                                </a:rPr>
                                <m:t>0.33</m:t>
                              </m:r>
                            </m:e>
                            <m:e>
                              <m:r>
                                <a:rPr lang="en-US" altLang="zh-CN" b="0" i="1" smtClean="0">
                                  <a:latin typeface="Cambria Math" panose="02040503050406030204" pitchFamily="18" charset="0"/>
                                </a:rPr>
                                <m:t>0.03</m:t>
                              </m:r>
                            </m:e>
                          </m:eqArr>
                        </m:e>
                      </m:d>
                      <m:r>
                        <a:rPr lang="en-US" altLang="zh-CN" i="1">
                          <a:latin typeface="Cambria Math" panose="02040503050406030204" pitchFamily="18" charset="0"/>
                        </a:rPr>
                        <m:t>,   </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𝑮</m:t>
                          </m:r>
                        </m:e>
                        <m:sub>
                          <m:r>
                            <a:rPr lang="en-US" altLang="zh-CN" b="1" i="1" smtClean="0">
                              <a:latin typeface="Cambria Math" panose="02040503050406030204" pitchFamily="18" charset="0"/>
                            </a:rPr>
                            <m:t>𝒔𝑹𝑮𝑩</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2</m:t>
                          </m:r>
                        </m:sub>
                      </m:sSub>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0.30</m:t>
                              </m:r>
                            </m:e>
                            <m:e>
                              <m:r>
                                <a:rPr lang="en-US" altLang="zh-CN" b="0" i="1" smtClean="0">
                                  <a:latin typeface="Cambria Math" panose="02040503050406030204" pitchFamily="18" charset="0"/>
                                </a:rPr>
                                <m:t>0.60</m:t>
                              </m:r>
                            </m:e>
                            <m:e>
                              <m:r>
                                <a:rPr lang="en-US" altLang="zh-CN" b="0" i="1" smtClean="0">
                                  <a:latin typeface="Cambria Math" panose="02040503050406030204" pitchFamily="18" charset="0"/>
                                </a:rPr>
                                <m:t>0.10</m:t>
                              </m:r>
                            </m:e>
                          </m:eqArr>
                        </m:e>
                      </m:d>
                      <m:r>
                        <a:rPr lang="en-US" altLang="zh-CN" b="0" i="1" smtClean="0">
                          <a:latin typeface="Cambria Math" panose="02040503050406030204" pitchFamily="18" charset="0"/>
                        </a:rPr>
                        <m:t>,  </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𝑩</m:t>
                          </m:r>
                        </m:e>
                        <m:sub>
                          <m:r>
                            <a:rPr lang="en-US" altLang="zh-CN" b="1" i="1" smtClean="0">
                              <a:latin typeface="Cambria Math" panose="02040503050406030204" pitchFamily="18" charset="0"/>
                            </a:rPr>
                            <m:t>𝒔𝑹𝑮𝑩</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3</m:t>
                          </m:r>
                        </m:sub>
                      </m:sSub>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0.15</m:t>
                              </m:r>
                            </m:e>
                            <m:e>
                              <m:r>
                                <a:rPr lang="en-US" altLang="zh-CN" b="0" i="1" smtClean="0">
                                  <a:latin typeface="Cambria Math" panose="02040503050406030204" pitchFamily="18" charset="0"/>
                                </a:rPr>
                                <m:t>0.06</m:t>
                              </m:r>
                            </m:e>
                            <m:e>
                              <m:r>
                                <a:rPr lang="en-US" altLang="zh-CN" b="0" i="1" smtClean="0">
                                  <a:latin typeface="Cambria Math" panose="02040503050406030204" pitchFamily="18" charset="0"/>
                                </a:rPr>
                                <m:t>0.79</m:t>
                              </m:r>
                            </m:e>
                          </m:eqArr>
                        </m:e>
                      </m:d>
                    </m:oMath>
                  </m:oMathPara>
                </a14:m>
                <a:endParaRPr lang="en-US" altLang="zh-CN" b="0" dirty="0">
                  <a:latin typeface="Noto Sans SC" panose="020B0200000000000000" pitchFamily="34" charset="-122"/>
                  <a:ea typeface="Noto Sans SC" panose="020B0200000000000000" pitchFamily="34" charset="-122"/>
                </a:endParaRPr>
              </a:p>
              <a:p>
                <a:pPr algn="just"/>
                <a:endParaRPr lang="en-US" altLang="zh-CN" b="0"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b="0" dirty="0">
                    <a:latin typeface="Noto Sans SC" panose="020B0200000000000000" pitchFamily="34" charset="-122"/>
                    <a:ea typeface="Noto Sans SC" panose="020B0200000000000000" pitchFamily="34" charset="-122"/>
                  </a:rPr>
                  <a:t>以及白点在</a:t>
                </a:r>
                <a:r>
                  <a:rPr lang="en-US" altLang="zh-CN" b="0" dirty="0">
                    <a:latin typeface="Noto Sans SC" panose="020B0200000000000000" pitchFamily="34" charset="-122"/>
                    <a:ea typeface="Noto Sans SC" panose="020B0200000000000000" pitchFamily="34" charset="-122"/>
                  </a:rPr>
                  <a:t>XYZ</a:t>
                </a:r>
                <a:r>
                  <a:rPr lang="zh-CN" altLang="en-US" b="0" dirty="0">
                    <a:latin typeface="Noto Sans SC" panose="020B0200000000000000" pitchFamily="34" charset="-122"/>
                    <a:ea typeface="Noto Sans SC" panose="020B0200000000000000" pitchFamily="34" charset="-122"/>
                  </a:rPr>
                  <a:t>空间的坐标：</a:t>
                </a:r>
                <a:endParaRPr lang="en-US" altLang="zh-CN" dirty="0">
                  <a:latin typeface="Noto Sans SC" panose="020B0200000000000000" pitchFamily="34" charset="-122"/>
                  <a:ea typeface="Noto Sans SC" panose="020B0200000000000000" pitchFamily="34" charset="-122"/>
                </a:endParaRPr>
              </a:p>
              <a:p>
                <a:pPr algn="just"/>
                <a:endParaRPr lang="en-US" altLang="zh-CN" b="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𝑾</m:t>
                          </m:r>
                        </m:e>
                        <m:sub>
                          <m:r>
                            <a:rPr lang="en-US" altLang="zh-CN" sz="1600" b="1" i="1">
                              <a:latin typeface="Cambria Math" panose="02040503050406030204" pitchFamily="18" charset="0"/>
                            </a:rPr>
                            <m:t>𝒔𝑹𝑮𝑩</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𝑘</m:t>
                          </m:r>
                        </m:e>
                        <m:sub>
                          <m:r>
                            <a:rPr lang="en-US" altLang="zh-CN" sz="1600" b="0" i="1" smtClean="0">
                              <a:latin typeface="Cambria Math" panose="02040503050406030204" pitchFamily="18" charset="0"/>
                            </a:rPr>
                            <m:t>4</m:t>
                          </m:r>
                        </m:sub>
                      </m:sSub>
                      <m:d>
                        <m:dPr>
                          <m:begChr m:val="["/>
                          <m:endChr m:val="]"/>
                          <m:ctrlPr>
                            <a:rPr lang="en-US" altLang="zh-CN" sz="1600" i="1">
                              <a:latin typeface="Cambria Math" panose="02040503050406030204" pitchFamily="18" charset="0"/>
                            </a:rPr>
                          </m:ctrlPr>
                        </m:dPr>
                        <m:e>
                          <m:eqArr>
                            <m:eqArrPr>
                              <m:ctrlPr>
                                <a:rPr lang="en-US" altLang="zh-CN" sz="1600" i="1">
                                  <a:latin typeface="Cambria Math" panose="02040503050406030204" pitchFamily="18" charset="0"/>
                                </a:rPr>
                              </m:ctrlPr>
                            </m:eqArrPr>
                            <m:e>
                              <m:r>
                                <a:rPr lang="en-US" altLang="zh-CN" sz="1600" b="0" i="1" smtClean="0">
                                  <a:latin typeface="Cambria Math" panose="02040503050406030204" pitchFamily="18" charset="0"/>
                                </a:rPr>
                                <m:t>0.3127</m:t>
                              </m:r>
                            </m:e>
                            <m:e>
                              <m:r>
                                <a:rPr lang="en-US" altLang="zh-CN" sz="1600" i="1">
                                  <a:latin typeface="Cambria Math" panose="02040503050406030204" pitchFamily="18" charset="0"/>
                                </a:rPr>
                                <m:t>0.3</m:t>
                              </m:r>
                              <m:r>
                                <a:rPr lang="en-US" altLang="zh-CN" sz="1600" b="0" i="1" smtClean="0">
                                  <a:latin typeface="Cambria Math" panose="02040503050406030204" pitchFamily="18" charset="0"/>
                                </a:rPr>
                                <m:t>290</m:t>
                              </m:r>
                            </m:e>
                            <m:e>
                              <m:r>
                                <a:rPr lang="en-US" altLang="zh-CN" sz="1600" i="1">
                                  <a:latin typeface="Cambria Math" panose="02040503050406030204" pitchFamily="18" charset="0"/>
                                </a:rPr>
                                <m:t>0.3</m:t>
                              </m:r>
                              <m:r>
                                <a:rPr lang="en-US" altLang="zh-CN" sz="1600" b="0" i="1" smtClean="0">
                                  <a:latin typeface="Cambria Math" panose="02040503050406030204" pitchFamily="18" charset="0"/>
                                </a:rPr>
                                <m:t>583</m:t>
                              </m:r>
                            </m:e>
                          </m:eqArr>
                        </m:e>
                      </m:d>
                      <m:r>
                        <a:rPr lang="en-US" altLang="zh-CN" sz="1600" b="0" i="1" smtClean="0">
                          <a:latin typeface="Cambria Math" panose="02040503050406030204" pitchFamily="18" charset="0"/>
                        </a:rPr>
                        <m:t>,  0.3290</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𝑘</m:t>
                          </m:r>
                        </m:e>
                        <m:sub>
                          <m:r>
                            <a:rPr lang="en-US" altLang="zh-CN" sz="1600" b="0" i="1" smtClean="0">
                              <a:latin typeface="Cambria Math" panose="02040503050406030204" pitchFamily="18" charset="0"/>
                            </a:rPr>
                            <m:t>4</m:t>
                          </m:r>
                        </m:sub>
                      </m:sSub>
                      <m:r>
                        <a:rPr lang="en-US" altLang="zh-CN" sz="1600" b="0" i="1" smtClean="0">
                          <a:latin typeface="Cambria Math" panose="02040503050406030204" pitchFamily="18" charset="0"/>
                        </a:rPr>
                        <m:t>=1,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𝑘</m:t>
                          </m:r>
                        </m:e>
                        <m:sub>
                          <m:r>
                            <a:rPr lang="en-US" altLang="zh-CN" sz="1600" b="0" i="1" smtClean="0">
                              <a:latin typeface="Cambria Math" panose="02040503050406030204" pitchFamily="18" charset="0"/>
                            </a:rPr>
                            <m:t>4</m:t>
                          </m:r>
                        </m:sub>
                      </m:sSub>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3.0395,  </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𝑾</m:t>
                          </m:r>
                        </m:e>
                        <m:sub>
                          <m:r>
                            <a:rPr lang="en-US" altLang="zh-CN" sz="1600" b="1" i="1">
                              <a:latin typeface="Cambria Math" panose="02040503050406030204" pitchFamily="18" charset="0"/>
                            </a:rPr>
                            <m:t>𝒔𝑹𝑮𝑩</m:t>
                          </m:r>
                        </m:sub>
                      </m:sSub>
                      <m:r>
                        <a:rPr lang="en-US" altLang="zh-CN" sz="1600" b="0" i="1" smtClean="0">
                          <a:latin typeface="Cambria Math" panose="02040503050406030204" pitchFamily="18" charset="0"/>
                        </a:rPr>
                        <m:t>=</m:t>
                      </m:r>
                      <m:d>
                        <m:dPr>
                          <m:begChr m:val="["/>
                          <m:endChr m:val="]"/>
                          <m:ctrlPr>
                            <a:rPr lang="en-US" altLang="zh-CN" sz="1600" i="1">
                              <a:latin typeface="Cambria Math" panose="02040503050406030204" pitchFamily="18" charset="0"/>
                            </a:rPr>
                          </m:ctrlPr>
                        </m:dPr>
                        <m:e>
                          <m:eqArr>
                            <m:eqArrPr>
                              <m:ctrlPr>
                                <a:rPr lang="en-US" altLang="zh-CN" sz="1600" i="1">
                                  <a:latin typeface="Cambria Math" panose="02040503050406030204" pitchFamily="18" charset="0"/>
                                </a:rPr>
                              </m:ctrlPr>
                            </m:eqArrPr>
                            <m:e>
                              <m:r>
                                <a:rPr lang="en-US" altLang="zh-CN" sz="1600" b="0" i="1" smtClean="0">
                                  <a:latin typeface="Cambria Math" panose="02040503050406030204" pitchFamily="18" charset="0"/>
                                </a:rPr>
                                <m:t>0.9505</m:t>
                              </m:r>
                            </m:e>
                            <m:e>
                              <m:r>
                                <a:rPr lang="en-US" altLang="zh-CN" sz="1600" b="0" i="1" smtClean="0">
                                  <a:latin typeface="Cambria Math" panose="02040503050406030204" pitchFamily="18" charset="0"/>
                                </a:rPr>
                                <m:t>1</m:t>
                              </m:r>
                            </m:e>
                            <m:e>
                              <m:r>
                                <a:rPr lang="en-US" altLang="zh-CN" sz="1600" b="0" i="1" smtClean="0">
                                  <a:latin typeface="Cambria Math" panose="02040503050406030204" pitchFamily="18" charset="0"/>
                                </a:rPr>
                                <m:t>1.0891</m:t>
                              </m:r>
                            </m:e>
                          </m:eqArr>
                        </m:e>
                      </m:d>
                    </m:oMath>
                  </m:oMathPara>
                </a14:m>
                <a:endParaRPr lang="en-US" altLang="zh-CN" b="0" dirty="0">
                  <a:latin typeface="Noto Sans SC" panose="020B0200000000000000" pitchFamily="34" charset="-122"/>
                  <a:ea typeface="Noto Sans SC" panose="020B0200000000000000" pitchFamily="34" charset="-122"/>
                </a:endParaRPr>
              </a:p>
            </p:txBody>
          </p:sp>
        </mc:Choice>
        <mc:Fallback xmlns="">
          <p:sp>
            <p:nvSpPr>
              <p:cNvPr id="4" name="文本框 3">
                <a:extLst>
                  <a:ext uri="{FF2B5EF4-FFF2-40B4-BE49-F238E27FC236}">
                    <a16:creationId xmlns:a16="http://schemas.microsoft.com/office/drawing/2014/main" id="{3E070577-6504-395F-51E5-CB42B464D864}"/>
                  </a:ext>
                </a:extLst>
              </p:cNvPr>
              <p:cNvSpPr txBox="1">
                <a:spLocks noRot="1" noChangeAspect="1" noMove="1" noResize="1" noEditPoints="1" noAdjustHandles="1" noChangeArrowheads="1" noChangeShapeType="1" noTextEdit="1"/>
              </p:cNvSpPr>
              <p:nvPr/>
            </p:nvSpPr>
            <p:spPr>
              <a:xfrm>
                <a:off x="295283" y="1891566"/>
                <a:ext cx="7535071" cy="4344394"/>
              </a:xfrm>
              <a:prstGeom prst="rect">
                <a:avLst/>
              </a:prstGeom>
              <a:blipFill>
                <a:blip r:embed="rId2"/>
                <a:stretch>
                  <a:fillRect l="-647" t="-701" r="-808"/>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F18D5A7D-4E05-84E4-0713-F8D4247D1055}"/>
              </a:ext>
            </a:extLst>
          </p:cNvPr>
          <p:cNvGrpSpPr/>
          <p:nvPr/>
        </p:nvGrpSpPr>
        <p:grpSpPr>
          <a:xfrm>
            <a:off x="7831680" y="1658253"/>
            <a:ext cx="4133850" cy="4381500"/>
            <a:chOff x="7606300" y="1989812"/>
            <a:chExt cx="4133850" cy="4381500"/>
          </a:xfrm>
        </p:grpSpPr>
        <p:pic>
          <p:nvPicPr>
            <p:cNvPr id="10" name="图片 9" descr="CIE XYZ color space">
              <a:extLst>
                <a:ext uri="{FF2B5EF4-FFF2-40B4-BE49-F238E27FC236}">
                  <a16:creationId xmlns:a16="http://schemas.microsoft.com/office/drawing/2014/main" id="{A0E60916-523A-CE07-7210-C76AE3283192}"/>
                </a:ext>
              </a:extLst>
            </p:cNvPr>
            <p:cNvPicPr>
              <a:picLocks noChangeAspect="1"/>
            </p:cNvPicPr>
            <p:nvPr/>
          </p:nvPicPr>
          <p:blipFill>
            <a:blip r:embed="rId3"/>
            <a:stretch>
              <a:fillRect/>
            </a:stretch>
          </p:blipFill>
          <p:spPr>
            <a:xfrm>
              <a:off x="7606300" y="1989812"/>
              <a:ext cx="4133850" cy="4381500"/>
            </a:xfrm>
            <a:prstGeom prst="rect">
              <a:avLst/>
            </a:prstGeom>
          </p:spPr>
        </p:pic>
        <p:sp>
          <p:nvSpPr>
            <p:cNvPr id="11" name="等腰三角形 2">
              <a:extLst>
                <a:ext uri="{FF2B5EF4-FFF2-40B4-BE49-F238E27FC236}">
                  <a16:creationId xmlns:a16="http://schemas.microsoft.com/office/drawing/2014/main" id="{CB1689A7-2A72-E2F2-2B62-2468A6157EC4}"/>
                </a:ext>
              </a:extLst>
            </p:cNvPr>
            <p:cNvSpPr/>
            <p:nvPr/>
          </p:nvSpPr>
          <p:spPr>
            <a:xfrm>
              <a:off x="8747152" y="3393820"/>
              <a:ext cx="2103503" cy="2294872"/>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Lst>
              <a:ahLst/>
              <a:cxnLst>
                <a:cxn ang="0">
                  <a:pos x="csX0" y="csY0"/>
                </a:cxn>
                <a:cxn ang="0">
                  <a:pos x="csX1" y="csY1"/>
                </a:cxn>
                <a:cxn ang="0">
                  <a:pos x="csX2" y="csY2"/>
                </a:cxn>
                <a:cxn ang="0">
                  <a:pos x="csX3" y="csY3"/>
                </a:cxn>
              </a:cxnLst>
              <a:rect l="l" t="t" r="r" b="b"/>
              <a:pathLst>
                <a:path w="2103503" h="2294872">
                  <a:moveTo>
                    <a:pt x="2103503" y="1175475"/>
                  </a:moveTo>
                  <a:lnTo>
                    <a:pt x="0" y="2294872"/>
                  </a:lnTo>
                  <a:lnTo>
                    <a:pt x="657211" y="0"/>
                  </a:lnTo>
                  <a:lnTo>
                    <a:pt x="2103503" y="1175475"/>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p:spTree>
    <p:extLst>
      <p:ext uri="{BB962C8B-B14F-4D97-AF65-F5344CB8AC3E}">
        <p14:creationId xmlns:p14="http://schemas.microsoft.com/office/powerpoint/2010/main" val="26570432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B707B-959C-5919-FE17-8BBD4300467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A6A980E-A381-A474-78E7-D753F6314EB5}"/>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AC8DC85D-EC39-38FF-7C0B-155A6F36D1DD}"/>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色彩空间的转换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几何理解</a:t>
            </a:r>
            <a:endParaRPr lang="en-US" altLang="zh-CN" sz="2000" b="1" dirty="0">
              <a:latin typeface="Noto Sans SC" panose="020B0200000000000000" pitchFamily="34" charset="-122"/>
              <a:ea typeface="Noto Sans SC" panose="020B0200000000000000" pitchFamily="34" charset="-122"/>
            </a:endParaRPr>
          </a:p>
        </p:txBody>
      </p:sp>
      <p:pic>
        <p:nvPicPr>
          <p:cNvPr id="12" name="图片 11" descr="CIE XYZ color space">
            <a:extLst>
              <a:ext uri="{FF2B5EF4-FFF2-40B4-BE49-F238E27FC236}">
                <a16:creationId xmlns:a16="http://schemas.microsoft.com/office/drawing/2014/main" id="{766EB514-6BB1-AAC7-C472-57433EBCE953}"/>
              </a:ext>
            </a:extLst>
          </p:cNvPr>
          <p:cNvPicPr>
            <a:picLocks noChangeAspect="1"/>
          </p:cNvPicPr>
          <p:nvPr/>
        </p:nvPicPr>
        <p:blipFill>
          <a:blip r:embed="rId2"/>
          <a:stretch>
            <a:fillRect/>
          </a:stretch>
        </p:blipFill>
        <p:spPr>
          <a:xfrm>
            <a:off x="7903923" y="953063"/>
            <a:ext cx="4133850" cy="4381500"/>
          </a:xfrm>
          <a:prstGeom prst="rect">
            <a:avLst/>
          </a:prstGeom>
        </p:spPr>
      </p:pic>
      <p:sp>
        <p:nvSpPr>
          <p:cNvPr id="14" name="文本框 13">
            <a:extLst>
              <a:ext uri="{FF2B5EF4-FFF2-40B4-BE49-F238E27FC236}">
                <a16:creationId xmlns:a16="http://schemas.microsoft.com/office/drawing/2014/main" id="{B6810FB9-07E6-4E6B-8101-F087005F6BBE}"/>
              </a:ext>
            </a:extLst>
          </p:cNvPr>
          <p:cNvSpPr txBox="1"/>
          <p:nvPr/>
        </p:nvSpPr>
        <p:spPr>
          <a:xfrm>
            <a:off x="295284" y="1891566"/>
            <a:ext cx="7446722" cy="338554"/>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endParaRPr lang="en-US" altLang="zh-CN" sz="1600" b="0" dirty="0">
              <a:latin typeface="Noto Sans SC" panose="020B0200000000000000" pitchFamily="34" charset="-122"/>
              <a:ea typeface="Noto Sans SC" panose="020B0200000000000000" pitchFamily="34" charset="-122"/>
            </a:endParaRPr>
          </a:p>
        </p:txBody>
      </p:sp>
      <p:sp>
        <p:nvSpPr>
          <p:cNvPr id="3" name="等腰三角形 2">
            <a:extLst>
              <a:ext uri="{FF2B5EF4-FFF2-40B4-BE49-F238E27FC236}">
                <a16:creationId xmlns:a16="http://schemas.microsoft.com/office/drawing/2014/main" id="{5D1A9C8C-93A9-38CC-5802-7BFF1FA1F4C9}"/>
              </a:ext>
            </a:extLst>
          </p:cNvPr>
          <p:cNvSpPr/>
          <p:nvPr/>
        </p:nvSpPr>
        <p:spPr>
          <a:xfrm>
            <a:off x="9044775" y="2357071"/>
            <a:ext cx="2103503" cy="2294872"/>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Lst>
            <a:ahLst/>
            <a:cxnLst>
              <a:cxn ang="0">
                <a:pos x="csX0" y="csY0"/>
              </a:cxn>
              <a:cxn ang="0">
                <a:pos x="csX1" y="csY1"/>
              </a:cxn>
              <a:cxn ang="0">
                <a:pos x="csX2" y="csY2"/>
              </a:cxn>
              <a:cxn ang="0">
                <a:pos x="csX3" y="csY3"/>
              </a:cxn>
            </a:cxnLst>
            <a:rect l="l" t="t" r="r" b="b"/>
            <a:pathLst>
              <a:path w="2103503" h="2294872">
                <a:moveTo>
                  <a:pt x="2103503" y="1175475"/>
                </a:moveTo>
                <a:lnTo>
                  <a:pt x="0" y="2294872"/>
                </a:lnTo>
                <a:lnTo>
                  <a:pt x="657211" y="0"/>
                </a:lnTo>
                <a:lnTo>
                  <a:pt x="2103503" y="1175475"/>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C47C976-A725-5DA0-79E8-E87E6FE6106D}"/>
                  </a:ext>
                </a:extLst>
              </p:cNvPr>
              <p:cNvSpPr txBox="1"/>
              <p:nvPr/>
            </p:nvSpPr>
            <p:spPr>
              <a:xfrm>
                <a:off x="295283" y="1891566"/>
                <a:ext cx="7676740" cy="4623445"/>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b>
                        <m:sSubPr>
                          <m:ctrlPr>
                            <a:rPr lang="en-US" altLang="zh-CN" sz="1500" b="1" i="1" smtClean="0">
                              <a:latin typeface="Cambria Math" panose="02040503050406030204" pitchFamily="18" charset="0"/>
                            </a:rPr>
                          </m:ctrlPr>
                        </m:sSubPr>
                        <m:e>
                          <m:r>
                            <a:rPr lang="en-US" altLang="zh-CN" sz="1500" b="1" i="1" smtClean="0">
                              <a:latin typeface="Cambria Math" panose="02040503050406030204" pitchFamily="18" charset="0"/>
                            </a:rPr>
                            <m:t>𝑹</m:t>
                          </m:r>
                        </m:e>
                        <m:sub>
                          <m:r>
                            <a:rPr lang="en-US" altLang="zh-CN" sz="1500" b="1" i="1" smtClean="0">
                              <a:latin typeface="Cambria Math" panose="02040503050406030204" pitchFamily="18" charset="0"/>
                            </a:rPr>
                            <m:t>𝒔𝑹𝑮𝑩</m:t>
                          </m:r>
                        </m:sub>
                      </m:sSub>
                      <m:r>
                        <a:rPr lang="en-US" altLang="zh-CN" sz="1500" b="0" i="1" smtClean="0">
                          <a:latin typeface="Cambria Math" panose="02040503050406030204" pitchFamily="18" charset="0"/>
                        </a:rPr>
                        <m:t>=</m:t>
                      </m:r>
                      <m:sSub>
                        <m:sSubPr>
                          <m:ctrlPr>
                            <a:rPr lang="en-US" altLang="zh-CN" sz="1500" b="0" i="1" smtClean="0">
                              <a:latin typeface="Cambria Math" panose="02040503050406030204" pitchFamily="18" charset="0"/>
                            </a:rPr>
                          </m:ctrlPr>
                        </m:sSubPr>
                        <m:e>
                          <m:r>
                            <a:rPr lang="en-US" altLang="zh-CN" sz="1500" b="0" i="1" smtClean="0">
                              <a:latin typeface="Cambria Math" panose="02040503050406030204" pitchFamily="18" charset="0"/>
                            </a:rPr>
                            <m:t>𝑘</m:t>
                          </m:r>
                        </m:e>
                        <m:sub>
                          <m:r>
                            <a:rPr lang="en-US" altLang="zh-CN" sz="1500" b="0" i="1" smtClean="0">
                              <a:latin typeface="Cambria Math" panose="02040503050406030204" pitchFamily="18" charset="0"/>
                            </a:rPr>
                            <m:t>1</m:t>
                          </m:r>
                        </m:sub>
                      </m:sSub>
                      <m:d>
                        <m:dPr>
                          <m:begChr m:val="["/>
                          <m:endChr m:val="]"/>
                          <m:ctrlPr>
                            <a:rPr lang="en-US" altLang="zh-CN" sz="1500" i="1">
                              <a:latin typeface="Cambria Math" panose="02040503050406030204" pitchFamily="18" charset="0"/>
                            </a:rPr>
                          </m:ctrlPr>
                        </m:dPr>
                        <m:e>
                          <m:eqArr>
                            <m:eqArrPr>
                              <m:ctrlPr>
                                <a:rPr lang="en-US" altLang="zh-CN" sz="1500" i="1">
                                  <a:latin typeface="Cambria Math" panose="02040503050406030204" pitchFamily="18" charset="0"/>
                                </a:rPr>
                              </m:ctrlPr>
                            </m:eqArrPr>
                            <m:e>
                              <m:r>
                                <a:rPr lang="en-US" altLang="zh-CN" sz="1500" i="1">
                                  <a:latin typeface="Cambria Math" panose="02040503050406030204" pitchFamily="18" charset="0"/>
                                </a:rPr>
                                <m:t>0.64</m:t>
                              </m:r>
                            </m:e>
                            <m:e>
                              <m:r>
                                <a:rPr lang="en-US" altLang="zh-CN" sz="1500" b="0" i="1" smtClean="0">
                                  <a:latin typeface="Cambria Math" panose="02040503050406030204" pitchFamily="18" charset="0"/>
                                </a:rPr>
                                <m:t>0.33</m:t>
                              </m:r>
                            </m:e>
                            <m:e>
                              <m:r>
                                <a:rPr lang="en-US" altLang="zh-CN" sz="1500" b="0" i="1" smtClean="0">
                                  <a:latin typeface="Cambria Math" panose="02040503050406030204" pitchFamily="18" charset="0"/>
                                </a:rPr>
                                <m:t>0.03</m:t>
                              </m:r>
                            </m:e>
                          </m:eqArr>
                        </m:e>
                      </m:d>
                      <m:r>
                        <a:rPr lang="en-US" altLang="zh-CN" sz="1500" i="1">
                          <a:latin typeface="Cambria Math" panose="02040503050406030204" pitchFamily="18" charset="0"/>
                        </a:rPr>
                        <m:t>,   </m:t>
                      </m:r>
                      <m:sSub>
                        <m:sSubPr>
                          <m:ctrlPr>
                            <a:rPr lang="en-US" altLang="zh-CN" sz="1500" b="1" i="1" smtClean="0">
                              <a:latin typeface="Cambria Math" panose="02040503050406030204" pitchFamily="18" charset="0"/>
                            </a:rPr>
                          </m:ctrlPr>
                        </m:sSubPr>
                        <m:e>
                          <m:r>
                            <a:rPr lang="en-US" altLang="zh-CN" sz="1500" b="1" i="1" smtClean="0">
                              <a:latin typeface="Cambria Math" panose="02040503050406030204" pitchFamily="18" charset="0"/>
                            </a:rPr>
                            <m:t>𝑮</m:t>
                          </m:r>
                        </m:e>
                        <m:sub>
                          <m:r>
                            <a:rPr lang="en-US" altLang="zh-CN" sz="1500" b="1" i="1" smtClean="0">
                              <a:latin typeface="Cambria Math" panose="02040503050406030204" pitchFamily="18" charset="0"/>
                            </a:rPr>
                            <m:t>𝒔𝑹𝑮𝑩</m:t>
                          </m:r>
                        </m:sub>
                      </m:sSub>
                      <m:r>
                        <a:rPr lang="en-US" altLang="zh-CN" sz="1500" b="0" i="1" smtClean="0">
                          <a:latin typeface="Cambria Math" panose="02040503050406030204" pitchFamily="18" charset="0"/>
                        </a:rPr>
                        <m:t>=</m:t>
                      </m:r>
                      <m:sSub>
                        <m:sSubPr>
                          <m:ctrlPr>
                            <a:rPr lang="en-US" altLang="zh-CN" sz="1500" b="0" i="1" smtClean="0">
                              <a:latin typeface="Cambria Math" panose="02040503050406030204" pitchFamily="18" charset="0"/>
                            </a:rPr>
                          </m:ctrlPr>
                        </m:sSubPr>
                        <m:e>
                          <m:r>
                            <a:rPr lang="en-US" altLang="zh-CN" sz="1500" b="0" i="1" smtClean="0">
                              <a:latin typeface="Cambria Math" panose="02040503050406030204" pitchFamily="18" charset="0"/>
                            </a:rPr>
                            <m:t>𝑘</m:t>
                          </m:r>
                        </m:e>
                        <m:sub>
                          <m:r>
                            <a:rPr lang="en-US" altLang="zh-CN" sz="1500" b="0" i="1" smtClean="0">
                              <a:latin typeface="Cambria Math" panose="02040503050406030204" pitchFamily="18" charset="0"/>
                            </a:rPr>
                            <m:t>2</m:t>
                          </m:r>
                        </m:sub>
                      </m:sSub>
                      <m:d>
                        <m:dPr>
                          <m:begChr m:val="["/>
                          <m:endChr m:val="]"/>
                          <m:ctrlPr>
                            <a:rPr lang="en-US" altLang="zh-CN" sz="1500" b="0" i="1" smtClean="0">
                              <a:latin typeface="Cambria Math" panose="02040503050406030204" pitchFamily="18" charset="0"/>
                            </a:rPr>
                          </m:ctrlPr>
                        </m:dPr>
                        <m:e>
                          <m:eqArr>
                            <m:eqArrPr>
                              <m:ctrlPr>
                                <a:rPr lang="en-US" altLang="zh-CN" sz="1500" b="0" i="1" smtClean="0">
                                  <a:latin typeface="Cambria Math" panose="02040503050406030204" pitchFamily="18" charset="0"/>
                                </a:rPr>
                              </m:ctrlPr>
                            </m:eqArrPr>
                            <m:e>
                              <m:r>
                                <a:rPr lang="en-US" altLang="zh-CN" sz="1500" b="0" i="1" smtClean="0">
                                  <a:latin typeface="Cambria Math" panose="02040503050406030204" pitchFamily="18" charset="0"/>
                                </a:rPr>
                                <m:t>0.30</m:t>
                              </m:r>
                            </m:e>
                            <m:e>
                              <m:r>
                                <a:rPr lang="en-US" altLang="zh-CN" sz="1500" b="0" i="1" smtClean="0">
                                  <a:latin typeface="Cambria Math" panose="02040503050406030204" pitchFamily="18" charset="0"/>
                                </a:rPr>
                                <m:t>0.60</m:t>
                              </m:r>
                            </m:e>
                            <m:e>
                              <m:r>
                                <a:rPr lang="en-US" altLang="zh-CN" sz="1500" b="0" i="1" smtClean="0">
                                  <a:latin typeface="Cambria Math" panose="02040503050406030204" pitchFamily="18" charset="0"/>
                                </a:rPr>
                                <m:t>0.10</m:t>
                              </m:r>
                            </m:e>
                          </m:eqArr>
                        </m:e>
                      </m:d>
                      <m:r>
                        <a:rPr lang="en-US" altLang="zh-CN" sz="1500" b="0" i="1" smtClean="0">
                          <a:latin typeface="Cambria Math" panose="02040503050406030204" pitchFamily="18" charset="0"/>
                        </a:rPr>
                        <m:t>,  </m:t>
                      </m:r>
                      <m:sSub>
                        <m:sSubPr>
                          <m:ctrlPr>
                            <a:rPr lang="en-US" altLang="zh-CN" sz="1500" b="1" i="1" smtClean="0">
                              <a:latin typeface="Cambria Math" panose="02040503050406030204" pitchFamily="18" charset="0"/>
                            </a:rPr>
                          </m:ctrlPr>
                        </m:sSubPr>
                        <m:e>
                          <m:r>
                            <a:rPr lang="en-US" altLang="zh-CN" sz="1500" b="1" i="1" smtClean="0">
                              <a:latin typeface="Cambria Math" panose="02040503050406030204" pitchFamily="18" charset="0"/>
                            </a:rPr>
                            <m:t>𝑩</m:t>
                          </m:r>
                        </m:e>
                        <m:sub>
                          <m:r>
                            <a:rPr lang="en-US" altLang="zh-CN" sz="1500" b="1" i="1" smtClean="0">
                              <a:latin typeface="Cambria Math" panose="02040503050406030204" pitchFamily="18" charset="0"/>
                            </a:rPr>
                            <m:t>𝒔𝑹𝑮𝑩</m:t>
                          </m:r>
                        </m:sub>
                      </m:sSub>
                      <m:r>
                        <a:rPr lang="en-US" altLang="zh-CN" sz="1500" b="0" i="1" smtClean="0">
                          <a:latin typeface="Cambria Math" panose="02040503050406030204" pitchFamily="18" charset="0"/>
                        </a:rPr>
                        <m:t>=</m:t>
                      </m:r>
                      <m:sSub>
                        <m:sSubPr>
                          <m:ctrlPr>
                            <a:rPr lang="en-US" altLang="zh-CN" sz="1500" b="0" i="1" smtClean="0">
                              <a:latin typeface="Cambria Math" panose="02040503050406030204" pitchFamily="18" charset="0"/>
                            </a:rPr>
                          </m:ctrlPr>
                        </m:sSubPr>
                        <m:e>
                          <m:r>
                            <a:rPr lang="en-US" altLang="zh-CN" sz="1500" b="0" i="1" smtClean="0">
                              <a:latin typeface="Cambria Math" panose="02040503050406030204" pitchFamily="18" charset="0"/>
                            </a:rPr>
                            <m:t>𝑘</m:t>
                          </m:r>
                        </m:e>
                        <m:sub>
                          <m:r>
                            <a:rPr lang="en-US" altLang="zh-CN" sz="1500" b="0" i="1" smtClean="0">
                              <a:latin typeface="Cambria Math" panose="02040503050406030204" pitchFamily="18" charset="0"/>
                            </a:rPr>
                            <m:t>3</m:t>
                          </m:r>
                        </m:sub>
                      </m:sSub>
                      <m:d>
                        <m:dPr>
                          <m:begChr m:val="["/>
                          <m:endChr m:val="]"/>
                          <m:ctrlPr>
                            <a:rPr lang="en-US" altLang="zh-CN" sz="1500" b="0" i="1" smtClean="0">
                              <a:latin typeface="Cambria Math" panose="02040503050406030204" pitchFamily="18" charset="0"/>
                            </a:rPr>
                          </m:ctrlPr>
                        </m:dPr>
                        <m:e>
                          <m:eqArr>
                            <m:eqArrPr>
                              <m:ctrlPr>
                                <a:rPr lang="en-US" altLang="zh-CN" sz="1500" b="0" i="1" smtClean="0">
                                  <a:latin typeface="Cambria Math" panose="02040503050406030204" pitchFamily="18" charset="0"/>
                                </a:rPr>
                              </m:ctrlPr>
                            </m:eqArrPr>
                            <m:e>
                              <m:r>
                                <a:rPr lang="en-US" altLang="zh-CN" sz="1500" b="0" i="1" smtClean="0">
                                  <a:latin typeface="Cambria Math" panose="02040503050406030204" pitchFamily="18" charset="0"/>
                                </a:rPr>
                                <m:t>0.15</m:t>
                              </m:r>
                            </m:e>
                            <m:e>
                              <m:r>
                                <a:rPr lang="en-US" altLang="zh-CN" sz="1500" b="0" i="1" smtClean="0">
                                  <a:latin typeface="Cambria Math" panose="02040503050406030204" pitchFamily="18" charset="0"/>
                                </a:rPr>
                                <m:t>0.06</m:t>
                              </m:r>
                            </m:e>
                            <m:e>
                              <m:r>
                                <a:rPr lang="en-US" altLang="zh-CN" sz="1500" b="0" i="1" smtClean="0">
                                  <a:latin typeface="Cambria Math" panose="02040503050406030204" pitchFamily="18" charset="0"/>
                                </a:rPr>
                                <m:t>0.79</m:t>
                              </m:r>
                            </m:e>
                          </m:eqArr>
                        </m:e>
                      </m:d>
                      <m:r>
                        <a:rPr lang="en-US" altLang="zh-CN" sz="1500" b="0" i="1" smtClean="0">
                          <a:latin typeface="Cambria Math" panose="02040503050406030204" pitchFamily="18" charset="0"/>
                        </a:rPr>
                        <m:t>,  </m:t>
                      </m:r>
                      <m:sSub>
                        <m:sSubPr>
                          <m:ctrlPr>
                            <a:rPr lang="en-US" altLang="zh-CN" sz="1500" b="1" i="1">
                              <a:latin typeface="Cambria Math" panose="02040503050406030204" pitchFamily="18" charset="0"/>
                            </a:rPr>
                          </m:ctrlPr>
                        </m:sSubPr>
                        <m:e>
                          <m:r>
                            <a:rPr lang="en-US" altLang="zh-CN" sz="1500" b="1" i="1">
                              <a:latin typeface="Cambria Math" panose="02040503050406030204" pitchFamily="18" charset="0"/>
                            </a:rPr>
                            <m:t>𝑾</m:t>
                          </m:r>
                        </m:e>
                        <m:sub>
                          <m:r>
                            <a:rPr lang="en-US" altLang="zh-CN" sz="1500" b="1" i="1">
                              <a:latin typeface="Cambria Math" panose="02040503050406030204" pitchFamily="18" charset="0"/>
                            </a:rPr>
                            <m:t>𝒔𝑹𝑮𝑩</m:t>
                          </m:r>
                        </m:sub>
                      </m:sSub>
                      <m:r>
                        <a:rPr lang="en-US" altLang="zh-CN" sz="1500" i="1">
                          <a:latin typeface="Cambria Math" panose="02040503050406030204" pitchFamily="18" charset="0"/>
                        </a:rPr>
                        <m:t>=</m:t>
                      </m:r>
                      <m:d>
                        <m:dPr>
                          <m:begChr m:val="["/>
                          <m:endChr m:val="]"/>
                          <m:ctrlPr>
                            <a:rPr lang="en-US" altLang="zh-CN" sz="1500" i="1">
                              <a:latin typeface="Cambria Math" panose="02040503050406030204" pitchFamily="18" charset="0"/>
                            </a:rPr>
                          </m:ctrlPr>
                        </m:dPr>
                        <m:e>
                          <m:eqArr>
                            <m:eqArrPr>
                              <m:ctrlPr>
                                <a:rPr lang="en-US" altLang="zh-CN" sz="1500" i="1">
                                  <a:latin typeface="Cambria Math" panose="02040503050406030204" pitchFamily="18" charset="0"/>
                                </a:rPr>
                              </m:ctrlPr>
                            </m:eqArrPr>
                            <m:e>
                              <m:r>
                                <a:rPr lang="en-US" altLang="zh-CN" sz="1500" i="1">
                                  <a:latin typeface="Cambria Math" panose="02040503050406030204" pitchFamily="18" charset="0"/>
                                </a:rPr>
                                <m:t>0.9505</m:t>
                              </m:r>
                            </m:e>
                            <m:e>
                              <m:r>
                                <a:rPr lang="en-US" altLang="zh-CN" sz="1500" i="1">
                                  <a:latin typeface="Cambria Math" panose="02040503050406030204" pitchFamily="18" charset="0"/>
                                </a:rPr>
                                <m:t>1</m:t>
                              </m:r>
                            </m:e>
                            <m:e>
                              <m:r>
                                <a:rPr lang="en-US" altLang="zh-CN" sz="1500" i="1">
                                  <a:latin typeface="Cambria Math" panose="02040503050406030204" pitchFamily="18" charset="0"/>
                                </a:rPr>
                                <m:t>1.0891</m:t>
                              </m:r>
                            </m:e>
                          </m:eqArr>
                        </m:e>
                      </m:d>
                    </m:oMath>
                  </m:oMathPara>
                </a14:m>
                <a:endParaRPr lang="en-US" altLang="zh-CN" sz="1500" b="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在</a:t>
                </a:r>
                <a:r>
                  <a:rPr lang="en-US" altLang="zh-CN" sz="1700" dirty="0">
                    <a:latin typeface="Noto Sans SC" panose="020B0200000000000000" pitchFamily="34" charset="-122"/>
                    <a:ea typeface="Noto Sans SC" panose="020B0200000000000000" pitchFamily="34" charset="-122"/>
                  </a:rPr>
                  <a:t>sRGB</a:t>
                </a:r>
                <a:r>
                  <a:rPr lang="zh-CN" altLang="en-US" sz="1700" dirty="0">
                    <a:latin typeface="Noto Sans SC" panose="020B0200000000000000" pitchFamily="34" charset="-122"/>
                    <a:ea typeface="Noto Sans SC" panose="020B0200000000000000" pitchFamily="34" charset="-122"/>
                  </a:rPr>
                  <a:t>空间中的</a:t>
                </a:r>
                <a:r>
                  <a:rPr lang="en-US" altLang="zh-CN" sz="1700" dirty="0">
                    <a:latin typeface="Noto Sans SC" panose="020B0200000000000000" pitchFamily="34" charset="-122"/>
                    <a:ea typeface="Noto Sans SC" panose="020B0200000000000000" pitchFamily="34" charset="-122"/>
                  </a:rPr>
                  <a:t>(1, 1, 1)</a:t>
                </a:r>
                <a:r>
                  <a:rPr lang="zh-CN" altLang="en-US" sz="1700" dirty="0">
                    <a:latin typeface="Noto Sans SC" panose="020B0200000000000000" pitchFamily="34" charset="-122"/>
                    <a:ea typeface="Noto Sans SC" panose="020B0200000000000000" pitchFamily="34" charset="-122"/>
                  </a:rPr>
                  <a:t>对应</a:t>
                </a:r>
                <a:r>
                  <a:rPr lang="en-US" altLang="zh-CN" sz="1700" dirty="0">
                    <a:latin typeface="Noto Sans SC" panose="020B0200000000000000" pitchFamily="34" charset="-122"/>
                    <a:ea typeface="Noto Sans SC" panose="020B0200000000000000" pitchFamily="34" charset="-122"/>
                  </a:rPr>
                  <a:t>XYZ</a:t>
                </a:r>
                <a:r>
                  <a:rPr lang="zh-CN" altLang="en-US" sz="1700" dirty="0">
                    <a:latin typeface="Noto Sans SC" panose="020B0200000000000000" pitchFamily="34" charset="-122"/>
                    <a:ea typeface="Noto Sans SC" panose="020B0200000000000000" pitchFamily="34" charset="-122"/>
                  </a:rPr>
                  <a:t>空间中的白点：</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sz="1700" b="1" i="1" smtClean="0">
                              <a:latin typeface="Cambria Math" panose="02040503050406030204" pitchFamily="18" charset="0"/>
                            </a:rPr>
                          </m:ctrlPr>
                        </m:dPr>
                        <m:e>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𝑹</m:t>
                              </m:r>
                            </m:e>
                            <m:sub>
                              <m:r>
                                <a:rPr lang="en-US" altLang="zh-CN" sz="1700" b="1" i="1" smtClean="0">
                                  <a:latin typeface="Cambria Math" panose="02040503050406030204" pitchFamily="18" charset="0"/>
                                </a:rPr>
                                <m:t>𝒔𝑹𝑮𝑩</m:t>
                              </m:r>
                            </m:sub>
                          </m:sSub>
                          <m:r>
                            <a:rPr lang="en-US" altLang="zh-CN" sz="1700" b="1" i="1" smtClean="0">
                              <a:latin typeface="Cambria Math" panose="02040503050406030204" pitchFamily="18" charset="0"/>
                            </a:rPr>
                            <m:t>, </m:t>
                          </m:r>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𝑮</m:t>
                              </m:r>
                            </m:e>
                            <m:sub>
                              <m:r>
                                <a:rPr lang="en-US" altLang="zh-CN" sz="1700" b="1" i="1" smtClean="0">
                                  <a:latin typeface="Cambria Math" panose="02040503050406030204" pitchFamily="18" charset="0"/>
                                </a:rPr>
                                <m:t>𝒔𝑹𝑮𝑩</m:t>
                              </m:r>
                            </m:sub>
                          </m:sSub>
                          <m:r>
                            <a:rPr lang="en-US" altLang="zh-CN" sz="1700" b="1" i="1" smtClean="0">
                              <a:latin typeface="Cambria Math" panose="02040503050406030204" pitchFamily="18" charset="0"/>
                            </a:rPr>
                            <m:t>, </m:t>
                          </m:r>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𝑩</m:t>
                              </m:r>
                            </m:e>
                            <m:sub>
                              <m:r>
                                <a:rPr lang="en-US" altLang="zh-CN" sz="1700" b="1" i="1" smtClean="0">
                                  <a:latin typeface="Cambria Math" panose="02040503050406030204" pitchFamily="18" charset="0"/>
                                </a:rPr>
                                <m:t>𝒔𝑹𝑮𝑩</m:t>
                              </m:r>
                            </m:sub>
                          </m:sSub>
                        </m:e>
                      </m:d>
                      <m:d>
                        <m:dPr>
                          <m:begChr m:val="["/>
                          <m:endChr m:val="]"/>
                          <m:ctrlPr>
                            <a:rPr lang="en-US" altLang="zh-CN" sz="1700" i="1" smtClean="0">
                              <a:latin typeface="Cambria Math" panose="02040503050406030204" pitchFamily="18" charset="0"/>
                            </a:rPr>
                          </m:ctrlPr>
                        </m:dPr>
                        <m:e>
                          <m:eqArr>
                            <m:eqArrPr>
                              <m:ctrlPr>
                                <a:rPr lang="en-US" altLang="zh-CN" sz="1700" i="1" smtClean="0">
                                  <a:latin typeface="Cambria Math" panose="02040503050406030204" pitchFamily="18" charset="0"/>
                                </a:rPr>
                              </m:ctrlPr>
                            </m:eqArrPr>
                            <m:e>
                              <m:r>
                                <a:rPr lang="en-US" altLang="zh-CN" sz="1700" i="1" smtClean="0">
                                  <a:latin typeface="Cambria Math" panose="02040503050406030204" pitchFamily="18" charset="0"/>
                                </a:rPr>
                                <m:t>1</m:t>
                              </m:r>
                            </m:e>
                            <m:e>
                              <m:r>
                                <a:rPr lang="en-US" altLang="zh-CN" sz="1700" b="0" i="1" smtClean="0">
                                  <a:latin typeface="Cambria Math" panose="02040503050406030204" pitchFamily="18" charset="0"/>
                                </a:rPr>
                                <m:t>1</m:t>
                              </m:r>
                            </m:e>
                            <m:e>
                              <m:r>
                                <a:rPr lang="en-US" altLang="zh-CN" sz="1700" b="0" i="1" smtClean="0">
                                  <a:latin typeface="Cambria Math" panose="02040503050406030204" pitchFamily="18" charset="0"/>
                                </a:rPr>
                                <m:t>1</m:t>
                              </m:r>
                            </m:e>
                          </m:eqArr>
                        </m:e>
                      </m:d>
                      <m:r>
                        <a:rPr lang="en-US" altLang="zh-CN" sz="1700" b="0" i="1" smtClean="0">
                          <a:latin typeface="Cambria Math" panose="02040503050406030204" pitchFamily="18" charset="0"/>
                        </a:rPr>
                        <m:t>=</m:t>
                      </m:r>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𝑾</m:t>
                          </m:r>
                        </m:e>
                        <m:sub>
                          <m:r>
                            <a:rPr lang="en-US" altLang="zh-CN" sz="1700" b="1" i="1" smtClean="0">
                              <a:latin typeface="Cambria Math" panose="02040503050406030204" pitchFamily="18" charset="0"/>
                            </a:rPr>
                            <m:t>𝒔𝑹𝑮𝑩</m:t>
                          </m:r>
                        </m:sub>
                      </m:sSub>
                    </m:oMath>
                  </m:oMathPara>
                </a14:m>
                <a:endParaRPr lang="en-US" altLang="zh-CN" sz="17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sz="1700" b="1" i="1" dirty="0">
                          <a:latin typeface="Cambria Math" panose="02040503050406030204" pitchFamily="18" charset="0"/>
                        </a:rPr>
                        <m:t>解得</m:t>
                      </m:r>
                      <m:r>
                        <a:rPr lang="zh-CN" altLang="en-US" sz="1700" b="1" i="1" dirty="0" smtClean="0">
                          <a:latin typeface="Cambria Math" panose="02040503050406030204" pitchFamily="18" charset="0"/>
                        </a:rPr>
                        <m:t>：</m:t>
                      </m:r>
                      <m:sSub>
                        <m:sSubPr>
                          <m:ctrlPr>
                            <a:rPr lang="en-US" altLang="zh-CN" sz="1700" b="0" i="1" dirty="0" smtClean="0">
                              <a:latin typeface="Cambria Math" panose="02040503050406030204" pitchFamily="18" charset="0"/>
                            </a:rPr>
                          </m:ctrlPr>
                        </m:sSubPr>
                        <m:e>
                          <m:r>
                            <a:rPr lang="en-US" altLang="zh-CN" sz="1700" b="0" i="1" dirty="0" smtClean="0">
                              <a:latin typeface="Cambria Math" panose="02040503050406030204" pitchFamily="18" charset="0"/>
                            </a:rPr>
                            <m:t>𝑘</m:t>
                          </m:r>
                        </m:e>
                        <m:sub>
                          <m:r>
                            <a:rPr lang="en-US" altLang="zh-CN" sz="1700" b="0" i="1" dirty="0" smtClean="0">
                              <a:latin typeface="Cambria Math" panose="02040503050406030204" pitchFamily="18" charset="0"/>
                            </a:rPr>
                            <m:t>1</m:t>
                          </m:r>
                        </m:sub>
                      </m:sSub>
                      <m:r>
                        <a:rPr lang="en-US" altLang="zh-CN" sz="1700" b="0" i="1" dirty="0" smtClean="0">
                          <a:latin typeface="Cambria Math" panose="02040503050406030204" pitchFamily="18" charset="0"/>
                          <a:ea typeface="Cambria Math" panose="02040503050406030204" pitchFamily="18" charset="0"/>
                        </a:rPr>
                        <m:t>≈0.6444,  </m:t>
                      </m:r>
                      <m:sSub>
                        <m:sSubPr>
                          <m:ctrlPr>
                            <a:rPr lang="en-US" altLang="zh-CN" sz="1700" b="0" i="1" dirty="0" smtClean="0">
                              <a:latin typeface="Cambria Math" panose="02040503050406030204" pitchFamily="18" charset="0"/>
                              <a:ea typeface="Cambria Math" panose="02040503050406030204" pitchFamily="18" charset="0"/>
                            </a:rPr>
                          </m:ctrlPr>
                        </m:sSubPr>
                        <m:e>
                          <m:r>
                            <a:rPr lang="en-US" altLang="zh-CN" sz="1700" b="0" i="1" dirty="0" smtClean="0">
                              <a:latin typeface="Cambria Math" panose="02040503050406030204" pitchFamily="18" charset="0"/>
                              <a:ea typeface="Cambria Math" panose="02040503050406030204" pitchFamily="18" charset="0"/>
                            </a:rPr>
                            <m:t>𝑘</m:t>
                          </m:r>
                        </m:e>
                        <m:sub>
                          <m:r>
                            <a:rPr lang="en-US" altLang="zh-CN" sz="1700" b="0" i="1" dirty="0" smtClean="0">
                              <a:latin typeface="Cambria Math" panose="02040503050406030204" pitchFamily="18" charset="0"/>
                              <a:ea typeface="Cambria Math" panose="02040503050406030204" pitchFamily="18" charset="0"/>
                            </a:rPr>
                            <m:t>2</m:t>
                          </m:r>
                        </m:sub>
                      </m:sSub>
                      <m:r>
                        <a:rPr lang="en-US" altLang="zh-CN" sz="1700" i="1" dirty="0" smtClean="0">
                          <a:latin typeface="Cambria Math" panose="02040503050406030204" pitchFamily="18" charset="0"/>
                          <a:ea typeface="Cambria Math" panose="02040503050406030204" pitchFamily="18" charset="0"/>
                        </a:rPr>
                        <m:t>≈</m:t>
                      </m:r>
                      <m:r>
                        <a:rPr lang="en-US" altLang="zh-CN" sz="1700" b="0" i="1" dirty="0" smtClean="0">
                          <a:latin typeface="Cambria Math" panose="02040503050406030204" pitchFamily="18" charset="0"/>
                          <a:ea typeface="Cambria Math" panose="02040503050406030204" pitchFamily="18" charset="0"/>
                        </a:rPr>
                        <m:t>1.1919,  </m:t>
                      </m:r>
                      <m:sSub>
                        <m:sSubPr>
                          <m:ctrlPr>
                            <a:rPr lang="en-US" altLang="zh-CN" sz="1700" b="0" i="1" dirty="0" smtClean="0">
                              <a:latin typeface="Cambria Math" panose="02040503050406030204" pitchFamily="18" charset="0"/>
                              <a:ea typeface="Cambria Math" panose="02040503050406030204" pitchFamily="18" charset="0"/>
                            </a:rPr>
                          </m:ctrlPr>
                        </m:sSubPr>
                        <m:e>
                          <m:r>
                            <a:rPr lang="en-US" altLang="zh-CN" sz="1700" b="0" i="1" dirty="0" smtClean="0">
                              <a:latin typeface="Cambria Math" panose="02040503050406030204" pitchFamily="18" charset="0"/>
                              <a:ea typeface="Cambria Math" panose="02040503050406030204" pitchFamily="18" charset="0"/>
                            </a:rPr>
                            <m:t>𝑘</m:t>
                          </m:r>
                        </m:e>
                        <m:sub>
                          <m:r>
                            <a:rPr lang="en-US" altLang="zh-CN" sz="1700" b="0" i="1" dirty="0" smtClean="0">
                              <a:latin typeface="Cambria Math" panose="02040503050406030204" pitchFamily="18" charset="0"/>
                              <a:ea typeface="Cambria Math" panose="02040503050406030204" pitchFamily="18" charset="0"/>
                            </a:rPr>
                            <m:t>3</m:t>
                          </m:r>
                        </m:sub>
                      </m:sSub>
                      <m:r>
                        <a:rPr lang="en-US" altLang="zh-CN" sz="1700" i="1" dirty="0">
                          <a:latin typeface="Cambria Math" panose="02040503050406030204" pitchFamily="18" charset="0"/>
                          <a:ea typeface="Cambria Math" panose="02040503050406030204" pitchFamily="18" charset="0"/>
                        </a:rPr>
                        <m:t>≈</m:t>
                      </m:r>
                      <m:r>
                        <a:rPr lang="en-US" altLang="zh-CN" sz="1700" b="0" i="1" dirty="0" smtClean="0">
                          <a:latin typeface="Cambria Math" panose="02040503050406030204" pitchFamily="18" charset="0"/>
                          <a:ea typeface="Cambria Math" panose="02040503050406030204" pitchFamily="18" charset="0"/>
                        </a:rPr>
                        <m:t>1.2033</m:t>
                      </m:r>
                    </m:oMath>
                  </m:oMathPara>
                </a14:m>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用这三个基向量，就可以得到</a:t>
                </a:r>
                <a:r>
                  <a:rPr lang="en-US" altLang="zh-CN" sz="1700" dirty="0">
                    <a:latin typeface="Noto Sans SC" panose="020B0200000000000000" pitchFamily="34" charset="-122"/>
                    <a:ea typeface="Noto Sans SC" panose="020B0200000000000000" pitchFamily="34" charset="-122"/>
                  </a:rPr>
                  <a:t>XYZ</a:t>
                </a:r>
                <a:r>
                  <a:rPr lang="zh-CN" altLang="en-US" sz="1700" dirty="0">
                    <a:latin typeface="Noto Sans SC" panose="020B0200000000000000" pitchFamily="34" charset="-122"/>
                    <a:ea typeface="Noto Sans SC" panose="020B0200000000000000" pitchFamily="34" charset="-122"/>
                  </a:rPr>
                  <a:t>到</a:t>
                </a:r>
                <a:r>
                  <a:rPr lang="en-US" altLang="zh-CN" sz="1700" dirty="0">
                    <a:latin typeface="Noto Sans SC" panose="020B0200000000000000" pitchFamily="34" charset="-122"/>
                    <a:ea typeface="Noto Sans SC" panose="020B0200000000000000" pitchFamily="34" charset="-122"/>
                  </a:rPr>
                  <a:t>sRGB</a:t>
                </a:r>
                <a:r>
                  <a:rPr lang="zh-CN" altLang="en-US" sz="1700" dirty="0">
                    <a:latin typeface="Noto Sans SC" panose="020B0200000000000000" pitchFamily="34" charset="-122"/>
                    <a:ea typeface="Noto Sans SC" panose="020B0200000000000000" pitchFamily="34" charset="-122"/>
                  </a:rPr>
                  <a:t>的转换矩阵</a:t>
                </a:r>
                <a14:m>
                  <m:oMath xmlns:m="http://schemas.openxmlformats.org/officeDocument/2006/math">
                    <m:sSup>
                      <m:sSupPr>
                        <m:ctrlPr>
                          <a:rPr lang="en-US" altLang="zh-CN" sz="1700" i="1" dirty="0">
                            <a:latin typeface="Cambria Math" panose="02040503050406030204" pitchFamily="18" charset="0"/>
                          </a:rPr>
                        </m:ctrlPr>
                      </m:sSupPr>
                      <m:e>
                        <m:r>
                          <a:rPr lang="en-US" altLang="zh-CN" sz="1700" i="1" dirty="0">
                            <a:latin typeface="Cambria Math" panose="02040503050406030204" pitchFamily="18" charset="0"/>
                          </a:rPr>
                          <m:t>𝑇</m:t>
                        </m:r>
                      </m:e>
                      <m:sup>
                        <m:r>
                          <a:rPr lang="en-US" altLang="zh-CN" sz="1700" i="1" dirty="0">
                            <a:latin typeface="Cambria Math" panose="02040503050406030204" pitchFamily="18" charset="0"/>
                          </a:rPr>
                          <m:t>−1</m:t>
                        </m:r>
                      </m:sup>
                    </m:sSup>
                  </m:oMath>
                </a14:m>
                <a:r>
                  <a:rPr lang="zh-CN" altLang="en-US" sz="1700" dirty="0">
                    <a:latin typeface="Noto Sans SC" panose="020B0200000000000000" pitchFamily="34" charset="-122"/>
                    <a:ea typeface="Noto Sans SC" panose="020B0200000000000000" pitchFamily="34" charset="-122"/>
                  </a:rPr>
                  <a:t>：</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p>
                        <m:sSupPr>
                          <m:ctrlPr>
                            <a:rPr lang="en-US" altLang="zh-CN" sz="1700" b="0" i="1" dirty="0" smtClean="0">
                              <a:latin typeface="Cambria Math" panose="02040503050406030204" pitchFamily="18" charset="0"/>
                            </a:rPr>
                          </m:ctrlPr>
                        </m:sSupPr>
                        <m:e>
                          <m:r>
                            <a:rPr lang="en-US" altLang="zh-CN" sz="1700" b="0" i="1" dirty="0" smtClean="0">
                              <a:latin typeface="Cambria Math" panose="02040503050406030204" pitchFamily="18" charset="0"/>
                            </a:rPr>
                            <m:t>𝑇</m:t>
                          </m:r>
                        </m:e>
                        <m:sup>
                          <m:r>
                            <a:rPr lang="en-US" altLang="zh-CN" sz="1700" b="0" i="1" dirty="0" smtClean="0">
                              <a:latin typeface="Cambria Math" panose="02040503050406030204" pitchFamily="18" charset="0"/>
                            </a:rPr>
                            <m:t>−1</m:t>
                          </m:r>
                        </m:sup>
                      </m:sSup>
                      <m:r>
                        <a:rPr lang="en-US" altLang="zh-CN" sz="1700" b="1" i="1" dirty="0" smtClean="0">
                          <a:latin typeface="Cambria Math" panose="02040503050406030204" pitchFamily="18" charset="0"/>
                        </a:rPr>
                        <m:t>=</m:t>
                      </m:r>
                      <m:d>
                        <m:dPr>
                          <m:begChr m:val="["/>
                          <m:endChr m:val="]"/>
                          <m:ctrlPr>
                            <a:rPr lang="en-US" altLang="zh-CN" sz="1700" b="1" i="1">
                              <a:latin typeface="Cambria Math" panose="02040503050406030204" pitchFamily="18" charset="0"/>
                            </a:rPr>
                          </m:ctrlPr>
                        </m:dPr>
                        <m:e>
                          <m:sSub>
                            <m:sSubPr>
                              <m:ctrlPr>
                                <a:rPr lang="en-US" altLang="zh-CN" sz="1700" b="1" i="1">
                                  <a:latin typeface="Cambria Math" panose="02040503050406030204" pitchFamily="18" charset="0"/>
                                </a:rPr>
                              </m:ctrlPr>
                            </m:sSubPr>
                            <m:e>
                              <m:r>
                                <a:rPr lang="en-US" altLang="zh-CN" sz="1700" b="1" i="1">
                                  <a:latin typeface="Cambria Math" panose="02040503050406030204" pitchFamily="18" charset="0"/>
                                </a:rPr>
                                <m:t>𝑹</m:t>
                              </m:r>
                            </m:e>
                            <m:sub>
                              <m:r>
                                <a:rPr lang="en-US" altLang="zh-CN" sz="1700" b="1" i="1">
                                  <a:latin typeface="Cambria Math" panose="02040503050406030204" pitchFamily="18" charset="0"/>
                                </a:rPr>
                                <m:t>𝒔𝑹𝑮𝑩</m:t>
                              </m:r>
                            </m:sub>
                          </m:sSub>
                          <m:r>
                            <a:rPr lang="en-US" altLang="zh-CN" sz="1700" b="1" i="1">
                              <a:latin typeface="Cambria Math" panose="02040503050406030204" pitchFamily="18" charset="0"/>
                            </a:rPr>
                            <m:t>, </m:t>
                          </m:r>
                          <m:sSub>
                            <m:sSubPr>
                              <m:ctrlPr>
                                <a:rPr lang="en-US" altLang="zh-CN" sz="1700" b="1" i="1">
                                  <a:latin typeface="Cambria Math" panose="02040503050406030204" pitchFamily="18" charset="0"/>
                                </a:rPr>
                              </m:ctrlPr>
                            </m:sSubPr>
                            <m:e>
                              <m:r>
                                <a:rPr lang="en-US" altLang="zh-CN" sz="1700" b="1" i="1">
                                  <a:latin typeface="Cambria Math" panose="02040503050406030204" pitchFamily="18" charset="0"/>
                                </a:rPr>
                                <m:t>𝑮</m:t>
                              </m:r>
                            </m:e>
                            <m:sub>
                              <m:r>
                                <a:rPr lang="en-US" altLang="zh-CN" sz="1700" b="1" i="1">
                                  <a:latin typeface="Cambria Math" panose="02040503050406030204" pitchFamily="18" charset="0"/>
                                </a:rPr>
                                <m:t>𝒔𝑹𝑮𝑩</m:t>
                              </m:r>
                            </m:sub>
                          </m:sSub>
                          <m:r>
                            <a:rPr lang="en-US" altLang="zh-CN" sz="1700" b="1" i="1">
                              <a:latin typeface="Cambria Math" panose="02040503050406030204" pitchFamily="18" charset="0"/>
                            </a:rPr>
                            <m:t>, </m:t>
                          </m:r>
                          <m:sSub>
                            <m:sSubPr>
                              <m:ctrlPr>
                                <a:rPr lang="en-US" altLang="zh-CN" sz="1700" b="1" i="1">
                                  <a:latin typeface="Cambria Math" panose="02040503050406030204" pitchFamily="18" charset="0"/>
                                </a:rPr>
                              </m:ctrlPr>
                            </m:sSubPr>
                            <m:e>
                              <m:r>
                                <a:rPr lang="en-US" altLang="zh-CN" sz="1700" b="1" i="1">
                                  <a:latin typeface="Cambria Math" panose="02040503050406030204" pitchFamily="18" charset="0"/>
                                </a:rPr>
                                <m:t>𝑩</m:t>
                              </m:r>
                            </m:e>
                            <m:sub>
                              <m:r>
                                <a:rPr lang="en-US" altLang="zh-CN" sz="1700" b="1" i="1">
                                  <a:latin typeface="Cambria Math" panose="02040503050406030204" pitchFamily="18" charset="0"/>
                                </a:rPr>
                                <m:t>𝒔𝑹𝑮𝑩</m:t>
                              </m:r>
                            </m:sub>
                          </m:sSub>
                        </m:e>
                      </m:d>
                      <m:r>
                        <a:rPr lang="en-US" altLang="zh-CN" sz="1700" b="1" i="1" smtClean="0">
                          <a:latin typeface="Cambria Math" panose="02040503050406030204" pitchFamily="18" charset="0"/>
                        </a:rPr>
                        <m:t>=</m:t>
                      </m:r>
                      <m:d>
                        <m:dPr>
                          <m:begChr m:val="["/>
                          <m:endChr m:val="]"/>
                          <m:ctrlPr>
                            <a:rPr lang="en-US" altLang="zh-CN" sz="1700" i="1" smtClean="0">
                              <a:latin typeface="Cambria Math" panose="02040503050406030204" pitchFamily="18" charset="0"/>
                            </a:rPr>
                          </m:ctrlPr>
                        </m:dPr>
                        <m:e>
                          <m:m>
                            <m:mPr>
                              <m:mcs>
                                <m:mc>
                                  <m:mcPr>
                                    <m:count m:val="3"/>
                                    <m:mcJc m:val="center"/>
                                  </m:mcPr>
                                </m:mc>
                              </m:mcs>
                              <m:ctrlPr>
                                <a:rPr lang="en-US" altLang="zh-CN" sz="1700" i="1" smtClean="0">
                                  <a:latin typeface="Cambria Math" panose="02040503050406030204" pitchFamily="18" charset="0"/>
                                </a:rPr>
                              </m:ctrlPr>
                            </m:mPr>
                            <m:mr>
                              <m:e>
                                <m:r>
                                  <m:rPr>
                                    <m:nor/>
                                  </m:rPr>
                                  <a:rPr lang="en-US" altLang="zh-CN" sz="1700" b="0" i="0" smtClean="0">
                                    <a:latin typeface="Cambria Math" panose="02040503050406030204" pitchFamily="18" charset="0"/>
                                    <a:ea typeface="Noto Sans SC" panose="020B0200000000000000" pitchFamily="34" charset="-122"/>
                                  </a:rPr>
                                  <m:t>0.4124</m:t>
                                </m:r>
                              </m:e>
                              <m:e>
                                <m:r>
                                  <a:rPr lang="en-US" altLang="zh-CN" sz="1700" i="1">
                                    <a:latin typeface="Cambria Math" panose="02040503050406030204" pitchFamily="18" charset="0"/>
                                  </a:rPr>
                                  <m:t>0.357</m:t>
                                </m:r>
                                <m:r>
                                  <a:rPr lang="en-US" altLang="zh-CN" sz="1700" b="0" i="1" smtClean="0">
                                    <a:latin typeface="Cambria Math" panose="02040503050406030204" pitchFamily="18" charset="0"/>
                                  </a:rPr>
                                  <m:t>6</m:t>
                                </m:r>
                              </m:e>
                              <m:e>
                                <m:r>
                                  <a:rPr lang="en-US" altLang="zh-CN" sz="1700" i="1">
                                    <a:latin typeface="Cambria Math" panose="02040503050406030204" pitchFamily="18" charset="0"/>
                                  </a:rPr>
                                  <m:t>0.180</m:t>
                                </m:r>
                                <m:r>
                                  <a:rPr lang="en-US" altLang="zh-CN" sz="1700" b="0" i="1" smtClean="0">
                                    <a:latin typeface="Cambria Math" panose="02040503050406030204" pitchFamily="18" charset="0"/>
                                  </a:rPr>
                                  <m:t>5</m:t>
                                </m:r>
                              </m:e>
                            </m:mr>
                            <m:mr>
                              <m:e>
                                <m:r>
                                  <a:rPr lang="en-US" altLang="zh-CN" sz="1700" i="1">
                                    <a:latin typeface="Cambria Math" panose="02040503050406030204" pitchFamily="18" charset="0"/>
                                  </a:rPr>
                                  <m:t>0.212</m:t>
                                </m:r>
                                <m:r>
                                  <a:rPr lang="en-US" altLang="zh-CN" sz="1700" b="0" i="1" smtClean="0">
                                    <a:latin typeface="Cambria Math" panose="02040503050406030204" pitchFamily="18" charset="0"/>
                                  </a:rPr>
                                  <m:t>7</m:t>
                                </m:r>
                              </m:e>
                              <m:e>
                                <m:r>
                                  <a:rPr lang="en-US" altLang="zh-CN" sz="1700" i="1">
                                    <a:latin typeface="Cambria Math" panose="02040503050406030204" pitchFamily="18" charset="0"/>
                                  </a:rPr>
                                  <m:t>0.7151</m:t>
                                </m:r>
                              </m:e>
                              <m:e>
                                <m:r>
                                  <a:rPr lang="en-US" altLang="zh-CN" sz="1700" i="1">
                                    <a:latin typeface="Cambria Math" panose="02040503050406030204" pitchFamily="18" charset="0"/>
                                  </a:rPr>
                                  <m:t>0.072</m:t>
                                </m:r>
                                <m:r>
                                  <a:rPr lang="en-US" altLang="zh-CN" sz="1700" b="0" i="1" smtClean="0">
                                    <a:latin typeface="Cambria Math" panose="02040503050406030204" pitchFamily="18" charset="0"/>
                                  </a:rPr>
                                  <m:t>2</m:t>
                                </m:r>
                              </m:e>
                            </m:mr>
                            <m:mr>
                              <m:e>
                                <m:r>
                                  <a:rPr lang="en-US" altLang="zh-CN" sz="1700" i="1">
                                    <a:latin typeface="Cambria Math" panose="02040503050406030204" pitchFamily="18" charset="0"/>
                                  </a:rPr>
                                  <m:t>0.0193</m:t>
                                </m:r>
                              </m:e>
                              <m:e>
                                <m:r>
                                  <a:rPr lang="en-US" altLang="zh-CN" sz="1700" i="1">
                                    <a:latin typeface="Cambria Math" panose="02040503050406030204" pitchFamily="18" charset="0"/>
                                  </a:rPr>
                                  <m:t>0.119</m:t>
                                </m:r>
                                <m:r>
                                  <a:rPr lang="en-US" altLang="zh-CN" sz="1700" b="0" i="1" smtClean="0">
                                    <a:latin typeface="Cambria Math" panose="02040503050406030204" pitchFamily="18" charset="0"/>
                                  </a:rPr>
                                  <m:t>2</m:t>
                                </m:r>
                              </m:e>
                              <m:e>
                                <m:r>
                                  <a:rPr lang="en-US" altLang="zh-CN" sz="1700" i="1">
                                    <a:latin typeface="Cambria Math" panose="02040503050406030204" pitchFamily="18" charset="0"/>
                                  </a:rPr>
                                  <m:t>0.950</m:t>
                                </m:r>
                                <m:r>
                                  <a:rPr lang="en-US" altLang="zh-CN" sz="1700" b="0" i="1" smtClean="0">
                                    <a:latin typeface="Cambria Math" panose="02040503050406030204" pitchFamily="18" charset="0"/>
                                  </a:rPr>
                                  <m:t>6</m:t>
                                </m:r>
                              </m:e>
                            </m:mr>
                          </m:m>
                        </m:e>
                      </m:d>
                    </m:oMath>
                  </m:oMathPara>
                </a14:m>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再求逆矩阵，就得到了</a:t>
                </a:r>
                <a:r>
                  <a:rPr lang="en-US" altLang="zh-CN" sz="1700" dirty="0">
                    <a:latin typeface="Noto Sans SC" panose="020B0200000000000000" pitchFamily="34" charset="-122"/>
                    <a:ea typeface="Noto Sans SC" panose="020B0200000000000000" pitchFamily="34" charset="-122"/>
                  </a:rPr>
                  <a:t>sRGB</a:t>
                </a:r>
                <a:r>
                  <a:rPr lang="zh-CN" altLang="en-US" sz="1700" dirty="0">
                    <a:latin typeface="Noto Sans SC" panose="020B0200000000000000" pitchFamily="34" charset="-122"/>
                    <a:ea typeface="Noto Sans SC" panose="020B0200000000000000" pitchFamily="34" charset="-122"/>
                  </a:rPr>
                  <a:t>到</a:t>
                </a:r>
                <a:r>
                  <a:rPr lang="en-US" altLang="zh-CN" sz="1700" dirty="0">
                    <a:latin typeface="Noto Sans SC" panose="020B0200000000000000" pitchFamily="34" charset="-122"/>
                    <a:ea typeface="Noto Sans SC" panose="020B0200000000000000" pitchFamily="34" charset="-122"/>
                  </a:rPr>
                  <a:t>XYZ</a:t>
                </a:r>
                <a:r>
                  <a:rPr lang="zh-CN" altLang="en-US" sz="1700" dirty="0">
                    <a:latin typeface="Noto Sans SC" panose="020B0200000000000000" pitchFamily="34" charset="-122"/>
                    <a:ea typeface="Noto Sans SC" panose="020B0200000000000000" pitchFamily="34" charset="-122"/>
                  </a:rPr>
                  <a:t>的转换矩阵</a:t>
                </a:r>
                <a14:m>
                  <m:oMath xmlns:m="http://schemas.openxmlformats.org/officeDocument/2006/math">
                    <m:r>
                      <a:rPr lang="en-US" altLang="zh-CN" sz="1700" i="1" dirty="0">
                        <a:latin typeface="Cambria Math" panose="02040503050406030204" pitchFamily="18" charset="0"/>
                      </a:rPr>
                      <m:t>𝑇</m:t>
                    </m:r>
                  </m:oMath>
                </a14:m>
                <a:r>
                  <a:rPr lang="zh-CN" altLang="en-US" sz="1700" dirty="0">
                    <a:latin typeface="Noto Sans SC" panose="020B0200000000000000" pitchFamily="34" charset="-122"/>
                    <a:ea typeface="Noto Sans SC" panose="020B0200000000000000" pitchFamily="34" charset="-122"/>
                  </a:rPr>
                  <a:t>：</a:t>
                </a:r>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700" b="0" i="1" dirty="0" smtClean="0">
                          <a:latin typeface="Cambria Math" panose="02040503050406030204" pitchFamily="18" charset="0"/>
                        </a:rPr>
                        <m:t>𝑇</m:t>
                      </m:r>
                      <m:r>
                        <a:rPr lang="en-US" altLang="zh-CN" sz="1700" b="1" i="1" dirty="0">
                          <a:latin typeface="Cambria Math" panose="02040503050406030204" pitchFamily="18" charset="0"/>
                        </a:rPr>
                        <m:t>=</m:t>
                      </m:r>
                      <m:sSup>
                        <m:sSupPr>
                          <m:ctrlPr>
                            <a:rPr lang="en-US" altLang="zh-CN" sz="1700" b="1" i="1">
                              <a:latin typeface="Cambria Math" panose="02040503050406030204" pitchFamily="18" charset="0"/>
                            </a:rPr>
                          </m:ctrlPr>
                        </m:sSupPr>
                        <m:e>
                          <m:d>
                            <m:dPr>
                              <m:begChr m:val="["/>
                              <m:endChr m:val="]"/>
                              <m:ctrlPr>
                                <a:rPr lang="en-US" altLang="zh-CN" sz="1700" b="1" i="1">
                                  <a:latin typeface="Cambria Math" panose="02040503050406030204" pitchFamily="18" charset="0"/>
                                </a:rPr>
                              </m:ctrlPr>
                            </m:dPr>
                            <m:e>
                              <m:sSub>
                                <m:sSubPr>
                                  <m:ctrlPr>
                                    <a:rPr lang="en-US" altLang="zh-CN" sz="1700" b="1" i="1">
                                      <a:latin typeface="Cambria Math" panose="02040503050406030204" pitchFamily="18" charset="0"/>
                                    </a:rPr>
                                  </m:ctrlPr>
                                </m:sSubPr>
                                <m:e>
                                  <m:r>
                                    <a:rPr lang="en-US" altLang="zh-CN" sz="1700" b="1" i="1">
                                      <a:latin typeface="Cambria Math" panose="02040503050406030204" pitchFamily="18" charset="0"/>
                                    </a:rPr>
                                    <m:t>𝑹</m:t>
                                  </m:r>
                                </m:e>
                                <m:sub>
                                  <m:r>
                                    <a:rPr lang="en-US" altLang="zh-CN" sz="1700" b="1" i="1">
                                      <a:latin typeface="Cambria Math" panose="02040503050406030204" pitchFamily="18" charset="0"/>
                                    </a:rPr>
                                    <m:t>𝒔𝑹𝑮𝑩</m:t>
                                  </m:r>
                                </m:sub>
                              </m:sSub>
                              <m:r>
                                <a:rPr lang="en-US" altLang="zh-CN" sz="1700" b="1" i="1">
                                  <a:latin typeface="Cambria Math" panose="02040503050406030204" pitchFamily="18" charset="0"/>
                                </a:rPr>
                                <m:t>, </m:t>
                              </m:r>
                              <m:sSub>
                                <m:sSubPr>
                                  <m:ctrlPr>
                                    <a:rPr lang="en-US" altLang="zh-CN" sz="1700" b="1" i="1">
                                      <a:latin typeface="Cambria Math" panose="02040503050406030204" pitchFamily="18" charset="0"/>
                                    </a:rPr>
                                  </m:ctrlPr>
                                </m:sSubPr>
                                <m:e>
                                  <m:r>
                                    <a:rPr lang="en-US" altLang="zh-CN" sz="1700" b="1" i="1">
                                      <a:latin typeface="Cambria Math" panose="02040503050406030204" pitchFamily="18" charset="0"/>
                                    </a:rPr>
                                    <m:t>𝑮</m:t>
                                  </m:r>
                                </m:e>
                                <m:sub>
                                  <m:r>
                                    <a:rPr lang="en-US" altLang="zh-CN" sz="1700" b="1" i="1">
                                      <a:latin typeface="Cambria Math" panose="02040503050406030204" pitchFamily="18" charset="0"/>
                                    </a:rPr>
                                    <m:t>𝒔𝑹𝑮𝑩</m:t>
                                  </m:r>
                                </m:sub>
                              </m:sSub>
                              <m:r>
                                <a:rPr lang="en-US" altLang="zh-CN" sz="1700" b="1" i="1">
                                  <a:latin typeface="Cambria Math" panose="02040503050406030204" pitchFamily="18" charset="0"/>
                                </a:rPr>
                                <m:t>, </m:t>
                              </m:r>
                              <m:sSub>
                                <m:sSubPr>
                                  <m:ctrlPr>
                                    <a:rPr lang="en-US" altLang="zh-CN" sz="1700" b="1" i="1">
                                      <a:latin typeface="Cambria Math" panose="02040503050406030204" pitchFamily="18" charset="0"/>
                                    </a:rPr>
                                  </m:ctrlPr>
                                </m:sSubPr>
                                <m:e>
                                  <m:r>
                                    <a:rPr lang="en-US" altLang="zh-CN" sz="1700" b="1" i="1">
                                      <a:latin typeface="Cambria Math" panose="02040503050406030204" pitchFamily="18" charset="0"/>
                                    </a:rPr>
                                    <m:t>𝑩</m:t>
                                  </m:r>
                                </m:e>
                                <m:sub>
                                  <m:r>
                                    <a:rPr lang="en-US" altLang="zh-CN" sz="1700" b="1" i="1">
                                      <a:latin typeface="Cambria Math" panose="02040503050406030204" pitchFamily="18" charset="0"/>
                                    </a:rPr>
                                    <m:t>𝒔𝑹𝑮𝑩</m:t>
                                  </m:r>
                                </m:sub>
                              </m:sSub>
                            </m:e>
                          </m:d>
                        </m:e>
                        <m:sup>
                          <m:r>
                            <a:rPr lang="en-US" altLang="zh-CN" sz="1700" b="0" i="1" smtClean="0">
                              <a:latin typeface="Cambria Math" panose="02040503050406030204" pitchFamily="18" charset="0"/>
                            </a:rPr>
                            <m:t>−1</m:t>
                          </m:r>
                        </m:sup>
                      </m:sSup>
                      <m:r>
                        <a:rPr lang="en-US" altLang="zh-CN" sz="1700" b="1" i="1">
                          <a:latin typeface="Cambria Math" panose="02040503050406030204" pitchFamily="18" charset="0"/>
                        </a:rPr>
                        <m:t>=</m:t>
                      </m:r>
                      <m:d>
                        <m:dPr>
                          <m:begChr m:val="["/>
                          <m:endChr m:val="]"/>
                          <m:ctrlPr>
                            <a:rPr lang="en-US" altLang="zh-CN" sz="1700" i="1">
                              <a:latin typeface="Cambria Math" panose="02040503050406030204" pitchFamily="18" charset="0"/>
                            </a:rPr>
                          </m:ctrlPr>
                        </m:dPr>
                        <m:e>
                          <m:m>
                            <m:mPr>
                              <m:mcs>
                                <m:mc>
                                  <m:mcPr>
                                    <m:count m:val="3"/>
                                    <m:mcJc m:val="center"/>
                                  </m:mcPr>
                                </m:mc>
                              </m:mcs>
                              <m:ctrlPr>
                                <a:rPr lang="en-US" altLang="zh-CN" sz="1700" i="1">
                                  <a:latin typeface="Cambria Math" panose="02040503050406030204" pitchFamily="18" charset="0"/>
                                </a:rPr>
                              </m:ctrlPr>
                            </m:mPr>
                            <m:mr>
                              <m:e>
                                <m:r>
                                  <m:rPr>
                                    <m:brk m:alnAt="7"/>
                                  </m:rPr>
                                  <a:rPr lang="en-US" altLang="zh-CN" sz="1700" i="1">
                                    <a:latin typeface="Cambria Math" panose="02040503050406030204" pitchFamily="18" charset="0"/>
                                  </a:rPr>
                                  <m:t>3</m:t>
                                </m:r>
                                <m:r>
                                  <a:rPr lang="en-US" altLang="zh-CN" sz="1700" i="1">
                                    <a:latin typeface="Cambria Math" panose="02040503050406030204" pitchFamily="18" charset="0"/>
                                  </a:rPr>
                                  <m:t>.241</m:t>
                                </m:r>
                                <m:r>
                                  <a:rPr lang="en-US" altLang="zh-CN" sz="1700" b="0" i="1" smtClean="0">
                                    <a:latin typeface="Cambria Math" panose="02040503050406030204" pitchFamily="18" charset="0"/>
                                  </a:rPr>
                                  <m:t>3</m:t>
                                </m:r>
                              </m:e>
                              <m:e>
                                <m:r>
                                  <a:rPr lang="en-US" altLang="zh-CN" sz="1700" b="0" i="1" smtClean="0">
                                    <a:latin typeface="Cambria Math" panose="02040503050406030204" pitchFamily="18" charset="0"/>
                                  </a:rPr>
                                  <m:t>−</m:t>
                                </m:r>
                                <m:r>
                                  <a:rPr lang="en-US" altLang="zh-CN" sz="1700" i="1">
                                    <a:latin typeface="Cambria Math" panose="02040503050406030204" pitchFamily="18" charset="0"/>
                                  </a:rPr>
                                  <m:t>1.5377</m:t>
                                </m:r>
                              </m:e>
                              <m:e>
                                <m:r>
                                  <a:rPr lang="en-US" altLang="zh-CN" sz="1700" b="0" i="1" smtClean="0">
                                    <a:latin typeface="Cambria Math" panose="02040503050406030204" pitchFamily="18" charset="0"/>
                                  </a:rPr>
                                  <m:t>−</m:t>
                                </m:r>
                                <m:r>
                                  <a:rPr lang="en-US" altLang="zh-CN" sz="1700" i="1">
                                    <a:latin typeface="Cambria Math" panose="02040503050406030204" pitchFamily="18" charset="0"/>
                                  </a:rPr>
                                  <m:t>0.498</m:t>
                                </m:r>
                                <m:r>
                                  <a:rPr lang="en-US" altLang="zh-CN" sz="1700" b="0" i="1" smtClean="0">
                                    <a:latin typeface="Cambria Math" panose="02040503050406030204" pitchFamily="18" charset="0"/>
                                  </a:rPr>
                                  <m:t>7</m:t>
                                </m:r>
                              </m:e>
                            </m:mr>
                            <m:mr>
                              <m:e>
                                <m:r>
                                  <a:rPr lang="en-US" altLang="zh-CN" sz="1700" b="0" i="1" smtClean="0">
                                    <a:latin typeface="Cambria Math" panose="02040503050406030204" pitchFamily="18" charset="0"/>
                                  </a:rPr>
                                  <m:t>−</m:t>
                                </m:r>
                                <m:r>
                                  <a:rPr lang="en-US" altLang="zh-CN" sz="1700" i="1">
                                    <a:latin typeface="Cambria Math" panose="02040503050406030204" pitchFamily="18" charset="0"/>
                                  </a:rPr>
                                  <m:t>0.9697</m:t>
                                </m:r>
                              </m:e>
                              <m:e>
                                <m:r>
                                  <a:rPr lang="en-US" altLang="zh-CN" sz="1700" i="1">
                                    <a:latin typeface="Cambria Math" panose="02040503050406030204" pitchFamily="18" charset="0"/>
                                  </a:rPr>
                                  <m:t>1.876</m:t>
                                </m:r>
                                <m:r>
                                  <a:rPr lang="en-US" altLang="zh-CN" sz="1700" b="0" i="1" smtClean="0">
                                    <a:latin typeface="Cambria Math" panose="02040503050406030204" pitchFamily="18" charset="0"/>
                                  </a:rPr>
                                  <m:t>4</m:t>
                                </m:r>
                              </m:e>
                              <m:e>
                                <m:r>
                                  <a:rPr lang="en-US" altLang="zh-CN" sz="1700" i="1">
                                    <a:latin typeface="Cambria Math" panose="02040503050406030204" pitchFamily="18" charset="0"/>
                                  </a:rPr>
                                  <m:t>0.0416</m:t>
                                </m:r>
                              </m:e>
                            </m:mr>
                            <m:mr>
                              <m:e>
                                <m:r>
                                  <a:rPr lang="en-US" altLang="zh-CN" sz="1700" i="1">
                                    <a:latin typeface="Cambria Math" panose="02040503050406030204" pitchFamily="18" charset="0"/>
                                  </a:rPr>
                                  <m:t>0.055</m:t>
                                </m:r>
                                <m:r>
                                  <a:rPr lang="en-US" altLang="zh-CN" sz="1700" b="0" i="1" smtClean="0">
                                    <a:latin typeface="Cambria Math" panose="02040503050406030204" pitchFamily="18" charset="0"/>
                                  </a:rPr>
                                  <m:t>8</m:t>
                                </m:r>
                              </m:e>
                              <m:e>
                                <m:r>
                                  <a:rPr lang="en-US" altLang="zh-CN" sz="1700" i="1">
                                    <a:latin typeface="Cambria Math" panose="02040503050406030204" pitchFamily="18" charset="0"/>
                                  </a:rPr>
                                  <m:t>−0.204</m:t>
                                </m:r>
                                <m:r>
                                  <a:rPr lang="en-US" altLang="zh-CN" sz="1700" b="0" i="1" smtClean="0">
                                    <a:latin typeface="Cambria Math" panose="02040503050406030204" pitchFamily="18" charset="0"/>
                                  </a:rPr>
                                  <m:t>1</m:t>
                                </m:r>
                              </m:e>
                              <m:e>
                                <m:r>
                                  <a:rPr lang="en-US" altLang="zh-CN" sz="1700" i="1">
                                    <a:latin typeface="Cambria Math" panose="02040503050406030204" pitchFamily="18" charset="0"/>
                                  </a:rPr>
                                  <m:t>1.056</m:t>
                                </m:r>
                                <m:r>
                                  <a:rPr lang="en-US" altLang="zh-CN" sz="1700" b="0" i="1" smtClean="0">
                                    <a:latin typeface="Cambria Math" panose="02040503050406030204" pitchFamily="18" charset="0"/>
                                  </a:rPr>
                                  <m:t>9</m:t>
                                </m:r>
                              </m:e>
                            </m:mr>
                          </m:m>
                        </m:e>
                      </m:d>
                    </m:oMath>
                  </m:oMathPara>
                </a14:m>
                <a:endParaRPr lang="en-US" altLang="zh-CN" sz="1700" dirty="0">
                  <a:latin typeface="Noto Sans SC" panose="020B0200000000000000" pitchFamily="34" charset="-122"/>
                  <a:ea typeface="Noto Sans SC" panose="020B0200000000000000" pitchFamily="34" charset="-122"/>
                </a:endParaRPr>
              </a:p>
            </p:txBody>
          </p:sp>
        </mc:Choice>
        <mc:Fallback xmlns="">
          <p:sp>
            <p:nvSpPr>
              <p:cNvPr id="4" name="文本框 3">
                <a:extLst>
                  <a:ext uri="{FF2B5EF4-FFF2-40B4-BE49-F238E27FC236}">
                    <a16:creationId xmlns:a16="http://schemas.microsoft.com/office/drawing/2014/main" id="{9C47C976-A725-5DA0-79E8-E87E6FE6106D}"/>
                  </a:ext>
                </a:extLst>
              </p:cNvPr>
              <p:cNvSpPr txBox="1">
                <a:spLocks noRot="1" noChangeAspect="1" noMove="1" noResize="1" noEditPoints="1" noAdjustHandles="1" noChangeArrowheads="1" noChangeShapeType="1" noTextEdit="1"/>
              </p:cNvSpPr>
              <p:nvPr/>
            </p:nvSpPr>
            <p:spPr>
              <a:xfrm>
                <a:off x="295283" y="1891566"/>
                <a:ext cx="7676740" cy="4623445"/>
              </a:xfrm>
              <a:prstGeom prst="rect">
                <a:avLst/>
              </a:prstGeom>
              <a:blipFill>
                <a:blip r:embed="rId3"/>
                <a:stretch>
                  <a:fillRect l="-476"/>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0041B3C9-EC27-373C-DB9C-50AA686AB984}"/>
              </a:ext>
            </a:extLst>
          </p:cNvPr>
          <p:cNvPicPr>
            <a:picLocks noChangeAspect="1"/>
          </p:cNvPicPr>
          <p:nvPr/>
        </p:nvPicPr>
        <p:blipFill>
          <a:blip r:embed="rId4"/>
          <a:stretch>
            <a:fillRect/>
          </a:stretch>
        </p:blipFill>
        <p:spPr>
          <a:xfrm>
            <a:off x="7641225" y="5452324"/>
            <a:ext cx="4337273" cy="12065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568766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7B87A-F4DF-C7C9-FC91-BE87D869132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90B972B-424B-B197-C83B-1F64BB2E4C8D}"/>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995C5A10-A3A3-3DA0-5FC0-ACF21F9C4B65}"/>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色彩空间的转换</a:t>
            </a:r>
            <a:endParaRPr lang="en-US" altLang="zh-CN" sz="2000" b="1" dirty="0">
              <a:latin typeface="Noto Sans SC" panose="020B0200000000000000" pitchFamily="34" charset="-122"/>
              <a:ea typeface="Noto Sans SC" panose="020B0200000000000000" pitchFamily="34" charset="-122"/>
            </a:endParaRPr>
          </a:p>
        </p:txBody>
      </p:sp>
      <p:pic>
        <p:nvPicPr>
          <p:cNvPr id="12" name="图片 11" descr="CIE XYZ color space">
            <a:extLst>
              <a:ext uri="{FF2B5EF4-FFF2-40B4-BE49-F238E27FC236}">
                <a16:creationId xmlns:a16="http://schemas.microsoft.com/office/drawing/2014/main" id="{16A9DC92-ECA4-679B-D545-44A434AF8546}"/>
              </a:ext>
            </a:extLst>
          </p:cNvPr>
          <p:cNvPicPr>
            <a:picLocks noChangeAspect="1"/>
          </p:cNvPicPr>
          <p:nvPr/>
        </p:nvPicPr>
        <p:blipFill>
          <a:blip r:embed="rId2"/>
          <a:stretch>
            <a:fillRect/>
          </a:stretch>
        </p:blipFill>
        <p:spPr>
          <a:xfrm>
            <a:off x="7903923" y="953063"/>
            <a:ext cx="4133850" cy="4381500"/>
          </a:xfrm>
          <a:prstGeom prst="rect">
            <a:avLst/>
          </a:prstGeom>
        </p:spPr>
      </p:pic>
      <p:sp>
        <p:nvSpPr>
          <p:cNvPr id="14" name="文本框 13">
            <a:extLst>
              <a:ext uri="{FF2B5EF4-FFF2-40B4-BE49-F238E27FC236}">
                <a16:creationId xmlns:a16="http://schemas.microsoft.com/office/drawing/2014/main" id="{1CB3EA87-B37D-6089-9EC1-0E6B345A46A8}"/>
              </a:ext>
            </a:extLst>
          </p:cNvPr>
          <p:cNvSpPr txBox="1"/>
          <p:nvPr/>
        </p:nvSpPr>
        <p:spPr>
          <a:xfrm>
            <a:off x="295284" y="1891566"/>
            <a:ext cx="7446722" cy="338554"/>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endParaRPr lang="en-US" altLang="zh-CN" sz="1600" b="0" dirty="0">
              <a:latin typeface="Noto Sans SC" panose="020B0200000000000000" pitchFamily="34" charset="-122"/>
              <a:ea typeface="Noto Sans SC" panose="020B0200000000000000" pitchFamily="34" charset="-122"/>
            </a:endParaRPr>
          </a:p>
        </p:txBody>
      </p:sp>
      <p:sp>
        <p:nvSpPr>
          <p:cNvPr id="3" name="等腰三角形 2">
            <a:extLst>
              <a:ext uri="{FF2B5EF4-FFF2-40B4-BE49-F238E27FC236}">
                <a16:creationId xmlns:a16="http://schemas.microsoft.com/office/drawing/2014/main" id="{968AD820-0B77-A32B-B0CA-8FFC29931F96}"/>
              </a:ext>
            </a:extLst>
          </p:cNvPr>
          <p:cNvSpPr/>
          <p:nvPr/>
        </p:nvSpPr>
        <p:spPr>
          <a:xfrm>
            <a:off x="9044775" y="2357071"/>
            <a:ext cx="2103503" cy="2294872"/>
          </a:xfrm>
          <a:custGeom>
            <a:avLst/>
            <a:gdLst>
              <a:gd name="csX0" fmla="*/ 0 w 2135688"/>
              <a:gd name="csY0" fmla="*/ 1096028 h 1096028"/>
              <a:gd name="csX1" fmla="*/ 1067844 w 2135688"/>
              <a:gd name="csY1" fmla="*/ 0 h 1096028"/>
              <a:gd name="csX2" fmla="*/ 2135688 w 2135688"/>
              <a:gd name="csY2" fmla="*/ 1096028 h 1096028"/>
              <a:gd name="csX3" fmla="*/ 0 w 2135688"/>
              <a:gd name="csY3" fmla="*/ 1096028 h 1096028"/>
              <a:gd name="csX0" fmla="*/ 109603 w 1067844"/>
              <a:gd name="csY0" fmla="*/ 2110636 h 2110636"/>
              <a:gd name="csX1" fmla="*/ 0 w 1067844"/>
              <a:gd name="csY1" fmla="*/ 0 h 2110636"/>
              <a:gd name="csX2" fmla="*/ 1067844 w 1067844"/>
              <a:gd name="csY2" fmla="*/ 1096028 h 2110636"/>
              <a:gd name="csX3" fmla="*/ 109603 w 1067844"/>
              <a:gd name="csY3" fmla="*/ 2110636 h 2110636"/>
              <a:gd name="csX0" fmla="*/ 1455803 w 1455803"/>
              <a:gd name="csY0" fmla="*/ 2800670 h 2800670"/>
              <a:gd name="csX1" fmla="*/ 0 w 1455803"/>
              <a:gd name="csY1" fmla="*/ 0 h 2800670"/>
              <a:gd name="csX2" fmla="*/ 1067844 w 1455803"/>
              <a:gd name="csY2" fmla="*/ 1096028 h 2800670"/>
              <a:gd name="csX3" fmla="*/ 1455803 w 1455803"/>
              <a:gd name="csY3" fmla="*/ 2800670 h 2800670"/>
              <a:gd name="csX0" fmla="*/ 1447336 w 1447336"/>
              <a:gd name="csY0" fmla="*/ 2508570 h 2508570"/>
              <a:gd name="csX1" fmla="*/ 0 w 1447336"/>
              <a:gd name="csY1" fmla="*/ 0 h 2508570"/>
              <a:gd name="csX2" fmla="*/ 1067844 w 1447336"/>
              <a:gd name="csY2" fmla="*/ 1096028 h 2508570"/>
              <a:gd name="csX3" fmla="*/ 1447336 w 1447336"/>
              <a:gd name="csY3" fmla="*/ 2508570 h 2508570"/>
              <a:gd name="csX0" fmla="*/ 1900303 w 1900303"/>
              <a:gd name="csY0" fmla="*/ 1412542 h 1901172"/>
              <a:gd name="csX1" fmla="*/ 0 w 1900303"/>
              <a:gd name="csY1" fmla="*/ 1901172 h 1901172"/>
              <a:gd name="csX2" fmla="*/ 1520811 w 1900303"/>
              <a:gd name="csY2" fmla="*/ 0 h 1901172"/>
              <a:gd name="csX3" fmla="*/ 1900303 w 1900303"/>
              <a:gd name="csY3" fmla="*/ 1412542 h 1901172"/>
              <a:gd name="csX0" fmla="*/ 2103503 w 2103503"/>
              <a:gd name="csY0" fmla="*/ 1412542 h 2531939"/>
              <a:gd name="csX1" fmla="*/ 0 w 2103503"/>
              <a:gd name="csY1" fmla="*/ 2531939 h 2531939"/>
              <a:gd name="csX2" fmla="*/ 1724011 w 2103503"/>
              <a:gd name="csY2" fmla="*/ 0 h 2531939"/>
              <a:gd name="csX3" fmla="*/ 2103503 w 2103503"/>
              <a:gd name="csY3" fmla="*/ 1412542 h 2531939"/>
              <a:gd name="csX0" fmla="*/ 2103503 w 2103503"/>
              <a:gd name="csY0" fmla="*/ 1141608 h 2261005"/>
              <a:gd name="csX1" fmla="*/ 0 w 2103503"/>
              <a:gd name="csY1" fmla="*/ 2261005 h 2261005"/>
              <a:gd name="csX2" fmla="*/ 695311 w 2103503"/>
              <a:gd name="csY2" fmla="*/ 0 h 2261005"/>
              <a:gd name="csX3" fmla="*/ 2103503 w 2103503"/>
              <a:gd name="csY3" fmla="*/ 1141608 h 2261005"/>
              <a:gd name="csX0" fmla="*/ 2103503 w 2103503"/>
              <a:gd name="csY0" fmla="*/ 1175475 h 2294872"/>
              <a:gd name="csX1" fmla="*/ 0 w 2103503"/>
              <a:gd name="csY1" fmla="*/ 2294872 h 2294872"/>
              <a:gd name="csX2" fmla="*/ 657211 w 2103503"/>
              <a:gd name="csY2" fmla="*/ 0 h 2294872"/>
              <a:gd name="csX3" fmla="*/ 2103503 w 2103503"/>
              <a:gd name="csY3" fmla="*/ 1175475 h 2294872"/>
            </a:gdLst>
            <a:ahLst/>
            <a:cxnLst>
              <a:cxn ang="0">
                <a:pos x="csX0" y="csY0"/>
              </a:cxn>
              <a:cxn ang="0">
                <a:pos x="csX1" y="csY1"/>
              </a:cxn>
              <a:cxn ang="0">
                <a:pos x="csX2" y="csY2"/>
              </a:cxn>
              <a:cxn ang="0">
                <a:pos x="csX3" y="csY3"/>
              </a:cxn>
            </a:cxnLst>
            <a:rect l="l" t="t" r="r" b="b"/>
            <a:pathLst>
              <a:path w="2103503" h="2294872">
                <a:moveTo>
                  <a:pt x="2103503" y="1175475"/>
                </a:moveTo>
                <a:lnTo>
                  <a:pt x="0" y="2294872"/>
                </a:lnTo>
                <a:lnTo>
                  <a:pt x="657211" y="0"/>
                </a:lnTo>
                <a:lnTo>
                  <a:pt x="2103503" y="1175475"/>
                </a:lnTo>
                <a:close/>
              </a:path>
            </a:pathLst>
          </a:cu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654507B-22CA-5437-84F2-B403257D2A3F}"/>
                  </a:ext>
                </a:extLst>
              </p:cNvPr>
              <p:cNvSpPr txBox="1"/>
              <p:nvPr/>
            </p:nvSpPr>
            <p:spPr>
              <a:xfrm>
                <a:off x="295283" y="1891566"/>
                <a:ext cx="7676740" cy="4938724"/>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b>
                        <m:sSubPr>
                          <m:ctrlPr>
                            <a:rPr lang="en-US" altLang="zh-CN" sz="1500" b="1" i="1" smtClean="0">
                              <a:latin typeface="Cambria Math" panose="02040503050406030204" pitchFamily="18" charset="0"/>
                            </a:rPr>
                          </m:ctrlPr>
                        </m:sSubPr>
                        <m:e>
                          <m:r>
                            <a:rPr lang="en-US" altLang="zh-CN" sz="1500" b="1" i="1" smtClean="0">
                              <a:latin typeface="Cambria Math" panose="02040503050406030204" pitchFamily="18" charset="0"/>
                            </a:rPr>
                            <m:t>𝑹</m:t>
                          </m:r>
                        </m:e>
                        <m:sub>
                          <m:r>
                            <a:rPr lang="en-US" altLang="zh-CN" sz="1500" b="1" i="1" smtClean="0">
                              <a:latin typeface="Cambria Math" panose="02040503050406030204" pitchFamily="18" charset="0"/>
                            </a:rPr>
                            <m:t>𝒔𝑹𝑮𝑩</m:t>
                          </m:r>
                        </m:sub>
                      </m:sSub>
                      <m:r>
                        <a:rPr lang="en-US" altLang="zh-CN" sz="1500" b="0" i="1" smtClean="0">
                          <a:latin typeface="Cambria Math" panose="02040503050406030204" pitchFamily="18" charset="0"/>
                        </a:rPr>
                        <m:t>=</m:t>
                      </m:r>
                      <m:sSub>
                        <m:sSubPr>
                          <m:ctrlPr>
                            <a:rPr lang="en-US" altLang="zh-CN" sz="1500" b="0" i="1" smtClean="0">
                              <a:latin typeface="Cambria Math" panose="02040503050406030204" pitchFamily="18" charset="0"/>
                            </a:rPr>
                          </m:ctrlPr>
                        </m:sSubPr>
                        <m:e>
                          <m:r>
                            <a:rPr lang="en-US" altLang="zh-CN" sz="1500" b="0" i="1" smtClean="0">
                              <a:latin typeface="Cambria Math" panose="02040503050406030204" pitchFamily="18" charset="0"/>
                            </a:rPr>
                            <m:t>𝑘</m:t>
                          </m:r>
                        </m:e>
                        <m:sub>
                          <m:r>
                            <a:rPr lang="en-US" altLang="zh-CN" sz="1500" b="0" i="1" smtClean="0">
                              <a:latin typeface="Cambria Math" panose="02040503050406030204" pitchFamily="18" charset="0"/>
                            </a:rPr>
                            <m:t>1</m:t>
                          </m:r>
                        </m:sub>
                      </m:sSub>
                      <m:d>
                        <m:dPr>
                          <m:begChr m:val="["/>
                          <m:endChr m:val="]"/>
                          <m:ctrlPr>
                            <a:rPr lang="en-US" altLang="zh-CN" sz="1500" i="1">
                              <a:latin typeface="Cambria Math" panose="02040503050406030204" pitchFamily="18" charset="0"/>
                            </a:rPr>
                          </m:ctrlPr>
                        </m:dPr>
                        <m:e>
                          <m:eqArr>
                            <m:eqArrPr>
                              <m:ctrlPr>
                                <a:rPr lang="en-US" altLang="zh-CN" sz="1500" i="1">
                                  <a:latin typeface="Cambria Math" panose="02040503050406030204" pitchFamily="18" charset="0"/>
                                </a:rPr>
                              </m:ctrlPr>
                            </m:eqArrPr>
                            <m:e>
                              <m:r>
                                <a:rPr lang="en-US" altLang="zh-CN" sz="1500" i="1">
                                  <a:latin typeface="Cambria Math" panose="02040503050406030204" pitchFamily="18" charset="0"/>
                                </a:rPr>
                                <m:t>0.64</m:t>
                              </m:r>
                            </m:e>
                            <m:e>
                              <m:r>
                                <a:rPr lang="en-US" altLang="zh-CN" sz="1500" b="0" i="1" smtClean="0">
                                  <a:latin typeface="Cambria Math" panose="02040503050406030204" pitchFamily="18" charset="0"/>
                                </a:rPr>
                                <m:t>0.33</m:t>
                              </m:r>
                            </m:e>
                            <m:e>
                              <m:r>
                                <a:rPr lang="en-US" altLang="zh-CN" sz="1500" b="0" i="1" smtClean="0">
                                  <a:latin typeface="Cambria Math" panose="02040503050406030204" pitchFamily="18" charset="0"/>
                                </a:rPr>
                                <m:t>0.03</m:t>
                              </m:r>
                            </m:e>
                          </m:eqArr>
                        </m:e>
                      </m:d>
                      <m:r>
                        <a:rPr lang="en-US" altLang="zh-CN" sz="1500" i="1">
                          <a:latin typeface="Cambria Math" panose="02040503050406030204" pitchFamily="18" charset="0"/>
                        </a:rPr>
                        <m:t>,   </m:t>
                      </m:r>
                      <m:sSub>
                        <m:sSubPr>
                          <m:ctrlPr>
                            <a:rPr lang="en-US" altLang="zh-CN" sz="1500" b="1" i="1" smtClean="0">
                              <a:latin typeface="Cambria Math" panose="02040503050406030204" pitchFamily="18" charset="0"/>
                            </a:rPr>
                          </m:ctrlPr>
                        </m:sSubPr>
                        <m:e>
                          <m:r>
                            <a:rPr lang="en-US" altLang="zh-CN" sz="1500" b="1" i="1" smtClean="0">
                              <a:latin typeface="Cambria Math" panose="02040503050406030204" pitchFamily="18" charset="0"/>
                            </a:rPr>
                            <m:t>𝑮</m:t>
                          </m:r>
                        </m:e>
                        <m:sub>
                          <m:r>
                            <a:rPr lang="en-US" altLang="zh-CN" sz="1500" b="1" i="1" smtClean="0">
                              <a:latin typeface="Cambria Math" panose="02040503050406030204" pitchFamily="18" charset="0"/>
                            </a:rPr>
                            <m:t>𝒔𝑹𝑮𝑩</m:t>
                          </m:r>
                        </m:sub>
                      </m:sSub>
                      <m:r>
                        <a:rPr lang="en-US" altLang="zh-CN" sz="1500" b="0" i="1" smtClean="0">
                          <a:latin typeface="Cambria Math" panose="02040503050406030204" pitchFamily="18" charset="0"/>
                        </a:rPr>
                        <m:t>=</m:t>
                      </m:r>
                      <m:sSub>
                        <m:sSubPr>
                          <m:ctrlPr>
                            <a:rPr lang="en-US" altLang="zh-CN" sz="1500" b="0" i="1" smtClean="0">
                              <a:latin typeface="Cambria Math" panose="02040503050406030204" pitchFamily="18" charset="0"/>
                            </a:rPr>
                          </m:ctrlPr>
                        </m:sSubPr>
                        <m:e>
                          <m:r>
                            <a:rPr lang="en-US" altLang="zh-CN" sz="1500" b="0" i="1" smtClean="0">
                              <a:latin typeface="Cambria Math" panose="02040503050406030204" pitchFamily="18" charset="0"/>
                            </a:rPr>
                            <m:t>𝑘</m:t>
                          </m:r>
                        </m:e>
                        <m:sub>
                          <m:r>
                            <a:rPr lang="en-US" altLang="zh-CN" sz="1500" b="0" i="1" smtClean="0">
                              <a:latin typeface="Cambria Math" panose="02040503050406030204" pitchFamily="18" charset="0"/>
                            </a:rPr>
                            <m:t>2</m:t>
                          </m:r>
                        </m:sub>
                      </m:sSub>
                      <m:d>
                        <m:dPr>
                          <m:begChr m:val="["/>
                          <m:endChr m:val="]"/>
                          <m:ctrlPr>
                            <a:rPr lang="en-US" altLang="zh-CN" sz="1500" b="0" i="1" smtClean="0">
                              <a:latin typeface="Cambria Math" panose="02040503050406030204" pitchFamily="18" charset="0"/>
                            </a:rPr>
                          </m:ctrlPr>
                        </m:dPr>
                        <m:e>
                          <m:eqArr>
                            <m:eqArrPr>
                              <m:ctrlPr>
                                <a:rPr lang="en-US" altLang="zh-CN" sz="1500" b="0" i="1" smtClean="0">
                                  <a:latin typeface="Cambria Math" panose="02040503050406030204" pitchFamily="18" charset="0"/>
                                </a:rPr>
                              </m:ctrlPr>
                            </m:eqArrPr>
                            <m:e>
                              <m:r>
                                <a:rPr lang="en-US" altLang="zh-CN" sz="1500" b="0" i="1" smtClean="0">
                                  <a:latin typeface="Cambria Math" panose="02040503050406030204" pitchFamily="18" charset="0"/>
                                </a:rPr>
                                <m:t>0.30</m:t>
                              </m:r>
                            </m:e>
                            <m:e>
                              <m:r>
                                <a:rPr lang="en-US" altLang="zh-CN" sz="1500" b="0" i="1" smtClean="0">
                                  <a:latin typeface="Cambria Math" panose="02040503050406030204" pitchFamily="18" charset="0"/>
                                </a:rPr>
                                <m:t>0.60</m:t>
                              </m:r>
                            </m:e>
                            <m:e>
                              <m:r>
                                <a:rPr lang="en-US" altLang="zh-CN" sz="1500" b="0" i="1" smtClean="0">
                                  <a:latin typeface="Cambria Math" panose="02040503050406030204" pitchFamily="18" charset="0"/>
                                </a:rPr>
                                <m:t>0.10</m:t>
                              </m:r>
                            </m:e>
                          </m:eqArr>
                        </m:e>
                      </m:d>
                      <m:r>
                        <a:rPr lang="en-US" altLang="zh-CN" sz="1500" b="0" i="1" smtClean="0">
                          <a:latin typeface="Cambria Math" panose="02040503050406030204" pitchFamily="18" charset="0"/>
                        </a:rPr>
                        <m:t>,  </m:t>
                      </m:r>
                      <m:sSub>
                        <m:sSubPr>
                          <m:ctrlPr>
                            <a:rPr lang="en-US" altLang="zh-CN" sz="1500" b="1" i="1" smtClean="0">
                              <a:latin typeface="Cambria Math" panose="02040503050406030204" pitchFamily="18" charset="0"/>
                            </a:rPr>
                          </m:ctrlPr>
                        </m:sSubPr>
                        <m:e>
                          <m:r>
                            <a:rPr lang="en-US" altLang="zh-CN" sz="1500" b="1" i="1" smtClean="0">
                              <a:latin typeface="Cambria Math" panose="02040503050406030204" pitchFamily="18" charset="0"/>
                            </a:rPr>
                            <m:t>𝑩</m:t>
                          </m:r>
                        </m:e>
                        <m:sub>
                          <m:r>
                            <a:rPr lang="en-US" altLang="zh-CN" sz="1500" b="1" i="1" smtClean="0">
                              <a:latin typeface="Cambria Math" panose="02040503050406030204" pitchFamily="18" charset="0"/>
                            </a:rPr>
                            <m:t>𝒔𝑹𝑮𝑩</m:t>
                          </m:r>
                        </m:sub>
                      </m:sSub>
                      <m:r>
                        <a:rPr lang="en-US" altLang="zh-CN" sz="1500" b="0" i="1" smtClean="0">
                          <a:latin typeface="Cambria Math" panose="02040503050406030204" pitchFamily="18" charset="0"/>
                        </a:rPr>
                        <m:t>=</m:t>
                      </m:r>
                      <m:sSub>
                        <m:sSubPr>
                          <m:ctrlPr>
                            <a:rPr lang="en-US" altLang="zh-CN" sz="1500" b="0" i="1" smtClean="0">
                              <a:latin typeface="Cambria Math" panose="02040503050406030204" pitchFamily="18" charset="0"/>
                            </a:rPr>
                          </m:ctrlPr>
                        </m:sSubPr>
                        <m:e>
                          <m:r>
                            <a:rPr lang="en-US" altLang="zh-CN" sz="1500" b="0" i="1" smtClean="0">
                              <a:latin typeface="Cambria Math" panose="02040503050406030204" pitchFamily="18" charset="0"/>
                            </a:rPr>
                            <m:t>𝑘</m:t>
                          </m:r>
                        </m:e>
                        <m:sub>
                          <m:r>
                            <a:rPr lang="en-US" altLang="zh-CN" sz="1500" b="0" i="1" smtClean="0">
                              <a:latin typeface="Cambria Math" panose="02040503050406030204" pitchFamily="18" charset="0"/>
                            </a:rPr>
                            <m:t>3</m:t>
                          </m:r>
                        </m:sub>
                      </m:sSub>
                      <m:d>
                        <m:dPr>
                          <m:begChr m:val="["/>
                          <m:endChr m:val="]"/>
                          <m:ctrlPr>
                            <a:rPr lang="en-US" altLang="zh-CN" sz="1500" b="0" i="1" smtClean="0">
                              <a:latin typeface="Cambria Math" panose="02040503050406030204" pitchFamily="18" charset="0"/>
                            </a:rPr>
                          </m:ctrlPr>
                        </m:dPr>
                        <m:e>
                          <m:eqArr>
                            <m:eqArrPr>
                              <m:ctrlPr>
                                <a:rPr lang="en-US" altLang="zh-CN" sz="1500" b="0" i="1" smtClean="0">
                                  <a:latin typeface="Cambria Math" panose="02040503050406030204" pitchFamily="18" charset="0"/>
                                </a:rPr>
                              </m:ctrlPr>
                            </m:eqArrPr>
                            <m:e>
                              <m:r>
                                <a:rPr lang="en-US" altLang="zh-CN" sz="1500" b="0" i="1" smtClean="0">
                                  <a:latin typeface="Cambria Math" panose="02040503050406030204" pitchFamily="18" charset="0"/>
                                </a:rPr>
                                <m:t>0.15</m:t>
                              </m:r>
                            </m:e>
                            <m:e>
                              <m:r>
                                <a:rPr lang="en-US" altLang="zh-CN" sz="1500" b="0" i="1" smtClean="0">
                                  <a:latin typeface="Cambria Math" panose="02040503050406030204" pitchFamily="18" charset="0"/>
                                </a:rPr>
                                <m:t>0.06</m:t>
                              </m:r>
                            </m:e>
                            <m:e>
                              <m:r>
                                <a:rPr lang="en-US" altLang="zh-CN" sz="1500" b="0" i="1" smtClean="0">
                                  <a:latin typeface="Cambria Math" panose="02040503050406030204" pitchFamily="18" charset="0"/>
                                </a:rPr>
                                <m:t>0.79</m:t>
                              </m:r>
                            </m:e>
                          </m:eqArr>
                        </m:e>
                      </m:d>
                      <m:r>
                        <a:rPr lang="en-US" altLang="zh-CN" sz="1500" b="0" i="1" smtClean="0">
                          <a:latin typeface="Cambria Math" panose="02040503050406030204" pitchFamily="18" charset="0"/>
                        </a:rPr>
                        <m:t>,  </m:t>
                      </m:r>
                      <m:sSub>
                        <m:sSubPr>
                          <m:ctrlPr>
                            <a:rPr lang="en-US" altLang="zh-CN" sz="1500" b="1" i="1">
                              <a:latin typeface="Cambria Math" panose="02040503050406030204" pitchFamily="18" charset="0"/>
                            </a:rPr>
                          </m:ctrlPr>
                        </m:sSubPr>
                        <m:e>
                          <m:r>
                            <a:rPr lang="en-US" altLang="zh-CN" sz="1500" b="1" i="1">
                              <a:latin typeface="Cambria Math" panose="02040503050406030204" pitchFamily="18" charset="0"/>
                            </a:rPr>
                            <m:t>𝑾</m:t>
                          </m:r>
                        </m:e>
                        <m:sub>
                          <m:r>
                            <a:rPr lang="en-US" altLang="zh-CN" sz="1500" b="1" i="1">
                              <a:latin typeface="Cambria Math" panose="02040503050406030204" pitchFamily="18" charset="0"/>
                            </a:rPr>
                            <m:t>𝒔𝑹𝑮𝑩</m:t>
                          </m:r>
                        </m:sub>
                      </m:sSub>
                      <m:r>
                        <a:rPr lang="en-US" altLang="zh-CN" sz="1500" i="1">
                          <a:latin typeface="Cambria Math" panose="02040503050406030204" pitchFamily="18" charset="0"/>
                        </a:rPr>
                        <m:t>=</m:t>
                      </m:r>
                      <m:d>
                        <m:dPr>
                          <m:begChr m:val="["/>
                          <m:endChr m:val="]"/>
                          <m:ctrlPr>
                            <a:rPr lang="en-US" altLang="zh-CN" sz="1500" i="1">
                              <a:latin typeface="Cambria Math" panose="02040503050406030204" pitchFamily="18" charset="0"/>
                            </a:rPr>
                          </m:ctrlPr>
                        </m:dPr>
                        <m:e>
                          <m:eqArr>
                            <m:eqArrPr>
                              <m:ctrlPr>
                                <a:rPr lang="en-US" altLang="zh-CN" sz="1500" i="1">
                                  <a:latin typeface="Cambria Math" panose="02040503050406030204" pitchFamily="18" charset="0"/>
                                </a:rPr>
                              </m:ctrlPr>
                            </m:eqArrPr>
                            <m:e>
                              <m:r>
                                <a:rPr lang="en-US" altLang="zh-CN" sz="1500" i="1">
                                  <a:latin typeface="Cambria Math" panose="02040503050406030204" pitchFamily="18" charset="0"/>
                                </a:rPr>
                                <m:t>0.9505</m:t>
                              </m:r>
                            </m:e>
                            <m:e>
                              <m:r>
                                <a:rPr lang="en-US" altLang="zh-CN" sz="1500" i="1">
                                  <a:latin typeface="Cambria Math" panose="02040503050406030204" pitchFamily="18" charset="0"/>
                                </a:rPr>
                                <m:t>1</m:t>
                              </m:r>
                            </m:e>
                            <m:e>
                              <m:r>
                                <a:rPr lang="en-US" altLang="zh-CN" sz="1500" i="1">
                                  <a:latin typeface="Cambria Math" panose="02040503050406030204" pitchFamily="18" charset="0"/>
                                </a:rPr>
                                <m:t>1.0891</m:t>
                              </m:r>
                            </m:e>
                          </m:eqArr>
                        </m:e>
                      </m:d>
                    </m:oMath>
                  </m:oMathPara>
                </a14:m>
                <a:endParaRPr lang="en-US" altLang="zh-CN" sz="17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sz="1700" b="1" i="1" smtClean="0">
                              <a:latin typeface="Cambria Math" panose="02040503050406030204" pitchFamily="18" charset="0"/>
                            </a:rPr>
                          </m:ctrlPr>
                        </m:dPr>
                        <m:e>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𝑹</m:t>
                              </m:r>
                            </m:e>
                            <m:sub>
                              <m:r>
                                <a:rPr lang="en-US" altLang="zh-CN" sz="1700" b="1" i="1" smtClean="0">
                                  <a:latin typeface="Cambria Math" panose="02040503050406030204" pitchFamily="18" charset="0"/>
                                </a:rPr>
                                <m:t>𝒔𝑹𝑮𝑩</m:t>
                              </m:r>
                            </m:sub>
                          </m:sSub>
                          <m:r>
                            <a:rPr lang="en-US" altLang="zh-CN" sz="1700" b="1" i="1" smtClean="0">
                              <a:latin typeface="Cambria Math" panose="02040503050406030204" pitchFamily="18" charset="0"/>
                            </a:rPr>
                            <m:t>, </m:t>
                          </m:r>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𝑮</m:t>
                              </m:r>
                            </m:e>
                            <m:sub>
                              <m:r>
                                <a:rPr lang="en-US" altLang="zh-CN" sz="1700" b="1" i="1" smtClean="0">
                                  <a:latin typeface="Cambria Math" panose="02040503050406030204" pitchFamily="18" charset="0"/>
                                </a:rPr>
                                <m:t>𝒔𝑹𝑮𝑩</m:t>
                              </m:r>
                            </m:sub>
                          </m:sSub>
                          <m:r>
                            <a:rPr lang="en-US" altLang="zh-CN" sz="1700" b="1" i="1" smtClean="0">
                              <a:latin typeface="Cambria Math" panose="02040503050406030204" pitchFamily="18" charset="0"/>
                            </a:rPr>
                            <m:t>, </m:t>
                          </m:r>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𝑩</m:t>
                              </m:r>
                            </m:e>
                            <m:sub>
                              <m:r>
                                <a:rPr lang="en-US" altLang="zh-CN" sz="1700" b="1" i="1" smtClean="0">
                                  <a:latin typeface="Cambria Math" panose="02040503050406030204" pitchFamily="18" charset="0"/>
                                </a:rPr>
                                <m:t>𝒔𝑹𝑮𝑩</m:t>
                              </m:r>
                            </m:sub>
                          </m:sSub>
                        </m:e>
                      </m:d>
                      <m:d>
                        <m:dPr>
                          <m:begChr m:val="["/>
                          <m:endChr m:val="]"/>
                          <m:ctrlPr>
                            <a:rPr lang="en-US" altLang="zh-CN" sz="1700" i="1" smtClean="0">
                              <a:latin typeface="Cambria Math" panose="02040503050406030204" pitchFamily="18" charset="0"/>
                            </a:rPr>
                          </m:ctrlPr>
                        </m:dPr>
                        <m:e>
                          <m:eqArr>
                            <m:eqArrPr>
                              <m:ctrlPr>
                                <a:rPr lang="en-US" altLang="zh-CN" sz="1700" i="1" smtClean="0">
                                  <a:latin typeface="Cambria Math" panose="02040503050406030204" pitchFamily="18" charset="0"/>
                                </a:rPr>
                              </m:ctrlPr>
                            </m:eqArrPr>
                            <m:e>
                              <m:r>
                                <a:rPr lang="en-US" altLang="zh-CN" sz="1700" i="1" smtClean="0">
                                  <a:latin typeface="Cambria Math" panose="02040503050406030204" pitchFamily="18" charset="0"/>
                                </a:rPr>
                                <m:t>1</m:t>
                              </m:r>
                            </m:e>
                            <m:e>
                              <m:r>
                                <a:rPr lang="en-US" altLang="zh-CN" sz="1700" b="0" i="1" smtClean="0">
                                  <a:latin typeface="Cambria Math" panose="02040503050406030204" pitchFamily="18" charset="0"/>
                                </a:rPr>
                                <m:t>1</m:t>
                              </m:r>
                            </m:e>
                            <m:e>
                              <m:r>
                                <a:rPr lang="en-US" altLang="zh-CN" sz="1700" b="0" i="1" smtClean="0">
                                  <a:latin typeface="Cambria Math" panose="02040503050406030204" pitchFamily="18" charset="0"/>
                                </a:rPr>
                                <m:t>1</m:t>
                              </m:r>
                            </m:e>
                          </m:eqArr>
                        </m:e>
                      </m:d>
                      <m:r>
                        <a:rPr lang="en-US" altLang="zh-CN" sz="1700" b="0" i="1" smtClean="0">
                          <a:latin typeface="Cambria Math" panose="02040503050406030204" pitchFamily="18" charset="0"/>
                        </a:rPr>
                        <m:t>=</m:t>
                      </m:r>
                      <m:sSub>
                        <m:sSubPr>
                          <m:ctrlPr>
                            <a:rPr lang="en-US" altLang="zh-CN" sz="1700" b="1" i="1" smtClean="0">
                              <a:latin typeface="Cambria Math" panose="02040503050406030204" pitchFamily="18" charset="0"/>
                            </a:rPr>
                          </m:ctrlPr>
                        </m:sSubPr>
                        <m:e>
                          <m:r>
                            <a:rPr lang="en-US" altLang="zh-CN" sz="1700" b="1" i="1" smtClean="0">
                              <a:latin typeface="Cambria Math" panose="02040503050406030204" pitchFamily="18" charset="0"/>
                            </a:rPr>
                            <m:t>𝑾</m:t>
                          </m:r>
                        </m:e>
                        <m:sub>
                          <m:r>
                            <a:rPr lang="en-US" altLang="zh-CN" sz="1700" b="1" i="1" smtClean="0">
                              <a:latin typeface="Cambria Math" panose="02040503050406030204" pitchFamily="18" charset="0"/>
                            </a:rPr>
                            <m:t>𝒔𝑹𝑮𝑩</m:t>
                          </m:r>
                        </m:sub>
                      </m:sSub>
                    </m:oMath>
                  </m:oMathPara>
                </a14:m>
                <a:endParaRPr lang="en-US" altLang="zh-CN" sz="17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zh-CN" altLang="en-US" sz="1700" b="1" i="1" dirty="0">
                          <a:latin typeface="Cambria Math" panose="02040503050406030204" pitchFamily="18" charset="0"/>
                        </a:rPr>
                        <m:t>解得</m:t>
                      </m:r>
                      <m:r>
                        <a:rPr lang="zh-CN" altLang="en-US" sz="1700" b="1" i="1" dirty="0" smtClean="0">
                          <a:latin typeface="Cambria Math" panose="02040503050406030204" pitchFamily="18" charset="0"/>
                        </a:rPr>
                        <m:t>：</m:t>
                      </m:r>
                      <m:sSub>
                        <m:sSubPr>
                          <m:ctrlPr>
                            <a:rPr lang="en-US" altLang="zh-CN" sz="1700" b="0" i="1" dirty="0" smtClean="0">
                              <a:latin typeface="Cambria Math" panose="02040503050406030204" pitchFamily="18" charset="0"/>
                            </a:rPr>
                          </m:ctrlPr>
                        </m:sSubPr>
                        <m:e>
                          <m:r>
                            <a:rPr lang="en-US" altLang="zh-CN" sz="1700" b="0" i="1" dirty="0" smtClean="0">
                              <a:latin typeface="Cambria Math" panose="02040503050406030204" pitchFamily="18" charset="0"/>
                            </a:rPr>
                            <m:t>𝑘</m:t>
                          </m:r>
                        </m:e>
                        <m:sub>
                          <m:r>
                            <a:rPr lang="en-US" altLang="zh-CN" sz="1700" b="0" i="1" dirty="0" smtClean="0">
                              <a:latin typeface="Cambria Math" panose="02040503050406030204" pitchFamily="18" charset="0"/>
                            </a:rPr>
                            <m:t>1</m:t>
                          </m:r>
                        </m:sub>
                      </m:sSub>
                      <m:r>
                        <a:rPr lang="en-US" altLang="zh-CN" sz="1700" b="0" i="1" dirty="0" smtClean="0">
                          <a:latin typeface="Cambria Math" panose="02040503050406030204" pitchFamily="18" charset="0"/>
                          <a:ea typeface="Cambria Math" panose="02040503050406030204" pitchFamily="18" charset="0"/>
                        </a:rPr>
                        <m:t>≈0.6444,  </m:t>
                      </m:r>
                      <m:sSub>
                        <m:sSubPr>
                          <m:ctrlPr>
                            <a:rPr lang="en-US" altLang="zh-CN" sz="1700" b="0" i="1" dirty="0" smtClean="0">
                              <a:latin typeface="Cambria Math" panose="02040503050406030204" pitchFamily="18" charset="0"/>
                              <a:ea typeface="Cambria Math" panose="02040503050406030204" pitchFamily="18" charset="0"/>
                            </a:rPr>
                          </m:ctrlPr>
                        </m:sSubPr>
                        <m:e>
                          <m:r>
                            <a:rPr lang="en-US" altLang="zh-CN" sz="1700" b="0" i="1" dirty="0" smtClean="0">
                              <a:latin typeface="Cambria Math" panose="02040503050406030204" pitchFamily="18" charset="0"/>
                              <a:ea typeface="Cambria Math" panose="02040503050406030204" pitchFamily="18" charset="0"/>
                            </a:rPr>
                            <m:t>𝑘</m:t>
                          </m:r>
                        </m:e>
                        <m:sub>
                          <m:r>
                            <a:rPr lang="en-US" altLang="zh-CN" sz="1700" b="0" i="1" dirty="0" smtClean="0">
                              <a:latin typeface="Cambria Math" panose="02040503050406030204" pitchFamily="18" charset="0"/>
                              <a:ea typeface="Cambria Math" panose="02040503050406030204" pitchFamily="18" charset="0"/>
                            </a:rPr>
                            <m:t>2</m:t>
                          </m:r>
                        </m:sub>
                      </m:sSub>
                      <m:r>
                        <a:rPr lang="en-US" altLang="zh-CN" sz="1700" i="1" dirty="0" smtClean="0">
                          <a:latin typeface="Cambria Math" panose="02040503050406030204" pitchFamily="18" charset="0"/>
                          <a:ea typeface="Cambria Math" panose="02040503050406030204" pitchFamily="18" charset="0"/>
                        </a:rPr>
                        <m:t>≈</m:t>
                      </m:r>
                      <m:r>
                        <a:rPr lang="en-US" altLang="zh-CN" sz="1700" b="0" i="1" dirty="0" smtClean="0">
                          <a:latin typeface="Cambria Math" panose="02040503050406030204" pitchFamily="18" charset="0"/>
                          <a:ea typeface="Cambria Math" panose="02040503050406030204" pitchFamily="18" charset="0"/>
                        </a:rPr>
                        <m:t>1.1919,  </m:t>
                      </m:r>
                      <m:sSub>
                        <m:sSubPr>
                          <m:ctrlPr>
                            <a:rPr lang="en-US" altLang="zh-CN" sz="1700" b="0" i="1" dirty="0" smtClean="0">
                              <a:latin typeface="Cambria Math" panose="02040503050406030204" pitchFamily="18" charset="0"/>
                              <a:ea typeface="Cambria Math" panose="02040503050406030204" pitchFamily="18" charset="0"/>
                            </a:rPr>
                          </m:ctrlPr>
                        </m:sSubPr>
                        <m:e>
                          <m:r>
                            <a:rPr lang="en-US" altLang="zh-CN" sz="1700" b="0" i="1" dirty="0" smtClean="0">
                              <a:latin typeface="Cambria Math" panose="02040503050406030204" pitchFamily="18" charset="0"/>
                              <a:ea typeface="Cambria Math" panose="02040503050406030204" pitchFamily="18" charset="0"/>
                            </a:rPr>
                            <m:t>𝑘</m:t>
                          </m:r>
                        </m:e>
                        <m:sub>
                          <m:r>
                            <a:rPr lang="en-US" altLang="zh-CN" sz="1700" b="0" i="1" dirty="0" smtClean="0">
                              <a:latin typeface="Cambria Math" panose="02040503050406030204" pitchFamily="18" charset="0"/>
                              <a:ea typeface="Cambria Math" panose="02040503050406030204" pitchFamily="18" charset="0"/>
                            </a:rPr>
                            <m:t>3</m:t>
                          </m:r>
                        </m:sub>
                      </m:sSub>
                      <m:r>
                        <a:rPr lang="en-US" altLang="zh-CN" sz="1700" i="1" dirty="0">
                          <a:latin typeface="Cambria Math" panose="02040503050406030204" pitchFamily="18" charset="0"/>
                          <a:ea typeface="Cambria Math" panose="02040503050406030204" pitchFamily="18" charset="0"/>
                        </a:rPr>
                        <m:t>≈</m:t>
                      </m:r>
                      <m:r>
                        <a:rPr lang="en-US" altLang="zh-CN" sz="1700" b="0" i="1" dirty="0" smtClean="0">
                          <a:latin typeface="Cambria Math" panose="02040503050406030204" pitchFamily="18" charset="0"/>
                          <a:ea typeface="Cambria Math" panose="02040503050406030204" pitchFamily="18" charset="0"/>
                        </a:rPr>
                        <m:t>1.2033</m:t>
                      </m:r>
                    </m:oMath>
                  </m:oMathPara>
                </a14:m>
                <a:endParaRPr lang="en-US" altLang="zh-CN" sz="1700" b="0" dirty="0">
                  <a:latin typeface="Noto Sans SC" panose="020B0200000000000000" pitchFamily="34" charset="-122"/>
                  <a:ea typeface="Cambria Math" panose="02040503050406030204" pitchFamily="18" charset="0"/>
                </a:endParaRPr>
              </a:p>
              <a:p>
                <a:pPr algn="just"/>
                <a:endParaRPr lang="en-US" altLang="zh-CN" sz="1700" b="0" dirty="0">
                  <a:latin typeface="Noto Sans SC" panose="020B0200000000000000" pitchFamily="34" charset="-122"/>
                  <a:ea typeface="Cambria Math" panose="02040503050406030204" pitchFamily="18" charset="0"/>
                </a:endParaRPr>
              </a:p>
              <a:p>
                <a:pPr algn="just"/>
                <a:r>
                  <a:rPr lang="zh-CN" altLang="en-US" sz="1700" dirty="0">
                    <a:latin typeface="Noto Sans SC" panose="020B0200000000000000" pitchFamily="34" charset="-122"/>
                    <a:ea typeface="Noto Sans SC" panose="020B0200000000000000" pitchFamily="34" charset="-122"/>
                  </a:rPr>
                  <a:t>         </a:t>
                </a:r>
                <a:r>
                  <a:rPr lang="zh-CN" altLang="en-US" sz="1700" b="1" dirty="0">
                    <a:latin typeface="Noto Sans SC" panose="020B0200000000000000" pitchFamily="34" charset="-122"/>
                    <a:ea typeface="Noto Sans SC" panose="020B0200000000000000" pitchFamily="34" charset="-122"/>
                  </a:rPr>
                  <a:t>怎么解？</a:t>
                </a:r>
                <a:endParaRPr lang="en-US" altLang="zh-CN" sz="17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sz="1700" i="1">
                              <a:latin typeface="Cambria Math" panose="02040503050406030204" pitchFamily="18" charset="0"/>
                            </a:rPr>
                          </m:ctrlPr>
                        </m:dPr>
                        <m:e>
                          <m:m>
                            <m:mPr>
                              <m:mcs>
                                <m:mc>
                                  <m:mcPr>
                                    <m:count m:val="3"/>
                                    <m:mcJc m:val="center"/>
                                  </m:mcPr>
                                </m:mc>
                              </m:mcs>
                              <m:ctrlPr>
                                <a:rPr lang="en-US" altLang="zh-CN" sz="1700" i="1">
                                  <a:latin typeface="Cambria Math" panose="02040503050406030204" pitchFamily="18" charset="0"/>
                                </a:rPr>
                              </m:ctrlPr>
                            </m:mPr>
                            <m:mr>
                              <m:e>
                                <m:r>
                                  <m:rPr>
                                    <m:brk m:alnAt="7"/>
                                  </m:rPr>
                                  <a:rPr lang="en-US" altLang="zh-CN" sz="1700" b="0" i="1" smtClean="0">
                                    <a:latin typeface="Cambria Math" panose="02040503050406030204" pitchFamily="18" charset="0"/>
                                  </a:rPr>
                                  <m:t>0</m:t>
                                </m:r>
                                <m:r>
                                  <a:rPr lang="en-US" altLang="zh-CN" sz="1700" b="0" i="1" smtClean="0">
                                    <a:latin typeface="Cambria Math" panose="02040503050406030204" pitchFamily="18" charset="0"/>
                                  </a:rPr>
                                  <m:t>.64</m:t>
                                </m:r>
                                <m:sSub>
                                  <m:sSubPr>
                                    <m:ctrlPr>
                                      <a:rPr lang="en-US" altLang="zh-CN" sz="1700" i="1">
                                        <a:latin typeface="Cambria Math" panose="02040503050406030204" pitchFamily="18" charset="0"/>
                                      </a:rPr>
                                    </m:ctrlPr>
                                  </m:sSubPr>
                                  <m:e>
                                    <m:r>
                                      <m:rPr>
                                        <m:brk m:alnAt="7"/>
                                      </m:rPr>
                                      <a:rPr lang="en-US" altLang="zh-CN" sz="1700" i="1">
                                        <a:latin typeface="Cambria Math" panose="02040503050406030204" pitchFamily="18" charset="0"/>
                                      </a:rPr>
                                      <m:t>𝑘</m:t>
                                    </m:r>
                                  </m:e>
                                  <m:sub>
                                    <m:r>
                                      <m:rPr>
                                        <m:brk m:alnAt="7"/>
                                      </m:rPr>
                                      <a:rPr lang="en-US" altLang="zh-CN" sz="1700" i="1">
                                        <a:latin typeface="Cambria Math" panose="02040503050406030204" pitchFamily="18" charset="0"/>
                                      </a:rPr>
                                      <m:t>1</m:t>
                                    </m:r>
                                  </m:sub>
                                </m:sSub>
                              </m:e>
                              <m:e>
                                <m:r>
                                  <a:rPr lang="en-US" altLang="zh-CN" sz="1700" b="0" i="1" smtClean="0">
                                    <a:latin typeface="Cambria Math" panose="02040503050406030204" pitchFamily="18" charset="0"/>
                                  </a:rPr>
                                  <m:t>0.30</m:t>
                                </m:r>
                                <m:sSub>
                                  <m:sSubPr>
                                    <m:ctrlPr>
                                      <a:rPr lang="en-US" altLang="zh-CN" sz="1700" b="0" i="1" smtClean="0">
                                        <a:latin typeface="Cambria Math" panose="02040503050406030204" pitchFamily="18" charset="0"/>
                                      </a:rPr>
                                    </m:ctrlPr>
                                  </m:sSubPr>
                                  <m:e>
                                    <m:r>
                                      <a:rPr lang="en-US" altLang="zh-CN" sz="1700" b="0" i="1" smtClean="0">
                                        <a:latin typeface="Cambria Math" panose="02040503050406030204" pitchFamily="18" charset="0"/>
                                      </a:rPr>
                                      <m:t>𝑘</m:t>
                                    </m:r>
                                  </m:e>
                                  <m:sub>
                                    <m:r>
                                      <a:rPr lang="en-US" altLang="zh-CN" sz="1700" b="0" i="1" smtClean="0">
                                        <a:latin typeface="Cambria Math" panose="02040503050406030204" pitchFamily="18" charset="0"/>
                                      </a:rPr>
                                      <m:t>2</m:t>
                                    </m:r>
                                  </m:sub>
                                </m:sSub>
                              </m:e>
                              <m:e>
                                <m:r>
                                  <a:rPr lang="en-US" altLang="zh-CN" sz="1700" b="0" i="1" smtClean="0">
                                    <a:latin typeface="Cambria Math" panose="02040503050406030204" pitchFamily="18" charset="0"/>
                                  </a:rPr>
                                  <m:t>0.15</m:t>
                                </m:r>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𝑘</m:t>
                                    </m:r>
                                  </m:e>
                                  <m:sub>
                                    <m:r>
                                      <a:rPr lang="en-US" altLang="zh-CN" sz="1700" b="0" i="1" smtClean="0">
                                        <a:latin typeface="Cambria Math" panose="02040503050406030204" pitchFamily="18" charset="0"/>
                                      </a:rPr>
                                      <m:t>3</m:t>
                                    </m:r>
                                  </m:sub>
                                </m:sSub>
                              </m:e>
                            </m:mr>
                            <m:mr>
                              <m:e>
                                <m:r>
                                  <a:rPr lang="en-US" altLang="zh-CN" sz="1700" b="0" i="1" smtClean="0">
                                    <a:latin typeface="Cambria Math" panose="02040503050406030204" pitchFamily="18" charset="0"/>
                                  </a:rPr>
                                  <m:t>0.33</m:t>
                                </m:r>
                                <m:sSub>
                                  <m:sSubPr>
                                    <m:ctrlPr>
                                      <a:rPr lang="en-US" altLang="zh-CN" sz="1700" i="1">
                                        <a:latin typeface="Cambria Math" panose="02040503050406030204" pitchFamily="18" charset="0"/>
                                      </a:rPr>
                                    </m:ctrlPr>
                                  </m:sSubPr>
                                  <m:e>
                                    <m:r>
                                      <m:rPr>
                                        <m:brk m:alnAt="7"/>
                                      </m:rPr>
                                      <a:rPr lang="en-US" altLang="zh-CN" sz="1700" i="1">
                                        <a:latin typeface="Cambria Math" panose="02040503050406030204" pitchFamily="18" charset="0"/>
                                      </a:rPr>
                                      <m:t>𝑘</m:t>
                                    </m:r>
                                  </m:e>
                                  <m:sub>
                                    <m:r>
                                      <m:rPr>
                                        <m:brk m:alnAt="7"/>
                                      </m:rPr>
                                      <a:rPr lang="en-US" altLang="zh-CN" sz="1700" i="1">
                                        <a:latin typeface="Cambria Math" panose="02040503050406030204" pitchFamily="18" charset="0"/>
                                      </a:rPr>
                                      <m:t>1</m:t>
                                    </m:r>
                                  </m:sub>
                                </m:sSub>
                              </m:e>
                              <m:e>
                                <m:r>
                                  <a:rPr lang="en-US" altLang="zh-CN" sz="1700" b="0" i="1" smtClean="0">
                                    <a:latin typeface="Cambria Math" panose="02040503050406030204" pitchFamily="18" charset="0"/>
                                  </a:rPr>
                                  <m:t>0.60</m:t>
                                </m:r>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𝑘</m:t>
                                    </m:r>
                                  </m:e>
                                  <m:sub>
                                    <m:r>
                                      <a:rPr lang="en-US" altLang="zh-CN" sz="1700" i="1">
                                        <a:latin typeface="Cambria Math" panose="02040503050406030204" pitchFamily="18" charset="0"/>
                                      </a:rPr>
                                      <m:t>2</m:t>
                                    </m:r>
                                  </m:sub>
                                </m:sSub>
                              </m:e>
                              <m:e>
                                <m:r>
                                  <a:rPr lang="en-US" altLang="zh-CN" sz="1700" b="0" i="1" smtClean="0">
                                    <a:latin typeface="Cambria Math" panose="02040503050406030204" pitchFamily="18" charset="0"/>
                                  </a:rPr>
                                  <m:t>0.06</m:t>
                                </m:r>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𝑘</m:t>
                                    </m:r>
                                  </m:e>
                                  <m:sub>
                                    <m:r>
                                      <a:rPr lang="en-US" altLang="zh-CN" sz="1700" i="1">
                                        <a:latin typeface="Cambria Math" panose="02040503050406030204" pitchFamily="18" charset="0"/>
                                      </a:rPr>
                                      <m:t>3</m:t>
                                    </m:r>
                                  </m:sub>
                                </m:sSub>
                              </m:e>
                            </m:mr>
                            <m:mr>
                              <m:e>
                                <m:r>
                                  <a:rPr lang="en-US" altLang="zh-CN" sz="1700" b="0" i="1" smtClean="0">
                                    <a:latin typeface="Cambria Math" panose="02040503050406030204" pitchFamily="18" charset="0"/>
                                  </a:rPr>
                                  <m:t>0.03</m:t>
                                </m:r>
                                <m:sSub>
                                  <m:sSubPr>
                                    <m:ctrlPr>
                                      <a:rPr lang="en-US" altLang="zh-CN" sz="1700" i="1">
                                        <a:latin typeface="Cambria Math" panose="02040503050406030204" pitchFamily="18" charset="0"/>
                                      </a:rPr>
                                    </m:ctrlPr>
                                  </m:sSubPr>
                                  <m:e>
                                    <m:r>
                                      <m:rPr>
                                        <m:brk m:alnAt="7"/>
                                      </m:rPr>
                                      <a:rPr lang="en-US" altLang="zh-CN" sz="1700" i="1">
                                        <a:latin typeface="Cambria Math" panose="02040503050406030204" pitchFamily="18" charset="0"/>
                                      </a:rPr>
                                      <m:t>𝑘</m:t>
                                    </m:r>
                                  </m:e>
                                  <m:sub>
                                    <m:r>
                                      <m:rPr>
                                        <m:brk m:alnAt="7"/>
                                      </m:rPr>
                                      <a:rPr lang="en-US" altLang="zh-CN" sz="1700" i="1">
                                        <a:latin typeface="Cambria Math" panose="02040503050406030204" pitchFamily="18" charset="0"/>
                                      </a:rPr>
                                      <m:t>1</m:t>
                                    </m:r>
                                  </m:sub>
                                </m:sSub>
                              </m:e>
                              <m:e>
                                <m:r>
                                  <a:rPr lang="en-US" altLang="zh-CN" sz="1700" b="0" i="1" smtClean="0">
                                    <a:latin typeface="Cambria Math" panose="02040503050406030204" pitchFamily="18" charset="0"/>
                                  </a:rPr>
                                  <m:t>0.10</m:t>
                                </m:r>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𝑘</m:t>
                                    </m:r>
                                  </m:e>
                                  <m:sub>
                                    <m:r>
                                      <a:rPr lang="en-US" altLang="zh-CN" sz="1700" i="1">
                                        <a:latin typeface="Cambria Math" panose="02040503050406030204" pitchFamily="18" charset="0"/>
                                      </a:rPr>
                                      <m:t>2</m:t>
                                    </m:r>
                                  </m:sub>
                                </m:sSub>
                              </m:e>
                              <m:e>
                                <m:r>
                                  <a:rPr lang="en-US" altLang="zh-CN" sz="1700" b="0" i="1" smtClean="0">
                                    <a:latin typeface="Cambria Math" panose="02040503050406030204" pitchFamily="18" charset="0"/>
                                  </a:rPr>
                                  <m:t>0.79</m:t>
                                </m:r>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𝑘</m:t>
                                    </m:r>
                                  </m:e>
                                  <m:sub>
                                    <m:r>
                                      <a:rPr lang="en-US" altLang="zh-CN" sz="1700" i="1">
                                        <a:latin typeface="Cambria Math" panose="02040503050406030204" pitchFamily="18" charset="0"/>
                                      </a:rPr>
                                      <m:t>3</m:t>
                                    </m:r>
                                  </m:sub>
                                </m:sSub>
                              </m:e>
                            </m:mr>
                          </m:m>
                        </m:e>
                      </m:d>
                      <m:d>
                        <m:dPr>
                          <m:begChr m:val="["/>
                          <m:endChr m:val="]"/>
                          <m:ctrlPr>
                            <a:rPr lang="en-US" altLang="zh-CN" sz="1700" i="1">
                              <a:latin typeface="Cambria Math" panose="02040503050406030204" pitchFamily="18" charset="0"/>
                            </a:rPr>
                          </m:ctrlPr>
                        </m:dPr>
                        <m:e>
                          <m:eqArr>
                            <m:eqArrPr>
                              <m:ctrlPr>
                                <a:rPr lang="en-US" altLang="zh-CN" sz="1700" i="1">
                                  <a:latin typeface="Cambria Math" panose="02040503050406030204" pitchFamily="18" charset="0"/>
                                </a:rPr>
                              </m:ctrlPr>
                            </m:eqArrPr>
                            <m:e>
                              <m:r>
                                <a:rPr lang="en-US" altLang="zh-CN" sz="1700" i="1">
                                  <a:latin typeface="Cambria Math" panose="02040503050406030204" pitchFamily="18" charset="0"/>
                                </a:rPr>
                                <m:t>1</m:t>
                              </m:r>
                            </m:e>
                            <m:e>
                              <m:r>
                                <a:rPr lang="en-US" altLang="zh-CN" sz="1700" i="1">
                                  <a:latin typeface="Cambria Math" panose="02040503050406030204" pitchFamily="18" charset="0"/>
                                </a:rPr>
                                <m:t>1</m:t>
                              </m:r>
                            </m:e>
                            <m:e>
                              <m:r>
                                <a:rPr lang="en-US" altLang="zh-CN" sz="1700" i="1">
                                  <a:latin typeface="Cambria Math" panose="02040503050406030204" pitchFamily="18" charset="0"/>
                                </a:rPr>
                                <m:t>1</m:t>
                              </m:r>
                            </m:e>
                          </m:eqArr>
                        </m:e>
                      </m:d>
                      <m:r>
                        <a:rPr lang="en-US" altLang="zh-CN" sz="1700" i="1">
                          <a:latin typeface="Cambria Math" panose="02040503050406030204" pitchFamily="18" charset="0"/>
                        </a:rPr>
                        <m:t>=</m:t>
                      </m:r>
                      <m:d>
                        <m:dPr>
                          <m:begChr m:val="["/>
                          <m:endChr m:val="]"/>
                          <m:ctrlPr>
                            <a:rPr lang="en-US" altLang="zh-CN" sz="1700" i="1">
                              <a:latin typeface="Cambria Math" panose="02040503050406030204" pitchFamily="18" charset="0"/>
                            </a:rPr>
                          </m:ctrlPr>
                        </m:dPr>
                        <m:e>
                          <m:eqArr>
                            <m:eqArrPr>
                              <m:ctrlPr>
                                <a:rPr lang="en-US" altLang="zh-CN" sz="1700" i="1">
                                  <a:latin typeface="Cambria Math" panose="02040503050406030204" pitchFamily="18" charset="0"/>
                                </a:rPr>
                              </m:ctrlPr>
                            </m:eqArrPr>
                            <m:e>
                              <m:r>
                                <a:rPr lang="en-US" altLang="zh-CN" sz="1700" i="1">
                                  <a:latin typeface="Cambria Math" panose="02040503050406030204" pitchFamily="18" charset="0"/>
                                </a:rPr>
                                <m:t>0.9505</m:t>
                              </m:r>
                            </m:e>
                            <m:e>
                              <m:r>
                                <a:rPr lang="en-US" altLang="zh-CN" sz="1700" i="1">
                                  <a:latin typeface="Cambria Math" panose="02040503050406030204" pitchFamily="18" charset="0"/>
                                </a:rPr>
                                <m:t>1</m:t>
                              </m:r>
                            </m:e>
                            <m:e>
                              <m:r>
                                <a:rPr lang="en-US" altLang="zh-CN" sz="1700" i="1">
                                  <a:latin typeface="Cambria Math" panose="02040503050406030204" pitchFamily="18" charset="0"/>
                                </a:rPr>
                                <m:t>1.0891</m:t>
                              </m:r>
                            </m:e>
                          </m:eqArr>
                        </m:e>
                      </m:d>
                    </m:oMath>
                  </m:oMathPara>
                </a14:m>
                <a:endParaRPr lang="en-US" altLang="zh-CN" sz="17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sz="1700" i="1">
                              <a:latin typeface="Cambria Math" panose="02040503050406030204" pitchFamily="18" charset="0"/>
                            </a:rPr>
                          </m:ctrlPr>
                        </m:dPr>
                        <m:e>
                          <m:m>
                            <m:mPr>
                              <m:mcs>
                                <m:mc>
                                  <m:mcPr>
                                    <m:count m:val="3"/>
                                    <m:mcJc m:val="center"/>
                                  </m:mcPr>
                                </m:mc>
                              </m:mcs>
                              <m:ctrlPr>
                                <a:rPr lang="en-US" altLang="zh-CN" sz="1700" i="1">
                                  <a:latin typeface="Cambria Math" panose="02040503050406030204" pitchFamily="18" charset="0"/>
                                </a:rPr>
                              </m:ctrlPr>
                            </m:mPr>
                            <m:mr>
                              <m:e>
                                <m:r>
                                  <m:rPr>
                                    <m:brk m:alnAt="7"/>
                                  </m:rPr>
                                  <a:rPr lang="en-US" altLang="zh-CN" sz="1700" i="1">
                                    <a:latin typeface="Cambria Math" panose="02040503050406030204" pitchFamily="18" charset="0"/>
                                  </a:rPr>
                                  <m:t>0</m:t>
                                </m:r>
                                <m:r>
                                  <a:rPr lang="en-US" altLang="zh-CN" sz="1700" i="1">
                                    <a:latin typeface="Cambria Math" panose="02040503050406030204" pitchFamily="18" charset="0"/>
                                  </a:rPr>
                                  <m:t>.64</m:t>
                                </m:r>
                              </m:e>
                              <m:e>
                                <m:r>
                                  <a:rPr lang="en-US" altLang="zh-CN" sz="1700" i="1">
                                    <a:latin typeface="Cambria Math" panose="02040503050406030204" pitchFamily="18" charset="0"/>
                                  </a:rPr>
                                  <m:t>0.30</m:t>
                                </m:r>
                              </m:e>
                              <m:e>
                                <m:r>
                                  <a:rPr lang="en-US" altLang="zh-CN" sz="1700" i="1">
                                    <a:latin typeface="Cambria Math" panose="02040503050406030204" pitchFamily="18" charset="0"/>
                                  </a:rPr>
                                  <m:t>0.15</m:t>
                                </m:r>
                              </m:e>
                            </m:mr>
                            <m:mr>
                              <m:e>
                                <m:r>
                                  <a:rPr lang="en-US" altLang="zh-CN" sz="1700" i="1">
                                    <a:latin typeface="Cambria Math" panose="02040503050406030204" pitchFamily="18" charset="0"/>
                                  </a:rPr>
                                  <m:t>0.33</m:t>
                                </m:r>
                              </m:e>
                              <m:e>
                                <m:r>
                                  <a:rPr lang="en-US" altLang="zh-CN" sz="1700" i="1">
                                    <a:latin typeface="Cambria Math" panose="02040503050406030204" pitchFamily="18" charset="0"/>
                                  </a:rPr>
                                  <m:t>0.60</m:t>
                                </m:r>
                              </m:e>
                              <m:e>
                                <m:r>
                                  <a:rPr lang="en-US" altLang="zh-CN" sz="1700" i="1">
                                    <a:latin typeface="Cambria Math" panose="02040503050406030204" pitchFamily="18" charset="0"/>
                                  </a:rPr>
                                  <m:t>0.06</m:t>
                                </m:r>
                              </m:e>
                            </m:mr>
                            <m:mr>
                              <m:e>
                                <m:r>
                                  <a:rPr lang="en-US" altLang="zh-CN" sz="1700" i="1">
                                    <a:latin typeface="Cambria Math" panose="02040503050406030204" pitchFamily="18" charset="0"/>
                                  </a:rPr>
                                  <m:t>0.03</m:t>
                                </m:r>
                              </m:e>
                              <m:e>
                                <m:r>
                                  <a:rPr lang="en-US" altLang="zh-CN" sz="1700" i="1">
                                    <a:latin typeface="Cambria Math" panose="02040503050406030204" pitchFamily="18" charset="0"/>
                                  </a:rPr>
                                  <m:t>0.10</m:t>
                                </m:r>
                              </m:e>
                              <m:e>
                                <m:r>
                                  <a:rPr lang="en-US" altLang="zh-CN" sz="1700" i="1">
                                    <a:latin typeface="Cambria Math" panose="02040503050406030204" pitchFamily="18" charset="0"/>
                                  </a:rPr>
                                  <m:t>0.79</m:t>
                                </m:r>
                              </m:e>
                            </m:mr>
                          </m:m>
                        </m:e>
                      </m:d>
                      <m:d>
                        <m:dPr>
                          <m:begChr m:val="["/>
                          <m:endChr m:val="]"/>
                          <m:ctrlPr>
                            <a:rPr lang="en-US" altLang="zh-CN" sz="1700" i="1">
                              <a:latin typeface="Cambria Math" panose="02040503050406030204" pitchFamily="18" charset="0"/>
                            </a:rPr>
                          </m:ctrlPr>
                        </m:dPr>
                        <m:e>
                          <m:eqArr>
                            <m:eqArrPr>
                              <m:ctrlPr>
                                <a:rPr lang="en-US" altLang="zh-CN" sz="1700" i="1">
                                  <a:latin typeface="Cambria Math" panose="02040503050406030204" pitchFamily="18" charset="0"/>
                                </a:rPr>
                              </m:ctrlPr>
                            </m:eqArrPr>
                            <m:e>
                              <m:sSub>
                                <m:sSubPr>
                                  <m:ctrlPr>
                                    <a:rPr lang="en-US" altLang="zh-CN" sz="1700" b="0" i="1" smtClean="0">
                                      <a:latin typeface="Cambria Math" panose="02040503050406030204" pitchFamily="18" charset="0"/>
                                    </a:rPr>
                                  </m:ctrlPr>
                                </m:sSubPr>
                                <m:e>
                                  <m:r>
                                    <a:rPr lang="en-US" altLang="zh-CN" sz="1700" b="0" i="1" smtClean="0">
                                      <a:latin typeface="Cambria Math" panose="02040503050406030204" pitchFamily="18" charset="0"/>
                                    </a:rPr>
                                    <m:t>𝑘</m:t>
                                  </m:r>
                                </m:e>
                                <m:sub>
                                  <m:r>
                                    <a:rPr lang="en-US" altLang="zh-CN" sz="1700" b="0" i="1" smtClean="0">
                                      <a:latin typeface="Cambria Math" panose="02040503050406030204" pitchFamily="18" charset="0"/>
                                    </a:rPr>
                                    <m:t>1</m:t>
                                  </m:r>
                                </m:sub>
                              </m:sSub>
                            </m:e>
                            <m:e>
                              <m:sSub>
                                <m:sSubPr>
                                  <m:ctrlPr>
                                    <a:rPr lang="en-US" altLang="zh-CN" sz="1700" b="0" i="1" smtClean="0">
                                      <a:latin typeface="Cambria Math" panose="02040503050406030204" pitchFamily="18" charset="0"/>
                                    </a:rPr>
                                  </m:ctrlPr>
                                </m:sSubPr>
                                <m:e>
                                  <m:r>
                                    <a:rPr lang="en-US" altLang="zh-CN" sz="1700" b="0" i="1" smtClean="0">
                                      <a:latin typeface="Cambria Math" panose="02040503050406030204" pitchFamily="18" charset="0"/>
                                    </a:rPr>
                                    <m:t>𝑘</m:t>
                                  </m:r>
                                </m:e>
                                <m:sub>
                                  <m:r>
                                    <a:rPr lang="en-US" altLang="zh-CN" sz="1700" b="0" i="1" smtClean="0">
                                      <a:latin typeface="Cambria Math" panose="02040503050406030204" pitchFamily="18" charset="0"/>
                                    </a:rPr>
                                    <m:t>2</m:t>
                                  </m:r>
                                </m:sub>
                              </m:sSub>
                            </m:e>
                            <m:e>
                              <m:sSub>
                                <m:sSubPr>
                                  <m:ctrlPr>
                                    <a:rPr lang="en-US" altLang="zh-CN" sz="1700" b="0" i="1" smtClean="0">
                                      <a:latin typeface="Cambria Math" panose="02040503050406030204" pitchFamily="18" charset="0"/>
                                    </a:rPr>
                                  </m:ctrlPr>
                                </m:sSubPr>
                                <m:e>
                                  <m:r>
                                    <a:rPr lang="en-US" altLang="zh-CN" sz="1700" b="0" i="1" smtClean="0">
                                      <a:latin typeface="Cambria Math" panose="02040503050406030204" pitchFamily="18" charset="0"/>
                                    </a:rPr>
                                    <m:t>𝑘</m:t>
                                  </m:r>
                                </m:e>
                                <m:sub>
                                  <m:r>
                                    <a:rPr lang="en-US" altLang="zh-CN" sz="1700" b="0" i="1" smtClean="0">
                                      <a:latin typeface="Cambria Math" panose="02040503050406030204" pitchFamily="18" charset="0"/>
                                    </a:rPr>
                                    <m:t>3</m:t>
                                  </m:r>
                                </m:sub>
                              </m:sSub>
                            </m:e>
                          </m:eqArr>
                        </m:e>
                      </m:d>
                      <m:r>
                        <a:rPr lang="en-US" altLang="zh-CN" sz="1700" i="1">
                          <a:latin typeface="Cambria Math" panose="02040503050406030204" pitchFamily="18" charset="0"/>
                        </a:rPr>
                        <m:t>=</m:t>
                      </m:r>
                      <m:d>
                        <m:dPr>
                          <m:begChr m:val="["/>
                          <m:endChr m:val="]"/>
                          <m:ctrlPr>
                            <a:rPr lang="en-US" altLang="zh-CN" sz="1700" i="1">
                              <a:latin typeface="Cambria Math" panose="02040503050406030204" pitchFamily="18" charset="0"/>
                            </a:rPr>
                          </m:ctrlPr>
                        </m:dPr>
                        <m:e>
                          <m:eqArr>
                            <m:eqArrPr>
                              <m:ctrlPr>
                                <a:rPr lang="en-US" altLang="zh-CN" sz="1700" i="1">
                                  <a:latin typeface="Cambria Math" panose="02040503050406030204" pitchFamily="18" charset="0"/>
                                </a:rPr>
                              </m:ctrlPr>
                            </m:eqArrPr>
                            <m:e>
                              <m:r>
                                <a:rPr lang="en-US" altLang="zh-CN" sz="1700" i="1">
                                  <a:latin typeface="Cambria Math" panose="02040503050406030204" pitchFamily="18" charset="0"/>
                                </a:rPr>
                                <m:t>0.9505</m:t>
                              </m:r>
                            </m:e>
                            <m:e>
                              <m:r>
                                <a:rPr lang="en-US" altLang="zh-CN" sz="1700" i="1">
                                  <a:latin typeface="Cambria Math" panose="02040503050406030204" pitchFamily="18" charset="0"/>
                                </a:rPr>
                                <m:t>1</m:t>
                              </m:r>
                            </m:e>
                            <m:e>
                              <m:r>
                                <a:rPr lang="en-US" altLang="zh-CN" sz="1700" i="1">
                                  <a:latin typeface="Cambria Math" panose="02040503050406030204" pitchFamily="18" charset="0"/>
                                </a:rPr>
                                <m:t>1.0891</m:t>
                              </m:r>
                            </m:e>
                          </m:eqArr>
                        </m:e>
                      </m:d>
                    </m:oMath>
                  </m:oMathPara>
                </a14:m>
                <a:endParaRPr lang="en-US" altLang="zh-CN" sz="1700" b="1"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d>
                        <m:dPr>
                          <m:begChr m:val="["/>
                          <m:endChr m:val="]"/>
                          <m:ctrlPr>
                            <a:rPr lang="en-US" altLang="zh-CN" sz="1700" i="1">
                              <a:latin typeface="Cambria Math" panose="02040503050406030204" pitchFamily="18" charset="0"/>
                            </a:rPr>
                          </m:ctrlPr>
                        </m:dPr>
                        <m:e>
                          <m:eqArr>
                            <m:eqArrPr>
                              <m:ctrlPr>
                                <a:rPr lang="en-US" altLang="zh-CN" sz="1700" i="1">
                                  <a:latin typeface="Cambria Math" panose="02040503050406030204" pitchFamily="18" charset="0"/>
                                </a:rPr>
                              </m:ctrlPr>
                            </m:eqArrPr>
                            <m:e>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𝑘</m:t>
                                  </m:r>
                                </m:e>
                                <m:sub>
                                  <m:r>
                                    <a:rPr lang="en-US" altLang="zh-CN" sz="1700" i="1">
                                      <a:latin typeface="Cambria Math" panose="02040503050406030204" pitchFamily="18" charset="0"/>
                                    </a:rPr>
                                    <m:t>1</m:t>
                                  </m:r>
                                </m:sub>
                              </m:sSub>
                            </m:e>
                            <m:e>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𝑘</m:t>
                                  </m:r>
                                </m:e>
                                <m:sub>
                                  <m:r>
                                    <a:rPr lang="en-US" altLang="zh-CN" sz="1700" i="1">
                                      <a:latin typeface="Cambria Math" panose="02040503050406030204" pitchFamily="18" charset="0"/>
                                    </a:rPr>
                                    <m:t>2</m:t>
                                  </m:r>
                                </m:sub>
                              </m:sSub>
                            </m:e>
                            <m:e>
                              <m:sSub>
                                <m:sSubPr>
                                  <m:ctrlPr>
                                    <a:rPr lang="en-US" altLang="zh-CN" sz="1700" i="1">
                                      <a:latin typeface="Cambria Math" panose="02040503050406030204" pitchFamily="18" charset="0"/>
                                    </a:rPr>
                                  </m:ctrlPr>
                                </m:sSubPr>
                                <m:e>
                                  <m:r>
                                    <a:rPr lang="en-US" altLang="zh-CN" sz="1700" i="1">
                                      <a:latin typeface="Cambria Math" panose="02040503050406030204" pitchFamily="18" charset="0"/>
                                    </a:rPr>
                                    <m:t>𝑘</m:t>
                                  </m:r>
                                </m:e>
                                <m:sub>
                                  <m:r>
                                    <a:rPr lang="en-US" altLang="zh-CN" sz="1700" i="1">
                                      <a:latin typeface="Cambria Math" panose="02040503050406030204" pitchFamily="18" charset="0"/>
                                    </a:rPr>
                                    <m:t>3</m:t>
                                  </m:r>
                                </m:sub>
                              </m:sSub>
                            </m:e>
                          </m:eqArr>
                        </m:e>
                      </m:d>
                      <m:r>
                        <a:rPr lang="en-US" altLang="zh-CN" sz="1700" b="0" i="1" smtClean="0">
                          <a:latin typeface="Cambria Math" panose="02040503050406030204" pitchFamily="18" charset="0"/>
                        </a:rPr>
                        <m:t>=</m:t>
                      </m:r>
                      <m:sSup>
                        <m:sSupPr>
                          <m:ctrlPr>
                            <a:rPr lang="en-US" altLang="zh-CN" sz="1700" i="1">
                              <a:latin typeface="Cambria Math" panose="02040503050406030204" pitchFamily="18" charset="0"/>
                            </a:rPr>
                          </m:ctrlPr>
                        </m:sSupPr>
                        <m:e>
                          <m:d>
                            <m:dPr>
                              <m:begChr m:val="["/>
                              <m:endChr m:val="]"/>
                              <m:ctrlPr>
                                <a:rPr lang="en-US" altLang="zh-CN" sz="1700" i="1">
                                  <a:latin typeface="Cambria Math" panose="02040503050406030204" pitchFamily="18" charset="0"/>
                                </a:rPr>
                              </m:ctrlPr>
                            </m:dPr>
                            <m:e>
                              <m:m>
                                <m:mPr>
                                  <m:mcs>
                                    <m:mc>
                                      <m:mcPr>
                                        <m:count m:val="3"/>
                                        <m:mcJc m:val="center"/>
                                      </m:mcPr>
                                    </m:mc>
                                  </m:mcs>
                                  <m:ctrlPr>
                                    <a:rPr lang="en-US" altLang="zh-CN" sz="1700" i="1">
                                      <a:latin typeface="Cambria Math" panose="02040503050406030204" pitchFamily="18" charset="0"/>
                                    </a:rPr>
                                  </m:ctrlPr>
                                </m:mPr>
                                <m:mr>
                                  <m:e>
                                    <m:r>
                                      <m:rPr>
                                        <m:brk m:alnAt="7"/>
                                      </m:rPr>
                                      <a:rPr lang="en-US" altLang="zh-CN" sz="1700" i="1">
                                        <a:latin typeface="Cambria Math" panose="02040503050406030204" pitchFamily="18" charset="0"/>
                                      </a:rPr>
                                      <m:t>0</m:t>
                                    </m:r>
                                    <m:r>
                                      <a:rPr lang="en-US" altLang="zh-CN" sz="1700" i="1">
                                        <a:latin typeface="Cambria Math" panose="02040503050406030204" pitchFamily="18" charset="0"/>
                                      </a:rPr>
                                      <m:t>.64</m:t>
                                    </m:r>
                                  </m:e>
                                  <m:e>
                                    <m:r>
                                      <a:rPr lang="en-US" altLang="zh-CN" sz="1700" i="1">
                                        <a:latin typeface="Cambria Math" panose="02040503050406030204" pitchFamily="18" charset="0"/>
                                      </a:rPr>
                                      <m:t>0.30</m:t>
                                    </m:r>
                                  </m:e>
                                  <m:e>
                                    <m:r>
                                      <a:rPr lang="en-US" altLang="zh-CN" sz="1700" i="1">
                                        <a:latin typeface="Cambria Math" panose="02040503050406030204" pitchFamily="18" charset="0"/>
                                      </a:rPr>
                                      <m:t>0.15</m:t>
                                    </m:r>
                                  </m:e>
                                </m:mr>
                                <m:mr>
                                  <m:e>
                                    <m:r>
                                      <a:rPr lang="en-US" altLang="zh-CN" sz="1700" i="1">
                                        <a:latin typeface="Cambria Math" panose="02040503050406030204" pitchFamily="18" charset="0"/>
                                      </a:rPr>
                                      <m:t>0.33</m:t>
                                    </m:r>
                                  </m:e>
                                  <m:e>
                                    <m:r>
                                      <a:rPr lang="en-US" altLang="zh-CN" sz="1700" i="1">
                                        <a:latin typeface="Cambria Math" panose="02040503050406030204" pitchFamily="18" charset="0"/>
                                      </a:rPr>
                                      <m:t>0.60</m:t>
                                    </m:r>
                                  </m:e>
                                  <m:e>
                                    <m:r>
                                      <a:rPr lang="en-US" altLang="zh-CN" sz="1700" i="1">
                                        <a:latin typeface="Cambria Math" panose="02040503050406030204" pitchFamily="18" charset="0"/>
                                      </a:rPr>
                                      <m:t>0.06</m:t>
                                    </m:r>
                                  </m:e>
                                </m:mr>
                                <m:mr>
                                  <m:e>
                                    <m:r>
                                      <a:rPr lang="en-US" altLang="zh-CN" sz="1700" i="1">
                                        <a:latin typeface="Cambria Math" panose="02040503050406030204" pitchFamily="18" charset="0"/>
                                      </a:rPr>
                                      <m:t>0.03</m:t>
                                    </m:r>
                                  </m:e>
                                  <m:e>
                                    <m:r>
                                      <a:rPr lang="en-US" altLang="zh-CN" sz="1700" i="1">
                                        <a:latin typeface="Cambria Math" panose="02040503050406030204" pitchFamily="18" charset="0"/>
                                      </a:rPr>
                                      <m:t>0.10</m:t>
                                    </m:r>
                                  </m:e>
                                  <m:e>
                                    <m:r>
                                      <a:rPr lang="en-US" altLang="zh-CN" sz="1700" i="1">
                                        <a:latin typeface="Cambria Math" panose="02040503050406030204" pitchFamily="18" charset="0"/>
                                      </a:rPr>
                                      <m:t>0.79</m:t>
                                    </m:r>
                                  </m:e>
                                </m:mr>
                              </m:m>
                            </m:e>
                          </m:d>
                        </m:e>
                        <m:sup>
                          <m:r>
                            <a:rPr lang="en-US" altLang="zh-CN" sz="1700" b="0" i="1" smtClean="0">
                              <a:latin typeface="Cambria Math" panose="02040503050406030204" pitchFamily="18" charset="0"/>
                            </a:rPr>
                            <m:t>−1</m:t>
                          </m:r>
                        </m:sup>
                      </m:sSup>
                      <m:d>
                        <m:dPr>
                          <m:begChr m:val="["/>
                          <m:endChr m:val="]"/>
                          <m:ctrlPr>
                            <a:rPr lang="en-US" altLang="zh-CN" sz="1700" i="1">
                              <a:latin typeface="Cambria Math" panose="02040503050406030204" pitchFamily="18" charset="0"/>
                            </a:rPr>
                          </m:ctrlPr>
                        </m:dPr>
                        <m:e>
                          <m:eqArr>
                            <m:eqArrPr>
                              <m:ctrlPr>
                                <a:rPr lang="en-US" altLang="zh-CN" sz="1700" i="1">
                                  <a:latin typeface="Cambria Math" panose="02040503050406030204" pitchFamily="18" charset="0"/>
                                </a:rPr>
                              </m:ctrlPr>
                            </m:eqArrPr>
                            <m:e>
                              <m:r>
                                <a:rPr lang="en-US" altLang="zh-CN" sz="1700" i="1">
                                  <a:latin typeface="Cambria Math" panose="02040503050406030204" pitchFamily="18" charset="0"/>
                                </a:rPr>
                                <m:t>0.9505</m:t>
                              </m:r>
                            </m:e>
                            <m:e>
                              <m:r>
                                <a:rPr lang="en-US" altLang="zh-CN" sz="1700" i="1">
                                  <a:latin typeface="Cambria Math" panose="02040503050406030204" pitchFamily="18" charset="0"/>
                                </a:rPr>
                                <m:t>1</m:t>
                              </m:r>
                            </m:e>
                            <m:e>
                              <m:r>
                                <a:rPr lang="en-US" altLang="zh-CN" sz="1700" i="1">
                                  <a:latin typeface="Cambria Math" panose="02040503050406030204" pitchFamily="18" charset="0"/>
                                </a:rPr>
                                <m:t>1.0891</m:t>
                              </m:r>
                            </m:e>
                          </m:eqArr>
                        </m:e>
                      </m:d>
                    </m:oMath>
                  </m:oMathPara>
                </a14:m>
                <a:endParaRPr lang="en-US" altLang="zh-CN" sz="1700" b="1"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p:txBody>
          </p:sp>
        </mc:Choice>
        <mc:Fallback xmlns="">
          <p:sp>
            <p:nvSpPr>
              <p:cNvPr id="4" name="文本框 3">
                <a:extLst>
                  <a:ext uri="{FF2B5EF4-FFF2-40B4-BE49-F238E27FC236}">
                    <a16:creationId xmlns:a16="http://schemas.microsoft.com/office/drawing/2014/main" id="{F654507B-22CA-5437-84F2-B403257D2A3F}"/>
                  </a:ext>
                </a:extLst>
              </p:cNvPr>
              <p:cNvSpPr txBox="1">
                <a:spLocks noRot="1" noChangeAspect="1" noMove="1" noResize="1" noEditPoints="1" noAdjustHandles="1" noChangeArrowheads="1" noChangeShapeType="1" noTextEdit="1"/>
              </p:cNvSpPr>
              <p:nvPr/>
            </p:nvSpPr>
            <p:spPr>
              <a:xfrm>
                <a:off x="295283" y="1891566"/>
                <a:ext cx="7676740" cy="4938724"/>
              </a:xfrm>
              <a:prstGeom prst="rect">
                <a:avLst/>
              </a:prstGeom>
              <a:blipFill>
                <a:blip r:embed="rId3"/>
                <a:stretch>
                  <a:fillRect l="-476" b="-7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82621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0FBD9-03CA-1629-D409-45EBDD994E9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4C45E46-715E-6F46-A05E-9C4996A2748B}"/>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771E6FFD-26E9-4CA3-34F8-F04DD61A6542}"/>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线性颜色、</a:t>
            </a:r>
            <a:r>
              <a:rPr lang="en-US" altLang="zh-CN" sz="2000" b="1" dirty="0">
                <a:latin typeface="Noto Sans SC" panose="020B0200000000000000" pitchFamily="34" charset="-122"/>
                <a:ea typeface="Noto Sans SC" panose="020B0200000000000000" pitchFamily="34" charset="-122"/>
              </a:rPr>
              <a:t>gamma</a:t>
            </a:r>
          </a:p>
        </p:txBody>
      </p:sp>
      <p:sp>
        <p:nvSpPr>
          <p:cNvPr id="14" name="文本框 13">
            <a:extLst>
              <a:ext uri="{FF2B5EF4-FFF2-40B4-BE49-F238E27FC236}">
                <a16:creationId xmlns:a16="http://schemas.microsoft.com/office/drawing/2014/main" id="{E512FA0E-8033-BCB9-994D-F1677D591724}"/>
              </a:ext>
            </a:extLst>
          </p:cNvPr>
          <p:cNvSpPr txBox="1"/>
          <p:nvPr/>
        </p:nvSpPr>
        <p:spPr>
          <a:xfrm>
            <a:off x="295284" y="1891566"/>
            <a:ext cx="7446722" cy="338554"/>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endParaRPr lang="en-US" altLang="zh-CN" sz="1600" b="0" dirty="0">
              <a:latin typeface="Noto Sans SC" panose="020B0200000000000000" pitchFamily="34" charset="-122"/>
              <a:ea typeface="Noto Sans SC" panose="020B0200000000000000" pitchFamily="34" charset="-122"/>
            </a:endParaRPr>
          </a:p>
        </p:txBody>
      </p:sp>
      <p:pic>
        <p:nvPicPr>
          <p:cNvPr id="4" name="图片 3">
            <a:extLst>
              <a:ext uri="{FF2B5EF4-FFF2-40B4-BE49-F238E27FC236}">
                <a16:creationId xmlns:a16="http://schemas.microsoft.com/office/drawing/2014/main" id="{6083A17F-FD36-8FBF-E6BE-9BB025A546C1}"/>
              </a:ext>
            </a:extLst>
          </p:cNvPr>
          <p:cNvPicPr>
            <a:picLocks noChangeAspect="1"/>
          </p:cNvPicPr>
          <p:nvPr/>
        </p:nvPicPr>
        <p:blipFill>
          <a:blip r:embed="rId2"/>
          <a:stretch>
            <a:fillRect/>
          </a:stretch>
        </p:blipFill>
        <p:spPr>
          <a:xfrm>
            <a:off x="6850761" y="1605731"/>
            <a:ext cx="4884038" cy="2716998"/>
          </a:xfrm>
          <a:prstGeom prst="rect">
            <a:avLst/>
          </a:prstGeom>
        </p:spPr>
      </p:pic>
      <p:sp>
        <p:nvSpPr>
          <p:cNvPr id="8" name="文本框 7">
            <a:extLst>
              <a:ext uri="{FF2B5EF4-FFF2-40B4-BE49-F238E27FC236}">
                <a16:creationId xmlns:a16="http://schemas.microsoft.com/office/drawing/2014/main" id="{02DE5908-4EFD-3D1B-9DF4-A3F63DF2B687}"/>
              </a:ext>
            </a:extLst>
          </p:cNvPr>
          <p:cNvSpPr txBox="1"/>
          <p:nvPr/>
        </p:nvSpPr>
        <p:spPr>
          <a:xfrm>
            <a:off x="457201" y="2044382"/>
            <a:ext cx="6094926" cy="4462760"/>
          </a:xfrm>
          <a:prstGeom prst="rect">
            <a:avLst/>
          </a:prstGeom>
          <a:noFill/>
        </p:spPr>
        <p:txBody>
          <a:bodyPr wrap="square">
            <a:spAutoFit/>
          </a:bodyPr>
          <a:lstStyle/>
          <a:p>
            <a:pPr algn="just"/>
            <a:r>
              <a:rPr lang="zh-CN" altLang="en-US" sz="1700" dirty="0">
                <a:latin typeface="Noto Sans SC" panose="020B0200000000000000" pitchFamily="34" charset="-122"/>
                <a:ea typeface="Noto Sans SC" panose="020B0200000000000000" pitchFamily="34" charset="-122"/>
              </a:rPr>
              <a:t>         </a:t>
            </a:r>
            <a:r>
              <a:rPr lang="zh-CN" altLang="en-US" sz="1600" b="1" dirty="0">
                <a:latin typeface="Noto Sans SC" panose="020B0200000000000000" pitchFamily="34" charset="-122"/>
                <a:ea typeface="Noto Sans SC" panose="020B0200000000000000" pitchFamily="34" charset="-122"/>
              </a:rPr>
              <a:t>为什么我们前面说白色的</a:t>
            </a:r>
            <a:r>
              <a:rPr lang="en-US" altLang="zh-CN" sz="1600" b="1" dirty="0">
                <a:latin typeface="Noto Sans SC" panose="020B0200000000000000" pitchFamily="34" charset="-122"/>
                <a:ea typeface="Noto Sans SC" panose="020B0200000000000000" pitchFamily="34" charset="-122"/>
              </a:rPr>
              <a:t>RGB</a:t>
            </a:r>
            <a:r>
              <a:rPr lang="zh-CN" altLang="en-US" sz="1600" b="1" dirty="0">
                <a:latin typeface="Noto Sans SC" panose="020B0200000000000000" pitchFamily="34" charset="-122"/>
                <a:ea typeface="Noto Sans SC" panose="020B0200000000000000" pitchFamily="34" charset="-122"/>
              </a:rPr>
              <a:t>是</a:t>
            </a:r>
            <a:r>
              <a:rPr lang="en-US" altLang="zh-CN" sz="1600" b="1" dirty="0">
                <a:latin typeface="Noto Sans SC" panose="020B0200000000000000" pitchFamily="34" charset="-122"/>
                <a:ea typeface="Noto Sans SC" panose="020B0200000000000000" pitchFamily="34" charset="-122"/>
              </a:rPr>
              <a:t>(1, 1, 1)</a:t>
            </a:r>
            <a:r>
              <a:rPr lang="zh-CN" altLang="en-US" sz="1600" b="1" dirty="0">
                <a:latin typeface="Noto Sans SC" panose="020B0200000000000000" pitchFamily="34" charset="-122"/>
                <a:ea typeface="Noto Sans SC" panose="020B0200000000000000" pitchFamily="34" charset="-122"/>
              </a:rPr>
              <a:t>、红色是</a:t>
            </a:r>
            <a:r>
              <a:rPr lang="en-US" altLang="zh-CN" sz="1600" b="1" dirty="0">
                <a:latin typeface="Noto Sans SC" panose="020B0200000000000000" pitchFamily="34" charset="-122"/>
                <a:ea typeface="Noto Sans SC" panose="020B0200000000000000" pitchFamily="34" charset="-122"/>
              </a:rPr>
              <a:t>(1, 0, 0)</a:t>
            </a:r>
            <a:r>
              <a:rPr lang="zh-CN" altLang="en-US" sz="1600" b="1" dirty="0">
                <a:latin typeface="Noto Sans SC" panose="020B0200000000000000" pitchFamily="34" charset="-122"/>
                <a:ea typeface="Noto Sans SC" panose="020B0200000000000000" pitchFamily="34" charset="-122"/>
              </a:rPr>
              <a:t>？</a:t>
            </a:r>
            <a:endParaRPr lang="en-US" altLang="zh-CN" sz="1600" b="1" dirty="0">
              <a:latin typeface="Noto Sans SC" panose="020B0200000000000000" pitchFamily="34" charset="-122"/>
              <a:ea typeface="Noto Sans SC" panose="020B0200000000000000" pitchFamily="34" charset="-122"/>
            </a:endParaRPr>
          </a:p>
          <a:p>
            <a:pPr algn="just"/>
            <a:r>
              <a:rPr lang="en-US" altLang="zh-CN" sz="1600" b="1" dirty="0">
                <a:latin typeface="Noto Sans SC" panose="020B0200000000000000" pitchFamily="34" charset="-122"/>
                <a:ea typeface="Noto Sans SC" panose="020B0200000000000000" pitchFamily="34" charset="-122"/>
              </a:rPr>
              <a:t>         </a:t>
            </a:r>
            <a:r>
              <a:rPr lang="zh-CN" altLang="en-US" sz="1600" b="1" dirty="0">
                <a:latin typeface="Noto Sans SC" panose="020B0200000000000000" pitchFamily="34" charset="-122"/>
                <a:ea typeface="Noto Sans SC" panose="020B0200000000000000" pitchFamily="34" charset="-122"/>
              </a:rPr>
              <a:t>白色不应该是</a:t>
            </a:r>
            <a:r>
              <a:rPr lang="en-US" altLang="zh-CN" sz="1600" b="1" dirty="0">
                <a:latin typeface="Noto Sans SC" panose="020B0200000000000000" pitchFamily="34" charset="-122"/>
                <a:ea typeface="Noto Sans SC" panose="020B0200000000000000" pitchFamily="34" charset="-122"/>
              </a:rPr>
              <a:t>(255, 255, 255)</a:t>
            </a:r>
            <a:r>
              <a:rPr lang="zh-CN" altLang="en-US" sz="1600" b="1" dirty="0">
                <a:latin typeface="Noto Sans SC" panose="020B0200000000000000" pitchFamily="34" charset="-122"/>
                <a:ea typeface="Noto Sans SC" panose="020B0200000000000000" pitchFamily="34" charset="-122"/>
              </a:rPr>
              <a:t>而红色是</a:t>
            </a:r>
            <a:r>
              <a:rPr lang="en-US" altLang="zh-CN" sz="1600" b="1" dirty="0">
                <a:latin typeface="Noto Sans SC" panose="020B0200000000000000" pitchFamily="34" charset="-122"/>
                <a:ea typeface="Noto Sans SC" panose="020B0200000000000000" pitchFamily="34" charset="-122"/>
              </a:rPr>
              <a:t>(255, 0, 0)</a:t>
            </a:r>
            <a:r>
              <a:rPr lang="zh-CN" altLang="en-US" sz="1600" b="1" dirty="0">
                <a:latin typeface="Noto Sans SC" panose="020B0200000000000000" pitchFamily="34" charset="-122"/>
                <a:ea typeface="Noto Sans SC" panose="020B0200000000000000" pitchFamily="34" charset="-122"/>
              </a:rPr>
              <a:t>吗？</a:t>
            </a:r>
            <a:endParaRPr lang="en-US" altLang="zh-CN" sz="1600" b="1"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这是因为，我们前面讨论的所有颜色都是</a:t>
            </a:r>
            <a:r>
              <a:rPr lang="zh-CN" altLang="en-US" b="1" dirty="0">
                <a:latin typeface="Noto Sans SC" panose="020B0200000000000000" pitchFamily="34" charset="-122"/>
                <a:ea typeface="Noto Sans SC" panose="020B0200000000000000" pitchFamily="34" charset="-122"/>
              </a:rPr>
              <a:t>线性</a:t>
            </a:r>
            <a:r>
              <a:rPr lang="zh-CN" altLang="en-US" dirty="0">
                <a:latin typeface="Noto Sans SC" panose="020B0200000000000000" pitchFamily="34" charset="-122"/>
                <a:ea typeface="Noto Sans SC" panose="020B0200000000000000" pitchFamily="34" charset="-122"/>
              </a:rPr>
              <a:t>的，颜色的亮度也是线性的，但是人眼对明度的感知是非线性的。</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前面提到过，亮度是一套“工程计算的标准体系”，因此，当一个颜色的亮度变为原来的</a:t>
            </a:r>
            <a:r>
              <a:rPr lang="en-US" altLang="zh-CN" dirty="0">
                <a:latin typeface="Noto Sans SC" panose="020B0200000000000000" pitchFamily="34" charset="-122"/>
                <a:ea typeface="Noto Sans SC" panose="020B0200000000000000" pitchFamily="34" charset="-122"/>
              </a:rPr>
              <a:t>2</a:t>
            </a:r>
            <a:r>
              <a:rPr lang="zh-CN" altLang="en-US" dirty="0">
                <a:latin typeface="Noto Sans SC" panose="020B0200000000000000" pitchFamily="34" charset="-122"/>
                <a:ea typeface="Noto Sans SC" panose="020B0200000000000000" pitchFamily="34" charset="-122"/>
              </a:rPr>
              <a:t>倍，人眼感知的明度不一定变为原来的</a:t>
            </a:r>
            <a:r>
              <a:rPr lang="en-US" altLang="zh-CN" dirty="0">
                <a:latin typeface="Noto Sans SC" panose="020B0200000000000000" pitchFamily="34" charset="-122"/>
                <a:ea typeface="Noto Sans SC" panose="020B0200000000000000" pitchFamily="34" charset="-122"/>
              </a:rPr>
              <a:t>2</a:t>
            </a:r>
            <a:r>
              <a:rPr lang="zh-CN" altLang="en-US" dirty="0">
                <a:latin typeface="Noto Sans SC" panose="020B0200000000000000" pitchFamily="34" charset="-122"/>
                <a:ea typeface="Noto Sans SC" panose="020B0200000000000000" pitchFamily="34" charset="-122"/>
              </a:rPr>
              <a:t>倍。具体地说，人眼对较暗颜色的亮度变化十分敏感，但对较亮颜色的亮度变化不那么敏感。</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当计算机存储一个颜色时，以常见的</a:t>
            </a:r>
            <a:r>
              <a:rPr lang="en-US" altLang="zh-CN" dirty="0">
                <a:latin typeface="Noto Sans SC" panose="020B0200000000000000" pitchFamily="34" charset="-122"/>
                <a:ea typeface="Noto Sans SC" panose="020B0200000000000000" pitchFamily="34" charset="-122"/>
              </a:rPr>
              <a:t>8bit</a:t>
            </a:r>
            <a:r>
              <a:rPr lang="zh-CN" altLang="en-US" dirty="0">
                <a:latin typeface="Noto Sans SC" panose="020B0200000000000000" pitchFamily="34" charset="-122"/>
                <a:ea typeface="Noto Sans SC" panose="020B0200000000000000" pitchFamily="34" charset="-122"/>
              </a:rPr>
              <a:t>色深为例，这意味着每个原色分量，只能有</a:t>
            </a:r>
            <a:r>
              <a:rPr lang="en-US" altLang="zh-CN" dirty="0">
                <a:latin typeface="Noto Sans SC" panose="020B0200000000000000" pitchFamily="34" charset="-122"/>
                <a:ea typeface="Noto Sans SC" panose="020B0200000000000000" pitchFamily="34" charset="-122"/>
              </a:rPr>
              <a:t>8bit</a:t>
            </a:r>
            <a:r>
              <a:rPr lang="zh-CN" altLang="en-US" dirty="0">
                <a:latin typeface="Noto Sans SC" panose="020B0200000000000000" pitchFamily="34" charset="-122"/>
                <a:ea typeface="Noto Sans SC" panose="020B0200000000000000" pitchFamily="34" charset="-122"/>
              </a:rPr>
              <a:t>的信息，如果直接存储线性的颜色，对于较暗的颜色，有限的</a:t>
            </a:r>
            <a:r>
              <a:rPr lang="en-US" altLang="zh-CN" dirty="0">
                <a:latin typeface="Noto Sans SC" panose="020B0200000000000000" pitchFamily="34" charset="-122"/>
                <a:ea typeface="Noto Sans SC" panose="020B0200000000000000" pitchFamily="34" charset="-122"/>
              </a:rPr>
              <a:t>bit</a:t>
            </a:r>
            <a:r>
              <a:rPr lang="zh-CN" altLang="en-US" dirty="0">
                <a:latin typeface="Noto Sans SC" panose="020B0200000000000000" pitchFamily="34" charset="-122"/>
                <a:ea typeface="Noto Sans SC" panose="020B0200000000000000" pitchFamily="34" charset="-122"/>
              </a:rPr>
              <a:t>无法精确区分明度的变化，而对于较亮的颜色，有限的</a:t>
            </a:r>
            <a:r>
              <a:rPr lang="en-US" altLang="zh-CN" dirty="0">
                <a:latin typeface="Noto Sans SC" panose="020B0200000000000000" pitchFamily="34" charset="-122"/>
                <a:ea typeface="Noto Sans SC" panose="020B0200000000000000" pitchFamily="34" charset="-122"/>
              </a:rPr>
              <a:t>bit</a:t>
            </a:r>
            <a:r>
              <a:rPr lang="zh-CN" altLang="en-US" dirty="0">
                <a:latin typeface="Noto Sans SC" panose="020B0200000000000000" pitchFamily="34" charset="-122"/>
                <a:ea typeface="Noto Sans SC" panose="020B0200000000000000" pitchFamily="34" charset="-122"/>
              </a:rPr>
              <a:t>被浪费到了表示人眼不那么敏感的亮色。</a:t>
            </a:r>
            <a:endParaRPr lang="en-US" altLang="zh-CN" dirty="0">
              <a:latin typeface="Noto Sans SC" panose="020B0200000000000000" pitchFamily="34" charset="-122"/>
              <a:ea typeface="Noto Sans SC" panose="020B0200000000000000" pitchFamily="34" charset="-122"/>
            </a:endParaRPr>
          </a:p>
        </p:txBody>
      </p:sp>
      <p:sp>
        <p:nvSpPr>
          <p:cNvPr id="10" name="文本框 9">
            <a:extLst>
              <a:ext uri="{FF2B5EF4-FFF2-40B4-BE49-F238E27FC236}">
                <a16:creationId xmlns:a16="http://schemas.microsoft.com/office/drawing/2014/main" id="{FCA19FDA-7019-5E08-59B7-A1CAF01C897E}"/>
              </a:ext>
            </a:extLst>
          </p:cNvPr>
          <p:cNvSpPr txBox="1"/>
          <p:nvPr/>
        </p:nvSpPr>
        <p:spPr>
          <a:xfrm>
            <a:off x="6780727" y="4522784"/>
            <a:ext cx="4954072" cy="1754326"/>
          </a:xfrm>
          <a:prstGeom prst="rect">
            <a:avLst/>
          </a:prstGeom>
          <a:noFill/>
        </p:spPr>
        <p:txBody>
          <a:bodyPr wrap="square">
            <a:spAutoFit/>
          </a:bodyPr>
          <a:lstStyle/>
          <a:p>
            <a:pPr algn="just"/>
            <a:r>
              <a:rPr lang="en-US" altLang="zh-CN" sz="1800"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为了解决这个问题，之前的</a:t>
            </a:r>
            <a:r>
              <a:rPr lang="zh-CN" altLang="en-US" dirty="0">
                <a:latin typeface="Noto Sans SC" panose="020B0200000000000000" pitchFamily="34" charset="-122"/>
                <a:ea typeface="Noto Sans SC" panose="020B0200000000000000" pitchFamily="34" charset="-122"/>
              </a:rPr>
              <a:t>视频</a:t>
            </a:r>
            <a:r>
              <a:rPr lang="zh-CN" altLang="en-US" sz="1800" dirty="0">
                <a:latin typeface="Noto Sans SC" panose="020B0200000000000000" pitchFamily="34" charset="-122"/>
                <a:ea typeface="Noto Sans SC" panose="020B0200000000000000" pitchFamily="34" charset="-122"/>
              </a:rPr>
              <a:t>中引入了</a:t>
            </a:r>
            <a:r>
              <a:rPr lang="en-US" altLang="zh-CN" sz="1800" dirty="0">
                <a:latin typeface="Noto Sans SC" panose="020B0200000000000000" pitchFamily="34" charset="-122"/>
                <a:ea typeface="Noto Sans SC" panose="020B0200000000000000" pitchFamily="34" charset="-122"/>
              </a:rPr>
              <a:t>gamma</a:t>
            </a:r>
            <a:r>
              <a:rPr lang="zh-CN" altLang="en-US" sz="1800" dirty="0">
                <a:latin typeface="Noto Sans SC" panose="020B0200000000000000" pitchFamily="34" charset="-122"/>
                <a:ea typeface="Noto Sans SC" panose="020B0200000000000000" pitchFamily="34" charset="-122"/>
              </a:rPr>
              <a:t>矫正的概念，对线性的</a:t>
            </a:r>
            <a:r>
              <a:rPr lang="zh-CN" altLang="en-US" dirty="0">
                <a:latin typeface="Noto Sans SC" panose="020B0200000000000000" pitchFamily="34" charset="-122"/>
                <a:ea typeface="Noto Sans SC" panose="020B0200000000000000" pitchFamily="34" charset="-122"/>
              </a:rPr>
              <a:t>颜色实施非线性的映射，使其的明度基本线性，再存储到计算机中，就能最大化利用有限的</a:t>
            </a:r>
            <a:r>
              <a:rPr lang="en-US" altLang="zh-CN" dirty="0">
                <a:latin typeface="Noto Sans SC" panose="020B0200000000000000" pitchFamily="34" charset="-122"/>
                <a:ea typeface="Noto Sans SC" panose="020B0200000000000000" pitchFamily="34" charset="-122"/>
              </a:rPr>
              <a:t>8bit</a:t>
            </a:r>
            <a:r>
              <a:rPr lang="zh-CN" altLang="en-US" dirty="0">
                <a:latin typeface="Noto Sans SC" panose="020B0200000000000000" pitchFamily="34" charset="-122"/>
                <a:ea typeface="Noto Sans SC" panose="020B0200000000000000" pitchFamily="34" charset="-122"/>
              </a:rPr>
              <a:t>信息。</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上面的</a:t>
            </a:r>
            <a:r>
              <a:rPr lang="en-US" altLang="zh-CN" dirty="0">
                <a:latin typeface="Noto Sans SC" panose="020B0200000000000000" pitchFamily="34" charset="-122"/>
                <a:ea typeface="Noto Sans SC" panose="020B0200000000000000" pitchFamily="34" charset="-122"/>
              </a:rPr>
              <a:t>255</a:t>
            </a:r>
            <a:r>
              <a:rPr lang="zh-CN" altLang="en-US" dirty="0">
                <a:latin typeface="Noto Sans SC" panose="020B0200000000000000" pitchFamily="34" charset="-122"/>
                <a:ea typeface="Noto Sans SC" panose="020B0200000000000000" pitchFamily="34" charset="-122"/>
              </a:rPr>
              <a:t>就是无符号</a:t>
            </a:r>
            <a:r>
              <a:rPr lang="en-US" altLang="zh-CN" dirty="0">
                <a:latin typeface="Noto Sans SC" panose="020B0200000000000000" pitchFamily="34" charset="-122"/>
                <a:ea typeface="Noto Sans SC" panose="020B0200000000000000" pitchFamily="34" charset="-122"/>
              </a:rPr>
              <a:t>8bit</a:t>
            </a:r>
            <a:r>
              <a:rPr lang="zh-CN" altLang="en-US" dirty="0">
                <a:latin typeface="Noto Sans SC" panose="020B0200000000000000" pitchFamily="34" charset="-122"/>
                <a:ea typeface="Noto Sans SC" panose="020B0200000000000000" pitchFamily="34" charset="-122"/>
              </a:rPr>
              <a:t>的最大值，对应着用于存储</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传输的非线性颜色。</a:t>
            </a:r>
          </a:p>
        </p:txBody>
      </p:sp>
    </p:spTree>
    <p:extLst>
      <p:ext uri="{BB962C8B-B14F-4D97-AF65-F5344CB8AC3E}">
        <p14:creationId xmlns:p14="http://schemas.microsoft.com/office/powerpoint/2010/main" val="22141576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35048-3636-B2D8-9C79-3DEAE808279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5A3F8EE-E7C7-81FC-53E7-1B4C2A89D0DB}"/>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453F7F84-AFBA-2680-FDEF-A13794096A83}"/>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传递函数</a:t>
            </a:r>
            <a:endParaRPr lang="en-US" altLang="zh-CN" sz="2000" b="1" dirty="0">
              <a:latin typeface="Noto Sans SC" panose="020B0200000000000000" pitchFamily="34" charset="-122"/>
              <a:ea typeface="Noto Sans SC" panose="020B0200000000000000" pitchFamily="34" charset="-122"/>
            </a:endParaRPr>
          </a:p>
        </p:txBody>
      </p:sp>
      <p:sp>
        <p:nvSpPr>
          <p:cNvPr id="14" name="文本框 13">
            <a:extLst>
              <a:ext uri="{FF2B5EF4-FFF2-40B4-BE49-F238E27FC236}">
                <a16:creationId xmlns:a16="http://schemas.microsoft.com/office/drawing/2014/main" id="{A19F5E63-D819-AAE7-B0F8-DBF1D357E8AB}"/>
              </a:ext>
            </a:extLst>
          </p:cNvPr>
          <p:cNvSpPr txBox="1"/>
          <p:nvPr/>
        </p:nvSpPr>
        <p:spPr>
          <a:xfrm>
            <a:off x="295284" y="1891566"/>
            <a:ext cx="7446722" cy="338554"/>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endParaRPr lang="en-US" altLang="zh-CN" sz="1600" b="0" dirty="0">
              <a:latin typeface="Noto Sans SC" panose="020B0200000000000000" pitchFamily="34" charset="-122"/>
              <a:ea typeface="Noto Sans SC" panose="020B0200000000000000" pitchFamily="34" charset="-122"/>
            </a:endParaRPr>
          </a:p>
        </p:txBody>
      </p:sp>
      <p:pic>
        <p:nvPicPr>
          <p:cNvPr id="4" name="图片 3">
            <a:extLst>
              <a:ext uri="{FF2B5EF4-FFF2-40B4-BE49-F238E27FC236}">
                <a16:creationId xmlns:a16="http://schemas.microsoft.com/office/drawing/2014/main" id="{4EEA0F14-7830-6FA0-4E00-390CE4B4DD2D}"/>
              </a:ext>
            </a:extLst>
          </p:cNvPr>
          <p:cNvPicPr>
            <a:picLocks noChangeAspect="1"/>
          </p:cNvPicPr>
          <p:nvPr/>
        </p:nvPicPr>
        <p:blipFill>
          <a:blip r:embed="rId2"/>
          <a:stretch>
            <a:fillRect/>
          </a:stretch>
        </p:blipFill>
        <p:spPr>
          <a:xfrm>
            <a:off x="6850761" y="1605731"/>
            <a:ext cx="4884038" cy="2716998"/>
          </a:xfrm>
          <a:prstGeom prst="rect">
            <a:avLst/>
          </a:prstGeom>
        </p:spPr>
      </p:pic>
      <p:sp>
        <p:nvSpPr>
          <p:cNvPr id="8" name="文本框 7">
            <a:extLst>
              <a:ext uri="{FF2B5EF4-FFF2-40B4-BE49-F238E27FC236}">
                <a16:creationId xmlns:a16="http://schemas.microsoft.com/office/drawing/2014/main" id="{ACC4CA26-1249-EA98-0AC1-87D256F1B9ED}"/>
              </a:ext>
            </a:extLst>
          </p:cNvPr>
          <p:cNvSpPr txBox="1"/>
          <p:nvPr/>
        </p:nvSpPr>
        <p:spPr>
          <a:xfrm>
            <a:off x="457201" y="2044382"/>
            <a:ext cx="6094926" cy="2031325"/>
          </a:xfrm>
          <a:prstGeom prst="rect">
            <a:avLst/>
          </a:prstGeom>
          <a:noFill/>
        </p:spPr>
        <p:txBody>
          <a:bodyPr wrap="square">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之前说的</a:t>
            </a:r>
            <a:r>
              <a:rPr lang="en-US" altLang="zh-CN" dirty="0">
                <a:latin typeface="Noto Sans SC" panose="020B0200000000000000" pitchFamily="34" charset="-122"/>
                <a:ea typeface="Noto Sans SC" panose="020B0200000000000000" pitchFamily="34" charset="-122"/>
              </a:rPr>
              <a:t>gamma</a:t>
            </a:r>
            <a:r>
              <a:rPr lang="zh-CN" altLang="en-US" dirty="0">
                <a:latin typeface="Noto Sans SC" panose="020B0200000000000000" pitchFamily="34" charset="-122"/>
                <a:ea typeface="Noto Sans SC" panose="020B0200000000000000" pitchFamily="34" charset="-122"/>
              </a:rPr>
              <a:t>矫正，其实就是传递函数的工作。</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传递函数可以将线性的颜色转换为用于存储或传输的非线性颜色，也可以将其转换回来。</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一般来说，在定义显示色域对应的色彩空间标准时，还会定义相应的传递函数。</a:t>
            </a:r>
            <a:endParaRPr lang="en-US" altLang="zh-CN"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0EEC717-E88D-6C7A-EE65-3CF3E252E6EC}"/>
                  </a:ext>
                </a:extLst>
              </p:cNvPr>
              <p:cNvSpPr txBox="1"/>
              <p:nvPr/>
            </p:nvSpPr>
            <p:spPr>
              <a:xfrm>
                <a:off x="457201" y="4751743"/>
                <a:ext cx="11370834" cy="1725537"/>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以</a:t>
                </a:r>
                <a:r>
                  <a:rPr lang="en-US" altLang="zh-CN" sz="1600" dirty="0">
                    <a:latin typeface="Noto Sans SC" panose="020B0200000000000000" pitchFamily="34" charset="-122"/>
                    <a:ea typeface="Noto Sans SC" panose="020B0200000000000000" pitchFamily="34" charset="-122"/>
                  </a:rPr>
                  <a:t>sRGB</a:t>
                </a:r>
                <a:r>
                  <a:rPr lang="zh-CN" altLang="en-US" sz="1600" dirty="0">
                    <a:latin typeface="Noto Sans SC" panose="020B0200000000000000" pitchFamily="34" charset="-122"/>
                    <a:ea typeface="Noto Sans SC" panose="020B0200000000000000" pitchFamily="34" charset="-122"/>
                  </a:rPr>
                  <a:t>色彩空间为例，该色彩空间的传递函数为：</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𝑒𝑛𝑐𝑜𝑑𝑒</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𝑉</m:t>
                      </m:r>
                      <m:r>
                        <a:rPr lang="en-US" altLang="zh-CN" sz="1600" b="0" i="1" smtClean="0">
                          <a:latin typeface="Cambria Math" panose="02040503050406030204" pitchFamily="18" charset="0"/>
                        </a:rPr>
                        <m:t>=</m:t>
                      </m:r>
                      <m:d>
                        <m:dPr>
                          <m:begChr m:val="{"/>
                          <m:endChr m:val=""/>
                          <m:ctrlPr>
                            <a:rPr lang="en-US" altLang="zh-CN" sz="1600" b="0" i="1" smtClean="0">
                              <a:latin typeface="Cambria Math" panose="02040503050406030204" pitchFamily="18" charset="0"/>
                            </a:rPr>
                          </m:ctrlPr>
                        </m:dPr>
                        <m:e>
                          <m:eqArr>
                            <m:eqArrPr>
                              <m:ctrlPr>
                                <a:rPr lang="en-US" altLang="zh-CN" sz="1600" b="0" i="1" smtClean="0">
                                  <a:latin typeface="Cambria Math" panose="02040503050406030204" pitchFamily="18" charset="0"/>
                                </a:rPr>
                              </m:ctrlPr>
                            </m:eqArrPr>
                            <m:e>
                              <m:r>
                                <a:rPr lang="en-US" altLang="zh-CN" sz="1600" b="0" i="1" smtClean="0">
                                  <a:latin typeface="Cambria Math" panose="02040503050406030204" pitchFamily="18" charset="0"/>
                                </a:rPr>
                                <m:t>12.92×</m:t>
                              </m:r>
                              <m:r>
                                <a:rPr lang="en-US" altLang="zh-CN" sz="1600" b="0" i="1" smtClean="0">
                                  <a:latin typeface="Cambria Math" panose="02040503050406030204" pitchFamily="18" charset="0"/>
                                </a:rPr>
                                <m:t>𝐿</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𝑖𝑓</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𝐿</m:t>
                              </m:r>
                              <m:r>
                                <a:rPr lang="en-US" altLang="zh-CN" sz="1600" b="0" i="1" smtClean="0">
                                  <a:latin typeface="Cambria Math" panose="02040503050406030204" pitchFamily="18" charset="0"/>
                                </a:rPr>
                                <m:t>≤0.0031308,</m:t>
                              </m:r>
                            </m:e>
                            <m:e>
                              <m:r>
                                <a:rPr lang="en-US" altLang="zh-CN" sz="1600" b="0" i="1" smtClean="0">
                                  <a:latin typeface="Cambria Math" panose="02040503050406030204" pitchFamily="18" charset="0"/>
                                </a:rPr>
                                <m:t>1.055×</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𝐿</m:t>
                                  </m:r>
                                </m:e>
                                <m:sup>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1</m:t>
                                      </m:r>
                                    </m:num>
                                    <m:den>
                                      <m:r>
                                        <a:rPr lang="en-US" altLang="zh-CN" sz="1600" b="0" i="1" smtClean="0">
                                          <a:latin typeface="Cambria Math" panose="02040503050406030204" pitchFamily="18" charset="0"/>
                                        </a:rPr>
                                        <m:t>2.4</m:t>
                                      </m:r>
                                    </m:den>
                                  </m:f>
                                </m:sup>
                              </m:sSup>
                              <m:r>
                                <a:rPr lang="en-US" altLang="zh-CN" sz="1600" b="0" i="1" smtClean="0">
                                  <a:latin typeface="Cambria Math" panose="02040503050406030204" pitchFamily="18" charset="0"/>
                                </a:rPr>
                                <m:t>−0.055,  </m:t>
                              </m:r>
                              <m:r>
                                <a:rPr lang="en-US" altLang="zh-CN" sz="1600" b="0" i="1" smtClean="0">
                                  <a:latin typeface="Cambria Math" panose="02040503050406030204" pitchFamily="18" charset="0"/>
                                </a:rPr>
                                <m:t>𝑖𝑓</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𝐿</m:t>
                              </m:r>
                              <m:r>
                                <a:rPr lang="en-US" altLang="zh-CN" sz="1600" b="0" i="1" smtClean="0">
                                  <a:latin typeface="Cambria Math" panose="02040503050406030204" pitchFamily="18" charset="0"/>
                                </a:rPr>
                                <m:t>&gt;0.0031308.</m:t>
                              </m:r>
                            </m:e>
                          </m:eqAr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𝑑𝑒𝑐𝑜𝑑𝑒</m:t>
                      </m:r>
                      <m:r>
                        <a:rPr lang="en-US" altLang="zh-CN" sz="1600" i="1">
                          <a:latin typeface="Cambria Math" panose="02040503050406030204" pitchFamily="18" charset="0"/>
                        </a:rPr>
                        <m:t>:     </m:t>
                      </m:r>
                      <m:r>
                        <a:rPr lang="en-US" altLang="zh-CN" sz="1600" b="0" i="1" smtClean="0">
                          <a:latin typeface="Cambria Math" panose="02040503050406030204" pitchFamily="18" charset="0"/>
                        </a:rPr>
                        <m:t>𝐿</m:t>
                      </m:r>
                      <m:r>
                        <a:rPr lang="en-US" altLang="zh-CN" sz="1600" i="1">
                          <a:latin typeface="Cambria Math" panose="02040503050406030204" pitchFamily="18" charset="0"/>
                        </a:rPr>
                        <m:t>=</m:t>
                      </m:r>
                      <m:d>
                        <m:dPr>
                          <m:begChr m:val="{"/>
                          <m:endChr m:val=""/>
                          <m:ctrlPr>
                            <a:rPr lang="en-US" altLang="zh-CN" sz="1600" i="1">
                              <a:latin typeface="Cambria Math" panose="02040503050406030204" pitchFamily="18" charset="0"/>
                            </a:rPr>
                          </m:ctrlPr>
                        </m:dPr>
                        <m:e>
                          <m:eqArr>
                            <m:eqArrPr>
                              <m:ctrlPr>
                                <a:rPr lang="en-US" altLang="zh-CN" sz="1600" i="1">
                                  <a:latin typeface="Cambria Math" panose="02040503050406030204" pitchFamily="18" charset="0"/>
                                </a:rPr>
                              </m:ctrlPr>
                            </m:eqArrPr>
                            <m:e>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𝑉</m:t>
                                  </m:r>
                                </m:num>
                                <m:den>
                                  <m:r>
                                    <a:rPr lang="en-US" altLang="zh-CN" sz="1600" b="0" i="1" smtClean="0">
                                      <a:latin typeface="Cambria Math" panose="02040503050406030204" pitchFamily="18" charset="0"/>
                                    </a:rPr>
                                    <m:t>12.92</m:t>
                                  </m:r>
                                </m:den>
                              </m:f>
                              <m:r>
                                <a:rPr lang="en-US" altLang="zh-CN" sz="1600" i="1">
                                  <a:latin typeface="Cambria Math" panose="02040503050406030204" pitchFamily="18" charset="0"/>
                                </a:rPr>
                                <m:t>,                   </m:t>
                              </m:r>
                              <m:r>
                                <a:rPr lang="en-US" altLang="zh-CN" sz="1600" b="0" i="1" smtClean="0">
                                  <a:latin typeface="Cambria Math" panose="02040503050406030204" pitchFamily="18" charset="0"/>
                                </a:rPr>
                                <m:t> </m:t>
                              </m:r>
                              <m:r>
                                <a:rPr lang="en-US" altLang="zh-CN" sz="1600" i="1">
                                  <a:latin typeface="Cambria Math" panose="02040503050406030204" pitchFamily="18" charset="0"/>
                                </a:rPr>
                                <m:t> </m:t>
                              </m:r>
                              <m:r>
                                <a:rPr lang="en-US" altLang="zh-CN" sz="1600" i="1">
                                  <a:latin typeface="Cambria Math" panose="02040503050406030204" pitchFamily="18" charset="0"/>
                                </a:rPr>
                                <m:t>𝑖𝑓</m:t>
                              </m:r>
                              <m:r>
                                <a:rPr lang="en-US" altLang="zh-CN" sz="1600" i="1">
                                  <a:latin typeface="Cambria Math" panose="02040503050406030204" pitchFamily="18" charset="0"/>
                                </a:rPr>
                                <m:t> </m:t>
                              </m:r>
                              <m:r>
                                <a:rPr lang="en-US" altLang="zh-CN" sz="1600" b="0" i="1" smtClean="0">
                                  <a:latin typeface="Cambria Math" panose="02040503050406030204" pitchFamily="18" charset="0"/>
                                </a:rPr>
                                <m:t>𝑉</m:t>
                              </m:r>
                              <m:r>
                                <a:rPr lang="en-US" altLang="zh-CN" sz="1600" i="1">
                                  <a:latin typeface="Cambria Math" panose="02040503050406030204" pitchFamily="18" charset="0"/>
                                </a:rPr>
                                <m:t>≤0.0</m:t>
                              </m:r>
                              <m:r>
                                <a:rPr lang="en-US" altLang="zh-CN" sz="1600" b="0" i="1" smtClean="0">
                                  <a:latin typeface="Cambria Math" panose="02040503050406030204" pitchFamily="18" charset="0"/>
                                </a:rPr>
                                <m:t>4045</m:t>
                              </m:r>
                              <m:r>
                                <a:rPr lang="en-US" altLang="zh-CN" sz="1600" i="1">
                                  <a:latin typeface="Cambria Math" panose="02040503050406030204" pitchFamily="18" charset="0"/>
                                </a:rPr>
                                <m:t>,</m:t>
                              </m:r>
                            </m:e>
                            <m:e>
                              <m:sSup>
                                <m:sSupPr>
                                  <m:ctrlPr>
                                    <a:rPr lang="en-US" altLang="zh-CN" sz="1600" b="0" i="1" smtClean="0">
                                      <a:latin typeface="Cambria Math" panose="02040503050406030204" pitchFamily="18" charset="0"/>
                                    </a:rPr>
                                  </m:ctrlPr>
                                </m:sSupPr>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𝑉</m:t>
                                          </m:r>
                                          <m:r>
                                            <a:rPr lang="en-US" altLang="zh-CN" sz="1600" b="0" i="1" smtClean="0">
                                              <a:latin typeface="Cambria Math" panose="02040503050406030204" pitchFamily="18" charset="0"/>
                                            </a:rPr>
                                            <m:t>+0.055</m:t>
                                          </m:r>
                                        </m:num>
                                        <m:den>
                                          <m:r>
                                            <a:rPr lang="en-US" altLang="zh-CN" sz="1600" b="0" i="1" smtClean="0">
                                              <a:latin typeface="Cambria Math" panose="02040503050406030204" pitchFamily="18" charset="0"/>
                                            </a:rPr>
                                            <m:t>1.055</m:t>
                                          </m:r>
                                        </m:den>
                                      </m:f>
                                    </m:e>
                                  </m:d>
                                </m:e>
                                <m:sup>
                                  <m:r>
                                    <a:rPr lang="en-US" altLang="zh-CN" sz="1600" b="0" i="1" smtClean="0">
                                      <a:latin typeface="Cambria Math" panose="02040503050406030204" pitchFamily="18" charset="0"/>
                                    </a:rPr>
                                    <m:t>2.4</m:t>
                                  </m:r>
                                </m:sup>
                              </m:sSup>
                              <m:r>
                                <a:rPr lang="en-US" altLang="zh-CN" sz="1600" i="1">
                                  <a:latin typeface="Cambria Math" panose="02040503050406030204" pitchFamily="18" charset="0"/>
                                </a:rPr>
                                <m:t>,  </m:t>
                              </m:r>
                              <m:r>
                                <a:rPr lang="en-US" altLang="zh-CN" sz="1600" i="1">
                                  <a:latin typeface="Cambria Math" panose="02040503050406030204" pitchFamily="18" charset="0"/>
                                </a:rPr>
                                <m:t>𝑖𝑓</m:t>
                              </m:r>
                              <m:r>
                                <a:rPr lang="en-US" altLang="zh-CN" sz="1600" i="1">
                                  <a:latin typeface="Cambria Math" panose="02040503050406030204" pitchFamily="18" charset="0"/>
                                </a:rPr>
                                <m:t> </m:t>
                              </m:r>
                              <m:r>
                                <a:rPr lang="en-US" altLang="zh-CN" sz="1600" b="0" i="1" smtClean="0">
                                  <a:latin typeface="Cambria Math" panose="02040503050406030204" pitchFamily="18" charset="0"/>
                                </a:rPr>
                                <m:t>𝑉</m:t>
                              </m:r>
                              <m:r>
                                <a:rPr lang="en-US" altLang="zh-CN" sz="1600" i="1">
                                  <a:latin typeface="Cambria Math" panose="02040503050406030204" pitchFamily="18" charset="0"/>
                                </a:rPr>
                                <m:t>&gt;0.0</m:t>
                              </m:r>
                              <m:r>
                                <a:rPr lang="en-US" altLang="zh-CN" sz="1600" b="0" i="1" smtClean="0">
                                  <a:latin typeface="Cambria Math" panose="02040503050406030204" pitchFamily="18" charset="0"/>
                                </a:rPr>
                                <m:t>4045</m:t>
                              </m:r>
                              <m:r>
                                <a:rPr lang="en-US" altLang="zh-CN" sz="1600" i="1">
                                  <a:latin typeface="Cambria Math" panose="02040503050406030204" pitchFamily="18" charset="0"/>
                                </a:rPr>
                                <m:t>.</m:t>
                              </m:r>
                            </m:e>
                          </m:eqArr>
                        </m:e>
                      </m:d>
                    </m:oMath>
                  </m:oMathPara>
                </a14:m>
                <a:endParaRPr lang="en-US" altLang="zh-CN" sz="1600" b="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其中</a:t>
                </a:r>
                <a14:m>
                  <m:oMath xmlns:m="http://schemas.openxmlformats.org/officeDocument/2006/math">
                    <m:r>
                      <a:rPr lang="en-US" altLang="zh-CN" sz="1600" i="1">
                        <a:latin typeface="Cambria Math" panose="02040503050406030204" pitchFamily="18" charset="0"/>
                      </a:rPr>
                      <m:t>𝐿</m:t>
                    </m:r>
                  </m:oMath>
                </a14:m>
                <a:r>
                  <a:rPr lang="zh-CN" altLang="en-US" sz="1600" dirty="0">
                    <a:latin typeface="Noto Sans SC" panose="020B0200000000000000" pitchFamily="34" charset="-122"/>
                    <a:ea typeface="Noto Sans SC" panose="020B0200000000000000" pitchFamily="34" charset="-122"/>
                  </a:rPr>
                  <a:t>为线性颜色，</a:t>
                </a:r>
                <a14:m>
                  <m:oMath xmlns:m="http://schemas.openxmlformats.org/officeDocument/2006/math">
                    <m:r>
                      <a:rPr lang="en-US" altLang="zh-CN" sz="1600" i="1">
                        <a:latin typeface="Cambria Math" panose="02040503050406030204" pitchFamily="18" charset="0"/>
                      </a:rPr>
                      <m:t>𝑉</m:t>
                    </m:r>
                  </m:oMath>
                </a14:m>
                <a:r>
                  <a:rPr lang="zh-CN" altLang="en-US" sz="1600" dirty="0">
                    <a:latin typeface="Noto Sans SC" panose="020B0200000000000000" pitchFamily="34" charset="-122"/>
                    <a:ea typeface="Noto Sans SC" panose="020B0200000000000000" pitchFamily="34" charset="-122"/>
                  </a:rPr>
                  <a:t>为转换后的非线性。</a:t>
                </a:r>
                <a:endParaRPr lang="zh-CN" altLang="en-US" dirty="0">
                  <a:latin typeface="Noto Sans SC" panose="020B0200000000000000" pitchFamily="34" charset="-122"/>
                  <a:ea typeface="Noto Sans SC" panose="020B0200000000000000" pitchFamily="34" charset="-122"/>
                </a:endParaRPr>
              </a:p>
            </p:txBody>
          </p:sp>
        </mc:Choice>
        <mc:Fallback xmlns="">
          <p:sp>
            <p:nvSpPr>
              <p:cNvPr id="3" name="文本框 2">
                <a:extLst>
                  <a:ext uri="{FF2B5EF4-FFF2-40B4-BE49-F238E27FC236}">
                    <a16:creationId xmlns:a16="http://schemas.microsoft.com/office/drawing/2014/main" id="{A0EEC717-E88D-6C7A-EE65-3CF3E252E6EC}"/>
                  </a:ext>
                </a:extLst>
              </p:cNvPr>
              <p:cNvSpPr txBox="1">
                <a:spLocks noRot="1" noChangeAspect="1" noMove="1" noResize="1" noEditPoints="1" noAdjustHandles="1" noChangeArrowheads="1" noChangeShapeType="1" noTextEdit="1"/>
              </p:cNvSpPr>
              <p:nvPr/>
            </p:nvSpPr>
            <p:spPr>
              <a:xfrm>
                <a:off x="457201" y="4751743"/>
                <a:ext cx="11370834" cy="1725537"/>
              </a:xfrm>
              <a:prstGeom prst="rect">
                <a:avLst/>
              </a:prstGeom>
              <a:blipFill>
                <a:blip r:embed="rId3"/>
                <a:stretch>
                  <a:fillRect l="-268" t="-1056" b="-31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10873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BD748-A1C4-979C-48DD-6D5BF6FF567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2E9F133-9F43-9D18-004E-958CF8DA4CC2}"/>
              </a:ext>
            </a:extLst>
          </p:cNvPr>
          <p:cNvSpPr>
            <a:spLocks noGrp="1"/>
          </p:cNvSpPr>
          <p:nvPr>
            <p:ph type="title" idx="1"/>
          </p:nvPr>
        </p:nvSpPr>
        <p:spPr/>
        <p:txBody>
          <a:bodyPr/>
          <a:lstStyle/>
          <a:p>
            <a:r>
              <a:rPr lang="zh-CN" altLang="en-US" dirty="0"/>
              <a:t>色彩科学 </a:t>
            </a:r>
            <a:r>
              <a:rPr lang="en-US" altLang="zh-CN" dirty="0"/>
              <a:t>—— </a:t>
            </a:r>
            <a:r>
              <a:rPr lang="zh-CN" altLang="en-US" dirty="0"/>
              <a:t>色彩空间</a:t>
            </a:r>
          </a:p>
        </p:txBody>
      </p:sp>
      <p:sp>
        <p:nvSpPr>
          <p:cNvPr id="6" name="文本框 5">
            <a:extLst>
              <a:ext uri="{FF2B5EF4-FFF2-40B4-BE49-F238E27FC236}">
                <a16:creationId xmlns:a16="http://schemas.microsoft.com/office/drawing/2014/main" id="{234B985F-6B0B-C6F9-90EE-CDF847EA4AAA}"/>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色彩空间 </a:t>
            </a:r>
            <a:r>
              <a:rPr lang="en-US" altLang="zh-CN" sz="2000" b="1" dirty="0">
                <a:latin typeface="Noto Sans SC" panose="020B0200000000000000" pitchFamily="34" charset="-122"/>
                <a:ea typeface="Noto Sans SC" panose="020B0200000000000000" pitchFamily="34" charset="-122"/>
              </a:rPr>
              <a:t>—— </a:t>
            </a:r>
            <a:r>
              <a:rPr lang="zh-CN" altLang="en-US" sz="2000" b="1" dirty="0">
                <a:latin typeface="Noto Sans SC" panose="020B0200000000000000" pitchFamily="34" charset="-122"/>
                <a:ea typeface="Noto Sans SC" panose="020B0200000000000000" pitchFamily="34" charset="-122"/>
              </a:rPr>
              <a:t>颜色亮度的相对性</a:t>
            </a:r>
            <a:endParaRPr lang="en-US" altLang="zh-CN" sz="2000" b="1" dirty="0">
              <a:latin typeface="Noto Sans SC" panose="020B0200000000000000" pitchFamily="34" charset="-122"/>
              <a:ea typeface="Noto Sans SC" panose="020B0200000000000000" pitchFamily="34" charset="-122"/>
            </a:endParaRPr>
          </a:p>
        </p:txBody>
      </p:sp>
      <p:sp>
        <p:nvSpPr>
          <p:cNvPr id="14" name="文本框 13">
            <a:extLst>
              <a:ext uri="{FF2B5EF4-FFF2-40B4-BE49-F238E27FC236}">
                <a16:creationId xmlns:a16="http://schemas.microsoft.com/office/drawing/2014/main" id="{15AF3BFF-6CD5-249B-9F50-9A8E9A522A0A}"/>
              </a:ext>
            </a:extLst>
          </p:cNvPr>
          <p:cNvSpPr txBox="1"/>
          <p:nvPr/>
        </p:nvSpPr>
        <p:spPr>
          <a:xfrm>
            <a:off x="295284" y="1891566"/>
            <a:ext cx="7446722" cy="338554"/>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endParaRPr lang="en-US" altLang="zh-CN" sz="1600" b="0"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1736367-0EE1-1752-91EE-8D79D06187AD}"/>
                  </a:ext>
                </a:extLst>
              </p:cNvPr>
              <p:cNvSpPr txBox="1"/>
              <p:nvPr/>
            </p:nvSpPr>
            <p:spPr>
              <a:xfrm>
                <a:off x="457201" y="2044382"/>
                <a:ext cx="6259132" cy="4797788"/>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r>
                  <a:rPr lang="en-US" altLang="zh-CN" sz="1600" b="1" dirty="0">
                    <a:latin typeface="Noto Sans SC" panose="020B0200000000000000" pitchFamily="34" charset="-122"/>
                    <a:ea typeface="Noto Sans SC" panose="020B0200000000000000" pitchFamily="34" charset="-122"/>
                  </a:rPr>
                  <a:t>sRGB</a:t>
                </a:r>
                <a:r>
                  <a:rPr lang="zh-CN" altLang="en-US" sz="1600" b="1" dirty="0">
                    <a:latin typeface="Noto Sans SC" panose="020B0200000000000000" pitchFamily="34" charset="-122"/>
                    <a:ea typeface="Noto Sans SC" panose="020B0200000000000000" pitchFamily="34" charset="-122"/>
                  </a:rPr>
                  <a:t>色彩空间下的线性颜色</a:t>
                </a:r>
                <a:r>
                  <a:rPr lang="en-US" altLang="zh-CN" sz="1600" b="1" dirty="0">
                    <a:latin typeface="Noto Sans SC" panose="020B0200000000000000" pitchFamily="34" charset="-122"/>
                    <a:ea typeface="Noto Sans SC" panose="020B0200000000000000" pitchFamily="34" charset="-122"/>
                  </a:rPr>
                  <a:t>(1, 1, 1)</a:t>
                </a:r>
                <a:r>
                  <a:rPr lang="zh-CN" altLang="en-US" sz="1600" b="1" dirty="0">
                    <a:latin typeface="Noto Sans SC" panose="020B0200000000000000" pitchFamily="34" charset="-122"/>
                    <a:ea typeface="Noto Sans SC" panose="020B0200000000000000" pitchFamily="34" charset="-122"/>
                  </a:rPr>
                  <a:t>究竟有多亮？</a:t>
                </a:r>
                <a:endParaRPr lang="en-US" altLang="zh-CN" sz="1600" b="1"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按照定义，</a:t>
                </a:r>
                <a14:m>
                  <m:oMath xmlns:m="http://schemas.openxmlformats.org/officeDocument/2006/math">
                    <m:sSub>
                      <m:sSubPr>
                        <m:ctrlPr>
                          <a:rPr lang="en-US" altLang="zh-CN" sz="1600" b="0" i="1" smtClean="0">
                            <a:latin typeface="Cambria Math" panose="02040503050406030204" pitchFamily="18" charset="0"/>
                          </a:rPr>
                        </m:ctrlPr>
                      </m:sSubPr>
                      <m:e>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1, 1, 1</m:t>
                            </m:r>
                          </m:e>
                        </m:d>
                      </m:e>
                      <m:sub>
                        <m:r>
                          <a:rPr lang="en-US" altLang="zh-CN" sz="1600" b="0" i="1" smtClean="0">
                            <a:latin typeface="Cambria Math" panose="02040503050406030204" pitchFamily="18" charset="0"/>
                          </a:rPr>
                          <m:t>𝑠𝑅𝐺𝐵</m:t>
                        </m:r>
                      </m:sub>
                    </m:sSub>
                  </m:oMath>
                </a14:m>
                <a:r>
                  <a:rPr lang="zh-CN" altLang="en-US" sz="1600" dirty="0">
                    <a:latin typeface="Noto Sans SC" panose="020B0200000000000000" pitchFamily="34" charset="-122"/>
                    <a:ea typeface="Noto Sans SC" panose="020B0200000000000000" pitchFamily="34" charset="-122"/>
                  </a:rPr>
                  <a:t>对应</a:t>
                </a:r>
                <a:r>
                  <a:rPr lang="en-US" altLang="zh-CN" sz="1600" dirty="0">
                    <a:latin typeface="Noto Sans SC" panose="020B0200000000000000" pitchFamily="34" charset="-122"/>
                    <a:ea typeface="Noto Sans SC" panose="020B0200000000000000" pitchFamily="34" charset="-122"/>
                  </a:rPr>
                  <a:t>Y=1</a:t>
                </a:r>
                <a:r>
                  <a:rPr lang="zh-CN" altLang="en-US" sz="1600" dirty="0">
                    <a:latin typeface="Noto Sans SC" panose="020B0200000000000000" pitchFamily="34" charset="-122"/>
                    <a:ea typeface="Noto Sans SC" panose="020B0200000000000000" pitchFamily="34" charset="-122"/>
                  </a:rPr>
                  <a:t>的</a:t>
                </a:r>
                <a:r>
                  <a:rPr lang="en-US" altLang="zh-CN" sz="1600" dirty="0">
                    <a:latin typeface="Noto Sans SC" panose="020B0200000000000000" pitchFamily="34" charset="-122"/>
                    <a:ea typeface="Noto Sans SC" panose="020B0200000000000000" pitchFamily="34" charset="-122"/>
                  </a:rPr>
                  <a:t>XYZ</a:t>
                </a:r>
                <a:r>
                  <a:rPr lang="zh-CN" altLang="en-US" sz="1600" dirty="0">
                    <a:latin typeface="Noto Sans SC" panose="020B0200000000000000" pitchFamily="34" charset="-122"/>
                    <a:ea typeface="Noto Sans SC" panose="020B0200000000000000" pitchFamily="34" charset="-122"/>
                  </a:rPr>
                  <a:t>颜色，</a:t>
                </a:r>
                <a:r>
                  <a:rPr lang="en-US" altLang="zh-CN" sz="1600" dirty="0">
                    <a:latin typeface="Noto Sans SC" panose="020B0200000000000000" pitchFamily="34" charset="-122"/>
                    <a:ea typeface="Noto Sans SC" panose="020B0200000000000000" pitchFamily="34" charset="-122"/>
                  </a:rPr>
                  <a:t>Y</a:t>
                </a:r>
                <a:r>
                  <a:rPr lang="zh-CN" altLang="en-US" sz="1600" dirty="0">
                    <a:latin typeface="Noto Sans SC" panose="020B0200000000000000" pitchFamily="34" charset="-122"/>
                    <a:ea typeface="Noto Sans SC" panose="020B0200000000000000" pitchFamily="34" charset="-122"/>
                  </a:rPr>
                  <a:t>分量代表亮度。</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如果一束光的颜色为</a:t>
                </a:r>
                <a14:m>
                  <m:oMath xmlns:m="http://schemas.openxmlformats.org/officeDocument/2006/math">
                    <m:sSub>
                      <m:sSubPr>
                        <m:ctrlPr>
                          <a:rPr lang="en-US" altLang="zh-CN" sz="1600" i="1">
                            <a:latin typeface="Cambria Math" panose="02040503050406030204" pitchFamily="18" charset="0"/>
                          </a:rPr>
                        </m:ctrlPr>
                      </m:sSubPr>
                      <m:e>
                        <m:d>
                          <m:dPr>
                            <m:ctrlPr>
                              <a:rPr lang="en-US" altLang="zh-CN" sz="1600" i="1">
                                <a:latin typeface="Cambria Math" panose="02040503050406030204" pitchFamily="18" charset="0"/>
                              </a:rPr>
                            </m:ctrlPr>
                          </m:dPr>
                          <m:e>
                            <m:r>
                              <a:rPr lang="en-US" altLang="zh-CN" sz="1600" i="1">
                                <a:latin typeface="Cambria Math" panose="02040503050406030204" pitchFamily="18" charset="0"/>
                              </a:rPr>
                              <m:t>1, 1, 1</m:t>
                            </m:r>
                          </m:e>
                        </m:d>
                      </m:e>
                      <m:sub>
                        <m:r>
                          <a:rPr lang="en-US" altLang="zh-CN" sz="1600" i="1">
                            <a:latin typeface="Cambria Math" panose="02040503050406030204" pitchFamily="18" charset="0"/>
                          </a:rPr>
                          <m:t>𝑠𝑅𝐺𝐵</m:t>
                        </m:r>
                      </m:sub>
                    </m:sSub>
                  </m:oMath>
                </a14:m>
                <a:r>
                  <a:rPr lang="zh-CN" altLang="en-US" sz="1600" dirty="0">
                    <a:latin typeface="Noto Sans SC" panose="020B0200000000000000" pitchFamily="34" charset="-122"/>
                    <a:ea typeface="Noto Sans SC" panose="020B0200000000000000" pitchFamily="34" charset="-122"/>
                  </a:rPr>
                  <a:t>，辐射率为</a:t>
                </a:r>
                <a14:m>
                  <m:oMath xmlns:m="http://schemas.openxmlformats.org/officeDocument/2006/math">
                    <m:r>
                      <a:rPr lang="en-US" altLang="zh-CN" sz="1600" i="1">
                        <a:latin typeface="Cambria Math" panose="02040503050406030204" pitchFamily="18" charset="0"/>
                      </a:rPr>
                      <m:t>𝐿</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，单位是</a:t>
                </a:r>
                <a14:m>
                  <m:oMath xmlns:m="http://schemas.openxmlformats.org/officeDocument/2006/math">
                    <m:r>
                      <a:rPr lang="en-US" altLang="zh-CN" sz="1600" i="1">
                        <a:latin typeface="Cambria Math" panose="02040503050406030204" pitchFamily="18" charset="0"/>
                      </a:rPr>
                      <m:t>𝑊</m:t>
                    </m:r>
                    <m:r>
                      <a:rPr lang="en-US" altLang="zh-CN" sz="1600" i="1">
                        <a:latin typeface="Cambria Math" panose="02040503050406030204" pitchFamily="18" charset="0"/>
                      </a:rPr>
                      <m:t>/</m:t>
                    </m:r>
                    <m:d>
                      <m:dPr>
                        <m:ctrlPr>
                          <a:rPr lang="en-US" altLang="zh-CN" sz="1600" i="1">
                            <a:latin typeface="Cambria Math" panose="02040503050406030204" pitchFamily="18" charset="0"/>
                          </a:rPr>
                        </m:ctrlPr>
                      </m:dPr>
                      <m:e>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𝑚</m:t>
                            </m:r>
                          </m:e>
                          <m:sup>
                            <m:r>
                              <a:rPr lang="en-US" altLang="zh-CN" sz="1600" i="1">
                                <a:latin typeface="Cambria Math" panose="02040503050406030204" pitchFamily="18" charset="0"/>
                              </a:rPr>
                              <m:t>2</m:t>
                            </m:r>
                          </m:sup>
                        </m:sSup>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𝑠𝑟</m:t>
                        </m:r>
                      </m:e>
                    </m:d>
                  </m:oMath>
                </a14:m>
                <a:r>
                  <a:rPr lang="zh-CN" altLang="en-US" sz="1600" dirty="0">
                    <a:latin typeface="Noto Sans SC" panose="020B0200000000000000" pitchFamily="34" charset="-122"/>
                    <a:ea typeface="Noto Sans SC" panose="020B0200000000000000" pitchFamily="34" charset="-122"/>
                  </a:rPr>
                  <a:t>，用匹配函数</a:t>
                </a:r>
                <a14:m>
                  <m:oMath xmlns:m="http://schemas.openxmlformats.org/officeDocument/2006/math">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𝑦</m:t>
                        </m:r>
                      </m:e>
                    </m:acc>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可以计算得到：</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𝑌</m:t>
                      </m:r>
                      <m:r>
                        <a:rPr lang="en-US" altLang="zh-CN" sz="1600" b="0" i="1" smtClean="0">
                          <a:latin typeface="Cambria Math" panose="02040503050406030204" pitchFamily="18" charset="0"/>
                        </a:rPr>
                        <m:t>=</m:t>
                      </m:r>
                      <m:nary>
                        <m:naryPr>
                          <m:subHide m:val="on"/>
                          <m:supHide m:val="on"/>
                          <m:ctrlPr>
                            <a:rPr lang="en-US" altLang="zh-CN" sz="1600" b="0" i="1" smtClean="0">
                              <a:latin typeface="Cambria Math" panose="02040503050406030204" pitchFamily="18" charset="0"/>
                            </a:rPr>
                          </m:ctrlPr>
                        </m:naryPr>
                        <m:sub/>
                        <m:sup/>
                        <m:e>
                          <m:r>
                            <a:rPr lang="en-US" altLang="zh-CN" sz="1600" b="0" i="1" smtClean="0">
                              <a:latin typeface="Cambria Math" panose="02040503050406030204" pitchFamily="18" charset="0"/>
                            </a:rPr>
                            <m:t>𝐿</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e>
                          </m:d>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𝑦</m:t>
                              </m:r>
                            </m:e>
                          </m:acc>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𝜆</m:t>
                              </m:r>
                            </m:e>
                          </m:d>
                          <m:r>
                            <a:rPr lang="en-US" altLang="zh-CN" sz="1600" b="0" i="1" dirty="0" smtClean="0">
                              <a:latin typeface="Cambria Math" panose="02040503050406030204" pitchFamily="18" charset="0"/>
                            </a:rPr>
                            <m:t>𝑑</m:t>
                          </m:r>
                          <m:r>
                            <a:rPr lang="en-US" altLang="zh-CN" sz="1600" b="0" i="1" dirty="0" smtClean="0">
                              <a:latin typeface="Cambria Math" panose="02040503050406030204" pitchFamily="18" charset="0"/>
                            </a:rPr>
                            <m:t>𝜆</m:t>
                          </m:r>
                        </m:e>
                      </m:nary>
                      <m:r>
                        <a:rPr lang="en-US" altLang="zh-CN" sz="1600" b="0" i="1" smtClean="0">
                          <a:latin typeface="Cambria Math" panose="02040503050406030204" pitchFamily="18" charset="0"/>
                        </a:rPr>
                        <m:t>=1</m:t>
                      </m:r>
                    </m:oMath>
                  </m:oMathPara>
                </a14:m>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这束光的光亮度可以根据光视效能常数</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en-US" altLang="zh-CN" sz="1600" b="0" i="1" smtClean="0">
                            <a:latin typeface="Cambria Math" panose="02040503050406030204" pitchFamily="18" charset="0"/>
                          </a:rPr>
                          <m:t>𝑐𝑑</m:t>
                        </m:r>
                      </m:sub>
                    </m:sSub>
                  </m:oMath>
                </a14:m>
                <a:r>
                  <a:rPr lang="zh-CN" altLang="en-US" sz="1600" dirty="0">
                    <a:latin typeface="Noto Sans SC" panose="020B0200000000000000" pitchFamily="34" charset="-122"/>
                    <a:ea typeface="Noto Sans SC" panose="020B0200000000000000" pitchFamily="34" charset="-122"/>
                  </a:rPr>
                  <a:t>和视见函数</a:t>
                </a:r>
                <a14:m>
                  <m:oMath xmlns:m="http://schemas.openxmlformats.org/officeDocument/2006/math">
                    <m:r>
                      <a:rPr lang="en-US" altLang="zh-CN" sz="1600" b="0" i="1" smtClean="0">
                        <a:latin typeface="Cambria Math" panose="02040503050406030204" pitchFamily="18" charset="0"/>
                      </a:rPr>
                      <m:t>𝑉</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得到：</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m:rPr>
                          <m:nor/>
                        </m:rPr>
                        <a:rPr lang="zh-CN" altLang="en-US" sz="1600" i="0" dirty="0">
                          <a:latin typeface="Noto Sans SC" panose="020B0200000000000000" pitchFamily="34" charset="-122"/>
                          <a:ea typeface="Noto Sans SC" panose="020B0200000000000000" pitchFamily="34" charset="-122"/>
                        </a:rPr>
                        <m:t>光亮度</m:t>
                      </m:r>
                      <m:r>
                        <m:rPr>
                          <m:nor/>
                        </m:rPr>
                        <a:rPr lang="en-US" altLang="zh-CN" sz="1600" b="0" i="0" dirty="0" smtClean="0">
                          <a:latin typeface="Noto Sans SC" panose="020B0200000000000000" pitchFamily="34" charset="-122"/>
                          <a:ea typeface="Noto Sans SC" panose="020B0200000000000000" pitchFamily="34" charset="-122"/>
                        </a:rPr>
                        <m:t> =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en-US" altLang="zh-CN" sz="1600" b="0" i="1" smtClean="0">
                              <a:latin typeface="Cambria Math" panose="02040503050406030204" pitchFamily="18" charset="0"/>
                            </a:rPr>
                            <m:t>𝑐𝑑</m:t>
                          </m:r>
                        </m:sub>
                      </m:sSub>
                      <m:nary>
                        <m:naryPr>
                          <m:subHide m:val="on"/>
                          <m:supHide m:val="on"/>
                          <m:ctrlPr>
                            <a:rPr lang="en-US" altLang="zh-CN" sz="1600" i="1">
                              <a:latin typeface="Cambria Math" panose="02040503050406030204" pitchFamily="18" charset="0"/>
                            </a:rPr>
                          </m:ctrlPr>
                        </m:naryPr>
                        <m:sub/>
                        <m:sup/>
                        <m:e>
                          <m:r>
                            <a:rPr lang="en-US" altLang="zh-CN" sz="1600" i="1">
                              <a:latin typeface="Cambria Math" panose="02040503050406030204" pitchFamily="18" charset="0"/>
                            </a:rPr>
                            <m:t>𝐿</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0" i="1" smtClean="0">
                              <a:latin typeface="Cambria Math" panose="02040503050406030204" pitchFamily="18" charset="0"/>
                            </a:rPr>
                            <m:t>𝑉</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b="0" i="1" dirty="0" smtClean="0">
                          <a:latin typeface="Cambria Math" panose="02040503050406030204" pitchFamily="18" charset="0"/>
                        </a:rPr>
                        <m:t>  </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𝑛𝑖𝑡</m:t>
                          </m:r>
                        </m:e>
                      </m:d>
                    </m:oMath>
                  </m:oMathPara>
                </a14:m>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因为匹配函数</a:t>
                </a:r>
                <a14:m>
                  <m:oMath xmlns:m="http://schemas.openxmlformats.org/officeDocument/2006/math">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𝑦</m:t>
                        </m:r>
                      </m:e>
                    </m:acc>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在数值上等于视见函数</a:t>
                </a:r>
                <a14:m>
                  <m:oMath xmlns:m="http://schemas.openxmlformats.org/officeDocument/2006/math">
                    <m:r>
                      <a:rPr lang="en-US" altLang="zh-CN" sz="1600" i="1">
                        <a:latin typeface="Cambria Math" panose="02040503050406030204" pitchFamily="18" charset="0"/>
                      </a:rPr>
                      <m:t>𝑉</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，于是，颜色为</a:t>
                </a:r>
                <a14:m>
                  <m:oMath xmlns:m="http://schemas.openxmlformats.org/officeDocument/2006/math">
                    <m:sSub>
                      <m:sSubPr>
                        <m:ctrlPr>
                          <a:rPr lang="en-US" altLang="zh-CN" sz="1600" i="1">
                            <a:latin typeface="Cambria Math" panose="02040503050406030204" pitchFamily="18" charset="0"/>
                          </a:rPr>
                        </m:ctrlPr>
                      </m:sSubPr>
                      <m:e>
                        <m:d>
                          <m:dPr>
                            <m:ctrlPr>
                              <a:rPr lang="en-US" altLang="zh-CN" sz="1600" i="1">
                                <a:latin typeface="Cambria Math" panose="02040503050406030204" pitchFamily="18" charset="0"/>
                              </a:rPr>
                            </m:ctrlPr>
                          </m:dPr>
                          <m:e>
                            <m:r>
                              <a:rPr lang="en-US" altLang="zh-CN" sz="1600" i="1">
                                <a:latin typeface="Cambria Math" panose="02040503050406030204" pitchFamily="18" charset="0"/>
                              </a:rPr>
                              <m:t>1, 1, 1</m:t>
                            </m:r>
                          </m:e>
                        </m:d>
                      </m:e>
                      <m:sub>
                        <m:r>
                          <a:rPr lang="en-US" altLang="zh-CN" sz="1600" i="1">
                            <a:latin typeface="Cambria Math" panose="02040503050406030204" pitchFamily="18" charset="0"/>
                          </a:rPr>
                          <m:t>𝑠𝑅𝐺𝐵</m:t>
                        </m:r>
                      </m:sub>
                    </m:sSub>
                  </m:oMath>
                </a14:m>
                <a:r>
                  <a:rPr lang="zh-CN" altLang="en-US" sz="1600" dirty="0">
                    <a:latin typeface="Noto Sans SC" panose="020B0200000000000000" pitchFamily="34" charset="-122"/>
                    <a:ea typeface="Noto Sans SC" panose="020B0200000000000000" pitchFamily="34" charset="-122"/>
                  </a:rPr>
                  <a:t>的光对应的光亮度为：</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m:rPr>
                          <m:nor/>
                        </m:rPr>
                        <a:rPr lang="zh-CN" altLang="en-US" sz="1600" i="0" dirty="0">
                          <a:latin typeface="Noto Sans SC" panose="020B0200000000000000" pitchFamily="34" charset="-122"/>
                          <a:ea typeface="Noto Sans SC" panose="020B0200000000000000" pitchFamily="34" charset="-122"/>
                        </a:rPr>
                        <m:t>光</m:t>
                      </m:r>
                      <m:r>
                        <m:rPr>
                          <m:nor/>
                        </m:rPr>
                        <a:rPr lang="zh-CN" altLang="en-US" sz="1600" i="0" dirty="0" smtClean="0">
                          <a:latin typeface="Noto Sans SC" panose="020B0200000000000000" pitchFamily="34" charset="-122"/>
                          <a:ea typeface="Noto Sans SC" panose="020B0200000000000000" pitchFamily="34" charset="-122"/>
                        </a:rPr>
                        <m:t>亮度</m:t>
                      </m:r>
                      <m:r>
                        <m:rPr>
                          <m:nor/>
                        </m:rPr>
                        <a:rPr lang="en-US" altLang="zh-CN" sz="1600" i="0" dirty="0" smtClean="0">
                          <a:latin typeface="Noto Sans SC" panose="020B0200000000000000" pitchFamily="34" charset="-122"/>
                          <a:ea typeface="Noto Sans SC" panose="020B0200000000000000" pitchFamily="34" charset="-122"/>
                        </a:rPr>
                        <m:t> =</m:t>
                      </m:r>
                      <m:r>
                        <m:rPr>
                          <m:nor/>
                        </m:rPr>
                        <a:rPr lang="en-US" altLang="zh-CN" sz="1600" b="0" i="0" dirty="0" smtClean="0">
                          <a:latin typeface="Noto Sans SC" panose="020B0200000000000000" pitchFamily="34" charset="-122"/>
                          <a:ea typeface="Noto Sans SC" panose="020B0200000000000000" pitchFamily="34" charset="-122"/>
                        </a:rPr>
                        <m:t>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𝐾</m:t>
                          </m:r>
                        </m:e>
                        <m:sub>
                          <m:r>
                            <a:rPr lang="en-US" altLang="zh-CN" sz="1600" b="0" i="1" smtClean="0">
                              <a:latin typeface="Cambria Math" panose="02040503050406030204" pitchFamily="18" charset="0"/>
                            </a:rPr>
                            <m:t>𝑐𝑑</m:t>
                          </m:r>
                        </m:sub>
                      </m:sSub>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𝑌</m:t>
                      </m:r>
                      <m:r>
                        <a:rPr lang="en-US" altLang="zh-CN" sz="1600" b="0" i="1" smtClean="0">
                          <a:latin typeface="Cambria Math" panose="02040503050406030204" pitchFamily="18" charset="0"/>
                          <a:ea typeface="Cambria Math" panose="02040503050406030204" pitchFamily="18" charset="0"/>
                        </a:rPr>
                        <m:t>=683 </m:t>
                      </m:r>
                      <m:r>
                        <m:rPr>
                          <m:sty m:val="p"/>
                        </m:rPr>
                        <a:rPr lang="en-US" altLang="zh-CN" sz="1600" i="1">
                          <a:latin typeface="Cambria Math" panose="02040503050406030204" pitchFamily="18" charset="0"/>
                          <a:ea typeface="Cambria Math" panose="02040503050406030204" pitchFamily="18" charset="0"/>
                        </a:rPr>
                        <m:t>ni</m:t>
                      </m:r>
                      <m:r>
                        <a:rPr lang="en-US" altLang="zh-CN" sz="1600" b="0" i="1" smtClean="0">
                          <a:latin typeface="Cambria Math" panose="02040503050406030204" pitchFamily="18" charset="0"/>
                          <a:ea typeface="Cambria Math" panose="02040503050406030204" pitchFamily="18" charset="0"/>
                        </a:rPr>
                        <m:t>𝑡</m:t>
                      </m:r>
                    </m:oMath>
                  </m:oMathPara>
                </a14:m>
                <a:endParaRPr lang="en-US" altLang="zh-CN" sz="1600" dirty="0">
                  <a:latin typeface="Noto Sans SC" panose="020B0200000000000000" pitchFamily="34" charset="-122"/>
                  <a:ea typeface="Noto Sans SC" panose="020B0200000000000000" pitchFamily="34" charset="-122"/>
                </a:endParaRPr>
              </a:p>
              <a:p>
                <a:pPr algn="just"/>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但是实际上，</a:t>
                </a:r>
                <a14:m>
                  <m:oMath xmlns:m="http://schemas.openxmlformats.org/officeDocument/2006/math">
                    <m:sSub>
                      <m:sSubPr>
                        <m:ctrlPr>
                          <a:rPr lang="en-US" altLang="zh-CN" sz="1600" i="1">
                            <a:latin typeface="Cambria Math" panose="02040503050406030204" pitchFamily="18" charset="0"/>
                          </a:rPr>
                        </m:ctrlPr>
                      </m:sSubPr>
                      <m:e>
                        <m:d>
                          <m:dPr>
                            <m:ctrlPr>
                              <a:rPr lang="en-US" altLang="zh-CN" sz="1600" i="1">
                                <a:latin typeface="Cambria Math" panose="02040503050406030204" pitchFamily="18" charset="0"/>
                              </a:rPr>
                            </m:ctrlPr>
                          </m:dPr>
                          <m:e>
                            <m:r>
                              <a:rPr lang="en-US" altLang="zh-CN" sz="1600" i="1">
                                <a:latin typeface="Cambria Math" panose="02040503050406030204" pitchFamily="18" charset="0"/>
                              </a:rPr>
                              <m:t>1, 1, 1</m:t>
                            </m:r>
                          </m:e>
                        </m:d>
                      </m:e>
                      <m:sub>
                        <m:r>
                          <a:rPr lang="en-US" altLang="zh-CN" sz="1600" i="1">
                            <a:latin typeface="Cambria Math" panose="02040503050406030204" pitchFamily="18" charset="0"/>
                          </a:rPr>
                          <m:t>𝑠𝑅𝐺𝐵</m:t>
                        </m:r>
                      </m:sub>
                    </m:sSub>
                  </m:oMath>
                </a14:m>
                <a:r>
                  <a:rPr lang="zh-CN" altLang="en-US" sz="1600" dirty="0">
                    <a:latin typeface="Noto Sans SC" panose="020B0200000000000000" pitchFamily="34" charset="-122"/>
                    <a:ea typeface="Noto Sans SC" panose="020B0200000000000000" pitchFamily="34" charset="-122"/>
                  </a:rPr>
                  <a:t>并不一定是</a:t>
                </a:r>
                <a:r>
                  <a:rPr lang="en-US" altLang="zh-CN" sz="1600" dirty="0">
                    <a:latin typeface="Noto Sans SC" panose="020B0200000000000000" pitchFamily="34" charset="-122"/>
                    <a:ea typeface="Noto Sans SC" panose="020B0200000000000000" pitchFamily="34" charset="-122"/>
                  </a:rPr>
                  <a:t>683 nit</a:t>
                </a:r>
                <a:r>
                  <a:rPr lang="zh-CN" altLang="en-US" sz="1600" dirty="0">
                    <a:latin typeface="Noto Sans SC" panose="020B0200000000000000" pitchFamily="34" charset="-122"/>
                    <a:ea typeface="Noto Sans SC" panose="020B0200000000000000" pitchFamily="34" charset="-122"/>
                  </a:rPr>
                  <a:t>。如果一个显示器屏幕上的一个像素显示的颜色为</a:t>
                </a:r>
                <a14:m>
                  <m:oMath xmlns:m="http://schemas.openxmlformats.org/officeDocument/2006/math">
                    <m:sSub>
                      <m:sSubPr>
                        <m:ctrlPr>
                          <a:rPr lang="en-US" altLang="zh-CN" sz="1600" i="1">
                            <a:latin typeface="Cambria Math" panose="02040503050406030204" pitchFamily="18" charset="0"/>
                          </a:rPr>
                        </m:ctrlPr>
                      </m:sSubPr>
                      <m:e>
                        <m:d>
                          <m:dPr>
                            <m:ctrlPr>
                              <a:rPr lang="en-US" altLang="zh-CN" sz="1600" i="1">
                                <a:latin typeface="Cambria Math" panose="02040503050406030204" pitchFamily="18" charset="0"/>
                              </a:rPr>
                            </m:ctrlPr>
                          </m:dPr>
                          <m:e>
                            <m:r>
                              <a:rPr lang="en-US" altLang="zh-CN" sz="1600" i="1">
                                <a:latin typeface="Cambria Math" panose="02040503050406030204" pitchFamily="18" charset="0"/>
                              </a:rPr>
                              <m:t>1, 1, 1</m:t>
                            </m:r>
                          </m:e>
                        </m:d>
                      </m:e>
                      <m:sub>
                        <m:r>
                          <a:rPr lang="en-US" altLang="zh-CN" sz="1600" i="1">
                            <a:latin typeface="Cambria Math" panose="02040503050406030204" pitchFamily="18" charset="0"/>
                          </a:rPr>
                          <m:t>𝑠𝑅𝐺𝐵</m:t>
                        </m:r>
                      </m:sub>
                    </m:sSub>
                  </m:oMath>
                </a14:m>
                <a:r>
                  <a:rPr lang="zh-CN" altLang="en-US" sz="1600" dirty="0">
                    <a:latin typeface="Noto Sans SC" panose="020B0200000000000000" pitchFamily="34" charset="-122"/>
                    <a:ea typeface="Noto Sans SC" panose="020B0200000000000000" pitchFamily="34" charset="-122"/>
                  </a:rPr>
                  <a:t>，那么其亮度由显示器的亮度决定，如果调亮或调暗显示器的整体亮度，那么</a:t>
                </a:r>
                <a14:m>
                  <m:oMath xmlns:m="http://schemas.openxmlformats.org/officeDocument/2006/math">
                    <m:sSub>
                      <m:sSubPr>
                        <m:ctrlPr>
                          <a:rPr lang="en-US" altLang="zh-CN" sz="1600" i="1">
                            <a:latin typeface="Cambria Math" panose="02040503050406030204" pitchFamily="18" charset="0"/>
                          </a:rPr>
                        </m:ctrlPr>
                      </m:sSubPr>
                      <m:e>
                        <m:d>
                          <m:dPr>
                            <m:ctrlPr>
                              <a:rPr lang="en-US" altLang="zh-CN" sz="1600" i="1">
                                <a:latin typeface="Cambria Math" panose="02040503050406030204" pitchFamily="18" charset="0"/>
                              </a:rPr>
                            </m:ctrlPr>
                          </m:dPr>
                          <m:e>
                            <m:r>
                              <a:rPr lang="en-US" altLang="zh-CN" sz="1600" i="1">
                                <a:latin typeface="Cambria Math" panose="02040503050406030204" pitchFamily="18" charset="0"/>
                              </a:rPr>
                              <m:t>1, 1, 1</m:t>
                            </m:r>
                          </m:e>
                        </m:d>
                      </m:e>
                      <m:sub>
                        <m:r>
                          <a:rPr lang="en-US" altLang="zh-CN" sz="1600" i="1">
                            <a:latin typeface="Cambria Math" panose="02040503050406030204" pitchFamily="18" charset="0"/>
                          </a:rPr>
                          <m:t>𝑠𝑅𝐺𝐵</m:t>
                        </m:r>
                      </m:sub>
                    </m:sSub>
                  </m:oMath>
                </a14:m>
                <a:r>
                  <a:rPr lang="zh-CN" altLang="en-US" sz="1600" dirty="0">
                    <a:latin typeface="Noto Sans SC" panose="020B0200000000000000" pitchFamily="34" charset="-122"/>
                    <a:ea typeface="Noto Sans SC" panose="020B0200000000000000" pitchFamily="34" charset="-122"/>
                  </a:rPr>
                  <a:t>的亮度也会发生改变。</a:t>
                </a:r>
                <a:endParaRPr lang="en-US" altLang="zh-CN" sz="1600" dirty="0">
                  <a:latin typeface="Noto Sans SC" panose="020B0200000000000000" pitchFamily="34" charset="-122"/>
                  <a:ea typeface="Noto Sans SC" panose="020B0200000000000000" pitchFamily="34" charset="-122"/>
                </a:endParaRPr>
              </a:p>
            </p:txBody>
          </p:sp>
        </mc:Choice>
        <mc:Fallback xmlns="">
          <p:sp>
            <p:nvSpPr>
              <p:cNvPr id="4" name="文本框 3">
                <a:extLst>
                  <a:ext uri="{FF2B5EF4-FFF2-40B4-BE49-F238E27FC236}">
                    <a16:creationId xmlns:a16="http://schemas.microsoft.com/office/drawing/2014/main" id="{51736367-0EE1-1752-91EE-8D79D06187AD}"/>
                  </a:ext>
                </a:extLst>
              </p:cNvPr>
              <p:cNvSpPr txBox="1">
                <a:spLocks noRot="1" noChangeAspect="1" noMove="1" noResize="1" noEditPoints="1" noAdjustHandles="1" noChangeArrowheads="1" noChangeShapeType="1" noTextEdit="1"/>
              </p:cNvSpPr>
              <p:nvPr/>
            </p:nvSpPr>
            <p:spPr>
              <a:xfrm>
                <a:off x="457201" y="2044382"/>
                <a:ext cx="6259132" cy="4797788"/>
              </a:xfrm>
              <a:prstGeom prst="rect">
                <a:avLst/>
              </a:prstGeom>
              <a:blipFill>
                <a:blip r:embed="rId2"/>
                <a:stretch>
                  <a:fillRect l="-487" t="-381" r="-487" b="-6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2B0BBF9-406D-2D62-826F-D1B606F9BCDD}"/>
                  </a:ext>
                </a:extLst>
              </p:cNvPr>
              <p:cNvSpPr txBox="1"/>
              <p:nvPr/>
            </p:nvSpPr>
            <p:spPr>
              <a:xfrm>
                <a:off x="6878250" y="5198255"/>
                <a:ext cx="4950995" cy="1323439"/>
              </a:xfrm>
              <a:prstGeom prst="rect">
                <a:avLst/>
              </a:prstGeom>
              <a:noFill/>
            </p:spPr>
            <p:txBody>
              <a:bodyPr wrap="square">
                <a:spAutoFit/>
              </a:bodyPr>
              <a:lstStyle/>
              <a:p>
                <a:pPr algn="just"/>
                <a:r>
                  <a:rPr lang="zh-CN" altLang="en-US" sz="1600" dirty="0">
                    <a:latin typeface="Noto Sans SC" panose="020B0200000000000000" pitchFamily="34" charset="-122"/>
                    <a:ea typeface="Noto Sans SC" panose="020B0200000000000000" pitchFamily="34" charset="-122"/>
                  </a:rPr>
                  <a:t>         因此，一个具体数值的颜色实际上并不对应绝对亮度，而是对应相对的亮度。线性颜色</a:t>
                </a:r>
                <a14:m>
                  <m:oMath xmlns:m="http://schemas.openxmlformats.org/officeDocument/2006/math">
                    <m:sSub>
                      <m:sSubPr>
                        <m:ctrlPr>
                          <a:rPr lang="en-US" altLang="zh-CN" sz="1600" i="1">
                            <a:latin typeface="Cambria Math" panose="02040503050406030204" pitchFamily="18" charset="0"/>
                          </a:rPr>
                        </m:ctrlPr>
                      </m:sSubPr>
                      <m:e>
                        <m:d>
                          <m:dPr>
                            <m:ctrlPr>
                              <a:rPr lang="en-US" altLang="zh-CN" sz="1600" i="1">
                                <a:latin typeface="Cambria Math" panose="02040503050406030204" pitchFamily="18" charset="0"/>
                              </a:rPr>
                            </m:ctrlPr>
                          </m:dPr>
                          <m:e>
                            <m:r>
                              <a:rPr lang="en-US" altLang="zh-CN" sz="1600" i="1">
                                <a:latin typeface="Cambria Math" panose="02040503050406030204" pitchFamily="18" charset="0"/>
                              </a:rPr>
                              <m:t>1, 1, 1</m:t>
                            </m:r>
                          </m:e>
                        </m:d>
                      </m:e>
                      <m:sub>
                        <m:r>
                          <a:rPr lang="en-US" altLang="zh-CN" sz="1600" i="1">
                            <a:latin typeface="Cambria Math" panose="02040503050406030204" pitchFamily="18" charset="0"/>
                          </a:rPr>
                          <m:t>𝑠𝑅𝐺𝐵</m:t>
                        </m:r>
                      </m:sub>
                    </m:sSub>
                  </m:oMath>
                </a14:m>
                <a:r>
                  <a:rPr lang="zh-CN" altLang="en-US" sz="1600" dirty="0">
                    <a:latin typeface="Noto Sans SC" panose="020B0200000000000000" pitchFamily="34" charset="-122"/>
                    <a:ea typeface="Noto Sans SC" panose="020B0200000000000000" pitchFamily="34" charset="-122"/>
                  </a:rPr>
                  <a:t>的亮度对应显示器能显示的最大亮度，而线性颜色</a:t>
                </a:r>
                <a14:m>
                  <m:oMath xmlns:m="http://schemas.openxmlformats.org/officeDocument/2006/math">
                    <m:sSub>
                      <m:sSubPr>
                        <m:ctrlPr>
                          <a:rPr lang="en-US" altLang="zh-CN" sz="1600" b="0" i="1" smtClean="0">
                            <a:latin typeface="Cambria Math" panose="02040503050406030204" pitchFamily="18" charset="0"/>
                          </a:rPr>
                        </m:ctrlPr>
                      </m:sSubPr>
                      <m:e>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0.5,</m:t>
                            </m:r>
                            <m:r>
                              <a:rPr lang="en-US" altLang="zh-CN" sz="1600" i="1">
                                <a:latin typeface="Cambria Math" panose="02040503050406030204" pitchFamily="18" charset="0"/>
                              </a:rPr>
                              <m:t> </m:t>
                            </m:r>
                            <m:r>
                              <a:rPr lang="en-US" altLang="zh-CN" sz="1600" b="0" i="1" smtClean="0">
                                <a:latin typeface="Cambria Math" panose="02040503050406030204" pitchFamily="18" charset="0"/>
                              </a:rPr>
                              <m:t>0.5,</m:t>
                            </m:r>
                            <m:r>
                              <a:rPr lang="en-US" altLang="zh-CN" sz="1600" i="1">
                                <a:latin typeface="Cambria Math" panose="02040503050406030204" pitchFamily="18" charset="0"/>
                              </a:rPr>
                              <m:t> </m:t>
                            </m:r>
                            <m:r>
                              <a:rPr lang="en-US" altLang="zh-CN" sz="1600" b="0" i="1" smtClean="0">
                                <a:latin typeface="Cambria Math" panose="02040503050406030204" pitchFamily="18" charset="0"/>
                              </a:rPr>
                              <m:t>0.5</m:t>
                            </m:r>
                          </m:e>
                        </m:d>
                      </m:e>
                      <m:sub>
                        <m:r>
                          <a:rPr lang="en-US" altLang="zh-CN" sz="1600" i="1">
                            <a:latin typeface="Cambria Math" panose="02040503050406030204" pitchFamily="18" charset="0"/>
                          </a:rPr>
                          <m:t>𝑠𝑅𝐺𝐵</m:t>
                        </m:r>
                      </m:sub>
                    </m:sSub>
                  </m:oMath>
                </a14:m>
                <a:r>
                  <a:rPr lang="zh-CN" altLang="en-US" sz="1600" dirty="0">
                    <a:latin typeface="Noto Sans SC" panose="020B0200000000000000" pitchFamily="34" charset="-122"/>
                    <a:ea typeface="Noto Sans SC" panose="020B0200000000000000" pitchFamily="34" charset="-122"/>
                  </a:rPr>
                  <a:t>的亮度则对应显示器最大亮度的一半。</a:t>
                </a:r>
                <a:endParaRPr lang="zh-CN" altLang="en-US" dirty="0">
                  <a:latin typeface="Noto Sans SC" panose="020B0200000000000000" pitchFamily="34" charset="-122"/>
                  <a:ea typeface="Noto Sans SC" panose="020B0200000000000000" pitchFamily="34" charset="-122"/>
                </a:endParaRPr>
              </a:p>
            </p:txBody>
          </p:sp>
        </mc:Choice>
        <mc:Fallback xmlns="">
          <p:sp>
            <p:nvSpPr>
              <p:cNvPr id="8" name="文本框 7">
                <a:extLst>
                  <a:ext uri="{FF2B5EF4-FFF2-40B4-BE49-F238E27FC236}">
                    <a16:creationId xmlns:a16="http://schemas.microsoft.com/office/drawing/2014/main" id="{52B0BBF9-406D-2D62-826F-D1B606F9BCDD}"/>
                  </a:ext>
                </a:extLst>
              </p:cNvPr>
              <p:cNvSpPr txBox="1">
                <a:spLocks noRot="1" noChangeAspect="1" noMove="1" noResize="1" noEditPoints="1" noAdjustHandles="1" noChangeArrowheads="1" noChangeShapeType="1" noTextEdit="1"/>
              </p:cNvSpPr>
              <p:nvPr/>
            </p:nvSpPr>
            <p:spPr>
              <a:xfrm>
                <a:off x="6878250" y="5198255"/>
                <a:ext cx="4950995" cy="1323439"/>
              </a:xfrm>
              <a:prstGeom prst="rect">
                <a:avLst/>
              </a:prstGeom>
              <a:blipFill>
                <a:blip r:embed="rId3"/>
                <a:stretch>
                  <a:fillRect l="-616" t="-1382" r="-739" b="-5069"/>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043FD19F-2F1C-FF89-D7DC-2DA125993E51}"/>
              </a:ext>
            </a:extLst>
          </p:cNvPr>
          <p:cNvGrpSpPr/>
          <p:nvPr/>
        </p:nvGrpSpPr>
        <p:grpSpPr>
          <a:xfrm>
            <a:off x="7088288" y="1235972"/>
            <a:ext cx="4646511" cy="3391909"/>
            <a:chOff x="7276564" y="1080000"/>
            <a:chExt cx="4333740" cy="3163589"/>
          </a:xfrm>
        </p:grpSpPr>
        <p:sp>
          <p:nvSpPr>
            <p:cNvPr id="9" name="矩形 8">
              <a:extLst>
                <a:ext uri="{FF2B5EF4-FFF2-40B4-BE49-F238E27FC236}">
                  <a16:creationId xmlns:a16="http://schemas.microsoft.com/office/drawing/2014/main" id="{D682B7D4-A964-593E-8FA7-1D9BC12BC4A8}"/>
                </a:ext>
              </a:extLst>
            </p:cNvPr>
            <p:cNvSpPr/>
            <p:nvPr/>
          </p:nvSpPr>
          <p:spPr>
            <a:xfrm>
              <a:off x="7276564" y="1080000"/>
              <a:ext cx="4333740" cy="3163589"/>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0" name="矩形 9">
              <a:extLst>
                <a:ext uri="{FF2B5EF4-FFF2-40B4-BE49-F238E27FC236}">
                  <a16:creationId xmlns:a16="http://schemas.microsoft.com/office/drawing/2014/main" id="{0DCA80AC-1E3E-E546-A6C8-841F7C3AEDE1}"/>
                </a:ext>
              </a:extLst>
            </p:cNvPr>
            <p:cNvSpPr/>
            <p:nvPr/>
          </p:nvSpPr>
          <p:spPr>
            <a:xfrm>
              <a:off x="7452575" y="1256352"/>
              <a:ext cx="1215594" cy="1841679"/>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3" name="矩形 12">
              <a:extLst>
                <a:ext uri="{FF2B5EF4-FFF2-40B4-BE49-F238E27FC236}">
                  <a16:creationId xmlns:a16="http://schemas.microsoft.com/office/drawing/2014/main" id="{030CA398-E8F6-C016-355E-62FAD5D00870}"/>
                </a:ext>
              </a:extLst>
            </p:cNvPr>
            <p:cNvSpPr/>
            <p:nvPr/>
          </p:nvSpPr>
          <p:spPr>
            <a:xfrm>
              <a:off x="10212947" y="1256351"/>
              <a:ext cx="1215594" cy="1841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sp>
          <p:nvSpPr>
            <p:cNvPr id="16" name="矩形 15">
              <a:extLst>
                <a:ext uri="{FF2B5EF4-FFF2-40B4-BE49-F238E27FC236}">
                  <a16:creationId xmlns:a16="http://schemas.microsoft.com/office/drawing/2014/main" id="{0CB1BAEE-4545-EABB-B031-55A3E69814F0}"/>
                </a:ext>
              </a:extLst>
            </p:cNvPr>
            <p:cNvSpPr/>
            <p:nvPr/>
          </p:nvSpPr>
          <p:spPr>
            <a:xfrm>
              <a:off x="8832761" y="1256350"/>
              <a:ext cx="1215594" cy="1841679"/>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ECBFBCF-4581-67C1-4912-12BADED90ED6}"/>
                    </a:ext>
                  </a:extLst>
                </p:cNvPr>
                <p:cNvSpPr txBox="1"/>
                <p:nvPr/>
              </p:nvSpPr>
              <p:spPr>
                <a:xfrm>
                  <a:off x="10406592" y="3098029"/>
                  <a:ext cx="771053" cy="3444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𝑌</m:t>
                        </m:r>
                        <m:r>
                          <a:rPr lang="en-US" altLang="zh-CN" b="0" i="1" smtClean="0">
                            <a:solidFill>
                              <a:schemeClr val="bg1"/>
                            </a:solidFill>
                            <a:latin typeface="Cambria Math" panose="02040503050406030204" pitchFamily="18" charset="0"/>
                          </a:rPr>
                          <m:t>=1</m:t>
                        </m:r>
                      </m:oMath>
                    </m:oMathPara>
                  </a14:m>
                  <a:endParaRPr lang="zh-CN" altLang="en-US" dirty="0">
                    <a:solidFill>
                      <a:schemeClr val="bg1"/>
                    </a:solidFill>
                    <a:latin typeface="Noto Sans SC" panose="020B0200000000000000" pitchFamily="34" charset="-122"/>
                    <a:ea typeface="Noto Sans SC" panose="020B0200000000000000" pitchFamily="34" charset="-122"/>
                  </a:endParaRPr>
                </a:p>
              </p:txBody>
            </p:sp>
          </mc:Choice>
          <mc:Fallback xmlns="">
            <p:sp>
              <p:nvSpPr>
                <p:cNvPr id="17" name="文本框 16">
                  <a:extLst>
                    <a:ext uri="{FF2B5EF4-FFF2-40B4-BE49-F238E27FC236}">
                      <a16:creationId xmlns:a16="http://schemas.microsoft.com/office/drawing/2014/main" id="{EECBFBCF-4581-67C1-4912-12BADED90ED6}"/>
                    </a:ext>
                  </a:extLst>
                </p:cNvPr>
                <p:cNvSpPr txBox="1">
                  <a:spLocks noRot="1" noChangeAspect="1" noMove="1" noResize="1" noEditPoints="1" noAdjustHandles="1" noChangeArrowheads="1" noChangeShapeType="1" noTextEdit="1"/>
                </p:cNvSpPr>
                <p:nvPr/>
              </p:nvSpPr>
              <p:spPr>
                <a:xfrm>
                  <a:off x="10406592" y="3098029"/>
                  <a:ext cx="771053" cy="344471"/>
                </a:xfrm>
                <a:prstGeom prst="rect">
                  <a:avLst/>
                </a:prstGeom>
                <a:blipFill>
                  <a:blip r:embed="rId4"/>
                  <a:stretch>
                    <a:fillRect t="-10000" r="-8088"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B07D93D-B963-865B-7DBE-9A85F1964540}"/>
                    </a:ext>
                  </a:extLst>
                </p:cNvPr>
                <p:cNvSpPr txBox="1"/>
                <p:nvPr/>
              </p:nvSpPr>
              <p:spPr>
                <a:xfrm>
                  <a:off x="8938241" y="3098029"/>
                  <a:ext cx="935513" cy="3444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𝑌</m:t>
                        </m:r>
                        <m:r>
                          <a:rPr lang="en-US" altLang="zh-CN" b="0" i="1" smtClean="0">
                            <a:solidFill>
                              <a:schemeClr val="bg1"/>
                            </a:solidFill>
                            <a:latin typeface="Cambria Math" panose="02040503050406030204" pitchFamily="18" charset="0"/>
                          </a:rPr>
                          <m:t>=0.7</m:t>
                        </m:r>
                      </m:oMath>
                    </m:oMathPara>
                  </a14:m>
                  <a:endParaRPr lang="zh-CN" altLang="en-US" dirty="0">
                    <a:solidFill>
                      <a:schemeClr val="bg1"/>
                    </a:solidFill>
                    <a:latin typeface="Noto Sans SC" panose="020B0200000000000000" pitchFamily="34" charset="-122"/>
                    <a:ea typeface="Noto Sans SC" panose="020B0200000000000000" pitchFamily="34" charset="-122"/>
                  </a:endParaRPr>
                </a:p>
              </p:txBody>
            </p:sp>
          </mc:Choice>
          <mc:Fallback xmlns="">
            <p:sp>
              <p:nvSpPr>
                <p:cNvPr id="19" name="文本框 18">
                  <a:extLst>
                    <a:ext uri="{FF2B5EF4-FFF2-40B4-BE49-F238E27FC236}">
                      <a16:creationId xmlns:a16="http://schemas.microsoft.com/office/drawing/2014/main" id="{3B07D93D-B963-865B-7DBE-9A85F1964540}"/>
                    </a:ext>
                  </a:extLst>
                </p:cNvPr>
                <p:cNvSpPr txBox="1">
                  <a:spLocks noRot="1" noChangeAspect="1" noMove="1" noResize="1" noEditPoints="1" noAdjustHandles="1" noChangeArrowheads="1" noChangeShapeType="1" noTextEdit="1"/>
                </p:cNvSpPr>
                <p:nvPr/>
              </p:nvSpPr>
              <p:spPr>
                <a:xfrm>
                  <a:off x="8938241" y="3098029"/>
                  <a:ext cx="935513" cy="344471"/>
                </a:xfrm>
                <a:prstGeom prst="rect">
                  <a:avLst/>
                </a:prstGeom>
                <a:blipFill>
                  <a:blip r:embed="rId5"/>
                  <a:stretch>
                    <a:fillRect t="-10000" r="-666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A6D35ED-9100-65B9-E649-F7C263EE3251}"/>
                    </a:ext>
                  </a:extLst>
                </p:cNvPr>
                <p:cNvSpPr txBox="1"/>
                <p:nvPr/>
              </p:nvSpPr>
              <p:spPr>
                <a:xfrm>
                  <a:off x="7558055" y="3098029"/>
                  <a:ext cx="935513" cy="3444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𝑌</m:t>
                        </m:r>
                        <m:r>
                          <a:rPr lang="en-US" altLang="zh-CN" b="0" i="1" smtClean="0">
                            <a:solidFill>
                              <a:schemeClr val="bg1"/>
                            </a:solidFill>
                            <a:latin typeface="Cambria Math" panose="02040503050406030204" pitchFamily="18" charset="0"/>
                          </a:rPr>
                          <m:t>=0.3</m:t>
                        </m:r>
                      </m:oMath>
                    </m:oMathPara>
                  </a14:m>
                  <a:endParaRPr lang="zh-CN" altLang="en-US" dirty="0">
                    <a:solidFill>
                      <a:schemeClr val="bg1"/>
                    </a:solidFill>
                    <a:latin typeface="Noto Sans SC" panose="020B0200000000000000" pitchFamily="34" charset="-122"/>
                    <a:ea typeface="Noto Sans SC" panose="020B0200000000000000" pitchFamily="34" charset="-122"/>
                  </a:endParaRPr>
                </a:p>
              </p:txBody>
            </p:sp>
          </mc:Choice>
          <mc:Fallback xmlns="">
            <p:sp>
              <p:nvSpPr>
                <p:cNvPr id="21" name="文本框 20">
                  <a:extLst>
                    <a:ext uri="{FF2B5EF4-FFF2-40B4-BE49-F238E27FC236}">
                      <a16:creationId xmlns:a16="http://schemas.microsoft.com/office/drawing/2014/main" id="{5A6D35ED-9100-65B9-E649-F7C263EE3251}"/>
                    </a:ext>
                  </a:extLst>
                </p:cNvPr>
                <p:cNvSpPr txBox="1">
                  <a:spLocks noRot="1" noChangeAspect="1" noMove="1" noResize="1" noEditPoints="1" noAdjustHandles="1" noChangeArrowheads="1" noChangeShapeType="1" noTextEdit="1"/>
                </p:cNvSpPr>
                <p:nvPr/>
              </p:nvSpPr>
              <p:spPr>
                <a:xfrm>
                  <a:off x="7558055" y="3098029"/>
                  <a:ext cx="935513" cy="344471"/>
                </a:xfrm>
                <a:prstGeom prst="rect">
                  <a:avLst/>
                </a:prstGeom>
                <a:blipFill>
                  <a:blip r:embed="rId6"/>
                  <a:stretch>
                    <a:fillRect t="-10000" r="-666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64709D34-843D-0EC3-84B7-0B97441737D3}"/>
                    </a:ext>
                  </a:extLst>
                </p:cNvPr>
                <p:cNvSpPr txBox="1"/>
                <p:nvPr/>
              </p:nvSpPr>
              <p:spPr>
                <a:xfrm>
                  <a:off x="7484317" y="3594105"/>
                  <a:ext cx="3648403" cy="3497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chemeClr val="bg1"/>
                            </a:solidFill>
                            <a:latin typeface="Cambria Math" panose="02040503050406030204" pitchFamily="18" charset="0"/>
                          </a:rPr>
                          <m:t>显示亮度</m:t>
                        </m:r>
                        <m:r>
                          <a:rPr lang="en-US" altLang="zh-CN" b="0" i="1" smtClean="0">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相对</m:t>
                        </m:r>
                        <m:r>
                          <a:rPr lang="zh-CN" altLang="en-US" i="1" smtClean="0">
                            <a:solidFill>
                              <a:schemeClr val="bg1"/>
                            </a:solidFill>
                            <a:latin typeface="Cambria Math" panose="02040503050406030204" pitchFamily="18" charset="0"/>
                          </a:rPr>
                          <m:t>亮度</m:t>
                        </m:r>
                        <m:d>
                          <m:dPr>
                            <m:ctrlPr>
                              <a:rPr lang="en-US" altLang="zh-CN" b="0" i="1" smtClean="0">
                                <a:solidFill>
                                  <a:schemeClr val="bg1"/>
                                </a:solidFill>
                                <a:latin typeface="Cambria Math" panose="02040503050406030204" pitchFamily="18" charset="0"/>
                              </a:rPr>
                            </m:ctrlPr>
                          </m:dPr>
                          <m:e>
                            <m:r>
                              <a:rPr lang="en-US" altLang="zh-CN" b="0" i="1" smtClean="0">
                                <a:solidFill>
                                  <a:schemeClr val="bg1"/>
                                </a:solidFill>
                                <a:latin typeface="Cambria Math" panose="02040503050406030204" pitchFamily="18" charset="0"/>
                              </a:rPr>
                              <m:t>𝑌</m:t>
                            </m:r>
                          </m:e>
                        </m:d>
                        <m:r>
                          <a:rPr lang="en-US" altLang="zh-CN" b="0" i="1" smtClean="0">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最大</m:t>
                        </m:r>
                        <m:r>
                          <a:rPr lang="zh-CN" altLang="en-US" i="1" smtClean="0">
                            <a:solidFill>
                              <a:schemeClr val="bg1"/>
                            </a:solidFill>
                            <a:latin typeface="Cambria Math" panose="02040503050406030204" pitchFamily="18" charset="0"/>
                          </a:rPr>
                          <m:t>亮度</m:t>
                        </m:r>
                      </m:oMath>
                    </m:oMathPara>
                  </a14:m>
                  <a:endParaRPr lang="en-US" altLang="zh-CN" i="1" dirty="0">
                    <a:solidFill>
                      <a:schemeClr val="bg1"/>
                    </a:solidFill>
                    <a:latin typeface="Cambria Math" panose="02040503050406030204" pitchFamily="18" charset="0"/>
                    <a:ea typeface="Noto Sans SC" panose="020B0200000000000000" pitchFamily="34" charset="-122"/>
                  </a:endParaRPr>
                </a:p>
              </p:txBody>
            </p:sp>
          </mc:Choice>
          <mc:Fallback xmlns="">
            <p:sp>
              <p:nvSpPr>
                <p:cNvPr id="23" name="文本框 22">
                  <a:extLst>
                    <a:ext uri="{FF2B5EF4-FFF2-40B4-BE49-F238E27FC236}">
                      <a16:creationId xmlns:a16="http://schemas.microsoft.com/office/drawing/2014/main" id="{64709D34-843D-0EC3-84B7-0B97441737D3}"/>
                    </a:ext>
                  </a:extLst>
                </p:cNvPr>
                <p:cNvSpPr txBox="1">
                  <a:spLocks noRot="1" noChangeAspect="1" noMove="1" noResize="1" noEditPoints="1" noAdjustHandles="1" noChangeArrowheads="1" noChangeShapeType="1" noTextEdit="1"/>
                </p:cNvSpPr>
                <p:nvPr/>
              </p:nvSpPr>
              <p:spPr>
                <a:xfrm>
                  <a:off x="7484317" y="3594105"/>
                  <a:ext cx="3648403" cy="349794"/>
                </a:xfrm>
                <a:prstGeom prst="rect">
                  <a:avLst/>
                </a:prstGeom>
                <a:blipFill>
                  <a:blip r:embed="rId7"/>
                  <a:stretch>
                    <a:fillRect t="-9836" r="-1402" b="-2459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2786783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29935-B5F6-BDCE-0291-9B694158D9A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327861E-52DF-01E1-9F99-83BB50F4D081}"/>
              </a:ext>
            </a:extLst>
          </p:cNvPr>
          <p:cNvSpPr>
            <a:spLocks noGrp="1"/>
          </p:cNvSpPr>
          <p:nvPr>
            <p:ph type="title" idx="1"/>
          </p:nvPr>
        </p:nvSpPr>
        <p:spPr/>
        <p:txBody>
          <a:bodyPr/>
          <a:lstStyle/>
          <a:p>
            <a:r>
              <a:rPr lang="zh-CN" altLang="en-US" dirty="0"/>
              <a:t>色彩科学</a:t>
            </a:r>
          </a:p>
        </p:txBody>
      </p:sp>
      <p:sp>
        <p:nvSpPr>
          <p:cNvPr id="7" name="文本框 6">
            <a:extLst>
              <a:ext uri="{FF2B5EF4-FFF2-40B4-BE49-F238E27FC236}">
                <a16:creationId xmlns:a16="http://schemas.microsoft.com/office/drawing/2014/main" id="{7809EAA5-65CD-6D01-DF78-C83F9B198886}"/>
              </a:ext>
            </a:extLst>
          </p:cNvPr>
          <p:cNvSpPr txBox="1"/>
          <p:nvPr/>
        </p:nvSpPr>
        <p:spPr>
          <a:xfrm>
            <a:off x="487751" y="1913391"/>
            <a:ext cx="5608249" cy="4278094"/>
          </a:xfrm>
          <a:prstGeom prst="rect">
            <a:avLst/>
          </a:prstGeom>
          <a:noFill/>
        </p:spPr>
        <p:txBody>
          <a:bodyPr wrap="square" rtlCol="0">
            <a:spAutoFit/>
          </a:bodyPr>
          <a:lstStyle/>
          <a:p>
            <a:pPr algn="just"/>
            <a:r>
              <a:rPr lang="en-US" altLang="zh-CN" sz="1700" dirty="0">
                <a:latin typeface="Noto Sans SC" panose="020B0200000000000000" pitchFamily="34" charset="-122"/>
                <a:ea typeface="Noto Sans SC" panose="020B0200000000000000" pitchFamily="34" charset="-122"/>
              </a:rPr>
              <a:t>         1931</a:t>
            </a:r>
            <a:r>
              <a:rPr lang="zh-CN" altLang="en-US" sz="1700" dirty="0">
                <a:latin typeface="Noto Sans SC" panose="020B0200000000000000" pitchFamily="34" charset="-122"/>
                <a:ea typeface="Noto Sans SC" panose="020B0200000000000000" pitchFamily="34" charset="-122"/>
              </a:rPr>
              <a:t>年，</a:t>
            </a:r>
            <a:r>
              <a:rPr lang="en-US" altLang="zh-CN" sz="1700" dirty="0">
                <a:latin typeface="Noto Sans SC" panose="020B0200000000000000" pitchFamily="34" charset="-122"/>
                <a:ea typeface="Noto Sans SC" panose="020B0200000000000000" pitchFamily="34" charset="-122"/>
              </a:rPr>
              <a:t>CIE</a:t>
            </a:r>
            <a:r>
              <a:rPr lang="zh-CN" altLang="en-US" sz="1700" dirty="0">
                <a:latin typeface="Noto Sans SC" panose="020B0200000000000000" pitchFamily="34" charset="-122"/>
                <a:ea typeface="Noto Sans SC" panose="020B0200000000000000" pitchFamily="34" charset="-122"/>
              </a:rPr>
              <a:t>从</a:t>
            </a:r>
            <a:r>
              <a:rPr lang="en-US" altLang="zh-CN" sz="1700" dirty="0">
                <a:latin typeface="Noto Sans SC" panose="020B0200000000000000" pitchFamily="34" charset="-122"/>
                <a:ea typeface="Noto Sans SC" panose="020B0200000000000000" pitchFamily="34" charset="-122"/>
              </a:rPr>
              <a:t>Wright-Guild</a:t>
            </a:r>
            <a:r>
              <a:rPr lang="zh-CN" altLang="en-US" sz="1700" dirty="0">
                <a:latin typeface="Noto Sans SC" panose="020B0200000000000000" pitchFamily="34" charset="-122"/>
                <a:ea typeface="Noto Sans SC" panose="020B0200000000000000" pitchFamily="34" charset="-122"/>
              </a:rPr>
              <a:t>的合并实验数据，得到了</a:t>
            </a:r>
            <a:r>
              <a:rPr lang="en-US" altLang="zh-CN" sz="1700" dirty="0">
                <a:latin typeface="Noto Sans SC" panose="020B0200000000000000" pitchFamily="34" charset="-122"/>
                <a:ea typeface="Noto Sans SC" panose="020B0200000000000000" pitchFamily="34" charset="-122"/>
              </a:rPr>
              <a:t>CIE 1931 RGB color space</a:t>
            </a:r>
            <a:r>
              <a:rPr lang="zh-CN" altLang="en-US" sz="1700" dirty="0">
                <a:latin typeface="Noto Sans SC" panose="020B0200000000000000" pitchFamily="34" charset="-122"/>
                <a:ea typeface="Noto Sans SC" panose="020B0200000000000000" pitchFamily="34" charset="-122"/>
              </a:rPr>
              <a:t>。</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1931</a:t>
            </a:r>
            <a:r>
              <a:rPr lang="zh-CN" altLang="en-US" sz="1700" dirty="0">
                <a:latin typeface="Noto Sans SC" panose="020B0200000000000000" pitchFamily="34" charset="-122"/>
                <a:ea typeface="Noto Sans SC" panose="020B0200000000000000" pitchFamily="34" charset="-122"/>
              </a:rPr>
              <a:t>年，</a:t>
            </a:r>
            <a:r>
              <a:rPr lang="en-US" altLang="zh-CN" sz="1700" dirty="0">
                <a:latin typeface="Noto Sans SC" panose="020B0200000000000000" pitchFamily="34" charset="-122"/>
                <a:ea typeface="Noto Sans SC" panose="020B0200000000000000" pitchFamily="34" charset="-122"/>
              </a:rPr>
              <a:t>CIE</a:t>
            </a:r>
            <a:r>
              <a:rPr lang="zh-CN" altLang="en-US" sz="1700" dirty="0">
                <a:latin typeface="Noto Sans SC" panose="020B0200000000000000" pitchFamily="34" charset="-122"/>
                <a:ea typeface="Noto Sans SC" panose="020B0200000000000000" pitchFamily="34" charset="-122"/>
              </a:rPr>
              <a:t>基于此得到了</a:t>
            </a:r>
            <a:r>
              <a:rPr lang="en-US" altLang="zh-CN" sz="1700" dirty="0">
                <a:latin typeface="Noto Sans SC" panose="020B0200000000000000" pitchFamily="34" charset="-122"/>
                <a:ea typeface="Noto Sans SC" panose="020B0200000000000000" pitchFamily="34" charset="-122"/>
              </a:rPr>
              <a:t>CIE 1931 XYZ</a:t>
            </a:r>
            <a:r>
              <a:rPr lang="zh-CN" altLang="en-US" sz="1700" dirty="0">
                <a:latin typeface="Noto Sans SC" panose="020B0200000000000000" pitchFamily="34" charset="-122"/>
                <a:ea typeface="Noto Sans SC" panose="020B0200000000000000" pitchFamily="34" charset="-122"/>
              </a:rPr>
              <a:t> </a:t>
            </a:r>
            <a:r>
              <a:rPr lang="en-US" altLang="zh-CN" sz="1700" dirty="0">
                <a:latin typeface="Noto Sans SC" panose="020B0200000000000000" pitchFamily="34" charset="-122"/>
                <a:ea typeface="Noto Sans SC" panose="020B0200000000000000" pitchFamily="34" charset="-122"/>
              </a:rPr>
              <a:t>color space</a:t>
            </a:r>
            <a:r>
              <a:rPr lang="zh-CN" altLang="en-US" sz="1700" dirty="0">
                <a:latin typeface="Noto Sans SC" panose="020B0200000000000000" pitchFamily="34" charset="-122"/>
                <a:ea typeface="Noto Sans SC" panose="020B0200000000000000" pitchFamily="34" charset="-122"/>
              </a:rPr>
              <a:t>，成为后来色彩科学的统一标准。</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后来，人们根据显示设备和应用需求，制定了</a:t>
            </a:r>
            <a:r>
              <a:rPr lang="en-US" altLang="zh-CN" sz="1700" dirty="0">
                <a:latin typeface="Noto Sans SC" panose="020B0200000000000000" pitchFamily="34" charset="-122"/>
                <a:ea typeface="Noto Sans SC" panose="020B0200000000000000" pitchFamily="34" charset="-122"/>
              </a:rPr>
              <a:t>sRGB</a:t>
            </a:r>
            <a:r>
              <a:rPr lang="zh-CN" altLang="en-US" sz="1700" dirty="0">
                <a:latin typeface="Noto Sans SC" panose="020B0200000000000000" pitchFamily="34" charset="-122"/>
                <a:ea typeface="Noto Sans SC" panose="020B0200000000000000" pitchFamily="34" charset="-122"/>
              </a:rPr>
              <a:t>、</a:t>
            </a:r>
            <a:r>
              <a:rPr lang="en-US" altLang="zh-CN" sz="1700" dirty="0">
                <a:latin typeface="Noto Sans SC" panose="020B0200000000000000" pitchFamily="34" charset="-122"/>
                <a:ea typeface="Noto Sans SC" panose="020B0200000000000000" pitchFamily="34" charset="-122"/>
              </a:rPr>
              <a:t>DCI-P3</a:t>
            </a:r>
            <a:r>
              <a:rPr lang="zh-CN" altLang="en-US" sz="1700" dirty="0">
                <a:latin typeface="Noto Sans SC" panose="020B0200000000000000" pitchFamily="34" charset="-122"/>
                <a:ea typeface="Noto Sans SC" panose="020B0200000000000000" pitchFamily="34" charset="-122"/>
              </a:rPr>
              <a:t>、</a:t>
            </a:r>
            <a:r>
              <a:rPr lang="en-US" altLang="zh-CN" sz="1700" dirty="0">
                <a:latin typeface="Noto Sans SC" panose="020B0200000000000000" pitchFamily="34" charset="-122"/>
                <a:ea typeface="Noto Sans SC" panose="020B0200000000000000" pitchFamily="34" charset="-122"/>
              </a:rPr>
              <a:t>Rec.2020</a:t>
            </a:r>
            <a:r>
              <a:rPr lang="zh-CN" altLang="en-US" sz="1700" dirty="0">
                <a:latin typeface="Noto Sans SC" panose="020B0200000000000000" pitchFamily="34" charset="-122"/>
                <a:ea typeface="Noto Sans SC" panose="020B0200000000000000" pitchFamily="34" charset="-122"/>
              </a:rPr>
              <a:t>等色域。</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色域划定了色度的范围，由三原色在</a:t>
            </a:r>
            <a:r>
              <a:rPr lang="en-US" altLang="zh-CN" sz="1700" dirty="0" err="1">
                <a:latin typeface="Noto Sans SC" panose="020B0200000000000000" pitchFamily="34" charset="-122"/>
                <a:ea typeface="Noto Sans SC" panose="020B0200000000000000" pitchFamily="34" charset="-122"/>
              </a:rPr>
              <a:t>xy</a:t>
            </a:r>
            <a:r>
              <a:rPr lang="zh-CN" altLang="en-US" sz="1700" dirty="0">
                <a:latin typeface="Noto Sans SC" panose="020B0200000000000000" pitchFamily="34" charset="-122"/>
                <a:ea typeface="Noto Sans SC" panose="020B0200000000000000" pitchFamily="34" charset="-122"/>
              </a:rPr>
              <a:t>色度平面的坐标决定。</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色域、参考白、传递函数三者共同组成了色彩空间。</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对于一个</a:t>
            </a:r>
            <a:r>
              <a:rPr lang="en-US" altLang="zh-CN" sz="1700" dirty="0">
                <a:latin typeface="Noto Sans SC" panose="020B0200000000000000" pitchFamily="34" charset="-122"/>
                <a:ea typeface="Noto Sans SC" panose="020B0200000000000000" pitchFamily="34" charset="-122"/>
              </a:rPr>
              <a:t>RGB</a:t>
            </a:r>
            <a:r>
              <a:rPr lang="zh-CN" altLang="en-US" sz="1700" dirty="0">
                <a:latin typeface="Noto Sans SC" panose="020B0200000000000000" pitchFamily="34" charset="-122"/>
                <a:ea typeface="Noto Sans SC" panose="020B0200000000000000" pitchFamily="34" charset="-122"/>
              </a:rPr>
              <a:t>三元组，必须指定对应的色彩空间以及是否是线性的，才有具体的实际意义。</a:t>
            </a:r>
            <a:endParaRPr lang="en-US" altLang="zh-CN" sz="1700"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1C6D451-72A5-5CA9-C2C8-63F3941043B7}"/>
                  </a:ext>
                </a:extLst>
              </p:cNvPr>
              <p:cNvSpPr txBox="1"/>
              <p:nvPr/>
            </p:nvSpPr>
            <p:spPr>
              <a:xfrm>
                <a:off x="6556378" y="4998496"/>
                <a:ext cx="4599403" cy="923330"/>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一个色彩空间中的线性</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一般表示的是相对亮度，例如：</a:t>
                </a:r>
                <a14:m>
                  <m:oMath xmlns:m="http://schemas.openxmlformats.org/officeDocument/2006/math">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r>
                              <a:rPr lang="en-US" altLang="zh-CN" i="1">
                                <a:latin typeface="Cambria Math" panose="02040503050406030204" pitchFamily="18" charset="0"/>
                              </a:rPr>
                              <m:t>1, 1, 1</m:t>
                            </m:r>
                          </m:e>
                        </m:d>
                      </m:e>
                      <m:sub>
                        <m:r>
                          <a:rPr lang="en-US" altLang="zh-CN" i="1" smtClean="0">
                            <a:latin typeface="Cambria Math" panose="02040503050406030204" pitchFamily="18" charset="0"/>
                          </a:rPr>
                          <m:t>𝑠𝑅𝐺𝐵</m:t>
                        </m:r>
                      </m:sub>
                    </m:sSub>
                  </m:oMath>
                </a14:m>
                <a:r>
                  <a:rPr lang="zh-CN" altLang="en-US" dirty="0">
                    <a:latin typeface="Noto Sans SC" panose="020B0200000000000000" pitchFamily="34" charset="-122"/>
                    <a:ea typeface="Noto Sans SC" panose="020B0200000000000000" pitchFamily="34" charset="-122"/>
                  </a:rPr>
                  <a:t>的亮度为</a:t>
                </a:r>
                <a14:m>
                  <m:oMath xmlns:m="http://schemas.openxmlformats.org/officeDocument/2006/math">
                    <m:sSub>
                      <m:sSubPr>
                        <m:ctrlPr>
                          <a:rPr lang="en-US" altLang="zh-CN" b="0" i="1" smtClean="0">
                            <a:latin typeface="Cambria Math" panose="02040503050406030204" pitchFamily="18" charset="0"/>
                          </a:rPr>
                        </m:ctrlPr>
                      </m:sSub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0.5</m:t>
                            </m:r>
                            <m:r>
                              <a:rPr lang="en-US" altLang="zh-CN" i="1">
                                <a:latin typeface="Cambria Math" panose="02040503050406030204" pitchFamily="18" charset="0"/>
                              </a:rPr>
                              <m:t>, </m:t>
                            </m:r>
                            <m:r>
                              <a:rPr lang="en-US" altLang="zh-CN" b="0" i="1" smtClean="0">
                                <a:latin typeface="Cambria Math" panose="02040503050406030204" pitchFamily="18" charset="0"/>
                              </a:rPr>
                              <m:t>0.5</m:t>
                            </m:r>
                            <m:r>
                              <a:rPr lang="en-US" altLang="zh-CN" i="1">
                                <a:latin typeface="Cambria Math" panose="02040503050406030204" pitchFamily="18" charset="0"/>
                              </a:rPr>
                              <m:t>, </m:t>
                            </m:r>
                            <m:r>
                              <a:rPr lang="en-US" altLang="zh-CN" b="0" i="1" smtClean="0">
                                <a:latin typeface="Cambria Math" panose="02040503050406030204" pitchFamily="18" charset="0"/>
                              </a:rPr>
                              <m:t>0.5</m:t>
                            </m:r>
                          </m:e>
                        </m:d>
                      </m:e>
                      <m:sub>
                        <m:r>
                          <a:rPr lang="en-US" altLang="zh-CN" i="1">
                            <a:latin typeface="Cambria Math" panose="02040503050406030204" pitchFamily="18" charset="0"/>
                          </a:rPr>
                          <m:t>𝑠𝑅𝐺𝐵</m:t>
                        </m:r>
                      </m:sub>
                    </m:sSub>
                  </m:oMath>
                </a14:m>
                <a:r>
                  <a:rPr lang="zh-CN" altLang="en-US" dirty="0">
                    <a:latin typeface="Noto Sans SC" panose="020B0200000000000000" pitchFamily="34" charset="-122"/>
                    <a:ea typeface="Noto Sans SC" panose="020B0200000000000000" pitchFamily="34" charset="-122"/>
                  </a:rPr>
                  <a:t>的</a:t>
                </a:r>
                <a:r>
                  <a:rPr lang="en-US" altLang="zh-CN" dirty="0">
                    <a:latin typeface="Noto Sans SC" panose="020B0200000000000000" pitchFamily="34" charset="-122"/>
                    <a:ea typeface="Noto Sans SC" panose="020B0200000000000000" pitchFamily="34" charset="-122"/>
                  </a:rPr>
                  <a:t>2</a:t>
                </a:r>
                <a:r>
                  <a:rPr lang="zh-CN" altLang="en-US" dirty="0">
                    <a:latin typeface="Noto Sans SC" panose="020B0200000000000000" pitchFamily="34" charset="-122"/>
                    <a:ea typeface="Noto Sans SC" panose="020B0200000000000000" pitchFamily="34" charset="-122"/>
                  </a:rPr>
                  <a:t>倍。</a:t>
                </a:r>
              </a:p>
            </p:txBody>
          </p:sp>
        </mc:Choice>
        <mc:Fallback xmlns="">
          <p:sp>
            <p:nvSpPr>
              <p:cNvPr id="9" name="文本框 8">
                <a:extLst>
                  <a:ext uri="{FF2B5EF4-FFF2-40B4-BE49-F238E27FC236}">
                    <a16:creationId xmlns:a16="http://schemas.microsoft.com/office/drawing/2014/main" id="{81C6D451-72A5-5CA9-C2C8-63F3941043B7}"/>
                  </a:ext>
                </a:extLst>
              </p:cNvPr>
              <p:cNvSpPr txBox="1">
                <a:spLocks noRot="1" noChangeAspect="1" noMove="1" noResize="1" noEditPoints="1" noAdjustHandles="1" noChangeArrowheads="1" noChangeShapeType="1" noTextEdit="1"/>
              </p:cNvSpPr>
              <p:nvPr/>
            </p:nvSpPr>
            <p:spPr>
              <a:xfrm>
                <a:off x="6556378" y="4998496"/>
                <a:ext cx="4599403" cy="923330"/>
              </a:xfrm>
              <a:prstGeom prst="rect">
                <a:avLst/>
              </a:prstGeom>
              <a:blipFill>
                <a:blip r:embed="rId2"/>
                <a:stretch>
                  <a:fillRect l="-1194" t="-3974" r="-1061" b="-9934"/>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999E889D-C222-63E1-5B54-F214BF5DC1A4}"/>
              </a:ext>
            </a:extLst>
          </p:cNvPr>
          <p:cNvGrpSpPr/>
          <p:nvPr/>
        </p:nvGrpSpPr>
        <p:grpSpPr>
          <a:xfrm>
            <a:off x="6362161" y="1638869"/>
            <a:ext cx="5440819" cy="2933129"/>
            <a:chOff x="5392701" y="1405676"/>
            <a:chExt cx="6259317" cy="3374379"/>
          </a:xfrm>
        </p:grpSpPr>
        <p:pic>
          <p:nvPicPr>
            <p:cNvPr id="4" name="图片 3">
              <a:extLst>
                <a:ext uri="{FF2B5EF4-FFF2-40B4-BE49-F238E27FC236}">
                  <a16:creationId xmlns:a16="http://schemas.microsoft.com/office/drawing/2014/main" id="{C73212C4-6AF5-247E-CD75-D38E1D4399F3}"/>
                </a:ext>
              </a:extLst>
            </p:cNvPr>
            <p:cNvPicPr>
              <a:picLocks noChangeAspect="1"/>
            </p:cNvPicPr>
            <p:nvPr/>
          </p:nvPicPr>
          <p:blipFill>
            <a:blip r:embed="rId3"/>
            <a:stretch>
              <a:fillRect/>
            </a:stretch>
          </p:blipFill>
          <p:spPr>
            <a:xfrm>
              <a:off x="5392701" y="1405676"/>
              <a:ext cx="6259317" cy="33743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矩形 1">
              <a:extLst>
                <a:ext uri="{FF2B5EF4-FFF2-40B4-BE49-F238E27FC236}">
                  <a16:creationId xmlns:a16="http://schemas.microsoft.com/office/drawing/2014/main" id="{430776D3-BA3F-F27F-8C70-6D22CC2A7887}"/>
                </a:ext>
              </a:extLst>
            </p:cNvPr>
            <p:cNvSpPr/>
            <p:nvPr/>
          </p:nvSpPr>
          <p:spPr>
            <a:xfrm>
              <a:off x="5653825" y="3786389"/>
              <a:ext cx="2607972" cy="643943"/>
            </a:xfrm>
            <a:prstGeom prst="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p:sp>
        <p:nvSpPr>
          <p:cNvPr id="15" name="文本框 14">
            <a:extLst>
              <a:ext uri="{FF2B5EF4-FFF2-40B4-BE49-F238E27FC236}">
                <a16:creationId xmlns:a16="http://schemas.microsoft.com/office/drawing/2014/main" id="{006D01BD-CE01-8A6B-A303-3BE3ACB53154}"/>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什么是</a:t>
            </a:r>
            <a:r>
              <a:rPr lang="en-US" altLang="zh-CN" sz="2000" b="1" dirty="0">
                <a:latin typeface="Noto Sans SC" panose="020B0200000000000000" pitchFamily="34" charset="-122"/>
                <a:ea typeface="Noto Sans SC" panose="020B0200000000000000" pitchFamily="34" charset="-122"/>
              </a:rPr>
              <a:t>RGB</a:t>
            </a:r>
            <a:r>
              <a:rPr lang="zh-CN" altLang="en-US" sz="2000" b="1" dirty="0">
                <a:latin typeface="Noto Sans SC" panose="020B0200000000000000" pitchFamily="34" charset="-122"/>
                <a:ea typeface="Noto Sans SC" panose="020B0200000000000000" pitchFamily="34" charset="-122"/>
              </a:rPr>
              <a:t>？</a:t>
            </a:r>
            <a:endParaRPr lang="en-US" altLang="zh-CN" sz="20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76055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6183B-E6D2-AF73-FDC2-EF13F13834F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8A4DBA5-A316-AA7B-44EE-616CBBCED1C6}"/>
              </a:ext>
            </a:extLst>
          </p:cNvPr>
          <p:cNvSpPr>
            <a:spLocks noGrp="1"/>
          </p:cNvSpPr>
          <p:nvPr>
            <p:ph type="title" idx="1"/>
          </p:nvPr>
        </p:nvSpPr>
        <p:spPr/>
        <p:txBody>
          <a:bodyPr/>
          <a:lstStyle/>
          <a:p>
            <a:r>
              <a:rPr lang="zh-CN" altLang="en-US" dirty="0"/>
              <a:t>色彩科学</a:t>
            </a:r>
          </a:p>
        </p:txBody>
      </p:sp>
      <p:sp>
        <p:nvSpPr>
          <p:cNvPr id="6" name="文本框 5">
            <a:extLst>
              <a:ext uri="{FF2B5EF4-FFF2-40B4-BE49-F238E27FC236}">
                <a16:creationId xmlns:a16="http://schemas.microsoft.com/office/drawing/2014/main" id="{F8E65407-AB47-6657-3028-E197E54E2DB8}"/>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光谱怎么转换成颜色？</a:t>
            </a:r>
            <a:endParaRPr lang="en-US" altLang="zh-CN" sz="2000" b="1" dirty="0">
              <a:latin typeface="Noto Sans SC" panose="020B0200000000000000" pitchFamily="34" charset="-122"/>
              <a:ea typeface="Noto Sans SC" panose="020B0200000000000000" pitchFamily="34" charset="-122"/>
            </a:endParaRPr>
          </a:p>
        </p:txBody>
      </p:sp>
      <p:grpSp>
        <p:nvGrpSpPr>
          <p:cNvPr id="11" name="组合 10">
            <a:extLst>
              <a:ext uri="{FF2B5EF4-FFF2-40B4-BE49-F238E27FC236}">
                <a16:creationId xmlns:a16="http://schemas.microsoft.com/office/drawing/2014/main" id="{1FDD0371-7B14-D2FD-E0A1-726C5DCE18FF}"/>
              </a:ext>
            </a:extLst>
          </p:cNvPr>
          <p:cNvGrpSpPr/>
          <p:nvPr/>
        </p:nvGrpSpPr>
        <p:grpSpPr>
          <a:xfrm>
            <a:off x="6543319" y="459078"/>
            <a:ext cx="4785296" cy="2693416"/>
            <a:chOff x="6895578" y="962344"/>
            <a:chExt cx="4785296" cy="2693416"/>
          </a:xfrm>
        </p:grpSpPr>
        <p:pic>
          <p:nvPicPr>
            <p:cNvPr id="10" name="图片 9">
              <a:extLst>
                <a:ext uri="{FF2B5EF4-FFF2-40B4-BE49-F238E27FC236}">
                  <a16:creationId xmlns:a16="http://schemas.microsoft.com/office/drawing/2014/main" id="{B3757440-9D6D-5DA6-8BB7-EC053CCF5514}"/>
                </a:ext>
              </a:extLst>
            </p:cNvPr>
            <p:cNvPicPr>
              <a:picLocks noChangeAspect="1"/>
            </p:cNvPicPr>
            <p:nvPr/>
          </p:nvPicPr>
          <p:blipFill>
            <a:blip r:embed="rId2"/>
            <a:stretch>
              <a:fillRect/>
            </a:stretch>
          </p:blipFill>
          <p:spPr>
            <a:xfrm>
              <a:off x="6895578" y="962344"/>
              <a:ext cx="4785296" cy="26934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矩形 1">
              <a:extLst>
                <a:ext uri="{FF2B5EF4-FFF2-40B4-BE49-F238E27FC236}">
                  <a16:creationId xmlns:a16="http://schemas.microsoft.com/office/drawing/2014/main" id="{80DD1F9D-7D78-2280-128D-FA9E2A1EF561}"/>
                </a:ext>
              </a:extLst>
            </p:cNvPr>
            <p:cNvSpPr/>
            <p:nvPr/>
          </p:nvSpPr>
          <p:spPr>
            <a:xfrm>
              <a:off x="8024836" y="3277673"/>
              <a:ext cx="2484326" cy="302654"/>
            </a:xfrm>
            <a:prstGeom prst="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1A4962C-10ED-64C1-0BB7-DCBA24846C04}"/>
                  </a:ext>
                </a:extLst>
              </p:cNvPr>
              <p:cNvSpPr txBox="1"/>
              <p:nvPr/>
            </p:nvSpPr>
            <p:spPr>
              <a:xfrm>
                <a:off x="381548" y="1964028"/>
                <a:ext cx="5768115" cy="4222310"/>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根据前面的讲解，这个问题应该已经有了答案。</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对于一束光，辐射率为</a:t>
                </a:r>
                <a14:m>
                  <m:oMath xmlns:m="http://schemas.openxmlformats.org/officeDocument/2006/math">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，单位是</a:t>
                </a:r>
                <a14:m>
                  <m:oMath xmlns:m="http://schemas.openxmlformats.org/officeDocument/2006/math">
                    <m:r>
                      <a:rPr lang="en-US" altLang="zh-CN" i="1">
                        <a:latin typeface="Cambria Math" panose="02040503050406030204" pitchFamily="18" charset="0"/>
                      </a:rPr>
                      <m:t>𝑊</m:t>
                    </m:r>
                    <m:r>
                      <a:rPr lang="en-US" altLang="zh-CN" i="1">
                        <a:latin typeface="Cambria Math" panose="02040503050406030204" pitchFamily="18" charset="0"/>
                      </a:rPr>
                      <m:t>/</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𝑚</m:t>
                            </m:r>
                          </m:e>
                          <m:sup>
                            <m:r>
                              <a:rPr lang="en-US" altLang="zh-CN" i="1">
                                <a:latin typeface="Cambria Math" panose="02040503050406030204" pitchFamily="18" charset="0"/>
                              </a:rPr>
                              <m:t>2</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𝑠𝑟</m:t>
                        </m:r>
                      </m:e>
                    </m:d>
                  </m:oMath>
                </a14:m>
                <a:r>
                  <a:rPr lang="zh-CN" altLang="en-US" dirty="0">
                    <a:latin typeface="Noto Sans SC" panose="020B0200000000000000" pitchFamily="34" charset="-122"/>
                    <a:ea typeface="Noto Sans SC" panose="020B0200000000000000" pitchFamily="34" charset="-122"/>
                  </a:rPr>
                  <a:t>，其</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三刺激值为：</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𝑋</m:t>
                      </m:r>
                      <m:r>
                        <a:rPr lang="en-US" altLang="zh-CN" i="1">
                          <a:latin typeface="Cambria Math" panose="02040503050406030204" pitchFamily="18" charset="0"/>
                        </a:rPr>
                        <m:t>=</m:t>
                      </m:r>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𝑌</m:t>
                      </m:r>
                      <m:r>
                        <a:rPr lang="en-US" altLang="zh-CN" i="1">
                          <a:latin typeface="Cambria Math" panose="02040503050406030204" pitchFamily="18" charset="0"/>
                        </a:rPr>
                        <m:t>=</m:t>
                      </m:r>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𝑍</m:t>
                      </m:r>
                      <m:r>
                        <a:rPr lang="en-US" altLang="zh-CN" i="1">
                          <a:latin typeface="Cambria Math" panose="02040503050406030204" pitchFamily="18" charset="0"/>
                        </a:rPr>
                        <m:t>=</m:t>
                      </m:r>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再转换到对应的色彩空间（以</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为例），得到该色彩空间下的线性颜色：</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𝑅</m:t>
                                  </m:r>
                                </m:e>
                                <m:e>
                                  <m:r>
                                    <a:rPr lang="en-US" altLang="zh-CN" b="0" i="1" smtClean="0">
                                      <a:latin typeface="Cambria Math" panose="02040503050406030204" pitchFamily="18" charset="0"/>
                                    </a:rPr>
                                    <m:t>𝐺</m:t>
                                  </m:r>
                                </m:e>
                                <m:e>
                                  <m:r>
                                    <a:rPr lang="en-US" altLang="zh-CN" b="0" i="1" smtClean="0">
                                      <a:latin typeface="Cambria Math" panose="02040503050406030204" pitchFamily="18" charset="0"/>
                                    </a:rPr>
                                    <m:t>𝐵</m:t>
                                  </m:r>
                                </m:e>
                              </m:eqArr>
                            </m:e>
                          </m:d>
                        </m:e>
                        <m:sub>
                          <m:r>
                            <a:rPr lang="en-US" altLang="zh-CN" i="1">
                              <a:latin typeface="Cambria Math" panose="02040503050406030204" pitchFamily="18" charset="0"/>
                            </a:rPr>
                            <m:t>𝐿𝑖𝑛𝑒𝑎𝑟</m:t>
                          </m:r>
                          <m:r>
                            <a:rPr lang="en-US" altLang="zh-CN" b="0" i="1" smtClean="0">
                              <a:latin typeface="Cambria Math" panose="02040503050406030204" pitchFamily="18" charset="0"/>
                            </a:rPr>
                            <m:t>_</m:t>
                          </m:r>
                          <m:r>
                            <a:rPr lang="en-US" altLang="zh-CN" b="0" i="1" smtClean="0">
                              <a:latin typeface="Cambria Math" panose="02040503050406030204" pitchFamily="18" charset="0"/>
                            </a:rPr>
                            <m:t>𝑠𝑅𝐺𝐵</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𝑋𝑌𝑍</m:t>
                          </m:r>
                          <m:r>
                            <a:rPr lang="en-US" altLang="zh-CN" b="0" i="1" smtClean="0">
                              <a:latin typeface="Cambria Math" panose="02040503050406030204" pitchFamily="18" charset="0"/>
                            </a:rPr>
                            <m:t>→</m:t>
                          </m:r>
                          <m:r>
                            <a:rPr lang="en-US" altLang="zh-CN" b="0" i="1" smtClean="0">
                              <a:latin typeface="Cambria Math" panose="02040503050406030204" pitchFamily="18" charset="0"/>
                            </a:rPr>
                            <m:t>𝑠𝑅𝐺𝐵</m:t>
                          </m:r>
                        </m:sub>
                      </m:sSub>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𝑋</m:t>
                              </m:r>
                            </m:e>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𝑍</m:t>
                              </m:r>
                            </m:e>
                          </m:eqArr>
                        </m:e>
                      </m:d>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12" name="文本框 11">
                <a:extLst>
                  <a:ext uri="{FF2B5EF4-FFF2-40B4-BE49-F238E27FC236}">
                    <a16:creationId xmlns:a16="http://schemas.microsoft.com/office/drawing/2014/main" id="{01A4962C-10ED-64C1-0BB7-DCBA24846C04}"/>
                  </a:ext>
                </a:extLst>
              </p:cNvPr>
              <p:cNvSpPr txBox="1">
                <a:spLocks noRot="1" noChangeAspect="1" noMove="1" noResize="1" noEditPoints="1" noAdjustHandles="1" noChangeArrowheads="1" noChangeShapeType="1" noTextEdit="1"/>
              </p:cNvSpPr>
              <p:nvPr/>
            </p:nvSpPr>
            <p:spPr>
              <a:xfrm>
                <a:off x="381548" y="1964028"/>
                <a:ext cx="5768115" cy="4222310"/>
              </a:xfrm>
              <a:prstGeom prst="rect">
                <a:avLst/>
              </a:prstGeom>
              <a:blipFill>
                <a:blip r:embed="rId3"/>
                <a:stretch>
                  <a:fillRect l="-951" t="-722" r="-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8451855-CE38-640E-59C0-3F8ED947D434}"/>
                  </a:ext>
                </a:extLst>
              </p:cNvPr>
              <p:cNvSpPr txBox="1"/>
              <p:nvPr/>
            </p:nvSpPr>
            <p:spPr>
              <a:xfrm>
                <a:off x="6543319" y="3619732"/>
                <a:ext cx="4897925" cy="1538050"/>
              </a:xfrm>
              <a:prstGeom prst="rect">
                <a:avLst/>
              </a:prstGeom>
              <a:noFill/>
            </p:spPr>
            <p:txBody>
              <a:bodyPr wrap="square" rtlCol="0">
                <a:spAutoFit/>
              </a:bodyPr>
              <a:lstStyle/>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最后，如果要存储</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传输这个色彩空间下的线性颜色，那么就需要应用传递函数：</a:t>
                </a:r>
                <a:endParaRPr lang="en-US" altLang="zh-CN"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E</m:t>
                          </m:r>
                          <m:r>
                            <a:rPr lang="en-US" altLang="zh-CN" b="0" i="1" smtClean="0">
                              <a:latin typeface="Cambria Math" panose="02040503050406030204" pitchFamily="18" charset="0"/>
                            </a:rPr>
                            <m:t>𝑛𝑐𝑜𝑑𝑒</m:t>
                          </m:r>
                        </m:e>
                        <m:sub>
                          <m:r>
                            <a:rPr lang="en-US" altLang="zh-CN" b="0" i="1" smtClean="0">
                              <a:latin typeface="Cambria Math" panose="02040503050406030204" pitchFamily="18" charset="0"/>
                            </a:rPr>
                            <m:t>𝑠𝑅𝐺𝐵</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𝑅</m:t>
                                      </m:r>
                                    </m:e>
                                    <m:e>
                                      <m:r>
                                        <a:rPr lang="en-US" altLang="zh-CN" i="1">
                                          <a:latin typeface="Cambria Math" panose="02040503050406030204" pitchFamily="18" charset="0"/>
                                        </a:rPr>
                                        <m:t>𝐺</m:t>
                                      </m:r>
                                    </m:e>
                                    <m:e>
                                      <m:r>
                                        <a:rPr lang="en-US" altLang="zh-CN" i="1">
                                          <a:latin typeface="Cambria Math" panose="02040503050406030204" pitchFamily="18" charset="0"/>
                                        </a:rPr>
                                        <m:t>𝐵</m:t>
                                      </m:r>
                                    </m:e>
                                  </m:eqArr>
                                </m:e>
                              </m:d>
                            </m:e>
                            <m:sub>
                              <m:r>
                                <a:rPr lang="en-US" altLang="zh-CN" b="0" i="1" smtClean="0">
                                  <a:latin typeface="Cambria Math" panose="02040503050406030204" pitchFamily="18" charset="0"/>
                                </a:rPr>
                                <m:t>𝐿𝑖𝑛𝑒𝑎𝑟</m:t>
                              </m:r>
                              <m:r>
                                <a:rPr lang="en-US" altLang="zh-CN" b="0" i="1" smtClean="0">
                                  <a:latin typeface="Cambria Math" panose="02040503050406030204" pitchFamily="18" charset="0"/>
                                </a:rPr>
                                <m:t>_</m:t>
                              </m:r>
                              <m:r>
                                <a:rPr lang="en-US" altLang="zh-CN" i="1">
                                  <a:latin typeface="Cambria Math" panose="02040503050406030204" pitchFamily="18" charset="0"/>
                                </a:rPr>
                                <m:t>𝑠𝑅𝐺𝐵</m:t>
                              </m:r>
                            </m:sub>
                          </m:sSub>
                        </m:e>
                      </m:d>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15" name="文本框 14">
                <a:extLst>
                  <a:ext uri="{FF2B5EF4-FFF2-40B4-BE49-F238E27FC236}">
                    <a16:creationId xmlns:a16="http://schemas.microsoft.com/office/drawing/2014/main" id="{98451855-CE38-640E-59C0-3F8ED947D434}"/>
                  </a:ext>
                </a:extLst>
              </p:cNvPr>
              <p:cNvSpPr txBox="1">
                <a:spLocks noRot="1" noChangeAspect="1" noMove="1" noResize="1" noEditPoints="1" noAdjustHandles="1" noChangeArrowheads="1" noChangeShapeType="1" noTextEdit="1"/>
              </p:cNvSpPr>
              <p:nvPr/>
            </p:nvSpPr>
            <p:spPr>
              <a:xfrm>
                <a:off x="6543319" y="3619732"/>
                <a:ext cx="4897925" cy="1538050"/>
              </a:xfrm>
              <a:prstGeom prst="rect">
                <a:avLst/>
              </a:prstGeom>
              <a:blipFill>
                <a:blip r:embed="rId4"/>
                <a:stretch>
                  <a:fillRect l="-995" t="-2381" r="-37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01D4B7BD-6FEC-09DE-F8AA-678D6F75196E}"/>
              </a:ext>
            </a:extLst>
          </p:cNvPr>
          <p:cNvPicPr>
            <a:picLocks noChangeAspect="1"/>
          </p:cNvPicPr>
          <p:nvPr/>
        </p:nvPicPr>
        <p:blipFill>
          <a:blip r:embed="rId5"/>
          <a:stretch>
            <a:fillRect/>
          </a:stretch>
        </p:blipFill>
        <p:spPr>
          <a:xfrm>
            <a:off x="5840570" y="5393201"/>
            <a:ext cx="5813100" cy="872980"/>
          </a:xfrm>
          <a:prstGeom prst="rect">
            <a:avLst/>
          </a:prstGeom>
        </p:spPr>
      </p:pic>
    </p:spTree>
    <p:extLst>
      <p:ext uri="{BB962C8B-B14F-4D97-AF65-F5344CB8AC3E}">
        <p14:creationId xmlns:p14="http://schemas.microsoft.com/office/powerpoint/2010/main" val="11336041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05E80-0C0E-516E-21B7-123A5D0FFDC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A9ECB01-7164-4FF5-C3F4-A09182410433}"/>
              </a:ext>
            </a:extLst>
          </p:cNvPr>
          <p:cNvSpPr>
            <a:spLocks noGrp="1"/>
          </p:cNvSpPr>
          <p:nvPr>
            <p:ph type="title" idx="1"/>
          </p:nvPr>
        </p:nvSpPr>
        <p:spPr/>
        <p:txBody>
          <a:bodyPr/>
          <a:lstStyle/>
          <a:p>
            <a:r>
              <a:rPr lang="zh-CN" altLang="en-US" dirty="0"/>
              <a:t>数据来源</a:t>
            </a:r>
          </a:p>
        </p:txBody>
      </p:sp>
      <p:sp>
        <p:nvSpPr>
          <p:cNvPr id="6" name="文本框 5">
            <a:extLst>
              <a:ext uri="{FF2B5EF4-FFF2-40B4-BE49-F238E27FC236}">
                <a16:creationId xmlns:a16="http://schemas.microsoft.com/office/drawing/2014/main" id="{07961B4A-31F3-773C-84E7-C8D04BCCB68A}"/>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1. XYZ</a:t>
            </a:r>
            <a:r>
              <a:rPr lang="zh-CN" altLang="en-US" sz="2000" b="1" dirty="0">
                <a:latin typeface="Noto Sans SC" panose="020B0200000000000000" pitchFamily="34" charset="-122"/>
                <a:ea typeface="Noto Sans SC" panose="020B0200000000000000" pitchFamily="34" charset="-122"/>
              </a:rPr>
              <a:t>匹配函数</a:t>
            </a:r>
            <a:endParaRPr lang="en-US" altLang="zh-CN" sz="2000" b="1" dirty="0">
              <a:latin typeface="Noto Sans SC" panose="020B0200000000000000" pitchFamily="34" charset="-122"/>
              <a:ea typeface="Noto Sans SC" panose="020B0200000000000000" pitchFamily="34" charset="-122"/>
            </a:endParaRPr>
          </a:p>
        </p:txBody>
      </p:sp>
      <p:sp>
        <p:nvSpPr>
          <p:cNvPr id="7" name="文本框 6">
            <a:extLst>
              <a:ext uri="{FF2B5EF4-FFF2-40B4-BE49-F238E27FC236}">
                <a16:creationId xmlns:a16="http://schemas.microsoft.com/office/drawing/2014/main" id="{2537C52E-8278-4FB7-EE87-76AAF1D318C0}"/>
              </a:ext>
            </a:extLst>
          </p:cNvPr>
          <p:cNvSpPr txBox="1"/>
          <p:nvPr/>
        </p:nvSpPr>
        <p:spPr>
          <a:xfrm>
            <a:off x="109467" y="1946796"/>
            <a:ext cx="5325418" cy="369332"/>
          </a:xfrm>
          <a:prstGeom prst="rect">
            <a:avLst/>
          </a:prstGeom>
          <a:noFill/>
        </p:spPr>
        <p:txBody>
          <a:bodyPr wrap="square" rtlCol="0">
            <a:spAutoFit/>
          </a:bodyPr>
          <a:lstStyle/>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这些数据可以在</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的官网找到。</a:t>
            </a:r>
            <a:endParaRPr lang="en-US" altLang="zh-CN" dirty="0">
              <a:latin typeface="Noto Sans SC" panose="020B0200000000000000" pitchFamily="34" charset="-122"/>
              <a:ea typeface="Noto Sans SC" panose="020B0200000000000000" pitchFamily="34" charset="-122"/>
            </a:endParaRPr>
          </a:p>
        </p:txBody>
      </p:sp>
      <p:pic>
        <p:nvPicPr>
          <p:cNvPr id="9" name="图片 8">
            <a:extLst>
              <a:ext uri="{FF2B5EF4-FFF2-40B4-BE49-F238E27FC236}">
                <a16:creationId xmlns:a16="http://schemas.microsoft.com/office/drawing/2014/main" id="{57A6962E-44D6-B597-7019-B50C75A935CD}"/>
              </a:ext>
            </a:extLst>
          </p:cNvPr>
          <p:cNvPicPr>
            <a:picLocks noChangeAspect="1"/>
          </p:cNvPicPr>
          <p:nvPr/>
        </p:nvPicPr>
        <p:blipFill>
          <a:blip r:embed="rId2"/>
          <a:stretch>
            <a:fillRect/>
          </a:stretch>
        </p:blipFill>
        <p:spPr>
          <a:xfrm>
            <a:off x="5312536" y="1354190"/>
            <a:ext cx="6233154" cy="46681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图片 13">
            <a:extLst>
              <a:ext uri="{FF2B5EF4-FFF2-40B4-BE49-F238E27FC236}">
                <a16:creationId xmlns:a16="http://schemas.microsoft.com/office/drawing/2014/main" id="{10399BD2-157E-FD37-EE42-ED3F125501DB}"/>
              </a:ext>
            </a:extLst>
          </p:cNvPr>
          <p:cNvPicPr>
            <a:picLocks noChangeAspect="1"/>
          </p:cNvPicPr>
          <p:nvPr/>
        </p:nvPicPr>
        <p:blipFill>
          <a:blip r:embed="rId3"/>
          <a:stretch>
            <a:fillRect/>
          </a:stretch>
        </p:blipFill>
        <p:spPr>
          <a:xfrm>
            <a:off x="410300" y="3381860"/>
            <a:ext cx="4342970" cy="2640526"/>
          </a:xfrm>
          <a:prstGeom prst="rect">
            <a:avLst/>
          </a:prstGeom>
        </p:spPr>
      </p:pic>
    </p:spTree>
    <p:extLst>
      <p:ext uri="{BB962C8B-B14F-4D97-AF65-F5344CB8AC3E}">
        <p14:creationId xmlns:p14="http://schemas.microsoft.com/office/powerpoint/2010/main" val="25722246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081B3-4C4D-F58A-0DB5-F55741CACDD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6BA9470-E7DA-4058-DE86-70ED387C4344}"/>
              </a:ext>
            </a:extLst>
          </p:cNvPr>
          <p:cNvSpPr>
            <a:spLocks noGrp="1"/>
          </p:cNvSpPr>
          <p:nvPr>
            <p:ph type="title" idx="1"/>
          </p:nvPr>
        </p:nvSpPr>
        <p:spPr/>
        <p:txBody>
          <a:bodyPr/>
          <a:lstStyle/>
          <a:p>
            <a:r>
              <a:rPr lang="zh-CN" altLang="en-US" dirty="0"/>
              <a:t>数据来源</a:t>
            </a:r>
          </a:p>
        </p:txBody>
      </p:sp>
      <p:sp>
        <p:nvSpPr>
          <p:cNvPr id="6" name="文本框 5">
            <a:extLst>
              <a:ext uri="{FF2B5EF4-FFF2-40B4-BE49-F238E27FC236}">
                <a16:creationId xmlns:a16="http://schemas.microsoft.com/office/drawing/2014/main" id="{09B18D10-F8ED-7B3C-10C7-F2E3FDB5BA4D}"/>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2. </a:t>
            </a:r>
            <a:r>
              <a:rPr lang="zh-CN" altLang="en-US" sz="2000" b="1" dirty="0">
                <a:latin typeface="Noto Sans SC" panose="020B0200000000000000" pitchFamily="34" charset="-122"/>
                <a:ea typeface="Noto Sans SC" panose="020B0200000000000000" pitchFamily="34" charset="-122"/>
              </a:rPr>
              <a:t>光源的相对发射光谱</a:t>
            </a:r>
            <a:endParaRPr lang="en-US" altLang="zh-CN" sz="2000" b="1" dirty="0">
              <a:latin typeface="Noto Sans SC" panose="020B0200000000000000" pitchFamily="34" charset="-122"/>
              <a:ea typeface="Noto Sans SC" panose="020B0200000000000000" pitchFamily="34" charset="-122"/>
            </a:endParaRPr>
          </a:p>
        </p:txBody>
      </p:sp>
      <p:sp>
        <p:nvSpPr>
          <p:cNvPr id="7" name="文本框 6">
            <a:extLst>
              <a:ext uri="{FF2B5EF4-FFF2-40B4-BE49-F238E27FC236}">
                <a16:creationId xmlns:a16="http://schemas.microsoft.com/office/drawing/2014/main" id="{76DF882A-B426-5F4C-8FA1-F3DBCA1719E0}"/>
              </a:ext>
            </a:extLst>
          </p:cNvPr>
          <p:cNvSpPr txBox="1"/>
          <p:nvPr/>
        </p:nvSpPr>
        <p:spPr>
          <a:xfrm>
            <a:off x="109467" y="1946796"/>
            <a:ext cx="5505722" cy="369332"/>
          </a:xfrm>
          <a:prstGeom prst="rect">
            <a:avLst/>
          </a:prstGeom>
          <a:noFill/>
        </p:spPr>
        <p:txBody>
          <a:bodyPr wrap="square" rtlCol="0">
            <a:spAutoFit/>
          </a:bodyPr>
          <a:lstStyle/>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这些数据也可以在</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的官网找到。</a:t>
            </a:r>
            <a:endParaRPr lang="en-US" altLang="zh-CN" dirty="0">
              <a:latin typeface="Noto Sans SC" panose="020B0200000000000000" pitchFamily="34" charset="-122"/>
              <a:ea typeface="Noto Sans SC" panose="020B0200000000000000" pitchFamily="34" charset="-122"/>
            </a:endParaRPr>
          </a:p>
        </p:txBody>
      </p:sp>
      <p:sp>
        <p:nvSpPr>
          <p:cNvPr id="3" name="文本框 2">
            <a:extLst>
              <a:ext uri="{FF2B5EF4-FFF2-40B4-BE49-F238E27FC236}">
                <a16:creationId xmlns:a16="http://schemas.microsoft.com/office/drawing/2014/main" id="{9615A7AC-45FD-8981-D597-534484DB9625}"/>
              </a:ext>
            </a:extLst>
          </p:cNvPr>
          <p:cNvSpPr txBox="1"/>
          <p:nvPr/>
        </p:nvSpPr>
        <p:spPr>
          <a:xfrm>
            <a:off x="797366" y="2707996"/>
            <a:ext cx="4871859" cy="3367525"/>
          </a:xfrm>
          <a:prstGeom prst="rect">
            <a:avLst/>
          </a:prstGeom>
          <a:ln w="57150">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50000"/>
              </a:lnSpc>
            </a:pP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定义了一系列标准的光源：</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Illuminants</a:t>
            </a:r>
            <a:r>
              <a:rPr lang="en-US" altLang="zh-CN" dirty="0">
                <a:latin typeface="Noto Sans SC" panose="020B0200000000000000" pitchFamily="34" charset="-122"/>
                <a:ea typeface="Noto Sans SC" panose="020B0200000000000000" pitchFamily="34" charset="-122"/>
              </a:rPr>
              <a:t> A</a:t>
            </a:r>
            <a:r>
              <a:rPr lang="zh-CN" altLang="en-US"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平均白炽光</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Illuminants</a:t>
            </a:r>
            <a:r>
              <a:rPr lang="en-US" altLang="zh-CN" dirty="0">
                <a:latin typeface="Noto Sans SC" panose="020B0200000000000000" pitchFamily="34" charset="-122"/>
                <a:ea typeface="Noto Sans SC" panose="020B0200000000000000" pitchFamily="34" charset="-122"/>
              </a:rPr>
              <a:t> B</a:t>
            </a:r>
            <a:r>
              <a:rPr lang="zh-CN" altLang="en-US"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直射阳光</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Illuminants</a:t>
            </a:r>
            <a:r>
              <a:rPr lang="en-US" altLang="zh-CN" dirty="0">
                <a:latin typeface="Noto Sans SC" panose="020B0200000000000000" pitchFamily="34" charset="-122"/>
                <a:ea typeface="Noto Sans SC" panose="020B0200000000000000" pitchFamily="34" charset="-122"/>
              </a:rPr>
              <a:t> C</a:t>
            </a:r>
            <a:r>
              <a:rPr lang="zh-CN" altLang="en-US"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平均日光</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Illuminants</a:t>
            </a:r>
            <a:r>
              <a:rPr lang="en-US" altLang="zh-CN" dirty="0">
                <a:latin typeface="Noto Sans SC" panose="020B0200000000000000" pitchFamily="34" charset="-122"/>
                <a:ea typeface="Noto Sans SC" panose="020B0200000000000000" pitchFamily="34" charset="-122"/>
              </a:rPr>
              <a:t> series D</a:t>
            </a:r>
            <a:r>
              <a:rPr lang="zh-CN" altLang="en-US"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日光</a:t>
            </a:r>
            <a:r>
              <a:rPr lang="zh-CN" altLang="en-US" dirty="0">
                <a:latin typeface="Noto Sans SC" panose="020B0200000000000000" pitchFamily="34" charset="-122"/>
                <a:ea typeface="Noto Sans SC" panose="020B0200000000000000" pitchFamily="34" charset="-122"/>
              </a:rPr>
              <a:t>系列</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D50</a:t>
            </a:r>
            <a:r>
              <a:rPr lang="zh-CN" altLang="en-US" dirty="0">
                <a:latin typeface="Noto Sans SC" panose="020B0200000000000000" pitchFamily="34" charset="-122"/>
                <a:ea typeface="Noto Sans SC" panose="020B0200000000000000" pitchFamily="34" charset="-122"/>
              </a:rPr>
              <a:t>：色温为</a:t>
            </a:r>
            <a:r>
              <a:rPr lang="en-US" altLang="zh-CN" dirty="0">
                <a:latin typeface="Noto Sans SC" panose="020B0200000000000000" pitchFamily="34" charset="-122"/>
                <a:ea typeface="Noto Sans SC" panose="020B0200000000000000" pitchFamily="34" charset="-122"/>
              </a:rPr>
              <a:t>5003K</a:t>
            </a:r>
            <a:r>
              <a:rPr lang="zh-CN" altLang="en-US" dirty="0">
                <a:latin typeface="Noto Sans SC" panose="020B0200000000000000" pitchFamily="34" charset="-122"/>
                <a:ea typeface="Noto Sans SC" panose="020B0200000000000000" pitchFamily="34" charset="-122"/>
              </a:rPr>
              <a:t>的正午日光</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D65</a:t>
            </a:r>
            <a:r>
              <a:rPr lang="zh-CN" altLang="en-US" dirty="0">
                <a:latin typeface="Noto Sans SC" panose="020B0200000000000000" pitchFamily="34" charset="-122"/>
                <a:ea typeface="Noto Sans SC" panose="020B0200000000000000" pitchFamily="34" charset="-122"/>
              </a:rPr>
              <a:t>：色温为</a:t>
            </a:r>
            <a:r>
              <a:rPr lang="en-US" altLang="zh-CN" dirty="0">
                <a:latin typeface="Noto Sans SC" panose="020B0200000000000000" pitchFamily="34" charset="-122"/>
                <a:ea typeface="Noto Sans SC" panose="020B0200000000000000" pitchFamily="34" charset="-122"/>
              </a:rPr>
              <a:t>6504K</a:t>
            </a:r>
            <a:r>
              <a:rPr lang="zh-CN" altLang="en-US" dirty="0">
                <a:latin typeface="Noto Sans SC" panose="020B0200000000000000" pitchFamily="34" charset="-122"/>
                <a:ea typeface="Noto Sans SC" panose="020B0200000000000000" pitchFamily="34" charset="-122"/>
              </a:rPr>
              <a:t>的正午日光</a:t>
            </a:r>
            <a:endParaRPr lang="en-US" altLang="zh-CN" dirty="0">
              <a:latin typeface="Noto Sans SC" panose="020B0200000000000000" pitchFamily="34" charset="-122"/>
              <a:ea typeface="Noto Sans SC" panose="020B0200000000000000" pitchFamily="34" charset="-122"/>
            </a:endParaRPr>
          </a:p>
          <a:p>
            <a:pPr>
              <a:lnSpc>
                <a:spcPct val="150000"/>
              </a:lnSpc>
            </a:pPr>
            <a:r>
              <a:rPr lang="en-US" altLang="zh-CN" dirty="0">
                <a:latin typeface="Noto Sans SC" panose="020B0200000000000000" pitchFamily="34" charset="-122"/>
                <a:ea typeface="Noto Sans SC" panose="020B0200000000000000" pitchFamily="34" charset="-122"/>
              </a:rPr>
              <a:t>    </a:t>
            </a:r>
            <a:r>
              <a:rPr lang="zh-CN" altLang="zh-CN" dirty="0">
                <a:latin typeface="Noto Sans SC" panose="020B0200000000000000" pitchFamily="34" charset="-122"/>
                <a:ea typeface="Noto Sans SC" panose="020B0200000000000000" pitchFamily="34" charset="-122"/>
              </a:rPr>
              <a:t>Illuminants</a:t>
            </a:r>
            <a:r>
              <a:rPr lang="en-US" altLang="zh-CN" dirty="0">
                <a:latin typeface="Noto Sans SC" panose="020B0200000000000000" pitchFamily="34" charset="-122"/>
                <a:ea typeface="Noto Sans SC" panose="020B0200000000000000" pitchFamily="34" charset="-122"/>
              </a:rPr>
              <a:t> series FL</a:t>
            </a:r>
            <a:r>
              <a:rPr lang="zh-CN" altLang="en-US" dirty="0">
                <a:latin typeface="Noto Sans SC" panose="020B0200000000000000" pitchFamily="34" charset="-122"/>
                <a:ea typeface="Noto Sans SC" panose="020B0200000000000000" pitchFamily="34" charset="-122"/>
              </a:rPr>
              <a:t>：</a:t>
            </a:r>
            <a:r>
              <a:rPr lang="zh-CN" altLang="zh-CN" dirty="0">
                <a:latin typeface="Noto Sans SC" panose="020B0200000000000000" pitchFamily="34" charset="-122"/>
                <a:ea typeface="Noto Sans SC" panose="020B0200000000000000" pitchFamily="34" charset="-122"/>
              </a:rPr>
              <a:t>荧光灯</a:t>
            </a:r>
            <a:r>
              <a:rPr lang="zh-CN" altLang="en-US" dirty="0">
                <a:latin typeface="Noto Sans SC" panose="020B0200000000000000" pitchFamily="34" charset="-122"/>
                <a:ea typeface="Noto Sans SC" panose="020B0200000000000000" pitchFamily="34" charset="-122"/>
              </a:rPr>
              <a:t>系列</a:t>
            </a:r>
            <a:endParaRPr lang="en-US" altLang="zh-CN" dirty="0">
              <a:latin typeface="Noto Sans SC" panose="020B0200000000000000" pitchFamily="34" charset="-122"/>
              <a:ea typeface="Noto Sans SC" panose="020B0200000000000000" pitchFamily="34" charset="-122"/>
            </a:endParaRPr>
          </a:p>
        </p:txBody>
      </p:sp>
      <p:pic>
        <p:nvPicPr>
          <p:cNvPr id="8" name="图片 7">
            <a:extLst>
              <a:ext uri="{FF2B5EF4-FFF2-40B4-BE49-F238E27FC236}">
                <a16:creationId xmlns:a16="http://schemas.microsoft.com/office/drawing/2014/main" id="{46E12C88-6FE6-8CA9-DBBA-7D7A6AF4CC3F}"/>
              </a:ext>
            </a:extLst>
          </p:cNvPr>
          <p:cNvPicPr>
            <a:picLocks noChangeAspect="1"/>
          </p:cNvPicPr>
          <p:nvPr/>
        </p:nvPicPr>
        <p:blipFill>
          <a:blip r:embed="rId2"/>
          <a:stretch>
            <a:fillRect/>
          </a:stretch>
        </p:blipFill>
        <p:spPr>
          <a:xfrm>
            <a:off x="6009389" y="875189"/>
            <a:ext cx="4871859" cy="2970489"/>
          </a:xfrm>
          <a:prstGeom prst="rect">
            <a:avLst/>
          </a:prstGeom>
        </p:spPr>
      </p:pic>
      <p:sp>
        <p:nvSpPr>
          <p:cNvPr id="11" name="文本框 10">
            <a:extLst>
              <a:ext uri="{FF2B5EF4-FFF2-40B4-BE49-F238E27FC236}">
                <a16:creationId xmlns:a16="http://schemas.microsoft.com/office/drawing/2014/main" id="{E5955B1E-DF47-D8A9-C140-6BFA5AA5636A}"/>
              </a:ext>
            </a:extLst>
          </p:cNvPr>
          <p:cNvSpPr txBox="1"/>
          <p:nvPr/>
        </p:nvSpPr>
        <p:spPr>
          <a:xfrm>
            <a:off x="6188995" y="4044196"/>
            <a:ext cx="4512648" cy="2031325"/>
          </a:xfrm>
          <a:prstGeom prst="rect">
            <a:avLst/>
          </a:prstGeom>
          <a:noFill/>
        </p:spPr>
        <p:txBody>
          <a:bodyPr wrap="square" rtlCol="0">
            <a:spAutoFit/>
          </a:bodyPr>
          <a:lstStyle/>
          <a:p>
            <a:r>
              <a:rPr lang="zh-CN" altLang="en-US" dirty="0">
                <a:latin typeface="Noto Sans SC" panose="020B0200000000000000" pitchFamily="34" charset="-122"/>
                <a:ea typeface="Noto Sans SC" panose="020B0200000000000000" pitchFamily="34" charset="-122"/>
              </a:rPr>
              <a:t>         这些光照的光谱都是相对光谱功率分布，</a:t>
            </a:r>
            <a:r>
              <a:rPr lang="en-US" altLang="zh-CN" dirty="0">
                <a:latin typeface="Noto Sans SC" panose="020B0200000000000000" pitchFamily="34" charset="-122"/>
                <a:ea typeface="Noto Sans SC" panose="020B0200000000000000" pitchFamily="34" charset="-122"/>
              </a:rPr>
              <a:t>D65</a:t>
            </a:r>
            <a:r>
              <a:rPr lang="zh-CN" altLang="en-US" dirty="0">
                <a:latin typeface="Noto Sans SC" panose="020B0200000000000000" pitchFamily="34" charset="-122"/>
                <a:ea typeface="Noto Sans SC" panose="020B0200000000000000" pitchFamily="34" charset="-122"/>
              </a:rPr>
              <a:t>为例，其在</a:t>
            </a:r>
            <a:r>
              <a:rPr lang="en-US" altLang="zh-CN" dirty="0">
                <a:latin typeface="Noto Sans SC" panose="020B0200000000000000" pitchFamily="34" charset="-122"/>
                <a:ea typeface="Noto Sans SC" panose="020B0200000000000000" pitchFamily="34" charset="-122"/>
              </a:rPr>
              <a:t>560nm</a:t>
            </a:r>
            <a:r>
              <a:rPr lang="zh-CN" altLang="en-US" dirty="0">
                <a:latin typeface="Noto Sans SC" panose="020B0200000000000000" pitchFamily="34" charset="-122"/>
                <a:ea typeface="Noto Sans SC" panose="020B0200000000000000" pitchFamily="34" charset="-122"/>
              </a:rPr>
              <a:t>处的数值为</a:t>
            </a:r>
            <a:r>
              <a:rPr lang="en-US" altLang="zh-CN" dirty="0">
                <a:latin typeface="Noto Sans SC" panose="020B0200000000000000" pitchFamily="34" charset="-122"/>
                <a:ea typeface="Noto Sans SC" panose="020B0200000000000000" pitchFamily="34" charset="-122"/>
              </a:rPr>
              <a:t>100</a:t>
            </a:r>
            <a:r>
              <a:rPr lang="zh-CN" altLang="en-US" dirty="0">
                <a:latin typeface="Noto Sans SC" panose="020B0200000000000000" pitchFamily="34" charset="-122"/>
                <a:ea typeface="Noto Sans SC" panose="020B0200000000000000" pitchFamily="34" charset="-122"/>
              </a:rPr>
              <a:t>，但不意味着</a:t>
            </a:r>
            <a:r>
              <a:rPr lang="en-US" altLang="zh-CN" dirty="0">
                <a:latin typeface="Noto Sans SC" panose="020B0200000000000000" pitchFamily="34" charset="-122"/>
                <a:ea typeface="Noto Sans SC" panose="020B0200000000000000" pitchFamily="34" charset="-122"/>
              </a:rPr>
              <a:t>100W/(m²·sr)</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不同的</a:t>
            </a:r>
            <a:r>
              <a:rPr lang="en-US" altLang="zh-CN" dirty="0">
                <a:latin typeface="Noto Sans SC" panose="020B0200000000000000" pitchFamily="34" charset="-122"/>
                <a:ea typeface="Noto Sans SC" panose="020B0200000000000000" pitchFamily="34" charset="-122"/>
              </a:rPr>
              <a:t>CIE</a:t>
            </a:r>
            <a:r>
              <a:rPr lang="zh-CN" altLang="en-US" dirty="0">
                <a:latin typeface="Noto Sans SC" panose="020B0200000000000000" pitchFamily="34" charset="-122"/>
                <a:ea typeface="Noto Sans SC" panose="020B0200000000000000" pitchFamily="34" charset="-122"/>
              </a:rPr>
              <a:t>标准光源在</a:t>
            </a:r>
            <a:r>
              <a:rPr lang="en-US" altLang="zh-CN" dirty="0">
                <a:latin typeface="Noto Sans SC" panose="020B0200000000000000" pitchFamily="34" charset="-122"/>
                <a:ea typeface="Noto Sans SC" panose="020B0200000000000000" pitchFamily="34" charset="-122"/>
              </a:rPr>
              <a:t>560nm</a:t>
            </a:r>
            <a:r>
              <a:rPr lang="zh-CN" altLang="en-US" dirty="0">
                <a:latin typeface="Noto Sans SC" panose="020B0200000000000000" pitchFamily="34" charset="-122"/>
                <a:ea typeface="Noto Sans SC" panose="020B0200000000000000" pitchFamily="34" charset="-122"/>
              </a:rPr>
              <a:t>处的数值不一定都是</a:t>
            </a:r>
            <a:r>
              <a:rPr lang="en-US" altLang="zh-CN" dirty="0">
                <a:latin typeface="Noto Sans SC" panose="020B0200000000000000" pitchFamily="34" charset="-122"/>
                <a:ea typeface="Noto Sans SC" panose="020B0200000000000000" pitchFamily="34" charset="-122"/>
              </a:rPr>
              <a:t>100</a:t>
            </a:r>
            <a:r>
              <a:rPr lang="zh-CN" altLang="en-US" dirty="0">
                <a:latin typeface="Noto Sans SC" panose="020B0200000000000000" pitchFamily="34" charset="-122"/>
                <a:ea typeface="Noto Sans SC" panose="020B0200000000000000" pitchFamily="34" charset="-122"/>
              </a:rPr>
              <a:t>，但他们都是相对光谱功率分布，只能代表光谱分布的走向。</a:t>
            </a:r>
            <a:endParaRPr lang="en-US" altLang="zh-CN"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28843863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47901-E70C-D26D-FAE3-A21D72955FF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7412CE2-2123-9B0F-0E0A-65CE90B836CD}"/>
              </a:ext>
            </a:extLst>
          </p:cNvPr>
          <p:cNvSpPr>
            <a:spLocks noGrp="1"/>
          </p:cNvSpPr>
          <p:nvPr>
            <p:ph type="title" idx="1"/>
          </p:nvPr>
        </p:nvSpPr>
        <p:spPr/>
        <p:txBody>
          <a:bodyPr/>
          <a:lstStyle/>
          <a:p>
            <a:r>
              <a:rPr lang="zh-CN" altLang="en-US" dirty="0"/>
              <a:t>数据来源</a:t>
            </a:r>
          </a:p>
        </p:txBody>
      </p:sp>
      <p:sp>
        <p:nvSpPr>
          <p:cNvPr id="6" name="文本框 5">
            <a:extLst>
              <a:ext uri="{FF2B5EF4-FFF2-40B4-BE49-F238E27FC236}">
                <a16:creationId xmlns:a16="http://schemas.microsoft.com/office/drawing/2014/main" id="{A472F4CC-16E5-35FF-D86C-968D2F688447}"/>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3. </a:t>
            </a:r>
            <a:r>
              <a:rPr lang="zh-CN" altLang="en-US" sz="2000" b="1" dirty="0">
                <a:latin typeface="Noto Sans SC" panose="020B0200000000000000" pitchFamily="34" charset="-122"/>
                <a:ea typeface="Noto Sans SC" panose="020B0200000000000000" pitchFamily="34" charset="-122"/>
              </a:rPr>
              <a:t>光源的辐射率发射光谱</a:t>
            </a:r>
            <a:endParaRPr lang="en-US" altLang="zh-CN" sz="20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DE3F7F2-8D34-4027-EC72-56077DC60140}"/>
                  </a:ext>
                </a:extLst>
              </p:cNvPr>
              <p:cNvSpPr txBox="1"/>
              <p:nvPr/>
            </p:nvSpPr>
            <p:spPr>
              <a:xfrm>
                <a:off x="302650" y="2385735"/>
                <a:ext cx="4855337" cy="3429080"/>
              </a:xfrm>
              <a:prstGeom prst="rect">
                <a:avLst/>
              </a:prstGeom>
              <a:noFill/>
            </p:spPr>
            <p:txBody>
              <a:bodyPr wrap="square" rtlCol="0">
                <a:spAutoFit/>
              </a:bodyPr>
              <a:lstStyle/>
              <a:p>
                <a:r>
                  <a:rPr lang="zh-CN" altLang="en-US" dirty="0">
                    <a:latin typeface="Noto Sans SC" panose="020B0200000000000000" pitchFamily="34" charset="-122"/>
                    <a:ea typeface="Noto Sans SC" panose="020B0200000000000000" pitchFamily="34" charset="-122"/>
                  </a:rPr>
                  <a:t>         为了得到绝对光谱功率分布，可以对相对光谱功率分布进行整体的缩放，使其最终的亮度为一个合理的值。</a:t>
                </a:r>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以</a:t>
                </a:r>
                <a:r>
                  <a:rPr lang="en-US" altLang="zh-CN" dirty="0">
                    <a:latin typeface="Noto Sans SC" panose="020B0200000000000000" pitchFamily="34" charset="-122"/>
                    <a:ea typeface="Noto Sans SC" panose="020B0200000000000000" pitchFamily="34" charset="-122"/>
                  </a:rPr>
                  <a:t>Illuminants A</a:t>
                </a:r>
                <a:r>
                  <a:rPr lang="zh-CN" altLang="en-US" dirty="0">
                    <a:latin typeface="Noto Sans SC" panose="020B0200000000000000" pitchFamily="34" charset="-122"/>
                    <a:ea typeface="Noto Sans SC" panose="020B0200000000000000" pitchFamily="34" charset="-122"/>
                  </a:rPr>
                  <a:t>为例，</a:t>
                </a:r>
                <a:r>
                  <a:rPr lang="en-US" altLang="zh-CN" dirty="0">
                    <a:latin typeface="Noto Sans SC" panose="020B0200000000000000" pitchFamily="34" charset="-122"/>
                    <a:ea typeface="Noto Sans SC" panose="020B0200000000000000" pitchFamily="34" charset="-122"/>
                  </a:rPr>
                  <a:t>60W</a:t>
                </a:r>
                <a:r>
                  <a:rPr lang="zh-CN" altLang="en-US" dirty="0">
                    <a:latin typeface="Noto Sans SC" panose="020B0200000000000000" pitchFamily="34" charset="-122"/>
                    <a:ea typeface="Noto Sans SC" panose="020B0200000000000000" pitchFamily="34" charset="-122"/>
                  </a:rPr>
                  <a:t>白炽灯的亮度大约在</a:t>
                </a:r>
                <a:r>
                  <a:rPr lang="en-US" altLang="zh-CN" dirty="0">
                    <a:latin typeface="Noto Sans SC" panose="020B0200000000000000" pitchFamily="34" charset="-122"/>
                    <a:ea typeface="Noto Sans SC" panose="020B0200000000000000" pitchFamily="34" charset="-122"/>
                  </a:rPr>
                  <a:t>120 000nit</a:t>
                </a:r>
                <a:r>
                  <a:rPr lang="zh-CN" altLang="en-US" dirty="0">
                    <a:latin typeface="Noto Sans SC" panose="020B0200000000000000" pitchFamily="34" charset="-122"/>
                    <a:ea typeface="Noto Sans SC" panose="020B0200000000000000" pitchFamily="34" charset="-122"/>
                  </a:rPr>
                  <a:t>，于是：</a:t>
                </a:r>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Noto Sans SC" panose="020B0200000000000000" pitchFamily="34" charset="-122"/>
                        </a:rPr>
                        <m:t>120 000=</m:t>
                      </m:r>
                      <m:sSub>
                        <m:sSubPr>
                          <m:ctrlPr>
                            <a:rPr lang="en-US" altLang="zh-CN" b="0" i="1" smtClean="0">
                              <a:latin typeface="Cambria Math" panose="02040503050406030204" pitchFamily="18" charset="0"/>
                              <a:ea typeface="Noto Sans SC" panose="020B0200000000000000" pitchFamily="34" charset="-122"/>
                            </a:rPr>
                          </m:ctrlPr>
                        </m:sSubPr>
                        <m:e>
                          <m:r>
                            <a:rPr lang="en-US" altLang="zh-CN" b="0" i="1" smtClean="0">
                              <a:latin typeface="Cambria Math" panose="02040503050406030204" pitchFamily="18" charset="0"/>
                              <a:ea typeface="Noto Sans SC" panose="020B0200000000000000" pitchFamily="34" charset="-122"/>
                            </a:rPr>
                            <m:t>𝐾</m:t>
                          </m:r>
                        </m:e>
                        <m:sub>
                          <m:r>
                            <a:rPr lang="en-US" altLang="zh-CN" b="0" i="1" smtClean="0">
                              <a:latin typeface="Cambria Math" panose="02040503050406030204" pitchFamily="18" charset="0"/>
                              <a:ea typeface="Noto Sans SC" panose="020B0200000000000000" pitchFamily="34" charset="-122"/>
                            </a:rPr>
                            <m:t>𝑐𝑑</m:t>
                          </m:r>
                        </m:sub>
                      </m:sSub>
                      <m:r>
                        <a:rPr lang="en-US" altLang="zh-CN" b="0" i="1" smtClean="0">
                          <a:latin typeface="Cambria Math" panose="02040503050406030204" pitchFamily="18" charset="0"/>
                          <a:ea typeface="Noto Sans SC" panose="020B0200000000000000" pitchFamily="34" charset="-122"/>
                        </a:rPr>
                        <m:t>∫</m:t>
                      </m:r>
                      <m:r>
                        <a:rPr lang="en-US" altLang="zh-CN" b="0" i="1" smtClean="0">
                          <a:latin typeface="Cambria Math" panose="02040503050406030204" pitchFamily="18" charset="0"/>
                          <a:ea typeface="Noto Sans SC" panose="020B0200000000000000" pitchFamily="34" charset="-122"/>
                        </a:rPr>
                        <m:t>𝑘</m:t>
                      </m:r>
                      <m:r>
                        <a:rPr lang="en-US" altLang="zh-CN" b="0" i="1" smtClean="0">
                          <a:latin typeface="Cambria Math" panose="02040503050406030204" pitchFamily="18" charset="0"/>
                          <a:ea typeface="Noto Sans SC" panose="020B0200000000000000" pitchFamily="34" charset="-122"/>
                        </a:rPr>
                        <m:t> </m:t>
                      </m:r>
                      <m:sSub>
                        <m:sSubPr>
                          <m:ctrlPr>
                            <a:rPr lang="en-US" altLang="zh-CN" b="0" i="1" smtClean="0">
                              <a:latin typeface="Cambria Math" panose="02040503050406030204" pitchFamily="18" charset="0"/>
                              <a:ea typeface="Noto Sans SC" panose="020B0200000000000000" pitchFamily="34" charset="-122"/>
                            </a:rPr>
                          </m:ctrlPr>
                        </m:sSubPr>
                        <m:e>
                          <m:r>
                            <a:rPr lang="en-US" altLang="zh-CN" b="0" i="1" smtClean="0">
                              <a:latin typeface="Cambria Math" panose="02040503050406030204" pitchFamily="18" charset="0"/>
                              <a:ea typeface="Noto Sans SC" panose="020B0200000000000000" pitchFamily="34" charset="-122"/>
                            </a:rPr>
                            <m:t>𝑆</m:t>
                          </m:r>
                        </m:e>
                        <m:sub>
                          <m:r>
                            <a:rPr lang="en-US" altLang="zh-CN" b="0" i="1" smtClean="0">
                              <a:latin typeface="Cambria Math" panose="02040503050406030204" pitchFamily="18" charset="0"/>
                              <a:ea typeface="Noto Sans SC" panose="020B0200000000000000" pitchFamily="34" charset="-122"/>
                            </a:rPr>
                            <m:t>𝐴</m:t>
                          </m:r>
                        </m:sub>
                      </m:sSub>
                      <m:d>
                        <m:dPr>
                          <m:ctrlPr>
                            <a:rPr lang="en-US" altLang="zh-CN" b="0" i="1" smtClean="0">
                              <a:latin typeface="Cambria Math" panose="02040503050406030204" pitchFamily="18" charset="0"/>
                              <a:ea typeface="Noto Sans SC" panose="020B0200000000000000" pitchFamily="34" charset="-122"/>
                            </a:rPr>
                          </m:ctrlPr>
                        </m:dPr>
                        <m:e>
                          <m:r>
                            <a:rPr lang="en-US" altLang="zh-CN" b="0" i="1" smtClean="0">
                              <a:latin typeface="Cambria Math" panose="02040503050406030204" pitchFamily="18" charset="0"/>
                              <a:ea typeface="Noto Sans SC" panose="020B0200000000000000" pitchFamily="34" charset="-122"/>
                            </a:rPr>
                            <m:t>𝜆</m:t>
                          </m:r>
                        </m:e>
                      </m:d>
                      <m:r>
                        <a:rPr lang="en-US" altLang="zh-CN" b="0" i="1" smtClean="0">
                          <a:latin typeface="Cambria Math" panose="02040503050406030204" pitchFamily="18" charset="0"/>
                          <a:ea typeface="Noto Sans SC" panose="020B0200000000000000" pitchFamily="34" charset="-122"/>
                        </a:rPr>
                        <m:t>𝑉</m:t>
                      </m:r>
                      <m:d>
                        <m:dPr>
                          <m:ctrlPr>
                            <a:rPr lang="en-US" altLang="zh-CN" b="0" i="1" smtClean="0">
                              <a:latin typeface="Cambria Math" panose="02040503050406030204" pitchFamily="18" charset="0"/>
                              <a:ea typeface="Noto Sans SC" panose="020B0200000000000000" pitchFamily="34" charset="-122"/>
                            </a:rPr>
                          </m:ctrlPr>
                        </m:dPr>
                        <m:e>
                          <m:r>
                            <a:rPr lang="en-US" altLang="zh-CN" b="0" i="1" smtClean="0">
                              <a:latin typeface="Cambria Math" panose="02040503050406030204" pitchFamily="18" charset="0"/>
                              <a:ea typeface="Noto Sans SC" panose="020B0200000000000000" pitchFamily="34" charset="-122"/>
                            </a:rPr>
                            <m:t>𝜆</m:t>
                          </m:r>
                        </m:e>
                      </m:d>
                      <m:r>
                        <a:rPr lang="en-US" altLang="zh-CN" b="0" i="1" smtClean="0">
                          <a:latin typeface="Cambria Math" panose="02040503050406030204" pitchFamily="18" charset="0"/>
                          <a:ea typeface="Noto Sans SC" panose="020B0200000000000000" pitchFamily="34" charset="-122"/>
                        </a:rPr>
                        <m:t>𝑑</m:t>
                      </m:r>
                      <m:r>
                        <a:rPr lang="en-US" altLang="zh-CN" b="0" i="1" smtClean="0">
                          <a:latin typeface="Cambria Math" panose="02040503050406030204" pitchFamily="18" charset="0"/>
                          <a:ea typeface="Noto Sans SC" panose="020B0200000000000000" pitchFamily="34" charset="-122"/>
                        </a:rPr>
                        <m:t>𝜆</m:t>
                      </m:r>
                    </m:oMath>
                  </m:oMathPara>
                </a14:m>
                <a:endParaRPr lang="en-US" altLang="zh-CN" b="0" i="1" dirty="0">
                  <a:latin typeface="Cambria Math" panose="02040503050406030204" pitchFamily="18" charset="0"/>
                  <a:ea typeface="Noto Sans SC" panose="020B0200000000000000" pitchFamily="34" charset="-122"/>
                </a:endParaRPr>
              </a:p>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ea typeface="Noto Sans SC" panose="020B0200000000000000" pitchFamily="34" charset="-122"/>
                        </a:rPr>
                        <m:t>解</m:t>
                      </m:r>
                      <m:r>
                        <a:rPr lang="zh-CN" altLang="en-US" i="1" smtClean="0">
                          <a:latin typeface="Cambria Math" panose="02040503050406030204" pitchFamily="18" charset="0"/>
                          <a:ea typeface="Noto Sans SC" panose="020B0200000000000000" pitchFamily="34" charset="-122"/>
                        </a:rPr>
                        <m:t>得</m:t>
                      </m:r>
                      <m:r>
                        <a:rPr lang="zh-CN" altLang="en-US" i="1">
                          <a:latin typeface="Cambria Math" panose="02040503050406030204" pitchFamily="18" charset="0"/>
                          <a:ea typeface="Noto Sans SC" panose="020B0200000000000000" pitchFamily="34" charset="-122"/>
                        </a:rPr>
                        <m:t>：</m:t>
                      </m:r>
                      <m:r>
                        <a:rPr lang="en-US" altLang="zh-CN" b="0" i="1" smtClean="0">
                          <a:latin typeface="Cambria Math" panose="02040503050406030204" pitchFamily="18" charset="0"/>
                          <a:ea typeface="Noto Sans SC" panose="020B0200000000000000" pitchFamily="34" charset="-122"/>
                        </a:rPr>
                        <m:t>𝑘</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Noto Sans SC" panose="020B0200000000000000" pitchFamily="34" charset="-122"/>
                        </a:rPr>
                        <m:t>0.016</m:t>
                      </m:r>
                    </m:oMath>
                  </m:oMathPara>
                </a14:m>
                <a:endParaRPr lang="en-US" altLang="zh-CN" b="0"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r>
                  <a:rPr lang="zh-CN" altLang="en-US" dirty="0">
                    <a:latin typeface="Noto Sans SC" panose="020B0200000000000000" pitchFamily="34" charset="-122"/>
                    <a:ea typeface="Noto Sans SC" panose="020B0200000000000000" pitchFamily="34" charset="-122"/>
                  </a:rPr>
                  <a:t>         所以，</a:t>
                </a:r>
                <a:r>
                  <a:rPr lang="en-US" altLang="zh-CN" dirty="0">
                    <a:latin typeface="Noto Sans SC" panose="020B0200000000000000" pitchFamily="34" charset="-122"/>
                    <a:ea typeface="Noto Sans SC" panose="020B0200000000000000" pitchFamily="34" charset="-122"/>
                  </a:rPr>
                  <a:t>60W</a:t>
                </a:r>
                <a:r>
                  <a:rPr lang="zh-CN" altLang="en-US" dirty="0">
                    <a:latin typeface="Noto Sans SC" panose="020B0200000000000000" pitchFamily="34" charset="-122"/>
                    <a:ea typeface="Noto Sans SC" panose="020B0200000000000000" pitchFamily="34" charset="-122"/>
                  </a:rPr>
                  <a:t>的白炽灯的辐射率发射光谱约为</a:t>
                </a:r>
                <a14:m>
                  <m:oMath xmlns:m="http://schemas.openxmlformats.org/officeDocument/2006/math">
                    <m:r>
                      <a:rPr lang="en-US" altLang="zh-CN" i="1">
                        <a:latin typeface="Cambria Math" panose="02040503050406030204" pitchFamily="18" charset="0"/>
                        <a:ea typeface="Noto Sans SC" panose="020B0200000000000000" pitchFamily="34" charset="-122"/>
                      </a:rPr>
                      <m:t>0.016</m:t>
                    </m:r>
                    <m:sSub>
                      <m:sSubPr>
                        <m:ctrlPr>
                          <a:rPr lang="en-US" altLang="zh-CN" i="1">
                            <a:latin typeface="Cambria Math" panose="02040503050406030204" pitchFamily="18" charset="0"/>
                            <a:ea typeface="Noto Sans SC" panose="020B0200000000000000" pitchFamily="34" charset="-122"/>
                          </a:rPr>
                        </m:ctrlPr>
                      </m:sSubPr>
                      <m:e>
                        <m:r>
                          <a:rPr lang="en-US" altLang="zh-CN" i="1">
                            <a:latin typeface="Cambria Math" panose="02040503050406030204" pitchFamily="18" charset="0"/>
                            <a:ea typeface="Noto Sans SC" panose="020B0200000000000000" pitchFamily="34" charset="-122"/>
                          </a:rPr>
                          <m:t>𝑆</m:t>
                        </m:r>
                      </m:e>
                      <m:sub>
                        <m:r>
                          <a:rPr lang="en-US" altLang="zh-CN" i="1">
                            <a:latin typeface="Cambria Math" panose="02040503050406030204" pitchFamily="18" charset="0"/>
                            <a:ea typeface="Noto Sans SC" panose="020B0200000000000000" pitchFamily="34" charset="-122"/>
                          </a:rPr>
                          <m:t>𝐴</m:t>
                        </m:r>
                      </m:sub>
                    </m:sSub>
                    <m:d>
                      <m:dPr>
                        <m:ctrlPr>
                          <a:rPr lang="en-US" altLang="zh-CN" i="1">
                            <a:latin typeface="Cambria Math" panose="02040503050406030204" pitchFamily="18" charset="0"/>
                            <a:ea typeface="Noto Sans SC" panose="020B0200000000000000" pitchFamily="34" charset="-122"/>
                          </a:rPr>
                        </m:ctrlPr>
                      </m:dPr>
                      <m:e>
                        <m:r>
                          <a:rPr lang="en-US" altLang="zh-CN" i="1">
                            <a:latin typeface="Cambria Math" panose="02040503050406030204" pitchFamily="18" charset="0"/>
                            <a:ea typeface="Noto Sans SC" panose="020B0200000000000000" pitchFamily="34" charset="-122"/>
                          </a:rPr>
                          <m:t>𝜆</m:t>
                        </m:r>
                      </m:e>
                    </m:d>
                  </m:oMath>
                </a14:m>
                <a:r>
                  <a:rPr lang="zh-CN" altLang="en-US" b="0" dirty="0">
                    <a:latin typeface="Noto Sans SC" panose="020B0200000000000000" pitchFamily="34" charset="-122"/>
                    <a:ea typeface="Noto Sans SC" panose="020B0200000000000000" pitchFamily="34" charset="-122"/>
                  </a:rPr>
                  <a:t>，单位是</a:t>
                </a:r>
                <a14:m>
                  <m:oMath xmlns:m="http://schemas.openxmlformats.org/officeDocument/2006/math">
                    <m:r>
                      <a:rPr lang="en-US" altLang="zh-CN" b="0" i="1" smtClean="0">
                        <a:latin typeface="Cambria Math" panose="02040503050406030204" pitchFamily="18" charset="0"/>
                        <a:ea typeface="Noto Sans SC" panose="020B0200000000000000" pitchFamily="34" charset="-122"/>
                      </a:rPr>
                      <m:t>𝑊</m:t>
                    </m:r>
                    <m:r>
                      <a:rPr lang="en-US" altLang="zh-CN" b="0" i="1" smtClean="0">
                        <a:latin typeface="Cambria Math" panose="02040503050406030204" pitchFamily="18" charset="0"/>
                        <a:ea typeface="Noto Sans SC" panose="020B0200000000000000" pitchFamily="34" charset="-122"/>
                      </a:rPr>
                      <m:t>/</m:t>
                    </m:r>
                    <m:d>
                      <m:dPr>
                        <m:ctrlPr>
                          <a:rPr lang="en-US" altLang="zh-CN" b="0" i="1" smtClean="0">
                            <a:latin typeface="Cambria Math" panose="02040503050406030204" pitchFamily="18" charset="0"/>
                            <a:ea typeface="Noto Sans SC" panose="020B0200000000000000" pitchFamily="34" charset="-122"/>
                          </a:rPr>
                        </m:ctrlPr>
                      </m:dPr>
                      <m:e>
                        <m:sSup>
                          <m:sSupPr>
                            <m:ctrlPr>
                              <a:rPr lang="en-US" altLang="zh-CN" b="0" i="1" smtClean="0">
                                <a:latin typeface="Cambria Math" panose="02040503050406030204" pitchFamily="18" charset="0"/>
                                <a:ea typeface="Noto Sans SC" panose="020B0200000000000000" pitchFamily="34" charset="-122"/>
                              </a:rPr>
                            </m:ctrlPr>
                          </m:sSupPr>
                          <m:e>
                            <m:r>
                              <a:rPr lang="en-US" altLang="zh-CN" b="0" i="1" smtClean="0">
                                <a:latin typeface="Cambria Math" panose="02040503050406030204" pitchFamily="18" charset="0"/>
                                <a:ea typeface="Noto Sans SC" panose="020B0200000000000000" pitchFamily="34" charset="-122"/>
                              </a:rPr>
                              <m:t>𝑚</m:t>
                            </m:r>
                          </m:e>
                          <m:sup>
                            <m:r>
                              <a:rPr lang="en-US" altLang="zh-CN" b="0" i="1" smtClean="0">
                                <a:latin typeface="Cambria Math" panose="02040503050406030204" pitchFamily="18" charset="0"/>
                                <a:ea typeface="Noto Sans SC" panose="020B0200000000000000" pitchFamily="34" charset="-122"/>
                              </a:rPr>
                              <m:t>2</m:t>
                            </m:r>
                          </m:sup>
                        </m:sSup>
                        <m:r>
                          <a:rPr lang="en-US" altLang="zh-CN" i="1">
                            <a:latin typeface="Cambria Math" panose="02040503050406030204" pitchFamily="18" charset="0"/>
                            <a:ea typeface="Noto Sans SC" panose="020B0200000000000000" pitchFamily="34" charset="-122"/>
                          </a:rPr>
                          <m:t>·</m:t>
                        </m:r>
                        <m:r>
                          <a:rPr lang="en-US" altLang="zh-CN" b="0" i="1" smtClean="0">
                            <a:latin typeface="Cambria Math" panose="02040503050406030204" pitchFamily="18" charset="0"/>
                            <a:ea typeface="Noto Sans SC" panose="020B0200000000000000" pitchFamily="34" charset="-122"/>
                          </a:rPr>
                          <m:t>𝑠𝑟</m:t>
                        </m:r>
                      </m:e>
                    </m:d>
                  </m:oMath>
                </a14:m>
                <a:r>
                  <a:rPr lang="zh-CN" altLang="en-US" b="0" dirty="0">
                    <a:latin typeface="Noto Sans SC" panose="020B0200000000000000" pitchFamily="34" charset="-122"/>
                    <a:ea typeface="Noto Sans SC" panose="020B0200000000000000" pitchFamily="34" charset="-122"/>
                  </a:rPr>
                  <a:t>。</a:t>
                </a:r>
                <a:endParaRPr lang="en-US" altLang="zh-CN" b="0" dirty="0">
                  <a:latin typeface="Noto Sans SC" panose="020B0200000000000000" pitchFamily="34" charset="-122"/>
                  <a:ea typeface="Noto Sans SC" panose="020B0200000000000000" pitchFamily="34" charset="-122"/>
                </a:endParaRPr>
              </a:p>
            </p:txBody>
          </p:sp>
        </mc:Choice>
        <mc:Fallback xmlns="">
          <p:sp>
            <p:nvSpPr>
              <p:cNvPr id="4" name="文本框 3">
                <a:extLst>
                  <a:ext uri="{FF2B5EF4-FFF2-40B4-BE49-F238E27FC236}">
                    <a16:creationId xmlns:a16="http://schemas.microsoft.com/office/drawing/2014/main" id="{4DE3F7F2-8D34-4027-EC72-56077DC60140}"/>
                  </a:ext>
                </a:extLst>
              </p:cNvPr>
              <p:cNvSpPr txBox="1">
                <a:spLocks noRot="1" noChangeAspect="1" noMove="1" noResize="1" noEditPoints="1" noAdjustHandles="1" noChangeArrowheads="1" noChangeShapeType="1" noTextEdit="1"/>
              </p:cNvSpPr>
              <p:nvPr/>
            </p:nvSpPr>
            <p:spPr>
              <a:xfrm>
                <a:off x="302650" y="2385735"/>
                <a:ext cx="4855337" cy="3429080"/>
              </a:xfrm>
              <a:prstGeom prst="rect">
                <a:avLst/>
              </a:prstGeom>
              <a:blipFill>
                <a:blip r:embed="rId2"/>
                <a:stretch>
                  <a:fillRect l="-1131" t="-888" b="-1776"/>
                </a:stretch>
              </a:blipFill>
            </p:spPr>
            <p:txBody>
              <a:bodyPr/>
              <a:lstStyle/>
              <a:p>
                <a:r>
                  <a:rPr lang="zh-CN" altLang="en-US">
                    <a:noFill/>
                  </a:rPr>
                  <a:t> </a:t>
                </a:r>
              </a:p>
            </p:txBody>
          </p:sp>
        </mc:Fallback>
      </mc:AlternateContent>
      <p:graphicFrame>
        <p:nvGraphicFramePr>
          <p:cNvPr id="10" name="表格 9">
            <a:extLst>
              <a:ext uri="{FF2B5EF4-FFF2-40B4-BE49-F238E27FC236}">
                <a16:creationId xmlns:a16="http://schemas.microsoft.com/office/drawing/2014/main" id="{875C779D-EDC4-BEB3-E417-1C9AAD241CBE}"/>
              </a:ext>
            </a:extLst>
          </p:cNvPr>
          <p:cNvGraphicFramePr>
            <a:graphicFrameLocks noGrp="1"/>
          </p:cNvGraphicFramePr>
          <p:nvPr>
            <p:extLst>
              <p:ext uri="{D42A27DB-BD31-4B8C-83A1-F6EECF244321}">
                <p14:modId xmlns:p14="http://schemas.microsoft.com/office/powerpoint/2010/main" val="3615981155"/>
              </p:ext>
            </p:extLst>
          </p:nvPr>
        </p:nvGraphicFramePr>
        <p:xfrm>
          <a:off x="5776499" y="1861617"/>
          <a:ext cx="5958300" cy="3753576"/>
        </p:xfrm>
        <a:graphic>
          <a:graphicData uri="http://schemas.openxmlformats.org/drawingml/2006/table">
            <a:tbl>
              <a:tblPr firstRow="1" bandRow="1">
                <a:tableStyleId>{5C22544A-7EE6-4342-B048-85BDC9FD1C3A}</a:tableStyleId>
              </a:tblPr>
              <a:tblGrid>
                <a:gridCol w="2979150">
                  <a:extLst>
                    <a:ext uri="{9D8B030D-6E8A-4147-A177-3AD203B41FA5}">
                      <a16:colId xmlns:a16="http://schemas.microsoft.com/office/drawing/2014/main" val="3502332230"/>
                    </a:ext>
                  </a:extLst>
                </a:gridCol>
                <a:gridCol w="2979150">
                  <a:extLst>
                    <a:ext uri="{9D8B030D-6E8A-4147-A177-3AD203B41FA5}">
                      <a16:colId xmlns:a16="http://schemas.microsoft.com/office/drawing/2014/main" val="2787324560"/>
                    </a:ext>
                  </a:extLst>
                </a:gridCol>
              </a:tblGrid>
              <a:tr h="417064">
                <a:tc gridSpan="2">
                  <a:txBody>
                    <a:bodyPr/>
                    <a:lstStyle/>
                    <a:p>
                      <a:pPr algn="ctr"/>
                      <a:r>
                        <a:rPr lang="zh-CN" altLang="en-US" dirty="0"/>
                        <a:t>常见事物的光亮度（尼特 </a:t>
                      </a:r>
                      <a:r>
                        <a:rPr lang="en-US" altLang="zh-CN" dirty="0"/>
                        <a:t>nit</a:t>
                      </a:r>
                      <a:r>
                        <a:rPr lang="zh-CN" altLang="en-US" dirty="0"/>
                        <a:t>）</a:t>
                      </a:r>
                    </a:p>
                  </a:txBody>
                  <a:tcPr anchor="ctr"/>
                </a:tc>
                <a:tc hMerge="1">
                  <a:txBody>
                    <a:bodyPr/>
                    <a:lstStyle/>
                    <a:p>
                      <a:endParaRPr lang="zh-CN" altLang="en-US" dirty="0"/>
                    </a:p>
                  </a:txBody>
                  <a:tcPr/>
                </a:tc>
                <a:extLst>
                  <a:ext uri="{0D108BD9-81ED-4DB2-BD59-A6C34878D82A}">
                    <a16:rowId xmlns:a16="http://schemas.microsoft.com/office/drawing/2014/main" val="2700255592"/>
                  </a:ext>
                </a:extLst>
              </a:tr>
              <a:tr h="417064">
                <a:tc>
                  <a:txBody>
                    <a:bodyPr/>
                    <a:lstStyle/>
                    <a:p>
                      <a:pPr algn="ctr"/>
                      <a:r>
                        <a:rPr lang="zh-CN" altLang="en-US" dirty="0"/>
                        <a:t>阴天的月光</a:t>
                      </a:r>
                    </a:p>
                  </a:txBody>
                  <a:tcPr anchor="ctr"/>
                </a:tc>
                <a:tc>
                  <a:txBody>
                    <a:bodyPr/>
                    <a:lstStyle/>
                    <a:p>
                      <a:pPr algn="ctr"/>
                      <a:r>
                        <a:rPr lang="en-US" altLang="zh-CN" dirty="0"/>
                        <a:t>0.25</a:t>
                      </a:r>
                      <a:endParaRPr lang="zh-CN" altLang="en-US" dirty="0"/>
                    </a:p>
                  </a:txBody>
                  <a:tcPr anchor="ctr"/>
                </a:tc>
                <a:extLst>
                  <a:ext uri="{0D108BD9-81ED-4DB2-BD59-A6C34878D82A}">
                    <a16:rowId xmlns:a16="http://schemas.microsoft.com/office/drawing/2014/main" val="1362402565"/>
                  </a:ext>
                </a:extLst>
              </a:tr>
              <a:tr h="417064">
                <a:tc>
                  <a:txBody>
                    <a:bodyPr/>
                    <a:lstStyle/>
                    <a:p>
                      <a:pPr algn="ctr"/>
                      <a:r>
                        <a:rPr lang="zh-CN" altLang="en-US" dirty="0"/>
                        <a:t>夜晚路灯照射的路面</a:t>
                      </a:r>
                    </a:p>
                  </a:txBody>
                  <a:tcPr anchor="ctr"/>
                </a:tc>
                <a:tc>
                  <a:txBody>
                    <a:bodyPr/>
                    <a:lstStyle/>
                    <a:p>
                      <a:pPr algn="ctr"/>
                      <a:r>
                        <a:rPr lang="en-US" altLang="zh-CN" dirty="0"/>
                        <a:t>1-10</a:t>
                      </a:r>
                      <a:endParaRPr lang="zh-CN" altLang="en-US" dirty="0"/>
                    </a:p>
                  </a:txBody>
                  <a:tcPr anchor="ctr"/>
                </a:tc>
                <a:extLst>
                  <a:ext uri="{0D108BD9-81ED-4DB2-BD59-A6C34878D82A}">
                    <a16:rowId xmlns:a16="http://schemas.microsoft.com/office/drawing/2014/main" val="66578811"/>
                  </a:ext>
                </a:extLst>
              </a:tr>
              <a:tr h="417064">
                <a:tc>
                  <a:txBody>
                    <a:bodyPr/>
                    <a:lstStyle/>
                    <a:p>
                      <a:pPr algn="ctr"/>
                      <a:r>
                        <a:rPr lang="zh-CN" altLang="en-US" dirty="0"/>
                        <a:t>办公室内的白纸或浅色桌面</a:t>
                      </a:r>
                    </a:p>
                  </a:txBody>
                  <a:tcPr anchor="ctr"/>
                </a:tc>
                <a:tc>
                  <a:txBody>
                    <a:bodyPr/>
                    <a:lstStyle/>
                    <a:p>
                      <a:pPr algn="ctr"/>
                      <a:r>
                        <a:rPr lang="en-US" altLang="zh-CN" dirty="0"/>
                        <a:t>50-200</a:t>
                      </a:r>
                      <a:endParaRPr lang="zh-CN" altLang="en-US" dirty="0"/>
                    </a:p>
                  </a:txBody>
                  <a:tcPr anchor="ctr"/>
                </a:tc>
                <a:extLst>
                  <a:ext uri="{0D108BD9-81ED-4DB2-BD59-A6C34878D82A}">
                    <a16:rowId xmlns:a16="http://schemas.microsoft.com/office/drawing/2014/main" val="4194646440"/>
                  </a:ext>
                </a:extLst>
              </a:tr>
              <a:tr h="417064">
                <a:tc>
                  <a:txBody>
                    <a:bodyPr/>
                    <a:lstStyle/>
                    <a:p>
                      <a:pPr algn="ctr"/>
                      <a:r>
                        <a:rPr lang="zh-CN" altLang="en-US" dirty="0"/>
                        <a:t>满亮度手机屏幕</a:t>
                      </a:r>
                    </a:p>
                  </a:txBody>
                  <a:tcPr anchor="ctr"/>
                </a:tc>
                <a:tc>
                  <a:txBody>
                    <a:bodyPr/>
                    <a:lstStyle/>
                    <a:p>
                      <a:pPr algn="ctr"/>
                      <a:r>
                        <a:rPr lang="en-US" altLang="zh-CN" dirty="0"/>
                        <a:t>500-1000</a:t>
                      </a:r>
                      <a:endParaRPr lang="zh-CN" altLang="en-US" dirty="0"/>
                    </a:p>
                  </a:txBody>
                  <a:tcPr anchor="ctr"/>
                </a:tc>
                <a:extLst>
                  <a:ext uri="{0D108BD9-81ED-4DB2-BD59-A6C34878D82A}">
                    <a16:rowId xmlns:a16="http://schemas.microsoft.com/office/drawing/2014/main" val="339298501"/>
                  </a:ext>
                </a:extLst>
              </a:tr>
              <a:tr h="4170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晴朗的天空</a:t>
                      </a:r>
                    </a:p>
                  </a:txBody>
                  <a:tcPr anchor="ctr"/>
                </a:tc>
                <a:tc>
                  <a:txBody>
                    <a:bodyPr/>
                    <a:lstStyle/>
                    <a:p>
                      <a:pPr algn="ctr"/>
                      <a:r>
                        <a:rPr lang="en-US" altLang="zh-CN" dirty="0"/>
                        <a:t>8000</a:t>
                      </a:r>
                      <a:endParaRPr lang="zh-CN" altLang="en-US" dirty="0"/>
                    </a:p>
                  </a:txBody>
                  <a:tcPr anchor="ctr"/>
                </a:tc>
                <a:extLst>
                  <a:ext uri="{0D108BD9-81ED-4DB2-BD59-A6C34878D82A}">
                    <a16:rowId xmlns:a16="http://schemas.microsoft.com/office/drawing/2014/main" val="2013859015"/>
                  </a:ext>
                </a:extLst>
              </a:tr>
              <a:tr h="417064">
                <a:tc>
                  <a:txBody>
                    <a:bodyPr/>
                    <a:lstStyle/>
                    <a:p>
                      <a:pPr algn="ctr"/>
                      <a:r>
                        <a:rPr lang="en-US" altLang="zh-CN" dirty="0"/>
                        <a:t>60W </a:t>
                      </a:r>
                      <a:r>
                        <a:rPr lang="zh-CN" altLang="en-US" dirty="0"/>
                        <a:t>白炽灯</a:t>
                      </a:r>
                    </a:p>
                  </a:txBody>
                  <a:tcPr anchor="ctr"/>
                </a:tc>
                <a:tc>
                  <a:txBody>
                    <a:bodyPr/>
                    <a:lstStyle/>
                    <a:p>
                      <a:pPr algn="ctr"/>
                      <a:r>
                        <a:rPr lang="en-US" altLang="zh-CN" dirty="0"/>
                        <a:t>120 000</a:t>
                      </a:r>
                      <a:endParaRPr lang="zh-CN" altLang="en-US" dirty="0"/>
                    </a:p>
                  </a:txBody>
                  <a:tcPr anchor="ctr"/>
                </a:tc>
                <a:extLst>
                  <a:ext uri="{0D108BD9-81ED-4DB2-BD59-A6C34878D82A}">
                    <a16:rowId xmlns:a16="http://schemas.microsoft.com/office/drawing/2014/main" val="4238497005"/>
                  </a:ext>
                </a:extLst>
              </a:tr>
              <a:tr h="417064">
                <a:tc>
                  <a:txBody>
                    <a:bodyPr/>
                    <a:lstStyle/>
                    <a:p>
                      <a:pPr algn="ctr"/>
                      <a:r>
                        <a:rPr lang="zh-CN" altLang="en-US" dirty="0"/>
                        <a:t>初升的太阳</a:t>
                      </a:r>
                    </a:p>
                  </a:txBody>
                  <a:tcPr anchor="ctr"/>
                </a:tc>
                <a:tc>
                  <a:txBody>
                    <a:bodyPr/>
                    <a:lstStyle/>
                    <a:p>
                      <a:pPr algn="ctr"/>
                      <a:r>
                        <a:rPr lang="en-US" altLang="zh-CN" dirty="0"/>
                        <a:t>600 000</a:t>
                      </a:r>
                      <a:endParaRPr lang="zh-CN" altLang="en-US" dirty="0"/>
                    </a:p>
                  </a:txBody>
                  <a:tcPr anchor="ctr"/>
                </a:tc>
                <a:extLst>
                  <a:ext uri="{0D108BD9-81ED-4DB2-BD59-A6C34878D82A}">
                    <a16:rowId xmlns:a16="http://schemas.microsoft.com/office/drawing/2014/main" val="2323633375"/>
                  </a:ext>
                </a:extLst>
              </a:tr>
              <a:tr h="417064">
                <a:tc>
                  <a:txBody>
                    <a:bodyPr/>
                    <a:lstStyle/>
                    <a:p>
                      <a:pPr algn="ctr"/>
                      <a:r>
                        <a:rPr lang="zh-CN" altLang="en-US" dirty="0"/>
                        <a:t>正午的太阳</a:t>
                      </a:r>
                    </a:p>
                  </a:txBody>
                  <a:tcPr anchor="ctr"/>
                </a:tc>
                <a:tc>
                  <a:txBody>
                    <a:bodyPr/>
                    <a:lstStyle/>
                    <a:p>
                      <a:pPr algn="ctr"/>
                      <a:r>
                        <a:rPr lang="en-US" altLang="zh-CN" dirty="0"/>
                        <a:t>1 000 000 000</a:t>
                      </a:r>
                      <a:endParaRPr lang="zh-CN" altLang="en-US" dirty="0"/>
                    </a:p>
                  </a:txBody>
                  <a:tcPr anchor="ctr"/>
                </a:tc>
                <a:extLst>
                  <a:ext uri="{0D108BD9-81ED-4DB2-BD59-A6C34878D82A}">
                    <a16:rowId xmlns:a16="http://schemas.microsoft.com/office/drawing/2014/main" val="2859889489"/>
                  </a:ext>
                </a:extLst>
              </a:tr>
            </a:tbl>
          </a:graphicData>
        </a:graphic>
      </p:graphicFrame>
    </p:spTree>
    <p:extLst>
      <p:ext uri="{BB962C8B-B14F-4D97-AF65-F5344CB8AC3E}">
        <p14:creationId xmlns:p14="http://schemas.microsoft.com/office/powerpoint/2010/main" val="27990675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AD249-1072-7DE6-C410-C71426FE1DA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CB7BE13-4AA8-16BB-482D-B3414BA2D505}"/>
              </a:ext>
            </a:extLst>
          </p:cNvPr>
          <p:cNvSpPr>
            <a:spLocks noGrp="1"/>
          </p:cNvSpPr>
          <p:nvPr>
            <p:ph type="title" idx="1"/>
          </p:nvPr>
        </p:nvSpPr>
        <p:spPr/>
        <p:txBody>
          <a:bodyPr/>
          <a:lstStyle/>
          <a:p>
            <a:r>
              <a:rPr lang="zh-CN" altLang="en-US" dirty="0"/>
              <a:t>数据来源</a:t>
            </a:r>
          </a:p>
        </p:txBody>
      </p:sp>
      <p:sp>
        <p:nvSpPr>
          <p:cNvPr id="6" name="文本框 5">
            <a:extLst>
              <a:ext uri="{FF2B5EF4-FFF2-40B4-BE49-F238E27FC236}">
                <a16:creationId xmlns:a16="http://schemas.microsoft.com/office/drawing/2014/main" id="{EB9A8FB4-52E6-A160-7E17-8BE8BEAA3AD4}"/>
              </a:ext>
            </a:extLst>
          </p:cNvPr>
          <p:cNvSpPr txBox="1"/>
          <p:nvPr/>
        </p:nvSpPr>
        <p:spPr>
          <a:xfrm>
            <a:off x="457201" y="1405676"/>
            <a:ext cx="7446722" cy="400110"/>
          </a:xfrm>
          <a:prstGeom prst="rect">
            <a:avLst/>
          </a:prstGeom>
          <a:noFill/>
        </p:spPr>
        <p:txBody>
          <a:bodyPr wrap="square">
            <a:spAutoFit/>
          </a:bodyPr>
          <a:lstStyle/>
          <a:p>
            <a:r>
              <a:rPr lang="en-US" altLang="zh-CN" sz="2000" b="1" dirty="0">
                <a:latin typeface="Noto Sans SC" panose="020B0200000000000000" pitchFamily="34" charset="-122"/>
                <a:ea typeface="Noto Sans SC" panose="020B0200000000000000" pitchFamily="34" charset="-122"/>
              </a:rPr>
              <a:t>4. </a:t>
            </a:r>
            <a:r>
              <a:rPr lang="zh-CN" altLang="en-US" sz="2000" b="1" dirty="0">
                <a:latin typeface="Noto Sans SC" panose="020B0200000000000000" pitchFamily="34" charset="-122"/>
                <a:ea typeface="Noto Sans SC" panose="020B0200000000000000" pitchFamily="34" charset="-122"/>
              </a:rPr>
              <a:t>色彩空间的定义</a:t>
            </a:r>
            <a:endParaRPr lang="en-US" altLang="zh-CN" sz="2000" b="1"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09F56295-BEE5-54F0-EFE0-21CB3530603D}"/>
                  </a:ext>
                </a:extLst>
              </p:cNvPr>
              <p:cNvGraphicFramePr>
                <a:graphicFrameLocks noGrp="1"/>
              </p:cNvGraphicFramePr>
              <p:nvPr>
                <p:extLst>
                  <p:ext uri="{D42A27DB-BD31-4B8C-83A1-F6EECF244321}">
                    <p14:modId xmlns:p14="http://schemas.microsoft.com/office/powerpoint/2010/main" val="906763525"/>
                  </p:ext>
                </p:extLst>
              </p:nvPr>
            </p:nvGraphicFramePr>
            <p:xfrm>
              <a:off x="323045" y="1865887"/>
              <a:ext cx="11545910" cy="2390580"/>
            </p:xfrm>
            <a:graphic>
              <a:graphicData uri="http://schemas.openxmlformats.org/drawingml/2006/table">
                <a:tbl>
                  <a:tblPr firstRow="1" bandRow="1">
                    <a:tableStyleId>{5C22544A-7EE6-4342-B048-85BDC9FD1C3A}</a:tableStyleId>
                  </a:tblPr>
                  <a:tblGrid>
                    <a:gridCol w="2309182">
                      <a:extLst>
                        <a:ext uri="{9D8B030D-6E8A-4147-A177-3AD203B41FA5}">
                          <a16:colId xmlns:a16="http://schemas.microsoft.com/office/drawing/2014/main" val="1249741722"/>
                        </a:ext>
                      </a:extLst>
                    </a:gridCol>
                    <a:gridCol w="2309182">
                      <a:extLst>
                        <a:ext uri="{9D8B030D-6E8A-4147-A177-3AD203B41FA5}">
                          <a16:colId xmlns:a16="http://schemas.microsoft.com/office/drawing/2014/main" val="1502409970"/>
                        </a:ext>
                      </a:extLst>
                    </a:gridCol>
                    <a:gridCol w="2309182">
                      <a:extLst>
                        <a:ext uri="{9D8B030D-6E8A-4147-A177-3AD203B41FA5}">
                          <a16:colId xmlns:a16="http://schemas.microsoft.com/office/drawing/2014/main" val="1110424261"/>
                        </a:ext>
                      </a:extLst>
                    </a:gridCol>
                    <a:gridCol w="2309182">
                      <a:extLst>
                        <a:ext uri="{9D8B030D-6E8A-4147-A177-3AD203B41FA5}">
                          <a16:colId xmlns:a16="http://schemas.microsoft.com/office/drawing/2014/main" val="2992250002"/>
                        </a:ext>
                      </a:extLst>
                    </a:gridCol>
                    <a:gridCol w="2309182">
                      <a:extLst>
                        <a:ext uri="{9D8B030D-6E8A-4147-A177-3AD203B41FA5}">
                          <a16:colId xmlns:a16="http://schemas.microsoft.com/office/drawing/2014/main" val="2241406429"/>
                        </a:ext>
                      </a:extLst>
                    </a:gridCol>
                  </a:tblGrid>
                  <a:tr h="796860">
                    <a:tc>
                      <a:txBody>
                        <a:bodyPr/>
                        <a:lstStyle/>
                        <a:p>
                          <a:pPr algn="ctr"/>
                          <a:r>
                            <a:rPr lang="zh-CN" altLang="en-US" dirty="0"/>
                            <a:t>色彩空间</a:t>
                          </a:r>
                        </a:p>
                      </a:txBody>
                      <a:tcPr anchor="ctr"/>
                    </a:tc>
                    <a:tc>
                      <a:txBody>
                        <a:bodyPr/>
                        <a:lstStyle/>
                        <a:p>
                          <a:pPr algn="ctr"/>
                          <a:r>
                            <a:rPr lang="en-US" altLang="zh-CN" dirty="0"/>
                            <a:t>Red</a:t>
                          </a:r>
                          <a:endParaRPr lang="zh-CN" altLang="en-US" dirty="0"/>
                        </a:p>
                      </a:txBody>
                      <a:tcPr anchor="ctr"/>
                    </a:tc>
                    <a:tc>
                      <a:txBody>
                        <a:bodyPr/>
                        <a:lstStyle/>
                        <a:p>
                          <a:pPr algn="ctr"/>
                          <a:r>
                            <a:rPr lang="en-US" altLang="zh-CN" dirty="0"/>
                            <a:t>Green</a:t>
                          </a:r>
                          <a:endParaRPr lang="zh-CN" altLang="en-US" dirty="0"/>
                        </a:p>
                      </a:txBody>
                      <a:tcPr anchor="ctr"/>
                    </a:tc>
                    <a:tc>
                      <a:txBody>
                        <a:bodyPr/>
                        <a:lstStyle/>
                        <a:p>
                          <a:pPr algn="ctr"/>
                          <a:r>
                            <a:rPr lang="en-US" altLang="zh-CN" dirty="0"/>
                            <a:t>Blue</a:t>
                          </a:r>
                          <a:endParaRPr lang="zh-CN" altLang="en-US" dirty="0"/>
                        </a:p>
                      </a:txBody>
                      <a:tcPr anchor="ctr"/>
                    </a:tc>
                    <a:tc>
                      <a:txBody>
                        <a:bodyPr/>
                        <a:lstStyle/>
                        <a:p>
                          <a:pPr algn="ctr"/>
                          <a:r>
                            <a:rPr lang="en-US" altLang="zh-CN" dirty="0"/>
                            <a:t>White</a:t>
                          </a:r>
                          <a:endParaRPr lang="zh-CN" altLang="en-US" dirty="0"/>
                        </a:p>
                      </a:txBody>
                      <a:tcPr anchor="ctr"/>
                    </a:tc>
                    <a:extLst>
                      <a:ext uri="{0D108BD9-81ED-4DB2-BD59-A6C34878D82A}">
                        <a16:rowId xmlns:a16="http://schemas.microsoft.com/office/drawing/2014/main" val="3732613873"/>
                      </a:ext>
                    </a:extLst>
                  </a:tr>
                  <a:tr h="796860">
                    <a:tc>
                      <a:txBody>
                        <a:bodyPr/>
                        <a:lstStyle/>
                        <a:p>
                          <a:pPr algn="ctr"/>
                          <a:r>
                            <a:rPr lang="en-US" altLang="zh-CN" dirty="0"/>
                            <a:t>sRGB</a:t>
                          </a:r>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0.64, 0.33</m:t>
                                    </m:r>
                                  </m:e>
                                </m:d>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0.30, 0.60</m:t>
                                    </m:r>
                                  </m:e>
                                </m:d>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0.15 0.06</m:t>
                                    </m:r>
                                  </m:e>
                                </m:d>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m:t>
                                </m:r>
                                <m:r>
                                  <a:rPr lang="en-US" altLang="zh-CN" b="0" i="1" smtClean="0">
                                    <a:latin typeface="Cambria Math" panose="02040503050406030204" pitchFamily="18" charset="0"/>
                                  </a:rPr>
                                  <m:t>65</m:t>
                                </m:r>
                              </m:oMath>
                            </m:oMathPara>
                          </a14:m>
                          <a:endParaRPr lang="en-US" altLang="zh-CN"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0.3127, 0.3290</m:t>
                                    </m:r>
                                  </m:e>
                                </m:d>
                              </m:oMath>
                            </m:oMathPara>
                          </a14:m>
                          <a:endParaRPr lang="zh-CN" altLang="en-US" dirty="0"/>
                        </a:p>
                      </a:txBody>
                      <a:tcPr anchor="ctr"/>
                    </a:tc>
                    <a:extLst>
                      <a:ext uri="{0D108BD9-81ED-4DB2-BD59-A6C34878D82A}">
                        <a16:rowId xmlns:a16="http://schemas.microsoft.com/office/drawing/2014/main" val="2749453458"/>
                      </a:ext>
                    </a:extLst>
                  </a:tr>
                  <a:tr h="796860">
                    <a:tc>
                      <a:txBody>
                        <a:bodyPr/>
                        <a:lstStyle/>
                        <a:p>
                          <a:pPr algn="ctr"/>
                          <a:r>
                            <a:rPr lang="en-US" altLang="zh-CN" dirty="0"/>
                            <a:t>DCI-P3</a:t>
                          </a:r>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0.68, 0.32</m:t>
                                    </m:r>
                                  </m:e>
                                </m:d>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0.265, 0.69</m:t>
                                    </m:r>
                                  </m:e>
                                </m:d>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0.15, 0.06</m:t>
                                    </m:r>
                                  </m:e>
                                </m:d>
                              </m:oMath>
                            </m:oMathPara>
                          </a14:m>
                          <a:endParaRPr lang="zh-CN" altLang="en-US"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𝐷𝐶𝐼</m:t>
                                </m:r>
                                <m:r>
                                  <a:rPr lang="en-US" altLang="zh-CN" b="0" i="1" smtClean="0">
                                    <a:latin typeface="Cambria Math" panose="02040503050406030204" pitchFamily="18" charset="0"/>
                                  </a:rPr>
                                  <m:t> </m:t>
                                </m:r>
                                <m:r>
                                  <a:rPr lang="en-US" altLang="zh-CN" b="0" i="1" smtClean="0">
                                    <a:latin typeface="Cambria Math" panose="02040503050406030204" pitchFamily="18" charset="0"/>
                                  </a:rPr>
                                  <m:t>𝑊h𝑖𝑡𝑒</m:t>
                                </m:r>
                              </m:oMath>
                            </m:oMathPara>
                          </a14:m>
                          <a:endParaRPr lang="en-US" altLang="zh-CN"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0.314, 0.351</m:t>
                                    </m:r>
                                  </m:e>
                                </m:d>
                              </m:oMath>
                            </m:oMathPara>
                          </a14:m>
                          <a:endParaRPr lang="zh-CN" altLang="en-US" dirty="0"/>
                        </a:p>
                      </a:txBody>
                      <a:tcPr anchor="ctr"/>
                    </a:tc>
                    <a:extLst>
                      <a:ext uri="{0D108BD9-81ED-4DB2-BD59-A6C34878D82A}">
                        <a16:rowId xmlns:a16="http://schemas.microsoft.com/office/drawing/2014/main" val="2360319846"/>
                      </a:ext>
                    </a:extLst>
                  </a:tr>
                </a:tbl>
              </a:graphicData>
            </a:graphic>
          </p:graphicFrame>
        </mc:Choice>
        <mc:Fallback xmlns="">
          <p:graphicFrame>
            <p:nvGraphicFramePr>
              <p:cNvPr id="2" name="表格 1">
                <a:extLst>
                  <a:ext uri="{FF2B5EF4-FFF2-40B4-BE49-F238E27FC236}">
                    <a16:creationId xmlns:a16="http://schemas.microsoft.com/office/drawing/2014/main" id="{09F56295-BEE5-54F0-EFE0-21CB3530603D}"/>
                  </a:ext>
                </a:extLst>
              </p:cNvPr>
              <p:cNvGraphicFramePr>
                <a:graphicFrameLocks noGrp="1"/>
              </p:cNvGraphicFramePr>
              <p:nvPr>
                <p:extLst>
                  <p:ext uri="{D42A27DB-BD31-4B8C-83A1-F6EECF244321}">
                    <p14:modId xmlns:p14="http://schemas.microsoft.com/office/powerpoint/2010/main" val="906763525"/>
                  </p:ext>
                </p:extLst>
              </p:nvPr>
            </p:nvGraphicFramePr>
            <p:xfrm>
              <a:off x="323045" y="1865887"/>
              <a:ext cx="11545910" cy="2390580"/>
            </p:xfrm>
            <a:graphic>
              <a:graphicData uri="http://schemas.openxmlformats.org/drawingml/2006/table">
                <a:tbl>
                  <a:tblPr firstRow="1" bandRow="1">
                    <a:tableStyleId>{5C22544A-7EE6-4342-B048-85BDC9FD1C3A}</a:tableStyleId>
                  </a:tblPr>
                  <a:tblGrid>
                    <a:gridCol w="2309182">
                      <a:extLst>
                        <a:ext uri="{9D8B030D-6E8A-4147-A177-3AD203B41FA5}">
                          <a16:colId xmlns:a16="http://schemas.microsoft.com/office/drawing/2014/main" val="1249741722"/>
                        </a:ext>
                      </a:extLst>
                    </a:gridCol>
                    <a:gridCol w="2309182">
                      <a:extLst>
                        <a:ext uri="{9D8B030D-6E8A-4147-A177-3AD203B41FA5}">
                          <a16:colId xmlns:a16="http://schemas.microsoft.com/office/drawing/2014/main" val="1502409970"/>
                        </a:ext>
                      </a:extLst>
                    </a:gridCol>
                    <a:gridCol w="2309182">
                      <a:extLst>
                        <a:ext uri="{9D8B030D-6E8A-4147-A177-3AD203B41FA5}">
                          <a16:colId xmlns:a16="http://schemas.microsoft.com/office/drawing/2014/main" val="1110424261"/>
                        </a:ext>
                      </a:extLst>
                    </a:gridCol>
                    <a:gridCol w="2309182">
                      <a:extLst>
                        <a:ext uri="{9D8B030D-6E8A-4147-A177-3AD203B41FA5}">
                          <a16:colId xmlns:a16="http://schemas.microsoft.com/office/drawing/2014/main" val="2992250002"/>
                        </a:ext>
                      </a:extLst>
                    </a:gridCol>
                    <a:gridCol w="2309182">
                      <a:extLst>
                        <a:ext uri="{9D8B030D-6E8A-4147-A177-3AD203B41FA5}">
                          <a16:colId xmlns:a16="http://schemas.microsoft.com/office/drawing/2014/main" val="2241406429"/>
                        </a:ext>
                      </a:extLst>
                    </a:gridCol>
                  </a:tblGrid>
                  <a:tr h="796860">
                    <a:tc>
                      <a:txBody>
                        <a:bodyPr/>
                        <a:lstStyle/>
                        <a:p>
                          <a:pPr algn="ctr"/>
                          <a:r>
                            <a:rPr lang="zh-CN" altLang="en-US" dirty="0"/>
                            <a:t>色彩空间</a:t>
                          </a:r>
                        </a:p>
                      </a:txBody>
                      <a:tcPr anchor="ctr"/>
                    </a:tc>
                    <a:tc>
                      <a:txBody>
                        <a:bodyPr/>
                        <a:lstStyle/>
                        <a:p>
                          <a:pPr algn="ctr"/>
                          <a:r>
                            <a:rPr lang="en-US" altLang="zh-CN" dirty="0"/>
                            <a:t>Red</a:t>
                          </a:r>
                          <a:endParaRPr lang="zh-CN" altLang="en-US" dirty="0"/>
                        </a:p>
                      </a:txBody>
                      <a:tcPr anchor="ctr"/>
                    </a:tc>
                    <a:tc>
                      <a:txBody>
                        <a:bodyPr/>
                        <a:lstStyle/>
                        <a:p>
                          <a:pPr algn="ctr"/>
                          <a:r>
                            <a:rPr lang="en-US" altLang="zh-CN" dirty="0"/>
                            <a:t>Green</a:t>
                          </a:r>
                          <a:endParaRPr lang="zh-CN" altLang="en-US" dirty="0"/>
                        </a:p>
                      </a:txBody>
                      <a:tcPr anchor="ctr"/>
                    </a:tc>
                    <a:tc>
                      <a:txBody>
                        <a:bodyPr/>
                        <a:lstStyle/>
                        <a:p>
                          <a:pPr algn="ctr"/>
                          <a:r>
                            <a:rPr lang="en-US" altLang="zh-CN" dirty="0"/>
                            <a:t>Blue</a:t>
                          </a:r>
                          <a:endParaRPr lang="zh-CN" altLang="en-US" dirty="0"/>
                        </a:p>
                      </a:txBody>
                      <a:tcPr anchor="ctr"/>
                    </a:tc>
                    <a:tc>
                      <a:txBody>
                        <a:bodyPr/>
                        <a:lstStyle/>
                        <a:p>
                          <a:pPr algn="ctr"/>
                          <a:r>
                            <a:rPr lang="en-US" altLang="zh-CN" dirty="0"/>
                            <a:t>White</a:t>
                          </a:r>
                          <a:endParaRPr lang="zh-CN" altLang="en-US" dirty="0"/>
                        </a:p>
                      </a:txBody>
                      <a:tcPr anchor="ctr"/>
                    </a:tc>
                    <a:extLst>
                      <a:ext uri="{0D108BD9-81ED-4DB2-BD59-A6C34878D82A}">
                        <a16:rowId xmlns:a16="http://schemas.microsoft.com/office/drawing/2014/main" val="3732613873"/>
                      </a:ext>
                    </a:extLst>
                  </a:tr>
                  <a:tr h="796860">
                    <a:tc>
                      <a:txBody>
                        <a:bodyPr/>
                        <a:lstStyle/>
                        <a:p>
                          <a:pPr algn="ctr"/>
                          <a:r>
                            <a:rPr lang="en-US" altLang="zh-CN" dirty="0"/>
                            <a:t>sRGB</a:t>
                          </a:r>
                          <a:endParaRPr lang="zh-CN" altLang="en-US" dirty="0"/>
                        </a:p>
                      </a:txBody>
                      <a:tcPr anchor="ctr"/>
                    </a:tc>
                    <a:tc>
                      <a:txBody>
                        <a:bodyPr/>
                        <a:lstStyle/>
                        <a:p>
                          <a:endParaRPr lang="zh-CN"/>
                        </a:p>
                      </a:txBody>
                      <a:tcPr anchor="ctr">
                        <a:blipFill>
                          <a:blip r:embed="rId2"/>
                          <a:stretch>
                            <a:fillRect l="-100264" t="-100763" r="-301319" b="-101527"/>
                          </a:stretch>
                        </a:blipFill>
                      </a:tcPr>
                    </a:tc>
                    <a:tc>
                      <a:txBody>
                        <a:bodyPr/>
                        <a:lstStyle/>
                        <a:p>
                          <a:endParaRPr lang="zh-CN"/>
                        </a:p>
                      </a:txBody>
                      <a:tcPr anchor="ctr">
                        <a:blipFill>
                          <a:blip r:embed="rId2"/>
                          <a:stretch>
                            <a:fillRect l="-199737" t="-100763" r="-200526" b="-101527"/>
                          </a:stretch>
                        </a:blipFill>
                      </a:tcPr>
                    </a:tc>
                    <a:tc>
                      <a:txBody>
                        <a:bodyPr/>
                        <a:lstStyle/>
                        <a:p>
                          <a:endParaRPr lang="zh-CN"/>
                        </a:p>
                      </a:txBody>
                      <a:tcPr anchor="ctr">
                        <a:blipFill>
                          <a:blip r:embed="rId2"/>
                          <a:stretch>
                            <a:fillRect l="-300528" t="-100763" r="-101055" b="-101527"/>
                          </a:stretch>
                        </a:blipFill>
                      </a:tcPr>
                    </a:tc>
                    <a:tc>
                      <a:txBody>
                        <a:bodyPr/>
                        <a:lstStyle/>
                        <a:p>
                          <a:endParaRPr lang="zh-CN"/>
                        </a:p>
                      </a:txBody>
                      <a:tcPr anchor="ctr">
                        <a:blipFill>
                          <a:blip r:embed="rId2"/>
                          <a:stretch>
                            <a:fillRect l="-400528" t="-100763" r="-1055" b="-101527"/>
                          </a:stretch>
                        </a:blipFill>
                      </a:tcPr>
                    </a:tc>
                    <a:extLst>
                      <a:ext uri="{0D108BD9-81ED-4DB2-BD59-A6C34878D82A}">
                        <a16:rowId xmlns:a16="http://schemas.microsoft.com/office/drawing/2014/main" val="2749453458"/>
                      </a:ext>
                    </a:extLst>
                  </a:tr>
                  <a:tr h="796860">
                    <a:tc>
                      <a:txBody>
                        <a:bodyPr/>
                        <a:lstStyle/>
                        <a:p>
                          <a:pPr algn="ctr"/>
                          <a:r>
                            <a:rPr lang="en-US" altLang="zh-CN" dirty="0"/>
                            <a:t>DCI-P3</a:t>
                          </a:r>
                          <a:endParaRPr lang="zh-CN" altLang="en-US" dirty="0"/>
                        </a:p>
                      </a:txBody>
                      <a:tcPr anchor="ctr"/>
                    </a:tc>
                    <a:tc>
                      <a:txBody>
                        <a:bodyPr/>
                        <a:lstStyle/>
                        <a:p>
                          <a:endParaRPr lang="zh-CN"/>
                        </a:p>
                      </a:txBody>
                      <a:tcPr anchor="ctr">
                        <a:blipFill>
                          <a:blip r:embed="rId2"/>
                          <a:stretch>
                            <a:fillRect l="-100264" t="-200763" r="-301319" b="-1527"/>
                          </a:stretch>
                        </a:blipFill>
                      </a:tcPr>
                    </a:tc>
                    <a:tc>
                      <a:txBody>
                        <a:bodyPr/>
                        <a:lstStyle/>
                        <a:p>
                          <a:endParaRPr lang="zh-CN"/>
                        </a:p>
                      </a:txBody>
                      <a:tcPr anchor="ctr">
                        <a:blipFill>
                          <a:blip r:embed="rId2"/>
                          <a:stretch>
                            <a:fillRect l="-199737" t="-200763" r="-200526" b="-1527"/>
                          </a:stretch>
                        </a:blipFill>
                      </a:tcPr>
                    </a:tc>
                    <a:tc>
                      <a:txBody>
                        <a:bodyPr/>
                        <a:lstStyle/>
                        <a:p>
                          <a:endParaRPr lang="zh-CN"/>
                        </a:p>
                      </a:txBody>
                      <a:tcPr anchor="ctr">
                        <a:blipFill>
                          <a:blip r:embed="rId2"/>
                          <a:stretch>
                            <a:fillRect l="-300528" t="-200763" r="-101055" b="-1527"/>
                          </a:stretch>
                        </a:blipFill>
                      </a:tcPr>
                    </a:tc>
                    <a:tc>
                      <a:txBody>
                        <a:bodyPr/>
                        <a:lstStyle/>
                        <a:p>
                          <a:endParaRPr lang="zh-CN"/>
                        </a:p>
                      </a:txBody>
                      <a:tcPr anchor="ctr">
                        <a:blipFill>
                          <a:blip r:embed="rId2"/>
                          <a:stretch>
                            <a:fillRect l="-400528" t="-200763" r="-1055" b="-1527"/>
                          </a:stretch>
                        </a:blipFill>
                      </a:tcPr>
                    </a:tc>
                    <a:extLst>
                      <a:ext uri="{0D108BD9-81ED-4DB2-BD59-A6C34878D82A}">
                        <a16:rowId xmlns:a16="http://schemas.microsoft.com/office/drawing/2014/main" val="2360319846"/>
                      </a:ext>
                    </a:extLst>
                  </a:tr>
                </a:tbl>
              </a:graphicData>
            </a:graphic>
          </p:graphicFrame>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CD752E7-5FC2-67B6-8E49-39A6877F1372}"/>
                  </a:ext>
                </a:extLst>
              </p:cNvPr>
              <p:cNvSpPr txBox="1"/>
              <p:nvPr/>
            </p:nvSpPr>
            <p:spPr>
              <a:xfrm>
                <a:off x="726799" y="5978645"/>
                <a:ext cx="8661024" cy="4026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𝐷𝐶𝐼</m:t>
                      </m:r>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3</m:t>
                      </m:r>
                      <m:r>
                        <a:rPr lang="zh-CN" altLang="en-US" i="1">
                          <a:latin typeface="Cambria Math" panose="02040503050406030204" pitchFamily="18" charset="0"/>
                        </a:rPr>
                        <m:t>色彩空间</m:t>
                      </m:r>
                      <m:r>
                        <a:rPr lang="zh-CN" altLang="en-US" i="1" smtClean="0">
                          <a:latin typeface="Cambria Math" panose="02040503050406030204" pitchFamily="18" charset="0"/>
                        </a:rPr>
                        <m:t>的</m:t>
                      </m:r>
                      <m:r>
                        <a:rPr lang="zh-CN" altLang="en-US" i="1">
                          <a:latin typeface="Cambria Math" panose="02040503050406030204" pitchFamily="18" charset="0"/>
                        </a:rPr>
                        <m:t>传递函数</m:t>
                      </m:r>
                      <m:r>
                        <a:rPr lang="zh-CN" altLang="en-US" i="1" smtClean="0">
                          <a:latin typeface="Cambria Math" panose="02040503050406030204" pitchFamily="18" charset="0"/>
                        </a:rPr>
                        <m:t>：</m:t>
                      </m:r>
                      <m:r>
                        <a:rPr lang="en-US" altLang="zh-CN" b="0" i="1" smtClean="0">
                          <a:latin typeface="Cambria Math" panose="02040503050406030204" pitchFamily="18" charset="0"/>
                        </a:rPr>
                        <m:t>                    </m:t>
                      </m:r>
                      <m:r>
                        <a:rPr lang="en-US" altLang="zh-CN" b="0" i="1" smtClean="0">
                          <a:latin typeface="Cambria Math" panose="02040503050406030204" pitchFamily="18" charset="0"/>
                        </a:rPr>
                        <m:t>𝑒𝑛𝑐𝑜𝑑𝑒</m:t>
                      </m:r>
                      <m:r>
                        <a:rPr lang="en-US" altLang="zh-CN" b="0" i="1" smtClean="0">
                          <a:latin typeface="Cambria Math" panose="02040503050406030204" pitchFamily="18" charset="0"/>
                        </a:rPr>
                        <m:t>:     </m:t>
                      </m:r>
                      <m:r>
                        <a:rPr lang="en-US" altLang="zh-CN" b="0" i="1" smtClean="0">
                          <a:latin typeface="Cambria Math" panose="02040503050406030204" pitchFamily="18" charset="0"/>
                        </a:rPr>
                        <m:t>𝑉</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𝐿</m:t>
                          </m:r>
                        </m:e>
                        <m:sup>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2.6</m:t>
                              </m:r>
                            </m:den>
                          </m:f>
                        </m:sup>
                      </m:sSup>
                      <m:r>
                        <a:rPr lang="en-US" altLang="zh-CN" b="0" i="1" smtClean="0">
                          <a:latin typeface="Cambria Math" panose="02040503050406030204" pitchFamily="18" charset="0"/>
                        </a:rPr>
                        <m:t>,  </m:t>
                      </m:r>
                      <m:r>
                        <a:rPr lang="en-US" altLang="zh-CN" b="0" i="1" smtClean="0">
                          <a:latin typeface="Cambria Math" panose="02040503050406030204" pitchFamily="18" charset="0"/>
                        </a:rPr>
                        <m:t>𝑑𝑒𝑐𝑜𝑑𝑒</m:t>
                      </m:r>
                      <m:r>
                        <a:rPr lang="en-US" altLang="zh-CN" b="0" i="1" smtClean="0">
                          <a:latin typeface="Cambria Math" panose="02040503050406030204" pitchFamily="18" charset="0"/>
                        </a:rPr>
                        <m:t>:     </m:t>
                      </m:r>
                      <m:r>
                        <a:rPr lang="en-US" altLang="zh-CN" b="0" i="1" smtClean="0">
                          <a:latin typeface="Cambria Math" panose="02040503050406030204" pitchFamily="18" charset="0"/>
                        </a:rPr>
                        <m:t>𝐿</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b="0" i="1" smtClean="0">
                              <a:latin typeface="Cambria Math" panose="02040503050406030204" pitchFamily="18" charset="0"/>
                            </a:rPr>
                            <m:t>2.6</m:t>
                          </m:r>
                        </m:sup>
                      </m:sSup>
                    </m:oMath>
                  </m:oMathPara>
                </a14:m>
                <a:endParaRPr lang="zh-CN" altLang="en-US" dirty="0"/>
              </a:p>
            </p:txBody>
          </p:sp>
        </mc:Choice>
        <mc:Fallback xmlns="">
          <p:sp>
            <p:nvSpPr>
              <p:cNvPr id="7" name="文本框 6">
                <a:extLst>
                  <a:ext uri="{FF2B5EF4-FFF2-40B4-BE49-F238E27FC236}">
                    <a16:creationId xmlns:a16="http://schemas.microsoft.com/office/drawing/2014/main" id="{ACD752E7-5FC2-67B6-8E49-39A6877F1372}"/>
                  </a:ext>
                </a:extLst>
              </p:cNvPr>
              <p:cNvSpPr txBox="1">
                <a:spLocks noRot="1" noChangeAspect="1" noMove="1" noResize="1" noEditPoints="1" noAdjustHandles="1" noChangeArrowheads="1" noChangeShapeType="1" noTextEdit="1"/>
              </p:cNvSpPr>
              <p:nvPr/>
            </p:nvSpPr>
            <p:spPr>
              <a:xfrm>
                <a:off x="726799" y="5978645"/>
                <a:ext cx="8661024" cy="402674"/>
              </a:xfrm>
              <a:prstGeom prst="rect">
                <a:avLst/>
              </a:prstGeom>
              <a:blipFill>
                <a:blip r:embed="rId3"/>
                <a:stretch>
                  <a:fillRect/>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B9BECC95-9904-0876-28C7-A58D21693123}"/>
              </a:ext>
            </a:extLst>
          </p:cNvPr>
          <p:cNvPicPr>
            <a:picLocks noChangeAspect="1"/>
          </p:cNvPicPr>
          <p:nvPr/>
        </p:nvPicPr>
        <p:blipFill>
          <a:blip r:embed="rId4"/>
          <a:stretch>
            <a:fillRect/>
          </a:stretch>
        </p:blipFill>
        <p:spPr>
          <a:xfrm>
            <a:off x="485104" y="4316568"/>
            <a:ext cx="11221792" cy="1546232"/>
          </a:xfrm>
          <a:prstGeom prst="rect">
            <a:avLst/>
          </a:prstGeom>
        </p:spPr>
      </p:pic>
    </p:spTree>
    <p:extLst>
      <p:ext uri="{BB962C8B-B14F-4D97-AF65-F5344CB8AC3E}">
        <p14:creationId xmlns:p14="http://schemas.microsoft.com/office/powerpoint/2010/main" val="28711768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RkMDIwMzk2MDA3NTJlMDQ4NWFlNWE0Y2ViMGY0MTM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 name="KSO_WM_UNIT_CONTENT_GROUP_TYPE" val="titlestyle"/>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4"/>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314"/>
</p:tagLst>
</file>

<file path=ppt/tags/tag9.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4"/>
  <p:tag name="KSO_WM_SPECIAL_SOURCE" val="bdnull"/>
  <p:tag name="KSO_WM_TEMPLATE_THUMBS_INDEX" val="1、9"/>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Lst>
</file>

<file path=ppt/tags/tag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1*i*4"/>
  <p:tag name="KSO_WM_UNIT_LAYERLEVEL" val="1"/>
  <p:tag name="KSO_WM_TAG_VERSION" val="3.0"/>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8"/>
  <p:tag name="KSO_WM_UNIT_ID" val="_1*i*8"/>
  <p:tag name="KSO_WM_UNIT_LAYERLEVEL" val="1"/>
  <p:tag name="KSO_WM_TAG_VERSION" val="3.0"/>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9"/>
  <p:tag name="KSO_WM_UNIT_ID" val="_1*i*9"/>
  <p:tag name="KSO_WM_UNIT_LAYERLEVEL" val="1"/>
  <p:tag name="KSO_WM_TAG_VERSION" val="3.0"/>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10"/>
  <p:tag name="KSO_WM_UNIT_ID" val="_1*i*10"/>
  <p:tag name="KSO_WM_UNIT_LAYERLEVEL" val="1"/>
  <p:tag name="KSO_WM_TAG_VERSION" val="3.0"/>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34.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3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CONTENT_GROUP_TYPE" val="contentchip"/>
  <p:tag name="KSO_WM_UNIT_TYPE" val="i"/>
  <p:tag name="KSO_WM_UNIT_INDEX" val="4"/>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43.xml><?xml version="1.0" encoding="utf-8"?>
<p:tagLst xmlns:a="http://schemas.openxmlformats.org/drawingml/2006/main" xmlns:r="http://schemas.openxmlformats.org/officeDocument/2006/relationships"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4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TYPE" val="i"/>
  <p:tag name="KSO_WM_UNIT_INDEX" val="1"/>
  <p:tag name="KSO_WM_UNIT_CONTENT_GROUP_TYPE" val="titlestyle"/>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TYPE" val="i"/>
  <p:tag name="KSO_WM_UNIT_INDEX" val="1"/>
  <p:tag name="KSO_WM_UNIT_CONTENT_GROUP_TYPE" val="titlestyle"/>
</p:tagLst>
</file>

<file path=ppt/tags/tag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TYPE" val="i"/>
  <p:tag name="KSO_WM_UNIT_INDEX" val="1"/>
  <p:tag name="KSO_WM_UNIT_CONTENT_GROUP_TYPE" val="titlestyle"/>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UNIT_TYPE" val="i"/>
  <p:tag name="KSO_WM_UNIT_INDEX"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UNIT_TYPE" val="i"/>
  <p:tag name="KSO_WM_UNIT_INDEX"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7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8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8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8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CONTENT_GROUP_TYPE" val="contentchip"/>
  <p:tag name="KSO_WM_UNIT_TYPE" val="i"/>
  <p:tag name="KSO_WM_UNIT_INDEX" val="4"/>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CONTENT_GROUP_TYPE" val="contentchip"/>
  <p:tag name="KSO_WM_UNIT_TYPE" val="i"/>
  <p:tag name="KSO_WM_UNIT_INDEX" val="8"/>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CONTENT_GROUP_TYPE" val="contentchip"/>
  <p:tag name="KSO_WM_UNIT_TYPE" val="i"/>
  <p:tag name="KSO_WM_UNIT_INDEX" val="9"/>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0"/>
  <p:tag name="KSO_WM_UNIT_LAYERLEVEL" val="1"/>
  <p:tag name="KSO_WM_TAG_VERSION" val="3.0"/>
  <p:tag name="KSO_WM_UNIT_CONTENT_GROUP_TYPE" val="contentchip"/>
  <p:tag name="KSO_WM_UNIT_TYPE" val="i"/>
  <p:tag name="KSO_WM_UNIT_INDEX" val="10"/>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UNIT_TYPE" val="i"/>
  <p:tag name="KSO_WM_UNIT_INDEX" val="11"/>
</p:tagLst>
</file>

<file path=ppt/tags/tag9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00.xml><?xml version="1.0" encoding="utf-8"?>
<p:tagLst xmlns:a="http://schemas.openxmlformats.org/drawingml/2006/main" xmlns:r="http://schemas.openxmlformats.org/officeDocument/2006/relationships" xmlns:p="http://schemas.openxmlformats.org/presentationml/2006/main">
  <p:tag name="KSO_WM_SLIDE_ID" val="custom20230314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314"/>
  <p:tag name="KSO_WM_SLIDE_TYPE" val="title"/>
  <p:tag name="KSO_WM_SLIDE_SUBTYPE" val="pureTxt"/>
  <p:tag name="KSO_WM_SLIDE_LAYOUT" val="a_f"/>
  <p:tag name="KSO_WM_SLIDE_LAYOUT_CNT" val="1_1"/>
  <p:tag name="KSO_WM_SPECIAL_SOURCE" val="bdnull"/>
  <p:tag name="KSO_WM_TEMPLATE_THUMBS_INDEX" val="1、9"/>
  <p:tag name="KSO_WM_SLIDE_CONTENT_AREA" val="{&quot;left&quot;:&quot;173.7&quot;,&quot;top&quot;:&quot;78.5&quot;,&quot;width&quot;:&quot;702.55&quot;,&quot;height&quot;:&quot;350.15&quot;}"/>
</p:tagLst>
</file>

<file path=ppt/tags/tag1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1*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单击添加文档标题"/>
</p:tagLst>
</file>

<file path=ppt/tags/tag102.xml><?xml version="1.0" encoding="utf-8"?>
<p:tagLst xmlns:a="http://schemas.openxmlformats.org/drawingml/2006/main" xmlns:r="http://schemas.openxmlformats.org/officeDocument/2006/relationships"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1*f*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汇报人：WPS"/>
</p:tagLst>
</file>

<file path=ppt/theme/theme1.xml><?xml version="1.0" encoding="utf-8"?>
<a:theme xmlns:a="http://schemas.openxmlformats.org/drawingml/2006/main" name="Office 主题">
  <a:themeElements>
    <a:clrScheme name="自定义 23">
      <a:dk1>
        <a:srgbClr val="000000"/>
      </a:dk1>
      <a:lt1>
        <a:srgbClr val="FFFFFF"/>
      </a:lt1>
      <a:dk2>
        <a:srgbClr val="011163"/>
      </a:dk2>
      <a:lt2>
        <a:srgbClr val="FFFFFF"/>
      </a:lt2>
      <a:accent1>
        <a:srgbClr val="4864FC"/>
      </a:accent1>
      <a:accent2>
        <a:srgbClr val="6C5EDE"/>
      </a:accent2>
      <a:accent3>
        <a:srgbClr val="9059BF"/>
      </a:accent3>
      <a:accent4>
        <a:srgbClr val="B453A1"/>
      </a:accent4>
      <a:accent5>
        <a:srgbClr val="D84E82"/>
      </a:accent5>
      <a:accent6>
        <a:srgbClr val="FC4864"/>
      </a:accent6>
      <a:hlink>
        <a:srgbClr val="0563C1"/>
      </a:hlink>
      <a:folHlink>
        <a:srgbClr val="954D72"/>
      </a:folHlink>
    </a:clrScheme>
    <a:fontScheme name="自定义 18">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16342</TotalTime>
  <Words>19911</Words>
  <Application>Microsoft Office PowerPoint</Application>
  <PresentationFormat>宽屏</PresentationFormat>
  <Paragraphs>1074</Paragraphs>
  <Slides>88</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88</vt:i4>
      </vt:variant>
    </vt:vector>
  </HeadingPairs>
  <TitlesOfParts>
    <vt:vector size="95" baseType="lpstr">
      <vt:lpstr>Noto Sans SC</vt:lpstr>
      <vt:lpstr>Noto Sans SC Black</vt:lpstr>
      <vt:lpstr>Arial</vt:lpstr>
      <vt:lpstr>Calibri</vt:lpstr>
      <vt:lpstr>Cambria Math</vt:lpstr>
      <vt:lpstr>Wingdings</vt:lpstr>
      <vt:lpstr>Office 主题</vt:lpstr>
      <vt:lpstr>CPU软渲染 路径追踪渲染器</vt:lpstr>
      <vt:lpstr>引言 —— 什么是光谱</vt:lpstr>
      <vt:lpstr>引言 —— 色散现象</vt:lpstr>
      <vt:lpstr>引言 —— 同色异谱现象</vt:lpstr>
      <vt:lpstr>RGB vs 光谱</vt:lpstr>
      <vt:lpstr>RGB vs 光谱</vt:lpstr>
      <vt:lpstr>黑体辐射</vt:lpstr>
      <vt:lpstr>黑体辐射</vt:lpstr>
      <vt:lpstr>光谱分布在计算机中的表示</vt:lpstr>
      <vt:lpstr>光谱分布在计算机中的表示</vt:lpstr>
      <vt:lpstr>光谱分布在计算机中的表示</vt:lpstr>
      <vt:lpstr>光谱分布在计算机中的表示</vt:lpstr>
      <vt:lpstr>光谱如何参与渲染</vt:lpstr>
      <vt:lpstr>光谱如何参与渲染</vt:lpstr>
      <vt:lpstr>光谱如何参与渲染</vt:lpstr>
      <vt:lpstr>色彩科学 —— 前置知识</vt:lpstr>
      <vt:lpstr>色彩科学 —— 前置知识</vt:lpstr>
      <vt:lpstr>色彩科学 —— 前置知识</vt:lpstr>
      <vt:lpstr>色彩科学 —— 前置知识</vt:lpstr>
      <vt:lpstr>色彩科学 —— 前置知识</vt:lpstr>
      <vt:lpstr>色彩科学 —— 前置知识</vt:lpstr>
      <vt:lpstr>色彩科学的历史 —— 理论基石</vt:lpstr>
      <vt:lpstr>色彩科学的历史 —— 理论基石</vt:lpstr>
      <vt:lpstr>色彩科学的历史 —— 生物学初步进展</vt:lpstr>
      <vt:lpstr>色彩科学的历史 —— 有关亮度的研究</vt:lpstr>
      <vt:lpstr>色彩科学的历史 —— 有关亮度的研究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有关色彩的研究</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 —— CIE1931色彩空间</vt:lpstr>
      <vt:lpstr>色彩科学的历史</vt:lpstr>
      <vt:lpstr>色彩科学的历史 —— 生物学进一步发展</vt:lpstr>
      <vt:lpstr>色彩科学 —— 光谱转颜色</vt:lpstr>
      <vt:lpstr>色彩科学 —— 色域</vt:lpstr>
      <vt:lpstr>色彩科学 —— 色彩空间</vt:lpstr>
      <vt:lpstr>色彩科学 —— 色彩空间</vt:lpstr>
      <vt:lpstr>色彩科学 —— 色彩空间</vt:lpstr>
      <vt:lpstr>色彩科学 —— 色彩空间</vt:lpstr>
      <vt:lpstr>色彩科学 —— 色彩空间</vt:lpstr>
      <vt:lpstr>色彩科学 —— 色彩空间</vt:lpstr>
      <vt:lpstr>色彩科学 —— 色彩空间</vt:lpstr>
      <vt:lpstr>色彩科学 —— 色彩空间</vt:lpstr>
      <vt:lpstr>色彩科学 —— 色彩空间</vt:lpstr>
      <vt:lpstr>色彩科学 —— 色彩空间</vt:lpstr>
      <vt:lpstr>色彩科学 —— 色彩空间</vt:lpstr>
      <vt:lpstr>色彩科学 —— 色彩空间</vt:lpstr>
      <vt:lpstr>色彩科学</vt:lpstr>
      <vt:lpstr>色彩科学</vt:lpstr>
      <vt:lpstr>数据来源</vt:lpstr>
      <vt:lpstr>数据来源</vt:lpstr>
      <vt:lpstr>数据来源</vt:lpstr>
      <vt:lpstr>数据来源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骞深 姚</cp:lastModifiedBy>
  <cp:revision>646</cp:revision>
  <dcterms:created xsi:type="dcterms:W3CDTF">2023-08-09T12:44:00Z</dcterms:created>
  <dcterms:modified xsi:type="dcterms:W3CDTF">2026-07-21T14:39:13Z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2052-12.1.0.17147</vt:lpwstr>
  </property>
</Properties>
</file>